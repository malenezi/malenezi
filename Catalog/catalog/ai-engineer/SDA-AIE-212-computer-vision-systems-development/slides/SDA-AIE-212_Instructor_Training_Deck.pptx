
<file path=[Content_Types].xml><?xml version="1.0" encoding="utf-8"?>
<Types xmlns="http://schemas.openxmlformats.org/package/2006/content-types">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7.xml"/>
  <Override ContentType="application/vnd.openxmlformats-officedocument.presentationml.notesSlide+xml" PartName="/ppt/notesSlides/notesSlide125.xml"/>
  <Override ContentType="application/vnd.openxmlformats-officedocument.presentationml.notesSlide+xml" PartName="/ppt/notesSlides/notesSlide59.xml"/>
  <Override ContentType="application/vnd.openxmlformats-officedocument.presentationml.notesSlide+xml" PartName="/ppt/notesSlides/notesSlide32.xml"/>
  <Override ContentType="application/vnd.openxmlformats-officedocument.presentationml.notesSlide+xml" PartName="/ppt/notesSlides/notesSlide117.xml"/>
  <Override ContentType="application/vnd.openxmlformats-officedocument.presentationml.notesSlide+xml" PartName="/ppt/notesSlides/notesSlide3.xml"/>
  <Override ContentType="application/vnd.openxmlformats-officedocument.presentationml.notesSlide+xml" PartName="/ppt/notesSlides/notesSlide91.xml"/>
  <Override ContentType="application/vnd.openxmlformats-officedocument.presentationml.notesSlide+xml" PartName="/ppt/notesSlides/notesSlide133.xml"/>
  <Override ContentType="application/vnd.openxmlformats-officedocument.presentationml.notesSlide+xml" PartName="/ppt/notesSlides/notesSlide109.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107.xml"/>
  <Override ContentType="application/vnd.openxmlformats-officedocument.presentationml.notesSlide+xml" PartName="/ppt/notesSlides/notesSlide143.xml"/>
  <Override ContentType="application/vnd.openxmlformats-officedocument.presentationml.notesSlide+xml" PartName="/ppt/notesSlides/notesSlide151.xml"/>
  <Override ContentType="application/vnd.openxmlformats-officedocument.presentationml.notesSlide+xml" PartName="/ppt/notesSlides/notesSlide100.xml"/>
  <Override ContentType="application/vnd.openxmlformats-officedocument.presentationml.notesSlide+xml" PartName="/ppt/notesSlides/notesSlide42.xml"/>
  <Override ContentType="application/vnd.openxmlformats-officedocument.presentationml.notesSlide+xml" PartName="/ppt/notesSlides/notesSlide85.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77.xml"/>
  <Override ContentType="application/vnd.openxmlformats-officedocument.presentationml.notesSlide+xml" PartName="/ppt/notesSlides/notesSlide1.xml"/>
  <Override ContentType="application/vnd.openxmlformats-officedocument.presentationml.notesSlide+xml" PartName="/ppt/notesSlides/notesSlide73.xml"/>
  <Override ContentType="application/vnd.openxmlformats-officedocument.presentationml.notesSlide+xml" PartName="/ppt/notesSlides/notesSlide119.xml"/>
  <Override ContentType="application/vnd.openxmlformats-officedocument.presentationml.notesSlide+xml" PartName="/ppt/notesSlides/notesSlide81.xml"/>
  <Override ContentType="application/vnd.openxmlformats-officedocument.presentationml.notesSlide+xml" PartName="/ppt/notesSlides/notesSlide30.xml"/>
  <Override ContentType="application/vnd.openxmlformats-officedocument.presentationml.notesSlide+xml" PartName="/ppt/notesSlides/notesSlide69.xml"/>
  <Override ContentType="application/vnd.openxmlformats-officedocument.presentationml.notesSlide+xml" PartName="/ppt/notesSlides/notesSlide105.xml"/>
  <Override ContentType="application/vnd.openxmlformats-officedocument.presentationml.notesSlide+xml" PartName="/ppt/notesSlides/notesSlide26.xml"/>
  <Override ContentType="application/vnd.openxmlformats-officedocument.presentationml.notesSlide+xml" PartName="/ppt/notesSlides/notesSlide148.xml"/>
  <Override ContentType="application/vnd.openxmlformats-officedocument.presentationml.notesSlide+xml" PartName="/ppt/notesSlides/notesSlide39.xml"/>
  <Override ContentType="application/vnd.openxmlformats-officedocument.presentationml.notesSlide+xml" PartName="/ppt/notesSlides/notesSlide135.xml"/>
  <Override ContentType="application/vnd.openxmlformats-officedocument.presentationml.notesSlide+xml" PartName="/ppt/notesSlides/notesSlide137.xml"/>
  <Override ContentType="application/vnd.openxmlformats-officedocument.presentationml.notesSlide+xml" PartName="/ppt/notesSlides/notesSlide93.xml"/>
  <Override ContentType="application/vnd.openxmlformats-officedocument.presentationml.notesSlide+xml" PartName="/ppt/notesSlides/notesSlide87.xml"/>
  <Override ContentType="application/vnd.openxmlformats-officedocument.presentationml.notesSlide+xml" PartName="/ppt/notesSlides/notesSlide57.xml"/>
  <Override ContentType="application/vnd.openxmlformats-officedocument.presentationml.notesSlide+xml" PartName="/ppt/notesSlides/notesSlide44.xml"/>
  <Override ContentType="application/vnd.openxmlformats-officedocument.presentationml.notesSlide+xml" PartName="/ppt/notesSlides/notesSlide141.xml"/>
  <Override ContentType="application/vnd.openxmlformats-officedocument.presentationml.notesSlide+xml" PartName="/ppt/notesSlides/notesSlide153.xml"/>
  <Override ContentType="application/vnd.openxmlformats-officedocument.presentationml.notesSlide+xml" PartName="/ppt/notesSlides/notesSlide123.xml"/>
  <Override ContentType="application/vnd.openxmlformats-officedocument.presentationml.notesSlide+xml" PartName="/ppt/notesSlides/notesSlide110.xml"/>
  <Override ContentType="application/vnd.openxmlformats-officedocument.presentationml.notesSlide+xml" PartName="/ppt/notesSlides/notesSlide14.xml"/>
  <Override ContentType="application/vnd.openxmlformats-officedocument.presentationml.notesSlide+xml" PartName="/ppt/notesSlides/notesSlide75.xml"/>
  <Override ContentType="application/vnd.openxmlformats-officedocument.presentationml.notesSlide+xml" PartName="/ppt/notesSlides/notesSlide37.xml"/>
  <Override ContentType="application/vnd.openxmlformats-officedocument.presentationml.notesSlide+xml" PartName="/ppt/notesSlides/notesSlide138.xml"/>
  <Override ContentType="application/vnd.openxmlformats-officedocument.presentationml.notesSlide+xml" PartName="/ppt/notesSlides/notesSlide29.xml"/>
  <Override ContentType="application/vnd.openxmlformats-officedocument.presentationml.notesSlide+xml" PartName="/ppt/notesSlides/notesSlide54.xml"/>
  <Override ContentType="application/vnd.openxmlformats-officedocument.presentationml.notesSlide+xml" PartName="/ppt/notesSlides/notesSlide112.xml"/>
  <Override ContentType="application/vnd.openxmlformats-officedocument.presentationml.notesSlide+xml" PartName="/ppt/notesSlides/notesSlide103.xml"/>
  <Override ContentType="application/vnd.openxmlformats-officedocument.presentationml.notesSlide+xml" PartName="/ppt/notesSlides/notesSlide97.xml"/>
  <Override ContentType="application/vnd.openxmlformats-officedocument.presentationml.notesSlide+xml" PartName="/ppt/notesSlides/notesSlide155.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89.xml"/>
  <Override ContentType="application/vnd.openxmlformats-officedocument.presentationml.notesSlide+xml" PartName="/ppt/notesSlides/notesSlide146.xml"/>
  <Override ContentType="application/vnd.openxmlformats-officedocument.presentationml.notesSlide+xml" PartName="/ppt/notesSlides/notesSlide11.xml"/>
  <Override ContentType="application/vnd.openxmlformats-officedocument.presentationml.notesSlide+xml" PartName="/ppt/notesSlides/notesSlide63.xml"/>
  <Override ContentType="application/vnd.openxmlformats-officedocument.presentationml.notesSlide+xml" PartName="/ppt/notesSlides/notesSlide120.xml"/>
  <Override ContentType="application/vnd.openxmlformats-officedocument.presentationml.notesSlide+xml" PartName="/ppt/notesSlides/notesSlide20.xml"/>
  <Override ContentType="application/vnd.openxmlformats-officedocument.presentationml.notesSlide+xml" PartName="/ppt/notesSlides/notesSlide129.xml"/>
  <Override ContentType="application/vnd.openxmlformats-officedocument.presentationml.notesSlide+xml" PartName="/ppt/notesSlides/notesSlide60.xml"/>
  <Override ContentType="application/vnd.openxmlformats-officedocument.presentationml.notesSlide+xml" PartName="/ppt/notesSlides/notesSlide18.xml"/>
  <Override ContentType="application/vnd.openxmlformats-officedocument.presentationml.notesSlide+xml" PartName="/ppt/notesSlides/notesSlide144.xml"/>
  <Override ContentType="application/vnd.openxmlformats-officedocument.presentationml.notesSlide+xml" PartName="/ppt/notesSlides/notesSlide48.xml"/>
  <Override ContentType="application/vnd.openxmlformats-officedocument.presentationml.notesSlide+xml" PartName="/ppt/notesSlides/notesSlide131.xml"/>
  <Override ContentType="application/vnd.openxmlformats-officedocument.presentationml.notesSlide+xml" PartName="/ppt/notesSlides/notesSlide127.xml"/>
  <Override ContentType="application/vnd.openxmlformats-officedocument.presentationml.notesSlide+xml" PartName="/ppt/notesSlides/notesSlide157.xml"/>
  <Override ContentType="application/vnd.openxmlformats-officedocument.presentationml.notesSlide+xml" PartName="/ppt/notesSlides/notesSlide114.xml"/>
  <Override ContentType="application/vnd.openxmlformats-officedocument.presentationml.notesSlide+xml" PartName="/ppt/notesSlides/notesSlide101.xml"/>
  <Override ContentType="application/vnd.openxmlformats-officedocument.presentationml.notesSlide+xml" PartName="/ppt/notesSlides/notesSlide95.xml"/>
  <Override ContentType="application/vnd.openxmlformats-officedocument.presentationml.notesSlide+xml" PartName="/ppt/notesSlides/notesSlide22.xml"/>
  <Override ContentType="application/vnd.openxmlformats-officedocument.presentationml.notesSlide+xml" PartName="/ppt/notesSlides/notesSlide5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65.xml"/>
  <Override ContentType="application/vnd.openxmlformats-officedocument.presentationml.notesSlide+xml" PartName="/ppt/notesSlides/notesSlide78.xml"/>
  <Override ContentType="application/vnd.openxmlformats-officedocument.presentationml.notesSlide+xml" PartName="/ppt/notesSlides/notesSlide71.xml"/>
  <Override ContentType="application/vnd.openxmlformats-officedocument.presentationml.notesSlide+xml" PartName="/ppt/notesSlides/notesSlide92.xml"/>
  <Override ContentType="application/vnd.openxmlformats-officedocument.presentationml.notesSlide+xml" PartName="/ppt/notesSlides/notesSlide150.xml"/>
  <Override ContentType="application/vnd.openxmlformats-officedocument.presentationml.notesSlide+xml" PartName="/ppt/notesSlides/notesSlide142.xml"/>
  <Override ContentType="application/vnd.openxmlformats-officedocument.presentationml.notesSlide+xml" PartName="/ppt/notesSlides/notesSlide84.xml"/>
  <Override ContentType="application/vnd.openxmlformats-officedocument.presentationml.notesSlide+xml" PartName="/ppt/notesSlides/notesSlide116.xml"/>
  <Override ContentType="application/vnd.openxmlformats-officedocument.presentationml.notesSlide+xml" PartName="/ppt/notesSlides/notesSlide76.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124.xml"/>
  <Override ContentType="application/vnd.openxmlformats-officedocument.presentationml.notesSlide+xml" PartName="/ppt/notesSlides/notesSlide126.xml"/>
  <Override ContentType="application/vnd.openxmlformats-officedocument.presentationml.notesSlide+xml" PartName="/ppt/notesSlides/notesSlide68.xml"/>
  <Override ContentType="application/vnd.openxmlformats-officedocument.presentationml.notesSlide+xml" PartName="/ppt/notesSlides/notesSlide17.xml"/>
  <Override ContentType="application/vnd.openxmlformats-officedocument.presentationml.notesSlide+xml" PartName="/ppt/notesSlides/notesSlide82.xml"/>
  <Override ContentType="application/vnd.openxmlformats-officedocument.presentationml.notesSlide+xml" PartName="/ppt/notesSlides/notesSlide94.xml"/>
  <Override ContentType="application/vnd.openxmlformats-officedocument.presentationml.notesSlide+xml" PartName="/ppt/notesSlides/notesSlide51.xml"/>
  <Override ContentType="application/vnd.openxmlformats-officedocument.presentationml.notesSlide+xml" PartName="/ppt/notesSlides/notesSlide108.xml"/>
  <Override ContentType="application/vnd.openxmlformats-officedocument.presentationml.notesSlide+xml" PartName="/ppt/notesSlides/notesSlide90.xml"/>
  <Override ContentType="application/vnd.openxmlformats-officedocument.presentationml.notesSlide+xml" PartName="/ppt/notesSlides/notesSlide134.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86.xml"/>
  <Override ContentType="application/vnd.openxmlformats-officedocument.presentationml.notesSlide+xml" PartName="/ppt/notesSlides/notesSlide106.xml"/>
  <Override ContentType="application/vnd.openxmlformats-officedocument.presentationml.notesSlide+xml" PartName="/ppt/notesSlides/notesSlide99.xml"/>
  <Override ContentType="application/vnd.openxmlformats-officedocument.presentationml.notesSlide+xml" PartName="/ppt/notesSlides/notesSlide56.xml"/>
  <Override ContentType="application/vnd.openxmlformats-officedocument.presentationml.notesSlide+xml" PartName="/ppt/notesSlides/notesSlide152.xml"/>
  <Override ContentType="application/vnd.openxmlformats-officedocument.presentationml.notesSlide+xml" PartName="/ppt/notesSlides/notesSlide122.xml"/>
  <Override ContentType="application/vnd.openxmlformats-officedocument.presentationml.notesSlide+xml" PartName="/ppt/notesSlides/notesSlide31.xml"/>
  <Override ContentType="application/vnd.openxmlformats-officedocument.presentationml.notesSlide+xml" PartName="/ppt/notesSlides/notesSlide80.xml"/>
  <Override ContentType="application/vnd.openxmlformats-officedocument.presentationml.notesSlide+xml" PartName="/ppt/notesSlides/notesSlide61.xml"/>
  <Override ContentType="application/vnd.openxmlformats-officedocument.presentationml.notesSlide+xml" PartName="/ppt/notesSlides/notesSlide118.xml"/>
  <Override ContentType="application/vnd.openxmlformats-officedocument.presentationml.notesSlide+xml" PartName="/ppt/notesSlides/notesSlide74.xml"/>
  <Override ContentType="application/vnd.openxmlformats-officedocument.presentationml.notesSlide+xml" PartName="/ppt/notesSlides/notesSlide58.xml"/>
  <Override ContentType="application/vnd.openxmlformats-officedocument.presentationml.notesSlide+xml" PartName="/ppt/notesSlides/notesSlide140.xml"/>
  <Override ContentType="application/vnd.openxmlformats-officedocument.presentationml.notesSlide+xml" PartName="/ppt/notesSlides/notesSlide154.xml"/>
  <Override ContentType="application/vnd.openxmlformats-officedocument.presentationml.notesSlide+xml" PartName="/ppt/notesSlides/notesSlide27.xml"/>
  <Override ContentType="application/vnd.openxmlformats-officedocument.presentationml.notesSlide+xml" PartName="/ppt/notesSlides/notesSlide88.xml"/>
  <Override ContentType="application/vnd.openxmlformats-officedocument.presentationml.notesSlide+xml" PartName="/ppt/notesSlides/notesSlide136.xml"/>
  <Override ContentType="application/vnd.openxmlformats-officedocument.presentationml.notesSlide+xml" PartName="/ppt/notesSlides/notesSlide2.xml"/>
  <Override ContentType="application/vnd.openxmlformats-officedocument.presentationml.notesSlide+xml" PartName="/ppt/notesSlides/notesSlide149.xml"/>
  <Override ContentType="application/vnd.openxmlformats-officedocument.presentationml.notesSlide+xml" PartName="/ppt/notesSlides/notesSlide62.xml"/>
  <Override ContentType="application/vnd.openxmlformats-officedocument.presentationml.notesSlide+xml" PartName="/ppt/notesSlides/notesSlide45.xml"/>
  <Override ContentType="application/vnd.openxmlformats-officedocument.presentationml.notesSlide+xml" PartName="/ppt/notesSlides/notesSlide70.xml"/>
  <Override ContentType="application/vnd.openxmlformats-officedocument.presentationml.notesSlide+xml" PartName="/ppt/notesSlides/notesSlide28.xml"/>
  <Override ContentType="application/vnd.openxmlformats-officedocument.presentationml.notesSlide+xml" PartName="/ppt/notesSlides/notesSlide111.xml"/>
  <Override ContentType="application/vnd.openxmlformats-officedocument.presentationml.notesSlide+xml" PartName="/ppt/notesSlides/notesSlide139.xml"/>
  <Override ContentType="application/vnd.openxmlformats-officedocument.presentationml.notesSlide+xml" PartName="/ppt/notesSlides/notesSlide55.xml"/>
  <Override ContentType="application/vnd.openxmlformats-officedocument.presentationml.notesSlide+xml" PartName="/ppt/notesSlides/notesSlide156.xml"/>
  <Override ContentType="application/vnd.openxmlformats-officedocument.presentationml.notesSlide+xml" PartName="/ppt/notesSlides/notesSlide12.xml"/>
  <Override ContentType="application/vnd.openxmlformats-officedocument.presentationml.notesSlide+xml" PartName="/ppt/notesSlides/notesSlide113.xml"/>
  <Override ContentType="application/vnd.openxmlformats-officedocument.presentationml.notesSlide+xml" PartName="/ppt/notesSlides/notesSlide47.xml"/>
  <Override ContentType="application/vnd.openxmlformats-officedocument.presentationml.notesSlide+xml" PartName="/ppt/notesSlides/notesSlide72.xml"/>
  <Override ContentType="application/vnd.openxmlformats-officedocument.presentationml.notesSlide+xml" PartName="/ppt/notesSlides/notesSlide98.xml"/>
  <Override ContentType="application/vnd.openxmlformats-officedocument.presentationml.notesSlide+xml" PartName="/ppt/notesSlides/notesSlide104.xml"/>
  <Override ContentType="application/vnd.openxmlformats-officedocument.presentationml.notesSlide+xml" PartName="/ppt/notesSlides/notesSlide147.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130.xml"/>
  <Override ContentType="application/vnd.openxmlformats-officedocument.presentationml.notesSlide+xml" PartName="/ppt/notesSlides/notesSlide38.xml"/>
  <Override ContentType="application/vnd.openxmlformats-officedocument.presentationml.notesSlide+xml" PartName="/ppt/notesSlides/notesSlide64.xml"/>
  <Override ContentType="application/vnd.openxmlformats-officedocument.presentationml.notesSlide+xml" PartName="/ppt/notesSlides/notesSlide121.xml"/>
  <Override ContentType="application/vnd.openxmlformats-officedocument.presentationml.notesSlide+xml" PartName="/ppt/notesSlides/notesSlide6.xml"/>
  <Override ContentType="application/vnd.openxmlformats-officedocument.presentationml.notesSlide+xml" PartName="/ppt/notesSlides/notesSlide128.xml"/>
  <Override ContentType="application/vnd.openxmlformats-officedocument.presentationml.notesSlide+xml" PartName="/ppt/notesSlides/notesSlide79.xml"/>
  <Override ContentType="application/vnd.openxmlformats-officedocument.presentationml.notesSlide+xml" PartName="/ppt/notesSlides/notesSlide132.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145.xml"/>
  <Override ContentType="application/vnd.openxmlformats-officedocument.presentationml.notesSlide+xml" PartName="/ppt/notesSlides/notesSlide96.xml"/>
  <Override ContentType="application/vnd.openxmlformats-officedocument.presentationml.notesSlide+xml" PartName="/ppt/notesSlides/notesSlide102.xml"/>
  <Override ContentType="application/vnd.openxmlformats-officedocument.presentationml.notesSlide+xml" PartName="/ppt/notesSlides/notesSlide19.xml"/>
  <Override ContentType="application/vnd.openxmlformats-officedocument.presentationml.notesSlide+xml" PartName="/ppt/notesSlides/notesSlide83.xml"/>
  <Override ContentType="application/vnd.openxmlformats-officedocument.presentationml.notesSlide+xml" PartName="/ppt/notesSlides/notesSlide115.xml"/>
  <Override ContentType="application/vnd.openxmlformats-officedocument.presentationml.notesSlide+xml" PartName="/ppt/notesSlides/notesSlide53.xml"/>
  <Override ContentType="application/vnd.openxmlformats-officedocument.presentationml.notesSlide+xml" PartName="/ppt/notesSlides/notesSlide158.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66.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121.xml"/>
  <Override ContentType="application/vnd.openxmlformats-officedocument.presentationml.slide+xml" PartName="/ppt/slides/slide43.xml"/>
  <Override ContentType="application/vnd.openxmlformats-officedocument.presentationml.slide+xml" PartName="/ppt/slides/slide78.xml"/>
  <Override ContentType="application/vnd.openxmlformats-officedocument.presentationml.slide+xml" PartName="/ppt/slides/slide86.xml"/>
  <Override ContentType="application/vnd.openxmlformats-officedocument.presentationml.slide+xml" PartName="/ppt/slides/slide35.xml"/>
  <Override ContentType="application/vnd.openxmlformats-officedocument.presentationml.slide+xml" PartName="/ppt/slides/slide105.xml"/>
  <Override ContentType="application/vnd.openxmlformats-officedocument.presentationml.slide+xml" PartName="/ppt/slides/slide148.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17.xml"/>
  <Override ContentType="application/vnd.openxmlformats-officedocument.presentationml.slide+xml" PartName="/ppt/slides/slide138.xml"/>
  <Override ContentType="application/vnd.openxmlformats-officedocument.presentationml.slide+xml" PartName="/ppt/slides/slide25.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113.xml"/>
  <Override ContentType="application/vnd.openxmlformats-officedocument.presentationml.slide+xml" PartName="/ppt/slides/slide68.xml"/>
  <Override ContentType="application/vnd.openxmlformats-officedocument.presentationml.slide+xml" PartName="/ppt/slides/slide94.xml"/>
  <Override ContentType="application/vnd.openxmlformats-officedocument.presentationml.slide+xml" PartName="/ppt/slides/slide156.xml"/>
  <Override ContentType="application/vnd.openxmlformats-officedocument.presentationml.slide+xml" PartName="/ppt/slides/slide84.xml"/>
  <Override ContentType="application/vnd.openxmlformats-officedocument.presentationml.slide+xml" PartName="/ppt/slides/slide107.xml"/>
  <Override ContentType="application/vnd.openxmlformats-officedocument.presentationml.slide+xml" PartName="/ppt/slides/slide37.xml"/>
  <Override ContentType="application/vnd.openxmlformats-officedocument.presentationml.slide+xml" PartName="/ppt/slides/slide123.xml"/>
  <Override ContentType="application/vnd.openxmlformats-officedocument.presentationml.slide+xml" PartName="/ppt/slides/slide71.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66.xml"/>
  <Override ContentType="application/vnd.openxmlformats-officedocument.presentationml.slide+xml" PartName="/ppt/slides/slide23.xml"/>
  <Override ContentType="application/vnd.openxmlformats-officedocument.presentationml.slide+xml" PartName="/ppt/slides/slide136.xml"/>
  <Override ContentType="application/vnd.openxmlformats-officedocument.presentationml.slide+xml" PartName="/ppt/slides/slide154.xml"/>
  <Override ContentType="application/vnd.openxmlformats-officedocument.presentationml.slide+xml" PartName="/ppt/slides/slide10.xml"/>
  <Override ContentType="application/vnd.openxmlformats-officedocument.presentationml.slide+xml" PartName="/ppt/slides/slide111.xml"/>
  <Override ContentType="application/vnd.openxmlformats-officedocument.presentationml.slide+xml" PartName="/ppt/slides/slide53.xml"/>
  <Override ContentType="application/vnd.openxmlformats-officedocument.presentationml.slide+xml" PartName="/ppt/slides/slide141.xml"/>
  <Override ContentType="application/vnd.openxmlformats-officedocument.presentationml.slide+xml" PartName="/ppt/slides/slide96.xml"/>
  <Override ContentType="application/vnd.openxmlformats-officedocument.presentationml.slide+xml" PartName="/ppt/slides/slide48.xml"/>
  <Override ContentType="application/vnd.openxmlformats-officedocument.presentationml.slide+xml" PartName="/ppt/slides/slide22.xml"/>
  <Override ContentType="application/vnd.openxmlformats-officedocument.presentationml.slide+xml" PartName="/ppt/slides/slide82.xml"/>
  <Override ContentType="application/vnd.openxmlformats-officedocument.presentationml.slide+xml" PartName="/ppt/slides/slide65.xml"/>
  <Override ContentType="application/vnd.openxmlformats-officedocument.presentationml.slide+xml" PartName="/ppt/slides/slide9.xml"/>
  <Override ContentType="application/vnd.openxmlformats-officedocument.presentationml.slide+xml" PartName="/ppt/slides/slide118.xml"/>
  <Override ContentType="application/vnd.openxmlformats-officedocument.presentationml.slide+xml" PartName="/ppt/slides/slide142.xml"/>
  <Override ContentType="application/vnd.openxmlformats-officedocument.presentationml.slide+xml" PartName="/ppt/slides/slide12.xml"/>
  <Override ContentType="application/vnd.openxmlformats-officedocument.presentationml.slide+xml" PartName="/ppt/slides/slide108.xml"/>
  <Override ContentType="application/vnd.openxmlformats-officedocument.presentationml.slide+xml" PartName="/ppt/slides/slide98.xml"/>
  <Override ContentType="application/vnd.openxmlformats-officedocument.presentationml.slide+xml" PartName="/ppt/slides/slide152.xml"/>
  <Override ContentType="application/vnd.openxmlformats-officedocument.presentationml.slide+xml" PartName="/ppt/slides/slide125.xml"/>
  <Override ContentType="application/vnd.openxmlformats-officedocument.presentationml.slide+xml" PartName="/ppt/slides/slide72.xml"/>
  <Override ContentType="application/vnd.openxmlformats-officedocument.presentationml.slide+xml" PartName="/ppt/slides/slide135.xml"/>
  <Override ContentType="application/vnd.openxmlformats-officedocument.presentationml.slide+xml" PartName="/ppt/slides/slide20.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55.xml"/>
  <Override ContentType="application/vnd.openxmlformats-officedocument.presentationml.slide+xml" PartName="/ppt/slides/slide29.xml"/>
  <Override ContentType="application/vnd.openxmlformats-officedocument.presentationml.slide+xml" PartName="/ppt/slides/slide59.xml"/>
  <Override ContentType="application/vnd.openxmlformats-officedocument.presentationml.slide+xml" PartName="/ppt/slides/slide89.xml"/>
  <Override ContentType="application/vnd.openxmlformats-officedocument.presentationml.slide+xml" PartName="/ppt/slides/slide76.xml"/>
  <Override ContentType="application/vnd.openxmlformats-officedocument.presentationml.slide+xml" PartName="/ppt/slides/slide129.xml"/>
  <Override ContentType="application/vnd.openxmlformats-officedocument.presentationml.slide+xml" PartName="/ppt/slides/slide63.xml"/>
  <Override ContentType="application/vnd.openxmlformats-officedocument.presentationml.slide+xml" PartName="/ppt/slides/slide131.xml"/>
  <Override ContentType="application/vnd.openxmlformats-officedocument.presentationml.slide+xml" PartName="/ppt/slides/slide93.xml"/>
  <Override ContentType="application/vnd.openxmlformats-officedocument.presentationml.slide+xml" PartName="/ppt/slides/slide101.xml"/>
  <Override ContentType="application/vnd.openxmlformats-officedocument.presentationml.slide+xml" PartName="/ppt/slides/slide116.xml"/>
  <Override ContentType="application/vnd.openxmlformats-officedocument.presentationml.slide+xml" PartName="/ppt/slides/slide144.xml"/>
  <Override ContentType="application/vnd.openxmlformats-officedocument.presentationml.slide+xml" PartName="/ppt/slides/slide80.xml"/>
  <Override ContentType="application/vnd.openxmlformats-officedocument.presentationml.slide+xml" PartName="/ppt/slides/slide103.xml"/>
  <Override ContentType="application/vnd.openxmlformats-officedocument.presentationml.slide+xml" PartName="/ppt/slides/slide61.xml"/>
  <Override ContentType="application/vnd.openxmlformats-officedocument.presentationml.slide+xml" PartName="/ppt/slides/slide133.xml"/>
  <Override ContentType="application/vnd.openxmlformats-officedocument.presentationml.slide+xml" PartName="/ppt/slides/slide91.xml"/>
  <Override ContentType="application/vnd.openxmlformats-officedocument.presentationml.slide+xml" PartName="/ppt/slides/slide114.xml"/>
  <Override ContentType="application/vnd.openxmlformats-officedocument.presentationml.slide+xml" PartName="/ppt/slides/slide31.xml"/>
  <Override ContentType="application/vnd.openxmlformats-officedocument.presentationml.slide+xml" PartName="/ppt/slides/slide127.xml"/>
  <Override ContentType="application/vnd.openxmlformats-officedocument.presentationml.slide+xml" PartName="/ppt/slides/slide146.xml"/>
  <Override ContentType="application/vnd.openxmlformats-officedocument.presentationml.slide+xml" PartName="/ppt/slides/slide150.xml"/>
  <Override ContentType="application/vnd.openxmlformats-officedocument.presentationml.slide+xml" PartName="/ppt/slides/slide120.xml"/>
  <Override ContentType="application/vnd.openxmlformats-officedocument.presentationml.slide+xml" PartName="/ppt/slides/slide87.xml"/>
  <Override ContentType="application/vnd.openxmlformats-officedocument.presentationml.slide+xml" PartName="/ppt/slides/slide74.xml"/>
  <Override ContentType="application/vnd.openxmlformats-officedocument.presentationml.slide+xml" PartName="/ppt/slides/slide27.xml"/>
  <Override ContentType="application/vnd.openxmlformats-officedocument.presentationml.slide+xml" PartName="/ppt/slides/slide5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39.xml"/>
  <Override ContentType="application/vnd.openxmlformats-officedocument.presentationml.slide+xml" PartName="/ppt/slides/slide60.xml"/>
  <Override ContentType="application/vnd.openxmlformats-officedocument.presentationml.slide+xml" PartName="/ppt/slides/slide52.xml"/>
  <Override ContentType="application/vnd.openxmlformats-officedocument.presentationml.slide+xml" PartName="/ppt/slides/slide26.xml"/>
  <Override ContentType="application/vnd.openxmlformats-officedocument.presentationml.slide+xml" PartName="/ppt/slides/slide112.xml"/>
  <Override ContentType="application/vnd.openxmlformats-officedocument.presentationml.slide+xml" PartName="/ppt/slides/slide95.xml"/>
  <Override ContentType="application/vnd.openxmlformats-officedocument.presentationml.slide+xml" PartName="/ppt/slides/slide155.xml"/>
  <Override ContentType="application/vnd.openxmlformats-officedocument.presentationml.slide+xml" PartName="/ppt/slides/slide69.xml"/>
  <Override ContentType="application/vnd.openxmlformats-officedocument.presentationml.slide+xml" PartName="/ppt/slides/slide85.xml"/>
  <Override ContentType="application/vnd.openxmlformats-officedocument.presentationml.slide+xml" PartName="/ppt/slides/slide157.xml"/>
  <Override ContentType="application/vnd.openxmlformats-officedocument.presentationml.slide+xml" PartName="/ppt/slides/slide42.xml"/>
  <Override ContentType="application/vnd.openxmlformats-officedocument.presentationml.slide+xml" PartName="/ppt/slides/slide50.xml"/>
  <Override ContentType="application/vnd.openxmlformats-officedocument.presentationml.slide+xml" PartName="/ppt/slides/slide77.xml"/>
  <Override ContentType="application/vnd.openxmlformats-officedocument.presentationml.slide+xml" PartName="/ppt/slides/slide34.xml"/>
  <Override ContentType="application/vnd.openxmlformats-officedocument.presentationml.slide+xml" PartName="/ppt/slides/slide122.xml"/>
  <Override ContentType="application/vnd.openxmlformats-officedocument.presentationml.slide+xml" PartName="/ppt/slides/slide130.xml"/>
  <Override ContentType="application/vnd.openxmlformats-officedocument.presentationml.slide+xml" PartName="/ppt/slides/slide147.xml"/>
  <Override ContentType="application/vnd.openxmlformats-officedocument.presentationml.slide+xml" PartName="/ppt/slides/slide16.xml"/>
  <Override ContentType="application/vnd.openxmlformats-officedocument.presentationml.slide+xml" PartName="/ppt/slides/slide104.xml"/>
  <Override ContentType="application/vnd.openxmlformats-officedocument.presentationml.slide+xml" PartName="/ppt/slides/slide24.xml"/>
  <Override ContentType="application/vnd.openxmlformats-officedocument.presentationml.slide+xml" PartName="/ppt/slides/slide97.xml"/>
  <Override ContentType="application/vnd.openxmlformats-officedocument.presentationml.slide+xml" PartName="/ppt/slides/slide140.xml"/>
  <Override ContentType="application/vnd.openxmlformats-officedocument.presentationml.slide+xml" PartName="/ppt/slides/slide11.xml"/>
  <Override ContentType="application/vnd.openxmlformats-officedocument.presentationml.slide+xml" PartName="/ppt/slides/slide137.xml"/>
  <Override ContentType="application/vnd.openxmlformats-officedocument.presentationml.slide+xml" PartName="/ppt/slides/slide110.xml"/>
  <Override ContentType="application/vnd.openxmlformats-officedocument.presentationml.slide+xml" PartName="/ppt/slides/slide153.xml"/>
  <Override ContentType="application/vnd.openxmlformats-officedocument.presentationml.slide+xml" PartName="/ppt/slides/slide67.xml"/>
  <Override ContentType="application/vnd.openxmlformats-officedocument.presentationml.slide+xml" PartName="/ppt/slides/slide54.xml"/>
  <Override ContentType="application/vnd.openxmlformats-officedocument.presentationml.slide+xml" PartName="/ppt/slides/slide36.xml"/>
  <Override ContentType="application/vnd.openxmlformats-officedocument.presentationml.slide+xml" PartName="/ppt/slides/slide79.xml"/>
  <Override ContentType="application/vnd.openxmlformats-officedocument.presentationml.slide+xml" PartName="/ppt/slides/slide149.xml"/>
  <Override ContentType="application/vnd.openxmlformats-officedocument.presentationml.slide+xml" PartName="/ppt/slides/slide49.xml"/>
  <Override ContentType="application/vnd.openxmlformats-officedocument.presentationml.slide+xml" PartName="/ppt/slides/slide124.xml"/>
  <Override ContentType="application/vnd.openxmlformats-officedocument.presentationml.slide+xml" PartName="/ppt/slides/slide83.xml"/>
  <Override ContentType="application/vnd.openxmlformats-officedocument.presentationml.slide+xml" PartName="/ppt/slides/slide106.xml"/>
  <Override ContentType="application/vnd.openxmlformats-officedocument.presentationml.slide+xml" PartName="/ppt/slides/slide70.xml"/>
  <Override ContentType="application/vnd.openxmlformats-officedocument.presentationml.slide+xml" PartName="/ppt/slides/slide6.xml"/>
  <Override ContentType="application/vnd.openxmlformats-officedocument.presentationml.slide+xml" PartName="/ppt/slides/slide119.xml"/>
  <Override ContentType="application/vnd.openxmlformats-officedocument.presentationml.slide+xml" PartName="/ppt/slides/slide40.xml"/>
  <Override ContentType="application/vnd.openxmlformats-officedocument.presentationml.slide+xml" PartName="/ppt/slides/slide73.xml"/>
  <Override ContentType="application/vnd.openxmlformats-officedocument.presentationml.slide+xml" PartName="/ppt/slides/slide30.xml"/>
  <Override ContentType="application/vnd.openxmlformats-officedocument.presentationml.slide+xml" PartName="/ppt/slides/slide126.xml"/>
  <Override ContentType="application/vnd.openxmlformats-officedocument.presentationml.slide+xml" PartName="/ppt/slides/slide151.xml"/>
  <Override ContentType="application/vnd.openxmlformats-officedocument.presentationml.slide+xml" PartName="/ppt/slides/slide109.xml"/>
  <Override ContentType="application/vnd.openxmlformats-officedocument.presentationml.slide+xml" PartName="/ppt/slides/slide134.xml"/>
  <Override ContentType="application/vnd.openxmlformats-officedocument.presentationml.slide+xml" PartName="/ppt/slides/slide99.xml"/>
  <Override ContentType="application/vnd.openxmlformats-officedocument.presentationml.slide+xml" PartName="/ppt/slides/slide39.xml"/>
  <Override ContentType="application/vnd.openxmlformats-officedocument.presentationml.slide+xml" PartName="/ppt/slides/slide13.xml"/>
  <Override ContentType="application/vnd.openxmlformats-officedocument.presentationml.slide+xml" PartName="/ppt/slides/slide56.xml"/>
  <Override ContentType="application/vnd.openxmlformats-officedocument.presentationml.slide+xml" PartName="/ppt/slides/slide47.xml"/>
  <Override ContentType="application/vnd.openxmlformats-officedocument.presentationml.slide+xml" PartName="/ppt/slides/slide21.xml"/>
  <Override ContentType="application/vnd.openxmlformats-officedocument.presentationml.slide+xml" PartName="/ppt/slides/slide100.xml"/>
  <Override ContentType="application/vnd.openxmlformats-officedocument.presentationml.slide+xml" PartName="/ppt/slides/slide64.xml"/>
  <Override ContentType="application/vnd.openxmlformats-officedocument.presentationml.slide+xml" PartName="/ppt/slides/slide81.xml"/>
  <Override ContentType="application/vnd.openxmlformats-officedocument.presentationml.slide+xml" PartName="/ppt/slides/slide90.xml"/>
  <Override ContentType="application/vnd.openxmlformats-officedocument.presentationml.slide+xml" PartName="/ppt/slides/slide8.xml"/>
  <Override ContentType="application/vnd.openxmlformats-officedocument.presentationml.slide+xml" PartName="/ppt/slides/slide143.xml"/>
  <Override ContentType="application/vnd.openxmlformats-officedocument.presentationml.slide+xml" PartName="/ppt/slides/slide117.xml"/>
  <Override ContentType="application/vnd.openxmlformats-officedocument.presentationml.slide+xml" PartName="/ppt/slides/slide145.xml"/>
  <Override ContentType="application/vnd.openxmlformats-officedocument.presentationml.slide+xml" PartName="/ppt/slides/slide132.xml"/>
  <Override ContentType="application/vnd.openxmlformats-officedocument.presentationml.slide+xml" PartName="/ppt/slides/slide32.xml"/>
  <Override ContentType="application/vnd.openxmlformats-officedocument.presentationml.slide+xml" PartName="/ppt/slides/slide62.xml"/>
  <Override ContentType="application/vnd.openxmlformats-officedocument.presentationml.slide+xml" PartName="/ppt/slides/slide75.xml"/>
  <Override ContentType="application/vnd.openxmlformats-officedocument.presentationml.slide+xml" PartName="/ppt/slides/slide1.xml"/>
  <Override ContentType="application/vnd.openxmlformats-officedocument.presentationml.slide+xml" PartName="/ppt/slides/slide58.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88.xml"/>
  <Override ContentType="application/vnd.openxmlformats-officedocument.presentationml.slide+xml" PartName="/ppt/slides/slide128.xml"/>
  <Override ContentType="application/vnd.openxmlformats-officedocument.presentationml.slide+xml" PartName="/ppt/slides/slide158.xml"/>
  <Override ContentType="application/vnd.openxmlformats-officedocument.presentationml.slide+xml" PartName="/ppt/slides/slide92.xml"/>
  <Override ContentType="application/vnd.openxmlformats-officedocument.presentationml.slide+xml" PartName="/ppt/slides/slide115.xml"/>
  <Override ContentType="application/vnd.openxmlformats-officedocument.presentationml.slide+xml" PartName="/ppt/slides/slide102.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 id="298" r:id="rId48"/>
    <p:sldId id="299" r:id="rId49"/>
    <p:sldId id="300" r:id="rId50"/>
    <p:sldId id="301" r:id="rId51"/>
    <p:sldId id="302" r:id="rId52"/>
    <p:sldId id="303" r:id="rId53"/>
    <p:sldId id="304" r:id="rId54"/>
    <p:sldId id="305" r:id="rId55"/>
    <p:sldId id="306" r:id="rId56"/>
    <p:sldId id="307" r:id="rId57"/>
    <p:sldId id="308" r:id="rId58"/>
    <p:sldId id="309" r:id="rId59"/>
    <p:sldId id="310" r:id="rId60"/>
    <p:sldId id="311" r:id="rId61"/>
    <p:sldId id="312" r:id="rId62"/>
    <p:sldId id="313" r:id="rId63"/>
    <p:sldId id="314" r:id="rId64"/>
    <p:sldId id="315" r:id="rId65"/>
    <p:sldId id="316" r:id="rId66"/>
    <p:sldId id="317" r:id="rId67"/>
    <p:sldId id="318" r:id="rId68"/>
    <p:sldId id="319" r:id="rId69"/>
    <p:sldId id="320" r:id="rId70"/>
    <p:sldId id="321" r:id="rId71"/>
    <p:sldId id="322" r:id="rId72"/>
    <p:sldId id="323" r:id="rId73"/>
    <p:sldId id="324" r:id="rId74"/>
    <p:sldId id="325" r:id="rId75"/>
    <p:sldId id="326" r:id="rId76"/>
    <p:sldId id="327" r:id="rId77"/>
    <p:sldId id="328" r:id="rId78"/>
    <p:sldId id="329" r:id="rId79"/>
    <p:sldId id="330" r:id="rId80"/>
    <p:sldId id="331" r:id="rId81"/>
    <p:sldId id="332" r:id="rId82"/>
    <p:sldId id="333" r:id="rId83"/>
    <p:sldId id="334" r:id="rId84"/>
    <p:sldId id="335" r:id="rId85"/>
    <p:sldId id="336" r:id="rId86"/>
    <p:sldId id="337" r:id="rId87"/>
    <p:sldId id="338" r:id="rId88"/>
    <p:sldId id="339" r:id="rId89"/>
    <p:sldId id="340" r:id="rId90"/>
    <p:sldId id="341" r:id="rId91"/>
    <p:sldId id="342" r:id="rId92"/>
    <p:sldId id="343" r:id="rId93"/>
    <p:sldId id="344" r:id="rId94"/>
    <p:sldId id="345" r:id="rId95"/>
    <p:sldId id="346" r:id="rId96"/>
    <p:sldId id="347" r:id="rId97"/>
    <p:sldId id="348" r:id="rId98"/>
    <p:sldId id="349" r:id="rId99"/>
    <p:sldId id="350" r:id="rId100"/>
    <p:sldId id="351" r:id="rId101"/>
    <p:sldId id="352" r:id="rId102"/>
    <p:sldId id="353" r:id="rId103"/>
    <p:sldId id="354" r:id="rId104"/>
    <p:sldId id="355" r:id="rId105"/>
    <p:sldId id="356" r:id="rId106"/>
    <p:sldId id="357" r:id="rId107"/>
    <p:sldId id="358" r:id="rId108"/>
    <p:sldId id="359" r:id="rId109"/>
    <p:sldId id="360" r:id="rId110"/>
    <p:sldId id="361" r:id="rId111"/>
    <p:sldId id="362" r:id="rId112"/>
    <p:sldId id="363" r:id="rId113"/>
    <p:sldId id="364" r:id="rId114"/>
    <p:sldId id="365" r:id="rId115"/>
    <p:sldId id="366" r:id="rId116"/>
    <p:sldId id="367" r:id="rId117"/>
    <p:sldId id="368" r:id="rId118"/>
    <p:sldId id="369" r:id="rId119"/>
    <p:sldId id="370" r:id="rId120"/>
    <p:sldId id="371" r:id="rId121"/>
    <p:sldId id="372" r:id="rId122"/>
    <p:sldId id="373" r:id="rId123"/>
    <p:sldId id="374" r:id="rId124"/>
    <p:sldId id="375" r:id="rId125"/>
    <p:sldId id="376" r:id="rId126"/>
    <p:sldId id="377" r:id="rId127"/>
    <p:sldId id="378" r:id="rId128"/>
    <p:sldId id="379" r:id="rId129"/>
    <p:sldId id="380" r:id="rId130"/>
    <p:sldId id="381" r:id="rId131"/>
    <p:sldId id="382" r:id="rId132"/>
    <p:sldId id="383" r:id="rId133"/>
    <p:sldId id="384" r:id="rId134"/>
    <p:sldId id="385" r:id="rId135"/>
    <p:sldId id="386" r:id="rId136"/>
    <p:sldId id="387" r:id="rId137"/>
    <p:sldId id="388" r:id="rId138"/>
    <p:sldId id="389" r:id="rId139"/>
    <p:sldId id="390" r:id="rId140"/>
    <p:sldId id="391" r:id="rId141"/>
    <p:sldId id="392" r:id="rId142"/>
    <p:sldId id="393" r:id="rId143"/>
    <p:sldId id="394" r:id="rId144"/>
    <p:sldId id="395" r:id="rId145"/>
    <p:sldId id="396" r:id="rId146"/>
    <p:sldId id="397" r:id="rId147"/>
    <p:sldId id="398" r:id="rId148"/>
    <p:sldId id="399" r:id="rId149"/>
    <p:sldId id="400" r:id="rId150"/>
    <p:sldId id="401" r:id="rId151"/>
    <p:sldId id="402" r:id="rId152"/>
    <p:sldId id="403" r:id="rId153"/>
    <p:sldId id="404" r:id="rId154"/>
    <p:sldId id="405" r:id="rId155"/>
    <p:sldId id="406" r:id="rId156"/>
    <p:sldId id="407" r:id="rId157"/>
    <p:sldId id="408" r:id="rId158"/>
    <p:sldId id="409" r:id="rId159"/>
    <p:sldId id="410" r:id="rId160"/>
    <p:sldId id="411" r:id="rId161"/>
    <p:sldId id="412" r:id="rId162"/>
    <p:sldId id="413" r:id="rId163"/>
  </p:sldIdLst>
  <p:sldSz cy="6858000" cx="12191675"/>
  <p:notesSz cx="6858000" cy="12191675"/>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164" roundtripDataSignature="AMtx7mjTjwPHoQxUQEWnJ5HKK9Kqd3kmLA=="/>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F80342BA-3033-44D6-9F91-622DC7A4C435}">
  <a:tblStyle styleId="{F80342BA-3033-44D6-9F91-622DC7A4C435}"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42" Type="http://schemas.openxmlformats.org/officeDocument/2006/relationships/slide" Target="slides/slide37.xml"/><Relationship Id="rId41" Type="http://schemas.openxmlformats.org/officeDocument/2006/relationships/slide" Target="slides/slide36.xml"/><Relationship Id="rId44" Type="http://schemas.openxmlformats.org/officeDocument/2006/relationships/slide" Target="slides/slide39.xml"/><Relationship Id="rId43" Type="http://schemas.openxmlformats.org/officeDocument/2006/relationships/slide" Target="slides/slide38.xml"/><Relationship Id="rId46" Type="http://schemas.openxmlformats.org/officeDocument/2006/relationships/slide" Target="slides/slide41.xml"/><Relationship Id="rId45" Type="http://schemas.openxmlformats.org/officeDocument/2006/relationships/slide" Target="slides/slide40.xml"/><Relationship Id="rId107" Type="http://schemas.openxmlformats.org/officeDocument/2006/relationships/slide" Target="slides/slide102.xml"/><Relationship Id="rId106" Type="http://schemas.openxmlformats.org/officeDocument/2006/relationships/slide" Target="slides/slide101.xml"/><Relationship Id="rId105" Type="http://schemas.openxmlformats.org/officeDocument/2006/relationships/slide" Target="slides/slide100.xml"/><Relationship Id="rId104" Type="http://schemas.openxmlformats.org/officeDocument/2006/relationships/slide" Target="slides/slide99.xml"/><Relationship Id="rId109" Type="http://schemas.openxmlformats.org/officeDocument/2006/relationships/slide" Target="slides/slide104.xml"/><Relationship Id="rId108" Type="http://schemas.openxmlformats.org/officeDocument/2006/relationships/slide" Target="slides/slide103.xml"/><Relationship Id="rId48" Type="http://schemas.openxmlformats.org/officeDocument/2006/relationships/slide" Target="slides/slide43.xml"/><Relationship Id="rId47" Type="http://schemas.openxmlformats.org/officeDocument/2006/relationships/slide" Target="slides/slide42.xml"/><Relationship Id="rId49" Type="http://schemas.openxmlformats.org/officeDocument/2006/relationships/slide" Target="slides/slide44.xml"/><Relationship Id="rId103" Type="http://schemas.openxmlformats.org/officeDocument/2006/relationships/slide" Target="slides/slide98.xml"/><Relationship Id="rId102" Type="http://schemas.openxmlformats.org/officeDocument/2006/relationships/slide" Target="slides/slide97.xml"/><Relationship Id="rId101" Type="http://schemas.openxmlformats.org/officeDocument/2006/relationships/slide" Target="slides/slide96.xml"/><Relationship Id="rId100" Type="http://schemas.openxmlformats.org/officeDocument/2006/relationships/slide" Target="slides/slide95.xml"/><Relationship Id="rId31" Type="http://schemas.openxmlformats.org/officeDocument/2006/relationships/slide" Target="slides/slide26.xml"/><Relationship Id="rId30" Type="http://schemas.openxmlformats.org/officeDocument/2006/relationships/slide" Target="slides/slide25.xml"/><Relationship Id="rId33" Type="http://schemas.openxmlformats.org/officeDocument/2006/relationships/slide" Target="slides/slide28.xml"/><Relationship Id="rId32" Type="http://schemas.openxmlformats.org/officeDocument/2006/relationships/slide" Target="slides/slide27.xml"/><Relationship Id="rId35" Type="http://schemas.openxmlformats.org/officeDocument/2006/relationships/slide" Target="slides/slide30.xml"/><Relationship Id="rId34" Type="http://schemas.openxmlformats.org/officeDocument/2006/relationships/slide" Target="slides/slide29.xml"/><Relationship Id="rId37" Type="http://schemas.openxmlformats.org/officeDocument/2006/relationships/slide" Target="slides/slide32.xml"/><Relationship Id="rId36" Type="http://schemas.openxmlformats.org/officeDocument/2006/relationships/slide" Target="slides/slide31.xml"/><Relationship Id="rId39" Type="http://schemas.openxmlformats.org/officeDocument/2006/relationships/slide" Target="slides/slide34.xml"/><Relationship Id="rId38" Type="http://schemas.openxmlformats.org/officeDocument/2006/relationships/slide" Target="slides/slide33.xml"/><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29" Type="http://schemas.openxmlformats.org/officeDocument/2006/relationships/slide" Target="slides/slide124.xml"/><Relationship Id="rId128" Type="http://schemas.openxmlformats.org/officeDocument/2006/relationships/slide" Target="slides/slide123.xml"/><Relationship Id="rId127" Type="http://schemas.openxmlformats.org/officeDocument/2006/relationships/slide" Target="slides/slide122.xml"/><Relationship Id="rId126" Type="http://schemas.openxmlformats.org/officeDocument/2006/relationships/slide" Target="slides/slide121.xml"/><Relationship Id="rId26" Type="http://schemas.openxmlformats.org/officeDocument/2006/relationships/slide" Target="slides/slide21.xml"/><Relationship Id="rId121" Type="http://schemas.openxmlformats.org/officeDocument/2006/relationships/slide" Target="slides/slide116.xml"/><Relationship Id="rId25" Type="http://schemas.openxmlformats.org/officeDocument/2006/relationships/slide" Target="slides/slide20.xml"/><Relationship Id="rId120" Type="http://schemas.openxmlformats.org/officeDocument/2006/relationships/slide" Target="slides/slide115.xml"/><Relationship Id="rId28" Type="http://schemas.openxmlformats.org/officeDocument/2006/relationships/slide" Target="slides/slide23.xml"/><Relationship Id="rId27" Type="http://schemas.openxmlformats.org/officeDocument/2006/relationships/slide" Target="slides/slide22.xml"/><Relationship Id="rId125" Type="http://schemas.openxmlformats.org/officeDocument/2006/relationships/slide" Target="slides/slide120.xml"/><Relationship Id="rId29" Type="http://schemas.openxmlformats.org/officeDocument/2006/relationships/slide" Target="slides/slide24.xml"/><Relationship Id="rId124" Type="http://schemas.openxmlformats.org/officeDocument/2006/relationships/slide" Target="slides/slide119.xml"/><Relationship Id="rId123" Type="http://schemas.openxmlformats.org/officeDocument/2006/relationships/slide" Target="slides/slide118.xml"/><Relationship Id="rId122" Type="http://schemas.openxmlformats.org/officeDocument/2006/relationships/slide" Target="slides/slide117.xml"/><Relationship Id="rId95" Type="http://schemas.openxmlformats.org/officeDocument/2006/relationships/slide" Target="slides/slide90.xml"/><Relationship Id="rId94" Type="http://schemas.openxmlformats.org/officeDocument/2006/relationships/slide" Target="slides/slide89.xml"/><Relationship Id="rId97" Type="http://schemas.openxmlformats.org/officeDocument/2006/relationships/slide" Target="slides/slide92.xml"/><Relationship Id="rId96" Type="http://schemas.openxmlformats.org/officeDocument/2006/relationships/slide" Target="slides/slide91.xml"/><Relationship Id="rId11" Type="http://schemas.openxmlformats.org/officeDocument/2006/relationships/slide" Target="slides/slide6.xml"/><Relationship Id="rId99" Type="http://schemas.openxmlformats.org/officeDocument/2006/relationships/slide" Target="slides/slide94.xml"/><Relationship Id="rId10" Type="http://schemas.openxmlformats.org/officeDocument/2006/relationships/slide" Target="slides/slide5.xml"/><Relationship Id="rId98" Type="http://schemas.openxmlformats.org/officeDocument/2006/relationships/slide" Target="slides/slide93.xml"/><Relationship Id="rId13" Type="http://schemas.openxmlformats.org/officeDocument/2006/relationships/slide" Target="slides/slide8.xml"/><Relationship Id="rId12" Type="http://schemas.openxmlformats.org/officeDocument/2006/relationships/slide" Target="slides/slide7.xml"/><Relationship Id="rId91" Type="http://schemas.openxmlformats.org/officeDocument/2006/relationships/slide" Target="slides/slide86.xml"/><Relationship Id="rId90" Type="http://schemas.openxmlformats.org/officeDocument/2006/relationships/slide" Target="slides/slide85.xml"/><Relationship Id="rId93" Type="http://schemas.openxmlformats.org/officeDocument/2006/relationships/slide" Target="slides/slide88.xml"/><Relationship Id="rId92" Type="http://schemas.openxmlformats.org/officeDocument/2006/relationships/slide" Target="slides/slide87.xml"/><Relationship Id="rId118" Type="http://schemas.openxmlformats.org/officeDocument/2006/relationships/slide" Target="slides/slide113.xml"/><Relationship Id="rId117" Type="http://schemas.openxmlformats.org/officeDocument/2006/relationships/slide" Target="slides/slide112.xml"/><Relationship Id="rId116" Type="http://schemas.openxmlformats.org/officeDocument/2006/relationships/slide" Target="slides/slide111.xml"/><Relationship Id="rId115" Type="http://schemas.openxmlformats.org/officeDocument/2006/relationships/slide" Target="slides/slide110.xml"/><Relationship Id="rId119" Type="http://schemas.openxmlformats.org/officeDocument/2006/relationships/slide" Target="slides/slide114.xml"/><Relationship Id="rId15" Type="http://schemas.openxmlformats.org/officeDocument/2006/relationships/slide" Target="slides/slide10.xml"/><Relationship Id="rId110" Type="http://schemas.openxmlformats.org/officeDocument/2006/relationships/slide" Target="slides/slide105.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14" Type="http://schemas.openxmlformats.org/officeDocument/2006/relationships/slide" Target="slides/slide109.xml"/><Relationship Id="rId18" Type="http://schemas.openxmlformats.org/officeDocument/2006/relationships/slide" Target="slides/slide13.xml"/><Relationship Id="rId113" Type="http://schemas.openxmlformats.org/officeDocument/2006/relationships/slide" Target="slides/slide108.xml"/><Relationship Id="rId112" Type="http://schemas.openxmlformats.org/officeDocument/2006/relationships/slide" Target="slides/slide107.xml"/><Relationship Id="rId111" Type="http://schemas.openxmlformats.org/officeDocument/2006/relationships/slide" Target="slides/slide106.xml"/><Relationship Id="rId84" Type="http://schemas.openxmlformats.org/officeDocument/2006/relationships/slide" Target="slides/slide79.xml"/><Relationship Id="rId83" Type="http://schemas.openxmlformats.org/officeDocument/2006/relationships/slide" Target="slides/slide78.xml"/><Relationship Id="rId86" Type="http://schemas.openxmlformats.org/officeDocument/2006/relationships/slide" Target="slides/slide81.xml"/><Relationship Id="rId85" Type="http://schemas.openxmlformats.org/officeDocument/2006/relationships/slide" Target="slides/slide80.xml"/><Relationship Id="rId88" Type="http://schemas.openxmlformats.org/officeDocument/2006/relationships/slide" Target="slides/slide83.xml"/><Relationship Id="rId150" Type="http://schemas.openxmlformats.org/officeDocument/2006/relationships/slide" Target="slides/slide145.xml"/><Relationship Id="rId87" Type="http://schemas.openxmlformats.org/officeDocument/2006/relationships/slide" Target="slides/slide82.xml"/><Relationship Id="rId89" Type="http://schemas.openxmlformats.org/officeDocument/2006/relationships/slide" Target="slides/slide84.xml"/><Relationship Id="rId80" Type="http://schemas.openxmlformats.org/officeDocument/2006/relationships/slide" Target="slides/slide75.xml"/><Relationship Id="rId82" Type="http://schemas.openxmlformats.org/officeDocument/2006/relationships/slide" Target="slides/slide77.xml"/><Relationship Id="rId81" Type="http://schemas.openxmlformats.org/officeDocument/2006/relationships/slide" Target="slides/slide76.xml"/><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tableStyles" Target="tableStyles.xml"/><Relationship Id="rId149" Type="http://schemas.openxmlformats.org/officeDocument/2006/relationships/slide" Target="slides/slide144.xml"/><Relationship Id="rId4" Type="http://schemas.openxmlformats.org/officeDocument/2006/relationships/slideMaster" Target="slideMasters/slideMaster1.xml"/><Relationship Id="rId148" Type="http://schemas.openxmlformats.org/officeDocument/2006/relationships/slide" Target="slides/slide143.xml"/><Relationship Id="rId9" Type="http://schemas.openxmlformats.org/officeDocument/2006/relationships/slide" Target="slides/slide4.xml"/><Relationship Id="rId143" Type="http://schemas.openxmlformats.org/officeDocument/2006/relationships/slide" Target="slides/slide138.xml"/><Relationship Id="rId142" Type="http://schemas.openxmlformats.org/officeDocument/2006/relationships/slide" Target="slides/slide137.xml"/><Relationship Id="rId141" Type="http://schemas.openxmlformats.org/officeDocument/2006/relationships/slide" Target="slides/slide136.xml"/><Relationship Id="rId140" Type="http://schemas.openxmlformats.org/officeDocument/2006/relationships/slide" Target="slides/slide135.xml"/><Relationship Id="rId5" Type="http://schemas.openxmlformats.org/officeDocument/2006/relationships/notesMaster" Target="notesMasters/notesMaster1.xml"/><Relationship Id="rId147" Type="http://schemas.openxmlformats.org/officeDocument/2006/relationships/slide" Target="slides/slide142.xml"/><Relationship Id="rId6" Type="http://schemas.openxmlformats.org/officeDocument/2006/relationships/slide" Target="slides/slide1.xml"/><Relationship Id="rId146" Type="http://schemas.openxmlformats.org/officeDocument/2006/relationships/slide" Target="slides/slide141.xml"/><Relationship Id="rId7" Type="http://schemas.openxmlformats.org/officeDocument/2006/relationships/slide" Target="slides/slide2.xml"/><Relationship Id="rId145" Type="http://schemas.openxmlformats.org/officeDocument/2006/relationships/slide" Target="slides/slide140.xml"/><Relationship Id="rId8" Type="http://schemas.openxmlformats.org/officeDocument/2006/relationships/slide" Target="slides/slide3.xml"/><Relationship Id="rId144" Type="http://schemas.openxmlformats.org/officeDocument/2006/relationships/slide" Target="slides/slide139.xml"/><Relationship Id="rId73" Type="http://schemas.openxmlformats.org/officeDocument/2006/relationships/slide" Target="slides/slide68.xml"/><Relationship Id="rId72" Type="http://schemas.openxmlformats.org/officeDocument/2006/relationships/slide" Target="slides/slide67.xml"/><Relationship Id="rId75" Type="http://schemas.openxmlformats.org/officeDocument/2006/relationships/slide" Target="slides/slide70.xml"/><Relationship Id="rId74" Type="http://schemas.openxmlformats.org/officeDocument/2006/relationships/slide" Target="slides/slide69.xml"/><Relationship Id="rId77" Type="http://schemas.openxmlformats.org/officeDocument/2006/relationships/slide" Target="slides/slide72.xml"/><Relationship Id="rId76" Type="http://schemas.openxmlformats.org/officeDocument/2006/relationships/slide" Target="slides/slide71.xml"/><Relationship Id="rId79" Type="http://schemas.openxmlformats.org/officeDocument/2006/relationships/slide" Target="slides/slide74.xml"/><Relationship Id="rId78" Type="http://schemas.openxmlformats.org/officeDocument/2006/relationships/slide" Target="slides/slide73.xml"/><Relationship Id="rId71" Type="http://schemas.openxmlformats.org/officeDocument/2006/relationships/slide" Target="slides/slide66.xml"/><Relationship Id="rId70" Type="http://schemas.openxmlformats.org/officeDocument/2006/relationships/slide" Target="slides/slide65.xml"/><Relationship Id="rId139" Type="http://schemas.openxmlformats.org/officeDocument/2006/relationships/slide" Target="slides/slide134.xml"/><Relationship Id="rId138" Type="http://schemas.openxmlformats.org/officeDocument/2006/relationships/slide" Target="slides/slide133.xml"/><Relationship Id="rId137" Type="http://schemas.openxmlformats.org/officeDocument/2006/relationships/slide" Target="slides/slide132.xml"/><Relationship Id="rId132" Type="http://schemas.openxmlformats.org/officeDocument/2006/relationships/slide" Target="slides/slide127.xml"/><Relationship Id="rId131" Type="http://schemas.openxmlformats.org/officeDocument/2006/relationships/slide" Target="slides/slide126.xml"/><Relationship Id="rId130" Type="http://schemas.openxmlformats.org/officeDocument/2006/relationships/slide" Target="slides/slide125.xml"/><Relationship Id="rId136" Type="http://schemas.openxmlformats.org/officeDocument/2006/relationships/slide" Target="slides/slide131.xml"/><Relationship Id="rId135" Type="http://schemas.openxmlformats.org/officeDocument/2006/relationships/slide" Target="slides/slide130.xml"/><Relationship Id="rId134" Type="http://schemas.openxmlformats.org/officeDocument/2006/relationships/slide" Target="slides/slide129.xml"/><Relationship Id="rId133" Type="http://schemas.openxmlformats.org/officeDocument/2006/relationships/slide" Target="slides/slide128.xml"/><Relationship Id="rId62" Type="http://schemas.openxmlformats.org/officeDocument/2006/relationships/slide" Target="slides/slide57.xml"/><Relationship Id="rId61" Type="http://schemas.openxmlformats.org/officeDocument/2006/relationships/slide" Target="slides/slide56.xml"/><Relationship Id="rId64" Type="http://schemas.openxmlformats.org/officeDocument/2006/relationships/slide" Target="slides/slide59.xml"/><Relationship Id="rId63" Type="http://schemas.openxmlformats.org/officeDocument/2006/relationships/slide" Target="slides/slide58.xml"/><Relationship Id="rId66" Type="http://schemas.openxmlformats.org/officeDocument/2006/relationships/slide" Target="slides/slide61.xml"/><Relationship Id="rId65" Type="http://schemas.openxmlformats.org/officeDocument/2006/relationships/slide" Target="slides/slide60.xml"/><Relationship Id="rId68" Type="http://schemas.openxmlformats.org/officeDocument/2006/relationships/slide" Target="slides/slide63.xml"/><Relationship Id="rId67" Type="http://schemas.openxmlformats.org/officeDocument/2006/relationships/slide" Target="slides/slide62.xml"/><Relationship Id="rId60" Type="http://schemas.openxmlformats.org/officeDocument/2006/relationships/slide" Target="slides/slide55.xml"/><Relationship Id="rId69" Type="http://schemas.openxmlformats.org/officeDocument/2006/relationships/slide" Target="slides/slide64.xml"/><Relationship Id="rId164" Type="http://customschemas.google.com/relationships/presentationmetadata" Target="metadata"/><Relationship Id="rId163" Type="http://schemas.openxmlformats.org/officeDocument/2006/relationships/slide" Target="slides/slide158.xml"/><Relationship Id="rId162" Type="http://schemas.openxmlformats.org/officeDocument/2006/relationships/slide" Target="slides/slide157.xml"/><Relationship Id="rId51" Type="http://schemas.openxmlformats.org/officeDocument/2006/relationships/slide" Target="slides/slide46.xml"/><Relationship Id="rId50" Type="http://schemas.openxmlformats.org/officeDocument/2006/relationships/slide" Target="slides/slide45.xml"/><Relationship Id="rId53" Type="http://schemas.openxmlformats.org/officeDocument/2006/relationships/slide" Target="slides/slide48.xml"/><Relationship Id="rId52" Type="http://schemas.openxmlformats.org/officeDocument/2006/relationships/slide" Target="slides/slide47.xml"/><Relationship Id="rId55" Type="http://schemas.openxmlformats.org/officeDocument/2006/relationships/slide" Target="slides/slide50.xml"/><Relationship Id="rId161" Type="http://schemas.openxmlformats.org/officeDocument/2006/relationships/slide" Target="slides/slide156.xml"/><Relationship Id="rId54" Type="http://schemas.openxmlformats.org/officeDocument/2006/relationships/slide" Target="slides/slide49.xml"/><Relationship Id="rId160" Type="http://schemas.openxmlformats.org/officeDocument/2006/relationships/slide" Target="slides/slide155.xml"/><Relationship Id="rId57" Type="http://schemas.openxmlformats.org/officeDocument/2006/relationships/slide" Target="slides/slide52.xml"/><Relationship Id="rId56" Type="http://schemas.openxmlformats.org/officeDocument/2006/relationships/slide" Target="slides/slide51.xml"/><Relationship Id="rId159" Type="http://schemas.openxmlformats.org/officeDocument/2006/relationships/slide" Target="slides/slide154.xml"/><Relationship Id="rId59" Type="http://schemas.openxmlformats.org/officeDocument/2006/relationships/slide" Target="slides/slide54.xml"/><Relationship Id="rId154" Type="http://schemas.openxmlformats.org/officeDocument/2006/relationships/slide" Target="slides/slide149.xml"/><Relationship Id="rId58" Type="http://schemas.openxmlformats.org/officeDocument/2006/relationships/slide" Target="slides/slide53.xml"/><Relationship Id="rId153" Type="http://schemas.openxmlformats.org/officeDocument/2006/relationships/slide" Target="slides/slide148.xml"/><Relationship Id="rId152" Type="http://schemas.openxmlformats.org/officeDocument/2006/relationships/slide" Target="slides/slide147.xml"/><Relationship Id="rId151" Type="http://schemas.openxmlformats.org/officeDocument/2006/relationships/slide" Target="slides/slide146.xml"/><Relationship Id="rId158" Type="http://schemas.openxmlformats.org/officeDocument/2006/relationships/slide" Target="slides/slide153.xml"/><Relationship Id="rId157" Type="http://schemas.openxmlformats.org/officeDocument/2006/relationships/slide" Target="slides/slide152.xml"/><Relationship Id="rId156" Type="http://schemas.openxmlformats.org/officeDocument/2006/relationships/slide" Target="slides/slide151.xml"/><Relationship Id="rId155" Type="http://schemas.openxmlformats.org/officeDocument/2006/relationships/slide" Target="slides/slide15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 name="Shape 11"/>
        <p:cNvGrpSpPr/>
        <p:nvPr/>
      </p:nvGrpSpPr>
      <p:grpSpPr>
        <a:xfrm>
          <a:off x="0" y="0"/>
          <a:ext cx="0" cy="0"/>
          <a:chOff x="0" y="0"/>
          <a:chExt cx="0" cy="0"/>
        </a:xfrm>
      </p:grpSpPr>
      <p:sp>
        <p:nvSpPr>
          <p:cNvPr id="12" name="Google Shape;12;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 name="Google Shape;13;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Welcome participants. This is a specialist module in the AI Engineer Track. Introduce yourself, your production CV background, and set the tone: this course builds one real system over four days, not a tour of slides. Confirm everyone completed SDA-AIE-112 (Deep Learning Essentials with PyTorch). Housekeeping: GPU workstation allocation, repo access, and the dates-qc dataset bundle download before Hour 2.</a:t>
            </a:r>
            <a:endParaRPr/>
          </a:p>
        </p:txBody>
      </p:sp>
      <p:sp>
        <p:nvSpPr>
          <p:cNvPr id="14" name="Google Shape;14;p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 name="Shape 46"/>
        <p:cNvGrpSpPr/>
        <p:nvPr/>
      </p:nvGrpSpPr>
      <p:grpSpPr>
        <a:xfrm>
          <a:off x="0" y="0"/>
          <a:ext cx="0" cy="0"/>
          <a:chOff x="0" y="0"/>
          <a:chExt cx="0" cy="0"/>
        </a:xfrm>
      </p:grpSpPr>
      <p:sp>
        <p:nvSpPr>
          <p:cNvPr id="47" name="Google Shape;47;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8" name="Google Shape;48;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Run through the facts quickly — two minutes maximum. Emphasise the assessment split: 60% comes from the labs, which are cumulative, so missing a lab hurts twice (marks and the capstone depends on it). Point out stackability: this module earns the vision specialisation badge and feeds directly into SDA-AIE-216 (MLOps), where the system built here gets monitored and operated in production.</a:t>
            </a:r>
            <a:endParaRPr/>
          </a:p>
        </p:txBody>
      </p:sp>
      <p:sp>
        <p:nvSpPr>
          <p:cNvPr id="49" name="Google Shape;49;p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 name="Shape 57"/>
        <p:cNvGrpSpPr/>
        <p:nvPr/>
      </p:nvGrpSpPr>
      <p:grpSpPr>
        <a:xfrm>
          <a:off x="0" y="0"/>
          <a:ext cx="0" cy="0"/>
          <a:chOff x="0" y="0"/>
          <a:chExt cx="0" cy="0"/>
        </a:xfrm>
      </p:grpSpPr>
      <p:sp>
        <p:nvSpPr>
          <p:cNvPr id="58" name="Google Shape;58;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9" name="Google Shape;59;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This is the course's most important design decision: there is no throwaway dataset, ever. Every module works on the same Tamr Vision inspection system and the same dates-qc dataset. Tell the story: a packing line in Al-Qassim needs dates graded into four classes, defects found, and surface damage measured — all on an edge box over the conveyor. The stack on the right is the four-day build order, bottom-up. This is what makes the Day 4 capstone achievable in two hours of assembly.</a:t>
            </a:r>
            <a:endParaRPr/>
          </a:p>
        </p:txBody>
      </p:sp>
      <p:sp>
        <p:nvSpPr>
          <p:cNvPr id="60" name="Google Shape;60;p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 name="Shape 94"/>
        <p:cNvGrpSpPr/>
        <p:nvPr/>
      </p:nvGrpSpPr>
      <p:grpSpPr>
        <a:xfrm>
          <a:off x="0" y="0"/>
          <a:ext cx="0" cy="0"/>
          <a:chOff x="0" y="0"/>
          <a:chExt cx="0" cy="0"/>
        </a:xfrm>
      </p:grpSpPr>
      <p:sp>
        <p:nvSpPr>
          <p:cNvPr id="95" name="Google Shape;95;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6" name="Google Shape;96;p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Six learning outcomes, each owned by specific modules — the tags show the mapping. Every module's objectives slide maps back to these. When participants ask why a topic is covered, point back here. LO3 spans two modules deliberately: augmentation (M1) and curation (M5) are the two halves of 'data is the system', which is the Day 3 theme.</a:t>
            </a:r>
            <a:endParaRPr/>
          </a:p>
        </p:txBody>
      </p:sp>
      <p:sp>
        <p:nvSpPr>
          <p:cNvPr id="97" name="Google Shape;97;p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6" name="Shape 146"/>
        <p:cNvGrpSpPr/>
        <p:nvPr/>
      </p:nvGrpSpPr>
      <p:grpSpPr>
        <a:xfrm>
          <a:off x="0" y="0"/>
          <a:ext cx="0" cy="0"/>
          <a:chOff x="0" y="0"/>
          <a:chExt cx="0" cy="0"/>
        </a:xfrm>
      </p:grpSpPr>
      <p:sp>
        <p:nvSpPr>
          <p:cNvPr id="147" name="Google Shape;147;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8" name="Google Shape;148;p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Walk the arc: Day 1 makes the machine see (data + classifier), Day 2 makes it locate and delineate (detection + segmentation), Day 3 is the differentiator — most courses skip curation and evaluation, but they are where production systems live or die — and Day 4 ships it. Theory share falls from 45% to 25% across the days while lab share rises to 75%. Each day ends with a concrete, verifiable deliverable shown in the cards.</a:t>
            </a:r>
            <a:endParaRPr/>
          </a:p>
        </p:txBody>
      </p:sp>
      <p:sp>
        <p:nvSpPr>
          <p:cNvPr id="149" name="Google Shape;149;p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8" name="Shape 188"/>
        <p:cNvGrpSpPr/>
        <p:nvPr/>
      </p:nvGrpSpPr>
      <p:grpSpPr>
        <a:xfrm>
          <a:off x="0" y="0"/>
          <a:ext cx="0" cy="0"/>
          <a:chOff x="0" y="0"/>
          <a:chExt cx="0" cy="0"/>
        </a:xfrm>
      </p:grpSpPr>
      <p:sp>
        <p:nvSpPr>
          <p:cNvPr id="189" name="Google Shape;189;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90" name="Google Shape;190;p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Assessment is deliberately weighted toward doing. The 60% lab component is collected continuously — repository commits plus the BENCHMARKS.md each pair fills during every lab. The 40% capstone is scored live during Day 4 Hour 5 demos with a rubric covering functionality, measured performance, code quality, and the demo itself. Collect repository URLs and BENCHMARKS.md at the end of Day 4 Hour 4, before demos begin, so harness results can be verified.</a:t>
            </a:r>
            <a:endParaRPr/>
          </a:p>
        </p:txBody>
      </p:sp>
      <p:sp>
        <p:nvSpPr>
          <p:cNvPr id="191" name="Google Shape;191;p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0" name="Shape 210"/>
        <p:cNvGrpSpPr/>
        <p:nvPr/>
      </p:nvGrpSpPr>
      <p:grpSpPr>
        <a:xfrm>
          <a:off x="0" y="0"/>
          <a:ext cx="0" cy="0"/>
          <a:chOff x="0" y="0"/>
          <a:chExt cx="0" cy="0"/>
        </a:xfrm>
      </p:grpSpPr>
      <p:sp>
        <p:nvSpPr>
          <p:cNvPr id="211" name="Google Shape;211;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12" name="Google Shape;212;p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This slide is for you as much as for the room. Verify the GPU path AND the CPU fallback path a week before delivery — run Lab 3 end-to-end on both. The 15-minute training cap is pedagogical: the learning is in the decisions, not the waiting. If a pair's run exceeds the cap, they resume from the published checkpoint. Announce the checkpoint policy on Day 1 so nobody feels penalised for hardware.</a:t>
            </a:r>
            <a:endParaRPr/>
          </a:p>
        </p:txBody>
      </p:sp>
      <p:sp>
        <p:nvSpPr>
          <p:cNvPr id="213" name="Google Shape;213;p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0" name="Shape 240"/>
        <p:cNvGrpSpPr/>
        <p:nvPr/>
      </p:nvGrpSpPr>
      <p:grpSpPr>
        <a:xfrm>
          <a:off x="0" y="0"/>
          <a:ext cx="0" cy="0"/>
          <a:chOff x="0" y="0"/>
          <a:chExt cx="0" cy="0"/>
        </a:xfrm>
      </p:grpSpPr>
      <p:sp>
        <p:nvSpPr>
          <p:cNvPr id="241" name="Google Shape;241;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42" name="Google Shape;242;p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Delivery-plan guidance from the instructor package. The pairing rule matters: rotate pairs each day so knowledge spreads and no pair calcifies into driver/passenger roles. On language: mixed-language label taxonomies break tooling and downstream regex-based reporting, so labels stay English even in Arabic delivery. Day 3 Hour 2 (annotation lab) and the Day 4 afternoon are deliberately flexible for regional scheduling.</a:t>
            </a:r>
            <a:endParaRPr/>
          </a:p>
        </p:txBody>
      </p:sp>
      <p:sp>
        <p:nvSpPr>
          <p:cNvPr id="243" name="Google Shape;243;p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0" name="Shape 270"/>
        <p:cNvGrpSpPr/>
        <p:nvPr/>
      </p:nvGrpSpPr>
      <p:grpSpPr>
        <a:xfrm>
          <a:off x="0" y="0"/>
          <a:ext cx="0" cy="0"/>
          <a:chOff x="0" y="0"/>
          <a:chExt cx="0" cy="0"/>
        </a:xfrm>
      </p:grpSpPr>
      <p:sp>
        <p:nvSpPr>
          <p:cNvPr id="271" name="Google Shape;271;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72" name="Google Shape;272;p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Use this as the bridge into Day 1. Ask the room: who has seen a model that aced its test set and embarrassed itself in production? Collect one or two stories — they become reference points all week. Then preview the Day 1 arc: images as tensors, the preprocessing contract, augmentation as encoded domain knowledge, and a fine-tuned classifier by end of day.</a:t>
            </a:r>
            <a:endParaRPr/>
          </a:p>
        </p:txBody>
      </p:sp>
      <p:sp>
        <p:nvSpPr>
          <p:cNvPr id="273" name="Google Shape;273;p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6" name="Shape 296"/>
        <p:cNvGrpSpPr/>
        <p:nvPr/>
      </p:nvGrpSpPr>
      <p:grpSpPr>
        <a:xfrm>
          <a:off x="0" y="0"/>
          <a:ext cx="0" cy="0"/>
          <a:chOff x="0" y="0"/>
          <a:chExt cx="0" cy="0"/>
        </a:xfrm>
      </p:grpSpPr>
      <p:sp>
        <p:nvSpPr>
          <p:cNvPr id="297" name="Google Shape;297;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98" name="Google Shape;298;p1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Open with the course golden thread: every module works on the same Tamr Vision inspection system and the same dates-qc dataset — no throwaway datasets, the artefact evolves until it becomes the Day 4 capstone. Day 1 is 45% theory, 55% lab. Hour 1 is failure stories: set the tone that benchmark accuracy and line performance are different worlds. Announce pairing now (strong-PyTorch with strong-domain-intuition) and the training-time rule: every lab caps training at 15 minutes wall-clock — the learning is in the decisions, not the waiting. Each hour is 50 min instruction + 10 min buffer; place the long break around Dhuhr.</a:t>
            </a:r>
            <a:endParaRPr/>
          </a:p>
        </p:txBody>
      </p:sp>
      <p:sp>
        <p:nvSpPr>
          <p:cNvPr id="299" name="Google Shape;299;p1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7" name="Shape 327"/>
        <p:cNvGrpSpPr/>
        <p:nvPr/>
      </p:nvGrpSpPr>
      <p:grpSpPr>
        <a:xfrm>
          <a:off x="0" y="0"/>
          <a:ext cx="0" cy="0"/>
          <a:chOff x="0" y="0"/>
          <a:chExt cx="0" cy="0"/>
        </a:xfrm>
      </p:grpSpPr>
      <p:sp>
        <p:nvSpPr>
          <p:cNvPr id="328" name="Google Shape;328;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29" name="Google Shape;329;p1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Walk the schedule quickly and point at the two labs — participants should feel that most of today is hands-on. Hour 3 delivers the pipeline that Hour 5 trains on, so nobody can skip Lab 1 and still do Lab 2. Lab 2 continues into Day 2 Hour 1 (Part B: hardening + ViT comparison), so an unfinished Part A is recoverable. Environment check happens in Hour 1: primary path is classroom GPUs (8 GB+ VRAM) or the cloud-notebook pool; fallback is CPU at 320 px with provided checkpoints. Verify pairs have the repo cloned and the dates-qc bundle extracted before Hour 2 ends.</a:t>
            </a:r>
            <a:endParaRPr/>
          </a:p>
        </p:txBody>
      </p:sp>
      <p:sp>
        <p:nvSpPr>
          <p:cNvPr id="330" name="Google Shape;330;p1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8" name="Shape 338"/>
        <p:cNvGrpSpPr/>
        <p:nvPr/>
      </p:nvGrpSpPr>
      <p:grpSpPr>
        <a:xfrm>
          <a:off x="0" y="0"/>
          <a:ext cx="0" cy="0"/>
          <a:chOff x="0" y="0"/>
          <a:chExt cx="0" cy="0"/>
        </a:xfrm>
      </p:grpSpPr>
      <p:sp>
        <p:nvSpPr>
          <p:cNvPr id="339" name="Google Shape;339;p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40" name="Google Shape;340;p1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Frame the module in one sentence: vision models are only as good as the tensors they see. Everything downstream — detection, segmentation, deployment — depends on the discipline built in this hour. Emphasise the three pillars: images as data (colour spaces, bit depth, memory), a preprocessing contract identical at train and inference time, and augmentation policies that encode domain knowledge instead of copying ImageNet defaults. Mention PDPL early: images of people are personal data, and the data layer is where that exposure starts. Participants leave with a working pipeline for dates-qc, not just concepts.</a:t>
            </a:r>
            <a:endParaRPr/>
          </a:p>
        </p:txBody>
      </p:sp>
      <p:sp>
        <p:nvSpPr>
          <p:cNvPr id="341" name="Google Shape;341;p1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9" name="Shape 369"/>
        <p:cNvGrpSpPr/>
        <p:nvPr/>
      </p:nvGrpSpPr>
      <p:grpSpPr>
        <a:xfrm>
          <a:off x="0" y="0"/>
          <a:ext cx="0" cy="0"/>
          <a:chOff x="0" y="0"/>
          <a:chExt cx="0" cy="0"/>
        </a:xfrm>
      </p:grpSpPr>
      <p:sp>
        <p:nvSpPr>
          <p:cNvPr id="370" name="Google Shape;370;p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71" name="Google Shape;371;p1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Tell the three canonical input failures from the source: a camera firmware update shifts white balance, a resize interpolation differs between training script and edge runtime, and the BGR/RGB mix-up that silently costs points of accuracy. Stress the word silently — none of these crash. In food processing, manufacturing QC and infrastructure inspection here, dust, heat shimmer and mixed lighting make augmentation the cheapest robustness investment available. Close on PDPL: if workers appear in frame, you are processing personal data. Ask the room: who has debugged a model for days when the bug was in the data loading? Expect hands.</a:t>
            </a:r>
            <a:endParaRPr/>
          </a:p>
        </p:txBody>
      </p:sp>
      <p:sp>
        <p:nvSpPr>
          <p:cNvPr id="372" name="Google Shape;372;p1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6" name="Shape 396"/>
        <p:cNvGrpSpPr/>
        <p:nvPr/>
      </p:nvGrpSpPr>
      <p:grpSpPr>
        <a:xfrm>
          <a:off x="0" y="0"/>
          <a:ext cx="0" cy="0"/>
          <a:chOff x="0" y="0"/>
          <a:chExt cx="0" cy="0"/>
        </a:xfrm>
      </p:grpSpPr>
      <p:sp>
        <p:nvSpPr>
          <p:cNvPr id="397" name="Google Shape;397;p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98" name="Google Shape;398;p1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Spend about a minute per card. The date-packing case is literally this course's scenario — harvests change colour season to season, and the classifier trained on one season quietly drifts. The hospital case previews the module case study: nothing about the model changed, only the scanner's preprocessing defaults — that is a contract violation, not a model failure. The traffic case makes the point that augmentation policy is regional: a sandstorm-aware policy has no analogue in ImageNet defaults. Ask participants which of these is closest to their employer's domain and hold their answers for the augmentation-courtroom activity later.</a:t>
            </a:r>
            <a:endParaRPr/>
          </a:p>
        </p:txBody>
      </p:sp>
      <p:sp>
        <p:nvSpPr>
          <p:cNvPr id="399" name="Google Shape;399;p1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6" name="Shape 426"/>
        <p:cNvGrpSpPr/>
        <p:nvPr/>
      </p:nvGrpSpPr>
      <p:grpSpPr>
        <a:xfrm>
          <a:off x="0" y="0"/>
          <a:ext cx="0" cy="0"/>
          <a:chOff x="0" y="0"/>
          <a:chExt cx="0" cy="0"/>
        </a:xfrm>
      </p:grpSpPr>
      <p:sp>
        <p:nvSpPr>
          <p:cNvPr id="427" name="Google Shape;427;p1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28" name="Google Shape;428;p1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Read the objectives as capabilities, not topics: after this hour a participant can load and manipulate images correctly with OpenCV and torchvision, implement a custom PyTorch Dataset with transforms v2, compute dataset statistics for normalisation, design and visually verify an augmentation policy, and measure input-pipeline throughput. Point out that 1.2 and 1.4 are directly exercised in Lab 1 this afternoon, 1.3 is tested in the augmentation-courtroom discussion, and 1.5 returns in Module 5 when the cohort audits its own labels. Keep this slide under two minutes — the objectives land through the lab, not the list.</a:t>
            </a:r>
            <a:endParaRPr/>
          </a:p>
        </p:txBody>
      </p:sp>
      <p:sp>
        <p:nvSpPr>
          <p:cNvPr id="429" name="Google Shape;429;p1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8" name="Shape 468"/>
        <p:cNvGrpSpPr/>
        <p:nvPr/>
      </p:nvGrpSpPr>
      <p:grpSpPr>
        <a:xfrm>
          <a:off x="0" y="0"/>
          <a:ext cx="0" cy="0"/>
          <a:chOff x="0" y="0"/>
          <a:chExt cx="0" cy="0"/>
        </a:xfrm>
      </p:grpSpPr>
      <p:sp>
        <p:nvSpPr>
          <p:cNvPr id="469" name="Google Shape;469;p1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70" name="Google Shape;470;p1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Walk the pipeline left to right and name the two red exits explicitly. OpenCV loads BGR; torchvision, PIL and every pre-trained model expect RGB — the swap does not crash, it quietly degrades a fine-tuned model by 5-10 points. Rule: convert at the I/O boundary and never think about it again. Second exit: feeding [0,255] floats to a model trained on [0,1]. Also mention resolution as a system decision — a batch of 32 at 640 px is ~157 MB before activations — and bit depth: industrial line-scan and medical sources produce 10-16-bit images; naive uint8 conversion destroys the defect signal.</a:t>
            </a:r>
            <a:endParaRPr/>
          </a:p>
        </p:txBody>
      </p:sp>
      <p:sp>
        <p:nvSpPr>
          <p:cNvPr id="471" name="Google Shape;471;p1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8" name="Shape 508"/>
        <p:cNvGrpSpPr/>
        <p:nvPr/>
      </p:nvGrpSpPr>
      <p:grpSpPr>
        <a:xfrm>
          <a:off x="0" y="0"/>
          <a:ext cx="0" cy="0"/>
          <a:chOff x="0" y="0"/>
          <a:chExt cx="0" cy="0"/>
        </a:xfrm>
      </p:grpSpPr>
      <p:sp>
        <p:nvSpPr>
          <p:cNvPr id="509" name="Google Shape;509;p1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10" name="Google Shape;510;p1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This is the module's anchor idea: everything between the raw image and the model tensor is a versioned contract shared by training, evaluation and deployment. The course keeps preprocess() in tamr_vision/data/transforms.py and all three consumers import it. Stress resize semantics: bilinear vs nearest vs bicubic, letterbox vs stretch — each produces different tensors from the same image; pin the choice and record it in the model card. Normalisation stats: fine-tuning from ImageNet weights means ImageNet mean/std; training from scratch means computing your own (Lab 1 does both). Augmentation is train-only — that is why train_tf and eval_tf are split from the first line of code.</a:t>
            </a:r>
            <a:endParaRPr/>
          </a:p>
        </p:txBody>
      </p:sp>
      <p:sp>
        <p:nvSpPr>
          <p:cNvPr id="511" name="Google Shape;511;p1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4" name="Shape 534"/>
        <p:cNvGrpSpPr/>
        <p:nvPr/>
      </p:nvGrpSpPr>
      <p:grpSpPr>
        <a:xfrm>
          <a:off x="0" y="0"/>
          <a:ext cx="0" cy="0"/>
          <a:chOff x="0" y="0"/>
          <a:chExt cx="0" cy="0"/>
        </a:xfrm>
      </p:grpSpPr>
      <p:sp>
        <p:nvSpPr>
          <p:cNvPr id="535" name="Google Shape;535;p1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36" name="Google Shape;536;p1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The validity test is domain, not fashion: dates on a conveyor arrive in any orientation, so full rotation is valid; a chest X-ray does not arrive mirrored — horizontal flip moves the heart. Run the augmentation courtroom here or after the lab (15 min): project one transform at a time for the dates domain, pairs vote valid/invalid and must defend with a line-condition argument. Mention detection-aware transforms briefly: geometric transforms must move boxes and masks with the pixels — transforms v2 and Ultralytics handle this natively; hand-rolled NumPy augmentation is where misalignment bugs breed (M3 continues). Close on the visual-audit habit: a rotation that hides the mould spot changed the label.</a:t>
            </a:r>
            <a:endParaRPr/>
          </a:p>
        </p:txBody>
      </p:sp>
      <p:sp>
        <p:nvSpPr>
          <p:cNvPr id="537" name="Google Shape;537;p1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5" name="Shape 565"/>
        <p:cNvGrpSpPr/>
        <p:nvPr/>
      </p:nvGrpSpPr>
      <p:grpSpPr>
        <a:xfrm>
          <a:off x="0" y="0"/>
          <a:ext cx="0" cy="0"/>
          <a:chOff x="0" y="0"/>
          <a:chExt cx="0" cy="0"/>
        </a:xfrm>
      </p:grpSpPr>
      <p:sp>
        <p:nvSpPr>
          <p:cNvPr id="566" name="Google Shape;566;p1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67" name="Google Shape;567;p1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Connect throughput to money: a starved GPU is rented silicon doing nothing. Course rule-of-thumb targets: at least 400 img/s at 224 px and 150 img/s at 640 px on classroom hardware. Teach the mitigation order for slow decode: resize-on-disk to training resolution as a dataset-preparation step, then more workers, and only then exotic solutions. The pipeline speed hunt activity (10 min) fits here if time allows: pairs get a deliberately slow config — workers=0, no pin_memory, full-resolution decode — and race to triple throughput, documenting each change's contribution. Preview that Lab 1 task 4 measures exactly this ladder.</a:t>
            </a:r>
            <a:endParaRPr/>
          </a:p>
        </p:txBody>
      </p:sp>
      <p:sp>
        <p:nvSpPr>
          <p:cNvPr id="568" name="Google Shape;568;p1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3" name="Shape 603"/>
        <p:cNvGrpSpPr/>
        <p:nvPr/>
      </p:nvGrpSpPr>
      <p:grpSpPr>
        <a:xfrm>
          <a:off x="0" y="0"/>
          <a:ext cx="0" cy="0"/>
          <a:chOff x="0" y="0"/>
          <a:chExt cx="0" cy="0"/>
        </a:xfrm>
      </p:grpSpPr>
      <p:sp>
        <p:nvSpPr>
          <p:cNvPr id="604" name="Google Shape;604;p2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05" name="Google Shape;605;p2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This slide previews half the course: M5 measures our own label-error rate, M6 formalises per-class metrics, and the M2 lab stretch uses Grad-CAM as a leakage probe. Emphasise the asymmetry of label noise — a mislabelled premium costs little; a mislabelled reject teaches the model that mould is acceptable. On leakage, tell the simulation story: branch sim-leaky-split re-splits the manifest by frame and val accuracy jumps about 4 points with no model change; a pHash audit exposes the near-duplicates. The defence is structural, not statistical: split by session identity in the manifest itself.</a:t>
            </a:r>
            <a:endParaRPr/>
          </a:p>
        </p:txBody>
      </p:sp>
      <p:sp>
        <p:nvSpPr>
          <p:cNvPr id="606" name="Google Shape;606;p2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9" name="Shape 629"/>
        <p:cNvGrpSpPr/>
        <p:nvPr/>
      </p:nvGrpSpPr>
      <p:grpSpPr>
        <a:xfrm>
          <a:off x="0" y="0"/>
          <a:ext cx="0" cy="0"/>
          <a:chOff x="0" y="0"/>
          <a:chExt cx="0" cy="0"/>
        </a:xfrm>
      </p:grpSpPr>
      <p:sp>
        <p:nvSpPr>
          <p:cNvPr id="630" name="Google Shape;630;p2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31" name="Google Shape;631;p2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Each row is a production incident someone paid for. Row 1 is planted in Lab 1 so everyone experiences it cheaply today. Row 2 is the debugging exercise (sim-interp-skew): PIL bicubic in training vs OpenCV nearest in serving cost 3.1 accuracy points. Row 6 surprises people: phones store rotation as metadata; PIL respects it, raw decoders may not. Add the production considerations: preprocessing runs at inference too, so its latency is part of the M7 budget; camera calibration and white-balance locking beat software correction; and log a per-batch input-statistics fingerprint (mean/std/histogram) so input drift is detectable in monitoring — SDA-AIE-216 builds the alerting.</a:t>
            </a:r>
            <a:endParaRPr/>
          </a:p>
        </p:txBody>
      </p:sp>
      <p:sp>
        <p:nvSpPr>
          <p:cNvPr id="632" name="Google Shape;632;p2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0" name="Shape 640"/>
        <p:cNvGrpSpPr/>
        <p:nvPr/>
      </p:nvGrpSpPr>
      <p:grpSpPr>
        <a:xfrm>
          <a:off x="0" y="0"/>
          <a:ext cx="0" cy="0"/>
          <a:chOff x="0" y="0"/>
          <a:chExt cx="0" cy="0"/>
        </a:xfrm>
      </p:grpSpPr>
      <p:sp>
        <p:nvSpPr>
          <p:cNvPr id="641" name="Google Shape;641;p2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42" name="Google Shape;642;p2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Walk the file top to bottom. The docstring is policy, not decoration: never duplicate resize or normalisation logic anywhere else. Point at the ColorJitter parameters and name the physical cause — lamp ageing plus exposure drift; RandomRotation 180 exists because fruit lands in any pose; RandomErasing models partial occlusion by neighbouring fruit. The elided flips and blur follow the same rule. Ask: why ImageNet mean/std here? Because Lab 2 fine-tunes from ImageNet weights — match the pre-training contract. Lab 1 task 3 has participants re-implement this with a one-line justification comment per transform; enforce the no-comment-no-transform rule in review.</a:t>
            </a:r>
            <a:endParaRPr/>
          </a:p>
        </p:txBody>
      </p:sp>
      <p:sp>
        <p:nvSpPr>
          <p:cNvPr id="643" name="Google Shape;643;p2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4" name="Shape 674"/>
        <p:cNvGrpSpPr/>
        <p:nvPr/>
      </p:nvGrpSpPr>
      <p:grpSpPr>
        <a:xfrm>
          <a:off x="0" y="0"/>
          <a:ext cx="0" cy="0"/>
          <a:chOff x="0" y="0"/>
          <a:chExt cx="0" cy="0"/>
        </a:xfrm>
      </p:grpSpPr>
      <p:sp>
        <p:nvSpPr>
          <p:cNvPr id="675" name="Google Shape;675;p2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76" name="Google Shape;676;p2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Two lines carry the module. First, cvtColor at the I/O boundary — in Lab 1 the starter code ships with this line missing (the planted BGR bug); let pairs find it via the blue-orange audit grid rather than telling them. Second, the None check: cv2.imread does not raise on a missing file, it returns None, and downstream code happily trains on black images. Point at GRADES: the order is frozen because Module 2 bakes it into the checkpoint — reordering silently remaps every label. Also note permute(2,0,1): HWC uint8 to CHW, the layout PyTorch expects. Note __len__ is elided on the slide for space; the repo version has it.</a:t>
            </a:r>
            <a:endParaRPr/>
          </a:p>
        </p:txBody>
      </p:sp>
      <p:sp>
        <p:nvSpPr>
          <p:cNvPr id="677" name="Google Shape;677;p2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8" name="Shape 708"/>
        <p:cNvGrpSpPr/>
        <p:nvPr/>
      </p:nvGrpSpPr>
      <p:grpSpPr>
        <a:xfrm>
          <a:off x="0" y="0"/>
          <a:ext cx="0" cy="0"/>
          <a:chOff x="0" y="0"/>
          <a:chExt cx="0" cy="0"/>
        </a:xfrm>
      </p:grpSpPr>
      <p:sp>
        <p:nvSpPr>
          <p:cNvPr id="709" name="Google Shape;709;p2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10" name="Google Shape;710;p2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The BGR bug is planted so everyone experiences the most expensive silent bug in applied CV on Day 1 Hour 3, where it costs 5 minutes instead of a production incident — do not spoil it; the blue-orange audit grid is the reveal. During the aug-audit debrief, ask each pair for one transform they REJECTED and why — the rejections show whether the domain-invariance idea landed. Fast finishers: compute stats at 640 px and compare throughput, a preview of detection-input cost in M3. Run the instructor demo first: live BGR/RGB comparison on the projector, then the worker-count throughput ladder measured live. Every pair commits before Hour 4.</a:t>
            </a:r>
            <a:endParaRPr/>
          </a:p>
        </p:txBody>
      </p:sp>
      <p:sp>
        <p:nvSpPr>
          <p:cNvPr id="711" name="Google Shape;711;p2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0" name="Shape 760"/>
        <p:cNvGrpSpPr/>
        <p:nvPr/>
      </p:nvGrpSpPr>
      <p:grpSpPr>
        <a:xfrm>
          <a:off x="0" y="0"/>
          <a:ext cx="0" cy="0"/>
          <a:chOff x="0" y="0"/>
          <a:chExt cx="0" cy="0"/>
        </a:xfrm>
      </p:grpSpPr>
      <p:sp>
        <p:nvSpPr>
          <p:cNvPr id="761" name="Google Shape;761;p2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62" name="Google Shape;762;p2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Print this table or keep it on a side screen during the lab — it covers 90% of hands that go up. Row 1 is the planted bug; when a pair reports blue fruit, ask them what colour channel order cv2 uses rather than giving the fix. Row 2 hits Windows users hardest: multiprocessing workers need the if __name__ == '__main__' guard or the script deadlocks. Row 3 is an ordering bug — Normalize expects float input, so ToDtype must come first. Row 4 will not bite until Module 2's determinism check, which is exactly why it is worth naming now: augmented validation makes metrics noisy AND optimistic.</a:t>
            </a:r>
            <a:endParaRPr/>
          </a:p>
        </p:txBody>
      </p:sp>
      <p:sp>
        <p:nvSpPr>
          <p:cNvPr id="763" name="Google Shape;763;p2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1" name="Shape 771"/>
        <p:cNvGrpSpPr/>
        <p:nvPr/>
      </p:nvGrpSpPr>
      <p:grpSpPr>
        <a:xfrm>
          <a:off x="0" y="0"/>
          <a:ext cx="0" cy="0"/>
          <a:chOff x="0" y="0"/>
          <a:chExt cx="0" cy="0"/>
        </a:xfrm>
      </p:grpSpPr>
      <p:sp>
        <p:nvSpPr>
          <p:cNvPr id="772" name="Google Shape;772;p2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73" name="Google Shape;773;p2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Run this as a rapid whole-class check, about one minute per question, before or right after the lab. Questions 1 and 2 are pure recall — everyone should nail them after the planted bug and the contract discussion; if not, revisit before Module 2. Question 3 tests whether the leakage idea landed structurally, not just as trivia. Question 5 is the one worth pausing on: several participants will answer True because rotation feels safe — use the chest X-ray flip example (it moves the heart) to reinforce that augmentation validity comes from the domain, never from the transform category. Answers appear in the speaker notes of the rendered deck.</a:t>
            </a:r>
            <a:br>
              <a:rPr lang="en-US"/>
            </a:br>
            <a:br>
              <a:rPr lang="en-US"/>
            </a:br>
            <a:r>
              <a:rPr lang="en-US"/>
              <a:t>ANSWERS:</a:t>
            </a:r>
            <a:br>
              <a:rPr lang="en-US"/>
            </a:br>
            <a:r>
              <a:rPr lang="en-US"/>
              <a:t>1. BGR; RGB. Convert at the I/O boundary and never think about it again.</a:t>
            </a:r>
            <a:br>
              <a:rPr lang="en-US"/>
            </a:br>
            <a:r>
              <a:rPr lang="en-US"/>
              <a:t>2. Augmentation is train-only regularisation; eval and serving need the deterministic contract path.</a:t>
            </a:r>
            <a:br>
              <a:rPr lang="en-US"/>
            </a:br>
            <a:r>
              <a:rPr lang="en-US"/>
              <a:t>3. Near-duplicate frames of the same fruit leak across splits.</a:t>
            </a:r>
            <a:br>
              <a:rPr lang="en-US"/>
            </a:br>
            <a:r>
              <a:rPr lang="en-US"/>
              <a:t>4. ImageNet mean/std — match the pre-training contract.</a:t>
            </a:r>
            <a:br>
              <a:rPr lang="en-US"/>
            </a:br>
            <a:r>
              <a:rPr lang="en-US"/>
              <a:t>5. False — validity is a domain question, not a category question.</a:t>
            </a:r>
            <a:endParaRPr/>
          </a:p>
        </p:txBody>
      </p:sp>
      <p:sp>
        <p:nvSpPr>
          <p:cNvPr id="774" name="Google Shape;774;p2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2" name="Shape 802"/>
        <p:cNvGrpSpPr/>
        <p:nvPr/>
      </p:nvGrpSpPr>
      <p:grpSpPr>
        <a:xfrm>
          <a:off x="0" y="0"/>
          <a:ext cx="0" cy="0"/>
          <a:chOff x="0" y="0"/>
          <a:chExt cx="0" cy="0"/>
        </a:xfrm>
      </p:grpSpPr>
      <p:sp>
        <p:nvSpPr>
          <p:cNvPr id="803" name="Google Shape;803;p2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04" name="Google Shape;804;p2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Use these as homework, fast-finisher work, or Day 1 wrap-up discussion. For sim-interp-skew, the teaching point is that the contract must include resize semantics, not just size — the tensor diff localises the divergence in minutes. The code-review PR contains three real anti-patterns; require the production consequence, not just the finding. For the lighting discussion, steer to: hardware fixes beat software compensation — a weaker policy converges faster and the input distribution tightens. For PDPL: hands are personal data — minimise capture, mask or crop, restrict annotation-vendor exposure, and set a retention policy. Both discussions preview M5 governance.</a:t>
            </a:r>
            <a:endParaRPr/>
          </a:p>
        </p:txBody>
      </p:sp>
      <p:sp>
        <p:nvSpPr>
          <p:cNvPr id="805" name="Google Shape;805;p2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8" name="Shape 828"/>
        <p:cNvGrpSpPr/>
        <p:nvPr/>
      </p:nvGrpSpPr>
      <p:grpSpPr>
        <a:xfrm>
          <a:off x="0" y="0"/>
          <a:ext cx="0" cy="0"/>
          <a:chOff x="0" y="0"/>
          <a:chExt cx="0" cy="0"/>
        </a:xfrm>
      </p:grpSpPr>
      <p:sp>
        <p:nvSpPr>
          <p:cNvPr id="829" name="Google Shape;829;p2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30" name="Google Shape;830;p2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Facilitate, don't lecture. Root cause: the new scanner exports 12-bit DICOM with a different rescale slope; ingestion assumed 8-bit and crushed the intensity range — a contract violation, exactly the hospital use case from the opening. Guide groups toward: explicit windowing in a versioned preprocessing contract applied identically in training and inference; per-site input-statistics fingerprints (mean/std/histogram distance) with alerts; fine-tune on a small post-upgrade sample rather than full retrain; scanner-model metadata on every prediction log for slice-level monitoring (M6 tie-in). Q1 answer is slice-level evaluation; Q2 answer is radiologists sign off, not engineers.</a:t>
            </a:r>
            <a:endParaRPr/>
          </a:p>
        </p:txBody>
      </p:sp>
      <p:sp>
        <p:nvSpPr>
          <p:cNvPr id="831" name="Google Shape;831;p2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0" name="Shape 850"/>
        <p:cNvGrpSpPr/>
        <p:nvPr/>
      </p:nvGrpSpPr>
      <p:grpSpPr>
        <a:xfrm>
          <a:off x="0" y="0"/>
          <a:ext cx="0" cy="0"/>
          <a:chOff x="0" y="0"/>
          <a:chExt cx="0" cy="0"/>
        </a:xfrm>
      </p:grpSpPr>
      <p:sp>
        <p:nvSpPr>
          <p:cNvPr id="851" name="Google Shape;851;p2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52" name="Google Shape;852;p2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These targets gate progression: a pair whose loader runs at 120 img/s will starve the GPU in Lab 2 and blow the 15-minute training cap, so fix throughput now. Note that half the table is code-quality and reliability, not speed — transform separation, split integrity and justified augmentation are review targets, enforced by checklist and audit scripts rather than benchmarks. The GPU-utilisation row is measured during Lab 2, deliberately: it connects this module's pipeline work to the next module's training economics. Have each pair record their throughput ladder in BENCHMARKS.md before leaving the lab — the file grows all week and feeds the capstone self-audit.</a:t>
            </a:r>
            <a:endParaRPr/>
          </a:p>
        </p:txBody>
      </p:sp>
      <p:sp>
        <p:nvSpPr>
          <p:cNvPr id="853" name="Google Shape;853;p2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2" name="Shape 862"/>
        <p:cNvGrpSpPr/>
        <p:nvPr/>
      </p:nvGrpSpPr>
      <p:grpSpPr>
        <a:xfrm>
          <a:off x="0" y="0"/>
          <a:ext cx="0" cy="0"/>
          <a:chOff x="0" y="0"/>
          <a:chExt cx="0" cy="0"/>
        </a:xfrm>
      </p:grpSpPr>
      <p:sp>
        <p:nvSpPr>
          <p:cNvPr id="863" name="Google Shape;863;p3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64" name="Google Shape;864;p3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Frame the module as engineering choices with measurable consequences, not architecture trivia. The centrepiece skill is transfer learning: taking ImageNet-pre-trained backbones and fine-tuning them into domain specialists with hundreds, not millions, of labelled images. Participants leave able to explain convolutional and attention-based inductive biases, select a torchvision backbone against accuracy/latency/data-size constraints, implement head replacement and staged fine-tuning with discriminative learning rates, run a disciplined loop with early stopping, and diagnose over/underfitting from curves. Everything is exercised on dates-qc in Lab 2, which spans Day 1 Hour 5 and Day 2 Hour 1.</a:t>
            </a:r>
            <a:endParaRPr/>
          </a:p>
        </p:txBody>
      </p:sp>
      <p:sp>
        <p:nvSpPr>
          <p:cNvPr id="865" name="Google Shape;865;p3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3" name="Shape 893"/>
        <p:cNvGrpSpPr/>
        <p:nvPr/>
      </p:nvGrpSpPr>
      <p:grpSpPr>
        <a:xfrm>
          <a:off x="0" y="0"/>
          <a:ext cx="0" cy="0"/>
          <a:chOff x="0" y="0"/>
          <a:chExt cx="0" cy="0"/>
        </a:xfrm>
      </p:grpSpPr>
      <p:sp>
        <p:nvSpPr>
          <p:cNvPr id="894" name="Google Shape;894;p3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95" name="Google Shape;895;p3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Lead with the economics: the field pre-trains once and fine-tunes everywhere. An engineer who can choose the right backbone, freeze the right layers, and set the right learning-rate schedule delivers a production-grade classifier in an afternoon on a few thousand images. Contrast the Tamr Vision numbers: fine-tuned ResNet-50 reaches macro-F1 0.91 in 12 minutes of training; from-scratch training on the same 9,000 images plateaus at 0.72. Choosing wrongly wastes GPU budget and, worse, ships a model too heavy for the deployment target — Module 7 makes that concrete. The 60 ms mobile budget that vetoed a ViT-L previews it.</a:t>
            </a:r>
            <a:endParaRPr/>
          </a:p>
        </p:txBody>
      </p:sp>
      <p:sp>
        <p:nvSpPr>
          <p:cNvPr id="896" name="Google Shape;896;p3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0" name="Shape 920"/>
        <p:cNvGrpSpPr/>
        <p:nvPr/>
      </p:nvGrpSpPr>
      <p:grpSpPr>
        <a:xfrm>
          <a:off x="0" y="0"/>
          <a:ext cx="0" cy="0"/>
          <a:chOff x="0" y="0"/>
          <a:chExt cx="0" cy="0"/>
        </a:xfrm>
      </p:grpSpPr>
      <p:sp>
        <p:nvSpPr>
          <p:cNvPr id="921" name="Google Shape;921;p3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22" name="Google Shape;922;p3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One minute per card. The Tamr Vision case is this course's golden thread — the exact numbers reappear in Lab 2 expectations. The land-registry card previews the module case study, where the same agency must choose between a contractor ViT-L and an in-house EfficientNet-B3; note the interpretability angle, attention maps as evidence for disputed classifications. The insurer card is the selection heuristic in the wild: the deployment target, not the leaderboard, decided. Ask who in the room has a latency or edge constraint at work — hold those answers for the backbone-auction activity and the M7 deployment discussion.</a:t>
            </a:r>
            <a:endParaRPr/>
          </a:p>
        </p:txBody>
      </p:sp>
      <p:sp>
        <p:nvSpPr>
          <p:cNvPr id="923" name="Google Shape;923;p3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0" name="Shape 950"/>
        <p:cNvGrpSpPr/>
        <p:nvPr/>
      </p:nvGrpSpPr>
      <p:grpSpPr>
        <a:xfrm>
          <a:off x="0" y="0"/>
          <a:ext cx="0" cy="0"/>
          <a:chOff x="0" y="0"/>
          <a:chExt cx="0" cy="0"/>
        </a:xfrm>
      </p:grpSpPr>
      <p:sp>
        <p:nvSpPr>
          <p:cNvPr id="951" name="Google Shape;951;p3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52" name="Google Shape;952;p3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Read these as capabilities: 2.1 is tested in the quiz and the CNN-vs-ViT discussion; 2.2 comes alive in the backbone-auction activity and the case study; 2.3 and 2.4 are implemented verbatim in Lab 2 this afternoon; 2.5 is drilled in the curve clinic, where pairs diagnose six anonymised training-curve sets from past cohorts using the pathology table. Keep the slide brief — under two minutes — and point forward: every objective is exercised hands-on, none stays theoretical. Note the LO6 tag on 2.2: backbone selection is a communication skill too, since someone must defend the choice to procurement.</a:t>
            </a:r>
            <a:endParaRPr/>
          </a:p>
        </p:txBody>
      </p:sp>
      <p:sp>
        <p:nvSpPr>
          <p:cNvPr id="953" name="Google Shape;953;p3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6" name="Shape 996"/>
        <p:cNvGrpSpPr/>
        <p:nvPr/>
      </p:nvGrpSpPr>
      <p:grpSpPr>
        <a:xfrm>
          <a:off x="0" y="0"/>
          <a:ext cx="0" cy="0"/>
          <a:chOff x="0" y="0"/>
          <a:chExt cx="0" cy="0"/>
        </a:xfrm>
      </p:grpSpPr>
      <p:sp>
        <p:nvSpPr>
          <p:cNvPr id="997" name="Google Shape;997;p3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98" name="Google Shape;998;p3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Three assumptions a convolution encodes about images: locality, translation equivariance, hierarchy. These are why CNNs learn from small datasets. Then the landmarks participants must recognise on sight. ResNet: skip connections make 50-150-layer networks trainable by letting gradients bypass blocks; ResNet-50 remains the default fine-tuning workhorse — boring, robust, everywhere. EfficientNet: compound scaling of depth, width and resolution; B0-B7 trade accuracy against compute smoothly, the family for tight deployment budgets. ConvNeXt: a CNN modernised with transformer-era training recipes, competitive with ViTs while keeping CNN deployment simplicity — the best-of-both teaching point. Expected question: why is ResNet still default in 2026? Answer: robustness and ecosystem.</a:t>
            </a:r>
            <a:endParaRPr/>
          </a:p>
        </p:txBody>
      </p:sp>
      <p:sp>
        <p:nvSpPr>
          <p:cNvPr id="999" name="Google Shape;999;p3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1" name="Shape 1031"/>
        <p:cNvGrpSpPr/>
        <p:nvPr/>
      </p:nvGrpSpPr>
      <p:grpSpPr>
        <a:xfrm>
          <a:off x="0" y="0"/>
          <a:ext cx="0" cy="0"/>
          <a:chOff x="0" y="0"/>
          <a:chExt cx="0" cy="0"/>
        </a:xfrm>
      </p:grpSpPr>
      <p:sp>
        <p:nvSpPr>
          <p:cNvPr id="1032" name="Google Shape;1032;p3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33" name="Google Shape;1033;p3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The module's anchor. ViT slices the image into 16x16 patches, embeds each as a token, and runs a standard transformer encoder — global receptive field immediately, so long-range relations like two distant defects are natural, not built up through depth. The price is weak inductive bias: fine-tuned from strong pre-training ViTs excel, but trained from scratch on 10k images they lose to ResNet decisively — Lab 2b demonstrates exactly this trade. Attention cost is quadratic in tokens, so 640-squared inputs are expensive; Swin's shifted-window attention restores locality and hierarchy and is the common backbone inside detection frameworks. Edge targets: check ONNX/quantisation support first — a model you cannot ship is a model you do not have.</a:t>
            </a:r>
            <a:endParaRPr/>
          </a:p>
        </p:txBody>
      </p:sp>
      <p:sp>
        <p:nvSpPr>
          <p:cNvPr id="1034" name="Google Shape;1034;p3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2" name="Shape 1052"/>
        <p:cNvGrpSpPr/>
        <p:nvPr/>
      </p:nvGrpSpPr>
      <p:grpSpPr>
        <a:xfrm>
          <a:off x="0" y="0"/>
          <a:ext cx="0" cy="0"/>
          <a:chOff x="0" y="0"/>
          <a:chExt cx="0" cy="0"/>
        </a:xfrm>
      </p:grpSpPr>
      <p:sp>
        <p:nvSpPr>
          <p:cNvPr id="1053" name="Google Shape;1053;p3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54" name="Google Shape;1054;p3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Walk the recipe slowly — it is the module's core deliverable. Head-only first is cheap and stable: it gets the new head into the right region before backbone weights move. Stage 2 uses discriminative LRs because early layers hold generic edges and textures (keep them) while later layers hold ImageNet-specific semantics (adapt them). Stop by validation macro-F1, not loss or accuracy — imbalance! When does full fine-tuning beat head-only? Large domain gap (conveyor dates are far from ImageNet photos) plus sufficient data, thousands not dozens. Under 500 images, freeze more; with heavy imbalance, weight the loss or oversample — both shown in the lab. The red exit is the catastrophic-forgetting demo.</a:t>
            </a:r>
            <a:endParaRPr/>
          </a:p>
        </p:txBody>
      </p:sp>
      <p:sp>
        <p:nvSpPr>
          <p:cNvPr id="1055" name="Google Shape;1055;p3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1" name="Shape 1081"/>
        <p:cNvGrpSpPr/>
        <p:nvPr/>
      </p:nvGrpSpPr>
      <p:grpSpPr>
        <a:xfrm>
          <a:off x="0" y="0"/>
          <a:ext cx="0" cy="0"/>
          <a:chOff x="0" y="0"/>
          <a:chExt cx="0" cy="0"/>
        </a:xfrm>
      </p:grpSpPr>
      <p:sp>
        <p:nvSpPr>
          <p:cNvPr id="1082" name="Google Shape;1082;p3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83" name="Google Shape;1083;p3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This is reproducibility discipline carried from SDA-AIE-113 into vision: a training run is an engineering artefact, not a script you babysit. Emphasise the hub diagram: a checkpoint containing only state_dict cannot be served correctly — class order and the preprocessing-contract reference must be baked into the file, because whoever loads it later has neither your notebook nor your memory. Mixed precision is on by default in the course loop; nobody should turn it off to 'simplify'. Per-class logging from day one is the honesty rule: the reject class is 2-4% of the data but carries most of the business value, and aggregate accuracy hides it completely.</a:t>
            </a:r>
            <a:endParaRPr/>
          </a:p>
        </p:txBody>
      </p:sp>
      <p:sp>
        <p:nvSpPr>
          <p:cNvPr id="1084" name="Google Shape;1084;p3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6" name="Shape 1126"/>
        <p:cNvGrpSpPr/>
        <p:nvPr/>
      </p:nvGrpSpPr>
      <p:grpSpPr>
        <a:xfrm>
          <a:off x="0" y="0"/>
          <a:ext cx="0" cy="0"/>
          <a:chOff x="0" y="0"/>
          <a:chExt cx="0" cy="0"/>
        </a:xfrm>
      </p:grpSpPr>
      <p:sp>
        <p:nvSpPr>
          <p:cNvPr id="1127" name="Google Shape;1127;p3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28" name="Google Shape;1128;p3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Run this as a diagnosis drill, not a lecture: cover the right two columns and ask the room to name cause and fix for each symptom. The curve clinic activity (10 min) projects six anonymised training-curve sets from past cohorts; pairs diagnose each using this table before the reveal. Stress row four — noisy validation is usually an eval-path bug, not a model property, and it links back to Module 1 determinism rules. Row five is the bridge to Module 6: when validation looks great but the production line disagrees, the answer is slice evaluation and a split audit, not more training. Participants will meet rows one and three personally in Lab 2.</a:t>
            </a:r>
            <a:endParaRPr/>
          </a:p>
        </p:txBody>
      </p:sp>
      <p:sp>
        <p:nvSpPr>
          <p:cNvPr id="1129" name="Google Shape;1129;p3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8" name="Shape 1138"/>
        <p:cNvGrpSpPr/>
        <p:nvPr/>
      </p:nvGrpSpPr>
      <p:grpSpPr>
        <a:xfrm>
          <a:off x="0" y="0"/>
          <a:ext cx="0" cy="0"/>
          <a:chOff x="0" y="0"/>
          <a:chExt cx="0" cy="0"/>
        </a:xfrm>
      </p:grpSpPr>
      <p:sp>
        <p:nvSpPr>
          <p:cNvPr id="1139" name="Google Shape;1139;p3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40" name="Google Shape;1140;p3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Row one is the module's money demo — participants will trigger catastrophic forgetting deliberately in Lab 2 Part A task 4 and watch macro-F1 collapse below the head-only baseline. Row two returns as the sim-eval-mode debugging exercise. Row three: with a 94% majority class, accuracy is marketing, not measurement. Row five surprises people: batch-norm statistics go bad quietly when fine-tuning batches drop below eight. Close on production considerations: a fine-tuned model inherits pre-training biases, so probe with slice evaluation before regulated deployment, and version checkpoints alongside dataset versions (M5).</a:t>
            </a:r>
            <a:endParaRPr/>
          </a:p>
        </p:txBody>
      </p:sp>
      <p:sp>
        <p:nvSpPr>
          <p:cNvPr id="1141" name="Google Shape;1141;p3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0" name="Shape 1150"/>
        <p:cNvGrpSpPr/>
        <p:nvPr/>
      </p:nvGrpSpPr>
      <p:grpSpPr>
        <a:xfrm>
          <a:off x="0" y="0"/>
          <a:ext cx="0" cy="0"/>
          <a:chOff x="0" y="0"/>
          <a:chExt cx="0" cy="0"/>
        </a:xfrm>
      </p:grpSpPr>
      <p:sp>
        <p:nvSpPr>
          <p:cNvPr id="1151" name="Google Shape;1151;p4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52" name="Google Shape;1152;p4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Participants implement these three functions in Lab 2 Part A task 1, so walk the mechanics carefully. build_model swaps only the final layer; every other weight keeps its ImageNet value. freeze_backbone shows that freezing in PyTorch is nothing more than requires_grad flags keyed on parameter names — demystify it. param_groups is how one optimizer carries two learning rates: pass a list of dicts to AdamW and each group gets its own lr. The class order comment matters: NUM_CLASSES = 4 with a frozen order is the same order that later travels inside the checkpoint. ViT variant differs only in the head attribute name — model.heads.head.</a:t>
            </a:r>
            <a:endParaRPr/>
          </a:p>
        </p:txBody>
      </p:sp>
      <p:sp>
        <p:nvSpPr>
          <p:cNvPr id="1153" name="Google Shape;1153;p4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79" name="Shape 1179"/>
        <p:cNvGrpSpPr/>
        <p:nvPr/>
      </p:nvGrpSpPr>
      <p:grpSpPr>
        <a:xfrm>
          <a:off x="0" y="0"/>
          <a:ext cx="0" cy="0"/>
          <a:chOff x="0" y="0"/>
          <a:chExt cx="0" cy="0"/>
        </a:xfrm>
      </p:grpSpPr>
      <p:sp>
        <p:nvSpPr>
          <p:cNvPr id="1180" name="Google Shape;1180;p4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81" name="Google Shape;1181;p4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The full loop lives in the course repo; this excerpt is the decision skeleton. Point at the class-weights tensor: inverse frequency gives reject roughly 18x — the business class gets the gradient it deserves. Stage 1 optimises only trainable params; Stage 2 re-enables everything, then param_groups splits backbone at 5e-5 from head at 1e-3, with cosine decay and warmup in the full script. Early stopping watches val macro-F1 with patience 3 and saves a checkpoint that embeds GRADES order and the contract reference — the anti-pattern from the mistakes table, defended in code. ViT delta: lower backbone LR (2e-5, ViTs are LR-fragile) and possibly halved batch size.</a:t>
            </a:r>
            <a:endParaRPr/>
          </a:p>
        </p:txBody>
      </p:sp>
      <p:sp>
        <p:nvSpPr>
          <p:cNvPr id="1182" name="Google Shape;1182;p4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8" name="Shape 1208"/>
        <p:cNvGrpSpPr/>
        <p:nvPr/>
      </p:nvGrpSpPr>
      <p:grpSpPr>
        <a:xfrm>
          <a:off x="0" y="0"/>
          <a:ext cx="0" cy="0"/>
          <a:chOff x="0" y="0"/>
          <a:chExt cx="0" cy="0"/>
        </a:xfrm>
      </p:grpSpPr>
      <p:sp>
        <p:nvSpPr>
          <p:cNvPr id="1209" name="Google Shape;1209;p4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10" name="Google Shape;1210;p4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Launch the staged run live at the start and narrate the first curves; then trigger the uniform-LR run and let both race on the projector. The uniform-LR collapse (task A4) is the module's money demo — every pair must see forgetting on their own curves, not on a slide. Stage 2 training runs about 8 minutes, inside the course's 15-minute cap. In the Part B debrief, build the class-wide ResNet-vs-ViT table (F1, time, VRAM, params) on the shared board; it becomes the evidence base for the M7 deployment discussion. Fast finishers: Grad-CAM on five misclassified rejects — do heatmaps point at defects or the conveyor belt?</a:t>
            </a:r>
            <a:endParaRPr/>
          </a:p>
        </p:txBody>
      </p:sp>
      <p:sp>
        <p:nvSpPr>
          <p:cNvPr id="1211" name="Google Shape;1211;p4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65" name="Shape 1265"/>
        <p:cNvGrpSpPr/>
        <p:nvPr/>
      </p:nvGrpSpPr>
      <p:grpSpPr>
        <a:xfrm>
          <a:off x="0" y="0"/>
          <a:ext cx="0" cy="0"/>
          <a:chOff x="0" y="0"/>
          <a:chExt cx="0" cy="0"/>
        </a:xfrm>
      </p:grpSpPr>
      <p:sp>
        <p:nvSpPr>
          <p:cNvPr id="1266" name="Google Shape;1266;p4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67" name="Google Shape;1267;p4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Post this table where pairs can see it during the lab and resist debugging for them — ask which row matches their symptom first. OOM in Stage 2 is expected on smaller GPUs: gradients now exist for every layer, so memory roughly doubles versus Stage 1; halving batch size while keeping AMP is the standard move, and ViT-B/16 may need batch 16. The reject-recall-zero row is nearly always the class-weights tensor missing or ordered wrongly. Nondeterministic eval means someone skipped model.eval() or left augmentation in the val loader — Module 1 rules apply. CPU-fallback pairs should use the provided stage-1 checkpoint and 320px inputs to stay inside the time box.</a:t>
            </a:r>
            <a:endParaRPr/>
          </a:p>
        </p:txBody>
      </p:sp>
      <p:sp>
        <p:nvSpPr>
          <p:cNvPr id="1268" name="Google Shape;1268;p4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76" name="Shape 1276"/>
        <p:cNvGrpSpPr/>
        <p:nvPr/>
      </p:nvGrpSpPr>
      <p:grpSpPr>
        <a:xfrm>
          <a:off x="0" y="0"/>
          <a:ext cx="0" cy="0"/>
          <a:chOff x="0" y="0"/>
          <a:chExt cx="0" cy="0"/>
        </a:xfrm>
      </p:grpSpPr>
      <p:sp>
        <p:nvSpPr>
          <p:cNvPr id="1277" name="Google Shape;1277;p4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78" name="Google Shape;1278;p4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Run as a rapid pair quiz, five minutes, then cold-call for answers. Question 1 should be automatic by now; if not, revisit the inductive-bias slide before the lab. Question 3 is the recipe participants just implemented — ask a pair to justify each stage from their own curves. Question 4 invites the do-nothing-classifier trap: a model predicting the majority class scores 0.94 accuracy while being useless. Question 5 connects to the checkpoint hub diagram and to Module 7, where a checkpoint without its contract reference simply cannot be exported and served correctly. Expect discussion on question 2; the Lab 2b ViT numbers settle it empirically.</a:t>
            </a:r>
            <a:br>
              <a:rPr lang="en-US"/>
            </a:br>
            <a:br>
              <a:rPr lang="en-US"/>
            </a:br>
            <a:r>
              <a:rPr lang="en-US"/>
              <a:t>ANSWERS:</a:t>
            </a:r>
            <a:br>
              <a:rPr lang="en-US"/>
            </a:br>
            <a:r>
              <a:rPr lang="en-US"/>
              <a:t>1. Locality, translation equivariance (weight sharing), hierarchical features.</a:t>
            </a:r>
            <a:br>
              <a:rPr lang="en-US"/>
            </a:br>
            <a:r>
              <a:rPr lang="en-US"/>
              <a:t>2. Weak inductive bias - image structure must be learned from data, not assumed by the architecture.</a:t>
            </a:r>
            <a:br>
              <a:rPr lang="en-US"/>
            </a:br>
            <a:r>
              <a:rPr lang="en-US"/>
              <a:t>3. Head-only first (stabilise the new head), then unfreeze with discriminative LRs (protect generic early features).</a:t>
            </a:r>
            <a:br>
              <a:rPr lang="en-US"/>
            </a:br>
            <a:r>
              <a:rPr lang="en-US"/>
              <a:t>4. 94%-majority imbalance means accuracy hides the reject class; macro-F1 weighs every class equally.</a:t>
            </a:r>
            <a:br>
              <a:rPr lang="en-US"/>
            </a:br>
            <a:r>
              <a:rPr lang="en-US"/>
              <a:t>5. Class order + preprocessing-contract reference (plus metrics and config).</a:t>
            </a:r>
            <a:endParaRPr/>
          </a:p>
        </p:txBody>
      </p:sp>
      <p:sp>
        <p:nvSpPr>
          <p:cNvPr id="1279" name="Google Shape;1279;p4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7" name="Shape 1307"/>
        <p:cNvGrpSpPr/>
        <p:nvPr/>
      </p:nvGrpSpPr>
      <p:grpSpPr>
        <a:xfrm>
          <a:off x="0" y="0"/>
          <a:ext cx="0" cy="0"/>
          <a:chOff x="0" y="0"/>
          <a:chExt cx="0" cy="0"/>
        </a:xfrm>
      </p:grpSpPr>
      <p:sp>
        <p:nvSpPr>
          <p:cNvPr id="1308" name="Google Shape;1308;p4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09" name="Google Shape;1309;p4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The debugging exercise plants a missing model.eval() so dropout stays live during evaluation; the teaching point is determinism as a debugging axis — once seed and data are fixed and results still vary, the model call is the only stochastic suspect left. The code-review PR bundles three mistakes from the mistakes table; require each finding to name the concrete downstream failure: catastrophic forgetting, a hidden reject class, and an unservable checkpoint. For the discussion, steer toward the economics slide: from-scratch needs orders of magnitude more data and compute, and pre-trained weights carry both useful features and licence terms that must be checked before commercial use.</a:t>
            </a:r>
            <a:endParaRPr/>
          </a:p>
        </p:txBody>
      </p:sp>
      <p:sp>
        <p:nvSpPr>
          <p:cNvPr id="1310" name="Google Shape;1310;p4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29" name="Shape 1329"/>
        <p:cNvGrpSpPr/>
        <p:nvPr/>
      </p:nvGrpSpPr>
      <p:grpSpPr>
        <a:xfrm>
          <a:off x="0" y="0"/>
          <a:ext cx="0" cy="0"/>
          <a:chOff x="0" y="0"/>
          <a:chExt cx="0" cy="0"/>
        </a:xfrm>
      </p:grpSpPr>
      <p:sp>
        <p:nvSpPr>
          <p:cNvPr id="1330" name="Google Shape;1330;p4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31" name="Google Shape;1331;p4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Facilitate toward a decision matrix over throughput, sensitive-class recall, VRAM, and explainability-artefact quality. Likely resolution: EfficientNet-B3 for the bulk back-fill, with a ViT fine-tuned specifically on the two sensitive classes as a second-stage referee on flagged tiles only — a cascade that buys ViT quality where it matters at 4% of the compute. Class imbalance is handled via weighted loss plus targeted augmentation; the disputed-tile evidence pack standardises on heatmap plus top-k similar training tiles. For question 1, push past accuracy to per-class recall on the sensitive classes, or throughput. Question 4 answers itself: spend labels on the 3,100-tile sensitive classes.</a:t>
            </a:r>
            <a:endParaRPr/>
          </a:p>
        </p:txBody>
      </p:sp>
      <p:sp>
        <p:nvSpPr>
          <p:cNvPr id="1332" name="Google Shape;1332;p4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51" name="Shape 1351"/>
        <p:cNvGrpSpPr/>
        <p:nvPr/>
      </p:nvGrpSpPr>
      <p:grpSpPr>
        <a:xfrm>
          <a:off x="0" y="0"/>
          <a:ext cx="0" cy="0"/>
          <a:chOff x="0" y="0"/>
          <a:chExt cx="0" cy="0"/>
        </a:xfrm>
      </p:grpSpPr>
      <p:sp>
        <p:nvSpPr>
          <p:cNvPr id="1352" name="Google Shape;1352;p4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53" name="Google Shape;1353;p4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This is the reference table the class-built comparison board should converge on. Read it as a story: head-only gets you to 0.78 cheaply; the staged recipe adds 12 points; uniform lr=1e-3 destroys the pre-trained features and lands below head-only with reject recall at 0.42 — the worst possible failure for the business class. ViT-B/16 edges ResNet by one point of macro-F1 at 1.8x the epoch time, 2x the VRAM, and 3.4x the parameters — the M7 deployment discussion decides if that point is worth it. Also on the checklist: epoch time &lt;= 30 s at 224/bs=64, wall-clock &lt;= 15 min, and checkpoint completeness verified by inspection.</a:t>
            </a:r>
            <a:endParaRPr/>
          </a:p>
        </p:txBody>
      </p:sp>
      <p:sp>
        <p:nvSpPr>
          <p:cNvPr id="1354" name="Google Shape;1354;p4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3" name="Shape 1363"/>
        <p:cNvGrpSpPr/>
        <p:nvPr/>
      </p:nvGrpSpPr>
      <p:grpSpPr>
        <a:xfrm>
          <a:off x="0" y="0"/>
          <a:ext cx="0" cy="0"/>
          <a:chOff x="0" y="0"/>
          <a:chExt cx="0" cy="0"/>
        </a:xfrm>
      </p:grpSpPr>
      <p:sp>
        <p:nvSpPr>
          <p:cNvPr id="1364" name="Google Shape;1364;p4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65" name="Google Shape;1365;p4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Frame the day: yesterday answered 'what grade is this frame?'; today the line needs 'where is the defect, on which fruit, with what confidence?' — and then 'exactly which pixels?'. Day 2 is 40% theory, 60% lab. Warn early that Lab 3 is one of the two most overrun-prone labs in the course: publish the lab3-start and lab3-best.pt checkpoints so stragglers can fast-forward. Verify the GPU plan before Hour 2 — a CV course with no working GPU plan collapses on Day 2. Rotate pairs from Day 1. Every hour is 50 minutes of instruction plus a 10-minute buffer; place the long break around Dhuhr.</a:t>
            </a:r>
            <a:endParaRPr/>
          </a:p>
        </p:txBody>
      </p:sp>
      <p:sp>
        <p:nvSpPr>
          <p:cNvPr id="1366" name="Google Shape;1366;p4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94" name="Shape 1394"/>
        <p:cNvGrpSpPr/>
        <p:nvPr/>
      </p:nvGrpSpPr>
      <p:grpSpPr>
        <a:xfrm>
          <a:off x="0" y="0"/>
          <a:ext cx="0" cy="0"/>
          <a:chOff x="0" y="0"/>
          <a:chExt cx="0" cy="0"/>
        </a:xfrm>
      </p:grpSpPr>
      <p:sp>
        <p:nvSpPr>
          <p:cNvPr id="1395" name="Google Shape;1395;p4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96" name="Google Shape;1396;p4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Walk the plan in one minute per row. Hour 1 closes out Module 2: discriminative learning rates, early stopping, and the ViT-B/16 comparison. Hours 2-3 are Module 3: detection lecture with a live training demo, then Lab 3 on the 5-class defect set. Hours 4-5 are Module 4: segmentation lecture with a mask visualisation demo, then Lab 4 computing defect-area percentage per fruit. Emphasise training-time discipline: every lab caps training at 15 minutes wall-clock by design — if a run exceeds it, resume from the checkpoint; the learning is in the decisions, not the waiting.</a:t>
            </a:r>
            <a:endParaRPr/>
          </a:p>
        </p:txBody>
      </p:sp>
      <p:sp>
        <p:nvSpPr>
          <p:cNvPr id="1397" name="Google Shape;1397;p4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05" name="Shape 1405"/>
        <p:cNvGrpSpPr/>
        <p:nvPr/>
      </p:nvGrpSpPr>
      <p:grpSpPr>
        <a:xfrm>
          <a:off x="0" y="0"/>
          <a:ext cx="0" cy="0"/>
          <a:chOff x="0" y="0"/>
          <a:chExt cx="0" cy="0"/>
        </a:xfrm>
      </p:grpSpPr>
      <p:sp>
        <p:nvSpPr>
          <p:cNvPr id="1406" name="Google Shape;1406;p5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07" name="Google Shape;1407;p5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Position the module: classification answers 'what grade is this frame?'; the line needs where, on which fruit, with what confidence. We move from whole-image labels to localised predictions — the problem formulation, the anatomy of modern single-stage anchor-free detectors, the Ultralytics workflow, and the part most courses skip: post-processing and threshold engineering that turns raw detections into line decisions. Preview the outcome: by end of Hour 3 every pair owns a trained detector above 0.85 mAP@0.5 and a documented operating point in BENCHMARKS.md. Everything continues on the same dates-qc golden thread.</a:t>
            </a:r>
            <a:endParaRPr/>
          </a:p>
        </p:txBody>
      </p:sp>
      <p:sp>
        <p:nvSpPr>
          <p:cNvPr id="1408" name="Google Shape;1408;p5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36" name="Shape 1436"/>
        <p:cNvGrpSpPr/>
        <p:nvPr/>
      </p:nvGrpSpPr>
      <p:grpSpPr>
        <a:xfrm>
          <a:off x="0" y="0"/>
          <a:ext cx="0" cy="0"/>
          <a:chOff x="0" y="0"/>
          <a:chExt cx="0" cy="0"/>
        </a:xfrm>
      </p:grpSpPr>
      <p:sp>
        <p:nvSpPr>
          <p:cNvPr id="1437" name="Google Shape;1437;p5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38" name="Google Shape;1438;p5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Spend two minutes on the business frame before any architecture. The key sentence: the deliverable is not mAP — it is a thresholded decision with an agreed miss rate and false-alarm rate. Ask the class what happens if the threshold is too low (conveyor stops forty times an hour) versus too high (mould ships). Flag the licensing point now and promise to return to it in the discussion exercise: Ultralytics compresses detector development from weeks to hours, but AGPL-3.0 versus a commercial licence is a legal and procurement decision, not an engineering one.</a:t>
            </a:r>
            <a:endParaRPr/>
          </a:p>
        </p:txBody>
      </p:sp>
      <p:sp>
        <p:nvSpPr>
          <p:cNvPr id="1439" name="Google Shape;1439;p5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62" name="Shape 1462"/>
        <p:cNvGrpSpPr/>
        <p:nvPr/>
      </p:nvGrpSpPr>
      <p:grpSpPr>
        <a:xfrm>
          <a:off x="0" y="0"/>
          <a:ext cx="0" cy="0"/>
          <a:chOff x="0" y="0"/>
          <a:chExt cx="0" cy="0"/>
        </a:xfrm>
      </p:grpSpPr>
      <p:sp>
        <p:nvSpPr>
          <p:cNvPr id="1463" name="Google Shape;1463;p5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64" name="Google Shape;1464;p5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One minute per card. Tamr Vision: the detector replaces a whole-frame classifier that could not say which fruit to eject — 62 FPS on the line's GPU. Jubail: note how the safety officer expressed the requirement — 'no more than 1 missed violation in 20' — a recall constraint, not accuracy. Al-Kharj poultry: the operating point lives at extreme recall because a single escape triggers a retailer audit; false alarms are budgeted per shift. Land the fourth card hard: in every real deployment the conversation is recall and false-alarm budgets. This framing pays off in the Lab 3 operating-point task and the case study.</a:t>
            </a:r>
            <a:endParaRPr/>
          </a:p>
        </p:txBody>
      </p:sp>
      <p:sp>
        <p:nvSpPr>
          <p:cNvPr id="1465" name="Google Shape;1465;p5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92" name="Shape 1492"/>
        <p:cNvGrpSpPr/>
        <p:nvPr/>
      </p:nvGrpSpPr>
      <p:grpSpPr>
        <a:xfrm>
          <a:off x="0" y="0"/>
          <a:ext cx="0" cy="0"/>
          <a:chOff x="0" y="0"/>
          <a:chExt cx="0" cy="0"/>
        </a:xfrm>
      </p:grpSpPr>
      <p:sp>
        <p:nvSpPr>
          <p:cNvPr id="1493" name="Google Shape;1493;p5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94" name="Google Shape;1494;p5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Read the objectives quickly and connect them to the day's arc: 3.1 and 3.2 are covered in this lecture hour; 3.3 and 3.4 are exercised in Lab 3 tasks 1-3; 3.5 is the lab's capstone task and the module's thesis. Emphasise the verbs — formulate, explain, prepare, apply, tune. By the end of the module a participant can read a per-class PR curve well enough to know which threshold conversation to have with the business. That last competency is what separates engineers who ship working line systems from those who ship impressive demos.</a:t>
            </a:r>
            <a:endParaRPr/>
          </a:p>
        </p:txBody>
      </p:sp>
      <p:sp>
        <p:nvSpPr>
          <p:cNvPr id="1495" name="Google Shape;1495;p5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38" name="Shape 1538"/>
        <p:cNvGrpSpPr/>
        <p:nvPr/>
      </p:nvGrpSpPr>
      <p:grpSpPr>
        <a:xfrm>
          <a:off x="0" y="0"/>
          <a:ext cx="0" cy="0"/>
          <a:chOff x="0" y="0"/>
          <a:chExt cx="0" cy="0"/>
        </a:xfrm>
      </p:grpSpPr>
      <p:sp>
        <p:nvSpPr>
          <p:cNvPr id="1539" name="Google Shape;1539;p5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540" name="Google Shape;1540;p5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This slide sets up three later modules, so signpost the forward references. Sets-not-vectors is why detection evaluation is harder than classification — matching predictions to ground truth is the primitive under mAP, built by hand in M6. The two-ways-to-be-wrong point becomes M6's error taxonomy. Contrast a bad label — 'poor overall appearance' is a classification label — with 'skin_split with visible extent', which is boxable. Close with the course rule, and repeat it: choose the cheapest task formulation that answers the business question. Students will re-apply it in M4's triage activity.</a:t>
            </a:r>
            <a:endParaRPr/>
          </a:p>
        </p:txBody>
      </p:sp>
      <p:sp>
        <p:nvSpPr>
          <p:cNvPr id="1541" name="Google Shape;1541;p5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64" name="Shape 1564"/>
        <p:cNvGrpSpPr/>
        <p:nvPr/>
      </p:nvGrpSpPr>
      <p:grpSpPr>
        <a:xfrm>
          <a:off x="0" y="0"/>
          <a:ext cx="0" cy="0"/>
          <a:chOff x="0" y="0"/>
          <a:chExt cx="0" cy="0"/>
        </a:xfrm>
      </p:grpSpPr>
      <p:sp>
        <p:nvSpPr>
          <p:cNvPr id="1565" name="Google Shape;1565;p5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566" name="Google Shape;1566;p5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Participants must be able to sketch this three-part anatomy. Backbone: everything from M2 transfers — pre-trained, fine-tunable, swap-able. Neck: FPN top-down plus PAN bottom-up, so a 14-pixel mould spot at 640 squared gets both context and localisation. Head: anchor-free and decoupled — cells predict box coordinates directly via distribution focal loss, removing the anchor-mismatch bugs that plagued YOLOv5-era deployments. Losses: CIoU aligns boxes, BCE scores classes, DFL sharpens edges. Nobody implements these, but everyone must read them in logs — the warning flag on this slide is the diagnostic: plateauing box_loss with falling cls_loss means localisation, not recognition, is the bottleneck.</a:t>
            </a:r>
            <a:endParaRPr/>
          </a:p>
        </p:txBody>
      </p:sp>
      <p:sp>
        <p:nvSpPr>
          <p:cNvPr id="1567" name="Google Shape;1567;p5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93" name="Shape 1593"/>
        <p:cNvGrpSpPr/>
        <p:nvPr/>
      </p:nvGrpSpPr>
      <p:grpSpPr>
        <a:xfrm>
          <a:off x="0" y="0"/>
          <a:ext cx="0" cy="0"/>
          <a:chOff x="0" y="0"/>
          <a:chExt cx="0" cy="0"/>
        </a:xfrm>
      </p:grpSpPr>
      <p:sp>
        <p:nvSpPr>
          <p:cNvPr id="1594" name="Google Shape;1594;p5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595" name="Google Shape;1595;p5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Teach two-stage detectors as vocabulary, not as a live option here: a region-proposal stage followed by per-region classification, trading speed for slightly better small-object and crowded-scene performance. Students will meet Faster R-CNN in papers, academic baselines and some medical tooling, so they must be able to hold the trade-off conversation. But make the decision procedure explicit: the requirement is 62 FPS on the line's GPU, so single-stage wins without debate. Common question: 'is two-stage more accurate?' — answer: at the margins, on small objects and crowds, and M3's small-object story is handled by the FPN/PAN neck instead.</a:t>
            </a:r>
            <a:endParaRPr/>
          </a:p>
        </p:txBody>
      </p:sp>
      <p:sp>
        <p:nvSpPr>
          <p:cNvPr id="1596" name="Google Shape;1596;p5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13" name="Shape 1613"/>
        <p:cNvGrpSpPr/>
        <p:nvPr/>
      </p:nvGrpSpPr>
      <p:grpSpPr>
        <a:xfrm>
          <a:off x="0" y="0"/>
          <a:ext cx="0" cy="0"/>
          <a:chOff x="0" y="0"/>
          <a:chExt cx="0" cy="0"/>
        </a:xfrm>
      </p:grpSpPr>
      <p:sp>
        <p:nvSpPr>
          <p:cNvPr id="1614" name="Google Shape;1614;p5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615" name="Google Shape;1615;p5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Control these three artefacts deliberately, not by copy-paste. Labels: the most common corruption is pixel coordinates written un-normalised — some versions silently clip values above 1; Lab 3's converter validates every line. YAML: the class-order rule from M2 with more teeth — reordering names after training silently relabels every prediction. Training: mosaic and copy-paste are why small datasets work at all; mosaic auto-disables for the final ~10 epochs (close_mosaic) because it distorts global-layout statistics, and copy-paste must respect physics — a foreign_object pasted mid-air teaches hallucination. Transfer learning: from scratch reaches mAP ~0.58 where COCO-initialised reaches ~0.87 in the same 40 epochs.</a:t>
            </a:r>
            <a:endParaRPr/>
          </a:p>
        </p:txBody>
      </p:sp>
      <p:sp>
        <p:nvSpPr>
          <p:cNvPr id="1616" name="Google Shape;1616;p5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45" name="Shape 1645"/>
        <p:cNvGrpSpPr/>
        <p:nvPr/>
      </p:nvGrpSpPr>
      <p:grpSpPr>
        <a:xfrm>
          <a:off x="0" y="0"/>
          <a:ext cx="0" cy="0"/>
          <a:chOff x="0" y="0"/>
          <a:chExt cx="0" cy="0"/>
        </a:xfrm>
      </p:grpSpPr>
      <p:sp>
        <p:nvSpPr>
          <p:cNvPr id="1646" name="Google Shape;1646;p5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647" name="Google Shape;1647;p5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The module's capstone skill. Walk the translation procedure on the board: (1) sweep conf on the validation split; (2) plot per-class recall and false-positives-per-image against conf; (3) find the threshold band satisfying both constraints — or prove no single threshold does, forcing per-class thresholds (Ultralytics accepts a dict) or a data conversation: 'mould recall saturates at 0.93; we need 400 more hard mould examples' (M5's active learning). NMS on crowded conveyors is the hard case: dates touch, and the iou choice changes per-frame counts by ~9%. Close with the thesis: 'mAP 0.87' and 'the line meets its escape budget' are different claims, connected only by this procedure.</a:t>
            </a:r>
            <a:endParaRPr/>
          </a:p>
        </p:txBody>
      </p:sp>
      <p:sp>
        <p:nvSpPr>
          <p:cNvPr id="1648" name="Google Shape;1648;p5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77" name="Shape 1677"/>
        <p:cNvGrpSpPr/>
        <p:nvPr/>
      </p:nvGrpSpPr>
      <p:grpSpPr>
        <a:xfrm>
          <a:off x="0" y="0"/>
          <a:ext cx="0" cy="0"/>
          <a:chOff x="0" y="0"/>
          <a:chExt cx="0" cy="0"/>
        </a:xfrm>
      </p:grpSpPr>
      <p:sp>
        <p:nvSpPr>
          <p:cNvPr id="1678" name="Google Shape;1678;p5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679" name="Google Shape;1679;p5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Run this as rapid-fire diagnosis: read each mistake and ask the class for the consequence before revealing it. Rows one and three are the module's recurring themes — the deployed operating point is the only one that matters, and resolution is part of the contract from M1; the mAP drop at 320 is class-dependent (mould only loses 0.02, insect_damage loses 0.11). Row four: the M1 leakage rule applies identically to detection; the manifest's session split carries over. Row six: the alternative to Ultralytics is weeks of raw PyTorch work — so the licence decision belongs to legal and procurement, flagged early and in writing.</a:t>
            </a:r>
            <a:endParaRPr/>
          </a:p>
        </p:txBody>
      </p:sp>
      <p:sp>
        <p:nvSpPr>
          <p:cNvPr id="1680" name="Google Shape;1680;p5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88" name="Shape 1688"/>
        <p:cNvGrpSpPr/>
        <p:nvPr/>
      </p:nvGrpSpPr>
      <p:grpSpPr>
        <a:xfrm>
          <a:off x="0" y="0"/>
          <a:ext cx="0" cy="0"/>
          <a:chOff x="0" y="0"/>
          <a:chExt cx="0" cy="0"/>
        </a:xfrm>
      </p:grpSpPr>
      <p:sp>
        <p:nvSpPr>
          <p:cNvPr id="1689" name="Google Shape;1689;p6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690" name="Google Shape;1690;p6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Launch this live before explaining it — the run takes ~11 minutes, exactly the length of the walkthrough. Go argument by argument: imgsz is the latency/accuracy lever revisited in M7; patience gives early stopping on val mAP@0.5:0.95; degrees=180 with both flips is the M1 policy — a conveyor has no orientation. copy_paste=0.1 is safe here because date instances are physically pasteable onto conveyor backgrounds. While it trains, project the mosaic batch renders from runs/detect/defect_y11s/train_batch*.jpg and have the class spot a physically impossible composite — the same exercise they repeat in Lab 3 task 3.</a:t>
            </a:r>
            <a:endParaRPr/>
          </a:p>
        </p:txBody>
      </p:sp>
      <p:sp>
        <p:nvSpPr>
          <p:cNvPr id="1691" name="Google Shape;1691;p6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22" name="Shape 1722"/>
        <p:cNvGrpSpPr/>
        <p:nvPr/>
      </p:nvGrpSpPr>
      <p:grpSpPr>
        <a:xfrm>
          <a:off x="0" y="0"/>
          <a:ext cx="0" cy="0"/>
          <a:chOff x="0" y="0"/>
          <a:chExt cx="0" cy="0"/>
        </a:xfrm>
      </p:grpSpPr>
      <p:sp>
        <p:nvSpPr>
          <p:cNvPr id="1723" name="Google Shape;1723;p6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724" name="Google Shape;1724;p6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Run this live after the training demo and end on the module's designed insight: insect_damage has no feasible threshold at any conf value — that discovery forces the per-class-threshold plus data-request conversation students will have themselves in Lab 3 task 5. Point at REQ: requirements are code, versioned next to the sweep. In production the inference wrapper takes per-class thresholds from config, never hard-coded, and every raw score is logged even below the acting threshold — threshold retuning without re-running inference needs those scores. Common question: 'why not just lower conf to zero?' — trace the FP/image column as the answer.</a:t>
            </a:r>
            <a:endParaRPr/>
          </a:p>
        </p:txBody>
      </p:sp>
      <p:sp>
        <p:nvSpPr>
          <p:cNvPr id="1725" name="Google Shape;1725;p6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56" name="Shape 1756"/>
        <p:cNvGrpSpPr/>
        <p:nvPr/>
      </p:nvGrpSpPr>
      <p:grpSpPr>
        <a:xfrm>
          <a:off x="0" y="0"/>
          <a:ext cx="0" cy="0"/>
          <a:chOff x="0" y="0"/>
          <a:chExt cx="0" cy="0"/>
        </a:xfrm>
      </p:grpSpPr>
      <p:sp>
        <p:nvSpPr>
          <p:cNvPr id="1757" name="Google Shape;1757;p6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758" name="Google Shape;1758;p6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The planted conversion failures (one unknown class, two un-normalised boxes) are the module's first checkpoint — pairs that silence the assertions instead of fixing the data must be caught at task 2's rendering step, where their boxes will be visibly wrong. Task 5 is where the thesis lands: insect_damage, by design, cannot meet the spec at any threshold, forcing the per-class-threshold and data-request conversation. Collect each pair's 'residual gap' sentence — they become the motivation for M5. Fast finishers: sweep imgsz over 320/512/640 on the val split and start the latency/accuracy table that M7 completes. Cap training at 15 minutes; stragglers resume from lab3-best.pt.</a:t>
            </a:r>
            <a:endParaRPr/>
          </a:p>
        </p:txBody>
      </p:sp>
      <p:sp>
        <p:nvSpPr>
          <p:cNvPr id="1759" name="Google Shape;1759;p6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08" name="Shape 1808"/>
        <p:cNvGrpSpPr/>
        <p:nvPr/>
      </p:nvGrpSpPr>
      <p:grpSpPr>
        <a:xfrm>
          <a:off x="0" y="0"/>
          <a:ext cx="0" cy="0"/>
          <a:chOff x="0" y="0"/>
          <a:chExt cx="0" cy="0"/>
        </a:xfrm>
      </p:grpSpPr>
      <p:sp>
        <p:nvSpPr>
          <p:cNvPr id="1809" name="Google Shape;1809;p6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810" name="Google Shape;1810;p6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Keep this projected during the lab so pairs self-serve before raising a hand. Row two is the classic: a pair loads yolo11s.yaml instead of yolo11s.pt and trains from scratch — their mAP plateaus near 0.55 and no amount of epochs rescues it in classroom time; restart from the checkpoint. Row three connects to the lecture: touching dates on the conveyor are exactly the case where NMS iou matters. Row five usually means the pair edited YAML paths and is validating a different split. Watch for the silent failure the table cannot catch: assertions commented out in the converter — that is what task 2's visual render exists for.</a:t>
            </a:r>
            <a:endParaRPr/>
          </a:p>
        </p:txBody>
      </p:sp>
      <p:sp>
        <p:nvSpPr>
          <p:cNvPr id="1811" name="Google Shape;1811;p6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19" name="Shape 1819"/>
        <p:cNvGrpSpPr/>
        <p:nvPr/>
      </p:nvGrpSpPr>
      <p:grpSpPr>
        <a:xfrm>
          <a:off x="0" y="0"/>
          <a:ext cx="0" cy="0"/>
          <a:chOff x="0" y="0"/>
          <a:chExt cx="0" cy="0"/>
        </a:xfrm>
      </p:grpSpPr>
      <p:sp>
        <p:nvSpPr>
          <p:cNvPr id="1820" name="Google Shape;1820;p6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821" name="Google Shape;1821;p6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Run as a five-minute closer before the break: show each question, take a show of hands or a shouted answer, then reveal. Question 1 checks the anchor image — anyone who cannot name backbone/neck/head needs the anatomy slide again. Question 2 is the NMS trap most relevant to this dataset. Question 3 catches a real design habit: teams often discard empty frames as 'useless'. Question 4 is the log-reading diagnostic and a bridge to M5's annotation-quality work. Question 5 is the module thesis stated as true/false — anyone answering 'false' should be pointed at the sim-conf-mismatch branch, where the line simulator's escape rate is ~5x the reported one.</a:t>
            </a:r>
            <a:br>
              <a:rPr lang="en-US"/>
            </a:br>
            <a:br>
              <a:rPr lang="en-US"/>
            </a:br>
            <a:r>
              <a:rPr lang="en-US"/>
              <a:t>ANSWERS:</a:t>
            </a:r>
            <a:br>
              <a:rPr lang="en-US"/>
            </a:br>
            <a:r>
              <a:rPr lang="en-US"/>
              <a:t>1. Backbone extracts features (strides 8/16/32); neck (FPN/PAN) fuses multi-scale features; head predicts per-cell class + box, anchor-free.</a:t>
            </a:r>
            <a:br>
              <a:rPr lang="en-US"/>
            </a:br>
            <a:r>
              <a:rPr lang="en-US"/>
              <a:t>2. Suppresses overlapping same-class boxes, keeping the most confident; too low, it merges two real adjacent fruit into one detection.</a:t>
            </a:r>
            <a:br>
              <a:rPr lang="en-US"/>
            </a:br>
            <a:r>
              <a:rPr lang="en-US"/>
              <a:t>3. Otherwise the model learns 'always find something'; background frames calibrate the confidence.</a:t>
            </a:r>
            <a:br>
              <a:rPr lang="en-US"/>
            </a:br>
            <a:r>
              <a:rPr lang="en-US"/>
              <a:t>4. Localisation bottleneck — usually annotation quality (sloppy boxes), not recognition.</a:t>
            </a:r>
            <a:br>
              <a:rPr lang="en-US"/>
            </a:br>
            <a:r>
              <a:rPr lang="en-US"/>
              <a:t>5. True — otherwise the reported numbers describe a different system.</a:t>
            </a:r>
            <a:endParaRPr/>
          </a:p>
        </p:txBody>
      </p:sp>
      <p:sp>
        <p:nvSpPr>
          <p:cNvPr id="1822" name="Google Shape;1822;p6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50" name="Shape 1850"/>
        <p:cNvGrpSpPr/>
        <p:nvPr/>
      </p:nvGrpSpPr>
      <p:grpSpPr>
        <a:xfrm>
          <a:off x="0" y="0"/>
          <a:ext cx="0" cy="0"/>
          <a:chOff x="0" y="0"/>
          <a:chExt cx="0" cy="0"/>
        </a:xfrm>
      </p:grpSpPr>
      <p:sp>
        <p:nvSpPr>
          <p:cNvPr id="1851" name="Google Shape;1851;p6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852" name="Google Shape;1852;p6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Use these as homework or fast-finisher material. The class-shift simulation is the strongest: foreign_object shows AP 0.91 on a class with only 40 instances — an absurdity that renders catch instantly while aggregate metrics stay plausible; the lesson is that class order is part of the contract and renders beat metrics. For the code review, the expected findings: a hard-coded threshold makes the operating point unversionable; train-split evaluation inflates every number; YAML reordering silently relabels predictions. The zero-escapes discussion pairs well with the threshold negotiation role-play: management and engineering must sign a one-line operating agreement with actual numbers.</a:t>
            </a:r>
            <a:endParaRPr/>
          </a:p>
        </p:txBody>
      </p:sp>
      <p:sp>
        <p:nvSpPr>
          <p:cNvPr id="1853" name="Google Shape;1853;p6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76" name="Shape 1876"/>
        <p:cNvGrpSpPr/>
        <p:nvPr/>
      </p:nvGrpSpPr>
      <p:grpSpPr>
        <a:xfrm>
          <a:off x="0" y="0"/>
          <a:ext cx="0" cy="0"/>
          <a:chOff x="0" y="0"/>
          <a:chExt cx="0" cy="0"/>
        </a:xfrm>
      </p:grpSpPr>
      <p:sp>
        <p:nvSpPr>
          <p:cNvPr id="1877" name="Google Shape;1877;p6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878" name="Google Shape;1878;p6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Facilitate, don't lecture. Separate the failure modes: harness misses are a small-object plus data-scarcity problem — only 210 harness instances in training, 18-30 px in crane wide shots — so most of the 6,000-box budget goes there via model-uncertainty sampling (M5 preview), evaluated at zone level. Hard-hat floods are an operating-point problem: shift-change crowds raise candidate counts, so per-camera thresholds plus a temporal filter (violation persists N frames) cut alarms ~8x at negligible recall cost. Redefine acceptance per class: harness recall at least 0.95 in crane zones; hard-hat alerts at most 50/day fleet-wide. Q3 answer: brief events — falls, intrusion. Q4: retention limits, access control, purpose limitation, worker notification.</a:t>
            </a:r>
            <a:endParaRPr/>
          </a:p>
        </p:txBody>
      </p:sp>
      <p:sp>
        <p:nvSpPr>
          <p:cNvPr id="1879" name="Google Shape;1879;p6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98" name="Shape 1898"/>
        <p:cNvGrpSpPr/>
        <p:nvPr/>
      </p:nvGrpSpPr>
      <p:grpSpPr>
        <a:xfrm>
          <a:off x="0" y="0"/>
          <a:ext cx="0" cy="0"/>
          <a:chOff x="0" y="0"/>
          <a:chExt cx="0" cy="0"/>
        </a:xfrm>
      </p:grpSpPr>
      <p:sp>
        <p:nvSpPr>
          <p:cNvPr id="1899" name="Google Shape;1899;p6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900" name="Google Shape;1900;p6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Close the module on the numbers each pair must own in BENCHMARKS.md. The reference run gives mAP@0.5 of 0.872 with per-class spread from insect_damage 0.798 to mould 0.921 — use that spread to normalise expectations: a weak class is a finding, not a failure. Point at the example benchmark rows: insect_damage records 'data request filed (M5)' and foreign_object is flagged high-severity. The last row matters most for assessment — an operating point without a rationale does not pass review. Every pair enters Hour 4 with a trained detector at 0.85-plus mAP@0.5 and a documented operating point.</a:t>
            </a:r>
            <a:endParaRPr/>
          </a:p>
        </p:txBody>
      </p:sp>
      <p:sp>
        <p:nvSpPr>
          <p:cNvPr id="1901" name="Google Shape;1901;p6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09" name="Shape 1909"/>
        <p:cNvGrpSpPr/>
        <p:nvPr/>
      </p:nvGrpSpPr>
      <p:grpSpPr>
        <a:xfrm>
          <a:off x="0" y="0"/>
          <a:ext cx="0" cy="0"/>
          <a:chOff x="0" y="0"/>
          <a:chExt cx="0" cy="0"/>
        </a:xfrm>
      </p:grpSpPr>
      <p:sp>
        <p:nvSpPr>
          <p:cNvPr id="1910" name="Google Shape;1910;p6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911" name="Google Shape;1911;p6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Position the module: boxes answer 'where'; masks answer 'exactly which pixels'. The applied payoff is turning masks into calibrated business measurements — for Tamr Vision, defect-area percentage per fruit, the number the grading standard actually references. Reassure the class on workflow: training an instance segmenter uses the Ultralytics mechanics they mastered an hour ago; segmentation adds masks to the head, not complexity to their day. Flag the cost message early: segmentation costs 5-10x more per annotation than boxes, so the decision to use it must be earned by the business question. Both M3 and M4 models get checkpointed for the capstone.</a:t>
            </a:r>
            <a:endParaRPr/>
          </a:p>
        </p:txBody>
      </p:sp>
      <p:sp>
        <p:nvSpPr>
          <p:cNvPr id="1912" name="Google Shape;1912;p6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40" name="Shape 1940"/>
        <p:cNvGrpSpPr/>
        <p:nvPr/>
      </p:nvGrpSpPr>
      <p:grpSpPr>
        <a:xfrm>
          <a:off x="0" y="0"/>
          <a:ext cx="0" cy="0"/>
          <a:chOff x="0" y="0"/>
          <a:chExt cx="0" cy="0"/>
        </a:xfrm>
      </p:grpSpPr>
      <p:sp>
        <p:nvSpPr>
          <p:cNvPr id="1941" name="Google Shape;1941;p6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942" name="Google Shape;1942;p6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Each number is an argument. The 8% rule is the grading standard Tamr Vision must apply — a box around a crescent-shaped defect includes mostly healthy skin, which is why box area overstates defects 2-4x; that red stat is the money argument for the module's existence. The 35-90 seconds per polygon versus 7 per box is the cost gradient behind every formulation decision — though model-assisted tools (SAM-based, M5) have cut the gap substantially. And m² as invoice unit: in the Riyadh road-crack case, masks are literally the evidence a contractor is paid on. Where pilots quietly fail: pixel-to-real-world calibration, covered at the end of the hour.</a:t>
            </a:r>
            <a:endParaRPr/>
          </a:p>
        </p:txBody>
      </p:sp>
      <p:sp>
        <p:nvSpPr>
          <p:cNvPr id="1943" name="Google Shape;1943;p6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67" name="Shape 1967"/>
        <p:cNvGrpSpPr/>
        <p:nvPr/>
      </p:nvGrpSpPr>
      <p:grpSpPr>
        <a:xfrm>
          <a:off x="0" y="0"/>
          <a:ext cx="0" cy="0"/>
          <a:chOff x="0" y="0"/>
          <a:chExt cx="0" cy="0"/>
        </a:xfrm>
      </p:grpSpPr>
      <p:sp>
        <p:nvSpPr>
          <p:cNvPr id="1968" name="Google Shape;1968;p7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969" name="Google Shape;1969;p7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One minute per card, and keep hammering the measurement frame. Tamr Vision: the M3 detector finds defects but its boxes overstate crescent-shaped ones, so the 8% rule needs masks. Riyadh: repair contractors are paid per verified square metre — the mask is the invoice evidence, which is why the case study later makes both parties audit the measurement pipeline. Sakaka: soiling fraction turns drone imagery into a cleaning-schedule optimiser. A fourth example from the source worth mentioning aloud: palm-canopy pest stress driving treatment dosage. Pattern card: area is the deliverable; calibration engineering is where most segmentation pilots quietly fail.</a:t>
            </a:r>
            <a:endParaRPr/>
          </a:p>
        </p:txBody>
      </p:sp>
      <p:sp>
        <p:nvSpPr>
          <p:cNvPr id="1970" name="Google Shape;1970;p7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97" name="Shape 1997"/>
        <p:cNvGrpSpPr/>
        <p:nvPr/>
      </p:nvGrpSpPr>
      <p:grpSpPr>
        <a:xfrm>
          <a:off x="0" y="0"/>
          <a:ext cx="0" cy="0"/>
          <a:chOff x="0" y="0"/>
          <a:chExt cx="0" cy="0"/>
        </a:xfrm>
      </p:grpSpPr>
      <p:sp>
        <p:nvSpPr>
          <p:cNvPr id="1998" name="Google Shape;1998;p7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999" name="Google Shape;1999;p7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Map the objectives to the hour: 4.1 is the task-family slide and the triage activity; 4.2 covers both architecture slides; 4.3 and 4.4 happen in Lab 4; 4.5 is the measurement flow and the lab's attribution task. Objective 4.5 is the differentiator — most segmentation courses stop at mask mAP, but here participants must convert masks into calibrated measurements with documented assumptions, because that conversion is what businesses actually consume. By module end a participant can also say what mIoU and mask mAP each hide — boundary quality and per-image variance — and why measurement-level tests exist.</a:t>
            </a:r>
            <a:endParaRPr/>
          </a:p>
        </p:txBody>
      </p:sp>
      <p:sp>
        <p:nvSpPr>
          <p:cNvPr id="2000" name="Google Shape;2000;p7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43" name="Shape 2043"/>
        <p:cNvGrpSpPr/>
        <p:nvPr/>
      </p:nvGrpSpPr>
      <p:grpSpPr>
        <a:xfrm>
          <a:off x="0" y="0"/>
          <a:ext cx="0" cy="0"/>
          <a:chOff x="0" y="0"/>
          <a:chExt cx="0" cy="0"/>
        </a:xfrm>
      </p:grpSpPr>
      <p:sp>
        <p:nvSpPr>
          <p:cNvPr id="2044" name="Google Shape;2044;p7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045" name="Google Shape;2045;p7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Choosing wrongly wastes annotation money, so drill the decision. Semantic: two overlapping mould patches become one 'mould' region — fine when only total area per class matters, useless when defects must be attributed to fruit. Instance: detection with pixel-accurate extents — Tamr Vision needs defect area per fruit, so defects must be attributed to instances; this is the course's choice. Panoptic: taught as vocabulary only. Quick oral check: 'the municipality pays per m² of crack — which formulation?' (semantic). 'The plant rejects individual fruit — which?' (instance). Note that SAM-based model-assisted polygon tools in M5 have narrowed, not erased, the cost gap.</a:t>
            </a:r>
            <a:endParaRPr/>
          </a:p>
        </p:txBody>
      </p:sp>
      <p:sp>
        <p:nvSpPr>
          <p:cNvPr id="2046" name="Google Shape;2046;p7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55" name="Shape 2055"/>
        <p:cNvGrpSpPr/>
        <p:nvPr/>
      </p:nvGrpSpPr>
      <p:grpSpPr>
        <a:xfrm>
          <a:off x="0" y="0"/>
          <a:ext cx="0" cy="0"/>
          <a:chOff x="0" y="0"/>
          <a:chExt cx="0" cy="0"/>
        </a:xfrm>
      </p:grpSpPr>
      <p:sp>
        <p:nvSpPr>
          <p:cNvPr id="2056" name="Google Shape;2056;p7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057" name="Google Shape;2057;p7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The defining trick is the skip connection (U-Net, 2015): shallow, high-resolution encoder features are concatenated into the decoder so boundaries stay sharp — use the 'melted wax' image and, if drawing on the board, sketch the no-skip ghost output next to the real one. DeepLab's contribution is atrous (dilated) convolution plus multi-scale ASPP pooling. Tell the class why U-Net variants persist in medical and industrial semantic work: they train well on small datasets. This is the semantic-segmentation architecture family; the next slide covers the instance side, which is what the lab actually trains. Timebox to four minutes.</a:t>
            </a:r>
            <a:endParaRPr/>
          </a:p>
        </p:txBody>
      </p:sp>
      <p:sp>
        <p:nvSpPr>
          <p:cNvPr id="2058" name="Google Shape;2058;p7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78" name="Shape 2078"/>
        <p:cNvGrpSpPr/>
        <p:nvPr/>
      </p:nvGrpSpPr>
      <p:grpSpPr>
        <a:xfrm>
          <a:off x="0" y="0"/>
          <a:ext cx="0" cy="0"/>
          <a:chOff x="0" y="0"/>
          <a:chExt cx="0" cy="0"/>
        </a:xfrm>
      </p:grpSpPr>
      <p:sp>
        <p:nvSpPr>
          <p:cNvPr id="2079" name="Google Shape;2079;p7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080" name="Google Shape;2080;p7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Mask R-CNN (2017) extends the two-stage detector: for each detected region a small FCN predicts a per-instance binary mask; RoIAlign — bilinear sampling instead of quantised pooling — is the detail that made pixel-accurate masks possible and a favourite interview question, so make them say it back. YOLO-seg predicts a set of prototype masks for the whole image plus per-instance coefficients that linearly combine them (the YOLACT idea): near-detector speed, slightly softer boundaries. Course positioning: YOLO11s-seg for speed and one workflow; Mask R-CNN as the reference they must be able to discuss. Give transformers one honest paragraph: Mask2Former wins benchmarks but is heavier than the task needs; SAM changed annotation economics forever and returns in M5.</a:t>
            </a:r>
            <a:endParaRPr/>
          </a:p>
        </p:txBody>
      </p:sp>
      <p:sp>
        <p:nvSpPr>
          <p:cNvPr id="2081" name="Google Shape;2081;p7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98" name="Shape 2098"/>
        <p:cNvGrpSpPr/>
        <p:nvPr/>
      </p:nvGrpSpPr>
      <p:grpSpPr>
        <a:xfrm>
          <a:off x="0" y="0"/>
          <a:ext cx="0" cy="0"/>
          <a:chOff x="0" y="0"/>
          <a:chExt cx="0" cy="0"/>
        </a:xfrm>
      </p:grpSpPr>
      <p:sp>
        <p:nvSpPr>
          <p:cNvPr id="2099" name="Google Shape;2099;p7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100" name="Google Shape;2100;p7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Five compact points, one minute each. Polygon conversion inherits every M3 pitfall plus holes and self-intersection — the ring-shaped-defect rule is an explicit, documented simplification students must find in the spec during Lab 4 task 1. Dice loss: run the 98%-by-predicting-nothing trap as a question before revealing. Resolution: the minimum-feature-width number constrains M7's optimisation choices later. The mIoU point sets up the sim-fat-mask debugging exercise, where mask mAP barely moves but area MAE triples. Also mention augmentation: geometric transforms must warp masks with pixels — Ultralytics handles it; hand-rolled augmentation warnings from M1 go double for polygons, and copy-paste is stronger for segmentation.</a:t>
            </a:r>
            <a:endParaRPr/>
          </a:p>
        </p:txBody>
      </p:sp>
      <p:sp>
        <p:nvSpPr>
          <p:cNvPr id="2101" name="Google Shape;2101;p7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28" name="Shape 2128"/>
        <p:cNvGrpSpPr/>
        <p:nvPr/>
      </p:nvGrpSpPr>
      <p:grpSpPr>
        <a:xfrm>
          <a:off x="0" y="0"/>
          <a:ext cx="0" cy="0"/>
          <a:chOff x="0" y="0"/>
          <a:chExt cx="0" cy="0"/>
        </a:xfrm>
      </p:grpSpPr>
      <p:sp>
        <p:nvSpPr>
          <p:cNvPr id="2129" name="Google Shape;2129;p7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130" name="Google Shape;2130;p7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The applied payoff. Attribution: intersect defect masks with fruit masks — every defect pixel assigned to exactly one fruit by largest overlap, ties logged. Then the key distinction: the area ratio is scale-free, no calibration needed — exactly why Tamr Vision negotiated the grading rule as a percentage. Absolute measurements (the road-crack m² case) need pixel-to-mm calibration via known geometry or a reference object, with the assumption, its error bound, and the revalidation trigger documented — any camera move. The visible-surface caveat is the teaching moment: a camera sees one hemisphere, so '8% of surface' operationalises as '8% of visible surface, single view' — an approximation the plant explicitly signed off.</a:t>
            </a:r>
            <a:endParaRPr/>
          </a:p>
        </p:txBody>
      </p:sp>
      <p:sp>
        <p:nvSpPr>
          <p:cNvPr id="2131" name="Google Shape;2131;p7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60" name="Shape 2160"/>
        <p:cNvGrpSpPr/>
        <p:nvPr/>
      </p:nvGrpSpPr>
      <p:grpSpPr>
        <a:xfrm>
          <a:off x="0" y="0"/>
          <a:ext cx="0" cy="0"/>
          <a:chOff x="0" y="0"/>
          <a:chExt cx="0" cy="0"/>
        </a:xfrm>
      </p:grpSpPr>
      <p:sp>
        <p:nvSpPr>
          <p:cNvPr id="2161" name="Google Shape;2161;p7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162" name="Google Shape;2162;p7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Rapid-fire again: mistake first, class supplies the consequence. Rows one and two restate the module's two founding arguments. Row three: check minimum-feature-width survival at the training resolution before blaming the model — the sim-res-320 simulation shows skin_split mask AP dropping ~0.19 at 320 while mould barely moves. Row four previews M5: 'where does the sugaring end?' answered differently per annotator yields noise no model learns through. Production notes worth saying aloud: store run-length encodings rather than PNGs in logs; log the mask with every area measurement so disputes are auditable; per-class area-error control charts complement M3's count charts in monitoring.</a:t>
            </a:r>
            <a:endParaRPr/>
          </a:p>
        </p:txBody>
      </p:sp>
      <p:sp>
        <p:nvSpPr>
          <p:cNvPr id="2163" name="Google Shape;2163;p7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71" name="Shape 2171"/>
        <p:cNvGrpSpPr/>
        <p:nvPr/>
      </p:nvGrpSpPr>
      <p:grpSpPr>
        <a:xfrm>
          <a:off x="0" y="0"/>
          <a:ext cx="0" cy="0"/>
          <a:chOff x="0" y="0"/>
          <a:chExt cx="0" cy="0"/>
        </a:xfrm>
      </p:grpSpPr>
      <p:sp>
        <p:nvSpPr>
          <p:cNvPr id="2172" name="Google Shape;2172;p7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173" name="Google Shape;2173;p7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Emphasise continuity: this is the M3 training call with -seg appended and two deliberate changes. Batch drops to 12 because prototype masks cost VRAM — on an 8 GB card, reduce batch before sacrificing imgsz, since resolution is what thin defects depend on. copy_paste rises to 0.3 because masked instances composite cleanly, making the augmentation stronger for segmentation. The final point is the lab's most common bug: a pair reports identical box and mask mAP because they read m.box twice — the print statements here model the correct habit of always reporting both. Launch live at the start of the walkthrough; it fits the 15-minute budget.</a:t>
            </a:r>
            <a:endParaRPr/>
          </a:p>
        </p:txBody>
      </p:sp>
      <p:sp>
        <p:nvSpPr>
          <p:cNvPr id="2174" name="Google Shape;2174;p7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05" name="Shape 2205"/>
        <p:cNvGrpSpPr/>
        <p:nvPr/>
      </p:nvGrpSpPr>
      <p:grpSpPr>
        <a:xfrm>
          <a:off x="0" y="0"/>
          <a:ext cx="0" cy="0"/>
          <a:chOff x="0" y="0"/>
          <a:chExt cx="0" cy="0"/>
        </a:xfrm>
      </p:grpSpPr>
      <p:sp>
        <p:nvSpPr>
          <p:cNvPr id="2206" name="Google Shape;2206;p7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207" name="Google Shape;2207;p7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Walk the attribution logic slowly — students implement exactly this in Lab 4 task 4. The majority-overlap rule: a defect mask is assigned to the fruit containing at least half its pixels, and its overlap contributes to that fruit's area ratio; ties are logged rather than silently resolved. Note the defensive lines: a degenerate zero-pixel fruit mask is skipped and logged upstream, and max(...,1) guards division. The final comment is a code-review checkpoint — the 8% grading threshold is applied downstream from config, because it is a versioned business decision. Connect to the measurement-level evaluation: predicted versus ground-truth area percentage is the metric the plant consumes, reported alongside mAP.</a:t>
            </a:r>
            <a:endParaRPr/>
          </a:p>
        </p:txBody>
      </p:sp>
      <p:sp>
        <p:nvSpPr>
          <p:cNvPr id="2208" name="Google Shape;2208;p7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8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39" name="Shape 2239"/>
        <p:cNvGrpSpPr/>
        <p:nvPr/>
      </p:nvGrpSpPr>
      <p:grpSpPr>
        <a:xfrm>
          <a:off x="0" y="0"/>
          <a:ext cx="0" cy="0"/>
          <a:chOff x="0" y="0"/>
          <a:chExt cx="0" cy="0"/>
        </a:xfrm>
      </p:grpSpPr>
      <p:sp>
        <p:nvSpPr>
          <p:cNvPr id="2240" name="Google Shape;2240;p8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241" name="Google Shape;2241;p8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Task 5 is the module's money moment — the frame where box-area would reject a fruit that mask-area passes (or vice versa) is the whole business case for segmentation, found by each pair in their own output. Collect two or three of these frames for the debrief and ask: 'what does this disagreement cost per day at 40,000 fruit?' Task 2's hand-computed IoU is deliberately placed so M6's matching lecture lands on prepared ground. Task 3's expected answer: skin_split has the biggest box-vs-mask gap — thin structure, boundary-dominated. Fast finishers: set retina_masks=True, re-run the area evaluation, quantify the boundary-quality dividend.</a:t>
            </a:r>
            <a:endParaRPr/>
          </a:p>
        </p:txBody>
      </p:sp>
      <p:sp>
        <p:nvSpPr>
          <p:cNvPr id="2242" name="Google Shape;2242;p8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8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91" name="Shape 2291"/>
        <p:cNvGrpSpPr/>
        <p:nvPr/>
      </p:nvGrpSpPr>
      <p:grpSpPr>
        <a:xfrm>
          <a:off x="0" y="0"/>
          <a:ext cx="0" cy="0"/>
          <a:chOff x="0" y="0"/>
          <a:chExt cx="0" cy="0"/>
        </a:xfrm>
      </p:grpSpPr>
      <p:sp>
        <p:nvSpPr>
          <p:cNvPr id="2292" name="Google Shape;2292;p8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293" name="Google Shape;2293;p8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Keep projected during the lab. Row two is the most frequent: reading the wrong metric object makes mask numbers identical to box numbers, which should be impossible on this data. Row three repeats the VRAM discipline — reduce batch before imgsz, because thin defects depend on resolution. Row four is the interesting one pedagogically: a huge area MAE almost always means the attribution logic assigns defects to the wrong fruit; the fix is to render the failing frames, not to stare at the code — the M1 visual-audit habit, now applied to masks. Row five matters for task 5's overlays: blocky masks at overlay time are a rendering-resolution artefact, not a model failure.</a:t>
            </a:r>
            <a:endParaRPr/>
          </a:p>
        </p:txBody>
      </p:sp>
      <p:sp>
        <p:nvSpPr>
          <p:cNvPr id="2294" name="Google Shape;2294;p8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8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02" name="Shape 2302"/>
        <p:cNvGrpSpPr/>
        <p:nvPr/>
      </p:nvGrpSpPr>
      <p:grpSpPr>
        <a:xfrm>
          <a:off x="0" y="0"/>
          <a:ext cx="0" cy="0"/>
          <a:chOff x="0" y="0"/>
          <a:chExt cx="0" cy="0"/>
        </a:xfrm>
      </p:grpSpPr>
      <p:sp>
        <p:nvSpPr>
          <p:cNvPr id="2303" name="Google Shape;2303;p8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304" name="Google Shape;2304;p8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Five minutes, same format as M3. Question 1 verifies the formulation decision that opened the module — anyone answering 'semantic' has missed why attribution needs instance identity. Question 2 should trigger the 'melted wax' image. Question 3 is the imbalance trap; if the class hesitates, replay the 98%-accuracy-by-predicting-nothing argument. Question 4 distinguishes the two quality axes and connects to the production point that low-quality masks on confident detections are auditable failures. Question 5 is the one most get wrong under time pressure: ratios are scale-free, absolute areas are not — the distinction the whole measurement flow was built around. Follow with the extra exercises if time allows.</a:t>
            </a:r>
            <a:br>
              <a:rPr lang="en-US"/>
            </a:br>
            <a:br>
              <a:rPr lang="en-US"/>
            </a:br>
            <a:r>
              <a:rPr lang="en-US"/>
              <a:t>ANSWERS:</a:t>
            </a:r>
            <a:br>
              <a:rPr lang="en-US"/>
            </a:br>
            <a:r>
              <a:rPr lang="en-US"/>
              <a:t>1. Instance: attribution needs object identity; semantic masks merge instances.</a:t>
            </a:r>
            <a:br>
              <a:rPr lang="en-US"/>
            </a:br>
            <a:r>
              <a:rPr lang="en-US"/>
              <a:t>2. High-resolution spatial detail; sharp boundaries.</a:t>
            </a:r>
            <a:br>
              <a:rPr lang="en-US"/>
            </a:br>
            <a:r>
              <a:rPr lang="en-US"/>
              <a:t>3. BCE is dominated by the easy negative pixels; Dice optimises overlap directly.</a:t>
            </a:r>
            <a:br>
              <a:rPr lang="en-US"/>
            </a:br>
            <a:r>
              <a:rPr lang="en-US"/>
              <a:t>4. Yes — confidence scores the detection; mask quality is a separate, auditable axis.</a:t>
            </a:r>
            <a:br>
              <a:rPr lang="en-US"/>
            </a:br>
            <a:r>
              <a:rPr lang="en-US"/>
              <a:t>5. False — ratios are scale-free; absolute areas (m²) need calibration.</a:t>
            </a:r>
            <a:endParaRPr/>
          </a:p>
        </p:txBody>
      </p:sp>
      <p:sp>
        <p:nvSpPr>
          <p:cNvPr id="2305" name="Google Shape;2305;p8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8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33" name="Shape 2333"/>
        <p:cNvGrpSpPr/>
        <p:nvPr/>
      </p:nvGrpSpPr>
      <p:grpSpPr>
        <a:xfrm>
          <a:off x="0" y="0"/>
          <a:ext cx="0" cy="0"/>
          <a:chOff x="0" y="0"/>
          <a:chExt cx="0" cy="0"/>
        </a:xfrm>
      </p:grpSpPr>
      <p:sp>
        <p:nvSpPr>
          <p:cNvPr id="2334" name="Google Shape;2334;p8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335" name="Google Shape;2335;p8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sim-fat-mask is the module's evaluation lesson made concrete: morphological dilation from an annotator's script leaked into the pipeline; the headline metric was insensitive because mask mAP@0.5 tolerates a uniformly fat boundary, while the measurement-level metrics — area MAE and the grading-disagreement rate — caught it immediately. Choose metrics at the measurement level, not just the benchmark level. Code-review expected findings: frame-area ratio is meaningless per fruit; pixel accuracy is the imbalance trap; hard-coded thresholds make the business rule unversionable. The hemisphere discussion has no single right answer — push pairs to attach costs. Foreign_object is the natural box-only candidate: presence alone triggers rejection.</a:t>
            </a:r>
            <a:endParaRPr/>
          </a:p>
        </p:txBody>
      </p:sp>
      <p:sp>
        <p:nvSpPr>
          <p:cNvPr id="2336" name="Google Shape;2336;p8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8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59" name="Shape 2359"/>
        <p:cNvGrpSpPr/>
        <p:nvPr/>
      </p:nvGrpSpPr>
      <p:grpSpPr>
        <a:xfrm>
          <a:off x="0" y="0"/>
          <a:ext cx="0" cy="0"/>
          <a:chOff x="0" y="0"/>
          <a:chExt cx="0" cy="0"/>
        </a:xfrm>
      </p:grpSpPr>
      <p:sp>
        <p:nvSpPr>
          <p:cNvPr id="2360" name="Google Shape;2360;p8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361" name="Google Shape;2361;p8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Facilitate, don't lecture. Semantic formulation — total area per class is the deliverable; per-crack payment would flip it to instance. Calibration: per-frame ground sampling distance from camera geometry plus IMU-corrected height, validated weekly against painted reference plates; the error budget propagates to a documented ±6% on the m² figure. Thin-crack limit made explicit: under 3 mm is contractually 'detected but not billable' — an honest capability statement. Glare and shadow false positives: targeted augmentation plus a hard-negative mining round (M5). Every billed segment stores frame + mask + calibration record — the dispute-resolution evidence pack; low-confidence regions route to human review, budgeted at 4% of frames. Q4: measurement instruments need neutral custody — joint annotation spec, third-party eval split.</a:t>
            </a:r>
            <a:endParaRPr/>
          </a:p>
        </p:txBody>
      </p:sp>
      <p:sp>
        <p:nvSpPr>
          <p:cNvPr id="2362" name="Google Shape;2362;p8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8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81" name="Shape 2381"/>
        <p:cNvGrpSpPr/>
        <p:nvPr/>
      </p:nvGrpSpPr>
      <p:grpSpPr>
        <a:xfrm>
          <a:off x="0" y="0"/>
          <a:ext cx="0" cy="0"/>
          <a:chOff x="0" y="0"/>
          <a:chExt cx="0" cy="0"/>
        </a:xfrm>
      </p:grpSpPr>
      <p:sp>
        <p:nvSpPr>
          <p:cNvPr id="2382" name="Google Shape;2382;p8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383" name="Google Shape;2383;p8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Close Day 2 on the numbers. Note the deliberate structure: one model-quality metric (mask mAP at least 0.80), then two measurement-quality metrics (MAE at most 1.5 percentage points, grading disagreement at most 3%) — the module's argument encoded as targets. The reference run: mask mAP 0.823, MAE 1.12 pp, disagreement 2.1%. Point at the per-class example table: skin_split's box-to-mask gap of 0.118 is the largest — thin, boundary-dominated structure — and its area MAE of 2.1 pp shows why. End-of-day check: every pair leaves with both models checkpointed for the capstone, BENCHMARKS.md updated, and tomorrow's theme trailed — data is the system.</a:t>
            </a:r>
            <a:endParaRPr/>
          </a:p>
        </p:txBody>
      </p:sp>
      <p:sp>
        <p:nvSpPr>
          <p:cNvPr id="2384" name="Google Shape;2384;p8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8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92" name="Shape 2392"/>
        <p:cNvGrpSpPr/>
        <p:nvPr/>
      </p:nvGrpSpPr>
      <p:grpSpPr>
        <a:xfrm>
          <a:off x="0" y="0"/>
          <a:ext cx="0" cy="0"/>
          <a:chOff x="0" y="0"/>
          <a:chExt cx="0" cy="0"/>
        </a:xfrm>
      </p:grpSpPr>
      <p:sp>
        <p:nvSpPr>
          <p:cNvPr id="2393" name="Google Shape;2393;p8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394" name="Google Shape;2394;p8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Frame the day: for two days participants trained models on data they were handed; today they own the data problem itself — the system component with the highest leverage and the least engineering discipline. Day 3 is 40% theory, 60% lab. Rotate pairs: error analysis benefits most from mixing a strong-PyTorch participant with a strong-domain-intuition one. Lab 5 is one of the two most overrun-prone labs (annotation time) — have the dates-qc-v2-reference snapshot published so stragglers can fast-forward. Hour 2 is deliberately flexible for prayer scheduling; place the long break around Dhuhr.</a:t>
            </a:r>
            <a:endParaRPr/>
          </a:p>
        </p:txBody>
      </p:sp>
      <p:sp>
        <p:nvSpPr>
          <p:cNvPr id="2395" name="Google Shape;2395;p8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8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23" name="Shape 2423"/>
        <p:cNvGrpSpPr/>
        <p:nvPr/>
      </p:nvGrpSpPr>
      <p:grpSpPr>
        <a:xfrm>
          <a:off x="0" y="0"/>
          <a:ext cx="0" cy="0"/>
          <a:chOff x="0" y="0"/>
          <a:chExt cx="0" cy="0"/>
        </a:xfrm>
      </p:grpSpPr>
      <p:sp>
        <p:nvSpPr>
          <p:cNvPr id="2424" name="Google Shape;2424;p8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425" name="Google Shape;2425;p8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One minute per row. Hour 1 covers annotation specs, agreement, error hunting, active learning and versioning, with a live annotation-tool walkthrough. Hour 2's lab audits v1 and cuts the versioned v2 release. Hour 3 derives IoU, precision-recall and mAP on the whiteboard; Hour 4 builds the evaluation harness. Hour 5 is the emotional payoff: retrain on v2, quantify the data-quality dividend against v1, then the capstone briefing and milestone M-A check. Remind pairs to record v1 baseline numbers during Lab 5 — the Hour 5 comparison depends on them.</a:t>
            </a:r>
            <a:endParaRPr/>
          </a:p>
        </p:txBody>
      </p:sp>
      <p:sp>
        <p:nvSpPr>
          <p:cNvPr id="2426" name="Google Shape;2426;p8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8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34" name="Shape 2434"/>
        <p:cNvGrpSpPr/>
        <p:nvPr/>
      </p:nvGrpSpPr>
      <p:grpSpPr>
        <a:xfrm>
          <a:off x="0" y="0"/>
          <a:ext cx="0" cy="0"/>
          <a:chOff x="0" y="0"/>
          <a:chExt cx="0" cy="0"/>
        </a:xfrm>
      </p:grpSpPr>
      <p:sp>
        <p:nvSpPr>
          <p:cNvPr id="2435" name="Google Shape;2435;p8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436" name="Google Shape;2436;p8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Position the module: in production vision the dataset is not an input — it is THE system component with the highest leverage and the least discipline applied to it. Participants will write specs that survive contact with real annotators, measure label quality with inter-annotator agreement, hunt label errors using the models they already trained, decide what to label next with active-learning economics, and version datasets with the rigour SDA-AIE-113 taught for code. Preview: this module closes M3's 'insect_damage cannot meet spec' gap — with data, not architecture.</a:t>
            </a:r>
            <a:endParaRPr/>
          </a:p>
        </p:txBody>
      </p:sp>
      <p:sp>
        <p:nvSpPr>
          <p:cNvPr id="2437" name="Google Shape;2437;p8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8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65" name="Shape 2465"/>
        <p:cNvGrpSpPr/>
        <p:nvPr/>
      </p:nvGrpSpPr>
      <p:grpSpPr>
        <a:xfrm>
          <a:off x="0" y="0"/>
          <a:ext cx="0" cy="0"/>
          <a:chOff x="0" y="0"/>
          <a:chExt cx="0" cy="0"/>
        </a:xfrm>
      </p:grpSpPr>
      <p:sp>
        <p:nvSpPr>
          <p:cNvPr id="2466" name="Google Shape;2466;p8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467" name="Google Shape;2467;p8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Walk the numbers left to right. Label budgets are typically 40-70% of total build cost and are routinely wasted: ambiguous specs produce noisy labels no architecture can rescue; random sampling labels thousands of easy frames while the hard 2% stays unlabelled; unversioned datasets make every metric claim unreproducible. Saudi organisations increasingly outsource annotation — the spec becomes a contract, and PDPL turns annotation access into a data-protection question whenever people appear in frame. Land the punchline: the engineers who control these levers ship better models for less money.</a:t>
            </a:r>
            <a:endParaRPr/>
          </a:p>
        </p:txBody>
      </p:sp>
      <p:sp>
        <p:nvSpPr>
          <p:cNvPr id="2468" name="Google Shape;2468;p8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9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92" name="Shape 2492"/>
        <p:cNvGrpSpPr/>
        <p:nvPr/>
      </p:nvGrpSpPr>
      <p:grpSpPr>
        <a:xfrm>
          <a:off x="0" y="0"/>
          <a:ext cx="0" cy="0"/>
          <a:chOff x="0" y="0"/>
          <a:chExt cx="0" cy="0"/>
        </a:xfrm>
      </p:grpSpPr>
      <p:sp>
        <p:nvSpPr>
          <p:cNvPr id="2493" name="Google Shape;2493;p9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494" name="Google Shape;2494;p9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Three shapes of the same lesson. Tamr Vision is the course thread: the v2 dataset built today delivers more improvement than any architecture change tried in M2-M4 — say that sentence explicitly. The Al-Ahsa palm survey previews the case study: an honest vendor plus an under-specified taxonomy equals systematic label swaps and a 60,000-riyal relabelling round. The retail example shows active-learning economics at scale: 300 frames from 2 million captured. Ask the class which failure they think is most common in practice — it is the ambiguous spec, every time.</a:t>
            </a:r>
            <a:endParaRPr/>
          </a:p>
        </p:txBody>
      </p:sp>
      <p:sp>
        <p:nvSpPr>
          <p:cNvPr id="2495" name="Google Shape;2495;p9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9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17" name="Shape 2517"/>
        <p:cNvGrpSpPr/>
        <p:nvPr/>
      </p:nvGrpSpPr>
      <p:grpSpPr>
        <a:xfrm>
          <a:off x="0" y="0"/>
          <a:ext cx="0" cy="0"/>
          <a:chOff x="0" y="0"/>
          <a:chExt cx="0" cy="0"/>
        </a:xfrm>
      </p:grpSpPr>
      <p:sp>
        <p:nvSpPr>
          <p:cNvPr id="2518" name="Google Shape;2518;p9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519" name="Google Shape;2519;p9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Read the objectives as a workflow, not a list: write the spec (5.1), measure whether annotators can follow it (5.2), hunt the errors already in the data (5.3), decide what to label next (5.4), and ship the result as a versioned release (5.5). All five map to LO3, with 5.2 and 5.3 also feeding LO5 because label quality sets the ceiling on every evaluation number in Module 6. Every objective is exercised in Lab 5 this afternoon — nothing here is theory-only.</a:t>
            </a:r>
            <a:endParaRPr/>
          </a:p>
        </p:txBody>
      </p:sp>
      <p:sp>
        <p:nvSpPr>
          <p:cNvPr id="2520" name="Google Shape;2520;p9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9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61" name="Shape 2561"/>
        <p:cNvGrpSpPr/>
        <p:nvPr/>
      </p:nvGrpSpPr>
      <p:grpSpPr>
        <a:xfrm>
          <a:off x="0" y="0"/>
          <a:ext cx="0" cy="0"/>
          <a:chOff x="0" y="0"/>
          <a:chExt cx="0" cy="0"/>
        </a:xfrm>
      </p:grpSpPr>
      <p:sp>
        <p:nvSpPr>
          <p:cNvPr id="2562" name="Google Shape;2562;p9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563" name="Google Shape;2563;p9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Walk the layers top to bottom. Names alone are not a taxonomy — the sugaring/mould co-occurrence rule that v1 lacked caused a third of its label errors. Boundary rules fix what M4's boundary court showed: three honest annotators, three boundaries, one rule. The gallery is the highest-ROI page: annotators learn from examples, not prose. Missing negative definitions produce over-labelling drift. QA closes the loop: ambiguous items go to a queue the domain expert clears weekly, and those become spec updates. Emphasise spec versioning: the manifest carries spec_version per annotation — v1 and v2 labels never mix silently.</a:t>
            </a:r>
            <a:endParaRPr/>
          </a:p>
        </p:txBody>
      </p:sp>
      <p:sp>
        <p:nvSpPr>
          <p:cNvPr id="2564" name="Google Shape;2564;p9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9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87" name="Shape 2587"/>
        <p:cNvGrpSpPr/>
        <p:nvPr/>
      </p:nvGrpSpPr>
      <p:grpSpPr>
        <a:xfrm>
          <a:off x="0" y="0"/>
          <a:ext cx="0" cy="0"/>
          <a:chOff x="0" y="0"/>
          <a:chExt cx="0" cy="0"/>
        </a:xfrm>
      </p:grpSpPr>
      <p:sp>
        <p:nvSpPr>
          <p:cNvPr id="2588" name="Google Shape;2588;p9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589" name="Google Shape;2589;p9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CVAT and Label Studio both support this loop; the walkthrough shows pre-labelling live. The economics are the flywheel: 2 seconds correcting versus 7 drawing. Then spend real time on the red exit — annotators anchor on drafts and under-correct, so systematic model errors get confirmed into the dataset and the next model learns its own mistakes harder. Three defences, all course defaults: confidence floors on drafts, 15% of frames annotated from scratch, and per-annotator correction-rate monitoring — a 0% correction rate is a red flag, not a compliment. Note the PDPL gate on the capture edge: masking and access control before vendor export. Small batches (200-400 frames) with per-batch QA; feedback goes privately.</a:t>
            </a:r>
            <a:endParaRPr/>
          </a:p>
        </p:txBody>
      </p:sp>
      <p:sp>
        <p:nvSpPr>
          <p:cNvPr id="2590" name="Google Shape;2590;p9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9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20" name="Shape 2620"/>
        <p:cNvGrpSpPr/>
        <p:nvPr/>
      </p:nvGrpSpPr>
      <p:grpSpPr>
        <a:xfrm>
          <a:off x="0" y="0"/>
          <a:ext cx="0" cy="0"/>
          <a:chOff x="0" y="0"/>
          <a:chExt cx="0" cy="0"/>
        </a:xfrm>
      </p:grpSpPr>
      <p:sp>
        <p:nvSpPr>
          <p:cNvPr id="2621" name="Google Shape;2621;p9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622" name="Google Shape;2622;p9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Kappa corrects agreement for chance — with imbalanced classes raw percent agreement flatters. Below 0.75, stop labelling and fix the spec; labelling into a broken spec burns budget. High class agreement with low localisation agreement means boundary rules, not taxonomy, need work — that distinction routes the fix. Gold tasks catch what pairwise agreement cannot: two annotators sharing the same misunderstanding agree perfectly and are both wrong. The honest baseline matters most: measure agreement before training anything ambitious — a model asked to beat kappa 0.7 labels is being asked to out-agree its own teachers. That number belongs next to mAP in the model card.</a:t>
            </a:r>
            <a:endParaRPr/>
          </a:p>
        </p:txBody>
      </p:sp>
      <p:sp>
        <p:nvSpPr>
          <p:cNvPr id="2623" name="Google Shape;2623;p9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9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32" name="Shape 2632"/>
        <p:cNvGrpSpPr/>
        <p:nvPr/>
      </p:nvGrpSpPr>
      <p:grpSpPr>
        <a:xfrm>
          <a:off x="0" y="0"/>
          <a:ext cx="0" cy="0"/>
          <a:chOff x="0" y="0"/>
          <a:chExt cx="0" cy="0"/>
        </a:xfrm>
      </p:grpSpPr>
      <p:sp>
        <p:nvSpPr>
          <p:cNvPr id="2633" name="Google Shape;2633;p9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634" name="Google Shape;2634;p9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This is the cleanlab idea taught mechanically: cross-validated predictions beat in-sample where feasible, but even in-sample loss ranking finds the concentrated mass — 70% of planted-and-real errors in the top 300. Enforce triage discipline: label error, model error, or genuinely ambiguous; auditor bias is real, so fixes go through the same QA as new annotation. The stats panel is the experiment every stakeholder deck should contain: 800 actively-selected frames lift insect_damage AP by 0.09 while the matched random control lifts it by 0.03. Targeted acquisition — M3's '400 more hard mould examples' — is active learning driven by slice-level evaluation. Negatives are labelled data too: M4's glare and shadow false positives are acquired by hard-negative mining.</a:t>
            </a:r>
            <a:endParaRPr/>
          </a:p>
        </p:txBody>
      </p:sp>
      <p:sp>
        <p:nvSpPr>
          <p:cNvPr id="2635" name="Google Shape;2635;p9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9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70" name="Shape 2670"/>
        <p:cNvGrpSpPr/>
        <p:nvPr/>
      </p:nvGrpSpPr>
      <p:grpSpPr>
        <a:xfrm>
          <a:off x="0" y="0"/>
          <a:ext cx="0" cy="0"/>
          <a:chOff x="0" y="0"/>
          <a:chExt cx="0" cy="0"/>
        </a:xfrm>
      </p:grpSpPr>
      <p:sp>
        <p:nvSpPr>
          <p:cNvPr id="2671" name="Google Shape;2671;p9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672" name="Google Shape;2672;p9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Each row is a budget story. The gallery row: one day of spec work versus a full relabelling round. The kappa 0.72 row is the most common in practice — teams train ever-bigger models against noisy labels and blame the architecture. The uncertainty-only row: the batch collapses onto motion-blurred frames while other failure modes starve. The test-split row previews M6: the moment a 'unfair' item is removed, cross-version comparisons are dead. Close with production reality: the release process runs continuously after deployment — annotation is an operating cost, not a project phase, and dataset lineage is an audit requirement in regulated deployments.</a:t>
            </a:r>
            <a:endParaRPr/>
          </a:p>
        </p:txBody>
      </p:sp>
      <p:sp>
        <p:nvSpPr>
          <p:cNvPr id="2673" name="Google Shape;2673;p9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9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81" name="Shape 2681"/>
        <p:cNvGrpSpPr/>
        <p:nvPr/>
      </p:nvGrpSpPr>
      <p:grpSpPr>
        <a:xfrm>
          <a:off x="0" y="0"/>
          <a:ext cx="0" cy="0"/>
          <a:chOff x="0" y="0"/>
          <a:chExt cx="0" cy="0"/>
        </a:xfrm>
      </p:grpSpPr>
      <p:sp>
        <p:nvSpPr>
          <p:cNvPr id="2682" name="Google Shape;2682;p9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683" name="Google Shape;2683;p9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Demo this live before the lab: run the audit and open the number-one ranked item on the projector — it is a planted, obvious label error, and the gasp is the point. Walk the mechanics: eval mode, no grad, per-item cross-entropy with reduction none, then sort descending by loss. A confident prediction disagreeing with its label is the signature of a label error. Common question: why audit the training set the model already saw? Because memorised-but-wrong items still show elevated loss, and cross-validated prediction — the full cleanlab recipe — is the upgrade path when it matters. Top 300 go to the three-way triage sheet in Lab 5.</a:t>
            </a:r>
            <a:endParaRPr/>
          </a:p>
        </p:txBody>
      </p:sp>
      <p:sp>
        <p:nvSpPr>
          <p:cNvPr id="2684" name="Google Shape;2684;p9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9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15" name="Shape 2715"/>
        <p:cNvGrpSpPr/>
        <p:nvPr/>
      </p:nvGrpSpPr>
      <p:grpSpPr>
        <a:xfrm>
          <a:off x="0" y="0"/>
          <a:ext cx="0" cy="0"/>
          <a:chOff x="0" y="0"/>
          <a:chExt cx="0" cy="0"/>
        </a:xfrm>
      </p:grpSpPr>
      <p:sp>
        <p:nvSpPr>
          <p:cNvPr id="2716" name="Google Shape;2716;p9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717" name="Google Shape;2717;p9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The point of implementing this by hand: understand the mechanism before adopting DVC or similar tools. Each manifest row carries the file's SHA-256; the release hash covers the manifest, so verification is cheap and silent mutation impossible. Hammer the split freeze: the test split is frozen at v1 and only ever gains items — new sessions assign to splits by hash of session_id, deterministic and argument-free. The changelog separates cleaning from new data so when v2 lifts mAP by 0.04 you can say how much came from each — the discipline that pays off in every retrospective. Governance closes the loop: vendor contracts name the spec version, QA thresholds and rework terms; access to releases is logged for PDPL.</a:t>
            </a:r>
            <a:endParaRPr/>
          </a:p>
        </p:txBody>
      </p:sp>
      <p:sp>
        <p:nvSpPr>
          <p:cNvPr id="2718" name="Google Shape;2718;p9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9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49" name="Shape 2749"/>
        <p:cNvGrpSpPr/>
        <p:nvPr/>
      </p:nvGrpSpPr>
      <p:grpSpPr>
        <a:xfrm>
          <a:off x="0" y="0"/>
          <a:ext cx="0" cy="0"/>
          <a:chOff x="0" y="0"/>
          <a:chExt cx="0" cy="0"/>
        </a:xfrm>
      </p:grpSpPr>
      <p:sp>
        <p:nvSpPr>
          <p:cNvPr id="2750" name="Google Shape;2750;p9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751" name="Google Shape;2751;p9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The triage discipline is the assessable behaviour: pairs that mark everything 'label error' and mass-fix without the QA step have missed the auditor-bias point — ask them who audits the auditor. Expect roughly 60% label errors in the top 40: the set contains 25 planted errors plus v1's real ones. Task 3's confusion matrix is engineered to point at the sugaring/skin_split cell so the spec-fix loop closes visibly. Make each pair predict their v2 delta before Hour 5 and confront the prediction after. Offline fallback: the triage CSV workflow. Fast finishers compute per-annotator kappa against gold tasks and draft the private feedback note for the weakest performer.</a:t>
            </a:r>
            <a:endParaRPr/>
          </a:p>
        </p:txBody>
      </p:sp>
      <p:sp>
        <p:nvSpPr>
          <p:cNvPr id="2752" name="Google Shape;2752;p9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0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01" name="Shape 2801"/>
        <p:cNvGrpSpPr/>
        <p:nvPr/>
      </p:nvGrpSpPr>
      <p:grpSpPr>
        <a:xfrm>
          <a:off x="0" y="0"/>
          <a:ext cx="0" cy="0"/>
          <a:chOff x="0" y="0"/>
          <a:chExt cx="0" cy="0"/>
        </a:xfrm>
      </p:grpSpPr>
      <p:sp>
        <p:nvSpPr>
          <p:cNvPr id="2802" name="Google Shape;2802;p10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803" name="Google Shape;2803;p10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Walk this table before the lab starts, not during. The underfit-checkpoint row is the most frequent: if the top-40 looks like all model errors, the pair loaded an early checkpoint — have them verify val F1 first. Kappa exactly 1.0 always means a join bug where an annotator is compared against themselves. The release-hash row teaches a portability lesson worth thirty seconds: hash bytes, not text, because line endings mutate across machines. The split-freeze failure means the v2 manifest re-assigned a shared session — restore the split column from v1. Keep the reference dataset snapshot ready for pairs who fall badly behind.</a:t>
            </a:r>
            <a:endParaRPr/>
          </a:p>
        </p:txBody>
      </p:sp>
      <p:sp>
        <p:nvSpPr>
          <p:cNvPr id="2804" name="Google Shape;2804;p10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0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12" name="Shape 2812"/>
        <p:cNvGrpSpPr/>
        <p:nvPr/>
      </p:nvGrpSpPr>
      <p:grpSpPr>
        <a:xfrm>
          <a:off x="0" y="0"/>
          <a:ext cx="0" cy="0"/>
          <a:chOff x="0" y="0"/>
          <a:chExt cx="0" cy="0"/>
        </a:xfrm>
      </p:grpSpPr>
      <p:sp>
        <p:nvSpPr>
          <p:cNvPr id="2813" name="Google Shape;2813;p10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814" name="Google Shape;2814;p10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Run as a rapid whole-class check, one minute per question. Question 2 is the one that catches people: agreement is consistency, not correctness — gold tasks exist precisely because two annotators can share the same misunderstanding. On question 3, insist on the destination: ambiguous items are not noise, they are the raw material of the next spec version. Question 5 links back to the anchor-bias warning on the flywheel slide; if the class hesitates, replay the argument — drafts get under-corrected, and the next model learns its own mistakes harder. Answers appear in the speaker notes of the rendered deck.</a:t>
            </a:r>
            <a:br>
              <a:rPr lang="en-US"/>
            </a:br>
            <a:br>
              <a:rPr lang="en-US"/>
            </a:br>
            <a:r>
              <a:rPr lang="en-US"/>
              <a:t>ANSWERS:</a:t>
            </a:r>
            <a:br>
              <a:rPr lang="en-US"/>
            </a:br>
            <a:r>
              <a:rPr lang="en-US"/>
              <a:t>1. It corrects for chance agreement; imbalanced classes make raw agreement flattering.</a:t>
            </a:r>
            <a:br>
              <a:rPr lang="en-US"/>
            </a:br>
            <a:r>
              <a:rPr lang="en-US"/>
              <a:t>2. Shared misunderstanding of the spec — agreement measures consistency, not correctness.</a:t>
            </a:r>
            <a:br>
              <a:rPr lang="en-US"/>
            </a:br>
            <a:r>
              <a:rPr lang="en-US"/>
              <a:t>3. Label error / model error / genuinely ambiguous — the ambiguous pile feeds the spec's edge-case gallery.</a:t>
            </a:r>
            <a:br>
              <a:rPr lang="en-US"/>
            </a:br>
            <a:r>
              <a:rPr lang="en-US"/>
              <a:t>4. Cross-version metric comparisons become meaningless. Freeze the split; additions only, flagged in the changelog.</a:t>
            </a:r>
            <a:br>
              <a:rPr lang="en-US"/>
            </a:br>
            <a:r>
              <a:rPr lang="en-US"/>
              <a:t>5. False — without correction-rate monitoring it launders model errors into ground truth.</a:t>
            </a:r>
            <a:endParaRPr/>
          </a:p>
        </p:txBody>
      </p:sp>
      <p:sp>
        <p:nvSpPr>
          <p:cNvPr id="2815" name="Google Shape;2815;p10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0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43" name="Shape 2843"/>
        <p:cNvGrpSpPr/>
        <p:nvPr/>
      </p:nvGrpSpPr>
      <p:grpSpPr>
        <a:xfrm>
          <a:off x="0" y="0"/>
          <a:ext cx="0" cy="0"/>
          <a:chOff x="0" y="0"/>
          <a:chExt cx="0" cy="0"/>
        </a:xfrm>
      </p:grpSpPr>
      <p:sp>
        <p:nvSpPr>
          <p:cNvPr id="2844" name="Google Shape;2844;p10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845" name="Google Shape;2845;p10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Use these as differentiation. The sim-anchor-bias branch is the strongest: every model guess was shown as a draft, so the val split was relabelled with anchored drafts while the frozen test stayed honest — val rises, test falls; defences are the confidence floor and the from-scratch fraction. The code-review PR contains all three cardinal sins from the mistakes table; expect participants to spot the test-split edit first and the missing changelog last. The vendor discussion forces a real calculation: the discount evaporates once rework at low kappa is priced. The PDPL discussion has no single right answer — push for named sign-off.</a:t>
            </a:r>
            <a:endParaRPr/>
          </a:p>
        </p:txBody>
      </p:sp>
      <p:sp>
        <p:nvSpPr>
          <p:cNvPr id="2846" name="Google Shape;2846;p10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0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69" name="Shape 2869"/>
        <p:cNvGrpSpPr/>
        <p:nvPr/>
      </p:nvGrpSpPr>
      <p:grpSpPr>
        <a:xfrm>
          <a:off x="0" y="0"/>
          <a:ext cx="0" cy="0"/>
          <a:chOff x="0" y="0"/>
          <a:chExt cx="0" cy="0"/>
        </a:xfrm>
      </p:grpSpPr>
      <p:sp>
        <p:nvSpPr>
          <p:cNvPr id="2870" name="Google Shape;2870;p10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871" name="Google Shape;2871;p10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Facilitate, don't lecture. Instrument before blaming: an internal 2,000-canopy double-annotation gives kappa 0.58 on pest-vs-drought and near-perfect on healthy/dead — the taxonomy is under-specified, not the vendor lazy. Field-verifying 600 canopies stratified by model confidence shows 24% of pest labels wrong: the model faithfully learned a confused spec, which answers question 1 (val shared the labels' confusion — the ceiling argument). Fix: spec v2 with an agronomist-shot reference gallery, an 'uncertain — needs field check' class, gold tasks per batch. Budget: 8,000 relabels by model disagreement, 2,000 gold tasks, 45,000 new canopies by uncertainty sampling stratified across regions. Contract v2 names kappa &gt;= 0.8 on the pest/drought pair with rework at vendor cost.</a:t>
            </a:r>
            <a:endParaRPr/>
          </a:p>
        </p:txBody>
      </p:sp>
      <p:sp>
        <p:nvSpPr>
          <p:cNvPr id="2872" name="Google Shape;2872;p10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0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91" name="Shape 2891"/>
        <p:cNvGrpSpPr/>
        <p:nvPr/>
      </p:nvGrpSpPr>
      <p:grpSpPr>
        <a:xfrm>
          <a:off x="0" y="0"/>
          <a:ext cx="0" cy="0"/>
          <a:chOff x="0" y="0"/>
          <a:chExt cx="0" cy="0"/>
        </a:xfrm>
      </p:grpSpPr>
      <p:sp>
        <p:nvSpPr>
          <p:cNvPr id="2892" name="Google Shape;2892;p10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893" name="Google Shape;2893;p10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These are the pass bars for the module, all machine- or key-checkable except triage accuracy. Point at the last row: the v2 retrain delta is measured in Hour 5 on the frozen test split — insect_damage AP must improve by at least 0.05 over v1. The reference numbers from the course run: classifier macro-F1 0.90 to 0.92 from 447 relabels; detector mAP@0.5 0.872 to 0.903 from cleaning plus 800 AL frames; insect_damage AP 0.798 to 0.887 with the random control managing only +0.031; kappa 0.792 to 0.861 from the spec v2 boundary rules. Every claim is attributable because cleaning and additions were measured separately.</a:t>
            </a:r>
            <a:endParaRPr/>
          </a:p>
        </p:txBody>
      </p:sp>
      <p:sp>
        <p:nvSpPr>
          <p:cNvPr id="2894" name="Google Shape;2894;p10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0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02" name="Shape 2902"/>
        <p:cNvGrpSpPr/>
        <p:nvPr/>
      </p:nvGrpSpPr>
      <p:grpSpPr>
        <a:xfrm>
          <a:off x="0" y="0"/>
          <a:ext cx="0" cy="0"/>
          <a:chOff x="0" y="0"/>
          <a:chExt cx="0" cy="0"/>
        </a:xfrm>
      </p:grpSpPr>
      <p:sp>
        <p:nvSpPr>
          <p:cNvPr id="2903" name="Google Shape;2903;p10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904" name="Google Shape;2904;p10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Position the module: every module so far consumed metrics; this one makes participants produce them from first principles and — more importantly — distrust them intelligently. They implement IoU matching and mAP by hand once, so the numbers stop being framework magic, then build the course's evaluation harness: frozen splits, deterministic runs, per-class and per-slice reporting, a detection error taxonomy, and operating-point analysis. The harness is itself a deliverable — it referees the capstone and becomes the regression gate SDA-AIE-216 will automate. The written error-analysis report from Lab 6 plus Hour 5 is a graded deliverable.</a:t>
            </a:r>
            <a:endParaRPr/>
          </a:p>
        </p:txBody>
      </p:sp>
      <p:sp>
        <p:nvSpPr>
          <p:cNvPr id="2905" name="Google Shape;2905;p10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0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33" name="Shape 2933"/>
        <p:cNvGrpSpPr/>
        <p:nvPr/>
      </p:nvGrpSpPr>
      <p:grpSpPr>
        <a:xfrm>
          <a:off x="0" y="0"/>
          <a:ext cx="0" cy="0"/>
          <a:chOff x="0" y="0"/>
          <a:chExt cx="0" cy="0"/>
        </a:xfrm>
      </p:grpSpPr>
      <p:sp>
        <p:nvSpPr>
          <p:cNvPr id="2934" name="Google Shape;2934;p10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935" name="Google Shape;2935;p10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Three scales of the same discipline. The Tamr harness is what participants build today — stress that it is what made this morning's v2 claim defensible: without a frozen split and per-slice reporting, +0.089 on insect_damage could be test-set drift. The Riyadh traffic example previews the case study; hold the details. The bank example introduces the idea of evaluation as a witnessed, contractual event: both parties run the same harness on the same frozen documents, and when they disagree they look at frames, not tables. Ask who in the room has seen an acceptance test done by vendor demo — most have.</a:t>
            </a:r>
            <a:endParaRPr/>
          </a:p>
        </p:txBody>
      </p:sp>
      <p:sp>
        <p:nvSpPr>
          <p:cNvPr id="2936" name="Google Shape;2936;p10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0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58" name="Shape 2958"/>
        <p:cNvGrpSpPr/>
        <p:nvPr/>
      </p:nvGrpSpPr>
      <p:grpSpPr>
        <a:xfrm>
          <a:off x="0" y="0"/>
          <a:ext cx="0" cy="0"/>
          <a:chOff x="0" y="0"/>
          <a:chExt cx="0" cy="0"/>
        </a:xfrm>
      </p:grpSpPr>
      <p:sp>
        <p:nvSpPr>
          <p:cNvPr id="2959" name="Google Shape;2959;p10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960" name="Google Shape;2960;p10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Open with the contract framing: an engineer who can only say 'mAP is 0.87' cannot answer the questions that decide renewals — what is the escape rate on the defect class that triggers retailer audits, does the system degrade at night or shift change, on the smallest fruit? Recall the M1 hospital case by name; participants have seen it and it is the canonical shape of aggregate blindness. The acceptance-testing point lands hardest with anyone who has been near procurement: handing over a harness plus frozen split beats handing over a PDF of numbers, because reproducibility is the trust mechanism.</a:t>
            </a:r>
            <a:endParaRPr/>
          </a:p>
        </p:txBody>
      </p:sp>
      <p:sp>
        <p:nvSpPr>
          <p:cNvPr id="2961" name="Google Shape;2961;p10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0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84" name="Shape 2984"/>
        <p:cNvGrpSpPr/>
        <p:nvPr/>
      </p:nvGrpSpPr>
      <p:grpSpPr>
        <a:xfrm>
          <a:off x="0" y="0"/>
          <a:ext cx="0" cy="0"/>
          <a:chOff x="0" y="0"/>
          <a:chExt cx="0" cy="0"/>
        </a:xfrm>
      </p:grpSpPr>
      <p:sp>
        <p:nvSpPr>
          <p:cNvPr id="2985" name="Google Shape;2985;p10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986" name="Google Shape;2986;p10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The arc: implement the primitive (6.1), interpret what it produces (6.2), then distrust it in the three productive ways — slice it (6.3), classify the errors behind it (6.4), and make it reproducible enough to bet a contract on (6.5). Note the cross-mappings: 6.3 feeds LO3 because slice findings drive data acquisition back in Module 5's loop, and 6.5 feeds LO6 because the harness becomes CI/CD infrastructure in SDA-AIE-216. Lab 6 exercises all five; the error-analysis report is the day's written deliverable and the best predictor of capstone quality.</a:t>
            </a:r>
            <a:endParaRPr/>
          </a:p>
        </p:txBody>
      </p:sp>
      <p:sp>
        <p:nvSpPr>
          <p:cNvPr id="2987" name="Google Shape;2987;p10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0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30" name="Shape 3030"/>
        <p:cNvGrpSpPr/>
        <p:nvPr/>
      </p:nvGrpSpPr>
      <p:grpSpPr>
        <a:xfrm>
          <a:off x="0" y="0"/>
          <a:ext cx="0" cy="0"/>
          <a:chOff x="0" y="0"/>
          <a:chExt cx="0" cy="0"/>
        </a:xfrm>
      </p:grpSpPr>
      <p:sp>
        <p:nvSpPr>
          <p:cNvPr id="3031" name="Google Shape;3031;p10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032" name="Google Shape;3032;p10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Walk the four steps on the whiteboard with a drawn frame of four ground truths and six predictions — this is the module's anchor image. Then dwell on the two red exits. Greedy matching in confidence order means a confident sloppy box can steal the GT from a later, more precise one — this is the usual culprit when hand-computed AP disagrees with the framework. The same-class constraint means a perfect box with the wrong class is a false positive and leaves a false negative: double punishment, correctly. Close with the framing sentence: the IoU threshold is a definition of correct, not a tuning knob. Mask IoU substitutes pixel overlap and everything else carries over from M4's hand exercise.</a:t>
            </a:r>
            <a:endParaRPr/>
          </a:p>
        </p:txBody>
      </p:sp>
      <p:sp>
        <p:nvSpPr>
          <p:cNvPr id="3033" name="Google Shape;3033;p10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62" name="Shape 3062"/>
        <p:cNvGrpSpPr/>
        <p:nvPr/>
      </p:nvGrpSpPr>
      <p:grpSpPr>
        <a:xfrm>
          <a:off x="0" y="0"/>
          <a:ext cx="0" cy="0"/>
          <a:chOff x="0" y="0"/>
          <a:chExt cx="0" cy="0"/>
        </a:xfrm>
      </p:grpSpPr>
      <p:sp>
        <p:nvSpPr>
          <p:cNvPr id="3063" name="Google Shape;3063;p1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064" name="Google Shape;3064;p11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Build the PR curve first: sweep confidence high to low; each prediction either extends recall or drops precision; AP is the interpolated area, and mAP averages over classes. That innocuous averaging is where dashboards go to lie — a 310-instance foreign_object class weighs exactly as much as an 1,860-instance mould class. Then the variants: mAP@0.5 asks whether things are found and roughly localised; the COCO variant additionally rewards tight boxes. Tamr Vision cares because eject-gate targeting uses box centres; M4's road-crack case cares because area is money. End on the bridge: AP summarises all operating points, but the line runs at exactly one.</a:t>
            </a:r>
            <a:endParaRPr/>
          </a:p>
        </p:txBody>
      </p:sp>
      <p:sp>
        <p:nvSpPr>
          <p:cNvPr id="3065" name="Google Shape;3065;p11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83" name="Shape 3083"/>
        <p:cNvGrpSpPr/>
        <p:nvPr/>
      </p:nvGrpSpPr>
      <p:grpSpPr>
        <a:xfrm>
          <a:off x="0" y="0"/>
          <a:ext cx="0" cy="0"/>
          <a:chOff x="0" y="0"/>
          <a:chExt cx="0" cy="0"/>
        </a:xfrm>
      </p:grpSpPr>
      <p:sp>
        <p:nvSpPr>
          <p:cNvPr id="3084" name="Google Shape;3084;p1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085" name="Google Shape;3085;p11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This is the module's thesis slide — the iceberg. The stats panel shows exactly what participants will discover in Lab 6: a healthy 0.872 aggregate hiding a 0.71-recall evening-session slice they would have shipped. Walk the slice families: class is standard; session catches camera drift (the M2 planted-leakage probe); size follows COCO's small/medium/large because small objects fail first and matter most on wide shots; release separates v1-original from v2-added items. Insist on the two rules of honesty: slices declared before the run, and every number travels with its n. Restate the M1 hospital case: the model that is fine on average and broken at one site is broken.</a:t>
            </a:r>
            <a:endParaRPr/>
          </a:p>
        </p:txBody>
      </p:sp>
      <p:sp>
        <p:nvSpPr>
          <p:cNvPr id="3086" name="Google Shape;3086;p11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21" name="Shape 3121"/>
        <p:cNvGrpSpPr/>
        <p:nvPr/>
      </p:nvGrpSpPr>
      <p:grpSpPr>
        <a:xfrm>
          <a:off x="0" y="0"/>
          <a:ext cx="0" cy="0"/>
          <a:chOff x="0" y="0"/>
          <a:chExt cx="0" cy="0"/>
        </a:xfrm>
      </p:grpSpPr>
      <p:sp>
        <p:nvSpPr>
          <p:cNvPr id="3122" name="Google Shape;3122;p1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123" name="Google Shape;3123;p11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'mAP dropped 3 points' is not actionable; where the error mass sits is. This is TIDE-style analysis simplified to five buckets the class can hold in mind. Walk one row at a time and draw the arrows to owning modules on the board: misses route to data acquisition and the M7 resolution trade-off; misclassification routes straight back to this morning's spec fix — on dates-qc v1 the sugaring/skin_split confusion carried 41% of error mass, which is why M5, not a bigger model, was the right spend. The payoff is a ranked remediation plan: error mass, root cause, fix, cost — participants write theirs in Lab 6 and it is the written deliverable of Day 3.</a:t>
            </a:r>
            <a:endParaRPr/>
          </a:p>
        </p:txBody>
      </p:sp>
      <p:sp>
        <p:nvSpPr>
          <p:cNvPr id="3124" name="Google Shape;3124;p11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33" name="Shape 3133"/>
        <p:cNvGrpSpPr/>
        <p:nvPr/>
      </p:nvGrpSpPr>
      <p:grpSpPr>
        <a:xfrm>
          <a:off x="0" y="0"/>
          <a:ext cx="0" cy="0"/>
          <a:chOff x="0" y="0"/>
          <a:chExt cx="0" cy="0"/>
        </a:xfrm>
      </p:grpSpPr>
      <p:sp>
        <p:nvSpPr>
          <p:cNvPr id="3134" name="Google Shape;3134;p1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135" name="Google Shape;3135;p11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Bottom to top. Frozen inputs: the split is pinned by the M5 release hash, predictions cached to parquet so re-analysis never re-runs inference, and the eval config — thresholds, slices, IoU definitions — is versioned alongside. Determinism is enforced, not hoped for. Regression mode compares two checkpoints and flags any slice that degraded two points or more even when the aggregate improved — it runs in Hour 5 for v1-vs-v2 and referees the capstone. Galleries settle arguments that tables start. The honest-deltas rule of thumb matters on a 1,400-instance split: below 0.01 is noise; the bootstrap CI script exists for when a delta is money.</a:t>
            </a:r>
            <a:endParaRPr/>
          </a:p>
        </p:txBody>
      </p:sp>
      <p:sp>
        <p:nvSpPr>
          <p:cNvPr id="3136" name="Google Shape;3136;p11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59" name="Shape 3159"/>
        <p:cNvGrpSpPr/>
        <p:nvPr/>
      </p:nvGrpSpPr>
      <p:grpSpPr>
        <a:xfrm>
          <a:off x="0" y="0"/>
          <a:ext cx="0" cy="0"/>
          <a:chOff x="0" y="0"/>
          <a:chExt cx="0" cy="0"/>
        </a:xfrm>
      </p:grpSpPr>
      <p:sp>
        <p:nvSpPr>
          <p:cNvPr id="3160" name="Google Shape;3160;p1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161" name="Google Shape;3161;p11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Row one is the debugging exercise made explicit: frameworks sweep from conf 0.001 for AP, the product runs at 0.35, and the two views can differ by 0.31 in precision — always report the deployed operating point alongside AP. 'Frozen splits or silence' is worth writing on the board. The class-imbalance row: macro-mAP treats the 310-instance audit-triggering foreign_object class equal to 1,860-instance mould; the business-weighted summary is a separate, documented row, never a silent substitution. The last row recalls M4: a vision system is graded on its output numbers — area-MAE and grading-disagreement rate live in the same harness as mAP.</a:t>
            </a:r>
            <a:endParaRPr/>
          </a:p>
        </p:txBody>
      </p:sp>
      <p:sp>
        <p:nvSpPr>
          <p:cNvPr id="3162" name="Google Shape;3162;p11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70" name="Shape 3170"/>
        <p:cNvGrpSpPr/>
        <p:nvPr/>
      </p:nvGrpSpPr>
      <p:grpSpPr>
        <a:xfrm>
          <a:off x="0" y="0"/>
          <a:ext cx="0" cy="0"/>
          <a:chOff x="0" y="0"/>
          <a:chExt cx="0" cy="0"/>
        </a:xfrm>
      </p:grpSpPr>
      <p:sp>
        <p:nvSpPr>
          <p:cNvPr id="3171" name="Google Shape;3171;p11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172" name="Google Shape;3172;p11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This is Lab 6 task 1 and 2 in one screen; walk it slowly. The argsort in confidence order is where correctness lives — skip it and AP drifts 0.02-0.05 from the framework value. The candidate mask enforces same-class-and-unconsumed; a prediction with no candidate simply falls through as a false positive. Note the return re-sorting tp back to input order. For AP: cumulate TPs and FPs down the confidence sweep, build precision and recall, then 101-point interpolation per the COCO convention. Common question: why max over precision at recall &gt;= r? That is the interpolation envelope smoothing the sawtooth. The 12 unit tests include the steal case, the wrong-class perfect box, and the empty-GT image.</a:t>
            </a:r>
            <a:endParaRPr/>
          </a:p>
        </p:txBody>
      </p:sp>
      <p:sp>
        <p:nvSpPr>
          <p:cNvPr id="3173" name="Google Shape;3173;p11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04" name="Shape 3204"/>
        <p:cNvGrpSpPr/>
        <p:nvPr/>
      </p:nvGrpSpPr>
      <p:grpSpPr>
        <a:xfrm>
          <a:off x="0" y="0"/>
          <a:ext cx="0" cy="0"/>
          <a:chOff x="0" y="0"/>
          <a:chExt cx="0" cy="0"/>
        </a:xfrm>
      </p:grpSpPr>
      <p:sp>
        <p:nvSpPr>
          <p:cNvPr id="3205" name="Google Shape;3205;p11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206" name="Google Shape;3206;p11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Demo this live at the end of the lecture: run the harness, let the green aggregate scroll past, then stop at the red s09 row in silence and ask the room what they would have shipped. The split argument is release-pinned syntax — test at dates-qc-v1 — so the exam is named in every report. The error-mass dictionary is the input to the remediation plan: 41% misclassification routes back to M5's spec fix, draw that arrow. Regression mode is the Hour 5 tool: it emits per-slice deltas with n, flags anything degraded two points or more, and renders the gallery of frames whose verdicts flipped between v1 and v2. Slices under n=50 render greyed out.</a:t>
            </a:r>
            <a:endParaRPr/>
          </a:p>
        </p:txBody>
      </p:sp>
      <p:sp>
        <p:nvSpPr>
          <p:cNvPr id="3207" name="Google Shape;3207;p11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38" name="Shape 3238"/>
        <p:cNvGrpSpPr/>
        <p:nvPr/>
      </p:nvGrpSpPr>
      <p:grpSpPr>
        <a:xfrm>
          <a:off x="0" y="0"/>
          <a:ext cx="0" cy="0"/>
          <a:chOff x="0" y="0"/>
          <a:chExt cx="0" cy="0"/>
        </a:xfrm>
      </p:grpSpPr>
      <p:sp>
        <p:nvSpPr>
          <p:cNvPr id="3239" name="Google Shape;3239;p11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240" name="Google Shape;3240;p11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Task 3's planted s09 slice is the module's thesis in one row: every pair sees a healthy aggregate hiding a 0.71-recall evening slice they would have shipped. Ask each pair to say aloud what dashboard would have caught it in production — per-session control charts, the SDA-AIE-216 hook. The remediation plan from task 4 is the best predictor of capstone quality; grade it formatively now. In task 5, running with --seed 999 legitimately changes nothing — inference is cached, and that is the point. No GPU needed anywhere. Fast finishers implement mAP@0.5:0.95 by looping the matcher over thresholds and reconcile with the framework.</a:t>
            </a:r>
            <a:endParaRPr/>
          </a:p>
        </p:txBody>
      </p:sp>
      <p:sp>
        <p:nvSpPr>
          <p:cNvPr id="3241" name="Google Shape;3241;p11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90" name="Shape 3290"/>
        <p:cNvGrpSpPr/>
        <p:nvPr/>
      </p:nvGrpSpPr>
      <p:grpSpPr>
        <a:xfrm>
          <a:off x="0" y="0"/>
          <a:ext cx="0" cy="0"/>
          <a:chOff x="0" y="0"/>
          <a:chExt cx="0" cy="0"/>
        </a:xfrm>
      </p:grpSpPr>
      <p:sp>
        <p:nvSpPr>
          <p:cNvPr id="3291" name="Google Shape;3291;p11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292" name="Google Shape;3292;p11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Walk this before the lab. Row one is by far the most common: hand-rolled AP disagreeing with the framework almost always means predictions were not sorted by confidence before matching, or a matched ground truth was not consumed. The empty-GT row is subtle — an image with no ground truth still contributes false positives, and forgetting it inflates AP. The determinism row is usually a timestamp baked into the report template. The bootstrap row teaches a statistics point worth saying aloud: instances within an image are correlated, so resampling must happen at the image level or the interval is fiction.</a:t>
            </a:r>
            <a:endParaRPr/>
          </a:p>
        </p:txBody>
      </p:sp>
      <p:sp>
        <p:nvSpPr>
          <p:cNvPr id="3293" name="Google Shape;3293;p11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01" name="Shape 3301"/>
        <p:cNvGrpSpPr/>
        <p:nvPr/>
      </p:nvGrpSpPr>
      <p:grpSpPr>
        <a:xfrm>
          <a:off x="0" y="0"/>
          <a:ext cx="0" cy="0"/>
          <a:chOff x="0" y="0"/>
          <a:chExt cx="0" cy="0"/>
        </a:xfrm>
      </p:grpSpPr>
      <p:sp>
        <p:nvSpPr>
          <p:cNvPr id="3302" name="Google Shape;3302;p11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303" name="Google Shape;3303;p11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Rapid whole-class check before the case study. Question 1 tests whether the matching lecture stuck — listen for 'double punishment' and push for why it is correct, not harsh. Question 2 connects metrics to money: the eject gate actuates on box centres. Question 4 is the day's golden thread in one line: the error taxonomy routes the fix to Module 5's spec work, not to architecture — if the class answers 'bigger model', replay the 41% error-mass story. Question 5 sets up Hour 5, where regression mode must confirm no powered slice degraded even as the aggregate improves. Answers land in the rendered speaker notes.</a:t>
            </a:r>
            <a:br>
              <a:rPr lang="en-US"/>
            </a:br>
            <a:br>
              <a:rPr lang="en-US"/>
            </a:br>
            <a:r>
              <a:rPr lang="en-US"/>
              <a:t>ANSWERS:</a:t>
            </a:r>
            <a:br>
              <a:rPr lang="en-US"/>
            </a:br>
            <a:r>
              <a:rPr lang="en-US"/>
              <a:t>1. A false positive that also leaves a false negative — double punishment, by design.</a:t>
            </a:r>
            <a:br>
              <a:rPr lang="en-US"/>
            </a:br>
            <a:r>
              <a:rPr lang="en-US"/>
              <a:t>2. 0.5:0.95 — box centres drive actuation, so tight localisation is what the use case pays for.</a:t>
            </a:r>
            <a:br>
              <a:rPr lang="en-US"/>
            </a:br>
            <a:r>
              <a:rPr lang="en-US"/>
              <a:t>3. Post-hoc slicing is multiple-comparison fishing; the slice taxonomy is reviewed like code.</a:t>
            </a:r>
            <a:br>
              <a:rPr lang="en-US"/>
            </a:br>
            <a:r>
              <a:rPr lang="en-US"/>
              <a:t>4. Annotation spec and boundary rules plus targeted relabels (M5) — not a bigger model.</a:t>
            </a:r>
            <a:br>
              <a:rPr lang="en-US"/>
            </a:br>
            <a:r>
              <a:rPr lang="en-US"/>
              <a:t>5. False — regression mode exists precisely because this happens routinely.</a:t>
            </a:r>
            <a:endParaRPr/>
          </a:p>
        </p:txBody>
      </p:sp>
      <p:sp>
        <p:nvSpPr>
          <p:cNvPr id="3304" name="Google Shape;3304;p11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32" name="Shape 3332"/>
        <p:cNvGrpSpPr/>
        <p:nvPr/>
      </p:nvGrpSpPr>
      <p:grpSpPr>
        <a:xfrm>
          <a:off x="0" y="0"/>
          <a:ext cx="0" cy="0"/>
          <a:chOff x="0" y="0"/>
          <a:chExt cx="0" cy="0"/>
        </a:xfrm>
      </p:grpSpPr>
      <p:sp>
        <p:nvSpPr>
          <p:cNvPr id="3333" name="Google Shape;3333;p12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334" name="Google Shape;3334;p12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The threshold-report branch reproduces field complaints in miniature: metrics computed at the framework's conf=0.001 sweep while deployment runs at 0.35 — participants add the deployed operating point as a first-class report row. In the code review, each finding corrupts a decision: the re-shuffled split kills every historical comparison, macro-only reporting hides foreign_object, and +0.008 with no CI is noise sold as progress. For the plant manager: worst powered slice recall with its n, or a documented business-weighted summary — never a bare mean. Best acceptance-clause rewrite uses slices, floors, n requirements, split custody, and regression mode; adopt it as the class reference.</a:t>
            </a:r>
            <a:endParaRPr/>
          </a:p>
        </p:txBody>
      </p:sp>
      <p:sp>
        <p:nvSpPr>
          <p:cNvPr id="3335" name="Google Shape;3335;p12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58" name="Shape 3358"/>
        <p:cNvGrpSpPr/>
        <p:nvPr/>
      </p:nvGrpSpPr>
      <p:grpSpPr>
        <a:xfrm>
          <a:off x="0" y="0"/>
          <a:ext cx="0" cy="0"/>
          <a:chOff x="0" y="0"/>
          <a:chExt cx="0" cy="0"/>
        </a:xfrm>
      </p:grpSpPr>
      <p:sp>
        <p:nvSpPr>
          <p:cNvPr id="3359" name="Google Shape;3359;p12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360" name="Google Shape;3360;p12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Facilitate toward the case pack's numbers. The independent harness over the city's archive, sliced class x time-bucket x intersection type, finds motorcycles-at-night recall of 0.62 (n=1,340) against fleet mAP 0.91 — arithmetically true, operationally meaningless. The vendor's test set could never have seen it: 41 night motorcycles is under-powered and greyed out by any honest report. Misses dominate (small, low-light, headlight bloom), so the fix is data — 6,000 night-motorcycle frames mined from the archive plus hard-negative bloom examples — not architecture. Contract v2: motorcycle night recall &gt;= 0.85 with n &gt;= 500, the city's frozen split as referee, harness handover with byte-identical reproducibility, quarterly regression with a no-degraded-slice clause. The renewal deck leads with eight gallery frames of missed motorcycles. On question 4: aggregate floors do not bind slices, and 0.95 pays for over-performance on cars-at-noon nobody needs.</a:t>
            </a:r>
            <a:endParaRPr/>
          </a:p>
        </p:txBody>
      </p:sp>
      <p:sp>
        <p:nvSpPr>
          <p:cNvPr id="3361" name="Google Shape;3361;p12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80" name="Shape 3380"/>
        <p:cNvGrpSpPr/>
        <p:nvPr/>
      </p:nvGrpSpPr>
      <p:grpSpPr>
        <a:xfrm>
          <a:off x="0" y="0"/>
          <a:ext cx="0" cy="0"/>
          <a:chOff x="0" y="0"/>
          <a:chExt cx="0" cy="0"/>
        </a:xfrm>
      </p:grpSpPr>
      <p:sp>
        <p:nvSpPr>
          <p:cNvPr id="3381" name="Google Shape;3381;p12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382" name="Google Shape;3382;p12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Every bar except the remediation plan is machine-checkable, which is deliberate — evaluation infrastructure should evaluate itself. The reference benchmark view from the course run: aggregate mAP@0.5 of 0.872 over 1,412 instances is green and insufficient; the worst powered slice, session s09, sits at 0.71 recall with n=142 and is the real headline; the deployed operating point for mould reads recall 0.993 at 0.041 FP per image, meeting line spec; the v2 insect_damage delta of +0.089 carries CI [+0.061, +0.114] — a real improvement; and the error-mass leader, misclassification at 41%, routes to M5's spec fix. The last row is completed in Hour 5 and pasted into the graded error-analysis report.</a:t>
            </a:r>
            <a:endParaRPr/>
          </a:p>
        </p:txBody>
      </p:sp>
      <p:sp>
        <p:nvSpPr>
          <p:cNvPr id="3383" name="Google Shape;3383;p12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91" name="Shape 3391"/>
        <p:cNvGrpSpPr/>
        <p:nvPr/>
      </p:nvGrpSpPr>
      <p:grpSpPr>
        <a:xfrm>
          <a:off x="0" y="0"/>
          <a:ext cx="0" cy="0"/>
          <a:chOff x="0" y="0"/>
          <a:chExt cx="0" cy="0"/>
        </a:xfrm>
      </p:grpSpPr>
      <p:sp>
        <p:nvSpPr>
          <p:cNvPr id="3392" name="Google Shape;3392;p12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393" name="Google Shape;3393;p12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This hour is the emotional payoff of the whole day — protect it from overruns. Before any run, collect each pair's predicted v2 delta; the confrontation between prediction and result is where the lesson lands. Retrain on v2, then regression mode v1-vs-v2 on the frozen split: confirm the insect_damage gain beats the +0.05 target, verify no powered slice degraded two points or more, and run the bootstrap CI on the headline delta. The regression summary is pasted into the error-analysis report — a graded deliverable. Then the capstone briefing: Day 4 Hours 3-4 assemble the full inspection system; the harness referees the demos, and repository URLs plus BENCHMARKS.md are collected at end of Day 4 Hour 4. Close with the milestone M-A checklist.</a:t>
            </a:r>
            <a:endParaRPr/>
          </a:p>
        </p:txBody>
      </p:sp>
      <p:sp>
        <p:nvSpPr>
          <p:cNvPr id="3394" name="Google Shape;3394;p12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29" name="Shape 3429"/>
        <p:cNvGrpSpPr/>
        <p:nvPr/>
      </p:nvGrpSpPr>
      <p:grpSpPr>
        <a:xfrm>
          <a:off x="0" y="0"/>
          <a:ext cx="0" cy="0"/>
          <a:chOff x="0" y="0"/>
          <a:chExt cx="0" cy="0"/>
        </a:xfrm>
      </p:grpSpPr>
      <p:sp>
        <p:nvSpPr>
          <p:cNvPr id="3430" name="Google Shape;3430;p12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431" name="Google Shape;3431;p12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Open with the arc: three days of building, one day of shipping. Day 4 is 25% theory, 75% lab — the most build-heavy day. Set two logistics rules up front: repository URLs and BENCHMARKS.md are collected at the end of Hour 4 so harness results can be verified before demos, and rubric scoring happens live during Hour 5. Remind pairs they enter capstone hours with the deployment leg already done if Lab 7 lands. The afternoon is deliberately flexible for prayer scheduling.</a:t>
            </a:r>
            <a:endParaRPr/>
          </a:p>
        </p:txBody>
      </p:sp>
      <p:sp>
        <p:nvSpPr>
          <p:cNvPr id="3432" name="Google Shape;3432;p12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60" name="Shape 3460"/>
        <p:cNvGrpSpPr/>
        <p:nvPr/>
      </p:nvGrpSpPr>
      <p:grpSpPr>
        <a:xfrm>
          <a:off x="0" y="0"/>
          <a:ext cx="0" cy="0"/>
          <a:chOff x="0" y="0"/>
          <a:chExt cx="0" cy="0"/>
        </a:xfrm>
      </p:grpSpPr>
      <p:sp>
        <p:nvSpPr>
          <p:cNvPr id="3461" name="Google Shape;3461;p12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462" name="Google Shape;3462;p12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Walk the table in one minute, then anchor expectations: Hour 1 is the only lecture of the day; from Hour 2 onward participants build. Emphasise the hard rule from the instructor guide: capstone assembly (Hour 3) starts on time — cut discussion, not build time. Each hour is 50 minutes of instruction plus 10 minutes buffer; schedule the long break around Dhuhr. If a strong cohort is ahead, pull the sustained-load benchmark and the threshold auto-tuner extensions into main scope.</a:t>
            </a:r>
            <a:endParaRPr/>
          </a:p>
        </p:txBody>
      </p:sp>
      <p:sp>
        <p:nvSpPr>
          <p:cNvPr id="3463" name="Google Shape;3463;p12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72" name="Shape 3472"/>
        <p:cNvGrpSpPr/>
        <p:nvPr/>
      </p:nvGrpSpPr>
      <p:grpSpPr>
        <a:xfrm>
          <a:off x="0" y="0"/>
          <a:ext cx="0" cy="0"/>
          <a:chOff x="0" y="0"/>
          <a:chExt cx="0" cy="0"/>
        </a:xfrm>
      </p:grpSpPr>
      <p:sp>
        <p:nvSpPr>
          <p:cNvPr id="3473" name="Google Shape;3473;p12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474" name="Google Shape;3474;p12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Frame the module with its purpose line: a model that lives in a notebook inspects nothing. M7 carries the Tamr Vision models across the last mile — export with verified numerical parity, optimise for the target, benchmark honestly, and assemble the edge loop that runs over the conveyor. Stress that the M1 preprocessing contract completes its journey here: the same transforms.py semantics, reimplemented and tested for equivalence in the deployment wrapper. Pairs leave with the deployment leg of the capstone already finished.</a:t>
            </a:r>
            <a:endParaRPr/>
          </a:p>
        </p:txBody>
      </p:sp>
      <p:sp>
        <p:nvSpPr>
          <p:cNvPr id="3475" name="Google Shape;3475;p12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03" name="Shape 3503"/>
        <p:cNvGrpSpPr/>
        <p:nvPr/>
      </p:nvGrpSpPr>
      <p:grpSpPr>
        <a:xfrm>
          <a:off x="0" y="0"/>
          <a:ext cx="0" cy="0"/>
          <a:chOff x="0" y="0"/>
          <a:chExt cx="0" cy="0"/>
        </a:xfrm>
      </p:grpSpPr>
      <p:sp>
        <p:nvSpPr>
          <p:cNvPr id="3504" name="Google Shape;3504;p12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505" name="Google Shape;3505;p12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Cloud-versus-edge is an economics and sovereignty decision before a technical one. Walk the numbers: streaming 30 FPS of 1280×1024 video costs more in bandwidth than the edge box costs in capex; regional RTT breaks the 380 ms actuation deadline; and many Saudi deployments — government sites, industrial plants, data-residency expectations — cannot ship frames off-premises. Land the punchline: an INT8 model at 416² on a 900-riyal edge board frequently replaces a cloud GPU subscription, if someone does the trade-off work. The red stat is the regional pilot-killer this module prevents.</a:t>
            </a:r>
            <a:endParaRPr/>
          </a:p>
        </p:txBody>
      </p:sp>
      <p:sp>
        <p:nvSpPr>
          <p:cNvPr id="3506" name="Google Shape;3506;p12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30" name="Shape 3530"/>
        <p:cNvGrpSpPr/>
        <p:nvPr/>
      </p:nvGrpSpPr>
      <p:grpSpPr>
        <a:xfrm>
          <a:off x="0" y="0"/>
          <a:ext cx="0" cy="0"/>
          <a:chOff x="0" y="0"/>
          <a:chExt cx="0" cy="0"/>
        </a:xfrm>
      </p:grpSpPr>
      <p:sp>
        <p:nvSpPr>
          <p:cNvPr id="3531" name="Google Shape;3531;p12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532" name="Google Shape;3532;p12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Three real deployments plus the failure they avoid. Tamr Vision's own edge box is the course north star: decision-to-actuation inside the 380 ms gate budget. The ANPR gate returns as this module's case study — plant that seed now. The retail example lands the economics: a bandwidth bill cut 40× and a PDPL posture the DPO signed without a meeting. Ask the room which of their own projects currently assumes the demo GPU is the production GPU.</a:t>
            </a:r>
            <a:endParaRPr/>
          </a:p>
        </p:txBody>
      </p:sp>
      <p:sp>
        <p:nvSpPr>
          <p:cNvPr id="3533" name="Google Shape;3533;p12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60" name="Shape 3560"/>
        <p:cNvGrpSpPr/>
        <p:nvPr/>
      </p:nvGrpSpPr>
      <p:grpSpPr>
        <a:xfrm>
          <a:off x="0" y="0"/>
          <a:ext cx="0" cy="0"/>
          <a:chOff x="0" y="0"/>
          <a:chExt cx="0" cy="0"/>
        </a:xfrm>
      </p:grpSpPr>
      <p:sp>
        <p:nvSpPr>
          <p:cNvPr id="3561" name="Google Shape;3561;p12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562" name="Google Shape;3562;p12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Five objectives, all converging on LO6. Read 7.4 aloud — benchmark honestly — because it carries the module's ethic: warm-up, percentiles, end-to-end measurement. Point out that 7.5 loops back to LO1: the preprocessing contract from Module 1 is deployed and equivalence-tested here. Expected competency at the end: export with parity tests, quantify the accuracy cost of INT8 with a calibration set, choose a configuration against a written latency budget, and assemble a monitored edge loop with the fallback behaviours a production line requires.</a:t>
            </a:r>
            <a:endParaRPr/>
          </a:p>
        </p:txBody>
      </p:sp>
      <p:sp>
        <p:nvSpPr>
          <p:cNvPr id="3563" name="Google Shape;3563;p12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08" name="Shape 3608"/>
        <p:cNvGrpSpPr/>
        <p:nvPr/>
      </p:nvGrpSpPr>
      <p:grpSpPr>
        <a:xfrm>
          <a:off x="0" y="0"/>
          <a:ext cx="0" cy="0"/>
          <a:chOff x="0" y="0"/>
          <a:chExt cx="0" cy="0"/>
        </a:xfrm>
      </p:grpSpPr>
      <p:sp>
        <p:nvSpPr>
          <p:cNvPr id="3609" name="Google Shape;3609;p13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610" name="Google Shape;3610;p13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The decision is a table, not a preference. Walk each row and let Tamr Vision's numbers decide: the eject gate is 1.9 m downstream at 0.3 m/s belt speed — 380 ms total for capture through actuation — and regional cloud RTT alone eats a third of it with no jitter allowance. Edge wins; the cloud's role becomes fleet telemetry, retraining, and the M5 data flywheel. The hybrid pattern (edge inference + cloud learning loop) is the default architecture and exactly the seam where SDA-AIE-216 picks up. Also flag the edge row's cost: fleet update mechanism needed.</a:t>
            </a:r>
            <a:endParaRPr/>
          </a:p>
        </p:txBody>
      </p:sp>
      <p:sp>
        <p:nvSpPr>
          <p:cNvPr id="3611" name="Google Shape;3611;p13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29" name="Shape 3629"/>
        <p:cNvGrpSpPr/>
        <p:nvPr/>
      </p:nvGrpSpPr>
      <p:grpSpPr>
        <a:xfrm>
          <a:off x="0" y="0"/>
          <a:ext cx="0" cy="0"/>
          <a:chOff x="0" y="0"/>
          <a:chExt cx="0" cy="0"/>
        </a:xfrm>
      </p:grpSpPr>
      <p:sp>
        <p:nvSpPr>
          <p:cNvPr id="3630" name="Google Shape;3630;p13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631" name="Google Shape;3631;p13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ONNX freezes the model as a dataflow graph with a pinned opset, decoupling training framework from serving runtime (ONNX Runtime, TensorRT, OpenVINO). The two rules prevent 90% of incidents. Parity failures localise to three causes: unsupported ops silently decomposed, training-mode layers exported — model.eval() before export, M2's lesson again — or preprocessing drift. The M1 interpolation-skew simulation was rehearsal for precisely this moment. Ultralytics wraps export in one call; the course exports without NMS so the operating point stays in config, where M3 established it belongs.</a:t>
            </a:r>
            <a:endParaRPr/>
          </a:p>
        </p:txBody>
      </p:sp>
      <p:sp>
        <p:nvSpPr>
          <p:cNvPr id="3632" name="Google Shape;3632;p13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73" name="Shape 3673"/>
        <p:cNvGrpSpPr/>
        <p:nvPr/>
      </p:nvGrpSpPr>
      <p:grpSpPr>
        <a:xfrm>
          <a:off x="0" y="0"/>
          <a:ext cx="0" cy="0"/>
          <a:chOff x="0" y="0"/>
          <a:chExt cx="0" cy="0"/>
        </a:xfrm>
      </p:grpSpPr>
      <p:sp>
        <p:nvSpPr>
          <p:cNvPr id="3674" name="Google Shape;3674;p13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675" name="Google Shape;3675;p13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Work the ladder top to bottom by effort-to-payoff. Rung 1 is nearly free: latency scales roughly quadratically with edge length — but insist on per-class checks; the −0.06 on insect_damage is the M4 resolution lesson. Rung 2: dynamic quantisation is one safe line; static needs 200–500 representative calibration images — season, lighting and defect mix matter, or you quantise away the evening tail s09 taught us to watch. Measured costs: classifier −0.4 F1 points, detector −0.011 mAP@0.5. FP16 is near-free on GPUs. Rung 4 is taught as a map, not a lab.</a:t>
            </a:r>
            <a:endParaRPr/>
          </a:p>
        </p:txBody>
      </p:sp>
      <p:sp>
        <p:nvSpPr>
          <p:cNvPr id="3676" name="Google Shape;3676;p13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96" name="Shape 3696"/>
        <p:cNvGrpSpPr/>
        <p:nvPr/>
      </p:nvGrpSpPr>
      <p:grpSpPr>
        <a:xfrm>
          <a:off x="0" y="0"/>
          <a:ext cx="0" cy="0"/>
          <a:chOff x="0" y="0"/>
          <a:chExt cx="0" cy="0"/>
        </a:xfrm>
      </p:grpSpPr>
      <p:sp>
        <p:nvSpPr>
          <p:cNvPr id="3697" name="Google Shape;3697;p13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698" name="Google Shape;3698;p13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This is the Amdahl slide. The budget is consumed by the pipeline, and inference is often under half of it; after INT8, preprocessing rivals inference — make pairs say the fraction out loud during the lab. Contrast the red cloud path: 60–150 ms regional RTT plus jitter blows the budget before the model even runs. The course benchmark harness times each stage separately. Keep this waterfall visible during capstone assembly — every integration decision gets tested against it, and the eject gate fires 380 ms after the camera sees the fruit.</a:t>
            </a:r>
            <a:endParaRPr/>
          </a:p>
        </p:txBody>
      </p:sp>
      <p:sp>
        <p:nvSpPr>
          <p:cNvPr id="3699" name="Google Shape;3699;p13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33" name="Shape 3733"/>
        <p:cNvGrpSpPr/>
        <p:nvPr/>
      </p:nvGrpSpPr>
      <p:grpSpPr>
        <a:xfrm>
          <a:off x="0" y="0"/>
          <a:ext cx="0" cy="0"/>
          <a:chOff x="0" y="0"/>
          <a:chExt cx="0" cy="0"/>
        </a:xfrm>
      </p:grpSpPr>
      <p:sp>
        <p:nvSpPr>
          <p:cNvPr id="3734" name="Google Shape;3734;p13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735" name="Google Shape;3735;p13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Four disciplines of honest measurement. Warm-up: TensorRT graph compilation can take minutes; discard at least 20 runs. Percentiles over at least 500 timed runs, measured under realistic co-load on shared boxes. End-to-end: the classic surprise is preprocessing rivalling inference after INT8 — Amdahl's law, live. Throughput versus latency: same model, opposite configurations, both belong in the table. Close with the course legend: the benchmark that passes in the air-conditioned lab and fails above the conveyor in August — that is why the thermal soak is acceptance, not decoration.</a:t>
            </a:r>
            <a:endParaRPr/>
          </a:p>
        </p:txBody>
      </p:sp>
      <p:sp>
        <p:nvSpPr>
          <p:cNvPr id="3736" name="Google Shape;3736;p13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63" name="Shape 3763"/>
        <p:cNvGrpSpPr/>
        <p:nvPr/>
      </p:nvGrpSpPr>
      <p:grpSpPr>
        <a:xfrm>
          <a:off x="0" y="0"/>
          <a:ext cx="0" cy="0"/>
          <a:chOff x="0" y="0"/>
          <a:chExt cx="0" cy="0"/>
        </a:xfrm>
      </p:grpSpPr>
      <p:sp>
        <p:nvSpPr>
          <p:cNvPr id="3764" name="Google Shape;3764;p13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765" name="Google Shape;3765;p13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The deployed artefact is a service — SDA-AIE-113 practices, on a box. Walk the log fields: frame id, raw per-class scores, decision, stage latencies, model + dataset + config versions — that JSON line is what makes field debugging possible. The fallback ladder is the slide's teeth: line-keeps-moving versus line-stops is a food-safety judgement, not an engineering one; the engineer's job is to force the conversation and implement the answer. The input-fingerprint watchdog is the M1 drift hook, now armed. SDA-AIE-216 turns the update mechanism into a whole course.</a:t>
            </a:r>
            <a:endParaRPr/>
          </a:p>
        </p:txBody>
      </p:sp>
      <p:sp>
        <p:nvSpPr>
          <p:cNvPr id="3766" name="Google Shape;3766;p13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07" name="Shape 3807"/>
        <p:cNvGrpSpPr/>
        <p:nvPr/>
      </p:nvGrpSpPr>
      <p:grpSpPr>
        <a:xfrm>
          <a:off x="0" y="0"/>
          <a:ext cx="0" cy="0"/>
          <a:chOff x="0" y="0"/>
          <a:chExt cx="0" cy="0"/>
        </a:xfrm>
      </p:grpSpPr>
      <p:sp>
        <p:nvSpPr>
          <p:cNvPr id="3808" name="Google Shape;3808;p13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809" name="Google Shape;3809;p13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Each row is a real incident pattern. Row 1 costs two mAP points and three days of confusion; parity is a unit test run in CI on every export. Row 2 is why the wrapper is equivalence-tested against eval_tf() on 50 real images with max pixel-path divergence under 1e-3. Rows 3 and 6 are the regional specials: daytime calibration and Gulf-summer throttling. Production hygiene from the source: fleet telemetry carries stage latencies and input fingerprints per box, the previous bundle stays on-box for instant rollback, and the harness report ships inside the model bundle.</a:t>
            </a:r>
            <a:endParaRPr/>
          </a:p>
        </p:txBody>
      </p:sp>
      <p:sp>
        <p:nvSpPr>
          <p:cNvPr id="3810" name="Google Shape;3810;p13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19" name="Shape 3819"/>
        <p:cNvGrpSpPr/>
        <p:nvPr/>
      </p:nvGrpSpPr>
      <p:grpSpPr>
        <a:xfrm>
          <a:off x="0" y="0"/>
          <a:ext cx="0" cy="0"/>
          <a:chOff x="0" y="0"/>
          <a:chExt cx="0" cy="0"/>
        </a:xfrm>
      </p:grpSpPr>
      <p:sp>
        <p:nvSpPr>
          <p:cNvPr id="3820" name="Google Shape;3820;p13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821" name="Google Shape;3821;p13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Walk the ritual line by line. model.eval() is deliberately missing in lab7-start — participants will hit random-pattern decision flips and must diagnose from the pattern. Underline the parity loop: real validation images through both runtimes, two assertions — tensor tolerance and zero decision flips. Decision-level parity is the stronger, cheaper test. Fixed shapes on a single-camera line enable more aggressive runtime optimisation. Expected output: max diff around 3.1e-05, zero flips. The detector export follows with nms=False and imgsz=416, decision parity verified via the M6 harness.</a:t>
            </a:r>
            <a:endParaRPr/>
          </a:p>
        </p:txBody>
      </p:sp>
      <p:sp>
        <p:nvSpPr>
          <p:cNvPr id="3822" name="Google Shape;3822;p13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48" name="Shape 3848"/>
        <p:cNvGrpSpPr/>
        <p:nvPr/>
      </p:nvGrpSpPr>
      <p:grpSpPr>
        <a:xfrm>
          <a:off x="0" y="0"/>
          <a:ext cx="0" cy="0"/>
          <a:chOff x="0" y="0"/>
          <a:chExt cx="0" cy="0"/>
        </a:xfrm>
      </p:grpSpPr>
      <p:sp>
        <p:nvSpPr>
          <p:cNvPr id="3849" name="Google Shape;3849;p13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850" name="Google Shape;3850;p13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Demo this live on the classroom machine and stage the Amdahl reveal: show preprocessing's share of the pipeline before and after INT8. The warm-up loop is non-negotiable — first runs pay provider graph compilation and can be 10× slower. Percentiles come from 500 runs over 50 real captured frames, cycled. NMS runs in code, not in the graph, so op_config stays tunable. Expected result for INT8 at 416 on the classroom CPU with OpenVINO: pre p99 9.4 ms, infer 16.8 ms, post 3.7 ms, total p99 28.9 ms against the 380 ms end-to-end budget.</a:t>
            </a:r>
            <a:endParaRPr/>
          </a:p>
        </p:txBody>
      </p:sp>
      <p:sp>
        <p:nvSpPr>
          <p:cNvPr id="3851" name="Google Shape;3851;p13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77" name="Shape 3877"/>
        <p:cNvGrpSpPr/>
        <p:nvPr/>
      </p:nvGrpSpPr>
      <p:grpSpPr>
        <a:xfrm>
          <a:off x="0" y="0"/>
          <a:ext cx="0" cy="0"/>
          <a:chOff x="0" y="0"/>
          <a:chExt cx="0" cy="0"/>
        </a:xfrm>
      </p:grpSpPr>
      <p:sp>
        <p:nvSpPr>
          <p:cNvPr id="3878" name="Google Shape;3878;p13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879" name="Google Shape;3879;p13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Task 1's planted train-mode export is the module's rite of passage — the random flip pattern versus the systematic preprocessing-drift signature teaches the two diagnostics side by side. Task 4 is the Amdahl moment: make pairs say the preprocessing fraction out loud before and after mitigation (resize before normalise; measure again). Task 5's selection must cite a slice cost — pairs that write '−0.011 mAP, acceptable' get the s09 question. Fast finishers: the 10-minute sustained-load run with latency plot, or export FP16 and add the row. Runs on CPU by design — the edge box is a CPU.</a:t>
            </a:r>
            <a:endParaRPr/>
          </a:p>
        </p:txBody>
      </p:sp>
      <p:sp>
        <p:nvSpPr>
          <p:cNvPr id="3880" name="Google Shape;3880;p13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29" name="Shape 3929"/>
        <p:cNvGrpSpPr/>
        <p:nvPr/>
      </p:nvGrpSpPr>
      <p:grpSpPr>
        <a:xfrm>
          <a:off x="0" y="0"/>
          <a:ext cx="0" cy="0"/>
          <a:chOff x="0" y="0"/>
          <a:chExt cx="0" cy="0"/>
        </a:xfrm>
      </p:grpSpPr>
      <p:sp>
        <p:nvSpPr>
          <p:cNvPr id="3930" name="Google Shape;3930;p14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931" name="Google Shape;3931;p14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Keep this table on screen through the lab. The first two rows are the diagnostic pair: random flips mean train mode, systematic diff means wrapper drift — knowing the signatures halves debug time. Row 3 connects to sim-calib-day: an INT8 collapse confined to one slice almost always means the calibration set missed it; re-stratify by session and time bucket. Row 4 is why the bench script discards 20 runs. Row 5 is common on classroom installs: fall back to CPUExecutionProvider and record the EP honestly in the trade-off table.</a:t>
            </a:r>
            <a:endParaRPr/>
          </a:p>
        </p:txBody>
      </p:sp>
      <p:sp>
        <p:nvSpPr>
          <p:cNvPr id="3932" name="Google Shape;3932;p14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40" name="Shape 3940"/>
        <p:cNvGrpSpPr/>
        <p:nvPr/>
      </p:nvGrpSpPr>
      <p:grpSpPr>
        <a:xfrm>
          <a:off x="0" y="0"/>
          <a:ext cx="0" cy="0"/>
          <a:chOff x="0" y="0"/>
          <a:chExt cx="0" cy="0"/>
        </a:xfrm>
      </p:grpSpPr>
      <p:sp>
        <p:nvSpPr>
          <p:cNvPr id="3941" name="Google Shape;3941;p14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942" name="Google Shape;3942;p14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Run as a five-minute cold-call before capstone assembly. Q1 and Q4 verify the export discipline stuck; Q2 checks calibration understanding ahead of the debugging exercise. Q5 is the one most get wrong — the reflex is to multiply the pipeline by the model speed-up; use it to replay the waterfall slide. Answers are in the speaker notes. If the room hesitates on Q3, re-show the bench.py output and ask which number the eject gate actually cares about.</a:t>
            </a:r>
            <a:br>
              <a:rPr lang="en-US"/>
            </a:br>
            <a:br>
              <a:rPr lang="en-US"/>
            </a:br>
            <a:r>
              <a:rPr lang="en-US"/>
              <a:t>ANSWERS:</a:t>
            </a:r>
            <a:br>
              <a:rPr lang="en-US"/>
            </a:br>
            <a:r>
              <a:rPr lang="en-US"/>
              <a:t>1. Tensor parity within tolerance on real images + zero decision flips at the operating point.</a:t>
            </a:r>
            <a:br>
              <a:rPr lang="en-US"/>
            </a:br>
            <a:r>
              <a:rPr lang="en-US"/>
              <a:t>2. Pre-computed activation ranges — so it needs a representative calibration set.</a:t>
            </a:r>
            <a:br>
              <a:rPr lang="en-US"/>
            </a:br>
            <a:r>
              <a:rPr lang="en-US"/>
              <a:t>3. The gate misses on tail latency; means hide the misses.</a:t>
            </a:r>
            <a:br>
              <a:rPr lang="en-US"/>
            </a:br>
            <a:r>
              <a:rPr lang="en-US"/>
              <a:t>4. The operating point stays tunable in config (M3); no re-export needed to retune a threshold.</a:t>
            </a:r>
            <a:br>
              <a:rPr lang="en-US"/>
            </a:br>
            <a:r>
              <a:rPr lang="en-US"/>
              <a:t>5. False — Amdahl: capture/preprocess/post don't shrink; measure the pipeline.</a:t>
            </a:r>
            <a:endParaRPr/>
          </a:p>
        </p:txBody>
      </p:sp>
      <p:sp>
        <p:nvSpPr>
          <p:cNvPr id="3943" name="Google Shape;3943;p14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71" name="Shape 3971"/>
        <p:cNvGrpSpPr/>
        <p:nvPr/>
      </p:nvGrpSpPr>
      <p:grpSpPr>
        <a:xfrm>
          <a:off x="0" y="0"/>
          <a:ext cx="0" cy="0"/>
          <a:chOff x="0" y="0"/>
          <a:chExt cx="0" cy="0"/>
        </a:xfrm>
      </p:grpSpPr>
      <p:sp>
        <p:nvSpPr>
          <p:cNvPr id="3972" name="Google Shape;3972;p14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973" name="Google Shape;3973;p14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The debugging exercise (branch sim-calib-day) chains M5, M6 and M7 in one loop: the aggregate barely moves while s09 recall drops 0.11 — participants must find it through the slice report, not the aggregate, because the calibration set was sampled from daytime sessions only. The code-review findings map to incidents: normalisation drift, benchmark fiction, a frozen operating point. In the cloud-pitch discussion, push until they name the two workloads that DO belong in the cloud: retraining and fleet analytics. The crash discussion must end with a named owner for the fallback decision.</a:t>
            </a:r>
            <a:endParaRPr/>
          </a:p>
        </p:txBody>
      </p:sp>
      <p:sp>
        <p:nvSpPr>
          <p:cNvPr id="3974" name="Google Shape;3974;p14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97" name="Shape 3997"/>
        <p:cNvGrpSpPr/>
        <p:nvPr/>
      </p:nvGrpSpPr>
      <p:grpSpPr>
        <a:xfrm>
          <a:off x="0" y="0"/>
          <a:ext cx="0" cy="0"/>
          <a:chOff x="0" y="0"/>
          <a:chExt cx="0" cy="0"/>
        </a:xfrm>
      </p:grpSpPr>
      <p:sp>
        <p:nvSpPr>
          <p:cNvPr id="3998" name="Google Shape;3998;p14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999" name="Google Shape;3999;p14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Facilitate, don't lecture. Build the referee first: a 12,000-frame frozen split from the operator's own archives, sliced by gate, time, plate format and weather, double-annotated (M5 discipline) — it scores both the incumbent API and every candidate. Edge candidate: YOLO-family detector at 416², INT8, OpenVINO EP, parity-tested; calibration stratified across the declared slices — the night slice is where naive calibration fails, exactly as in sim-calib-day. Acceptance is 30 minutes at 46 °C ambient, p99 under thermal soak. Fleet: versioned bundles, a week of shadow mode per gate, gate-by-gate cutover, instant rollback; frames never leave the site. Evidence pack: per-slice parity table, shadow-mode disagreement gallery, p99 traces.</a:t>
            </a:r>
            <a:endParaRPr/>
          </a:p>
        </p:txBody>
      </p:sp>
      <p:sp>
        <p:nvSpPr>
          <p:cNvPr id="4000" name="Google Shape;4000;p14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19" name="Shape 4019"/>
        <p:cNvGrpSpPr/>
        <p:nvPr/>
      </p:nvGrpSpPr>
      <p:grpSpPr>
        <a:xfrm>
          <a:off x="0" y="0"/>
          <a:ext cx="0" cy="0"/>
          <a:chOff x="0" y="0"/>
          <a:chExt cx="0" cy="0"/>
        </a:xfrm>
      </p:grpSpPr>
      <p:sp>
        <p:nvSpPr>
          <p:cNvPr id="4020" name="Google Shape;4020;p14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021" name="Google Shape;4021;p14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This table is the module's central artefact and the M-D gate. The source's full version also tracks s09 recall (0.84 / 0.82 / 0.83 / 0.81 across the four configs) and infer p99 — pairs must fill all columns in BENCHMARKS.md, and the selection sentence must cite the slice cost being accepted, not just the aggregate. Remaining targets: classifier parity max diff below 1e-4 with zero decision flips per 100; detector decision parity identical over 200 frames; trade-off table completeness is itself a graded metric — 4 configs × stages × per-class deltas.</a:t>
            </a:r>
            <a:endParaRPr/>
          </a:p>
        </p:txBody>
      </p:sp>
      <p:sp>
        <p:nvSpPr>
          <p:cNvPr id="4022" name="Google Shape;4022;p14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31" name="Shape 4031"/>
        <p:cNvGrpSpPr/>
        <p:nvPr/>
      </p:nvGrpSpPr>
      <p:grpSpPr>
        <a:xfrm>
          <a:off x="0" y="0"/>
          <a:ext cx="0" cy="0"/>
          <a:chOff x="0" y="0"/>
          <a:chExt cx="0" cy="0"/>
        </a:xfrm>
      </p:grpSpPr>
      <p:sp>
        <p:nvSpPr>
          <p:cNvPr id="4032" name="Google Shape;4032;p14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033" name="Google Shape;4033;p14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Set the scene: participants are the vision engineer for Tamr Vision (رؤية تمر), the quality-inspection system of a date-packing plant in Al-Qassim. Over four days they built every component — input pipeline, grade classifier, defect detector, segmenter, curated v2 dataset, evaluation harness, and exported edge artefacts. The capstone is integration plus engineering judgement: one system that watches the conveyor, grades every fruit against the plant's rules, and proves its own quality with a harness report. It is the vision-system project named in the assessment, worth 40% of the grade.</a:t>
            </a:r>
            <a:endParaRPr/>
          </a:p>
        </p:txBody>
      </p:sp>
      <p:sp>
        <p:nvSpPr>
          <p:cNvPr id="4034" name="Google Shape;4034;p14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62" name="Shape 4062"/>
        <p:cNvGrpSpPr/>
        <p:nvPr/>
      </p:nvGrpSpPr>
      <p:grpSpPr>
        <a:xfrm>
          <a:off x="0" y="0"/>
          <a:ext cx="0" cy="0"/>
          <a:chOff x="0" y="0"/>
          <a:chExt cx="0" cy="0"/>
        </a:xfrm>
      </p:grpSpPr>
      <p:sp>
        <p:nvSpPr>
          <p:cNvPr id="4063" name="Google Shape;4063;p14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064" name="Google Shape;4064;p14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Seven mandatory requirements, each mapping to the module that taught it — put that symmetry on the board. Details worth calling out: the classifier checkpoint must embed class order, contract reference and metrics; the detector needs a feasibility analysis for any class that cannot meet its operating point; segmentation reports the grading-disagreement rate against the 8% rule; deployment includes the assembled decision pipeline (classifier + detector + segmenter + grading rules) running on sample footage with structured decision logs, justified against the 380 ms budget. Evaluating on anything but the frozen split is an anti-pattern flag.</a:t>
            </a:r>
            <a:endParaRPr/>
          </a:p>
        </p:txBody>
      </p:sp>
      <p:sp>
        <p:nvSpPr>
          <p:cNvPr id="4065" name="Google Shape;4065;p14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74" name="Shape 4074"/>
        <p:cNvGrpSpPr/>
        <p:nvPr/>
      </p:nvGrpSpPr>
      <p:grpSpPr>
        <a:xfrm>
          <a:off x="0" y="0"/>
          <a:ext cx="0" cy="0"/>
          <a:chOff x="0" y="0"/>
          <a:chExt cx="0" cy="0"/>
        </a:xfrm>
      </p:grpSpPr>
      <p:sp>
        <p:nvSpPr>
          <p:cNvPr id="4075" name="Google Shape;4075;p14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076" name="Google Shape;4076;p14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This is the target state — most of it already exists from the labs; the capstone wires it together. Trace the two loops: the inner loop (training world, harness, export gate) and the outer flywheel (edge decision logs feeding the M5 audit and active-learning loop toward a future v3). The frozen test split sits beside the releases and referees everything. Grading rules — the 8% area rule and per-class operating points — are versioned config, not code. Assembly hours 3–4 focus on the edge-box layer and the decision logic; the rest should be re-use, not re-work.</a:t>
            </a:r>
            <a:endParaRPr/>
          </a:p>
        </p:txBody>
      </p:sp>
      <p:sp>
        <p:nvSpPr>
          <p:cNvPr id="4077" name="Google Shape;4077;p14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03" name="Shape 4103"/>
        <p:cNvGrpSpPr/>
        <p:nvPr/>
      </p:nvGrpSpPr>
      <p:grpSpPr>
        <a:xfrm>
          <a:off x="0" y="0"/>
          <a:ext cx="0" cy="0"/>
          <a:chOff x="0" y="0"/>
          <a:chExt cx="0" cy="0"/>
        </a:xfrm>
      </p:grpSpPr>
      <p:sp>
        <p:nvSpPr>
          <p:cNvPr id="4104" name="Google Shape;4104;p14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105" name="Google Shape;4105;p14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M-A through M-C should already be green from Days 2–3; if any pair is behind, they fast-forward from the reference checkpoints rather than burning assembly time. M-D closes with Lab 7: the trade-off table complete. Hour 3 starts assembly on time — the hard rule; cut discussion, not build time. M-E's gate is the capstone checklist plus the peer-review round in Hour 4. M-F is the demo plus live rubric scoring in Hour 5. Spot-check M-E honestly: a checklist declared green with a missing equivalence test will surface during the live number verification later.</a:t>
            </a:r>
            <a:endParaRPr/>
          </a:p>
        </p:txBody>
      </p:sp>
      <p:sp>
        <p:nvSpPr>
          <p:cNvPr id="4106" name="Google Shape;4106;p14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14" name="Shape 4114"/>
        <p:cNvGrpSpPr/>
        <p:nvPr/>
      </p:nvGrpSpPr>
      <p:grpSpPr>
        <a:xfrm>
          <a:off x="0" y="0"/>
          <a:ext cx="0" cy="0"/>
          <a:chOff x="0" y="0"/>
          <a:chExt cx="0" cy="0"/>
        </a:xfrm>
      </p:grpSpPr>
      <p:sp>
        <p:nvSpPr>
          <p:cNvPr id="4115" name="Google Shape;4115;p14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116" name="Google Shape;4116;p14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Six artefacts plus the demo itself. BENCHMARKS.md is the backbone — every course benchmark table filled from the pair's own runs; the shared leaderboard rows (classifier F1, detector mAP, area MAE, pipeline p99) come from it. DECISIONS.md is where judgement shows: reward participants who rejected something defensible — a config, an augmentation, an extension — with reasons. Collect repository URLs and BENCHMARKS.md at the end of Hour 4, before demos, so harness numbers can be verified while participants prepare their five minutes.</a:t>
            </a:r>
            <a:endParaRPr/>
          </a:p>
        </p:txBody>
      </p:sp>
      <p:sp>
        <p:nvSpPr>
          <p:cNvPr id="4117" name="Google Shape;4117;p14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55" name="Shape 4155"/>
        <p:cNvGrpSpPr/>
        <p:nvPr/>
      </p:nvGrpSpPr>
      <p:grpSpPr>
        <a:xfrm>
          <a:off x="0" y="0"/>
          <a:ext cx="0" cy="0"/>
          <a:chOff x="0" y="0"/>
          <a:chExt cx="0" cy="0"/>
        </a:xfrm>
      </p:grpSpPr>
      <p:sp>
        <p:nvSpPr>
          <p:cNvPr id="4156" name="Google Shape;4156;p15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157" name="Google Shape;4157;p15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Grade from the repository and harness report first, demo second — reproducible evidence is the course's thesis; a slick demo with an untouched frozen split beats nothing. Verify one number live per participant: re-run their harness on the frozen split against BENCHMARKS.md; any mismatch triggers a full check. Anti-pattern flags that cap a criterion at 70%: metrics at undeployed thresholds, test-split modifications, INT8 adopted without a slice check, parity tested on random tensors only, regression deltas without n or CI. Where targets are narrowly missed, grade the analysis.</a:t>
            </a:r>
            <a:endParaRPr/>
          </a:p>
        </p:txBody>
      </p:sp>
      <p:sp>
        <p:nvSpPr>
          <p:cNvPr id="4158" name="Google Shape;4158;p15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67" name="Shape 4167"/>
        <p:cNvGrpSpPr/>
        <p:nvPr/>
      </p:nvGrpSpPr>
      <p:grpSpPr>
        <a:xfrm>
          <a:off x="0" y="0"/>
          <a:ext cx="0" cy="0"/>
          <a:chOff x="0" y="0"/>
          <a:chExt cx="0" cy="0"/>
        </a:xfrm>
      </p:grpSpPr>
      <p:sp>
        <p:nvSpPr>
          <p:cNvPr id="4168" name="Google Shape;4168;p15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169" name="Google Shape;4169;p15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Keep demos to five minutes, hard. Scoring is live — peer plus instructor — during Hour 5. The four demo elements mirror the course thesis: run the system, show the worst slice, defend a trade-off, name the next fix. Bonus tasks for distinction seekers: a TensorRT or OpenVINO-native engine row against ONNX Runtime, the sim-drift watchdog reproduction with a 10-line runbook entry, ByteTrack multi-object counting versus the frame-level baseline, or the one-page acceptance-test document for a fictional buyer. Extensions earn up to +5 only when mandatory scope is at 80% or better — say this before anyone gold-plates.</a:t>
            </a:r>
            <a:endParaRPr/>
          </a:p>
        </p:txBody>
      </p:sp>
      <p:sp>
        <p:nvSpPr>
          <p:cNvPr id="4170" name="Google Shape;4170;p15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93" name="Shape 4193"/>
        <p:cNvGrpSpPr/>
        <p:nvPr/>
      </p:nvGrpSpPr>
      <p:grpSpPr>
        <a:xfrm>
          <a:off x="0" y="0"/>
          <a:ext cx="0" cy="0"/>
          <a:chOff x="0" y="0"/>
          <a:chExt cx="0" cy="0"/>
        </a:xfrm>
      </p:grpSpPr>
      <p:sp>
        <p:nvSpPr>
          <p:cNvPr id="4194" name="Google Shape;4194;p15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195" name="Google Shape;4195;p15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The capstone is 40% and labs are 35% — three quarters of the grade is built evidence, not exams. Lab completion is verified through checkpoint commits, expected outputs and BENCHMARKS.md entries. The quiz uses 10 of the 20-question bank per cohort, 15 minutes, closed book. Badge issuance (the Vision specialisation badge) requires at least 70 overall AND capstone at least 70 AND zero academic-integrity flags — identical harness reports or benchmark tables across repositories are checked. Announce the integrity check early; it prevents rather than catches.</a:t>
            </a:r>
            <a:endParaRPr/>
          </a:p>
        </p:txBody>
      </p:sp>
      <p:sp>
        <p:nvSpPr>
          <p:cNvPr id="4196" name="Google Shape;4196;p15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05" name="Shape 4205"/>
        <p:cNvGrpSpPr/>
        <p:nvPr/>
      </p:nvGrpSpPr>
      <p:grpSpPr>
        <a:xfrm>
          <a:off x="0" y="0"/>
          <a:ext cx="0" cy="0"/>
          <a:chOff x="0" y="0"/>
          <a:chExt cx="0" cy="0"/>
        </a:xfrm>
      </p:grpSpPr>
      <p:sp>
        <p:nvSpPr>
          <p:cNvPr id="4206" name="Google Shape;4206;p15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207" name="Google Shape;4207;p15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PA-1 hands participants a deliberately broken detection project — BGR feed into the wrapper, class-shifted dataset YAML, metrics reported at conf=0.001 — and scores diagnosis notes 40%, fixes 40%, verification evidence 20%. PA-2 is a governance review of a dataset PR scored against the model review: 50% triage correctness, 30% review actionability, 20% governance reasoning. The M7 quiz answers to have ready: export needs tensor parity plus zero decision flips; an evening-slice INT8 failure means a daytime-only calibration set; p99 because actuation deadlines are missed in the tail.</a:t>
            </a:r>
            <a:endParaRPr/>
          </a:p>
        </p:txBody>
      </p:sp>
      <p:sp>
        <p:nvSpPr>
          <p:cNvPr id="4208" name="Google Shape;4208;p15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27" name="Shape 4227"/>
        <p:cNvGrpSpPr/>
        <p:nvPr/>
      </p:nvGrpSpPr>
      <p:grpSpPr>
        <a:xfrm>
          <a:off x="0" y="0"/>
          <a:ext cx="0" cy="0"/>
          <a:chOff x="0" y="0"/>
          <a:chExt cx="0" cy="0"/>
        </a:xfrm>
      </p:grpSpPr>
      <p:sp>
        <p:nvSpPr>
          <p:cNvPr id="4228" name="Google Shape;4228;p15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229" name="Google Shape;4229;p15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The overrun-prone pair is Labs 3 and 5 — protect them at full length and compress M4 theory instead; mask mechanics land through the lab. Day 3 Hour 5 is the course's emotional payoff — never sacrifice it. Every lab caps training at 15 minutes wall-clock by design; if a run exceeds it, resume from the checkpoint — the learning is in the decisions, not the waiting. Rotate pairs daily, matching strong-PyTorch with strong-domain-intuition participants. Each hour is 50 minutes plus 10 buffer; the Day 4 afternoon is deliberately flexible for prayer scheduling.</a:t>
            </a:r>
            <a:endParaRPr/>
          </a:p>
        </p:txBody>
      </p:sp>
      <p:sp>
        <p:nvSpPr>
          <p:cNvPr id="4230" name="Google Shape;4230;p15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38" name="Shape 4238"/>
        <p:cNvGrpSpPr/>
        <p:nvPr/>
      </p:nvGrpSpPr>
      <p:grpSpPr>
        <a:xfrm>
          <a:off x="0" y="0"/>
          <a:ext cx="0" cy="0"/>
          <a:chOff x="0" y="0"/>
          <a:chExt cx="0" cy="0"/>
        </a:xfrm>
      </p:grpSpPr>
      <p:sp>
        <p:nvSpPr>
          <p:cNvPr id="4239" name="Google Shape;4239;p15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240" name="Google Shape;4240;p15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From the T-minus-one-week checklist, the Day 4 critical items: sim branches sim-calib-day and sim-wrapper-drift pushed, lab7-start tagged, reference checkpoints regenerated within ±0.005, onnxruntime installed (OpenVINO variant where possible), and the optimisation-ladder and cloud-vs-edge A4 posters printed. For the wrap-up, use discussion prompt five: which DECISIONS.md entry would you defend in front of a food-safety auditor? SDA-AIE-216 operates exactly what was built today — versioned bundles, harness-as-regression-gate, input fingerprints, fleet telemetry. Specialist certificate = Practitioner + AIE-216 + any three of AIE-211–215.</a:t>
            </a:r>
            <a:endParaRPr/>
          </a:p>
        </p:txBody>
      </p:sp>
      <p:sp>
        <p:nvSpPr>
          <p:cNvPr id="4241" name="Google Shape;4241;p15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64" name="Shape 4264"/>
        <p:cNvGrpSpPr/>
        <p:nvPr/>
      </p:nvGrpSpPr>
      <p:grpSpPr>
        <a:xfrm>
          <a:off x="0" y="0"/>
          <a:ext cx="0" cy="0"/>
          <a:chOff x="0" y="0"/>
          <a:chExt cx="0" cy="0"/>
        </a:xfrm>
      </p:grpSpPr>
      <p:sp>
        <p:nvSpPr>
          <p:cNvPr id="4265" name="Google Shape;4265;p15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266" name="Google Shape;4266;p15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Close the loop on stackability: participants leave with the vision specialisation badge, an elective credit toward the AI Engineer Specialist certificate, and a working system that becomes their starting artefact in SDA-AIE-216, where they add CI/CD, monitoring, and drift alerting. Encourage immediate enrolment while the capstone code is fresh — the MLOps course assumes the Tamr Vision system as a known quantity.</a:t>
            </a:r>
            <a:endParaRPr/>
          </a:p>
        </p:txBody>
      </p:sp>
      <p:sp>
        <p:nvSpPr>
          <p:cNvPr id="4267" name="Google Shape;4267;p15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86" name="Shape 4286"/>
        <p:cNvGrpSpPr/>
        <p:nvPr/>
      </p:nvGrpSpPr>
      <p:grpSpPr>
        <a:xfrm>
          <a:off x="0" y="0"/>
          <a:ext cx="0" cy="0"/>
          <a:chOff x="0" y="0"/>
          <a:chExt cx="0" cy="0"/>
        </a:xfrm>
      </p:grpSpPr>
      <p:sp>
        <p:nvSpPr>
          <p:cNvPr id="4287" name="Google Shape;4287;p15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288" name="Google Shape;4288;p15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Recap by capability, not by module title — read each card as 'you can now…'. Invite each pair to name the single technique they will apply at work within a month, and write the answers on the board; this commitment moment measurably improves transfer. Remind them the course repo, checkpoints, and BENCHMARKS.md templates remain available, and point them to the feedback form before they leave.</a:t>
            </a:r>
            <a:endParaRPr/>
          </a:p>
        </p:txBody>
      </p:sp>
      <p:sp>
        <p:nvSpPr>
          <p:cNvPr id="4289" name="Google Shape;4289;p15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26" name="Shape 4326"/>
        <p:cNvGrpSpPr/>
        <p:nvPr/>
      </p:nvGrpSpPr>
      <p:grpSpPr>
        <a:xfrm>
          <a:off x="0" y="0"/>
          <a:ext cx="0" cy="0"/>
          <a:chOff x="0" y="0"/>
          <a:chExt cx="0" cy="0"/>
        </a:xfrm>
      </p:grpSpPr>
      <p:sp>
        <p:nvSpPr>
          <p:cNvPr id="4327" name="Google Shape;4327;p15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328" name="Google Shape;4328;p15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Thank the room, acknowledge the pairs that presented strong capstones, and confirm the logistics on screen: rubric scores within five working days, repo access persists, and the badge is issued through the Academy platform. End with the forward pointer to SDA-AIE-216 and a final photo of the class with their benchmark wall if culture permits.</a:t>
            </a:r>
            <a:endParaRPr/>
          </a:p>
        </p:txBody>
      </p:sp>
      <p:sp>
        <p:nvSpPr>
          <p:cNvPr id="4329" name="Google Shape;4329;p15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10" name="Shape 10"/>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 name="Shape 9"/>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49"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1.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1.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1.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1.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1.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image" Target="../media/image1.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openxmlformats.org/officeDocument/2006/relationships/image" Target="../media/image1.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 Id="rId3" Type="http://schemas.openxmlformats.org/officeDocument/2006/relationships/image" Target="../media/image1.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 Id="rId3" Type="http://schemas.openxmlformats.org/officeDocument/2006/relationships/image" Target="../media/image1.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 Id="rId3" Type="http://schemas.openxmlformats.org/officeDocument/2006/relationships/image" Target="../media/image1.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 Id="rId3" Type="http://schemas.openxmlformats.org/officeDocument/2006/relationships/image" Target="../media/image1.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 Id="rId3" Type="http://schemas.openxmlformats.org/officeDocument/2006/relationships/image" Target="../media/image1.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 Id="rId3" Type="http://schemas.openxmlformats.org/officeDocument/2006/relationships/image" Target="../media/image1.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 Id="rId3" Type="http://schemas.openxmlformats.org/officeDocument/2006/relationships/image" Target="../media/image1.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 Id="rId3" Type="http://schemas.openxmlformats.org/officeDocument/2006/relationships/image" Target="../media/image1.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 Id="rId3" Type="http://schemas.openxmlformats.org/officeDocument/2006/relationships/image" Target="../media/image1.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 Id="rId3" Type="http://schemas.openxmlformats.org/officeDocument/2006/relationships/image" Target="../media/image1.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 Id="rId3" Type="http://schemas.openxmlformats.org/officeDocument/2006/relationships/image" Target="../media/image1.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 Id="rId3" Type="http://schemas.openxmlformats.org/officeDocument/2006/relationships/image" Target="../media/image1.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 Id="rId3" Type="http://schemas.openxmlformats.org/officeDocument/2006/relationships/image" Target="../media/image1.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 Id="rId3" Type="http://schemas.openxmlformats.org/officeDocument/2006/relationships/image" Target="../media/image1.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 Id="rId3" Type="http://schemas.openxmlformats.org/officeDocument/2006/relationships/image" Target="../media/image1.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 Id="rId3" Type="http://schemas.openxmlformats.org/officeDocument/2006/relationships/image" Target="../media/image1.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 Id="rId3" Type="http://schemas.openxmlformats.org/officeDocument/2006/relationships/image" Target="../media/image1.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 Id="rId3" Type="http://schemas.openxmlformats.org/officeDocument/2006/relationships/image" Target="../media/image1.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 Id="rId3" Type="http://schemas.openxmlformats.org/officeDocument/2006/relationships/image" Target="../media/image1.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 Id="rId3" Type="http://schemas.openxmlformats.org/officeDocument/2006/relationships/image" Target="../media/image1.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 Id="rId3" Type="http://schemas.openxmlformats.org/officeDocument/2006/relationships/image" Target="../media/image1.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 Id="rId3" Type="http://schemas.openxmlformats.org/officeDocument/2006/relationships/image" Target="../media/image1.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 Id="rId3" Type="http://schemas.openxmlformats.org/officeDocument/2006/relationships/image" Target="../media/image1.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 Id="rId3" Type="http://schemas.openxmlformats.org/officeDocument/2006/relationships/image" Target="../media/image1.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 Id="rId3" Type="http://schemas.openxmlformats.org/officeDocument/2006/relationships/image" Target="../media/image1.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 Id="rId3" Type="http://schemas.openxmlformats.org/officeDocument/2006/relationships/image" Target="../media/image1.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 Id="rId3" Type="http://schemas.openxmlformats.org/officeDocument/2006/relationships/image" Target="../media/image1.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 Id="rId3" Type="http://schemas.openxmlformats.org/officeDocument/2006/relationships/image" Target="../media/image1.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7.xml"/><Relationship Id="rId3" Type="http://schemas.openxmlformats.org/officeDocument/2006/relationships/image" Target="../media/image1.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8.xml"/><Relationship Id="rId3" Type="http://schemas.openxmlformats.org/officeDocument/2006/relationships/image" Target="../media/image1.pn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9.xml"/><Relationship Id="rId3" Type="http://schemas.openxmlformats.org/officeDocument/2006/relationships/image" Target="../media/image1.pn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0.xml"/><Relationship Id="rId3" Type="http://schemas.openxmlformats.org/officeDocument/2006/relationships/image" Target="../media/image1.pn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1.xml"/><Relationship Id="rId3" Type="http://schemas.openxmlformats.org/officeDocument/2006/relationships/image" Target="../media/image1.png"/></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2.xml"/><Relationship Id="rId3" Type="http://schemas.openxmlformats.org/officeDocument/2006/relationships/image" Target="../media/image1.png"/></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3.xml"/><Relationship Id="rId3" Type="http://schemas.openxmlformats.org/officeDocument/2006/relationships/image" Target="../media/image1.png"/></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4.xml"/><Relationship Id="rId3" Type="http://schemas.openxmlformats.org/officeDocument/2006/relationships/image" Target="../media/image1.png"/></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5.xml"/><Relationship Id="rId3" Type="http://schemas.openxmlformats.org/officeDocument/2006/relationships/image" Target="../media/image1.png"/></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6.xml"/><Relationship Id="rId3" Type="http://schemas.openxmlformats.org/officeDocument/2006/relationships/image" Target="../media/image1.png"/></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7.xml"/><Relationship Id="rId3" Type="http://schemas.openxmlformats.org/officeDocument/2006/relationships/image" Target="../media/image1.png"/></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8.xml"/><Relationship Id="rId3" Type="http://schemas.openxmlformats.org/officeDocument/2006/relationships/image" Target="../media/image1.png"/></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9.xml"/><Relationship Id="rId3" Type="http://schemas.openxmlformats.org/officeDocument/2006/relationships/image" Target="../media/image1.png"/></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0.xml"/><Relationship Id="rId3" Type="http://schemas.openxmlformats.org/officeDocument/2006/relationships/image" Target="../media/image1.png"/></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1.xml"/><Relationship Id="rId3" Type="http://schemas.openxmlformats.org/officeDocument/2006/relationships/image" Target="../media/image1.png"/></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2.xml"/><Relationship Id="rId3" Type="http://schemas.openxmlformats.org/officeDocument/2006/relationships/image" Target="../media/image1.png"/></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3.xml"/><Relationship Id="rId3" Type="http://schemas.openxmlformats.org/officeDocument/2006/relationships/image" Target="../media/image1.png"/></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4.xml"/><Relationship Id="rId3" Type="http://schemas.openxmlformats.org/officeDocument/2006/relationships/image" Target="../media/image1.png"/></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5.xml"/><Relationship Id="rId3" Type="http://schemas.openxmlformats.org/officeDocument/2006/relationships/image" Target="../media/image1.png"/></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6.xml"/><Relationship Id="rId3" Type="http://schemas.openxmlformats.org/officeDocument/2006/relationships/image" Target="../media/image1.png"/></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7.xml"/><Relationship Id="rId3" Type="http://schemas.openxmlformats.org/officeDocument/2006/relationships/image" Target="../media/image1.png"/></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8.xml"/><Relationship Id="rId3" Type="http://schemas.openxmlformats.org/officeDocument/2006/relationships/image" Target="../media/image1.png"/></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9.xml"/><Relationship Id="rId3" Type="http://schemas.openxmlformats.org/officeDocument/2006/relationships/image" Target="../media/image1.png"/></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0.xml"/><Relationship Id="rId3" Type="http://schemas.openxmlformats.org/officeDocument/2006/relationships/image" Target="../media/image1.png"/></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1.xml"/><Relationship Id="rId3" Type="http://schemas.openxmlformats.org/officeDocument/2006/relationships/image" Target="../media/image1.png"/></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2.xml"/><Relationship Id="rId3" Type="http://schemas.openxmlformats.org/officeDocument/2006/relationships/image" Target="../media/image1.png"/></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3.xml"/><Relationship Id="rId3" Type="http://schemas.openxmlformats.org/officeDocument/2006/relationships/image" Target="../media/image1.png"/></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4.xml"/><Relationship Id="rId3" Type="http://schemas.openxmlformats.org/officeDocument/2006/relationships/image" Target="../media/image1.png"/></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5.xml"/><Relationship Id="rId3" Type="http://schemas.openxmlformats.org/officeDocument/2006/relationships/image" Target="../media/image1.png"/></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6.xml"/><Relationship Id="rId3" Type="http://schemas.openxmlformats.org/officeDocument/2006/relationships/image" Target="../media/image1.png"/></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7.xml"/><Relationship Id="rId3" Type="http://schemas.openxmlformats.org/officeDocument/2006/relationships/image" Target="../media/image1.png"/></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8.xml"/><Relationship Id="rId3" Type="http://schemas.openxmlformats.org/officeDocument/2006/relationships/image" Target="../media/image1.png"/></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9.xml"/><Relationship Id="rId3" Type="http://schemas.openxmlformats.org/officeDocument/2006/relationships/image" Target="../media/image1.png"/></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0.xml"/><Relationship Id="rId3" Type="http://schemas.openxmlformats.org/officeDocument/2006/relationships/image" Target="../media/image1.png"/></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1.xml"/><Relationship Id="rId3" Type="http://schemas.openxmlformats.org/officeDocument/2006/relationships/image" Target="../media/image1.png"/></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2.xml"/><Relationship Id="rId3" Type="http://schemas.openxmlformats.org/officeDocument/2006/relationships/image" Target="../media/image1.png"/></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3.xml"/><Relationship Id="rId3" Type="http://schemas.openxmlformats.org/officeDocument/2006/relationships/image" Target="../media/image1.png"/></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4.xml"/><Relationship Id="rId3" Type="http://schemas.openxmlformats.org/officeDocument/2006/relationships/image" Target="../media/image1.png"/></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5.xml"/><Relationship Id="rId3" Type="http://schemas.openxmlformats.org/officeDocument/2006/relationships/image" Target="../media/image1.png"/></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6.xml"/><Relationship Id="rId3" Type="http://schemas.openxmlformats.org/officeDocument/2006/relationships/image" Target="../media/image1.png"/></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7.xml"/><Relationship Id="rId3" Type="http://schemas.openxmlformats.org/officeDocument/2006/relationships/image" Target="../media/image1.png"/></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8.xml"/><Relationship Id="rId3" Type="http://schemas.openxmlformats.org/officeDocument/2006/relationships/image" Target="../media/image1.png"/></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9.xml"/><Relationship Id="rId3" Type="http://schemas.openxmlformats.org/officeDocument/2006/relationships/image" Target="../media/image1.png"/></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0.xml"/><Relationship Id="rId3" Type="http://schemas.openxmlformats.org/officeDocument/2006/relationships/image" Target="../media/image1.png"/></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1.xml"/><Relationship Id="rId3" Type="http://schemas.openxmlformats.org/officeDocument/2006/relationships/image" Target="../media/image1.png"/></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2.xml"/><Relationship Id="rId3" Type="http://schemas.openxmlformats.org/officeDocument/2006/relationships/image" Target="../media/image1.png"/></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3.xml"/><Relationship Id="rId3" Type="http://schemas.openxmlformats.org/officeDocument/2006/relationships/image" Target="../media/image1.png"/></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4.xml"/><Relationship Id="rId3" Type="http://schemas.openxmlformats.org/officeDocument/2006/relationships/image" Target="../media/image1.png"/></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5.xml"/><Relationship Id="rId3" Type="http://schemas.openxmlformats.org/officeDocument/2006/relationships/image" Target="../media/image1.png"/></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6.xml"/><Relationship Id="rId3" Type="http://schemas.openxmlformats.org/officeDocument/2006/relationships/image" Target="../media/image1.png"/></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7.xml"/><Relationship Id="rId3" Type="http://schemas.openxmlformats.org/officeDocument/2006/relationships/image" Target="../media/image1.png"/></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8.xml"/><Relationship Id="rId3" Type="http://schemas.openxmlformats.org/officeDocument/2006/relationships/image" Target="../media/image1.png"/></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9.xml"/><Relationship Id="rId3" Type="http://schemas.openxmlformats.org/officeDocument/2006/relationships/image" Target="../media/image1.png"/></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0.xml"/><Relationship Id="rId3" Type="http://schemas.openxmlformats.org/officeDocument/2006/relationships/image" Target="../media/image1.png"/></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1.xml"/><Relationship Id="rId3" Type="http://schemas.openxmlformats.org/officeDocument/2006/relationships/image" Target="../media/image1.png"/></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2.xml"/><Relationship Id="rId3" Type="http://schemas.openxmlformats.org/officeDocument/2006/relationships/image" Target="../media/image1.png"/></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3.xml"/><Relationship Id="rId3" Type="http://schemas.openxmlformats.org/officeDocument/2006/relationships/image" Target="../media/image1.png"/></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4.xml"/><Relationship Id="rId3" Type="http://schemas.openxmlformats.org/officeDocument/2006/relationships/image" Target="../media/image1.png"/></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5.xml"/><Relationship Id="rId3" Type="http://schemas.openxmlformats.org/officeDocument/2006/relationships/image" Target="../media/image1.png"/></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6.xml"/><Relationship Id="rId3" Type="http://schemas.openxmlformats.org/officeDocument/2006/relationships/image" Target="../media/image1.png"/></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7.xml"/><Relationship Id="rId3" Type="http://schemas.openxmlformats.org/officeDocument/2006/relationships/image" Target="../media/image1.png"/></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8.xml"/><Relationship Id="rId3" Type="http://schemas.openxmlformats.org/officeDocument/2006/relationships/image" Target="../media/image1.png"/></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9.xml"/><Relationship Id="rId3" Type="http://schemas.openxmlformats.org/officeDocument/2006/relationships/image" Target="../media/image1.png"/></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0.xml"/><Relationship Id="rId3" Type="http://schemas.openxmlformats.org/officeDocument/2006/relationships/image" Target="../media/image1.png"/></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1.xml"/><Relationship Id="rId3" Type="http://schemas.openxmlformats.org/officeDocument/2006/relationships/image" Target="../media/image1.png"/></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2.xml"/><Relationship Id="rId3" Type="http://schemas.openxmlformats.org/officeDocument/2006/relationships/image" Target="../media/image1.png"/></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3.xml"/><Relationship Id="rId3" Type="http://schemas.openxmlformats.org/officeDocument/2006/relationships/image" Target="../media/image1.png"/></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4.xml"/><Relationship Id="rId3" Type="http://schemas.openxmlformats.org/officeDocument/2006/relationships/image" Target="../media/image1.png"/></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5.xml"/><Relationship Id="rId3" Type="http://schemas.openxmlformats.org/officeDocument/2006/relationships/image" Target="../media/image1.png"/></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6.xml"/><Relationship Id="rId3" Type="http://schemas.openxmlformats.org/officeDocument/2006/relationships/image" Target="../media/image1.png"/></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7.xml"/><Relationship Id="rId3" Type="http://schemas.openxmlformats.org/officeDocument/2006/relationships/image" Target="../media/image1.png"/></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8.xml"/><Relationship Id="rId3" Type="http://schemas.openxmlformats.org/officeDocument/2006/relationships/image" Target="../media/image1.png"/></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9.xml"/><Relationship Id="rId3" Type="http://schemas.openxmlformats.org/officeDocument/2006/relationships/image" Target="../media/image1.png"/></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0.xml"/><Relationship Id="rId3" Type="http://schemas.openxmlformats.org/officeDocument/2006/relationships/image" Target="../media/image1.png"/></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1.xml"/><Relationship Id="rId3" Type="http://schemas.openxmlformats.org/officeDocument/2006/relationships/image" Target="../media/image1.png"/></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2.xml"/><Relationship Id="rId3" Type="http://schemas.openxmlformats.org/officeDocument/2006/relationships/image" Target="../media/image1.png"/></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3.xml"/><Relationship Id="rId3" Type="http://schemas.openxmlformats.org/officeDocument/2006/relationships/image" Target="../media/image1.png"/></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4.xml"/><Relationship Id="rId3" Type="http://schemas.openxmlformats.org/officeDocument/2006/relationships/image" Target="../media/image1.png"/></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5.xml"/><Relationship Id="rId3" Type="http://schemas.openxmlformats.org/officeDocument/2006/relationships/image" Target="../media/image1.png"/></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6.xml"/><Relationship Id="rId3" Type="http://schemas.openxmlformats.org/officeDocument/2006/relationships/image" Target="../media/image1.png"/></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7.xml"/><Relationship Id="rId3" Type="http://schemas.openxmlformats.org/officeDocument/2006/relationships/image" Target="../media/image1.png"/></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8.xml"/><Relationship Id="rId3" Type="http://schemas.openxmlformats.org/officeDocument/2006/relationships/image" Target="../media/image1.png"/></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9.xml"/><Relationship Id="rId3" Type="http://schemas.openxmlformats.org/officeDocument/2006/relationships/image" Target="../media/image1.png"/></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0.xml"/><Relationship Id="rId3" Type="http://schemas.openxmlformats.org/officeDocument/2006/relationships/image" Target="../media/image1.png"/></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1.xml"/><Relationship Id="rId3" Type="http://schemas.openxmlformats.org/officeDocument/2006/relationships/image" Target="../media/image1.png"/></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2.xml"/><Relationship Id="rId3" Type="http://schemas.openxmlformats.org/officeDocument/2006/relationships/image" Target="../media/image1.png"/></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3.xml"/><Relationship Id="rId3" Type="http://schemas.openxmlformats.org/officeDocument/2006/relationships/image" Target="../media/image1.png"/></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4.xml"/><Relationship Id="rId3" Type="http://schemas.openxmlformats.org/officeDocument/2006/relationships/image" Target="../media/image1.png"/></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5.xml"/><Relationship Id="rId3" Type="http://schemas.openxmlformats.org/officeDocument/2006/relationships/image" Target="../media/image1.png"/></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6.xml"/><Relationship Id="rId3" Type="http://schemas.openxmlformats.org/officeDocument/2006/relationships/image" Target="../media/image1.png"/></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7.xml"/><Relationship Id="rId3" Type="http://schemas.openxmlformats.org/officeDocument/2006/relationships/image" Target="../media/image1.png"/></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8.xml"/><Relationship Id="rId3" Type="http://schemas.openxmlformats.org/officeDocument/2006/relationships/image" Target="../media/image1.png"/></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9.xml"/><Relationship Id="rId3" Type="http://schemas.openxmlformats.org/officeDocument/2006/relationships/image" Target="../media/image1.png"/></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0.xml"/><Relationship Id="rId3" Type="http://schemas.openxmlformats.org/officeDocument/2006/relationships/image" Target="../media/image1.png"/></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1.xml"/><Relationship Id="rId3" Type="http://schemas.openxmlformats.org/officeDocument/2006/relationships/image" Target="../media/image1.png"/></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2.xml"/><Relationship Id="rId3" Type="http://schemas.openxmlformats.org/officeDocument/2006/relationships/image" Target="../media/image1.png"/></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3.xml"/><Relationship Id="rId3" Type="http://schemas.openxmlformats.org/officeDocument/2006/relationships/image" Target="../media/image1.png"/></Relationships>
</file>

<file path=ppt/slides/_rels/slide1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4.xml"/><Relationship Id="rId3" Type="http://schemas.openxmlformats.org/officeDocument/2006/relationships/image" Target="../media/image1.png"/></Relationships>
</file>

<file path=ppt/slides/_rels/slide1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5.xml"/><Relationship Id="rId3" Type="http://schemas.openxmlformats.org/officeDocument/2006/relationships/image" Target="../media/image1.png"/></Relationships>
</file>

<file path=ppt/slides/_rels/slide1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6.xml"/><Relationship Id="rId3" Type="http://schemas.openxmlformats.org/officeDocument/2006/relationships/image" Target="../media/image1.png"/></Relationships>
</file>

<file path=ppt/slides/_rels/slide1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7.xml"/><Relationship Id="rId3" Type="http://schemas.openxmlformats.org/officeDocument/2006/relationships/image" Target="../media/image1.png"/></Relationships>
</file>

<file path=ppt/slides/_rels/slide1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8.xml"/><Relationship Id="rId3" Type="http://schemas.openxmlformats.org/officeDocument/2006/relationships/image" Target="../media/image1.png"/></Relationships>
</file>

<file path=ppt/slides/_rels/slide14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9.xml"/><Relationship Id="rId3" Type="http://schemas.openxmlformats.org/officeDocument/2006/relationships/image" Target="../media/image1.png"/></Relationships>
</file>

<file path=ppt/slides/_rels/slide15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0.xml"/><Relationship Id="rId3" Type="http://schemas.openxmlformats.org/officeDocument/2006/relationships/image" Target="../media/image1.png"/></Relationships>
</file>

<file path=ppt/slides/_rels/slide15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1.xml"/><Relationship Id="rId3" Type="http://schemas.openxmlformats.org/officeDocument/2006/relationships/image" Target="../media/image1.png"/></Relationships>
</file>

<file path=ppt/slides/_rels/slide15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2.xml"/><Relationship Id="rId3" Type="http://schemas.openxmlformats.org/officeDocument/2006/relationships/image" Target="../media/image1.png"/></Relationships>
</file>

<file path=ppt/slides/_rels/slide15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3.xml"/><Relationship Id="rId3" Type="http://schemas.openxmlformats.org/officeDocument/2006/relationships/image" Target="../media/image1.png"/></Relationships>
</file>

<file path=ppt/slides/_rels/slide15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4.xml"/><Relationship Id="rId3" Type="http://schemas.openxmlformats.org/officeDocument/2006/relationships/image" Target="../media/image1.png"/></Relationships>
</file>

<file path=ppt/slides/_rels/slide15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5.xml"/><Relationship Id="rId3" Type="http://schemas.openxmlformats.org/officeDocument/2006/relationships/image" Target="../media/image1.png"/></Relationships>
</file>

<file path=ppt/slides/_rels/slide15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6.xml"/><Relationship Id="rId3" Type="http://schemas.openxmlformats.org/officeDocument/2006/relationships/image" Target="../media/image1.png"/></Relationships>
</file>

<file path=ppt/slides/_rels/slide15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7.xml"/><Relationship Id="rId3" Type="http://schemas.openxmlformats.org/officeDocument/2006/relationships/image" Target="../media/image1.png"/></Relationships>
</file>

<file path=ppt/slides/_rels/slide15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8.xml"/><Relationship Id="rId3"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5" name="Shape 15"/>
        <p:cNvGrpSpPr/>
        <p:nvPr/>
      </p:nvGrpSpPr>
      <p:grpSpPr>
        <a:xfrm>
          <a:off x="0" y="0"/>
          <a:ext cx="0" cy="0"/>
          <a:chOff x="0" y="0"/>
          <a:chExt cx="0" cy="0"/>
        </a:xfrm>
      </p:grpSpPr>
      <p:pic>
        <p:nvPicPr>
          <p:cNvPr descr="/sessions/blissful-determined-ritchie/build/assets/sdaia_logo.png" id="16" name="Google Shape;16;p1"/>
          <p:cNvPicPr preferRelativeResize="0"/>
          <p:nvPr/>
        </p:nvPicPr>
        <p:blipFill rotWithShape="1">
          <a:blip r:embed="rId3">
            <a:alphaModFix/>
          </a:blip>
          <a:srcRect b="0" l="0" r="0" t="0"/>
          <a:stretch/>
        </p:blipFill>
        <p:spPr>
          <a:xfrm>
            <a:off x="640080" y="502920"/>
            <a:ext cx="2286000" cy="559558"/>
          </a:xfrm>
          <a:prstGeom prst="rect">
            <a:avLst/>
          </a:prstGeom>
          <a:noFill/>
          <a:ln>
            <a:noFill/>
          </a:ln>
        </p:spPr>
      </p:pic>
      <p:sp>
        <p:nvSpPr>
          <p:cNvPr id="17" name="Google Shape;17;p1"/>
          <p:cNvSpPr/>
          <p:nvPr/>
        </p:nvSpPr>
        <p:spPr>
          <a:xfrm>
            <a:off x="8595360" y="1444752"/>
            <a:ext cx="438912" cy="380390"/>
          </a:xfrm>
          <a:prstGeom prst="triangle">
            <a:avLst>
              <a:gd fmla="val 50000" name="adj"/>
            </a:avLst>
          </a:prstGeom>
          <a:solidFill>
            <a:srgbClr val="00A79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 name="Google Shape;18;p1"/>
          <p:cNvSpPr/>
          <p:nvPr/>
        </p:nvSpPr>
        <p:spPr>
          <a:xfrm rot="10800000">
            <a:off x="9063533" y="1078992"/>
            <a:ext cx="438912" cy="380390"/>
          </a:xfrm>
          <a:prstGeom prst="triangle">
            <a:avLst>
              <a:gd fmla="val 50000" name="adj"/>
            </a:avLst>
          </a:prstGeom>
          <a:solidFill>
            <a:srgbClr val="29ABE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 name="Google Shape;19;p1"/>
          <p:cNvSpPr/>
          <p:nvPr/>
        </p:nvSpPr>
        <p:spPr>
          <a:xfrm rot="10800000">
            <a:off x="9063533" y="1810512"/>
            <a:ext cx="438912" cy="380390"/>
          </a:xfrm>
          <a:prstGeom prst="triangle">
            <a:avLst>
              <a:gd fmla="val 50000" name="adj"/>
            </a:avLst>
          </a:prstGeom>
          <a:solidFill>
            <a:srgbClr val="F5822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 name="Google Shape;20;p1"/>
          <p:cNvSpPr/>
          <p:nvPr/>
        </p:nvSpPr>
        <p:spPr>
          <a:xfrm>
            <a:off x="9531706" y="1444752"/>
            <a:ext cx="438912" cy="380390"/>
          </a:xfrm>
          <a:prstGeom prst="triangle">
            <a:avLst>
              <a:gd fmla="val 50000" name="adj"/>
            </a:avLst>
          </a:prstGeom>
          <a:solidFill>
            <a:srgbClr val="8DC63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 name="Google Shape;21;p1"/>
          <p:cNvSpPr/>
          <p:nvPr/>
        </p:nvSpPr>
        <p:spPr>
          <a:xfrm>
            <a:off x="9531706" y="713232"/>
            <a:ext cx="438912" cy="380390"/>
          </a:xfrm>
          <a:prstGeom prst="triangle">
            <a:avLst>
              <a:gd fmla="val 50000" name="adj"/>
            </a:avLst>
          </a:prstGeom>
          <a:solidFill>
            <a:srgbClr val="1D2A5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 name="Google Shape;22;p1"/>
          <p:cNvSpPr/>
          <p:nvPr/>
        </p:nvSpPr>
        <p:spPr>
          <a:xfrm rot="10800000">
            <a:off x="9999878" y="1078992"/>
            <a:ext cx="438912" cy="380390"/>
          </a:xfrm>
          <a:prstGeom prst="triangle">
            <a:avLst>
              <a:gd fmla="val 50000" name="adj"/>
            </a:avLst>
          </a:prstGeom>
          <a:solidFill>
            <a:srgbClr val="29ABE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 name="Google Shape;23;p1"/>
          <p:cNvSpPr/>
          <p:nvPr/>
        </p:nvSpPr>
        <p:spPr>
          <a:xfrm>
            <a:off x="9999878" y="1810512"/>
            <a:ext cx="438912" cy="380390"/>
          </a:xfrm>
          <a:prstGeom prst="triangle">
            <a:avLst>
              <a:gd fmla="val 50000" name="adj"/>
            </a:avLst>
          </a:prstGeom>
          <a:solidFill>
            <a:srgbClr val="00A79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 name="Google Shape;24;p1"/>
          <p:cNvSpPr/>
          <p:nvPr/>
        </p:nvSpPr>
        <p:spPr>
          <a:xfrm rot="10800000">
            <a:off x="10468051" y="1444752"/>
            <a:ext cx="438912" cy="380390"/>
          </a:xfrm>
          <a:prstGeom prst="triangle">
            <a:avLst>
              <a:gd fmla="val 50000" name="adj"/>
            </a:avLst>
          </a:prstGeom>
          <a:solidFill>
            <a:srgbClr val="F5822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 name="Google Shape;25;p1"/>
          <p:cNvSpPr/>
          <p:nvPr/>
        </p:nvSpPr>
        <p:spPr>
          <a:xfrm>
            <a:off x="9692640" y="5673852"/>
            <a:ext cx="301752" cy="261518"/>
          </a:xfrm>
          <a:prstGeom prst="triangle">
            <a:avLst>
              <a:gd fmla="val 50000" name="adj"/>
            </a:avLst>
          </a:prstGeom>
          <a:solidFill>
            <a:srgbClr val="00A79D">
              <a:alpha val="18039"/>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 name="Google Shape;26;p1"/>
          <p:cNvSpPr/>
          <p:nvPr/>
        </p:nvSpPr>
        <p:spPr>
          <a:xfrm rot="10800000">
            <a:off x="10014509" y="5422392"/>
            <a:ext cx="301752" cy="261518"/>
          </a:xfrm>
          <a:prstGeom prst="triangle">
            <a:avLst>
              <a:gd fmla="val 50000" name="adj"/>
            </a:avLst>
          </a:prstGeom>
          <a:solidFill>
            <a:srgbClr val="29ABE2">
              <a:alpha val="18039"/>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 name="Google Shape;27;p1"/>
          <p:cNvSpPr/>
          <p:nvPr/>
        </p:nvSpPr>
        <p:spPr>
          <a:xfrm rot="10800000">
            <a:off x="10014509" y="5925312"/>
            <a:ext cx="301752" cy="261518"/>
          </a:xfrm>
          <a:prstGeom prst="triangle">
            <a:avLst>
              <a:gd fmla="val 50000" name="adj"/>
            </a:avLst>
          </a:prstGeom>
          <a:solidFill>
            <a:srgbClr val="F58220">
              <a:alpha val="18039"/>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 name="Google Shape;28;p1"/>
          <p:cNvSpPr/>
          <p:nvPr/>
        </p:nvSpPr>
        <p:spPr>
          <a:xfrm>
            <a:off x="10336378" y="5673852"/>
            <a:ext cx="301752" cy="261518"/>
          </a:xfrm>
          <a:prstGeom prst="triangle">
            <a:avLst>
              <a:gd fmla="val 50000" name="adj"/>
            </a:avLst>
          </a:prstGeom>
          <a:solidFill>
            <a:srgbClr val="8DC63F">
              <a:alpha val="18039"/>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 name="Google Shape;29;p1"/>
          <p:cNvSpPr/>
          <p:nvPr/>
        </p:nvSpPr>
        <p:spPr>
          <a:xfrm>
            <a:off x="10336378" y="5170932"/>
            <a:ext cx="301752" cy="261518"/>
          </a:xfrm>
          <a:prstGeom prst="triangle">
            <a:avLst>
              <a:gd fmla="val 50000" name="adj"/>
            </a:avLst>
          </a:prstGeom>
          <a:solidFill>
            <a:srgbClr val="1D2A5C">
              <a:alpha val="18039"/>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 name="Google Shape;30;p1"/>
          <p:cNvSpPr/>
          <p:nvPr/>
        </p:nvSpPr>
        <p:spPr>
          <a:xfrm rot="10800000">
            <a:off x="10658246" y="5422392"/>
            <a:ext cx="301752" cy="261518"/>
          </a:xfrm>
          <a:prstGeom prst="triangle">
            <a:avLst>
              <a:gd fmla="val 50000" name="adj"/>
            </a:avLst>
          </a:prstGeom>
          <a:solidFill>
            <a:srgbClr val="29ABE2">
              <a:alpha val="18039"/>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 name="Google Shape;31;p1"/>
          <p:cNvSpPr/>
          <p:nvPr/>
        </p:nvSpPr>
        <p:spPr>
          <a:xfrm>
            <a:off x="10658246" y="5925312"/>
            <a:ext cx="301752" cy="261518"/>
          </a:xfrm>
          <a:prstGeom prst="triangle">
            <a:avLst>
              <a:gd fmla="val 50000" name="adj"/>
            </a:avLst>
          </a:prstGeom>
          <a:solidFill>
            <a:srgbClr val="00A79D">
              <a:alpha val="18039"/>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 name="Google Shape;32;p1"/>
          <p:cNvSpPr/>
          <p:nvPr/>
        </p:nvSpPr>
        <p:spPr>
          <a:xfrm rot="10800000">
            <a:off x="10980115" y="5673852"/>
            <a:ext cx="301752" cy="261518"/>
          </a:xfrm>
          <a:prstGeom prst="triangle">
            <a:avLst>
              <a:gd fmla="val 50000" name="adj"/>
            </a:avLst>
          </a:prstGeom>
          <a:solidFill>
            <a:srgbClr val="F58220">
              <a:alpha val="18039"/>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 name="Google Shape;33;p1"/>
          <p:cNvSpPr/>
          <p:nvPr/>
        </p:nvSpPr>
        <p:spPr>
          <a:xfrm>
            <a:off x="685800" y="2331720"/>
            <a:ext cx="1005840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A79D"/>
              </a:buClr>
              <a:buSzPts val="1300"/>
              <a:buFont typeface="Calibri"/>
              <a:buNone/>
            </a:pPr>
            <a:r>
              <a:rPr b="1" i="0" lang="en-US" sz="1300" u="none" cap="none" strike="noStrike">
                <a:solidFill>
                  <a:srgbClr val="00A79D"/>
                </a:solidFill>
                <a:latin typeface="Calibri"/>
                <a:ea typeface="Calibri"/>
                <a:cs typeface="Calibri"/>
                <a:sym typeface="Calibri"/>
              </a:rPr>
              <a:t>SDAIA ACADEMY · AI ENGINEER TRACK</a:t>
            </a:r>
            <a:endParaRPr b="0" i="0" sz="1300" u="none" cap="none" strike="noStrike">
              <a:solidFill>
                <a:schemeClr val="dk1"/>
              </a:solidFill>
              <a:latin typeface="Calibri"/>
              <a:ea typeface="Calibri"/>
              <a:cs typeface="Calibri"/>
              <a:sym typeface="Calibri"/>
            </a:endParaRPr>
          </a:p>
        </p:txBody>
      </p:sp>
      <p:sp>
        <p:nvSpPr>
          <p:cNvPr id="34" name="Google Shape;34;p1"/>
          <p:cNvSpPr/>
          <p:nvPr/>
        </p:nvSpPr>
        <p:spPr>
          <a:xfrm>
            <a:off x="658368" y="2697480"/>
            <a:ext cx="10881360" cy="9601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D2A5C"/>
              </a:buClr>
              <a:buSzPts val="4400"/>
              <a:buFont typeface="Calibri"/>
              <a:buNone/>
            </a:pPr>
            <a:r>
              <a:rPr b="1" i="0" lang="en-US" sz="4400" u="none" cap="none" strike="noStrike">
                <a:solidFill>
                  <a:srgbClr val="1D2A5C"/>
                </a:solidFill>
                <a:latin typeface="Calibri"/>
                <a:ea typeface="Calibri"/>
                <a:cs typeface="Calibri"/>
                <a:sym typeface="Calibri"/>
              </a:rPr>
              <a:t>Computer Vision Systems Development</a:t>
            </a:r>
            <a:endParaRPr b="0" i="0" sz="4400" u="none" cap="none" strike="noStrike">
              <a:solidFill>
                <a:schemeClr val="dk1"/>
              </a:solidFill>
              <a:latin typeface="Calibri"/>
              <a:ea typeface="Calibri"/>
              <a:cs typeface="Calibri"/>
              <a:sym typeface="Calibri"/>
            </a:endParaRPr>
          </a:p>
        </p:txBody>
      </p:sp>
      <p:sp>
        <p:nvSpPr>
          <p:cNvPr id="35" name="Google Shape;35;p1"/>
          <p:cNvSpPr/>
          <p:nvPr/>
        </p:nvSpPr>
        <p:spPr>
          <a:xfrm>
            <a:off x="685800" y="3657600"/>
            <a:ext cx="10881360" cy="56692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F6B7A"/>
              </a:buClr>
              <a:buSzPts val="2600"/>
              <a:buFont typeface="Arial"/>
              <a:buNone/>
            </a:pPr>
            <a:r>
              <a:rPr b="0" i="0" lang="en-US" sz="2600" u="none" cap="none" strike="noStrike">
                <a:solidFill>
                  <a:srgbClr val="5F6B7A"/>
                </a:solidFill>
                <a:latin typeface="Arial"/>
                <a:ea typeface="Arial"/>
                <a:cs typeface="Arial"/>
                <a:sym typeface="Arial"/>
              </a:rPr>
              <a:t>تطوير أنظمة الرؤية الحاسوبية</a:t>
            </a:r>
            <a:endParaRPr b="0" i="0" sz="2600" u="none" cap="none" strike="noStrike">
              <a:solidFill>
                <a:schemeClr val="dk1"/>
              </a:solidFill>
              <a:latin typeface="Calibri"/>
              <a:ea typeface="Calibri"/>
              <a:cs typeface="Calibri"/>
              <a:sym typeface="Calibri"/>
            </a:endParaRPr>
          </a:p>
        </p:txBody>
      </p:sp>
      <p:sp>
        <p:nvSpPr>
          <p:cNvPr id="36" name="Google Shape;36;p1"/>
          <p:cNvSpPr/>
          <p:nvPr/>
        </p:nvSpPr>
        <p:spPr>
          <a:xfrm>
            <a:off x="685800" y="4343400"/>
            <a:ext cx="1005840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F6B7A"/>
              </a:buClr>
              <a:buSzPts val="1600"/>
              <a:buFont typeface="Calibri"/>
              <a:buNone/>
            </a:pPr>
            <a:r>
              <a:rPr b="0" i="1" lang="en-US" sz="1600" u="none" cap="none" strike="noStrike">
                <a:solidFill>
                  <a:srgbClr val="5F6B7A"/>
                </a:solidFill>
                <a:latin typeface="Calibri"/>
                <a:ea typeface="Calibri"/>
                <a:cs typeface="Calibri"/>
                <a:sym typeface="Calibri"/>
              </a:rPr>
              <a:t>Instructor-Ready Training Deck</a:t>
            </a:r>
            <a:endParaRPr b="0" i="0" sz="1600" u="none" cap="none" strike="noStrike">
              <a:solidFill>
                <a:schemeClr val="dk1"/>
              </a:solidFill>
              <a:latin typeface="Calibri"/>
              <a:ea typeface="Calibri"/>
              <a:cs typeface="Calibri"/>
              <a:sym typeface="Calibri"/>
            </a:endParaRPr>
          </a:p>
        </p:txBody>
      </p:sp>
      <p:sp>
        <p:nvSpPr>
          <p:cNvPr id="37" name="Google Shape;37;p1"/>
          <p:cNvSpPr/>
          <p:nvPr/>
        </p:nvSpPr>
        <p:spPr>
          <a:xfrm>
            <a:off x="685800" y="4983480"/>
            <a:ext cx="1392631" cy="420624"/>
          </a:xfrm>
          <a:prstGeom prst="roundRect">
            <a:avLst>
              <a:gd fmla="val 50000" name="adj"/>
            </a:avLst>
          </a:prstGeom>
          <a:solidFill>
            <a:srgbClr val="E9F6F5"/>
          </a:solidFill>
          <a:ln cap="flat" cmpd="sng" w="12700">
            <a:solidFill>
              <a:srgbClr val="00A79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 name="Google Shape;38;p1"/>
          <p:cNvSpPr/>
          <p:nvPr/>
        </p:nvSpPr>
        <p:spPr>
          <a:xfrm>
            <a:off x="685800" y="4983480"/>
            <a:ext cx="1392631" cy="42062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56A63"/>
              </a:buClr>
              <a:buSzPts val="1150"/>
              <a:buFont typeface="Calibri"/>
              <a:buNone/>
            </a:pPr>
            <a:r>
              <a:rPr b="1" i="0" lang="en-US" sz="1150" u="none" cap="none" strike="noStrike">
                <a:solidFill>
                  <a:srgbClr val="056A63"/>
                </a:solidFill>
                <a:latin typeface="Calibri"/>
                <a:ea typeface="Calibri"/>
                <a:cs typeface="Calibri"/>
                <a:sym typeface="Calibri"/>
              </a:rPr>
              <a:t>SDA-AIE-212</a:t>
            </a:r>
            <a:endParaRPr b="0" i="0" sz="1150" u="none" cap="none" strike="noStrike">
              <a:solidFill>
                <a:schemeClr val="dk1"/>
              </a:solidFill>
              <a:latin typeface="Calibri"/>
              <a:ea typeface="Calibri"/>
              <a:cs typeface="Calibri"/>
              <a:sym typeface="Calibri"/>
            </a:endParaRPr>
          </a:p>
        </p:txBody>
      </p:sp>
      <p:sp>
        <p:nvSpPr>
          <p:cNvPr id="39" name="Google Shape;39;p1"/>
          <p:cNvSpPr/>
          <p:nvPr/>
        </p:nvSpPr>
        <p:spPr>
          <a:xfrm>
            <a:off x="2307031" y="4983480"/>
            <a:ext cx="1817827" cy="420624"/>
          </a:xfrm>
          <a:prstGeom prst="roundRect">
            <a:avLst>
              <a:gd fmla="val 50000" name="adj"/>
            </a:avLst>
          </a:prstGeom>
          <a:solidFill>
            <a:srgbClr val="E9F6F5"/>
          </a:solidFill>
          <a:ln cap="flat" cmpd="sng" w="12700">
            <a:solidFill>
              <a:srgbClr val="00A79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 name="Google Shape;40;p1"/>
          <p:cNvSpPr/>
          <p:nvPr/>
        </p:nvSpPr>
        <p:spPr>
          <a:xfrm>
            <a:off x="2307031" y="4983480"/>
            <a:ext cx="1817827" cy="42062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56A63"/>
              </a:buClr>
              <a:buSzPts val="1150"/>
              <a:buFont typeface="Calibri"/>
              <a:buNone/>
            </a:pPr>
            <a:r>
              <a:rPr b="1" i="0" lang="en-US" sz="1150" u="none" cap="none" strike="noStrike">
                <a:solidFill>
                  <a:srgbClr val="056A63"/>
                </a:solidFill>
                <a:latin typeface="Calibri"/>
                <a:ea typeface="Calibri"/>
                <a:cs typeface="Calibri"/>
                <a:sym typeface="Calibri"/>
              </a:rPr>
              <a:t>Specialist Level</a:t>
            </a:r>
            <a:endParaRPr b="0" i="0" sz="1150" u="none" cap="none" strike="noStrike">
              <a:solidFill>
                <a:schemeClr val="dk1"/>
              </a:solidFill>
              <a:latin typeface="Calibri"/>
              <a:ea typeface="Calibri"/>
              <a:cs typeface="Calibri"/>
              <a:sym typeface="Calibri"/>
            </a:endParaRPr>
          </a:p>
        </p:txBody>
      </p:sp>
      <p:sp>
        <p:nvSpPr>
          <p:cNvPr id="41" name="Google Shape;41;p1"/>
          <p:cNvSpPr/>
          <p:nvPr/>
        </p:nvSpPr>
        <p:spPr>
          <a:xfrm>
            <a:off x="4353458" y="4983480"/>
            <a:ext cx="1817827" cy="420624"/>
          </a:xfrm>
          <a:prstGeom prst="roundRect">
            <a:avLst>
              <a:gd fmla="val 50000" name="adj"/>
            </a:avLst>
          </a:prstGeom>
          <a:solidFill>
            <a:srgbClr val="E9F6F5"/>
          </a:solidFill>
          <a:ln cap="flat" cmpd="sng" w="12700">
            <a:solidFill>
              <a:srgbClr val="00A79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 name="Google Shape;42;p1"/>
          <p:cNvSpPr/>
          <p:nvPr/>
        </p:nvSpPr>
        <p:spPr>
          <a:xfrm>
            <a:off x="4353458" y="4983480"/>
            <a:ext cx="1817827" cy="42062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56A63"/>
              </a:buClr>
              <a:buSzPts val="1150"/>
              <a:buFont typeface="Calibri"/>
              <a:buNone/>
            </a:pPr>
            <a:r>
              <a:rPr b="1" i="0" lang="en-US" sz="1150" u="none" cap="none" strike="noStrike">
                <a:solidFill>
                  <a:srgbClr val="056A63"/>
                </a:solidFill>
                <a:latin typeface="Calibri"/>
                <a:ea typeface="Calibri"/>
                <a:cs typeface="Calibri"/>
                <a:sym typeface="Calibri"/>
              </a:rPr>
              <a:t>4 days × 5 hours</a:t>
            </a:r>
            <a:endParaRPr b="0" i="0" sz="1150" u="none" cap="none" strike="noStrike">
              <a:solidFill>
                <a:schemeClr val="dk1"/>
              </a:solidFill>
              <a:latin typeface="Calibri"/>
              <a:ea typeface="Calibri"/>
              <a:cs typeface="Calibri"/>
              <a:sym typeface="Calibri"/>
            </a:endParaRPr>
          </a:p>
        </p:txBody>
      </p:sp>
      <p:sp>
        <p:nvSpPr>
          <p:cNvPr id="43" name="Google Shape;43;p1"/>
          <p:cNvSpPr/>
          <p:nvPr/>
        </p:nvSpPr>
        <p:spPr>
          <a:xfrm>
            <a:off x="6399886" y="4983480"/>
            <a:ext cx="3008376" cy="420624"/>
          </a:xfrm>
          <a:prstGeom prst="roundRect">
            <a:avLst>
              <a:gd fmla="val 50000" name="adj"/>
            </a:avLst>
          </a:prstGeom>
          <a:solidFill>
            <a:srgbClr val="E9F6F5"/>
          </a:solidFill>
          <a:ln cap="flat" cmpd="sng" w="12700">
            <a:solidFill>
              <a:srgbClr val="00A79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 name="Google Shape;44;p1"/>
          <p:cNvSpPr/>
          <p:nvPr/>
        </p:nvSpPr>
        <p:spPr>
          <a:xfrm>
            <a:off x="6399886" y="4983480"/>
            <a:ext cx="3008376" cy="42062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56A63"/>
              </a:buClr>
              <a:buSzPts val="1150"/>
              <a:buFont typeface="Calibri"/>
              <a:buNone/>
            </a:pPr>
            <a:r>
              <a:rPr b="1" i="0" lang="en-US" sz="1150" u="none" cap="none" strike="noStrike">
                <a:solidFill>
                  <a:srgbClr val="056A63"/>
                </a:solidFill>
                <a:latin typeface="Calibri"/>
                <a:ea typeface="Calibri"/>
                <a:cs typeface="Calibri"/>
                <a:sym typeface="Calibri"/>
              </a:rPr>
              <a:t>PyTorch · YOLO · OpenCV · ONNX</a:t>
            </a:r>
            <a:endParaRPr b="0" i="0" sz="1150" u="none" cap="none" strike="noStrike">
              <a:solidFill>
                <a:schemeClr val="dk1"/>
              </a:solidFill>
              <a:latin typeface="Calibri"/>
              <a:ea typeface="Calibri"/>
              <a:cs typeface="Calibri"/>
              <a:sym typeface="Calibri"/>
            </a:endParaRPr>
          </a:p>
        </p:txBody>
      </p:sp>
      <p:sp>
        <p:nvSpPr>
          <p:cNvPr id="45" name="Google Shape;45;p1"/>
          <p:cNvSpPr/>
          <p:nvPr/>
        </p:nvSpPr>
        <p:spPr>
          <a:xfrm>
            <a:off x="685800" y="6172200"/>
            <a:ext cx="1078992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A96A6"/>
              </a:buClr>
              <a:buSzPts val="1050"/>
              <a:buFont typeface="Calibri"/>
              <a:buNone/>
            </a:pPr>
            <a:r>
              <a:rPr b="0" i="0" lang="en-US" sz="1050" u="none" cap="none" strike="noStrike">
                <a:solidFill>
                  <a:srgbClr val="8A96A6"/>
                </a:solidFill>
                <a:latin typeface="Calibri"/>
                <a:ea typeface="Calibri"/>
                <a:cs typeface="Calibri"/>
                <a:sym typeface="Calibri"/>
              </a:rPr>
              <a:t>Instructor Edition — includes speaker notes, labs, quizzes, and assessment materials</a:t>
            </a:r>
            <a:endParaRPr b="0" i="0" sz="1050" u="none" cap="none" strike="noStrike">
              <a:solidFill>
                <a:schemeClr val="dk1"/>
              </a:solidFill>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0" name="Shape 50"/>
        <p:cNvGrpSpPr/>
        <p:nvPr/>
      </p:nvGrpSpPr>
      <p:grpSpPr>
        <a:xfrm>
          <a:off x="0" y="0"/>
          <a:ext cx="0" cy="0"/>
          <a:chOff x="0" y="0"/>
          <a:chExt cx="0" cy="0"/>
        </a:xfrm>
      </p:grpSpPr>
      <p:sp>
        <p:nvSpPr>
          <p:cNvPr id="51" name="Google Shape;51;p2"/>
          <p:cNvSpPr/>
          <p:nvPr/>
        </p:nvSpPr>
        <p:spPr>
          <a:xfrm>
            <a:off x="502920" y="274320"/>
            <a:ext cx="9646920" cy="56692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D2A5C"/>
              </a:buClr>
              <a:buSzPts val="2700"/>
              <a:buFont typeface="Calibri"/>
              <a:buNone/>
            </a:pPr>
            <a:r>
              <a:rPr b="1" i="0" lang="en-US" sz="2700" u="none" cap="none" strike="noStrike">
                <a:solidFill>
                  <a:srgbClr val="1D2A5C"/>
                </a:solidFill>
                <a:latin typeface="Calibri"/>
                <a:ea typeface="Calibri"/>
                <a:cs typeface="Calibri"/>
                <a:sym typeface="Calibri"/>
              </a:rPr>
              <a:t>Course facts</a:t>
            </a:r>
            <a:endParaRPr b="0" i="0" sz="2700" u="none" cap="none" strike="noStrike">
              <a:solidFill>
                <a:schemeClr val="dk1"/>
              </a:solidFill>
              <a:latin typeface="Calibri"/>
              <a:ea typeface="Calibri"/>
              <a:cs typeface="Calibri"/>
              <a:sym typeface="Calibri"/>
            </a:endParaRPr>
          </a:p>
        </p:txBody>
      </p:sp>
      <p:sp>
        <p:nvSpPr>
          <p:cNvPr id="52" name="Google Shape;52;p2"/>
          <p:cNvSpPr/>
          <p:nvPr/>
        </p:nvSpPr>
        <p:spPr>
          <a:xfrm>
            <a:off x="502920" y="859536"/>
            <a:ext cx="9646920" cy="31089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F6B7A"/>
              </a:buClr>
              <a:buSzPts val="1250"/>
              <a:buFont typeface="Arial"/>
              <a:buNone/>
            </a:pPr>
            <a:r>
              <a:rPr b="0" i="0" lang="en-US" sz="1250" u="none" cap="none" strike="noStrike">
                <a:solidFill>
                  <a:srgbClr val="5F6B7A"/>
                </a:solidFill>
                <a:latin typeface="Arial"/>
                <a:ea typeface="Arial"/>
                <a:cs typeface="Arial"/>
                <a:sym typeface="Arial"/>
              </a:rPr>
              <a:t>حقائق البرنامج التدريبي</a:t>
            </a:r>
            <a:endParaRPr b="0" i="0" sz="1250" u="none" cap="none" strike="noStrike">
              <a:solidFill>
                <a:schemeClr val="dk1"/>
              </a:solidFill>
              <a:latin typeface="Calibri"/>
              <a:ea typeface="Calibri"/>
              <a:cs typeface="Calibri"/>
              <a:sym typeface="Calibri"/>
            </a:endParaRPr>
          </a:p>
        </p:txBody>
      </p:sp>
      <p:pic>
        <p:nvPicPr>
          <p:cNvPr descr="/sessions/blissful-determined-ritchie/build/assets/sdaia_logo.png" id="53" name="Google Shape;53;p2"/>
          <p:cNvPicPr preferRelativeResize="0"/>
          <p:nvPr/>
        </p:nvPicPr>
        <p:blipFill rotWithShape="1">
          <a:blip r:embed="rId3">
            <a:alphaModFix/>
          </a:blip>
          <a:srcRect b="0" l="0" r="0" t="0"/>
          <a:stretch/>
        </p:blipFill>
        <p:spPr>
          <a:xfrm>
            <a:off x="10625328" y="310896"/>
            <a:ext cx="1078992" cy="264111"/>
          </a:xfrm>
          <a:prstGeom prst="rect">
            <a:avLst/>
          </a:prstGeom>
          <a:noFill/>
          <a:ln>
            <a:noFill/>
          </a:ln>
        </p:spPr>
      </p:pic>
      <p:sp>
        <p:nvSpPr>
          <p:cNvPr id="54" name="Google Shape;54;p2"/>
          <p:cNvSpPr/>
          <p:nvPr/>
        </p:nvSpPr>
        <p:spPr>
          <a:xfrm>
            <a:off x="502920" y="6528816"/>
            <a:ext cx="8686800"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A79D"/>
              </a:buClr>
              <a:buSzPts val="800"/>
              <a:buFont typeface="Calibri"/>
              <a:buNone/>
            </a:pPr>
            <a:r>
              <a:rPr b="1" i="0" lang="en-US" sz="800" u="none" cap="none" strike="noStrike">
                <a:solidFill>
                  <a:srgbClr val="00A79D"/>
                </a:solidFill>
                <a:latin typeface="Calibri"/>
                <a:ea typeface="Calibri"/>
                <a:cs typeface="Calibri"/>
                <a:sym typeface="Calibri"/>
              </a:rPr>
              <a:t>OVERVIEW   </a:t>
            </a:r>
            <a:r>
              <a:rPr b="0" i="0" lang="en-US" sz="800" u="none" cap="none" strike="noStrike">
                <a:solidFill>
                  <a:srgbClr val="8A96A6"/>
                </a:solidFill>
                <a:latin typeface="Calibri"/>
                <a:ea typeface="Calibri"/>
                <a:cs typeface="Calibri"/>
                <a:sym typeface="Calibri"/>
              </a:rPr>
              <a:t>SDA-AIE-212 · Computer Vision Systems Development</a:t>
            </a:r>
            <a:endParaRPr b="0" i="0" sz="800" u="none" cap="none" strike="noStrike">
              <a:solidFill>
                <a:schemeClr val="dk1"/>
              </a:solidFill>
              <a:latin typeface="Calibri"/>
              <a:ea typeface="Calibri"/>
              <a:cs typeface="Calibri"/>
              <a:sym typeface="Calibri"/>
            </a:endParaRPr>
          </a:p>
        </p:txBody>
      </p:sp>
      <p:sp>
        <p:nvSpPr>
          <p:cNvPr id="55" name="Google Shape;55;p2"/>
          <p:cNvSpPr/>
          <p:nvPr/>
        </p:nvSpPr>
        <p:spPr>
          <a:xfrm>
            <a:off x="11292840" y="6528816"/>
            <a:ext cx="411480" cy="219456"/>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8A96A6"/>
              </a:buClr>
              <a:buSzPts val="900"/>
              <a:buFont typeface="Calibri"/>
              <a:buNone/>
            </a:pPr>
            <a:r>
              <a:rPr b="0" i="0" lang="en-US" sz="900" u="none" cap="none" strike="noStrike">
                <a:solidFill>
                  <a:srgbClr val="8A96A6"/>
                </a:solidFill>
                <a:latin typeface="Calibri"/>
                <a:ea typeface="Calibri"/>
                <a:cs typeface="Calibri"/>
                <a:sym typeface="Calibri"/>
              </a:rPr>
              <a:t>2</a:t>
            </a:r>
            <a:endParaRPr b="0" i="0" sz="900" u="none" cap="none" strike="noStrike">
              <a:solidFill>
                <a:schemeClr val="dk1"/>
              </a:solidFill>
              <a:latin typeface="Calibri"/>
              <a:ea typeface="Calibri"/>
              <a:cs typeface="Calibri"/>
              <a:sym typeface="Calibri"/>
            </a:endParaRPr>
          </a:p>
        </p:txBody>
      </p:sp>
      <p:graphicFrame>
        <p:nvGraphicFramePr>
          <p:cNvPr id="56" name="Google Shape;56;p2"/>
          <p:cNvGraphicFramePr/>
          <p:nvPr/>
        </p:nvGraphicFramePr>
        <p:xfrm>
          <a:off x="502920" y="1389888"/>
          <a:ext cx="3000000" cy="3000000"/>
        </p:xfrm>
        <a:graphic>
          <a:graphicData uri="http://schemas.openxmlformats.org/drawingml/2006/table">
            <a:tbl>
              <a:tblPr>
                <a:noFill/>
                <a:tableStyleId>{F80342BA-3033-44D6-9F91-622DC7A4C435}</a:tableStyleId>
              </a:tblPr>
              <a:tblGrid>
                <a:gridCol w="3905975"/>
                <a:gridCol w="7279875"/>
              </a:tblGrid>
              <a:tr h="541525">
                <a:tc>
                  <a:txBody>
                    <a:bodyPr/>
                    <a:lstStyle/>
                    <a:p>
                      <a:pPr indent="0" lvl="0" marL="0" marR="0" rtl="0" algn="l">
                        <a:spcBef>
                          <a:spcPts val="0"/>
                        </a:spcBef>
                        <a:spcAft>
                          <a:spcPts val="0"/>
                        </a:spcAft>
                        <a:buClr>
                          <a:srgbClr val="FFFFFF"/>
                        </a:buClr>
                        <a:buSzPts val="950"/>
                        <a:buFont typeface="Calibri"/>
                        <a:buNone/>
                      </a:pPr>
                      <a:r>
                        <a:rPr b="1" lang="en-US" sz="950" u="none" cap="none" strike="noStrike">
                          <a:solidFill>
                            <a:srgbClr val="FFFFFF"/>
                          </a:solidFill>
                          <a:latin typeface="Calibri"/>
                          <a:ea typeface="Calibri"/>
                          <a:cs typeface="Calibri"/>
                          <a:sym typeface="Calibri"/>
                        </a:rPr>
                        <a:t>Field</a:t>
                      </a:r>
                      <a:endParaRPr sz="950" u="none" cap="none" strike="noStrike">
                        <a:latin typeface="Calibri"/>
                        <a:ea typeface="Calibri"/>
                        <a:cs typeface="Calibri"/>
                        <a:sym typeface="Calibri"/>
                      </a:endParaRPr>
                    </a:p>
                  </a:txBody>
                  <a:tcPr marT="64000" marB="64000" marR="64000" marL="64000" anchor="ctr">
                    <a:lnL cap="flat" cmpd="sng" w="9525">
                      <a:solidFill>
                        <a:srgbClr val="D9E2EA"/>
                      </a:solidFill>
                      <a:prstDash val="solid"/>
                      <a:round/>
                      <a:headEnd len="sm" w="sm" type="none"/>
                      <a:tailEnd len="sm" w="sm" type="none"/>
                    </a:lnL>
                    <a:lnR cap="flat" cmpd="sng" w="9525">
                      <a:solidFill>
                        <a:srgbClr val="D9E2EA"/>
                      </a:solidFill>
                      <a:prstDash val="solid"/>
                      <a:round/>
                      <a:headEnd len="sm" w="sm" type="none"/>
                      <a:tailEnd len="sm" w="sm" type="none"/>
                    </a:lnR>
                    <a:lnT cap="flat" cmpd="sng" w="9525">
                      <a:solidFill>
                        <a:srgbClr val="D9E2EA"/>
                      </a:solidFill>
                      <a:prstDash val="solid"/>
                      <a:round/>
                      <a:headEnd len="sm" w="sm" type="none"/>
                      <a:tailEnd len="sm" w="sm" type="none"/>
                    </a:lnT>
                    <a:lnB cap="flat" cmpd="sng" w="9525">
                      <a:solidFill>
                        <a:srgbClr val="D9E2EA"/>
                      </a:solidFill>
                      <a:prstDash val="solid"/>
                      <a:round/>
                      <a:headEnd len="sm" w="sm" type="none"/>
                      <a:tailEnd len="sm" w="sm" type="none"/>
                    </a:lnB>
                    <a:solidFill>
                      <a:srgbClr val="1D2A5C"/>
                    </a:solidFill>
                  </a:tcPr>
                </a:tc>
                <a:tc>
                  <a:txBody>
                    <a:bodyPr/>
                    <a:lstStyle/>
                    <a:p>
                      <a:pPr indent="0" lvl="0" marL="0" marR="0" rtl="0" algn="l">
                        <a:spcBef>
                          <a:spcPts val="0"/>
                        </a:spcBef>
                        <a:spcAft>
                          <a:spcPts val="0"/>
                        </a:spcAft>
                        <a:buClr>
                          <a:srgbClr val="FFFFFF"/>
                        </a:buClr>
                        <a:buSzPts val="950"/>
                        <a:buFont typeface="Calibri"/>
                        <a:buNone/>
                      </a:pPr>
                      <a:r>
                        <a:rPr b="1" lang="en-US" sz="950" u="none" cap="none" strike="noStrike">
                          <a:solidFill>
                            <a:srgbClr val="FFFFFF"/>
                          </a:solidFill>
                          <a:latin typeface="Calibri"/>
                          <a:ea typeface="Calibri"/>
                          <a:cs typeface="Calibri"/>
                          <a:sym typeface="Calibri"/>
                        </a:rPr>
                        <a:t>Details</a:t>
                      </a:r>
                      <a:endParaRPr sz="950" u="none" cap="none" strike="noStrike">
                        <a:latin typeface="Calibri"/>
                        <a:ea typeface="Calibri"/>
                        <a:cs typeface="Calibri"/>
                        <a:sym typeface="Calibri"/>
                      </a:endParaRPr>
                    </a:p>
                  </a:txBody>
                  <a:tcPr marT="64000" marB="64000" marR="64000" marL="64000" anchor="ctr">
                    <a:lnL cap="flat" cmpd="sng" w="9525">
                      <a:solidFill>
                        <a:srgbClr val="D9E2EA"/>
                      </a:solidFill>
                      <a:prstDash val="solid"/>
                      <a:round/>
                      <a:headEnd len="sm" w="sm" type="none"/>
                      <a:tailEnd len="sm" w="sm" type="none"/>
                    </a:lnL>
                    <a:lnR cap="flat" cmpd="sng" w="9525">
                      <a:solidFill>
                        <a:srgbClr val="D9E2EA"/>
                      </a:solidFill>
                      <a:prstDash val="solid"/>
                      <a:round/>
                      <a:headEnd len="sm" w="sm" type="none"/>
                      <a:tailEnd len="sm" w="sm" type="none"/>
                    </a:lnR>
                    <a:lnT cap="flat" cmpd="sng" w="9525">
                      <a:solidFill>
                        <a:srgbClr val="D9E2EA"/>
                      </a:solidFill>
                      <a:prstDash val="solid"/>
                      <a:round/>
                      <a:headEnd len="sm" w="sm" type="none"/>
                      <a:tailEnd len="sm" w="sm" type="none"/>
                    </a:lnT>
                    <a:lnB cap="flat" cmpd="sng" w="9525">
                      <a:solidFill>
                        <a:srgbClr val="D9E2EA"/>
                      </a:solidFill>
                      <a:prstDash val="solid"/>
                      <a:round/>
                      <a:headEnd len="sm" w="sm" type="none"/>
                      <a:tailEnd len="sm" w="sm" type="none"/>
                    </a:lnB>
                    <a:solidFill>
                      <a:srgbClr val="1D2A5C"/>
                    </a:solidFill>
                  </a:tcPr>
                </a:tc>
              </a:tr>
              <a:tr h="541525">
                <a:tc>
                  <a:txBody>
                    <a:bodyPr/>
                    <a:lstStyle/>
                    <a:p>
                      <a:pPr indent="0" lvl="0" marL="0" marR="0" rtl="0" algn="l">
                        <a:spcBef>
                          <a:spcPts val="0"/>
                        </a:spcBef>
                        <a:spcAft>
                          <a:spcPts val="0"/>
                        </a:spcAft>
                        <a:buClr>
                          <a:srgbClr val="1D2A5C"/>
                        </a:buClr>
                        <a:buSzPts val="950"/>
                        <a:buFont typeface="Calibri"/>
                        <a:buNone/>
                      </a:pPr>
                      <a:r>
                        <a:rPr b="1" lang="en-US" sz="950" u="none" cap="none" strike="noStrike">
                          <a:solidFill>
                            <a:srgbClr val="1D2A5C"/>
                          </a:solidFill>
                          <a:latin typeface="Calibri"/>
                          <a:ea typeface="Calibri"/>
                          <a:cs typeface="Calibri"/>
                          <a:sym typeface="Calibri"/>
                        </a:rPr>
                        <a:t>Course title</a:t>
                      </a:r>
                      <a:endParaRPr sz="950" u="none" cap="none" strike="noStrike">
                        <a:latin typeface="Calibri"/>
                        <a:ea typeface="Calibri"/>
                        <a:cs typeface="Calibri"/>
                        <a:sym typeface="Calibri"/>
                      </a:endParaRPr>
                    </a:p>
                  </a:txBody>
                  <a:tcPr marT="64000" marB="64000" marR="64000" marL="64000" anchor="ctr">
                    <a:lnL cap="flat" cmpd="sng" w="9525">
                      <a:solidFill>
                        <a:srgbClr val="D9E2EA"/>
                      </a:solidFill>
                      <a:prstDash val="solid"/>
                      <a:round/>
                      <a:headEnd len="sm" w="sm" type="none"/>
                      <a:tailEnd len="sm" w="sm" type="none"/>
                    </a:lnL>
                    <a:lnR cap="flat" cmpd="sng" w="9525">
                      <a:solidFill>
                        <a:srgbClr val="D9E2EA"/>
                      </a:solidFill>
                      <a:prstDash val="solid"/>
                      <a:round/>
                      <a:headEnd len="sm" w="sm" type="none"/>
                      <a:tailEnd len="sm" w="sm" type="none"/>
                    </a:lnR>
                    <a:lnT cap="flat" cmpd="sng" w="9525">
                      <a:solidFill>
                        <a:srgbClr val="D9E2EA"/>
                      </a:solidFill>
                      <a:prstDash val="solid"/>
                      <a:round/>
                      <a:headEnd len="sm" w="sm" type="none"/>
                      <a:tailEnd len="sm" w="sm" type="none"/>
                    </a:lnT>
                    <a:lnB cap="flat" cmpd="sng" w="9525">
                      <a:solidFill>
                        <a:srgbClr val="D9E2EA"/>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23293B"/>
                        </a:buClr>
                        <a:buSzPts val="950"/>
                        <a:buFont typeface="Calibri"/>
                        <a:buNone/>
                      </a:pPr>
                      <a:r>
                        <a:rPr lang="en-US" sz="950" u="none" cap="none" strike="noStrike">
                          <a:solidFill>
                            <a:srgbClr val="23293B"/>
                          </a:solidFill>
                          <a:latin typeface="Calibri"/>
                          <a:ea typeface="Calibri"/>
                          <a:cs typeface="Calibri"/>
                          <a:sym typeface="Calibri"/>
                        </a:rPr>
                        <a:t>Computer Vision Systems Development — تطوير أنظمة الرؤية الحاسوبية</a:t>
                      </a:r>
                      <a:endParaRPr sz="950" u="none" cap="none" strike="noStrike">
                        <a:latin typeface="Calibri"/>
                        <a:ea typeface="Calibri"/>
                        <a:cs typeface="Calibri"/>
                        <a:sym typeface="Calibri"/>
                      </a:endParaRPr>
                    </a:p>
                  </a:txBody>
                  <a:tcPr marT="64000" marB="64000" marR="64000" marL="64000" anchor="ctr">
                    <a:lnL cap="flat" cmpd="sng" w="9525">
                      <a:solidFill>
                        <a:srgbClr val="D9E2EA"/>
                      </a:solidFill>
                      <a:prstDash val="solid"/>
                      <a:round/>
                      <a:headEnd len="sm" w="sm" type="none"/>
                      <a:tailEnd len="sm" w="sm" type="none"/>
                    </a:lnL>
                    <a:lnR cap="flat" cmpd="sng" w="9525">
                      <a:solidFill>
                        <a:srgbClr val="D9E2EA"/>
                      </a:solidFill>
                      <a:prstDash val="solid"/>
                      <a:round/>
                      <a:headEnd len="sm" w="sm" type="none"/>
                      <a:tailEnd len="sm" w="sm" type="none"/>
                    </a:lnR>
                    <a:lnT cap="flat" cmpd="sng" w="9525">
                      <a:solidFill>
                        <a:srgbClr val="D9E2EA"/>
                      </a:solidFill>
                      <a:prstDash val="solid"/>
                      <a:round/>
                      <a:headEnd len="sm" w="sm" type="none"/>
                      <a:tailEnd len="sm" w="sm" type="none"/>
                    </a:lnT>
                    <a:lnB cap="flat" cmpd="sng" w="9525">
                      <a:solidFill>
                        <a:srgbClr val="D9E2EA"/>
                      </a:solidFill>
                      <a:prstDash val="solid"/>
                      <a:round/>
                      <a:headEnd len="sm" w="sm" type="none"/>
                      <a:tailEnd len="sm" w="sm" type="none"/>
                    </a:lnB>
                    <a:solidFill>
                      <a:srgbClr val="FFFFFF"/>
                    </a:solidFill>
                  </a:tcPr>
                </a:tc>
              </a:tr>
              <a:tr h="541525">
                <a:tc>
                  <a:txBody>
                    <a:bodyPr/>
                    <a:lstStyle/>
                    <a:p>
                      <a:pPr indent="0" lvl="0" marL="0" marR="0" rtl="0" algn="l">
                        <a:spcBef>
                          <a:spcPts val="0"/>
                        </a:spcBef>
                        <a:spcAft>
                          <a:spcPts val="0"/>
                        </a:spcAft>
                        <a:buClr>
                          <a:srgbClr val="1D2A5C"/>
                        </a:buClr>
                        <a:buSzPts val="950"/>
                        <a:buFont typeface="Calibri"/>
                        <a:buNone/>
                      </a:pPr>
                      <a:r>
                        <a:rPr b="1" lang="en-US" sz="950" u="none" cap="none" strike="noStrike">
                          <a:solidFill>
                            <a:srgbClr val="1D2A5C"/>
                          </a:solidFill>
                          <a:latin typeface="Calibri"/>
                          <a:ea typeface="Calibri"/>
                          <a:cs typeface="Calibri"/>
                          <a:sym typeface="Calibri"/>
                        </a:rPr>
                        <a:t>Module code · Level</a:t>
                      </a:r>
                      <a:endParaRPr sz="950" u="none" cap="none" strike="noStrike">
                        <a:latin typeface="Calibri"/>
                        <a:ea typeface="Calibri"/>
                        <a:cs typeface="Calibri"/>
                        <a:sym typeface="Calibri"/>
                      </a:endParaRPr>
                    </a:p>
                  </a:txBody>
                  <a:tcPr marT="64000" marB="64000" marR="64000" marL="64000" anchor="ctr">
                    <a:lnL cap="flat" cmpd="sng" w="9525">
                      <a:solidFill>
                        <a:srgbClr val="D9E2EA"/>
                      </a:solidFill>
                      <a:prstDash val="solid"/>
                      <a:round/>
                      <a:headEnd len="sm" w="sm" type="none"/>
                      <a:tailEnd len="sm" w="sm" type="none"/>
                    </a:lnL>
                    <a:lnR cap="flat" cmpd="sng" w="9525">
                      <a:solidFill>
                        <a:srgbClr val="D9E2EA"/>
                      </a:solidFill>
                      <a:prstDash val="solid"/>
                      <a:round/>
                      <a:headEnd len="sm" w="sm" type="none"/>
                      <a:tailEnd len="sm" w="sm" type="none"/>
                    </a:lnR>
                    <a:lnT cap="flat" cmpd="sng" w="9525">
                      <a:solidFill>
                        <a:srgbClr val="D9E2EA"/>
                      </a:solidFill>
                      <a:prstDash val="solid"/>
                      <a:round/>
                      <a:headEnd len="sm" w="sm" type="none"/>
                      <a:tailEnd len="sm" w="sm" type="none"/>
                    </a:lnT>
                    <a:lnB cap="flat" cmpd="sng" w="9525">
                      <a:solidFill>
                        <a:srgbClr val="D9E2EA"/>
                      </a:solidFill>
                      <a:prstDash val="solid"/>
                      <a:round/>
                      <a:headEnd len="sm" w="sm" type="none"/>
                      <a:tailEnd len="sm" w="sm" type="none"/>
                    </a:lnB>
                    <a:solidFill>
                      <a:srgbClr val="F2F6F9"/>
                    </a:solidFill>
                  </a:tcPr>
                </a:tc>
                <a:tc>
                  <a:txBody>
                    <a:bodyPr/>
                    <a:lstStyle/>
                    <a:p>
                      <a:pPr indent="0" lvl="0" marL="0" marR="0" rtl="0" algn="l">
                        <a:spcBef>
                          <a:spcPts val="0"/>
                        </a:spcBef>
                        <a:spcAft>
                          <a:spcPts val="0"/>
                        </a:spcAft>
                        <a:buClr>
                          <a:srgbClr val="23293B"/>
                        </a:buClr>
                        <a:buSzPts val="950"/>
                        <a:buFont typeface="Calibri"/>
                        <a:buNone/>
                      </a:pPr>
                      <a:r>
                        <a:rPr lang="en-US" sz="950" u="none" cap="none" strike="noStrike">
                          <a:solidFill>
                            <a:srgbClr val="23293B"/>
                          </a:solidFill>
                          <a:latin typeface="Calibri"/>
                          <a:ea typeface="Calibri"/>
                          <a:cs typeface="Calibri"/>
                          <a:sym typeface="Calibri"/>
                        </a:rPr>
                        <a:t>SDA-AIE-212 · Specialist</a:t>
                      </a:r>
                      <a:endParaRPr sz="950" u="none" cap="none" strike="noStrike">
                        <a:latin typeface="Calibri"/>
                        <a:ea typeface="Calibri"/>
                        <a:cs typeface="Calibri"/>
                        <a:sym typeface="Calibri"/>
                      </a:endParaRPr>
                    </a:p>
                  </a:txBody>
                  <a:tcPr marT="64000" marB="64000" marR="64000" marL="64000" anchor="ctr">
                    <a:lnL cap="flat" cmpd="sng" w="9525">
                      <a:solidFill>
                        <a:srgbClr val="D9E2EA"/>
                      </a:solidFill>
                      <a:prstDash val="solid"/>
                      <a:round/>
                      <a:headEnd len="sm" w="sm" type="none"/>
                      <a:tailEnd len="sm" w="sm" type="none"/>
                    </a:lnL>
                    <a:lnR cap="flat" cmpd="sng" w="9525">
                      <a:solidFill>
                        <a:srgbClr val="D9E2EA"/>
                      </a:solidFill>
                      <a:prstDash val="solid"/>
                      <a:round/>
                      <a:headEnd len="sm" w="sm" type="none"/>
                      <a:tailEnd len="sm" w="sm" type="none"/>
                    </a:lnR>
                    <a:lnT cap="flat" cmpd="sng" w="9525">
                      <a:solidFill>
                        <a:srgbClr val="D9E2EA"/>
                      </a:solidFill>
                      <a:prstDash val="solid"/>
                      <a:round/>
                      <a:headEnd len="sm" w="sm" type="none"/>
                      <a:tailEnd len="sm" w="sm" type="none"/>
                    </a:lnT>
                    <a:lnB cap="flat" cmpd="sng" w="9525">
                      <a:solidFill>
                        <a:srgbClr val="D9E2EA"/>
                      </a:solidFill>
                      <a:prstDash val="solid"/>
                      <a:round/>
                      <a:headEnd len="sm" w="sm" type="none"/>
                      <a:tailEnd len="sm" w="sm" type="none"/>
                    </a:lnB>
                    <a:solidFill>
                      <a:srgbClr val="F2F6F9"/>
                    </a:solidFill>
                  </a:tcPr>
                </a:tc>
              </a:tr>
              <a:tr h="541525">
                <a:tc>
                  <a:txBody>
                    <a:bodyPr/>
                    <a:lstStyle/>
                    <a:p>
                      <a:pPr indent="0" lvl="0" marL="0" marR="0" rtl="0" algn="l">
                        <a:spcBef>
                          <a:spcPts val="0"/>
                        </a:spcBef>
                        <a:spcAft>
                          <a:spcPts val="0"/>
                        </a:spcAft>
                        <a:buClr>
                          <a:srgbClr val="1D2A5C"/>
                        </a:buClr>
                        <a:buSzPts val="950"/>
                        <a:buFont typeface="Calibri"/>
                        <a:buNone/>
                      </a:pPr>
                      <a:r>
                        <a:rPr b="1" lang="en-US" sz="950" u="none" cap="none" strike="noStrike">
                          <a:solidFill>
                            <a:srgbClr val="1D2A5C"/>
                          </a:solidFill>
                          <a:latin typeface="Calibri"/>
                          <a:ea typeface="Calibri"/>
                          <a:cs typeface="Calibri"/>
                          <a:sym typeface="Calibri"/>
                        </a:rPr>
                        <a:t>Duration</a:t>
                      </a:r>
                      <a:endParaRPr sz="950" u="none" cap="none" strike="noStrike">
                        <a:latin typeface="Calibri"/>
                        <a:ea typeface="Calibri"/>
                        <a:cs typeface="Calibri"/>
                        <a:sym typeface="Calibri"/>
                      </a:endParaRPr>
                    </a:p>
                  </a:txBody>
                  <a:tcPr marT="64000" marB="64000" marR="64000" marL="64000" anchor="ctr">
                    <a:lnL cap="flat" cmpd="sng" w="9525">
                      <a:solidFill>
                        <a:srgbClr val="D9E2EA"/>
                      </a:solidFill>
                      <a:prstDash val="solid"/>
                      <a:round/>
                      <a:headEnd len="sm" w="sm" type="none"/>
                      <a:tailEnd len="sm" w="sm" type="none"/>
                    </a:lnL>
                    <a:lnR cap="flat" cmpd="sng" w="9525">
                      <a:solidFill>
                        <a:srgbClr val="D9E2EA"/>
                      </a:solidFill>
                      <a:prstDash val="solid"/>
                      <a:round/>
                      <a:headEnd len="sm" w="sm" type="none"/>
                      <a:tailEnd len="sm" w="sm" type="none"/>
                    </a:lnR>
                    <a:lnT cap="flat" cmpd="sng" w="9525">
                      <a:solidFill>
                        <a:srgbClr val="D9E2EA"/>
                      </a:solidFill>
                      <a:prstDash val="solid"/>
                      <a:round/>
                      <a:headEnd len="sm" w="sm" type="none"/>
                      <a:tailEnd len="sm" w="sm" type="none"/>
                    </a:lnT>
                    <a:lnB cap="flat" cmpd="sng" w="9525">
                      <a:solidFill>
                        <a:srgbClr val="D9E2EA"/>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23293B"/>
                        </a:buClr>
                        <a:buSzPts val="950"/>
                        <a:buFont typeface="Calibri"/>
                        <a:buNone/>
                      </a:pPr>
                      <a:r>
                        <a:rPr lang="en-US" sz="950" u="none" cap="none" strike="noStrike">
                          <a:solidFill>
                            <a:srgbClr val="23293B"/>
                          </a:solidFill>
                          <a:latin typeface="Calibri"/>
                          <a:ea typeface="Calibri"/>
                          <a:cs typeface="Calibri"/>
                          <a:sym typeface="Calibri"/>
                        </a:rPr>
                        <a:t>4 days × 5 learning hours = 20 hours</a:t>
                      </a:r>
                      <a:endParaRPr sz="950" u="none" cap="none" strike="noStrike">
                        <a:latin typeface="Calibri"/>
                        <a:ea typeface="Calibri"/>
                        <a:cs typeface="Calibri"/>
                        <a:sym typeface="Calibri"/>
                      </a:endParaRPr>
                    </a:p>
                  </a:txBody>
                  <a:tcPr marT="64000" marB="64000" marR="64000" marL="64000" anchor="ctr">
                    <a:lnL cap="flat" cmpd="sng" w="9525">
                      <a:solidFill>
                        <a:srgbClr val="D9E2EA"/>
                      </a:solidFill>
                      <a:prstDash val="solid"/>
                      <a:round/>
                      <a:headEnd len="sm" w="sm" type="none"/>
                      <a:tailEnd len="sm" w="sm" type="none"/>
                    </a:lnL>
                    <a:lnR cap="flat" cmpd="sng" w="9525">
                      <a:solidFill>
                        <a:srgbClr val="D9E2EA"/>
                      </a:solidFill>
                      <a:prstDash val="solid"/>
                      <a:round/>
                      <a:headEnd len="sm" w="sm" type="none"/>
                      <a:tailEnd len="sm" w="sm" type="none"/>
                    </a:lnR>
                    <a:lnT cap="flat" cmpd="sng" w="9525">
                      <a:solidFill>
                        <a:srgbClr val="D9E2EA"/>
                      </a:solidFill>
                      <a:prstDash val="solid"/>
                      <a:round/>
                      <a:headEnd len="sm" w="sm" type="none"/>
                      <a:tailEnd len="sm" w="sm" type="none"/>
                    </a:lnT>
                    <a:lnB cap="flat" cmpd="sng" w="9525">
                      <a:solidFill>
                        <a:srgbClr val="D9E2EA"/>
                      </a:solidFill>
                      <a:prstDash val="solid"/>
                      <a:round/>
                      <a:headEnd len="sm" w="sm" type="none"/>
                      <a:tailEnd len="sm" w="sm" type="none"/>
                    </a:lnB>
                    <a:solidFill>
                      <a:srgbClr val="FFFFFF"/>
                    </a:solidFill>
                  </a:tcPr>
                </a:tc>
              </a:tr>
              <a:tr h="541525">
                <a:tc>
                  <a:txBody>
                    <a:bodyPr/>
                    <a:lstStyle/>
                    <a:p>
                      <a:pPr indent="0" lvl="0" marL="0" marR="0" rtl="0" algn="l">
                        <a:spcBef>
                          <a:spcPts val="0"/>
                        </a:spcBef>
                        <a:spcAft>
                          <a:spcPts val="0"/>
                        </a:spcAft>
                        <a:buClr>
                          <a:srgbClr val="1D2A5C"/>
                        </a:buClr>
                        <a:buSzPts val="950"/>
                        <a:buFont typeface="Calibri"/>
                        <a:buNone/>
                      </a:pPr>
                      <a:r>
                        <a:rPr b="1" lang="en-US" sz="950" u="none" cap="none" strike="noStrike">
                          <a:solidFill>
                            <a:srgbClr val="1D2A5C"/>
                          </a:solidFill>
                          <a:latin typeface="Calibri"/>
                          <a:ea typeface="Calibri"/>
                          <a:cs typeface="Calibri"/>
                          <a:sym typeface="Calibri"/>
                        </a:rPr>
                        <a:t>Audience</a:t>
                      </a:r>
                      <a:endParaRPr sz="950" u="none" cap="none" strike="noStrike">
                        <a:latin typeface="Calibri"/>
                        <a:ea typeface="Calibri"/>
                        <a:cs typeface="Calibri"/>
                        <a:sym typeface="Calibri"/>
                      </a:endParaRPr>
                    </a:p>
                  </a:txBody>
                  <a:tcPr marT="64000" marB="64000" marR="64000" marL="64000" anchor="ctr">
                    <a:lnL cap="flat" cmpd="sng" w="9525">
                      <a:solidFill>
                        <a:srgbClr val="D9E2EA"/>
                      </a:solidFill>
                      <a:prstDash val="solid"/>
                      <a:round/>
                      <a:headEnd len="sm" w="sm" type="none"/>
                      <a:tailEnd len="sm" w="sm" type="none"/>
                    </a:lnL>
                    <a:lnR cap="flat" cmpd="sng" w="9525">
                      <a:solidFill>
                        <a:srgbClr val="D9E2EA"/>
                      </a:solidFill>
                      <a:prstDash val="solid"/>
                      <a:round/>
                      <a:headEnd len="sm" w="sm" type="none"/>
                      <a:tailEnd len="sm" w="sm" type="none"/>
                    </a:lnR>
                    <a:lnT cap="flat" cmpd="sng" w="9525">
                      <a:solidFill>
                        <a:srgbClr val="D9E2EA"/>
                      </a:solidFill>
                      <a:prstDash val="solid"/>
                      <a:round/>
                      <a:headEnd len="sm" w="sm" type="none"/>
                      <a:tailEnd len="sm" w="sm" type="none"/>
                    </a:lnT>
                    <a:lnB cap="flat" cmpd="sng" w="9525">
                      <a:solidFill>
                        <a:srgbClr val="D9E2EA"/>
                      </a:solidFill>
                      <a:prstDash val="solid"/>
                      <a:round/>
                      <a:headEnd len="sm" w="sm" type="none"/>
                      <a:tailEnd len="sm" w="sm" type="none"/>
                    </a:lnB>
                    <a:solidFill>
                      <a:srgbClr val="F2F6F9"/>
                    </a:solidFill>
                  </a:tcPr>
                </a:tc>
                <a:tc>
                  <a:txBody>
                    <a:bodyPr/>
                    <a:lstStyle/>
                    <a:p>
                      <a:pPr indent="0" lvl="0" marL="0" marR="0" rtl="0" algn="l">
                        <a:spcBef>
                          <a:spcPts val="0"/>
                        </a:spcBef>
                        <a:spcAft>
                          <a:spcPts val="0"/>
                        </a:spcAft>
                        <a:buClr>
                          <a:srgbClr val="23293B"/>
                        </a:buClr>
                        <a:buSzPts val="950"/>
                        <a:buFont typeface="Calibri"/>
                        <a:buNone/>
                      </a:pPr>
                      <a:r>
                        <a:rPr lang="en-US" sz="950" u="none" cap="none" strike="noStrike">
                          <a:solidFill>
                            <a:srgbClr val="23293B"/>
                          </a:solidFill>
                          <a:latin typeface="Calibri"/>
                          <a:ea typeface="Calibri"/>
                          <a:cs typeface="Calibri"/>
                          <a:sym typeface="Calibri"/>
                        </a:rPr>
                        <a:t>AI engineers specialising in vision applications</a:t>
                      </a:r>
                      <a:endParaRPr sz="950" u="none" cap="none" strike="noStrike">
                        <a:latin typeface="Calibri"/>
                        <a:ea typeface="Calibri"/>
                        <a:cs typeface="Calibri"/>
                        <a:sym typeface="Calibri"/>
                      </a:endParaRPr>
                    </a:p>
                  </a:txBody>
                  <a:tcPr marT="64000" marB="64000" marR="64000" marL="64000" anchor="ctr">
                    <a:lnL cap="flat" cmpd="sng" w="9525">
                      <a:solidFill>
                        <a:srgbClr val="D9E2EA"/>
                      </a:solidFill>
                      <a:prstDash val="solid"/>
                      <a:round/>
                      <a:headEnd len="sm" w="sm" type="none"/>
                      <a:tailEnd len="sm" w="sm" type="none"/>
                    </a:lnL>
                    <a:lnR cap="flat" cmpd="sng" w="9525">
                      <a:solidFill>
                        <a:srgbClr val="D9E2EA"/>
                      </a:solidFill>
                      <a:prstDash val="solid"/>
                      <a:round/>
                      <a:headEnd len="sm" w="sm" type="none"/>
                      <a:tailEnd len="sm" w="sm" type="none"/>
                    </a:lnR>
                    <a:lnT cap="flat" cmpd="sng" w="9525">
                      <a:solidFill>
                        <a:srgbClr val="D9E2EA"/>
                      </a:solidFill>
                      <a:prstDash val="solid"/>
                      <a:round/>
                      <a:headEnd len="sm" w="sm" type="none"/>
                      <a:tailEnd len="sm" w="sm" type="none"/>
                    </a:lnT>
                    <a:lnB cap="flat" cmpd="sng" w="9525">
                      <a:solidFill>
                        <a:srgbClr val="D9E2EA"/>
                      </a:solidFill>
                      <a:prstDash val="solid"/>
                      <a:round/>
                      <a:headEnd len="sm" w="sm" type="none"/>
                      <a:tailEnd len="sm" w="sm" type="none"/>
                    </a:lnB>
                    <a:solidFill>
                      <a:srgbClr val="F2F6F9"/>
                    </a:solidFill>
                  </a:tcPr>
                </a:tc>
              </a:tr>
              <a:tr h="541525">
                <a:tc>
                  <a:txBody>
                    <a:bodyPr/>
                    <a:lstStyle/>
                    <a:p>
                      <a:pPr indent="0" lvl="0" marL="0" marR="0" rtl="0" algn="l">
                        <a:spcBef>
                          <a:spcPts val="0"/>
                        </a:spcBef>
                        <a:spcAft>
                          <a:spcPts val="0"/>
                        </a:spcAft>
                        <a:buClr>
                          <a:srgbClr val="1D2A5C"/>
                        </a:buClr>
                        <a:buSzPts val="950"/>
                        <a:buFont typeface="Calibri"/>
                        <a:buNone/>
                      </a:pPr>
                      <a:r>
                        <a:rPr b="1" lang="en-US" sz="950" u="none" cap="none" strike="noStrike">
                          <a:solidFill>
                            <a:srgbClr val="1D2A5C"/>
                          </a:solidFill>
                          <a:latin typeface="Calibri"/>
                          <a:ea typeface="Calibri"/>
                          <a:cs typeface="Calibri"/>
                          <a:sym typeface="Calibri"/>
                        </a:rPr>
                        <a:t>Prerequisites</a:t>
                      </a:r>
                      <a:endParaRPr sz="950" u="none" cap="none" strike="noStrike">
                        <a:latin typeface="Calibri"/>
                        <a:ea typeface="Calibri"/>
                        <a:cs typeface="Calibri"/>
                        <a:sym typeface="Calibri"/>
                      </a:endParaRPr>
                    </a:p>
                  </a:txBody>
                  <a:tcPr marT="64000" marB="64000" marR="64000" marL="64000" anchor="ctr">
                    <a:lnL cap="flat" cmpd="sng" w="9525">
                      <a:solidFill>
                        <a:srgbClr val="D9E2EA"/>
                      </a:solidFill>
                      <a:prstDash val="solid"/>
                      <a:round/>
                      <a:headEnd len="sm" w="sm" type="none"/>
                      <a:tailEnd len="sm" w="sm" type="none"/>
                    </a:lnL>
                    <a:lnR cap="flat" cmpd="sng" w="9525">
                      <a:solidFill>
                        <a:srgbClr val="D9E2EA"/>
                      </a:solidFill>
                      <a:prstDash val="solid"/>
                      <a:round/>
                      <a:headEnd len="sm" w="sm" type="none"/>
                      <a:tailEnd len="sm" w="sm" type="none"/>
                    </a:lnR>
                    <a:lnT cap="flat" cmpd="sng" w="9525">
                      <a:solidFill>
                        <a:srgbClr val="D9E2EA"/>
                      </a:solidFill>
                      <a:prstDash val="solid"/>
                      <a:round/>
                      <a:headEnd len="sm" w="sm" type="none"/>
                      <a:tailEnd len="sm" w="sm" type="none"/>
                    </a:lnT>
                    <a:lnB cap="flat" cmpd="sng" w="9525">
                      <a:solidFill>
                        <a:srgbClr val="D9E2EA"/>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23293B"/>
                        </a:buClr>
                        <a:buSzPts val="950"/>
                        <a:buFont typeface="Calibri"/>
                        <a:buNone/>
                      </a:pPr>
                      <a:r>
                        <a:rPr lang="en-US" sz="950" u="none" cap="none" strike="noStrike">
                          <a:solidFill>
                            <a:srgbClr val="23293B"/>
                          </a:solidFill>
                          <a:latin typeface="Calibri"/>
                          <a:ea typeface="Calibri"/>
                          <a:cs typeface="Calibri"/>
                          <a:sym typeface="Calibri"/>
                        </a:rPr>
                        <a:t>SDA-AIE-112 (Deep Learning Essentials with PyTorch)</a:t>
                      </a:r>
                      <a:endParaRPr sz="950" u="none" cap="none" strike="noStrike">
                        <a:latin typeface="Calibri"/>
                        <a:ea typeface="Calibri"/>
                        <a:cs typeface="Calibri"/>
                        <a:sym typeface="Calibri"/>
                      </a:endParaRPr>
                    </a:p>
                  </a:txBody>
                  <a:tcPr marT="64000" marB="64000" marR="64000" marL="64000" anchor="ctr">
                    <a:lnL cap="flat" cmpd="sng" w="9525">
                      <a:solidFill>
                        <a:srgbClr val="D9E2EA"/>
                      </a:solidFill>
                      <a:prstDash val="solid"/>
                      <a:round/>
                      <a:headEnd len="sm" w="sm" type="none"/>
                      <a:tailEnd len="sm" w="sm" type="none"/>
                    </a:lnL>
                    <a:lnR cap="flat" cmpd="sng" w="9525">
                      <a:solidFill>
                        <a:srgbClr val="D9E2EA"/>
                      </a:solidFill>
                      <a:prstDash val="solid"/>
                      <a:round/>
                      <a:headEnd len="sm" w="sm" type="none"/>
                      <a:tailEnd len="sm" w="sm" type="none"/>
                    </a:lnR>
                    <a:lnT cap="flat" cmpd="sng" w="9525">
                      <a:solidFill>
                        <a:srgbClr val="D9E2EA"/>
                      </a:solidFill>
                      <a:prstDash val="solid"/>
                      <a:round/>
                      <a:headEnd len="sm" w="sm" type="none"/>
                      <a:tailEnd len="sm" w="sm" type="none"/>
                    </a:lnT>
                    <a:lnB cap="flat" cmpd="sng" w="9525">
                      <a:solidFill>
                        <a:srgbClr val="D9E2EA"/>
                      </a:solidFill>
                      <a:prstDash val="solid"/>
                      <a:round/>
                      <a:headEnd len="sm" w="sm" type="none"/>
                      <a:tailEnd len="sm" w="sm" type="none"/>
                    </a:lnB>
                    <a:solidFill>
                      <a:srgbClr val="FFFFFF"/>
                    </a:solidFill>
                  </a:tcPr>
                </a:tc>
              </a:tr>
              <a:tr h="541525">
                <a:tc>
                  <a:txBody>
                    <a:bodyPr/>
                    <a:lstStyle/>
                    <a:p>
                      <a:pPr indent="0" lvl="0" marL="0" marR="0" rtl="0" algn="l">
                        <a:spcBef>
                          <a:spcPts val="0"/>
                        </a:spcBef>
                        <a:spcAft>
                          <a:spcPts val="0"/>
                        </a:spcAft>
                        <a:buClr>
                          <a:srgbClr val="1D2A5C"/>
                        </a:buClr>
                        <a:buSzPts val="950"/>
                        <a:buFont typeface="Calibri"/>
                        <a:buNone/>
                      </a:pPr>
                      <a:r>
                        <a:rPr b="1" lang="en-US" sz="950" u="none" cap="none" strike="noStrike">
                          <a:solidFill>
                            <a:srgbClr val="1D2A5C"/>
                          </a:solidFill>
                          <a:latin typeface="Calibri"/>
                          <a:ea typeface="Calibri"/>
                          <a:cs typeface="Calibri"/>
                          <a:sym typeface="Calibri"/>
                        </a:rPr>
                        <a:t>Assessment</a:t>
                      </a:r>
                      <a:endParaRPr sz="950" u="none" cap="none" strike="noStrike">
                        <a:latin typeface="Calibri"/>
                        <a:ea typeface="Calibri"/>
                        <a:cs typeface="Calibri"/>
                        <a:sym typeface="Calibri"/>
                      </a:endParaRPr>
                    </a:p>
                  </a:txBody>
                  <a:tcPr marT="64000" marB="64000" marR="64000" marL="64000" anchor="ctr">
                    <a:lnL cap="flat" cmpd="sng" w="9525">
                      <a:solidFill>
                        <a:srgbClr val="D9E2EA"/>
                      </a:solidFill>
                      <a:prstDash val="solid"/>
                      <a:round/>
                      <a:headEnd len="sm" w="sm" type="none"/>
                      <a:tailEnd len="sm" w="sm" type="none"/>
                    </a:lnL>
                    <a:lnR cap="flat" cmpd="sng" w="9525">
                      <a:solidFill>
                        <a:srgbClr val="D9E2EA"/>
                      </a:solidFill>
                      <a:prstDash val="solid"/>
                      <a:round/>
                      <a:headEnd len="sm" w="sm" type="none"/>
                      <a:tailEnd len="sm" w="sm" type="none"/>
                    </a:lnR>
                    <a:lnT cap="flat" cmpd="sng" w="9525">
                      <a:solidFill>
                        <a:srgbClr val="D9E2EA"/>
                      </a:solidFill>
                      <a:prstDash val="solid"/>
                      <a:round/>
                      <a:headEnd len="sm" w="sm" type="none"/>
                      <a:tailEnd len="sm" w="sm" type="none"/>
                    </a:lnT>
                    <a:lnB cap="flat" cmpd="sng" w="9525">
                      <a:solidFill>
                        <a:srgbClr val="D9E2EA"/>
                      </a:solidFill>
                      <a:prstDash val="solid"/>
                      <a:round/>
                      <a:headEnd len="sm" w="sm" type="none"/>
                      <a:tailEnd len="sm" w="sm" type="none"/>
                    </a:lnB>
                    <a:solidFill>
                      <a:srgbClr val="F2F6F9"/>
                    </a:solidFill>
                  </a:tcPr>
                </a:tc>
                <a:tc>
                  <a:txBody>
                    <a:bodyPr/>
                    <a:lstStyle/>
                    <a:p>
                      <a:pPr indent="0" lvl="0" marL="0" marR="0" rtl="0" algn="l">
                        <a:spcBef>
                          <a:spcPts val="0"/>
                        </a:spcBef>
                        <a:spcAft>
                          <a:spcPts val="0"/>
                        </a:spcAft>
                        <a:buClr>
                          <a:srgbClr val="23293B"/>
                        </a:buClr>
                        <a:buSzPts val="950"/>
                        <a:buFont typeface="Calibri"/>
                        <a:buNone/>
                      </a:pPr>
                      <a:r>
                        <a:rPr lang="en-US" sz="950" u="none" cap="none" strike="noStrike">
                          <a:solidFill>
                            <a:srgbClr val="23293B"/>
                          </a:solidFill>
                          <a:latin typeface="Calibri"/>
                          <a:ea typeface="Calibri"/>
                          <a:cs typeface="Calibri"/>
                          <a:sym typeface="Calibri"/>
                        </a:rPr>
                        <a:t>Labs (60%) + vision-system project (40%)</a:t>
                      </a:r>
                      <a:endParaRPr sz="950" u="none" cap="none" strike="noStrike">
                        <a:latin typeface="Calibri"/>
                        <a:ea typeface="Calibri"/>
                        <a:cs typeface="Calibri"/>
                        <a:sym typeface="Calibri"/>
                      </a:endParaRPr>
                    </a:p>
                  </a:txBody>
                  <a:tcPr marT="64000" marB="64000" marR="64000" marL="64000" anchor="ctr">
                    <a:lnL cap="flat" cmpd="sng" w="9525">
                      <a:solidFill>
                        <a:srgbClr val="D9E2EA"/>
                      </a:solidFill>
                      <a:prstDash val="solid"/>
                      <a:round/>
                      <a:headEnd len="sm" w="sm" type="none"/>
                      <a:tailEnd len="sm" w="sm" type="none"/>
                    </a:lnL>
                    <a:lnR cap="flat" cmpd="sng" w="9525">
                      <a:solidFill>
                        <a:srgbClr val="D9E2EA"/>
                      </a:solidFill>
                      <a:prstDash val="solid"/>
                      <a:round/>
                      <a:headEnd len="sm" w="sm" type="none"/>
                      <a:tailEnd len="sm" w="sm" type="none"/>
                    </a:lnR>
                    <a:lnT cap="flat" cmpd="sng" w="9525">
                      <a:solidFill>
                        <a:srgbClr val="D9E2EA"/>
                      </a:solidFill>
                      <a:prstDash val="solid"/>
                      <a:round/>
                      <a:headEnd len="sm" w="sm" type="none"/>
                      <a:tailEnd len="sm" w="sm" type="none"/>
                    </a:lnT>
                    <a:lnB cap="flat" cmpd="sng" w="9525">
                      <a:solidFill>
                        <a:srgbClr val="D9E2EA"/>
                      </a:solidFill>
                      <a:prstDash val="solid"/>
                      <a:round/>
                      <a:headEnd len="sm" w="sm" type="none"/>
                      <a:tailEnd len="sm" w="sm" type="none"/>
                    </a:lnB>
                    <a:solidFill>
                      <a:srgbClr val="F2F6F9"/>
                    </a:solidFill>
                  </a:tcPr>
                </a:tc>
              </a:tr>
              <a:tr h="541525">
                <a:tc>
                  <a:txBody>
                    <a:bodyPr/>
                    <a:lstStyle/>
                    <a:p>
                      <a:pPr indent="0" lvl="0" marL="0" marR="0" rtl="0" algn="l">
                        <a:spcBef>
                          <a:spcPts val="0"/>
                        </a:spcBef>
                        <a:spcAft>
                          <a:spcPts val="0"/>
                        </a:spcAft>
                        <a:buClr>
                          <a:srgbClr val="1D2A5C"/>
                        </a:buClr>
                        <a:buSzPts val="950"/>
                        <a:buFont typeface="Calibri"/>
                        <a:buNone/>
                      </a:pPr>
                      <a:r>
                        <a:rPr b="1" lang="en-US" sz="950" u="none" cap="none" strike="noStrike">
                          <a:solidFill>
                            <a:srgbClr val="1D2A5C"/>
                          </a:solidFill>
                          <a:latin typeface="Calibri"/>
                          <a:ea typeface="Calibri"/>
                          <a:cs typeface="Calibri"/>
                          <a:sym typeface="Calibri"/>
                        </a:rPr>
                        <a:t>Stackability</a:t>
                      </a:r>
                      <a:endParaRPr sz="950" u="none" cap="none" strike="noStrike">
                        <a:latin typeface="Calibri"/>
                        <a:ea typeface="Calibri"/>
                        <a:cs typeface="Calibri"/>
                        <a:sym typeface="Calibri"/>
                      </a:endParaRPr>
                    </a:p>
                  </a:txBody>
                  <a:tcPr marT="64000" marB="64000" marR="64000" marL="64000" anchor="ctr">
                    <a:lnL cap="flat" cmpd="sng" w="9525">
                      <a:solidFill>
                        <a:srgbClr val="D9E2EA"/>
                      </a:solidFill>
                      <a:prstDash val="solid"/>
                      <a:round/>
                      <a:headEnd len="sm" w="sm" type="none"/>
                      <a:tailEnd len="sm" w="sm" type="none"/>
                    </a:lnL>
                    <a:lnR cap="flat" cmpd="sng" w="9525">
                      <a:solidFill>
                        <a:srgbClr val="D9E2EA"/>
                      </a:solidFill>
                      <a:prstDash val="solid"/>
                      <a:round/>
                      <a:headEnd len="sm" w="sm" type="none"/>
                      <a:tailEnd len="sm" w="sm" type="none"/>
                    </a:lnR>
                    <a:lnT cap="flat" cmpd="sng" w="9525">
                      <a:solidFill>
                        <a:srgbClr val="D9E2EA"/>
                      </a:solidFill>
                      <a:prstDash val="solid"/>
                      <a:round/>
                      <a:headEnd len="sm" w="sm" type="none"/>
                      <a:tailEnd len="sm" w="sm" type="none"/>
                    </a:lnT>
                    <a:lnB cap="flat" cmpd="sng" w="9525">
                      <a:solidFill>
                        <a:srgbClr val="D9E2EA"/>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23293B"/>
                        </a:buClr>
                        <a:buSzPts val="950"/>
                        <a:buFont typeface="Calibri"/>
                        <a:buNone/>
                      </a:pPr>
                      <a:r>
                        <a:rPr lang="en-US" sz="950" u="none" cap="none" strike="noStrike">
                          <a:solidFill>
                            <a:srgbClr val="23293B"/>
                          </a:solidFill>
                          <a:latin typeface="Calibri"/>
                          <a:ea typeface="Calibri"/>
                          <a:cs typeface="Calibri"/>
                          <a:sym typeface="Calibri"/>
                        </a:rPr>
                        <a:t>Vision badge · AI Engineer Specialist elective · Next: SDA-AIE-216</a:t>
                      </a:r>
                      <a:endParaRPr sz="950" u="none" cap="none" strike="noStrike">
                        <a:latin typeface="Calibri"/>
                        <a:ea typeface="Calibri"/>
                        <a:cs typeface="Calibri"/>
                        <a:sym typeface="Calibri"/>
                      </a:endParaRPr>
                    </a:p>
                  </a:txBody>
                  <a:tcPr marT="64000" marB="64000" marR="64000" marL="64000" anchor="ctr">
                    <a:lnL cap="flat" cmpd="sng" w="9525">
                      <a:solidFill>
                        <a:srgbClr val="D9E2EA"/>
                      </a:solidFill>
                      <a:prstDash val="solid"/>
                      <a:round/>
                      <a:headEnd len="sm" w="sm" type="none"/>
                      <a:tailEnd len="sm" w="sm" type="none"/>
                    </a:lnL>
                    <a:lnR cap="flat" cmpd="sng" w="9525">
                      <a:solidFill>
                        <a:srgbClr val="D9E2EA"/>
                      </a:solidFill>
                      <a:prstDash val="solid"/>
                      <a:round/>
                      <a:headEnd len="sm" w="sm" type="none"/>
                      <a:tailEnd len="sm" w="sm" type="none"/>
                    </a:lnR>
                    <a:lnT cap="flat" cmpd="sng" w="9525">
                      <a:solidFill>
                        <a:srgbClr val="D9E2EA"/>
                      </a:solidFill>
                      <a:prstDash val="solid"/>
                      <a:round/>
                      <a:headEnd len="sm" w="sm" type="none"/>
                      <a:tailEnd len="sm" w="sm" type="none"/>
                    </a:lnT>
                    <a:lnB cap="flat" cmpd="sng" w="9525">
                      <a:solidFill>
                        <a:srgbClr val="D9E2EA"/>
                      </a:solidFill>
                      <a:prstDash val="solid"/>
                      <a:round/>
                      <a:headEnd len="sm" w="sm" type="none"/>
                      <a:tailEnd len="sm" w="sm" type="none"/>
                    </a:lnB>
                    <a:solidFill>
                      <a:srgbClr val="FFFFFF"/>
                    </a:solidFill>
                  </a:tcPr>
                </a:tc>
              </a:tr>
              <a:tr h="541525">
                <a:tc>
                  <a:txBody>
                    <a:bodyPr/>
                    <a:lstStyle/>
                    <a:p>
                      <a:pPr indent="0" lvl="0" marL="0" marR="0" rtl="0" algn="l">
                        <a:spcBef>
                          <a:spcPts val="0"/>
                        </a:spcBef>
                        <a:spcAft>
                          <a:spcPts val="0"/>
                        </a:spcAft>
                        <a:buClr>
                          <a:srgbClr val="1D2A5C"/>
                        </a:buClr>
                        <a:buSzPts val="950"/>
                        <a:buFont typeface="Calibri"/>
                        <a:buNone/>
                      </a:pPr>
                      <a:r>
                        <a:rPr b="1" lang="en-US" sz="950" u="none" cap="none" strike="noStrike">
                          <a:solidFill>
                            <a:srgbClr val="1D2A5C"/>
                          </a:solidFill>
                          <a:latin typeface="Calibri"/>
                          <a:ea typeface="Calibri"/>
                          <a:cs typeface="Calibri"/>
                          <a:sym typeface="Calibri"/>
                        </a:rPr>
                        <a:t>Tools</a:t>
                      </a:r>
                      <a:endParaRPr sz="950" u="none" cap="none" strike="noStrike">
                        <a:latin typeface="Calibri"/>
                        <a:ea typeface="Calibri"/>
                        <a:cs typeface="Calibri"/>
                        <a:sym typeface="Calibri"/>
                      </a:endParaRPr>
                    </a:p>
                  </a:txBody>
                  <a:tcPr marT="64000" marB="64000" marR="64000" marL="64000" anchor="ctr">
                    <a:lnL cap="flat" cmpd="sng" w="9525">
                      <a:solidFill>
                        <a:srgbClr val="D9E2EA"/>
                      </a:solidFill>
                      <a:prstDash val="solid"/>
                      <a:round/>
                      <a:headEnd len="sm" w="sm" type="none"/>
                      <a:tailEnd len="sm" w="sm" type="none"/>
                    </a:lnL>
                    <a:lnR cap="flat" cmpd="sng" w="9525">
                      <a:solidFill>
                        <a:srgbClr val="D9E2EA"/>
                      </a:solidFill>
                      <a:prstDash val="solid"/>
                      <a:round/>
                      <a:headEnd len="sm" w="sm" type="none"/>
                      <a:tailEnd len="sm" w="sm" type="none"/>
                    </a:lnR>
                    <a:lnT cap="flat" cmpd="sng" w="9525">
                      <a:solidFill>
                        <a:srgbClr val="D9E2EA"/>
                      </a:solidFill>
                      <a:prstDash val="solid"/>
                      <a:round/>
                      <a:headEnd len="sm" w="sm" type="none"/>
                      <a:tailEnd len="sm" w="sm" type="none"/>
                    </a:lnT>
                    <a:lnB cap="flat" cmpd="sng" w="9525">
                      <a:solidFill>
                        <a:srgbClr val="D9E2EA"/>
                      </a:solidFill>
                      <a:prstDash val="solid"/>
                      <a:round/>
                      <a:headEnd len="sm" w="sm" type="none"/>
                      <a:tailEnd len="sm" w="sm" type="none"/>
                    </a:lnB>
                    <a:solidFill>
                      <a:srgbClr val="F2F6F9"/>
                    </a:solidFill>
                  </a:tcPr>
                </a:tc>
                <a:tc>
                  <a:txBody>
                    <a:bodyPr/>
                    <a:lstStyle/>
                    <a:p>
                      <a:pPr indent="0" lvl="0" marL="0" marR="0" rtl="0" algn="l">
                        <a:spcBef>
                          <a:spcPts val="0"/>
                        </a:spcBef>
                        <a:spcAft>
                          <a:spcPts val="0"/>
                        </a:spcAft>
                        <a:buClr>
                          <a:srgbClr val="23293B"/>
                        </a:buClr>
                        <a:buSzPts val="950"/>
                        <a:buFont typeface="Calibri"/>
                        <a:buNone/>
                      </a:pPr>
                      <a:r>
                        <a:rPr lang="en-US" sz="950" u="none" cap="none" strike="noStrike">
                          <a:solidFill>
                            <a:srgbClr val="23293B"/>
                          </a:solidFill>
                          <a:latin typeface="Calibri"/>
                          <a:ea typeface="Calibri"/>
                          <a:cs typeface="Calibri"/>
                          <a:sym typeface="Calibri"/>
                        </a:rPr>
                        <a:t>PyTorch · torchvision · YOLO/Ultralytics · OpenCV · ONNX</a:t>
                      </a:r>
                      <a:endParaRPr sz="950" u="none" cap="none" strike="noStrike">
                        <a:latin typeface="Calibri"/>
                        <a:ea typeface="Calibri"/>
                        <a:cs typeface="Calibri"/>
                        <a:sym typeface="Calibri"/>
                      </a:endParaRPr>
                    </a:p>
                  </a:txBody>
                  <a:tcPr marT="64000" marB="64000" marR="64000" marL="64000" anchor="ctr">
                    <a:lnL cap="flat" cmpd="sng" w="9525">
                      <a:solidFill>
                        <a:srgbClr val="D9E2EA"/>
                      </a:solidFill>
                      <a:prstDash val="solid"/>
                      <a:round/>
                      <a:headEnd len="sm" w="sm" type="none"/>
                      <a:tailEnd len="sm" w="sm" type="none"/>
                    </a:lnL>
                    <a:lnR cap="flat" cmpd="sng" w="9525">
                      <a:solidFill>
                        <a:srgbClr val="D9E2EA"/>
                      </a:solidFill>
                      <a:prstDash val="solid"/>
                      <a:round/>
                      <a:headEnd len="sm" w="sm" type="none"/>
                      <a:tailEnd len="sm" w="sm" type="none"/>
                    </a:lnR>
                    <a:lnT cap="flat" cmpd="sng" w="9525">
                      <a:solidFill>
                        <a:srgbClr val="D9E2EA"/>
                      </a:solidFill>
                      <a:prstDash val="solid"/>
                      <a:round/>
                      <a:headEnd len="sm" w="sm" type="none"/>
                      <a:tailEnd len="sm" w="sm" type="none"/>
                    </a:lnT>
                    <a:lnB cap="flat" cmpd="sng" w="9525">
                      <a:solidFill>
                        <a:srgbClr val="D9E2EA"/>
                      </a:solidFill>
                      <a:prstDash val="solid"/>
                      <a:round/>
                      <a:headEnd len="sm" w="sm" type="none"/>
                      <a:tailEnd len="sm" w="sm" type="none"/>
                    </a:lnB>
                    <a:solidFill>
                      <a:srgbClr val="F2F6F9"/>
                    </a:solidFill>
                  </a:tcPr>
                </a:tc>
              </a:tr>
            </a:tbl>
          </a:graphicData>
        </a:graphic>
      </p:graphicFrame>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61" name="Shape 61"/>
        <p:cNvGrpSpPr/>
        <p:nvPr/>
      </p:nvGrpSpPr>
      <p:grpSpPr>
        <a:xfrm>
          <a:off x="0" y="0"/>
          <a:ext cx="0" cy="0"/>
          <a:chOff x="0" y="0"/>
          <a:chExt cx="0" cy="0"/>
        </a:xfrm>
      </p:grpSpPr>
      <p:sp>
        <p:nvSpPr>
          <p:cNvPr id="62" name="Google Shape;62;p3"/>
          <p:cNvSpPr/>
          <p:nvPr/>
        </p:nvSpPr>
        <p:spPr>
          <a:xfrm>
            <a:off x="502920" y="274320"/>
            <a:ext cx="9646920" cy="56692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D2A5C"/>
              </a:buClr>
              <a:buSzPts val="2700"/>
              <a:buFont typeface="Calibri"/>
              <a:buNone/>
            </a:pPr>
            <a:r>
              <a:rPr b="1" i="0" lang="en-US" sz="2700" u="none" cap="none" strike="noStrike">
                <a:solidFill>
                  <a:srgbClr val="1D2A5C"/>
                </a:solidFill>
                <a:latin typeface="Calibri"/>
                <a:ea typeface="Calibri"/>
                <a:cs typeface="Calibri"/>
                <a:sym typeface="Calibri"/>
              </a:rPr>
              <a:t>One course, one evolving system: Tamr Vision</a:t>
            </a:r>
            <a:endParaRPr b="0" i="0" sz="2700" u="none" cap="none" strike="noStrike">
              <a:solidFill>
                <a:schemeClr val="dk1"/>
              </a:solidFill>
              <a:latin typeface="Calibri"/>
              <a:ea typeface="Calibri"/>
              <a:cs typeface="Calibri"/>
              <a:sym typeface="Calibri"/>
            </a:endParaRPr>
          </a:p>
        </p:txBody>
      </p:sp>
      <p:sp>
        <p:nvSpPr>
          <p:cNvPr id="63" name="Google Shape;63;p3"/>
          <p:cNvSpPr/>
          <p:nvPr/>
        </p:nvSpPr>
        <p:spPr>
          <a:xfrm>
            <a:off x="502920" y="859536"/>
            <a:ext cx="9646920" cy="31089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F6B7A"/>
              </a:buClr>
              <a:buSzPts val="1250"/>
              <a:buFont typeface="Arial"/>
              <a:buNone/>
            </a:pPr>
            <a:r>
              <a:rPr b="0" i="0" lang="en-US" sz="1250" u="none" cap="none" strike="noStrike">
                <a:solidFill>
                  <a:srgbClr val="5F6B7A"/>
                </a:solidFill>
                <a:latin typeface="Arial"/>
                <a:ea typeface="Arial"/>
                <a:cs typeface="Arial"/>
                <a:sym typeface="Arial"/>
              </a:rPr>
              <a:t>نظام واحد يتطور: تمر فيجن</a:t>
            </a:r>
            <a:endParaRPr b="0" i="0" sz="1250" u="none" cap="none" strike="noStrike">
              <a:solidFill>
                <a:schemeClr val="dk1"/>
              </a:solidFill>
              <a:latin typeface="Calibri"/>
              <a:ea typeface="Calibri"/>
              <a:cs typeface="Calibri"/>
              <a:sym typeface="Calibri"/>
            </a:endParaRPr>
          </a:p>
        </p:txBody>
      </p:sp>
      <p:pic>
        <p:nvPicPr>
          <p:cNvPr descr="/sessions/blissful-determined-ritchie/build/assets/sdaia_logo.png" id="64" name="Google Shape;64;p3"/>
          <p:cNvPicPr preferRelativeResize="0"/>
          <p:nvPr/>
        </p:nvPicPr>
        <p:blipFill rotWithShape="1">
          <a:blip r:embed="rId3">
            <a:alphaModFix/>
          </a:blip>
          <a:srcRect b="0" l="0" r="0" t="0"/>
          <a:stretch/>
        </p:blipFill>
        <p:spPr>
          <a:xfrm>
            <a:off x="10625328" y="310896"/>
            <a:ext cx="1078992" cy="264111"/>
          </a:xfrm>
          <a:prstGeom prst="rect">
            <a:avLst/>
          </a:prstGeom>
          <a:noFill/>
          <a:ln>
            <a:noFill/>
          </a:ln>
        </p:spPr>
      </p:pic>
      <p:sp>
        <p:nvSpPr>
          <p:cNvPr id="65" name="Google Shape;65;p3"/>
          <p:cNvSpPr/>
          <p:nvPr/>
        </p:nvSpPr>
        <p:spPr>
          <a:xfrm>
            <a:off x="502920" y="6528816"/>
            <a:ext cx="8686800"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A79D"/>
              </a:buClr>
              <a:buSzPts val="800"/>
              <a:buFont typeface="Calibri"/>
              <a:buNone/>
            </a:pPr>
            <a:r>
              <a:rPr b="1" i="0" lang="en-US" sz="800" u="none" cap="none" strike="noStrike">
                <a:solidFill>
                  <a:srgbClr val="00A79D"/>
                </a:solidFill>
                <a:latin typeface="Calibri"/>
                <a:ea typeface="Calibri"/>
                <a:cs typeface="Calibri"/>
                <a:sym typeface="Calibri"/>
              </a:rPr>
              <a:t>OVERVIEW   </a:t>
            </a:r>
            <a:r>
              <a:rPr b="0" i="0" lang="en-US" sz="800" u="none" cap="none" strike="noStrike">
                <a:solidFill>
                  <a:srgbClr val="8A96A6"/>
                </a:solidFill>
                <a:latin typeface="Calibri"/>
                <a:ea typeface="Calibri"/>
                <a:cs typeface="Calibri"/>
                <a:sym typeface="Calibri"/>
              </a:rPr>
              <a:t>SDA-AIE-212 · Computer Vision Systems Development</a:t>
            </a:r>
            <a:endParaRPr b="0" i="0" sz="800" u="none" cap="none" strike="noStrike">
              <a:solidFill>
                <a:schemeClr val="dk1"/>
              </a:solidFill>
              <a:latin typeface="Calibri"/>
              <a:ea typeface="Calibri"/>
              <a:cs typeface="Calibri"/>
              <a:sym typeface="Calibri"/>
            </a:endParaRPr>
          </a:p>
        </p:txBody>
      </p:sp>
      <p:sp>
        <p:nvSpPr>
          <p:cNvPr id="66" name="Google Shape;66;p3"/>
          <p:cNvSpPr/>
          <p:nvPr/>
        </p:nvSpPr>
        <p:spPr>
          <a:xfrm>
            <a:off x="11292840" y="6528816"/>
            <a:ext cx="411480" cy="219456"/>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8A96A6"/>
              </a:buClr>
              <a:buSzPts val="900"/>
              <a:buFont typeface="Calibri"/>
              <a:buNone/>
            </a:pPr>
            <a:r>
              <a:rPr b="0" i="0" lang="en-US" sz="900" u="none" cap="none" strike="noStrike">
                <a:solidFill>
                  <a:srgbClr val="8A96A6"/>
                </a:solidFill>
                <a:latin typeface="Calibri"/>
                <a:ea typeface="Calibri"/>
                <a:cs typeface="Calibri"/>
                <a:sym typeface="Calibri"/>
              </a:rPr>
              <a:t>3</a:t>
            </a:r>
            <a:endParaRPr b="0" i="0" sz="900" u="none" cap="none" strike="noStrike">
              <a:solidFill>
                <a:schemeClr val="dk1"/>
              </a:solidFill>
              <a:latin typeface="Calibri"/>
              <a:ea typeface="Calibri"/>
              <a:cs typeface="Calibri"/>
              <a:sym typeface="Calibri"/>
            </a:endParaRPr>
          </a:p>
        </p:txBody>
      </p:sp>
      <p:sp>
        <p:nvSpPr>
          <p:cNvPr id="67" name="Google Shape;67;p3"/>
          <p:cNvSpPr/>
          <p:nvPr/>
        </p:nvSpPr>
        <p:spPr>
          <a:xfrm>
            <a:off x="502920" y="2153412"/>
            <a:ext cx="329184" cy="329184"/>
          </a:xfrm>
          <a:prstGeom prst="ellipse">
            <a:avLst/>
          </a:prstGeom>
          <a:solidFill>
            <a:srgbClr val="00A79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 name="Google Shape;68;p3"/>
          <p:cNvSpPr/>
          <p:nvPr/>
        </p:nvSpPr>
        <p:spPr>
          <a:xfrm>
            <a:off x="502920" y="2153412"/>
            <a:ext cx="329184" cy="32918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300"/>
              <a:buFont typeface="Calibri"/>
              <a:buNone/>
            </a:pPr>
            <a:r>
              <a:rPr b="1" i="0" lang="en-US" sz="1300" u="none" cap="none" strike="noStrike">
                <a:solidFill>
                  <a:srgbClr val="FFFFFF"/>
                </a:solidFill>
                <a:latin typeface="Calibri"/>
                <a:ea typeface="Calibri"/>
                <a:cs typeface="Calibri"/>
                <a:sym typeface="Calibri"/>
              </a:rPr>
              <a:t>1</a:t>
            </a:r>
            <a:endParaRPr b="0" i="0" sz="1300" u="none" cap="none" strike="noStrike">
              <a:solidFill>
                <a:schemeClr val="dk1"/>
              </a:solidFill>
              <a:latin typeface="Calibri"/>
              <a:ea typeface="Calibri"/>
              <a:cs typeface="Calibri"/>
              <a:sym typeface="Calibri"/>
            </a:endParaRPr>
          </a:p>
        </p:txBody>
      </p:sp>
      <p:sp>
        <p:nvSpPr>
          <p:cNvPr id="69" name="Google Shape;69;p3"/>
          <p:cNvSpPr/>
          <p:nvPr/>
        </p:nvSpPr>
        <p:spPr>
          <a:xfrm>
            <a:off x="1005840" y="2089404"/>
            <a:ext cx="493776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D2A5C"/>
              </a:buClr>
              <a:buSzPts val="1400"/>
              <a:buFont typeface="Calibri"/>
              <a:buNone/>
            </a:pPr>
            <a:r>
              <a:rPr b="1" i="0" lang="en-US" sz="1400" u="none" cap="none" strike="noStrike">
                <a:solidFill>
                  <a:srgbClr val="1D2A5C"/>
                </a:solidFill>
                <a:latin typeface="Calibri"/>
                <a:ea typeface="Calibri"/>
                <a:cs typeface="Calibri"/>
                <a:sym typeface="Calibri"/>
              </a:rPr>
              <a:t>A real industrial scenario</a:t>
            </a:r>
            <a:endParaRPr b="0" i="0" sz="1400" u="none" cap="none" strike="noStrike">
              <a:solidFill>
                <a:schemeClr val="dk1"/>
              </a:solidFill>
              <a:latin typeface="Calibri"/>
              <a:ea typeface="Calibri"/>
              <a:cs typeface="Calibri"/>
              <a:sym typeface="Calibri"/>
            </a:endParaRPr>
          </a:p>
        </p:txBody>
      </p:sp>
      <p:sp>
        <p:nvSpPr>
          <p:cNvPr id="70" name="Google Shape;70;p3"/>
          <p:cNvSpPr/>
          <p:nvPr/>
        </p:nvSpPr>
        <p:spPr>
          <a:xfrm>
            <a:off x="1005840" y="2391156"/>
            <a:ext cx="4937760" cy="841248"/>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5F6B7A"/>
              </a:buClr>
              <a:buSzPts val="1150"/>
              <a:buFont typeface="Calibri"/>
              <a:buNone/>
            </a:pPr>
            <a:r>
              <a:rPr b="0" i="0" lang="en-US" sz="1150" u="none" cap="none" strike="noStrike">
                <a:solidFill>
                  <a:srgbClr val="5F6B7A"/>
                </a:solidFill>
                <a:latin typeface="Calibri"/>
                <a:ea typeface="Calibri"/>
                <a:cs typeface="Calibri"/>
                <a:sym typeface="Calibri"/>
              </a:rPr>
              <a:t>Quality inspection for a date-packing plant in Al-Qassim — grade classification, defect detection, surface-defect segmentation.</a:t>
            </a:r>
            <a:endParaRPr b="0" i="0" sz="1150" u="none" cap="none" strike="noStrike">
              <a:solidFill>
                <a:schemeClr val="dk1"/>
              </a:solidFill>
              <a:latin typeface="Calibri"/>
              <a:ea typeface="Calibri"/>
              <a:cs typeface="Calibri"/>
              <a:sym typeface="Calibri"/>
            </a:endParaRPr>
          </a:p>
        </p:txBody>
      </p:sp>
      <p:sp>
        <p:nvSpPr>
          <p:cNvPr id="71" name="Google Shape;71;p3"/>
          <p:cNvSpPr/>
          <p:nvPr/>
        </p:nvSpPr>
        <p:spPr>
          <a:xfrm>
            <a:off x="502920" y="3342132"/>
            <a:ext cx="329184" cy="329184"/>
          </a:xfrm>
          <a:prstGeom prst="ellipse">
            <a:avLst/>
          </a:prstGeom>
          <a:solidFill>
            <a:srgbClr val="29ABE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 name="Google Shape;72;p3"/>
          <p:cNvSpPr/>
          <p:nvPr/>
        </p:nvSpPr>
        <p:spPr>
          <a:xfrm>
            <a:off x="502920" y="3342132"/>
            <a:ext cx="329184" cy="32918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300"/>
              <a:buFont typeface="Calibri"/>
              <a:buNone/>
            </a:pPr>
            <a:r>
              <a:rPr b="1" i="0" lang="en-US" sz="1300" u="none" cap="none" strike="noStrike">
                <a:solidFill>
                  <a:srgbClr val="FFFFFF"/>
                </a:solidFill>
                <a:latin typeface="Calibri"/>
                <a:ea typeface="Calibri"/>
                <a:cs typeface="Calibri"/>
                <a:sym typeface="Calibri"/>
              </a:rPr>
              <a:t>2</a:t>
            </a:r>
            <a:endParaRPr b="0" i="0" sz="1300" u="none" cap="none" strike="noStrike">
              <a:solidFill>
                <a:schemeClr val="dk1"/>
              </a:solidFill>
              <a:latin typeface="Calibri"/>
              <a:ea typeface="Calibri"/>
              <a:cs typeface="Calibri"/>
              <a:sym typeface="Calibri"/>
            </a:endParaRPr>
          </a:p>
        </p:txBody>
      </p:sp>
      <p:sp>
        <p:nvSpPr>
          <p:cNvPr id="73" name="Google Shape;73;p3"/>
          <p:cNvSpPr/>
          <p:nvPr/>
        </p:nvSpPr>
        <p:spPr>
          <a:xfrm>
            <a:off x="1005840" y="3278124"/>
            <a:ext cx="493776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D2A5C"/>
              </a:buClr>
              <a:buSzPts val="1400"/>
              <a:buFont typeface="Calibri"/>
              <a:buNone/>
            </a:pPr>
            <a:r>
              <a:rPr b="1" i="0" lang="en-US" sz="1400" u="none" cap="none" strike="noStrike">
                <a:solidFill>
                  <a:srgbClr val="1D2A5C"/>
                </a:solidFill>
                <a:latin typeface="Calibri"/>
                <a:ea typeface="Calibri"/>
                <a:cs typeface="Calibri"/>
                <a:sym typeface="Calibri"/>
              </a:rPr>
              <a:t>Every lab builds a component</a:t>
            </a:r>
            <a:endParaRPr b="0" i="0" sz="1400" u="none" cap="none" strike="noStrike">
              <a:solidFill>
                <a:schemeClr val="dk1"/>
              </a:solidFill>
              <a:latin typeface="Calibri"/>
              <a:ea typeface="Calibri"/>
              <a:cs typeface="Calibri"/>
              <a:sym typeface="Calibri"/>
            </a:endParaRPr>
          </a:p>
        </p:txBody>
      </p:sp>
      <p:sp>
        <p:nvSpPr>
          <p:cNvPr id="74" name="Google Shape;74;p3"/>
          <p:cNvSpPr/>
          <p:nvPr/>
        </p:nvSpPr>
        <p:spPr>
          <a:xfrm>
            <a:off x="1005840" y="3579876"/>
            <a:ext cx="4937760" cy="841248"/>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5F6B7A"/>
              </a:buClr>
              <a:buSzPts val="1150"/>
              <a:buFont typeface="Calibri"/>
              <a:buNone/>
            </a:pPr>
            <a:r>
              <a:rPr b="0" i="0" lang="en-US" sz="1150" u="none" cap="none" strike="noStrike">
                <a:solidFill>
                  <a:srgbClr val="5F6B7A"/>
                </a:solidFill>
                <a:latin typeface="Calibri"/>
                <a:ea typeface="Calibri"/>
                <a:cs typeface="Calibri"/>
                <a:sym typeface="Calibri"/>
              </a:rPr>
              <a:t>Input pipeline, fine-tuned classifier, detector, segmenter, curated dataset, evaluation harness, edge deployment.</a:t>
            </a:r>
            <a:endParaRPr b="0" i="0" sz="1150" u="none" cap="none" strike="noStrike">
              <a:solidFill>
                <a:schemeClr val="dk1"/>
              </a:solidFill>
              <a:latin typeface="Calibri"/>
              <a:ea typeface="Calibri"/>
              <a:cs typeface="Calibri"/>
              <a:sym typeface="Calibri"/>
            </a:endParaRPr>
          </a:p>
        </p:txBody>
      </p:sp>
      <p:sp>
        <p:nvSpPr>
          <p:cNvPr id="75" name="Google Shape;75;p3"/>
          <p:cNvSpPr/>
          <p:nvPr/>
        </p:nvSpPr>
        <p:spPr>
          <a:xfrm>
            <a:off x="502920" y="4530852"/>
            <a:ext cx="329184" cy="329184"/>
          </a:xfrm>
          <a:prstGeom prst="ellipse">
            <a:avLst/>
          </a:prstGeom>
          <a:solidFill>
            <a:srgbClr val="F5822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 name="Google Shape;76;p3"/>
          <p:cNvSpPr/>
          <p:nvPr/>
        </p:nvSpPr>
        <p:spPr>
          <a:xfrm>
            <a:off x="502920" y="4530852"/>
            <a:ext cx="329184" cy="32918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300"/>
              <a:buFont typeface="Calibri"/>
              <a:buNone/>
            </a:pPr>
            <a:r>
              <a:rPr b="1" i="0" lang="en-US" sz="1300" u="none" cap="none" strike="noStrike">
                <a:solidFill>
                  <a:srgbClr val="FFFFFF"/>
                </a:solidFill>
                <a:latin typeface="Calibri"/>
                <a:ea typeface="Calibri"/>
                <a:cs typeface="Calibri"/>
                <a:sym typeface="Calibri"/>
              </a:rPr>
              <a:t>3</a:t>
            </a:r>
            <a:endParaRPr b="0" i="0" sz="1300" u="none" cap="none" strike="noStrike">
              <a:solidFill>
                <a:schemeClr val="dk1"/>
              </a:solidFill>
              <a:latin typeface="Calibri"/>
              <a:ea typeface="Calibri"/>
              <a:cs typeface="Calibri"/>
              <a:sym typeface="Calibri"/>
            </a:endParaRPr>
          </a:p>
        </p:txBody>
      </p:sp>
      <p:sp>
        <p:nvSpPr>
          <p:cNvPr id="77" name="Google Shape;77;p3"/>
          <p:cNvSpPr/>
          <p:nvPr/>
        </p:nvSpPr>
        <p:spPr>
          <a:xfrm>
            <a:off x="1005840" y="4466844"/>
            <a:ext cx="493776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D2A5C"/>
              </a:buClr>
              <a:buSzPts val="1400"/>
              <a:buFont typeface="Calibri"/>
              <a:buNone/>
            </a:pPr>
            <a:r>
              <a:rPr b="1" i="0" lang="en-US" sz="1400" u="none" cap="none" strike="noStrike">
                <a:solidFill>
                  <a:srgbClr val="1D2A5C"/>
                </a:solidFill>
                <a:latin typeface="Calibri"/>
                <a:ea typeface="Calibri"/>
                <a:cs typeface="Calibri"/>
                <a:sym typeface="Calibri"/>
              </a:rPr>
              <a:t>By Day 4 you own the whole thing</a:t>
            </a:r>
            <a:endParaRPr b="0" i="0" sz="1400" u="none" cap="none" strike="noStrike">
              <a:solidFill>
                <a:schemeClr val="dk1"/>
              </a:solidFill>
              <a:latin typeface="Calibri"/>
              <a:ea typeface="Calibri"/>
              <a:cs typeface="Calibri"/>
              <a:sym typeface="Calibri"/>
            </a:endParaRPr>
          </a:p>
        </p:txBody>
      </p:sp>
      <p:sp>
        <p:nvSpPr>
          <p:cNvPr id="78" name="Google Shape;78;p3"/>
          <p:cNvSpPr/>
          <p:nvPr/>
        </p:nvSpPr>
        <p:spPr>
          <a:xfrm>
            <a:off x="1005840" y="4768596"/>
            <a:ext cx="4937760" cy="841248"/>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5F6B7A"/>
              </a:buClr>
              <a:buSzPts val="1150"/>
              <a:buFont typeface="Calibri"/>
              <a:buNone/>
            </a:pPr>
            <a:r>
              <a:rPr b="0" i="0" lang="en-US" sz="1150" u="none" cap="none" strike="noStrike">
                <a:solidFill>
                  <a:srgbClr val="5F6B7A"/>
                </a:solidFill>
                <a:latin typeface="Calibri"/>
                <a:ea typeface="Calibri"/>
                <a:cs typeface="Calibri"/>
                <a:sym typeface="Calibri"/>
              </a:rPr>
              <a:t>A complete, measured, deployable vision inspection system — the same shape of system you will operate in SDA-AIE-216.</a:t>
            </a:r>
            <a:endParaRPr b="0" i="0" sz="1150" u="none" cap="none" strike="noStrike">
              <a:solidFill>
                <a:schemeClr val="dk1"/>
              </a:solidFill>
              <a:latin typeface="Calibri"/>
              <a:ea typeface="Calibri"/>
              <a:cs typeface="Calibri"/>
              <a:sym typeface="Calibri"/>
            </a:endParaRPr>
          </a:p>
        </p:txBody>
      </p:sp>
      <p:sp>
        <p:nvSpPr>
          <p:cNvPr id="79" name="Google Shape;79;p3"/>
          <p:cNvSpPr/>
          <p:nvPr/>
        </p:nvSpPr>
        <p:spPr>
          <a:xfrm>
            <a:off x="6355080" y="1444752"/>
            <a:ext cx="5330952" cy="868680"/>
          </a:xfrm>
          <a:prstGeom prst="roundRect">
            <a:avLst>
              <a:gd fmla="val 6316" name="adj"/>
            </a:avLst>
          </a:prstGeom>
          <a:solidFill>
            <a:srgbClr val="1D2A5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 name="Google Shape;80;p3"/>
          <p:cNvSpPr/>
          <p:nvPr/>
        </p:nvSpPr>
        <p:spPr>
          <a:xfrm>
            <a:off x="6537960" y="1444752"/>
            <a:ext cx="2239000" cy="8686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300"/>
              <a:buFont typeface="Calibri"/>
              <a:buNone/>
            </a:pPr>
            <a:r>
              <a:rPr b="1" i="0" lang="en-US" sz="1300" u="none" cap="none" strike="noStrike">
                <a:solidFill>
                  <a:srgbClr val="FFFFFF"/>
                </a:solidFill>
                <a:latin typeface="Calibri"/>
                <a:ea typeface="Calibri"/>
                <a:cs typeface="Calibri"/>
                <a:sym typeface="Calibri"/>
              </a:rPr>
              <a:t>Edge deployment</a:t>
            </a:r>
            <a:endParaRPr b="0" i="0" sz="1300" u="none" cap="none" strike="noStrike">
              <a:solidFill>
                <a:schemeClr val="dk1"/>
              </a:solidFill>
              <a:latin typeface="Calibri"/>
              <a:ea typeface="Calibri"/>
              <a:cs typeface="Calibri"/>
              <a:sym typeface="Calibri"/>
            </a:endParaRPr>
          </a:p>
        </p:txBody>
      </p:sp>
      <p:sp>
        <p:nvSpPr>
          <p:cNvPr id="81" name="Google Shape;81;p3"/>
          <p:cNvSpPr/>
          <p:nvPr/>
        </p:nvSpPr>
        <p:spPr>
          <a:xfrm>
            <a:off x="8700699" y="1444752"/>
            <a:ext cx="2825405" cy="8686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D9E4F5"/>
              </a:buClr>
              <a:buSzPts val="1050"/>
              <a:buFont typeface="Calibri"/>
              <a:buNone/>
            </a:pPr>
            <a:r>
              <a:rPr b="0" i="0" lang="en-US" sz="1050" u="none" cap="none" strike="noStrike">
                <a:solidFill>
                  <a:srgbClr val="D9E4F5"/>
                </a:solidFill>
                <a:latin typeface="Calibri"/>
                <a:ea typeface="Calibri"/>
                <a:cs typeface="Calibri"/>
                <a:sym typeface="Calibri"/>
              </a:rPr>
              <a:t>ONNX + INT8 on the line — Day 4</a:t>
            </a:r>
            <a:endParaRPr b="0" i="0" sz="1050" u="none" cap="none" strike="noStrike">
              <a:solidFill>
                <a:schemeClr val="dk1"/>
              </a:solidFill>
              <a:latin typeface="Calibri"/>
              <a:ea typeface="Calibri"/>
              <a:cs typeface="Calibri"/>
              <a:sym typeface="Calibri"/>
            </a:endParaRPr>
          </a:p>
        </p:txBody>
      </p:sp>
      <p:sp>
        <p:nvSpPr>
          <p:cNvPr id="82" name="Google Shape;82;p3"/>
          <p:cNvSpPr/>
          <p:nvPr/>
        </p:nvSpPr>
        <p:spPr>
          <a:xfrm>
            <a:off x="6611112" y="2441448"/>
            <a:ext cx="4818888" cy="868680"/>
          </a:xfrm>
          <a:prstGeom prst="roundRect">
            <a:avLst>
              <a:gd fmla="val 6316" name="adj"/>
            </a:avLst>
          </a:prstGeom>
          <a:solidFill>
            <a:srgbClr val="24437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 name="Google Shape;83;p3"/>
          <p:cNvSpPr/>
          <p:nvPr/>
        </p:nvSpPr>
        <p:spPr>
          <a:xfrm>
            <a:off x="6793992" y="2441448"/>
            <a:ext cx="2023933" cy="8686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300"/>
              <a:buFont typeface="Calibri"/>
              <a:buNone/>
            </a:pPr>
            <a:r>
              <a:rPr b="1" i="0" lang="en-US" sz="1300" u="none" cap="none" strike="noStrike">
                <a:solidFill>
                  <a:srgbClr val="FFFFFF"/>
                </a:solidFill>
                <a:latin typeface="Calibri"/>
                <a:ea typeface="Calibri"/>
                <a:cs typeface="Calibri"/>
                <a:sym typeface="Calibri"/>
              </a:rPr>
              <a:t>Eval harness + dataset v2</a:t>
            </a:r>
            <a:endParaRPr b="0" i="0" sz="1300" u="none" cap="none" strike="noStrike">
              <a:solidFill>
                <a:schemeClr val="dk1"/>
              </a:solidFill>
              <a:latin typeface="Calibri"/>
              <a:ea typeface="Calibri"/>
              <a:cs typeface="Calibri"/>
              <a:sym typeface="Calibri"/>
            </a:endParaRPr>
          </a:p>
        </p:txBody>
      </p:sp>
      <p:sp>
        <p:nvSpPr>
          <p:cNvPr id="84" name="Google Shape;84;p3"/>
          <p:cNvSpPr/>
          <p:nvPr/>
        </p:nvSpPr>
        <p:spPr>
          <a:xfrm>
            <a:off x="8731423" y="2441448"/>
            <a:ext cx="2554011" cy="8686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D9E4F5"/>
              </a:buClr>
              <a:buSzPts val="1050"/>
              <a:buFont typeface="Calibri"/>
              <a:buNone/>
            </a:pPr>
            <a:r>
              <a:rPr b="0" i="0" lang="en-US" sz="1050" u="none" cap="none" strike="noStrike">
                <a:solidFill>
                  <a:srgbClr val="D9E4F5"/>
                </a:solidFill>
                <a:latin typeface="Calibri"/>
                <a:ea typeface="Calibri"/>
                <a:cs typeface="Calibri"/>
                <a:sym typeface="Calibri"/>
              </a:rPr>
              <a:t>curation, metrics, error analysis — Day 3</a:t>
            </a:r>
            <a:endParaRPr b="0" i="0" sz="1050" u="none" cap="none" strike="noStrike">
              <a:solidFill>
                <a:schemeClr val="dk1"/>
              </a:solidFill>
              <a:latin typeface="Calibri"/>
              <a:ea typeface="Calibri"/>
              <a:cs typeface="Calibri"/>
              <a:sym typeface="Calibri"/>
            </a:endParaRPr>
          </a:p>
        </p:txBody>
      </p:sp>
      <p:sp>
        <p:nvSpPr>
          <p:cNvPr id="85" name="Google Shape;85;p3"/>
          <p:cNvSpPr/>
          <p:nvPr/>
        </p:nvSpPr>
        <p:spPr>
          <a:xfrm>
            <a:off x="6867144" y="3438144"/>
            <a:ext cx="4306824" cy="868680"/>
          </a:xfrm>
          <a:prstGeom prst="roundRect">
            <a:avLst>
              <a:gd fmla="val 6316" name="adj"/>
            </a:avLst>
          </a:prstGeom>
          <a:solidFill>
            <a:srgbClr val="2A5CA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 name="Google Shape;86;p3"/>
          <p:cNvSpPr/>
          <p:nvPr/>
        </p:nvSpPr>
        <p:spPr>
          <a:xfrm>
            <a:off x="7050024" y="3438144"/>
            <a:ext cx="1808866" cy="8686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300"/>
              <a:buFont typeface="Calibri"/>
              <a:buNone/>
            </a:pPr>
            <a:r>
              <a:rPr b="1" i="0" lang="en-US" sz="1300" u="none" cap="none" strike="noStrike">
                <a:solidFill>
                  <a:srgbClr val="FFFFFF"/>
                </a:solidFill>
                <a:latin typeface="Calibri"/>
                <a:ea typeface="Calibri"/>
                <a:cs typeface="Calibri"/>
                <a:sym typeface="Calibri"/>
              </a:rPr>
              <a:t>Detector + segmenter</a:t>
            </a:r>
            <a:endParaRPr b="0" i="0" sz="1300" u="none" cap="none" strike="noStrike">
              <a:solidFill>
                <a:schemeClr val="dk1"/>
              </a:solidFill>
              <a:latin typeface="Calibri"/>
              <a:ea typeface="Calibri"/>
              <a:cs typeface="Calibri"/>
              <a:sym typeface="Calibri"/>
            </a:endParaRPr>
          </a:p>
        </p:txBody>
      </p:sp>
      <p:sp>
        <p:nvSpPr>
          <p:cNvPr id="87" name="Google Shape;87;p3"/>
          <p:cNvSpPr/>
          <p:nvPr/>
        </p:nvSpPr>
        <p:spPr>
          <a:xfrm>
            <a:off x="8762147" y="3438144"/>
            <a:ext cx="2282617" cy="8686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D9E4F5"/>
              </a:buClr>
              <a:buSzPts val="1050"/>
              <a:buFont typeface="Calibri"/>
              <a:buNone/>
            </a:pPr>
            <a:r>
              <a:rPr b="0" i="0" lang="en-US" sz="1050" u="none" cap="none" strike="noStrike">
                <a:solidFill>
                  <a:srgbClr val="D9E4F5"/>
                </a:solidFill>
                <a:latin typeface="Calibri"/>
                <a:ea typeface="Calibri"/>
                <a:cs typeface="Calibri"/>
                <a:sym typeface="Calibri"/>
              </a:rPr>
              <a:t>defects located and delineated — Day 2</a:t>
            </a:r>
            <a:endParaRPr b="0" i="0" sz="1050" u="none" cap="none" strike="noStrike">
              <a:solidFill>
                <a:schemeClr val="dk1"/>
              </a:solidFill>
              <a:latin typeface="Calibri"/>
              <a:ea typeface="Calibri"/>
              <a:cs typeface="Calibri"/>
              <a:sym typeface="Calibri"/>
            </a:endParaRPr>
          </a:p>
        </p:txBody>
      </p:sp>
      <p:sp>
        <p:nvSpPr>
          <p:cNvPr id="88" name="Google Shape;88;p3"/>
          <p:cNvSpPr/>
          <p:nvPr/>
        </p:nvSpPr>
        <p:spPr>
          <a:xfrm>
            <a:off x="7123176" y="4434840"/>
            <a:ext cx="3794760" cy="868680"/>
          </a:xfrm>
          <a:prstGeom prst="roundRect">
            <a:avLst>
              <a:gd fmla="val 6316" name="adj"/>
            </a:avLst>
          </a:prstGeom>
          <a:solidFill>
            <a:srgbClr val="1F7FB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 name="Google Shape;89;p3"/>
          <p:cNvSpPr/>
          <p:nvPr/>
        </p:nvSpPr>
        <p:spPr>
          <a:xfrm>
            <a:off x="7306056" y="4434840"/>
            <a:ext cx="1593799" cy="8686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300"/>
              <a:buFont typeface="Calibri"/>
              <a:buNone/>
            </a:pPr>
            <a:r>
              <a:rPr b="1" i="0" lang="en-US" sz="1300" u="none" cap="none" strike="noStrike">
                <a:solidFill>
                  <a:srgbClr val="FFFFFF"/>
                </a:solidFill>
                <a:latin typeface="Calibri"/>
                <a:ea typeface="Calibri"/>
                <a:cs typeface="Calibri"/>
                <a:sym typeface="Calibri"/>
              </a:rPr>
              <a:t>Classifier</a:t>
            </a:r>
            <a:endParaRPr b="0" i="0" sz="1300" u="none" cap="none" strike="noStrike">
              <a:solidFill>
                <a:schemeClr val="dk1"/>
              </a:solidFill>
              <a:latin typeface="Calibri"/>
              <a:ea typeface="Calibri"/>
              <a:cs typeface="Calibri"/>
              <a:sym typeface="Calibri"/>
            </a:endParaRPr>
          </a:p>
        </p:txBody>
      </p:sp>
      <p:sp>
        <p:nvSpPr>
          <p:cNvPr id="90" name="Google Shape;90;p3"/>
          <p:cNvSpPr/>
          <p:nvPr/>
        </p:nvSpPr>
        <p:spPr>
          <a:xfrm>
            <a:off x="8792870" y="4434840"/>
            <a:ext cx="2011223" cy="8686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D9E4F5"/>
              </a:buClr>
              <a:buSzPts val="1050"/>
              <a:buFont typeface="Calibri"/>
              <a:buNone/>
            </a:pPr>
            <a:r>
              <a:rPr b="0" i="0" lang="en-US" sz="1050" u="none" cap="none" strike="noStrike">
                <a:solidFill>
                  <a:srgbClr val="D9E4F5"/>
                </a:solidFill>
                <a:latin typeface="Calibri"/>
                <a:ea typeface="Calibri"/>
                <a:cs typeface="Calibri"/>
                <a:sym typeface="Calibri"/>
              </a:rPr>
              <a:t>fine-tuned grade model — Day 1</a:t>
            </a:r>
            <a:endParaRPr b="0" i="0" sz="1050" u="none" cap="none" strike="noStrike">
              <a:solidFill>
                <a:schemeClr val="dk1"/>
              </a:solidFill>
              <a:latin typeface="Calibri"/>
              <a:ea typeface="Calibri"/>
              <a:cs typeface="Calibri"/>
              <a:sym typeface="Calibri"/>
            </a:endParaRPr>
          </a:p>
        </p:txBody>
      </p:sp>
      <p:sp>
        <p:nvSpPr>
          <p:cNvPr id="91" name="Google Shape;91;p3"/>
          <p:cNvSpPr/>
          <p:nvPr/>
        </p:nvSpPr>
        <p:spPr>
          <a:xfrm>
            <a:off x="7379208" y="5431536"/>
            <a:ext cx="3282696" cy="868680"/>
          </a:xfrm>
          <a:prstGeom prst="roundRect">
            <a:avLst>
              <a:gd fmla="val 6316" name="adj"/>
            </a:avLst>
          </a:prstGeom>
          <a:solidFill>
            <a:srgbClr val="29ABE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 name="Google Shape;92;p3"/>
          <p:cNvSpPr/>
          <p:nvPr/>
        </p:nvSpPr>
        <p:spPr>
          <a:xfrm>
            <a:off x="7562088" y="5431536"/>
            <a:ext cx="1378732" cy="8686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300"/>
              <a:buFont typeface="Calibri"/>
              <a:buNone/>
            </a:pPr>
            <a:r>
              <a:rPr b="1" i="0" lang="en-US" sz="1300" u="none" cap="none" strike="noStrike">
                <a:solidFill>
                  <a:srgbClr val="FFFFFF"/>
                </a:solidFill>
                <a:latin typeface="Calibri"/>
                <a:ea typeface="Calibri"/>
                <a:cs typeface="Calibri"/>
                <a:sym typeface="Calibri"/>
              </a:rPr>
              <a:t>Input pipeline</a:t>
            </a:r>
            <a:endParaRPr b="0" i="0" sz="1300" u="none" cap="none" strike="noStrike">
              <a:solidFill>
                <a:schemeClr val="dk1"/>
              </a:solidFill>
              <a:latin typeface="Calibri"/>
              <a:ea typeface="Calibri"/>
              <a:cs typeface="Calibri"/>
              <a:sym typeface="Calibri"/>
            </a:endParaRPr>
          </a:p>
        </p:txBody>
      </p:sp>
      <p:sp>
        <p:nvSpPr>
          <p:cNvPr id="93" name="Google Shape;93;p3"/>
          <p:cNvSpPr/>
          <p:nvPr/>
        </p:nvSpPr>
        <p:spPr>
          <a:xfrm>
            <a:off x="8823594" y="5431536"/>
            <a:ext cx="1739829" cy="8686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D9E4F5"/>
              </a:buClr>
              <a:buSzPts val="1050"/>
              <a:buFont typeface="Calibri"/>
              <a:buNone/>
            </a:pPr>
            <a:r>
              <a:rPr b="0" i="0" lang="en-US" sz="1050" u="none" cap="none" strike="noStrike">
                <a:solidFill>
                  <a:srgbClr val="D9E4F5"/>
                </a:solidFill>
                <a:latin typeface="Calibri"/>
                <a:ea typeface="Calibri"/>
                <a:cs typeface="Calibri"/>
                <a:sym typeface="Calibri"/>
              </a:rPr>
              <a:t>the preprocessing contract — Day 1</a:t>
            </a:r>
            <a:endParaRPr b="0" i="0" sz="1050" u="none" cap="none" strike="noStrike">
              <a:solidFill>
                <a:schemeClr val="dk1"/>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98" name="Shape 98"/>
        <p:cNvGrpSpPr/>
        <p:nvPr/>
      </p:nvGrpSpPr>
      <p:grpSpPr>
        <a:xfrm>
          <a:off x="0" y="0"/>
          <a:ext cx="0" cy="0"/>
          <a:chOff x="0" y="0"/>
          <a:chExt cx="0" cy="0"/>
        </a:xfrm>
      </p:grpSpPr>
      <p:sp>
        <p:nvSpPr>
          <p:cNvPr id="99" name="Google Shape;99;p4"/>
          <p:cNvSpPr/>
          <p:nvPr/>
        </p:nvSpPr>
        <p:spPr>
          <a:xfrm>
            <a:off x="502920" y="274320"/>
            <a:ext cx="9646920" cy="56692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D2A5C"/>
              </a:buClr>
              <a:buSzPts val="2700"/>
              <a:buFont typeface="Calibri"/>
              <a:buNone/>
            </a:pPr>
            <a:r>
              <a:rPr b="1" i="0" lang="en-US" sz="2700" u="none" cap="none" strike="noStrike">
                <a:solidFill>
                  <a:srgbClr val="1D2A5C"/>
                </a:solidFill>
                <a:latin typeface="Calibri"/>
                <a:ea typeface="Calibri"/>
                <a:cs typeface="Calibri"/>
                <a:sym typeface="Calibri"/>
              </a:rPr>
              <a:t>Learning outcomes</a:t>
            </a:r>
            <a:endParaRPr b="0" i="0" sz="2700" u="none" cap="none" strike="noStrike">
              <a:solidFill>
                <a:schemeClr val="dk1"/>
              </a:solidFill>
              <a:latin typeface="Calibri"/>
              <a:ea typeface="Calibri"/>
              <a:cs typeface="Calibri"/>
              <a:sym typeface="Calibri"/>
            </a:endParaRPr>
          </a:p>
        </p:txBody>
      </p:sp>
      <p:sp>
        <p:nvSpPr>
          <p:cNvPr id="100" name="Google Shape;100;p4"/>
          <p:cNvSpPr/>
          <p:nvPr/>
        </p:nvSpPr>
        <p:spPr>
          <a:xfrm>
            <a:off x="502920" y="859536"/>
            <a:ext cx="9646920" cy="31089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F6B7A"/>
              </a:buClr>
              <a:buSzPts val="1250"/>
              <a:buFont typeface="Arial"/>
              <a:buNone/>
            </a:pPr>
            <a:r>
              <a:rPr b="0" i="0" lang="en-US" sz="1250" u="none" cap="none" strike="noStrike">
                <a:solidFill>
                  <a:srgbClr val="5F6B7A"/>
                </a:solidFill>
                <a:latin typeface="Arial"/>
                <a:ea typeface="Arial"/>
                <a:cs typeface="Arial"/>
                <a:sym typeface="Arial"/>
              </a:rPr>
              <a:t>مخرجات التعلم</a:t>
            </a:r>
            <a:endParaRPr b="0" i="0" sz="1250" u="none" cap="none" strike="noStrike">
              <a:solidFill>
                <a:schemeClr val="dk1"/>
              </a:solidFill>
              <a:latin typeface="Calibri"/>
              <a:ea typeface="Calibri"/>
              <a:cs typeface="Calibri"/>
              <a:sym typeface="Calibri"/>
            </a:endParaRPr>
          </a:p>
        </p:txBody>
      </p:sp>
      <p:pic>
        <p:nvPicPr>
          <p:cNvPr descr="/sessions/blissful-determined-ritchie/build/assets/sdaia_logo.png" id="101" name="Google Shape;101;p4"/>
          <p:cNvPicPr preferRelativeResize="0"/>
          <p:nvPr/>
        </p:nvPicPr>
        <p:blipFill rotWithShape="1">
          <a:blip r:embed="rId3">
            <a:alphaModFix/>
          </a:blip>
          <a:srcRect b="0" l="0" r="0" t="0"/>
          <a:stretch/>
        </p:blipFill>
        <p:spPr>
          <a:xfrm>
            <a:off x="10625328" y="310896"/>
            <a:ext cx="1078992" cy="264111"/>
          </a:xfrm>
          <a:prstGeom prst="rect">
            <a:avLst/>
          </a:prstGeom>
          <a:noFill/>
          <a:ln>
            <a:noFill/>
          </a:ln>
        </p:spPr>
      </p:pic>
      <p:sp>
        <p:nvSpPr>
          <p:cNvPr id="102" name="Google Shape;102;p4"/>
          <p:cNvSpPr/>
          <p:nvPr/>
        </p:nvSpPr>
        <p:spPr>
          <a:xfrm>
            <a:off x="502920" y="6528816"/>
            <a:ext cx="8686800"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A79D"/>
              </a:buClr>
              <a:buSzPts val="800"/>
              <a:buFont typeface="Calibri"/>
              <a:buNone/>
            </a:pPr>
            <a:r>
              <a:rPr b="1" i="0" lang="en-US" sz="800" u="none" cap="none" strike="noStrike">
                <a:solidFill>
                  <a:srgbClr val="00A79D"/>
                </a:solidFill>
                <a:latin typeface="Calibri"/>
                <a:ea typeface="Calibri"/>
                <a:cs typeface="Calibri"/>
                <a:sym typeface="Calibri"/>
              </a:rPr>
              <a:t>OVERVIEW   </a:t>
            </a:r>
            <a:r>
              <a:rPr b="0" i="0" lang="en-US" sz="800" u="none" cap="none" strike="noStrike">
                <a:solidFill>
                  <a:srgbClr val="8A96A6"/>
                </a:solidFill>
                <a:latin typeface="Calibri"/>
                <a:ea typeface="Calibri"/>
                <a:cs typeface="Calibri"/>
                <a:sym typeface="Calibri"/>
              </a:rPr>
              <a:t>SDA-AIE-212 · Computer Vision Systems Development</a:t>
            </a:r>
            <a:endParaRPr b="0" i="0" sz="800" u="none" cap="none" strike="noStrike">
              <a:solidFill>
                <a:schemeClr val="dk1"/>
              </a:solidFill>
              <a:latin typeface="Calibri"/>
              <a:ea typeface="Calibri"/>
              <a:cs typeface="Calibri"/>
              <a:sym typeface="Calibri"/>
            </a:endParaRPr>
          </a:p>
        </p:txBody>
      </p:sp>
      <p:sp>
        <p:nvSpPr>
          <p:cNvPr id="103" name="Google Shape;103;p4"/>
          <p:cNvSpPr/>
          <p:nvPr/>
        </p:nvSpPr>
        <p:spPr>
          <a:xfrm>
            <a:off x="11292840" y="6528816"/>
            <a:ext cx="411480" cy="219456"/>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8A96A6"/>
              </a:buClr>
              <a:buSzPts val="900"/>
              <a:buFont typeface="Calibri"/>
              <a:buNone/>
            </a:pPr>
            <a:r>
              <a:rPr b="0" i="0" lang="en-US" sz="900" u="none" cap="none" strike="noStrike">
                <a:solidFill>
                  <a:srgbClr val="8A96A6"/>
                </a:solidFill>
                <a:latin typeface="Calibri"/>
                <a:ea typeface="Calibri"/>
                <a:cs typeface="Calibri"/>
                <a:sym typeface="Calibri"/>
              </a:rPr>
              <a:t>4</a:t>
            </a:r>
            <a:endParaRPr b="0" i="0" sz="900" u="none" cap="none" strike="noStrike">
              <a:solidFill>
                <a:schemeClr val="dk1"/>
              </a:solidFill>
              <a:latin typeface="Calibri"/>
              <a:ea typeface="Calibri"/>
              <a:cs typeface="Calibri"/>
              <a:sym typeface="Calibri"/>
            </a:endParaRPr>
          </a:p>
        </p:txBody>
      </p:sp>
      <p:sp>
        <p:nvSpPr>
          <p:cNvPr id="104" name="Google Shape;104;p4"/>
          <p:cNvSpPr/>
          <p:nvPr/>
        </p:nvSpPr>
        <p:spPr>
          <a:xfrm>
            <a:off x="502920" y="1417320"/>
            <a:ext cx="11183112" cy="699516"/>
          </a:xfrm>
          <a:prstGeom prst="roundRect">
            <a:avLst>
              <a:gd fmla="val 9150" name="adj"/>
            </a:avLst>
          </a:prstGeom>
          <a:solidFill>
            <a:srgbClr val="FAFCFE"/>
          </a:solidFill>
          <a:ln cap="flat" cmpd="sng" w="9525">
            <a:solidFill>
              <a:srgbClr val="D9E2E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 name="Google Shape;105;p4"/>
          <p:cNvSpPr/>
          <p:nvPr/>
        </p:nvSpPr>
        <p:spPr>
          <a:xfrm>
            <a:off x="649224" y="1602486"/>
            <a:ext cx="329184" cy="329184"/>
          </a:xfrm>
          <a:prstGeom prst="ellipse">
            <a:avLst/>
          </a:prstGeom>
          <a:solidFill>
            <a:srgbClr val="00A79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 name="Google Shape;106;p4"/>
          <p:cNvSpPr/>
          <p:nvPr/>
        </p:nvSpPr>
        <p:spPr>
          <a:xfrm>
            <a:off x="649224" y="1602486"/>
            <a:ext cx="329184" cy="32918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150"/>
              <a:buFont typeface="Calibri"/>
              <a:buNone/>
            </a:pPr>
            <a:r>
              <a:rPr b="1" i="0" lang="en-US" sz="1150" u="none" cap="none" strike="noStrike">
                <a:solidFill>
                  <a:srgbClr val="FFFFFF"/>
                </a:solidFill>
                <a:latin typeface="Calibri"/>
                <a:ea typeface="Calibri"/>
                <a:cs typeface="Calibri"/>
                <a:sym typeface="Calibri"/>
              </a:rPr>
              <a:t>LO1</a:t>
            </a:r>
            <a:endParaRPr b="0" i="0" sz="1150" u="none" cap="none" strike="noStrike">
              <a:solidFill>
                <a:schemeClr val="dk1"/>
              </a:solidFill>
              <a:latin typeface="Calibri"/>
              <a:ea typeface="Calibri"/>
              <a:cs typeface="Calibri"/>
              <a:sym typeface="Calibri"/>
            </a:endParaRPr>
          </a:p>
        </p:txBody>
      </p:sp>
      <p:sp>
        <p:nvSpPr>
          <p:cNvPr id="107" name="Google Shape;107;p4"/>
          <p:cNvSpPr/>
          <p:nvPr/>
        </p:nvSpPr>
        <p:spPr>
          <a:xfrm>
            <a:off x="1143000" y="1417320"/>
            <a:ext cx="8321040" cy="69951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3293B"/>
              </a:buClr>
              <a:buSzPts val="1250"/>
              <a:buFont typeface="Calibri"/>
              <a:buNone/>
            </a:pPr>
            <a:r>
              <a:rPr b="0" i="0" lang="en-US" sz="1250" u="none" cap="none" strike="noStrike">
                <a:solidFill>
                  <a:srgbClr val="23293B"/>
                </a:solidFill>
                <a:latin typeface="Calibri"/>
                <a:ea typeface="Calibri"/>
                <a:cs typeface="Calibri"/>
                <a:sym typeface="Calibri"/>
              </a:rPr>
              <a:t>Implement image classification pipelines using CNNs and vision transformers</a:t>
            </a:r>
            <a:endParaRPr b="0" i="0" sz="1250" u="none" cap="none" strike="noStrike">
              <a:solidFill>
                <a:schemeClr val="dk1"/>
              </a:solidFill>
              <a:latin typeface="Calibri"/>
              <a:ea typeface="Calibri"/>
              <a:cs typeface="Calibri"/>
              <a:sym typeface="Calibri"/>
            </a:endParaRPr>
          </a:p>
        </p:txBody>
      </p:sp>
      <p:sp>
        <p:nvSpPr>
          <p:cNvPr id="108" name="Google Shape;108;p4"/>
          <p:cNvSpPr/>
          <p:nvPr/>
        </p:nvSpPr>
        <p:spPr>
          <a:xfrm>
            <a:off x="9646920" y="1593342"/>
            <a:ext cx="658368" cy="310896"/>
          </a:xfrm>
          <a:prstGeom prst="roundRect">
            <a:avLst>
              <a:gd fmla="val 50000" name="adj"/>
            </a:avLst>
          </a:prstGeom>
          <a:solidFill>
            <a:srgbClr val="E9F6F5"/>
          </a:solidFill>
          <a:ln cap="flat" cmpd="sng" w="9525">
            <a:solidFill>
              <a:srgbClr val="00A79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 name="Google Shape;109;p4"/>
          <p:cNvSpPr/>
          <p:nvPr/>
        </p:nvSpPr>
        <p:spPr>
          <a:xfrm>
            <a:off x="9646920" y="1593342"/>
            <a:ext cx="658368" cy="31089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56A63"/>
              </a:buClr>
              <a:buSzPts val="950"/>
              <a:buFont typeface="Calibri"/>
              <a:buNone/>
            </a:pPr>
            <a:r>
              <a:rPr b="1" i="0" lang="en-US" sz="950" u="none" cap="none" strike="noStrike">
                <a:solidFill>
                  <a:srgbClr val="056A63"/>
                </a:solidFill>
                <a:latin typeface="Calibri"/>
                <a:ea typeface="Calibri"/>
                <a:cs typeface="Calibri"/>
                <a:sym typeface="Calibri"/>
              </a:rPr>
              <a:t>M1</a:t>
            </a:r>
            <a:endParaRPr b="0" i="0" sz="950" u="none" cap="none" strike="noStrike">
              <a:solidFill>
                <a:schemeClr val="dk1"/>
              </a:solidFill>
              <a:latin typeface="Calibri"/>
              <a:ea typeface="Calibri"/>
              <a:cs typeface="Calibri"/>
              <a:sym typeface="Calibri"/>
            </a:endParaRPr>
          </a:p>
        </p:txBody>
      </p:sp>
      <p:sp>
        <p:nvSpPr>
          <p:cNvPr id="110" name="Google Shape;110;p4"/>
          <p:cNvSpPr/>
          <p:nvPr/>
        </p:nvSpPr>
        <p:spPr>
          <a:xfrm>
            <a:off x="10360152" y="1593342"/>
            <a:ext cx="658368" cy="310896"/>
          </a:xfrm>
          <a:prstGeom prst="roundRect">
            <a:avLst>
              <a:gd fmla="val 50000" name="adj"/>
            </a:avLst>
          </a:prstGeom>
          <a:solidFill>
            <a:srgbClr val="E9F6F5"/>
          </a:solidFill>
          <a:ln cap="flat" cmpd="sng" w="9525">
            <a:solidFill>
              <a:srgbClr val="00A79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 name="Google Shape;111;p4"/>
          <p:cNvSpPr/>
          <p:nvPr/>
        </p:nvSpPr>
        <p:spPr>
          <a:xfrm>
            <a:off x="10360152" y="1593342"/>
            <a:ext cx="658368" cy="31089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56A63"/>
              </a:buClr>
              <a:buSzPts val="950"/>
              <a:buFont typeface="Calibri"/>
              <a:buNone/>
            </a:pPr>
            <a:r>
              <a:rPr b="1" i="0" lang="en-US" sz="950" u="none" cap="none" strike="noStrike">
                <a:solidFill>
                  <a:srgbClr val="056A63"/>
                </a:solidFill>
                <a:latin typeface="Calibri"/>
                <a:ea typeface="Calibri"/>
                <a:cs typeface="Calibri"/>
                <a:sym typeface="Calibri"/>
              </a:rPr>
              <a:t>M2</a:t>
            </a:r>
            <a:endParaRPr b="0" i="0" sz="950" u="none" cap="none" strike="noStrike">
              <a:solidFill>
                <a:schemeClr val="dk1"/>
              </a:solidFill>
              <a:latin typeface="Calibri"/>
              <a:ea typeface="Calibri"/>
              <a:cs typeface="Calibri"/>
              <a:sym typeface="Calibri"/>
            </a:endParaRPr>
          </a:p>
        </p:txBody>
      </p:sp>
      <p:sp>
        <p:nvSpPr>
          <p:cNvPr id="112" name="Google Shape;112;p4"/>
          <p:cNvSpPr/>
          <p:nvPr/>
        </p:nvSpPr>
        <p:spPr>
          <a:xfrm>
            <a:off x="502920" y="2244852"/>
            <a:ext cx="11183112" cy="699516"/>
          </a:xfrm>
          <a:prstGeom prst="roundRect">
            <a:avLst>
              <a:gd fmla="val 9150" name="adj"/>
            </a:avLst>
          </a:prstGeom>
          <a:solidFill>
            <a:srgbClr val="F2F6F9"/>
          </a:solidFill>
          <a:ln cap="flat" cmpd="sng" w="9525">
            <a:solidFill>
              <a:srgbClr val="D9E2E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 name="Google Shape;113;p4"/>
          <p:cNvSpPr/>
          <p:nvPr/>
        </p:nvSpPr>
        <p:spPr>
          <a:xfrm>
            <a:off x="649224" y="2430018"/>
            <a:ext cx="329184" cy="329184"/>
          </a:xfrm>
          <a:prstGeom prst="ellipse">
            <a:avLst/>
          </a:prstGeom>
          <a:solidFill>
            <a:srgbClr val="00A79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 name="Google Shape;114;p4"/>
          <p:cNvSpPr/>
          <p:nvPr/>
        </p:nvSpPr>
        <p:spPr>
          <a:xfrm>
            <a:off x="649224" y="2430018"/>
            <a:ext cx="329184" cy="32918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150"/>
              <a:buFont typeface="Calibri"/>
              <a:buNone/>
            </a:pPr>
            <a:r>
              <a:rPr b="1" i="0" lang="en-US" sz="1150" u="none" cap="none" strike="noStrike">
                <a:solidFill>
                  <a:srgbClr val="FFFFFF"/>
                </a:solidFill>
                <a:latin typeface="Calibri"/>
                <a:ea typeface="Calibri"/>
                <a:cs typeface="Calibri"/>
                <a:sym typeface="Calibri"/>
              </a:rPr>
              <a:t>LO2</a:t>
            </a:r>
            <a:endParaRPr b="0" i="0" sz="1150" u="none" cap="none" strike="noStrike">
              <a:solidFill>
                <a:schemeClr val="dk1"/>
              </a:solidFill>
              <a:latin typeface="Calibri"/>
              <a:ea typeface="Calibri"/>
              <a:cs typeface="Calibri"/>
              <a:sym typeface="Calibri"/>
            </a:endParaRPr>
          </a:p>
        </p:txBody>
      </p:sp>
      <p:sp>
        <p:nvSpPr>
          <p:cNvPr id="115" name="Google Shape;115;p4"/>
          <p:cNvSpPr/>
          <p:nvPr/>
        </p:nvSpPr>
        <p:spPr>
          <a:xfrm>
            <a:off x="1143000" y="2244852"/>
            <a:ext cx="8321040" cy="69951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3293B"/>
              </a:buClr>
              <a:buSzPts val="1250"/>
              <a:buFont typeface="Calibri"/>
              <a:buNone/>
            </a:pPr>
            <a:r>
              <a:rPr b="0" i="0" lang="en-US" sz="1250" u="none" cap="none" strike="noStrike">
                <a:solidFill>
                  <a:srgbClr val="23293B"/>
                </a:solidFill>
                <a:latin typeface="Calibri"/>
                <a:ea typeface="Calibri"/>
                <a:cs typeface="Calibri"/>
                <a:sym typeface="Calibri"/>
              </a:rPr>
              <a:t>Develop object-detection and segmentation solutions with modern frameworks</a:t>
            </a:r>
            <a:endParaRPr b="0" i="0" sz="1250" u="none" cap="none" strike="noStrike">
              <a:solidFill>
                <a:schemeClr val="dk1"/>
              </a:solidFill>
              <a:latin typeface="Calibri"/>
              <a:ea typeface="Calibri"/>
              <a:cs typeface="Calibri"/>
              <a:sym typeface="Calibri"/>
            </a:endParaRPr>
          </a:p>
        </p:txBody>
      </p:sp>
      <p:sp>
        <p:nvSpPr>
          <p:cNvPr id="116" name="Google Shape;116;p4"/>
          <p:cNvSpPr/>
          <p:nvPr/>
        </p:nvSpPr>
        <p:spPr>
          <a:xfrm>
            <a:off x="9646920" y="2420874"/>
            <a:ext cx="658368" cy="310896"/>
          </a:xfrm>
          <a:prstGeom prst="roundRect">
            <a:avLst>
              <a:gd fmla="val 50000" name="adj"/>
            </a:avLst>
          </a:prstGeom>
          <a:solidFill>
            <a:srgbClr val="E9F6F5"/>
          </a:solidFill>
          <a:ln cap="flat" cmpd="sng" w="9525">
            <a:solidFill>
              <a:srgbClr val="00A79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 name="Google Shape;117;p4"/>
          <p:cNvSpPr/>
          <p:nvPr/>
        </p:nvSpPr>
        <p:spPr>
          <a:xfrm>
            <a:off x="9646920" y="2420874"/>
            <a:ext cx="658368" cy="31089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56A63"/>
              </a:buClr>
              <a:buSzPts val="950"/>
              <a:buFont typeface="Calibri"/>
              <a:buNone/>
            </a:pPr>
            <a:r>
              <a:rPr b="1" i="0" lang="en-US" sz="950" u="none" cap="none" strike="noStrike">
                <a:solidFill>
                  <a:srgbClr val="056A63"/>
                </a:solidFill>
                <a:latin typeface="Calibri"/>
                <a:ea typeface="Calibri"/>
                <a:cs typeface="Calibri"/>
                <a:sym typeface="Calibri"/>
              </a:rPr>
              <a:t>M3</a:t>
            </a:r>
            <a:endParaRPr b="0" i="0" sz="950" u="none" cap="none" strike="noStrike">
              <a:solidFill>
                <a:schemeClr val="dk1"/>
              </a:solidFill>
              <a:latin typeface="Calibri"/>
              <a:ea typeface="Calibri"/>
              <a:cs typeface="Calibri"/>
              <a:sym typeface="Calibri"/>
            </a:endParaRPr>
          </a:p>
        </p:txBody>
      </p:sp>
      <p:sp>
        <p:nvSpPr>
          <p:cNvPr id="118" name="Google Shape;118;p4"/>
          <p:cNvSpPr/>
          <p:nvPr/>
        </p:nvSpPr>
        <p:spPr>
          <a:xfrm>
            <a:off x="10360152" y="2420874"/>
            <a:ext cx="658368" cy="310896"/>
          </a:xfrm>
          <a:prstGeom prst="roundRect">
            <a:avLst>
              <a:gd fmla="val 50000" name="adj"/>
            </a:avLst>
          </a:prstGeom>
          <a:solidFill>
            <a:srgbClr val="E9F6F5"/>
          </a:solidFill>
          <a:ln cap="flat" cmpd="sng" w="9525">
            <a:solidFill>
              <a:srgbClr val="00A79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 name="Google Shape;119;p4"/>
          <p:cNvSpPr/>
          <p:nvPr/>
        </p:nvSpPr>
        <p:spPr>
          <a:xfrm>
            <a:off x="10360152" y="2420874"/>
            <a:ext cx="658368" cy="31089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56A63"/>
              </a:buClr>
              <a:buSzPts val="950"/>
              <a:buFont typeface="Calibri"/>
              <a:buNone/>
            </a:pPr>
            <a:r>
              <a:rPr b="1" i="0" lang="en-US" sz="950" u="none" cap="none" strike="noStrike">
                <a:solidFill>
                  <a:srgbClr val="056A63"/>
                </a:solidFill>
                <a:latin typeface="Calibri"/>
                <a:ea typeface="Calibri"/>
                <a:cs typeface="Calibri"/>
                <a:sym typeface="Calibri"/>
              </a:rPr>
              <a:t>M4</a:t>
            </a:r>
            <a:endParaRPr b="0" i="0" sz="950" u="none" cap="none" strike="noStrike">
              <a:solidFill>
                <a:schemeClr val="dk1"/>
              </a:solidFill>
              <a:latin typeface="Calibri"/>
              <a:ea typeface="Calibri"/>
              <a:cs typeface="Calibri"/>
              <a:sym typeface="Calibri"/>
            </a:endParaRPr>
          </a:p>
        </p:txBody>
      </p:sp>
      <p:sp>
        <p:nvSpPr>
          <p:cNvPr id="120" name="Google Shape;120;p4"/>
          <p:cNvSpPr/>
          <p:nvPr/>
        </p:nvSpPr>
        <p:spPr>
          <a:xfrm>
            <a:off x="502920" y="3072384"/>
            <a:ext cx="11183112" cy="699516"/>
          </a:xfrm>
          <a:prstGeom prst="roundRect">
            <a:avLst>
              <a:gd fmla="val 9150" name="adj"/>
            </a:avLst>
          </a:prstGeom>
          <a:solidFill>
            <a:srgbClr val="FAFCFE"/>
          </a:solidFill>
          <a:ln cap="flat" cmpd="sng" w="9525">
            <a:solidFill>
              <a:srgbClr val="D9E2E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 name="Google Shape;121;p4"/>
          <p:cNvSpPr/>
          <p:nvPr/>
        </p:nvSpPr>
        <p:spPr>
          <a:xfrm>
            <a:off x="649224" y="3257550"/>
            <a:ext cx="329184" cy="329184"/>
          </a:xfrm>
          <a:prstGeom prst="ellipse">
            <a:avLst/>
          </a:prstGeom>
          <a:solidFill>
            <a:srgbClr val="00A79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 name="Google Shape;122;p4"/>
          <p:cNvSpPr/>
          <p:nvPr/>
        </p:nvSpPr>
        <p:spPr>
          <a:xfrm>
            <a:off x="649224" y="3257550"/>
            <a:ext cx="329184" cy="32918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150"/>
              <a:buFont typeface="Calibri"/>
              <a:buNone/>
            </a:pPr>
            <a:r>
              <a:rPr b="1" i="0" lang="en-US" sz="1150" u="none" cap="none" strike="noStrike">
                <a:solidFill>
                  <a:srgbClr val="FFFFFF"/>
                </a:solidFill>
                <a:latin typeface="Calibri"/>
                <a:ea typeface="Calibri"/>
                <a:cs typeface="Calibri"/>
                <a:sym typeface="Calibri"/>
              </a:rPr>
              <a:t>LO3</a:t>
            </a:r>
            <a:endParaRPr b="0" i="0" sz="1150" u="none" cap="none" strike="noStrike">
              <a:solidFill>
                <a:schemeClr val="dk1"/>
              </a:solidFill>
              <a:latin typeface="Calibri"/>
              <a:ea typeface="Calibri"/>
              <a:cs typeface="Calibri"/>
              <a:sym typeface="Calibri"/>
            </a:endParaRPr>
          </a:p>
        </p:txBody>
      </p:sp>
      <p:sp>
        <p:nvSpPr>
          <p:cNvPr id="123" name="Google Shape;123;p4"/>
          <p:cNvSpPr/>
          <p:nvPr/>
        </p:nvSpPr>
        <p:spPr>
          <a:xfrm>
            <a:off x="1143000" y="3072384"/>
            <a:ext cx="8321040" cy="69951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3293B"/>
              </a:buClr>
              <a:buSzPts val="1250"/>
              <a:buFont typeface="Calibri"/>
              <a:buNone/>
            </a:pPr>
            <a:r>
              <a:rPr b="0" i="0" lang="en-US" sz="1250" u="none" cap="none" strike="noStrike">
                <a:solidFill>
                  <a:srgbClr val="23293B"/>
                </a:solidFill>
                <a:latin typeface="Calibri"/>
                <a:ea typeface="Calibri"/>
                <a:cs typeface="Calibri"/>
                <a:sym typeface="Calibri"/>
              </a:rPr>
              <a:t>Design dataset curation, labelling, and augmentation strategies</a:t>
            </a:r>
            <a:endParaRPr b="0" i="0" sz="1250" u="none" cap="none" strike="noStrike">
              <a:solidFill>
                <a:schemeClr val="dk1"/>
              </a:solidFill>
              <a:latin typeface="Calibri"/>
              <a:ea typeface="Calibri"/>
              <a:cs typeface="Calibri"/>
              <a:sym typeface="Calibri"/>
            </a:endParaRPr>
          </a:p>
        </p:txBody>
      </p:sp>
      <p:sp>
        <p:nvSpPr>
          <p:cNvPr id="124" name="Google Shape;124;p4"/>
          <p:cNvSpPr/>
          <p:nvPr/>
        </p:nvSpPr>
        <p:spPr>
          <a:xfrm>
            <a:off x="9646920" y="3248406"/>
            <a:ext cx="658368" cy="310896"/>
          </a:xfrm>
          <a:prstGeom prst="roundRect">
            <a:avLst>
              <a:gd fmla="val 50000" name="adj"/>
            </a:avLst>
          </a:prstGeom>
          <a:solidFill>
            <a:srgbClr val="E9F6F5"/>
          </a:solidFill>
          <a:ln cap="flat" cmpd="sng" w="9525">
            <a:solidFill>
              <a:srgbClr val="00A79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 name="Google Shape;125;p4"/>
          <p:cNvSpPr/>
          <p:nvPr/>
        </p:nvSpPr>
        <p:spPr>
          <a:xfrm>
            <a:off x="9646920" y="3248406"/>
            <a:ext cx="658368" cy="31089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56A63"/>
              </a:buClr>
              <a:buSzPts val="950"/>
              <a:buFont typeface="Calibri"/>
              <a:buNone/>
            </a:pPr>
            <a:r>
              <a:rPr b="1" i="0" lang="en-US" sz="950" u="none" cap="none" strike="noStrike">
                <a:solidFill>
                  <a:srgbClr val="056A63"/>
                </a:solidFill>
                <a:latin typeface="Calibri"/>
                <a:ea typeface="Calibri"/>
                <a:cs typeface="Calibri"/>
                <a:sym typeface="Calibri"/>
              </a:rPr>
              <a:t>M1</a:t>
            </a:r>
            <a:endParaRPr b="0" i="0" sz="950" u="none" cap="none" strike="noStrike">
              <a:solidFill>
                <a:schemeClr val="dk1"/>
              </a:solidFill>
              <a:latin typeface="Calibri"/>
              <a:ea typeface="Calibri"/>
              <a:cs typeface="Calibri"/>
              <a:sym typeface="Calibri"/>
            </a:endParaRPr>
          </a:p>
        </p:txBody>
      </p:sp>
      <p:sp>
        <p:nvSpPr>
          <p:cNvPr id="126" name="Google Shape;126;p4"/>
          <p:cNvSpPr/>
          <p:nvPr/>
        </p:nvSpPr>
        <p:spPr>
          <a:xfrm>
            <a:off x="10360152" y="3248406"/>
            <a:ext cx="658368" cy="310896"/>
          </a:xfrm>
          <a:prstGeom prst="roundRect">
            <a:avLst>
              <a:gd fmla="val 50000" name="adj"/>
            </a:avLst>
          </a:prstGeom>
          <a:solidFill>
            <a:srgbClr val="E9F6F5"/>
          </a:solidFill>
          <a:ln cap="flat" cmpd="sng" w="9525">
            <a:solidFill>
              <a:srgbClr val="00A79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 name="Google Shape;127;p4"/>
          <p:cNvSpPr/>
          <p:nvPr/>
        </p:nvSpPr>
        <p:spPr>
          <a:xfrm>
            <a:off x="10360152" y="3248406"/>
            <a:ext cx="658368" cy="31089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56A63"/>
              </a:buClr>
              <a:buSzPts val="950"/>
              <a:buFont typeface="Calibri"/>
              <a:buNone/>
            </a:pPr>
            <a:r>
              <a:rPr b="1" i="0" lang="en-US" sz="950" u="none" cap="none" strike="noStrike">
                <a:solidFill>
                  <a:srgbClr val="056A63"/>
                </a:solidFill>
                <a:latin typeface="Calibri"/>
                <a:ea typeface="Calibri"/>
                <a:cs typeface="Calibri"/>
                <a:sym typeface="Calibri"/>
              </a:rPr>
              <a:t>M5</a:t>
            </a:r>
            <a:endParaRPr b="0" i="0" sz="950" u="none" cap="none" strike="noStrike">
              <a:solidFill>
                <a:schemeClr val="dk1"/>
              </a:solidFill>
              <a:latin typeface="Calibri"/>
              <a:ea typeface="Calibri"/>
              <a:cs typeface="Calibri"/>
              <a:sym typeface="Calibri"/>
            </a:endParaRPr>
          </a:p>
        </p:txBody>
      </p:sp>
      <p:sp>
        <p:nvSpPr>
          <p:cNvPr id="128" name="Google Shape;128;p4"/>
          <p:cNvSpPr/>
          <p:nvPr/>
        </p:nvSpPr>
        <p:spPr>
          <a:xfrm>
            <a:off x="502920" y="3899916"/>
            <a:ext cx="11183112" cy="699516"/>
          </a:xfrm>
          <a:prstGeom prst="roundRect">
            <a:avLst>
              <a:gd fmla="val 9150" name="adj"/>
            </a:avLst>
          </a:prstGeom>
          <a:solidFill>
            <a:srgbClr val="F2F6F9"/>
          </a:solidFill>
          <a:ln cap="flat" cmpd="sng" w="9525">
            <a:solidFill>
              <a:srgbClr val="D9E2E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 name="Google Shape;129;p4"/>
          <p:cNvSpPr/>
          <p:nvPr/>
        </p:nvSpPr>
        <p:spPr>
          <a:xfrm>
            <a:off x="649224" y="4085082"/>
            <a:ext cx="329184" cy="329184"/>
          </a:xfrm>
          <a:prstGeom prst="ellipse">
            <a:avLst/>
          </a:prstGeom>
          <a:solidFill>
            <a:srgbClr val="00A79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 name="Google Shape;130;p4"/>
          <p:cNvSpPr/>
          <p:nvPr/>
        </p:nvSpPr>
        <p:spPr>
          <a:xfrm>
            <a:off x="649224" y="4085082"/>
            <a:ext cx="329184" cy="32918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150"/>
              <a:buFont typeface="Calibri"/>
              <a:buNone/>
            </a:pPr>
            <a:r>
              <a:rPr b="1" i="0" lang="en-US" sz="1150" u="none" cap="none" strike="noStrike">
                <a:solidFill>
                  <a:srgbClr val="FFFFFF"/>
                </a:solidFill>
                <a:latin typeface="Calibri"/>
                <a:ea typeface="Calibri"/>
                <a:cs typeface="Calibri"/>
                <a:sym typeface="Calibri"/>
              </a:rPr>
              <a:t>LO4</a:t>
            </a:r>
            <a:endParaRPr b="0" i="0" sz="1150" u="none" cap="none" strike="noStrike">
              <a:solidFill>
                <a:schemeClr val="dk1"/>
              </a:solidFill>
              <a:latin typeface="Calibri"/>
              <a:ea typeface="Calibri"/>
              <a:cs typeface="Calibri"/>
              <a:sym typeface="Calibri"/>
            </a:endParaRPr>
          </a:p>
        </p:txBody>
      </p:sp>
      <p:sp>
        <p:nvSpPr>
          <p:cNvPr id="131" name="Google Shape;131;p4"/>
          <p:cNvSpPr/>
          <p:nvPr/>
        </p:nvSpPr>
        <p:spPr>
          <a:xfrm>
            <a:off x="1143000" y="3899916"/>
            <a:ext cx="8321040" cy="69951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3293B"/>
              </a:buClr>
              <a:buSzPts val="1250"/>
              <a:buFont typeface="Calibri"/>
              <a:buNone/>
            </a:pPr>
            <a:r>
              <a:rPr b="0" i="0" lang="en-US" sz="1250" u="none" cap="none" strike="noStrike">
                <a:solidFill>
                  <a:srgbClr val="23293B"/>
                </a:solidFill>
                <a:latin typeface="Calibri"/>
                <a:ea typeface="Calibri"/>
                <a:cs typeface="Calibri"/>
                <a:sym typeface="Calibri"/>
              </a:rPr>
              <a:t>Apply transfer learning and fine-tuning to domain-specific vision tasks</a:t>
            </a:r>
            <a:endParaRPr b="0" i="0" sz="1250" u="none" cap="none" strike="noStrike">
              <a:solidFill>
                <a:schemeClr val="dk1"/>
              </a:solidFill>
              <a:latin typeface="Calibri"/>
              <a:ea typeface="Calibri"/>
              <a:cs typeface="Calibri"/>
              <a:sym typeface="Calibri"/>
            </a:endParaRPr>
          </a:p>
        </p:txBody>
      </p:sp>
      <p:sp>
        <p:nvSpPr>
          <p:cNvPr id="132" name="Google Shape;132;p4"/>
          <p:cNvSpPr/>
          <p:nvPr/>
        </p:nvSpPr>
        <p:spPr>
          <a:xfrm>
            <a:off x="9646920" y="4075938"/>
            <a:ext cx="658368" cy="310896"/>
          </a:xfrm>
          <a:prstGeom prst="roundRect">
            <a:avLst>
              <a:gd fmla="val 50000" name="adj"/>
            </a:avLst>
          </a:prstGeom>
          <a:solidFill>
            <a:srgbClr val="E9F6F5"/>
          </a:solidFill>
          <a:ln cap="flat" cmpd="sng" w="9525">
            <a:solidFill>
              <a:srgbClr val="00A79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 name="Google Shape;133;p4"/>
          <p:cNvSpPr/>
          <p:nvPr/>
        </p:nvSpPr>
        <p:spPr>
          <a:xfrm>
            <a:off x="9646920" y="4075938"/>
            <a:ext cx="658368" cy="31089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56A63"/>
              </a:buClr>
              <a:buSzPts val="950"/>
              <a:buFont typeface="Calibri"/>
              <a:buNone/>
            </a:pPr>
            <a:r>
              <a:rPr b="1" i="0" lang="en-US" sz="950" u="none" cap="none" strike="noStrike">
                <a:solidFill>
                  <a:srgbClr val="056A63"/>
                </a:solidFill>
                <a:latin typeface="Calibri"/>
                <a:ea typeface="Calibri"/>
                <a:cs typeface="Calibri"/>
                <a:sym typeface="Calibri"/>
              </a:rPr>
              <a:t>M2</a:t>
            </a:r>
            <a:endParaRPr b="0" i="0" sz="950" u="none" cap="none" strike="noStrike">
              <a:solidFill>
                <a:schemeClr val="dk1"/>
              </a:solidFill>
              <a:latin typeface="Calibri"/>
              <a:ea typeface="Calibri"/>
              <a:cs typeface="Calibri"/>
              <a:sym typeface="Calibri"/>
            </a:endParaRPr>
          </a:p>
        </p:txBody>
      </p:sp>
      <p:sp>
        <p:nvSpPr>
          <p:cNvPr id="134" name="Google Shape;134;p4"/>
          <p:cNvSpPr/>
          <p:nvPr/>
        </p:nvSpPr>
        <p:spPr>
          <a:xfrm>
            <a:off x="502920" y="4727448"/>
            <a:ext cx="11183112" cy="699516"/>
          </a:xfrm>
          <a:prstGeom prst="roundRect">
            <a:avLst>
              <a:gd fmla="val 9150" name="adj"/>
            </a:avLst>
          </a:prstGeom>
          <a:solidFill>
            <a:srgbClr val="FAFCFE"/>
          </a:solidFill>
          <a:ln cap="flat" cmpd="sng" w="9525">
            <a:solidFill>
              <a:srgbClr val="D9E2E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 name="Google Shape;135;p4"/>
          <p:cNvSpPr/>
          <p:nvPr/>
        </p:nvSpPr>
        <p:spPr>
          <a:xfrm>
            <a:off x="649224" y="4912614"/>
            <a:ext cx="329184" cy="329184"/>
          </a:xfrm>
          <a:prstGeom prst="ellipse">
            <a:avLst/>
          </a:prstGeom>
          <a:solidFill>
            <a:srgbClr val="00A79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 name="Google Shape;136;p4"/>
          <p:cNvSpPr/>
          <p:nvPr/>
        </p:nvSpPr>
        <p:spPr>
          <a:xfrm>
            <a:off x="649224" y="4912614"/>
            <a:ext cx="329184" cy="32918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150"/>
              <a:buFont typeface="Calibri"/>
              <a:buNone/>
            </a:pPr>
            <a:r>
              <a:rPr b="1" i="0" lang="en-US" sz="1150" u="none" cap="none" strike="noStrike">
                <a:solidFill>
                  <a:srgbClr val="FFFFFF"/>
                </a:solidFill>
                <a:latin typeface="Calibri"/>
                <a:ea typeface="Calibri"/>
                <a:cs typeface="Calibri"/>
                <a:sym typeface="Calibri"/>
              </a:rPr>
              <a:t>LO5</a:t>
            </a:r>
            <a:endParaRPr b="0" i="0" sz="1150" u="none" cap="none" strike="noStrike">
              <a:solidFill>
                <a:schemeClr val="dk1"/>
              </a:solidFill>
              <a:latin typeface="Calibri"/>
              <a:ea typeface="Calibri"/>
              <a:cs typeface="Calibri"/>
              <a:sym typeface="Calibri"/>
            </a:endParaRPr>
          </a:p>
        </p:txBody>
      </p:sp>
      <p:sp>
        <p:nvSpPr>
          <p:cNvPr id="137" name="Google Shape;137;p4"/>
          <p:cNvSpPr/>
          <p:nvPr/>
        </p:nvSpPr>
        <p:spPr>
          <a:xfrm>
            <a:off x="1143000" y="4727448"/>
            <a:ext cx="8321040" cy="69951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3293B"/>
              </a:buClr>
              <a:buSzPts val="1250"/>
              <a:buFont typeface="Calibri"/>
              <a:buNone/>
            </a:pPr>
            <a:r>
              <a:rPr b="0" i="0" lang="en-US" sz="1250" u="none" cap="none" strike="noStrike">
                <a:solidFill>
                  <a:srgbClr val="23293B"/>
                </a:solidFill>
                <a:latin typeface="Calibri"/>
                <a:ea typeface="Calibri"/>
                <a:cs typeface="Calibri"/>
                <a:sym typeface="Calibri"/>
              </a:rPr>
              <a:t>Evaluate vision models using appropriate metrics such as mAP and IoU</a:t>
            </a:r>
            <a:endParaRPr b="0" i="0" sz="1250" u="none" cap="none" strike="noStrike">
              <a:solidFill>
                <a:schemeClr val="dk1"/>
              </a:solidFill>
              <a:latin typeface="Calibri"/>
              <a:ea typeface="Calibri"/>
              <a:cs typeface="Calibri"/>
              <a:sym typeface="Calibri"/>
            </a:endParaRPr>
          </a:p>
        </p:txBody>
      </p:sp>
      <p:sp>
        <p:nvSpPr>
          <p:cNvPr id="138" name="Google Shape;138;p4"/>
          <p:cNvSpPr/>
          <p:nvPr/>
        </p:nvSpPr>
        <p:spPr>
          <a:xfrm>
            <a:off x="9646920" y="4903470"/>
            <a:ext cx="658368" cy="310896"/>
          </a:xfrm>
          <a:prstGeom prst="roundRect">
            <a:avLst>
              <a:gd fmla="val 50000" name="adj"/>
            </a:avLst>
          </a:prstGeom>
          <a:solidFill>
            <a:srgbClr val="E9F6F5"/>
          </a:solidFill>
          <a:ln cap="flat" cmpd="sng" w="9525">
            <a:solidFill>
              <a:srgbClr val="00A79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 name="Google Shape;139;p4"/>
          <p:cNvSpPr/>
          <p:nvPr/>
        </p:nvSpPr>
        <p:spPr>
          <a:xfrm>
            <a:off x="9646920" y="4903470"/>
            <a:ext cx="658368" cy="31089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56A63"/>
              </a:buClr>
              <a:buSzPts val="950"/>
              <a:buFont typeface="Calibri"/>
              <a:buNone/>
            </a:pPr>
            <a:r>
              <a:rPr b="1" i="0" lang="en-US" sz="950" u="none" cap="none" strike="noStrike">
                <a:solidFill>
                  <a:srgbClr val="056A63"/>
                </a:solidFill>
                <a:latin typeface="Calibri"/>
                <a:ea typeface="Calibri"/>
                <a:cs typeface="Calibri"/>
                <a:sym typeface="Calibri"/>
              </a:rPr>
              <a:t>M6</a:t>
            </a:r>
            <a:endParaRPr b="0" i="0" sz="950" u="none" cap="none" strike="noStrike">
              <a:solidFill>
                <a:schemeClr val="dk1"/>
              </a:solidFill>
              <a:latin typeface="Calibri"/>
              <a:ea typeface="Calibri"/>
              <a:cs typeface="Calibri"/>
              <a:sym typeface="Calibri"/>
            </a:endParaRPr>
          </a:p>
        </p:txBody>
      </p:sp>
      <p:sp>
        <p:nvSpPr>
          <p:cNvPr id="140" name="Google Shape;140;p4"/>
          <p:cNvSpPr/>
          <p:nvPr/>
        </p:nvSpPr>
        <p:spPr>
          <a:xfrm>
            <a:off x="502920" y="5554980"/>
            <a:ext cx="11183112" cy="699516"/>
          </a:xfrm>
          <a:prstGeom prst="roundRect">
            <a:avLst>
              <a:gd fmla="val 9150" name="adj"/>
            </a:avLst>
          </a:prstGeom>
          <a:solidFill>
            <a:srgbClr val="F2F6F9"/>
          </a:solidFill>
          <a:ln cap="flat" cmpd="sng" w="9525">
            <a:solidFill>
              <a:srgbClr val="D9E2E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 name="Google Shape;141;p4"/>
          <p:cNvSpPr/>
          <p:nvPr/>
        </p:nvSpPr>
        <p:spPr>
          <a:xfrm>
            <a:off x="649224" y="5740146"/>
            <a:ext cx="329184" cy="329184"/>
          </a:xfrm>
          <a:prstGeom prst="ellipse">
            <a:avLst/>
          </a:prstGeom>
          <a:solidFill>
            <a:srgbClr val="00A79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 name="Google Shape;142;p4"/>
          <p:cNvSpPr/>
          <p:nvPr/>
        </p:nvSpPr>
        <p:spPr>
          <a:xfrm>
            <a:off x="649224" y="5740146"/>
            <a:ext cx="329184" cy="32918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150"/>
              <a:buFont typeface="Calibri"/>
              <a:buNone/>
            </a:pPr>
            <a:r>
              <a:rPr b="1" i="0" lang="en-US" sz="1150" u="none" cap="none" strike="noStrike">
                <a:solidFill>
                  <a:srgbClr val="FFFFFF"/>
                </a:solidFill>
                <a:latin typeface="Calibri"/>
                <a:ea typeface="Calibri"/>
                <a:cs typeface="Calibri"/>
                <a:sym typeface="Calibri"/>
              </a:rPr>
              <a:t>LO6</a:t>
            </a:r>
            <a:endParaRPr b="0" i="0" sz="1150" u="none" cap="none" strike="noStrike">
              <a:solidFill>
                <a:schemeClr val="dk1"/>
              </a:solidFill>
              <a:latin typeface="Calibri"/>
              <a:ea typeface="Calibri"/>
              <a:cs typeface="Calibri"/>
              <a:sym typeface="Calibri"/>
            </a:endParaRPr>
          </a:p>
        </p:txBody>
      </p:sp>
      <p:sp>
        <p:nvSpPr>
          <p:cNvPr id="143" name="Google Shape;143;p4"/>
          <p:cNvSpPr/>
          <p:nvPr/>
        </p:nvSpPr>
        <p:spPr>
          <a:xfrm>
            <a:off x="1143000" y="5554980"/>
            <a:ext cx="8321040" cy="69951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3293B"/>
              </a:buClr>
              <a:buSzPts val="1250"/>
              <a:buFont typeface="Calibri"/>
              <a:buNone/>
            </a:pPr>
            <a:r>
              <a:rPr b="0" i="0" lang="en-US" sz="1250" u="none" cap="none" strike="noStrike">
                <a:solidFill>
                  <a:srgbClr val="23293B"/>
                </a:solidFill>
                <a:latin typeface="Calibri"/>
                <a:ea typeface="Calibri"/>
                <a:cs typeface="Calibri"/>
                <a:sym typeface="Calibri"/>
              </a:rPr>
              <a:t>Deploy optimised vision models to cloud and edge targets</a:t>
            </a:r>
            <a:endParaRPr b="0" i="0" sz="1250" u="none" cap="none" strike="noStrike">
              <a:solidFill>
                <a:schemeClr val="dk1"/>
              </a:solidFill>
              <a:latin typeface="Calibri"/>
              <a:ea typeface="Calibri"/>
              <a:cs typeface="Calibri"/>
              <a:sym typeface="Calibri"/>
            </a:endParaRPr>
          </a:p>
        </p:txBody>
      </p:sp>
      <p:sp>
        <p:nvSpPr>
          <p:cNvPr id="144" name="Google Shape;144;p4"/>
          <p:cNvSpPr/>
          <p:nvPr/>
        </p:nvSpPr>
        <p:spPr>
          <a:xfrm>
            <a:off x="9646920" y="5731002"/>
            <a:ext cx="658368" cy="310896"/>
          </a:xfrm>
          <a:prstGeom prst="roundRect">
            <a:avLst>
              <a:gd fmla="val 50000" name="adj"/>
            </a:avLst>
          </a:prstGeom>
          <a:solidFill>
            <a:srgbClr val="E9F6F5"/>
          </a:solidFill>
          <a:ln cap="flat" cmpd="sng" w="9525">
            <a:solidFill>
              <a:srgbClr val="00A79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 name="Google Shape;145;p4"/>
          <p:cNvSpPr/>
          <p:nvPr/>
        </p:nvSpPr>
        <p:spPr>
          <a:xfrm>
            <a:off x="9646920" y="5731002"/>
            <a:ext cx="658368" cy="31089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56A63"/>
              </a:buClr>
              <a:buSzPts val="950"/>
              <a:buFont typeface="Calibri"/>
              <a:buNone/>
            </a:pPr>
            <a:r>
              <a:rPr b="1" i="0" lang="en-US" sz="950" u="none" cap="none" strike="noStrike">
                <a:solidFill>
                  <a:srgbClr val="056A63"/>
                </a:solidFill>
                <a:latin typeface="Calibri"/>
                <a:ea typeface="Calibri"/>
                <a:cs typeface="Calibri"/>
                <a:sym typeface="Calibri"/>
              </a:rPr>
              <a:t>M7</a:t>
            </a:r>
            <a:endParaRPr b="0" i="0" sz="950" u="none" cap="none" strike="noStrike">
              <a:solidFill>
                <a:schemeClr val="dk1"/>
              </a:solidFill>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50" name="Shape 150"/>
        <p:cNvGrpSpPr/>
        <p:nvPr/>
      </p:nvGrpSpPr>
      <p:grpSpPr>
        <a:xfrm>
          <a:off x="0" y="0"/>
          <a:ext cx="0" cy="0"/>
          <a:chOff x="0" y="0"/>
          <a:chExt cx="0" cy="0"/>
        </a:xfrm>
      </p:grpSpPr>
      <p:sp>
        <p:nvSpPr>
          <p:cNvPr id="151" name="Google Shape;151;p5"/>
          <p:cNvSpPr/>
          <p:nvPr/>
        </p:nvSpPr>
        <p:spPr>
          <a:xfrm>
            <a:off x="502920" y="274320"/>
            <a:ext cx="9646920" cy="56692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D2A5C"/>
              </a:buClr>
              <a:buSzPts val="2700"/>
              <a:buFont typeface="Calibri"/>
              <a:buNone/>
            </a:pPr>
            <a:r>
              <a:rPr b="1" i="0" lang="en-US" sz="2700" u="none" cap="none" strike="noStrike">
                <a:solidFill>
                  <a:srgbClr val="1D2A5C"/>
                </a:solidFill>
                <a:latin typeface="Calibri"/>
                <a:ea typeface="Calibri"/>
                <a:cs typeface="Calibri"/>
                <a:sym typeface="Calibri"/>
              </a:rPr>
              <a:t>Four days, one build order</a:t>
            </a:r>
            <a:endParaRPr b="0" i="0" sz="2700" u="none" cap="none" strike="noStrike">
              <a:solidFill>
                <a:schemeClr val="dk1"/>
              </a:solidFill>
              <a:latin typeface="Calibri"/>
              <a:ea typeface="Calibri"/>
              <a:cs typeface="Calibri"/>
              <a:sym typeface="Calibri"/>
            </a:endParaRPr>
          </a:p>
        </p:txBody>
      </p:sp>
      <p:sp>
        <p:nvSpPr>
          <p:cNvPr id="152" name="Google Shape;152;p5"/>
          <p:cNvSpPr/>
          <p:nvPr/>
        </p:nvSpPr>
        <p:spPr>
          <a:xfrm>
            <a:off x="502920" y="859536"/>
            <a:ext cx="9646920" cy="31089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F6B7A"/>
              </a:buClr>
              <a:buSzPts val="1250"/>
              <a:buFont typeface="Arial"/>
              <a:buNone/>
            </a:pPr>
            <a:r>
              <a:rPr b="0" i="0" lang="en-US" sz="1250" u="none" cap="none" strike="noStrike">
                <a:solidFill>
                  <a:srgbClr val="5F6B7A"/>
                </a:solidFill>
                <a:latin typeface="Arial"/>
                <a:ea typeface="Arial"/>
                <a:cs typeface="Arial"/>
                <a:sym typeface="Arial"/>
              </a:rPr>
              <a:t>أربعة أيام، مسار بناء واحد</a:t>
            </a:r>
            <a:endParaRPr b="0" i="0" sz="1250" u="none" cap="none" strike="noStrike">
              <a:solidFill>
                <a:schemeClr val="dk1"/>
              </a:solidFill>
              <a:latin typeface="Calibri"/>
              <a:ea typeface="Calibri"/>
              <a:cs typeface="Calibri"/>
              <a:sym typeface="Calibri"/>
            </a:endParaRPr>
          </a:p>
        </p:txBody>
      </p:sp>
      <p:pic>
        <p:nvPicPr>
          <p:cNvPr descr="/sessions/blissful-determined-ritchie/build/assets/sdaia_logo.png" id="153" name="Google Shape;153;p5"/>
          <p:cNvPicPr preferRelativeResize="0"/>
          <p:nvPr/>
        </p:nvPicPr>
        <p:blipFill rotWithShape="1">
          <a:blip r:embed="rId3">
            <a:alphaModFix/>
          </a:blip>
          <a:srcRect b="0" l="0" r="0" t="0"/>
          <a:stretch/>
        </p:blipFill>
        <p:spPr>
          <a:xfrm>
            <a:off x="10625328" y="310896"/>
            <a:ext cx="1078992" cy="264111"/>
          </a:xfrm>
          <a:prstGeom prst="rect">
            <a:avLst/>
          </a:prstGeom>
          <a:noFill/>
          <a:ln>
            <a:noFill/>
          </a:ln>
        </p:spPr>
      </p:pic>
      <p:sp>
        <p:nvSpPr>
          <p:cNvPr id="154" name="Google Shape;154;p5"/>
          <p:cNvSpPr/>
          <p:nvPr/>
        </p:nvSpPr>
        <p:spPr>
          <a:xfrm>
            <a:off x="502920" y="6528816"/>
            <a:ext cx="8686800"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A96A6"/>
              </a:buClr>
              <a:buSzPts val="800"/>
              <a:buFont typeface="Calibri"/>
              <a:buNone/>
            </a:pPr>
            <a:r>
              <a:rPr b="0" i="0" lang="en-US" sz="800" u="none" cap="none" strike="noStrike">
                <a:solidFill>
                  <a:srgbClr val="8A96A6"/>
                </a:solidFill>
                <a:latin typeface="Calibri"/>
                <a:ea typeface="Calibri"/>
                <a:cs typeface="Calibri"/>
                <a:sym typeface="Calibri"/>
              </a:rPr>
              <a:t>SDA-AIE-212 · Computer Vision Systems Development</a:t>
            </a:r>
            <a:endParaRPr b="0" i="0" sz="800" u="none" cap="none" strike="noStrike">
              <a:solidFill>
                <a:schemeClr val="dk1"/>
              </a:solidFill>
              <a:latin typeface="Calibri"/>
              <a:ea typeface="Calibri"/>
              <a:cs typeface="Calibri"/>
              <a:sym typeface="Calibri"/>
            </a:endParaRPr>
          </a:p>
        </p:txBody>
      </p:sp>
      <p:sp>
        <p:nvSpPr>
          <p:cNvPr id="155" name="Google Shape;155;p5"/>
          <p:cNvSpPr/>
          <p:nvPr/>
        </p:nvSpPr>
        <p:spPr>
          <a:xfrm>
            <a:off x="11292840" y="6528816"/>
            <a:ext cx="411480" cy="219456"/>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8A96A6"/>
              </a:buClr>
              <a:buSzPts val="900"/>
              <a:buFont typeface="Calibri"/>
              <a:buNone/>
            </a:pPr>
            <a:r>
              <a:rPr b="0" i="0" lang="en-US" sz="900" u="none" cap="none" strike="noStrike">
                <a:solidFill>
                  <a:srgbClr val="8A96A6"/>
                </a:solidFill>
                <a:latin typeface="Calibri"/>
                <a:ea typeface="Calibri"/>
                <a:cs typeface="Calibri"/>
                <a:sym typeface="Calibri"/>
              </a:rPr>
              <a:t>5</a:t>
            </a:r>
            <a:endParaRPr b="0" i="0" sz="900" u="none" cap="none" strike="noStrike">
              <a:solidFill>
                <a:schemeClr val="dk1"/>
              </a:solidFill>
              <a:latin typeface="Calibri"/>
              <a:ea typeface="Calibri"/>
              <a:cs typeface="Calibri"/>
              <a:sym typeface="Calibri"/>
            </a:endParaRPr>
          </a:p>
        </p:txBody>
      </p:sp>
      <p:sp>
        <p:nvSpPr>
          <p:cNvPr id="156" name="Google Shape;156;p5"/>
          <p:cNvSpPr/>
          <p:nvPr/>
        </p:nvSpPr>
        <p:spPr>
          <a:xfrm>
            <a:off x="502920" y="1389888"/>
            <a:ext cx="2590038" cy="4965192"/>
          </a:xfrm>
          <a:prstGeom prst="roundRect">
            <a:avLst>
              <a:gd fmla="val 3177" name="adj"/>
            </a:avLst>
          </a:prstGeom>
          <a:solidFill>
            <a:srgbClr val="F2F6F9"/>
          </a:solidFill>
          <a:ln cap="flat" cmpd="sng" w="12700">
            <a:solidFill>
              <a:srgbClr val="D9E2E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7" name="Google Shape;157;p5"/>
          <p:cNvSpPr/>
          <p:nvPr/>
        </p:nvSpPr>
        <p:spPr>
          <a:xfrm>
            <a:off x="630936" y="1517904"/>
            <a:ext cx="2334006" cy="457200"/>
          </a:xfrm>
          <a:prstGeom prst="roundRect">
            <a:avLst>
              <a:gd fmla="val 14000" name="adj"/>
            </a:avLst>
          </a:prstGeom>
          <a:solidFill>
            <a:srgbClr val="00A79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 name="Google Shape;158;p5"/>
          <p:cNvSpPr/>
          <p:nvPr/>
        </p:nvSpPr>
        <p:spPr>
          <a:xfrm>
            <a:off x="630936" y="1517904"/>
            <a:ext cx="2334006"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500"/>
              <a:buFont typeface="Calibri"/>
              <a:buNone/>
            </a:pPr>
            <a:r>
              <a:rPr b="1" i="0" lang="en-US" sz="1500" u="none" cap="none" strike="noStrike">
                <a:solidFill>
                  <a:srgbClr val="FFFFFF"/>
                </a:solidFill>
                <a:latin typeface="Calibri"/>
                <a:ea typeface="Calibri"/>
                <a:cs typeface="Calibri"/>
                <a:sym typeface="Calibri"/>
              </a:rPr>
              <a:t>DAY 1</a:t>
            </a:r>
            <a:endParaRPr b="0" i="0" sz="1500" u="none" cap="none" strike="noStrike">
              <a:solidFill>
                <a:schemeClr val="dk1"/>
              </a:solidFill>
              <a:latin typeface="Calibri"/>
              <a:ea typeface="Calibri"/>
              <a:cs typeface="Calibri"/>
              <a:sym typeface="Calibri"/>
            </a:endParaRPr>
          </a:p>
        </p:txBody>
      </p:sp>
      <p:sp>
        <p:nvSpPr>
          <p:cNvPr id="159" name="Google Shape;159;p5"/>
          <p:cNvSpPr/>
          <p:nvPr/>
        </p:nvSpPr>
        <p:spPr>
          <a:xfrm>
            <a:off x="649224" y="2066544"/>
            <a:ext cx="2297430" cy="56692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D2A5C"/>
              </a:buClr>
              <a:buSzPts val="1300"/>
              <a:buFont typeface="Calibri"/>
              <a:buNone/>
            </a:pPr>
            <a:r>
              <a:rPr b="1" i="0" lang="en-US" sz="1300" u="none" cap="none" strike="noStrike">
                <a:solidFill>
                  <a:srgbClr val="1D2A5C"/>
                </a:solidFill>
                <a:latin typeface="Calibri"/>
                <a:ea typeface="Calibri"/>
                <a:cs typeface="Calibri"/>
                <a:sym typeface="Calibri"/>
              </a:rPr>
              <a:t>Seeing like a machine</a:t>
            </a:r>
            <a:endParaRPr b="0" i="0" sz="1300" u="none" cap="none" strike="noStrike">
              <a:solidFill>
                <a:schemeClr val="dk1"/>
              </a:solidFill>
              <a:latin typeface="Calibri"/>
              <a:ea typeface="Calibri"/>
              <a:cs typeface="Calibri"/>
              <a:sym typeface="Calibri"/>
            </a:endParaRPr>
          </a:p>
        </p:txBody>
      </p:sp>
      <p:sp>
        <p:nvSpPr>
          <p:cNvPr id="160" name="Google Shape;160;p5"/>
          <p:cNvSpPr/>
          <p:nvPr/>
        </p:nvSpPr>
        <p:spPr>
          <a:xfrm>
            <a:off x="685800" y="2688336"/>
            <a:ext cx="2242566" cy="2331720"/>
          </a:xfrm>
          <a:prstGeom prst="rect">
            <a:avLst/>
          </a:prstGeom>
          <a:noFill/>
          <a:ln>
            <a:noFill/>
          </a:ln>
        </p:spPr>
        <p:txBody>
          <a:bodyPr anchorCtr="0" anchor="t" bIns="0" lIns="0" spcFirstLastPara="1" rIns="0" wrap="square" tIns="0">
            <a:noAutofit/>
          </a:bodyPr>
          <a:lstStyle/>
          <a:p>
            <a:pPr indent="-127000" lvl="0" marL="127000" marR="0" rtl="0" algn="l">
              <a:spcBef>
                <a:spcPts val="0"/>
              </a:spcBef>
              <a:spcAft>
                <a:spcPts val="0"/>
              </a:spcAft>
              <a:buClr>
                <a:srgbClr val="23293B"/>
              </a:buClr>
              <a:buSzPts val="1050"/>
              <a:buFont typeface="Calibri"/>
              <a:buChar char="▪"/>
            </a:pPr>
            <a:r>
              <a:rPr b="0" i="0" lang="en-US" sz="1050" u="none" cap="none" strike="noStrike">
                <a:solidFill>
                  <a:srgbClr val="23293B"/>
                </a:solidFill>
                <a:latin typeface="Calibri"/>
                <a:ea typeface="Calibri"/>
                <a:cs typeface="Calibri"/>
                <a:sym typeface="Calibri"/>
              </a:rPr>
              <a:t>M1 Image data, preprocessing &amp; augmentation</a:t>
            </a:r>
            <a:endParaRPr b="0" i="0" sz="1050" u="none" cap="none" strike="noStrike">
              <a:solidFill>
                <a:schemeClr val="dk1"/>
              </a:solidFill>
              <a:latin typeface="Calibri"/>
              <a:ea typeface="Calibri"/>
              <a:cs typeface="Calibri"/>
              <a:sym typeface="Calibri"/>
            </a:endParaRPr>
          </a:p>
          <a:p>
            <a:pPr indent="-127000" lvl="0" marL="127000" marR="0" rtl="0" algn="l">
              <a:spcBef>
                <a:spcPts val="600"/>
              </a:spcBef>
              <a:spcAft>
                <a:spcPts val="0"/>
              </a:spcAft>
              <a:buClr>
                <a:srgbClr val="23293B"/>
              </a:buClr>
              <a:buSzPts val="1050"/>
              <a:buFont typeface="Calibri"/>
              <a:buChar char="▪"/>
            </a:pPr>
            <a:r>
              <a:rPr b="0" i="0" lang="en-US" sz="1050" u="none" cap="none" strike="noStrike">
                <a:solidFill>
                  <a:srgbClr val="23293B"/>
                </a:solidFill>
                <a:latin typeface="Calibri"/>
                <a:ea typeface="Calibri"/>
                <a:cs typeface="Calibri"/>
                <a:sym typeface="Calibri"/>
              </a:rPr>
              <a:t>M2 CNN architectures &amp; vision transformers</a:t>
            </a:r>
            <a:endParaRPr b="0" i="0" sz="1050" u="none" cap="none" strike="noStrike">
              <a:solidFill>
                <a:schemeClr val="dk1"/>
              </a:solidFill>
              <a:latin typeface="Calibri"/>
              <a:ea typeface="Calibri"/>
              <a:cs typeface="Calibri"/>
              <a:sym typeface="Calibri"/>
            </a:endParaRPr>
          </a:p>
        </p:txBody>
      </p:sp>
      <p:cxnSp>
        <p:nvCxnSpPr>
          <p:cNvPr id="161" name="Google Shape;161;p5"/>
          <p:cNvCxnSpPr/>
          <p:nvPr/>
        </p:nvCxnSpPr>
        <p:spPr>
          <a:xfrm>
            <a:off x="667512" y="5056632"/>
            <a:ext cx="2260854" cy="0"/>
          </a:xfrm>
          <a:prstGeom prst="straightConnector1">
            <a:avLst/>
          </a:prstGeom>
          <a:noFill/>
          <a:ln cap="flat" cmpd="sng" w="9525">
            <a:solidFill>
              <a:srgbClr val="D9E2EA"/>
            </a:solidFill>
            <a:prstDash val="solid"/>
            <a:round/>
            <a:headEnd len="sm" w="sm" type="none"/>
            <a:tailEnd len="sm" w="sm" type="none"/>
          </a:ln>
        </p:spPr>
      </p:cxnSp>
      <p:sp>
        <p:nvSpPr>
          <p:cNvPr id="162" name="Google Shape;162;p5"/>
          <p:cNvSpPr/>
          <p:nvPr/>
        </p:nvSpPr>
        <p:spPr>
          <a:xfrm>
            <a:off x="667512" y="5148072"/>
            <a:ext cx="2260854" cy="20116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A79D"/>
              </a:buClr>
              <a:buSzPts val="850"/>
              <a:buFont typeface="Calibri"/>
              <a:buNone/>
            </a:pPr>
            <a:r>
              <a:rPr b="1" i="0" lang="en-US" sz="850" u="none" cap="none" strike="noStrike">
                <a:solidFill>
                  <a:srgbClr val="00A79D"/>
                </a:solidFill>
                <a:latin typeface="Calibri"/>
                <a:ea typeface="Calibri"/>
                <a:cs typeface="Calibri"/>
                <a:sym typeface="Calibri"/>
              </a:rPr>
              <a:t>DELIVERABLE</a:t>
            </a:r>
            <a:endParaRPr b="0" i="0" sz="850" u="none" cap="none" strike="noStrike">
              <a:solidFill>
                <a:schemeClr val="dk1"/>
              </a:solidFill>
              <a:latin typeface="Calibri"/>
              <a:ea typeface="Calibri"/>
              <a:cs typeface="Calibri"/>
              <a:sym typeface="Calibri"/>
            </a:endParaRPr>
          </a:p>
        </p:txBody>
      </p:sp>
      <p:sp>
        <p:nvSpPr>
          <p:cNvPr id="163" name="Google Shape;163;p5"/>
          <p:cNvSpPr/>
          <p:nvPr/>
        </p:nvSpPr>
        <p:spPr>
          <a:xfrm>
            <a:off x="667512" y="5367528"/>
            <a:ext cx="2260854" cy="896112"/>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5F6B7A"/>
              </a:buClr>
              <a:buSzPts val="1000"/>
              <a:buFont typeface="Calibri"/>
              <a:buNone/>
            </a:pPr>
            <a:r>
              <a:rPr b="0" i="1" lang="en-US" sz="1000" u="none" cap="none" strike="noStrike">
                <a:solidFill>
                  <a:srgbClr val="5F6B7A"/>
                </a:solidFill>
                <a:latin typeface="Calibri"/>
                <a:ea typeface="Calibri"/>
                <a:cs typeface="Calibri"/>
                <a:sym typeface="Calibri"/>
              </a:rPr>
              <a:t>Working dates-qc input pipeline + fine-tuned grade classifier beating the frozen baseline</a:t>
            </a:r>
            <a:endParaRPr b="0" i="0" sz="1000" u="none" cap="none" strike="noStrike">
              <a:solidFill>
                <a:schemeClr val="dk1"/>
              </a:solidFill>
              <a:latin typeface="Calibri"/>
              <a:ea typeface="Calibri"/>
              <a:cs typeface="Calibri"/>
              <a:sym typeface="Calibri"/>
            </a:endParaRPr>
          </a:p>
        </p:txBody>
      </p:sp>
      <p:sp>
        <p:nvSpPr>
          <p:cNvPr id="164" name="Google Shape;164;p5"/>
          <p:cNvSpPr/>
          <p:nvPr/>
        </p:nvSpPr>
        <p:spPr>
          <a:xfrm>
            <a:off x="3367278" y="1389888"/>
            <a:ext cx="2590038" cy="4965192"/>
          </a:xfrm>
          <a:prstGeom prst="roundRect">
            <a:avLst>
              <a:gd fmla="val 3177" name="adj"/>
            </a:avLst>
          </a:prstGeom>
          <a:solidFill>
            <a:srgbClr val="F2F6F9"/>
          </a:solidFill>
          <a:ln cap="flat" cmpd="sng" w="12700">
            <a:solidFill>
              <a:srgbClr val="D9E2E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 name="Google Shape;165;p5"/>
          <p:cNvSpPr/>
          <p:nvPr/>
        </p:nvSpPr>
        <p:spPr>
          <a:xfrm>
            <a:off x="3495294" y="1517904"/>
            <a:ext cx="2334006" cy="457200"/>
          </a:xfrm>
          <a:prstGeom prst="roundRect">
            <a:avLst>
              <a:gd fmla="val 14000" name="adj"/>
            </a:avLst>
          </a:prstGeom>
          <a:solidFill>
            <a:srgbClr val="29ABE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 name="Google Shape;166;p5"/>
          <p:cNvSpPr/>
          <p:nvPr/>
        </p:nvSpPr>
        <p:spPr>
          <a:xfrm>
            <a:off x="3495294" y="1517904"/>
            <a:ext cx="2334006"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500"/>
              <a:buFont typeface="Calibri"/>
              <a:buNone/>
            </a:pPr>
            <a:r>
              <a:rPr b="1" i="0" lang="en-US" sz="1500" u="none" cap="none" strike="noStrike">
                <a:solidFill>
                  <a:srgbClr val="FFFFFF"/>
                </a:solidFill>
                <a:latin typeface="Calibri"/>
                <a:ea typeface="Calibri"/>
                <a:cs typeface="Calibri"/>
                <a:sym typeface="Calibri"/>
              </a:rPr>
              <a:t>DAY 2</a:t>
            </a:r>
            <a:endParaRPr b="0" i="0" sz="1500" u="none" cap="none" strike="noStrike">
              <a:solidFill>
                <a:schemeClr val="dk1"/>
              </a:solidFill>
              <a:latin typeface="Calibri"/>
              <a:ea typeface="Calibri"/>
              <a:cs typeface="Calibri"/>
              <a:sym typeface="Calibri"/>
            </a:endParaRPr>
          </a:p>
        </p:txBody>
      </p:sp>
      <p:sp>
        <p:nvSpPr>
          <p:cNvPr id="167" name="Google Shape;167;p5"/>
          <p:cNvSpPr/>
          <p:nvPr/>
        </p:nvSpPr>
        <p:spPr>
          <a:xfrm>
            <a:off x="3513582" y="2066544"/>
            <a:ext cx="2297430" cy="56692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D2A5C"/>
              </a:buClr>
              <a:buSzPts val="1300"/>
              <a:buFont typeface="Calibri"/>
              <a:buNone/>
            </a:pPr>
            <a:r>
              <a:rPr b="1" i="0" lang="en-US" sz="1300" u="none" cap="none" strike="noStrike">
                <a:solidFill>
                  <a:srgbClr val="1D2A5C"/>
                </a:solidFill>
                <a:latin typeface="Calibri"/>
                <a:ea typeface="Calibri"/>
                <a:cs typeface="Calibri"/>
                <a:sym typeface="Calibri"/>
              </a:rPr>
              <a:t>Locate and delineate</a:t>
            </a:r>
            <a:endParaRPr b="0" i="0" sz="1300" u="none" cap="none" strike="noStrike">
              <a:solidFill>
                <a:schemeClr val="dk1"/>
              </a:solidFill>
              <a:latin typeface="Calibri"/>
              <a:ea typeface="Calibri"/>
              <a:cs typeface="Calibri"/>
              <a:sym typeface="Calibri"/>
            </a:endParaRPr>
          </a:p>
        </p:txBody>
      </p:sp>
      <p:sp>
        <p:nvSpPr>
          <p:cNvPr id="168" name="Google Shape;168;p5"/>
          <p:cNvSpPr/>
          <p:nvPr/>
        </p:nvSpPr>
        <p:spPr>
          <a:xfrm>
            <a:off x="3550158" y="2688336"/>
            <a:ext cx="2242566" cy="2331720"/>
          </a:xfrm>
          <a:prstGeom prst="rect">
            <a:avLst/>
          </a:prstGeom>
          <a:noFill/>
          <a:ln>
            <a:noFill/>
          </a:ln>
        </p:spPr>
        <p:txBody>
          <a:bodyPr anchorCtr="0" anchor="t" bIns="0" lIns="0" spcFirstLastPara="1" rIns="0" wrap="square" tIns="0">
            <a:noAutofit/>
          </a:bodyPr>
          <a:lstStyle/>
          <a:p>
            <a:pPr indent="-127000" lvl="0" marL="127000" marR="0" rtl="0" algn="l">
              <a:spcBef>
                <a:spcPts val="0"/>
              </a:spcBef>
              <a:spcAft>
                <a:spcPts val="0"/>
              </a:spcAft>
              <a:buClr>
                <a:srgbClr val="23293B"/>
              </a:buClr>
              <a:buSzPts val="1050"/>
              <a:buFont typeface="Calibri"/>
              <a:buChar char="▪"/>
            </a:pPr>
            <a:r>
              <a:rPr b="0" i="0" lang="en-US" sz="1050" u="none" cap="none" strike="noStrike">
                <a:solidFill>
                  <a:srgbClr val="23293B"/>
                </a:solidFill>
                <a:latin typeface="Calibri"/>
                <a:ea typeface="Calibri"/>
                <a:cs typeface="Calibri"/>
                <a:sym typeface="Calibri"/>
              </a:rPr>
              <a:t>M3 Object detection with YOLO-family models</a:t>
            </a:r>
            <a:endParaRPr b="0" i="0" sz="1050" u="none" cap="none" strike="noStrike">
              <a:solidFill>
                <a:schemeClr val="dk1"/>
              </a:solidFill>
              <a:latin typeface="Calibri"/>
              <a:ea typeface="Calibri"/>
              <a:cs typeface="Calibri"/>
              <a:sym typeface="Calibri"/>
            </a:endParaRPr>
          </a:p>
          <a:p>
            <a:pPr indent="-127000" lvl="0" marL="127000" marR="0" rtl="0" algn="l">
              <a:spcBef>
                <a:spcPts val="600"/>
              </a:spcBef>
              <a:spcAft>
                <a:spcPts val="0"/>
              </a:spcAft>
              <a:buClr>
                <a:srgbClr val="23293B"/>
              </a:buClr>
              <a:buSzPts val="1050"/>
              <a:buFont typeface="Calibri"/>
              <a:buChar char="▪"/>
            </a:pPr>
            <a:r>
              <a:rPr b="0" i="0" lang="en-US" sz="1050" u="none" cap="none" strike="noStrike">
                <a:solidFill>
                  <a:srgbClr val="23293B"/>
                </a:solidFill>
                <a:latin typeface="Calibri"/>
                <a:ea typeface="Calibri"/>
                <a:cs typeface="Calibri"/>
                <a:sym typeface="Calibri"/>
              </a:rPr>
              <a:t>M4 Semantic &amp; instance segmentation</a:t>
            </a:r>
            <a:endParaRPr b="0" i="0" sz="1050" u="none" cap="none" strike="noStrike">
              <a:solidFill>
                <a:schemeClr val="dk1"/>
              </a:solidFill>
              <a:latin typeface="Calibri"/>
              <a:ea typeface="Calibri"/>
              <a:cs typeface="Calibri"/>
              <a:sym typeface="Calibri"/>
            </a:endParaRPr>
          </a:p>
        </p:txBody>
      </p:sp>
      <p:cxnSp>
        <p:nvCxnSpPr>
          <p:cNvPr id="169" name="Google Shape;169;p5"/>
          <p:cNvCxnSpPr/>
          <p:nvPr/>
        </p:nvCxnSpPr>
        <p:spPr>
          <a:xfrm>
            <a:off x="3531870" y="5056632"/>
            <a:ext cx="2260854" cy="0"/>
          </a:xfrm>
          <a:prstGeom prst="straightConnector1">
            <a:avLst/>
          </a:prstGeom>
          <a:noFill/>
          <a:ln cap="flat" cmpd="sng" w="9525">
            <a:solidFill>
              <a:srgbClr val="D9E2EA"/>
            </a:solidFill>
            <a:prstDash val="solid"/>
            <a:round/>
            <a:headEnd len="sm" w="sm" type="none"/>
            <a:tailEnd len="sm" w="sm" type="none"/>
          </a:ln>
        </p:spPr>
      </p:cxnSp>
      <p:sp>
        <p:nvSpPr>
          <p:cNvPr id="170" name="Google Shape;170;p5"/>
          <p:cNvSpPr/>
          <p:nvPr/>
        </p:nvSpPr>
        <p:spPr>
          <a:xfrm>
            <a:off x="3531870" y="5148072"/>
            <a:ext cx="2260854" cy="20116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A79D"/>
              </a:buClr>
              <a:buSzPts val="850"/>
              <a:buFont typeface="Calibri"/>
              <a:buNone/>
            </a:pPr>
            <a:r>
              <a:rPr b="1" i="0" lang="en-US" sz="850" u="none" cap="none" strike="noStrike">
                <a:solidFill>
                  <a:srgbClr val="00A79D"/>
                </a:solidFill>
                <a:latin typeface="Calibri"/>
                <a:ea typeface="Calibri"/>
                <a:cs typeface="Calibri"/>
                <a:sym typeface="Calibri"/>
              </a:rPr>
              <a:t>DELIVERABLE</a:t>
            </a:r>
            <a:endParaRPr b="0" i="0" sz="850" u="none" cap="none" strike="noStrike">
              <a:solidFill>
                <a:schemeClr val="dk1"/>
              </a:solidFill>
              <a:latin typeface="Calibri"/>
              <a:ea typeface="Calibri"/>
              <a:cs typeface="Calibri"/>
              <a:sym typeface="Calibri"/>
            </a:endParaRPr>
          </a:p>
        </p:txBody>
      </p:sp>
      <p:sp>
        <p:nvSpPr>
          <p:cNvPr id="171" name="Google Shape;171;p5"/>
          <p:cNvSpPr/>
          <p:nvPr/>
        </p:nvSpPr>
        <p:spPr>
          <a:xfrm>
            <a:off x="3531870" y="5367528"/>
            <a:ext cx="2260854" cy="896112"/>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5F6B7A"/>
              </a:buClr>
              <a:buSzPts val="1000"/>
              <a:buFont typeface="Calibri"/>
              <a:buNone/>
            </a:pPr>
            <a:r>
              <a:rPr b="0" i="1" lang="en-US" sz="1000" u="none" cap="none" strike="noStrike">
                <a:solidFill>
                  <a:srgbClr val="5F6B7A"/>
                </a:solidFill>
                <a:latin typeface="Calibri"/>
                <a:ea typeface="Calibri"/>
                <a:cs typeface="Calibri"/>
                <a:sym typeface="Calibri"/>
              </a:rPr>
              <a:t>Trained defect detector (mAP@0.5 ≥ 0.85) + surface-defect segmentation model</a:t>
            </a:r>
            <a:endParaRPr b="0" i="0" sz="1000" u="none" cap="none" strike="noStrike">
              <a:solidFill>
                <a:schemeClr val="dk1"/>
              </a:solidFill>
              <a:latin typeface="Calibri"/>
              <a:ea typeface="Calibri"/>
              <a:cs typeface="Calibri"/>
              <a:sym typeface="Calibri"/>
            </a:endParaRPr>
          </a:p>
        </p:txBody>
      </p:sp>
      <p:sp>
        <p:nvSpPr>
          <p:cNvPr id="172" name="Google Shape;172;p5"/>
          <p:cNvSpPr/>
          <p:nvPr/>
        </p:nvSpPr>
        <p:spPr>
          <a:xfrm>
            <a:off x="6231636" y="1389888"/>
            <a:ext cx="2590038" cy="4965192"/>
          </a:xfrm>
          <a:prstGeom prst="roundRect">
            <a:avLst>
              <a:gd fmla="val 3177" name="adj"/>
            </a:avLst>
          </a:prstGeom>
          <a:solidFill>
            <a:srgbClr val="F2F6F9"/>
          </a:solidFill>
          <a:ln cap="flat" cmpd="sng" w="12700">
            <a:solidFill>
              <a:srgbClr val="D9E2E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 name="Google Shape;173;p5"/>
          <p:cNvSpPr/>
          <p:nvPr/>
        </p:nvSpPr>
        <p:spPr>
          <a:xfrm>
            <a:off x="6359652" y="1517904"/>
            <a:ext cx="2334006" cy="457200"/>
          </a:xfrm>
          <a:prstGeom prst="roundRect">
            <a:avLst>
              <a:gd fmla="val 14000" name="adj"/>
            </a:avLst>
          </a:prstGeom>
          <a:solidFill>
            <a:srgbClr val="F5822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4" name="Google Shape;174;p5"/>
          <p:cNvSpPr/>
          <p:nvPr/>
        </p:nvSpPr>
        <p:spPr>
          <a:xfrm>
            <a:off x="6359652" y="1517904"/>
            <a:ext cx="2334006"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500"/>
              <a:buFont typeface="Calibri"/>
              <a:buNone/>
            </a:pPr>
            <a:r>
              <a:rPr b="1" i="0" lang="en-US" sz="1500" u="none" cap="none" strike="noStrike">
                <a:solidFill>
                  <a:srgbClr val="FFFFFF"/>
                </a:solidFill>
                <a:latin typeface="Calibri"/>
                <a:ea typeface="Calibri"/>
                <a:cs typeface="Calibri"/>
                <a:sym typeface="Calibri"/>
              </a:rPr>
              <a:t>DAY 3</a:t>
            </a:r>
            <a:endParaRPr b="0" i="0" sz="1500" u="none" cap="none" strike="noStrike">
              <a:solidFill>
                <a:schemeClr val="dk1"/>
              </a:solidFill>
              <a:latin typeface="Calibri"/>
              <a:ea typeface="Calibri"/>
              <a:cs typeface="Calibri"/>
              <a:sym typeface="Calibri"/>
            </a:endParaRPr>
          </a:p>
        </p:txBody>
      </p:sp>
      <p:sp>
        <p:nvSpPr>
          <p:cNvPr id="175" name="Google Shape;175;p5"/>
          <p:cNvSpPr/>
          <p:nvPr/>
        </p:nvSpPr>
        <p:spPr>
          <a:xfrm>
            <a:off x="6377940" y="2066544"/>
            <a:ext cx="2297430" cy="56692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D2A5C"/>
              </a:buClr>
              <a:buSzPts val="1300"/>
              <a:buFont typeface="Calibri"/>
              <a:buNone/>
            </a:pPr>
            <a:r>
              <a:rPr b="1" i="0" lang="en-US" sz="1300" u="none" cap="none" strike="noStrike">
                <a:solidFill>
                  <a:srgbClr val="1D2A5C"/>
                </a:solidFill>
                <a:latin typeface="Calibri"/>
                <a:ea typeface="Calibri"/>
                <a:cs typeface="Calibri"/>
                <a:sym typeface="Calibri"/>
              </a:rPr>
              <a:t>Data is the system</a:t>
            </a:r>
            <a:endParaRPr b="0" i="0" sz="1300" u="none" cap="none" strike="noStrike">
              <a:solidFill>
                <a:schemeClr val="dk1"/>
              </a:solidFill>
              <a:latin typeface="Calibri"/>
              <a:ea typeface="Calibri"/>
              <a:cs typeface="Calibri"/>
              <a:sym typeface="Calibri"/>
            </a:endParaRPr>
          </a:p>
        </p:txBody>
      </p:sp>
      <p:sp>
        <p:nvSpPr>
          <p:cNvPr id="176" name="Google Shape;176;p5"/>
          <p:cNvSpPr/>
          <p:nvPr/>
        </p:nvSpPr>
        <p:spPr>
          <a:xfrm>
            <a:off x="6414516" y="2688336"/>
            <a:ext cx="2242566" cy="2331720"/>
          </a:xfrm>
          <a:prstGeom prst="rect">
            <a:avLst/>
          </a:prstGeom>
          <a:noFill/>
          <a:ln>
            <a:noFill/>
          </a:ln>
        </p:spPr>
        <p:txBody>
          <a:bodyPr anchorCtr="0" anchor="t" bIns="0" lIns="0" spcFirstLastPara="1" rIns="0" wrap="square" tIns="0">
            <a:noAutofit/>
          </a:bodyPr>
          <a:lstStyle/>
          <a:p>
            <a:pPr indent="-127000" lvl="0" marL="127000" marR="0" rtl="0" algn="l">
              <a:spcBef>
                <a:spcPts val="0"/>
              </a:spcBef>
              <a:spcAft>
                <a:spcPts val="0"/>
              </a:spcAft>
              <a:buClr>
                <a:srgbClr val="23293B"/>
              </a:buClr>
              <a:buSzPts val="1050"/>
              <a:buFont typeface="Calibri"/>
              <a:buChar char="▪"/>
            </a:pPr>
            <a:r>
              <a:rPr b="0" i="0" lang="en-US" sz="1050" u="none" cap="none" strike="noStrike">
                <a:solidFill>
                  <a:srgbClr val="23293B"/>
                </a:solidFill>
                <a:latin typeface="Calibri"/>
                <a:ea typeface="Calibri"/>
                <a:cs typeface="Calibri"/>
                <a:sym typeface="Calibri"/>
              </a:rPr>
              <a:t>M5 Dataset curation &amp; annotation workflows</a:t>
            </a:r>
            <a:endParaRPr b="0" i="0" sz="1050" u="none" cap="none" strike="noStrike">
              <a:solidFill>
                <a:schemeClr val="dk1"/>
              </a:solidFill>
              <a:latin typeface="Calibri"/>
              <a:ea typeface="Calibri"/>
              <a:cs typeface="Calibri"/>
              <a:sym typeface="Calibri"/>
            </a:endParaRPr>
          </a:p>
          <a:p>
            <a:pPr indent="-127000" lvl="0" marL="127000" marR="0" rtl="0" algn="l">
              <a:spcBef>
                <a:spcPts val="600"/>
              </a:spcBef>
              <a:spcAft>
                <a:spcPts val="0"/>
              </a:spcAft>
              <a:buClr>
                <a:srgbClr val="23293B"/>
              </a:buClr>
              <a:buSzPts val="1050"/>
              <a:buFont typeface="Calibri"/>
              <a:buChar char="▪"/>
            </a:pPr>
            <a:r>
              <a:rPr b="0" i="0" lang="en-US" sz="1050" u="none" cap="none" strike="noStrike">
                <a:solidFill>
                  <a:srgbClr val="23293B"/>
                </a:solidFill>
                <a:latin typeface="Calibri"/>
                <a:ea typeface="Calibri"/>
                <a:cs typeface="Calibri"/>
                <a:sym typeface="Calibri"/>
              </a:rPr>
              <a:t>M6 Model evaluation for vision tasks</a:t>
            </a:r>
            <a:endParaRPr b="0" i="0" sz="1050" u="none" cap="none" strike="noStrike">
              <a:solidFill>
                <a:schemeClr val="dk1"/>
              </a:solidFill>
              <a:latin typeface="Calibri"/>
              <a:ea typeface="Calibri"/>
              <a:cs typeface="Calibri"/>
              <a:sym typeface="Calibri"/>
            </a:endParaRPr>
          </a:p>
        </p:txBody>
      </p:sp>
      <p:cxnSp>
        <p:nvCxnSpPr>
          <p:cNvPr id="177" name="Google Shape;177;p5"/>
          <p:cNvCxnSpPr/>
          <p:nvPr/>
        </p:nvCxnSpPr>
        <p:spPr>
          <a:xfrm>
            <a:off x="6396228" y="5056632"/>
            <a:ext cx="2260854" cy="0"/>
          </a:xfrm>
          <a:prstGeom prst="straightConnector1">
            <a:avLst/>
          </a:prstGeom>
          <a:noFill/>
          <a:ln cap="flat" cmpd="sng" w="9525">
            <a:solidFill>
              <a:srgbClr val="D9E2EA"/>
            </a:solidFill>
            <a:prstDash val="solid"/>
            <a:round/>
            <a:headEnd len="sm" w="sm" type="none"/>
            <a:tailEnd len="sm" w="sm" type="none"/>
          </a:ln>
        </p:spPr>
      </p:cxnSp>
      <p:sp>
        <p:nvSpPr>
          <p:cNvPr id="178" name="Google Shape;178;p5"/>
          <p:cNvSpPr/>
          <p:nvPr/>
        </p:nvSpPr>
        <p:spPr>
          <a:xfrm>
            <a:off x="6396228" y="5148072"/>
            <a:ext cx="2260854" cy="20116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A79D"/>
              </a:buClr>
              <a:buSzPts val="850"/>
              <a:buFont typeface="Calibri"/>
              <a:buNone/>
            </a:pPr>
            <a:r>
              <a:rPr b="1" i="0" lang="en-US" sz="850" u="none" cap="none" strike="noStrike">
                <a:solidFill>
                  <a:srgbClr val="00A79D"/>
                </a:solidFill>
                <a:latin typeface="Calibri"/>
                <a:ea typeface="Calibri"/>
                <a:cs typeface="Calibri"/>
                <a:sym typeface="Calibri"/>
              </a:rPr>
              <a:t>DELIVERABLE</a:t>
            </a:r>
            <a:endParaRPr b="0" i="0" sz="850" u="none" cap="none" strike="noStrike">
              <a:solidFill>
                <a:schemeClr val="dk1"/>
              </a:solidFill>
              <a:latin typeface="Calibri"/>
              <a:ea typeface="Calibri"/>
              <a:cs typeface="Calibri"/>
              <a:sym typeface="Calibri"/>
            </a:endParaRPr>
          </a:p>
        </p:txBody>
      </p:sp>
      <p:sp>
        <p:nvSpPr>
          <p:cNvPr id="179" name="Google Shape;179;p5"/>
          <p:cNvSpPr/>
          <p:nvPr/>
        </p:nvSpPr>
        <p:spPr>
          <a:xfrm>
            <a:off x="6396228" y="5367528"/>
            <a:ext cx="2260854" cy="896112"/>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5F6B7A"/>
              </a:buClr>
              <a:buSzPts val="1000"/>
              <a:buFont typeface="Calibri"/>
              <a:buNone/>
            </a:pPr>
            <a:r>
              <a:rPr b="0" i="1" lang="en-US" sz="1000" u="none" cap="none" strike="noStrike">
                <a:solidFill>
                  <a:srgbClr val="5F6B7A"/>
                </a:solidFill>
                <a:latin typeface="Calibri"/>
                <a:ea typeface="Calibri"/>
                <a:cs typeface="Calibri"/>
                <a:sym typeface="Calibri"/>
              </a:rPr>
              <a:t>Curated dataset v2 + evaluation harness + written error-analysis report</a:t>
            </a:r>
            <a:endParaRPr b="0" i="0" sz="1000" u="none" cap="none" strike="noStrike">
              <a:solidFill>
                <a:schemeClr val="dk1"/>
              </a:solidFill>
              <a:latin typeface="Calibri"/>
              <a:ea typeface="Calibri"/>
              <a:cs typeface="Calibri"/>
              <a:sym typeface="Calibri"/>
            </a:endParaRPr>
          </a:p>
        </p:txBody>
      </p:sp>
      <p:sp>
        <p:nvSpPr>
          <p:cNvPr id="180" name="Google Shape;180;p5"/>
          <p:cNvSpPr/>
          <p:nvPr/>
        </p:nvSpPr>
        <p:spPr>
          <a:xfrm>
            <a:off x="9095994" y="1389888"/>
            <a:ext cx="2590038" cy="4965192"/>
          </a:xfrm>
          <a:prstGeom prst="roundRect">
            <a:avLst>
              <a:gd fmla="val 3177" name="adj"/>
            </a:avLst>
          </a:prstGeom>
          <a:solidFill>
            <a:srgbClr val="F2F6F9"/>
          </a:solidFill>
          <a:ln cap="flat" cmpd="sng" w="12700">
            <a:solidFill>
              <a:srgbClr val="D9E2E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 name="Google Shape;181;p5"/>
          <p:cNvSpPr/>
          <p:nvPr/>
        </p:nvSpPr>
        <p:spPr>
          <a:xfrm>
            <a:off x="9224010" y="1517904"/>
            <a:ext cx="2334006" cy="457200"/>
          </a:xfrm>
          <a:prstGeom prst="roundRect">
            <a:avLst>
              <a:gd fmla="val 14000" name="adj"/>
            </a:avLst>
          </a:prstGeom>
          <a:solidFill>
            <a:srgbClr val="8DC63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 name="Google Shape;182;p5"/>
          <p:cNvSpPr/>
          <p:nvPr/>
        </p:nvSpPr>
        <p:spPr>
          <a:xfrm>
            <a:off x="9224010" y="1517904"/>
            <a:ext cx="2334006"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500"/>
              <a:buFont typeface="Calibri"/>
              <a:buNone/>
            </a:pPr>
            <a:r>
              <a:rPr b="1" i="0" lang="en-US" sz="1500" u="none" cap="none" strike="noStrike">
                <a:solidFill>
                  <a:srgbClr val="FFFFFF"/>
                </a:solidFill>
                <a:latin typeface="Calibri"/>
                <a:ea typeface="Calibri"/>
                <a:cs typeface="Calibri"/>
                <a:sym typeface="Calibri"/>
              </a:rPr>
              <a:t>DAY 4</a:t>
            </a:r>
            <a:endParaRPr b="0" i="0" sz="1500" u="none" cap="none" strike="noStrike">
              <a:solidFill>
                <a:schemeClr val="dk1"/>
              </a:solidFill>
              <a:latin typeface="Calibri"/>
              <a:ea typeface="Calibri"/>
              <a:cs typeface="Calibri"/>
              <a:sym typeface="Calibri"/>
            </a:endParaRPr>
          </a:p>
        </p:txBody>
      </p:sp>
      <p:sp>
        <p:nvSpPr>
          <p:cNvPr id="183" name="Google Shape;183;p5"/>
          <p:cNvSpPr/>
          <p:nvPr/>
        </p:nvSpPr>
        <p:spPr>
          <a:xfrm>
            <a:off x="9242298" y="2066544"/>
            <a:ext cx="2297430" cy="56692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D2A5C"/>
              </a:buClr>
              <a:buSzPts val="1300"/>
              <a:buFont typeface="Calibri"/>
              <a:buNone/>
            </a:pPr>
            <a:r>
              <a:rPr b="1" i="0" lang="en-US" sz="1300" u="none" cap="none" strike="noStrike">
                <a:solidFill>
                  <a:srgbClr val="1D2A5C"/>
                </a:solidFill>
                <a:latin typeface="Calibri"/>
                <a:ea typeface="Calibri"/>
                <a:cs typeface="Calibri"/>
                <a:sym typeface="Calibri"/>
              </a:rPr>
              <a:t>Ship it to the line</a:t>
            </a:r>
            <a:endParaRPr b="0" i="0" sz="1300" u="none" cap="none" strike="noStrike">
              <a:solidFill>
                <a:schemeClr val="dk1"/>
              </a:solidFill>
              <a:latin typeface="Calibri"/>
              <a:ea typeface="Calibri"/>
              <a:cs typeface="Calibri"/>
              <a:sym typeface="Calibri"/>
            </a:endParaRPr>
          </a:p>
        </p:txBody>
      </p:sp>
      <p:sp>
        <p:nvSpPr>
          <p:cNvPr id="184" name="Google Shape;184;p5"/>
          <p:cNvSpPr/>
          <p:nvPr/>
        </p:nvSpPr>
        <p:spPr>
          <a:xfrm>
            <a:off x="9278874" y="2688336"/>
            <a:ext cx="2242566" cy="2331720"/>
          </a:xfrm>
          <a:prstGeom prst="rect">
            <a:avLst/>
          </a:prstGeom>
          <a:noFill/>
          <a:ln>
            <a:noFill/>
          </a:ln>
        </p:spPr>
        <p:txBody>
          <a:bodyPr anchorCtr="0" anchor="t" bIns="0" lIns="0" spcFirstLastPara="1" rIns="0" wrap="square" tIns="0">
            <a:noAutofit/>
          </a:bodyPr>
          <a:lstStyle/>
          <a:p>
            <a:pPr indent="-127000" lvl="0" marL="127000" marR="0" rtl="0" algn="l">
              <a:spcBef>
                <a:spcPts val="0"/>
              </a:spcBef>
              <a:spcAft>
                <a:spcPts val="0"/>
              </a:spcAft>
              <a:buClr>
                <a:srgbClr val="23293B"/>
              </a:buClr>
              <a:buSzPts val="1050"/>
              <a:buFont typeface="Calibri"/>
              <a:buChar char="▪"/>
            </a:pPr>
            <a:r>
              <a:rPr b="0" i="0" lang="en-US" sz="1050" u="none" cap="none" strike="noStrike">
                <a:solidFill>
                  <a:srgbClr val="23293B"/>
                </a:solidFill>
                <a:latin typeface="Calibri"/>
                <a:ea typeface="Calibri"/>
                <a:cs typeface="Calibri"/>
                <a:sym typeface="Calibri"/>
              </a:rPr>
              <a:t>M7 Deployment &amp; edge optimisation</a:t>
            </a:r>
            <a:endParaRPr b="0" i="0" sz="1050" u="none" cap="none" strike="noStrike">
              <a:solidFill>
                <a:schemeClr val="dk1"/>
              </a:solidFill>
              <a:latin typeface="Calibri"/>
              <a:ea typeface="Calibri"/>
              <a:cs typeface="Calibri"/>
              <a:sym typeface="Calibri"/>
            </a:endParaRPr>
          </a:p>
          <a:p>
            <a:pPr indent="-127000" lvl="0" marL="127000" marR="0" rtl="0" algn="l">
              <a:spcBef>
                <a:spcPts val="600"/>
              </a:spcBef>
              <a:spcAft>
                <a:spcPts val="0"/>
              </a:spcAft>
              <a:buClr>
                <a:srgbClr val="23293B"/>
              </a:buClr>
              <a:buSzPts val="1050"/>
              <a:buFont typeface="Calibri"/>
              <a:buChar char="▪"/>
            </a:pPr>
            <a:r>
              <a:rPr b="0" i="0" lang="en-US" sz="1050" u="none" cap="none" strike="noStrike">
                <a:solidFill>
                  <a:srgbClr val="23293B"/>
                </a:solidFill>
                <a:latin typeface="Calibri"/>
                <a:ea typeface="Calibri"/>
                <a:cs typeface="Calibri"/>
                <a:sym typeface="Calibri"/>
              </a:rPr>
              <a:t>Final capstone</a:t>
            </a:r>
            <a:endParaRPr b="0" i="0" sz="1050" u="none" cap="none" strike="noStrike">
              <a:solidFill>
                <a:schemeClr val="dk1"/>
              </a:solidFill>
              <a:latin typeface="Calibri"/>
              <a:ea typeface="Calibri"/>
              <a:cs typeface="Calibri"/>
              <a:sym typeface="Calibri"/>
            </a:endParaRPr>
          </a:p>
        </p:txBody>
      </p:sp>
      <p:cxnSp>
        <p:nvCxnSpPr>
          <p:cNvPr id="185" name="Google Shape;185;p5"/>
          <p:cNvCxnSpPr/>
          <p:nvPr/>
        </p:nvCxnSpPr>
        <p:spPr>
          <a:xfrm>
            <a:off x="9260586" y="5056632"/>
            <a:ext cx="2260854" cy="0"/>
          </a:xfrm>
          <a:prstGeom prst="straightConnector1">
            <a:avLst/>
          </a:prstGeom>
          <a:noFill/>
          <a:ln cap="flat" cmpd="sng" w="9525">
            <a:solidFill>
              <a:srgbClr val="D9E2EA"/>
            </a:solidFill>
            <a:prstDash val="solid"/>
            <a:round/>
            <a:headEnd len="sm" w="sm" type="none"/>
            <a:tailEnd len="sm" w="sm" type="none"/>
          </a:ln>
        </p:spPr>
      </p:cxnSp>
      <p:sp>
        <p:nvSpPr>
          <p:cNvPr id="186" name="Google Shape;186;p5"/>
          <p:cNvSpPr/>
          <p:nvPr/>
        </p:nvSpPr>
        <p:spPr>
          <a:xfrm>
            <a:off x="9260586" y="5148072"/>
            <a:ext cx="2260854" cy="20116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A79D"/>
              </a:buClr>
              <a:buSzPts val="850"/>
              <a:buFont typeface="Calibri"/>
              <a:buNone/>
            </a:pPr>
            <a:r>
              <a:rPr b="1" i="0" lang="en-US" sz="850" u="none" cap="none" strike="noStrike">
                <a:solidFill>
                  <a:srgbClr val="00A79D"/>
                </a:solidFill>
                <a:latin typeface="Calibri"/>
                <a:ea typeface="Calibri"/>
                <a:cs typeface="Calibri"/>
                <a:sym typeface="Calibri"/>
              </a:rPr>
              <a:t>DELIVERABLE</a:t>
            </a:r>
            <a:endParaRPr b="0" i="0" sz="850" u="none" cap="none" strike="noStrike">
              <a:solidFill>
                <a:schemeClr val="dk1"/>
              </a:solidFill>
              <a:latin typeface="Calibri"/>
              <a:ea typeface="Calibri"/>
              <a:cs typeface="Calibri"/>
              <a:sym typeface="Calibri"/>
            </a:endParaRPr>
          </a:p>
        </p:txBody>
      </p:sp>
      <p:sp>
        <p:nvSpPr>
          <p:cNvPr id="187" name="Google Shape;187;p5"/>
          <p:cNvSpPr/>
          <p:nvPr/>
        </p:nvSpPr>
        <p:spPr>
          <a:xfrm>
            <a:off x="9260586" y="5367528"/>
            <a:ext cx="2260854" cy="896112"/>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5F6B7A"/>
              </a:buClr>
              <a:buSzPts val="1000"/>
              <a:buFont typeface="Calibri"/>
              <a:buNone/>
            </a:pPr>
            <a:r>
              <a:rPr b="0" i="1" lang="en-US" sz="1000" u="none" cap="none" strike="noStrike">
                <a:solidFill>
                  <a:srgbClr val="5F6B7A"/>
                </a:solidFill>
                <a:latin typeface="Calibri"/>
                <a:ea typeface="Calibri"/>
                <a:cs typeface="Calibri"/>
                <a:sym typeface="Calibri"/>
              </a:rPr>
              <a:t>ONNX-exported, benchmarked edge models + capstone demo of the full inspection system</a:t>
            </a:r>
            <a:endParaRPr b="0" i="0" sz="1000" u="none" cap="none" strike="noStrike">
              <a:solidFill>
                <a:schemeClr val="dk1"/>
              </a:solidFill>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92" name="Shape 192"/>
        <p:cNvGrpSpPr/>
        <p:nvPr/>
      </p:nvGrpSpPr>
      <p:grpSpPr>
        <a:xfrm>
          <a:off x="0" y="0"/>
          <a:ext cx="0" cy="0"/>
          <a:chOff x="0" y="0"/>
          <a:chExt cx="0" cy="0"/>
        </a:xfrm>
      </p:grpSpPr>
      <p:sp>
        <p:nvSpPr>
          <p:cNvPr id="193" name="Google Shape;193;p6"/>
          <p:cNvSpPr/>
          <p:nvPr/>
        </p:nvSpPr>
        <p:spPr>
          <a:xfrm>
            <a:off x="502920" y="274320"/>
            <a:ext cx="9646920" cy="56692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D2A5C"/>
              </a:buClr>
              <a:buSzPts val="2700"/>
              <a:buFont typeface="Calibri"/>
              <a:buNone/>
            </a:pPr>
            <a:r>
              <a:rPr b="1" i="0" lang="en-US" sz="2700" u="none" cap="none" strike="noStrike">
                <a:solidFill>
                  <a:srgbClr val="1D2A5C"/>
                </a:solidFill>
                <a:latin typeface="Calibri"/>
                <a:ea typeface="Calibri"/>
                <a:cs typeface="Calibri"/>
                <a:sym typeface="Calibri"/>
              </a:rPr>
              <a:t>How you are assessed</a:t>
            </a:r>
            <a:endParaRPr b="0" i="0" sz="2700" u="none" cap="none" strike="noStrike">
              <a:solidFill>
                <a:schemeClr val="dk1"/>
              </a:solidFill>
              <a:latin typeface="Calibri"/>
              <a:ea typeface="Calibri"/>
              <a:cs typeface="Calibri"/>
              <a:sym typeface="Calibri"/>
            </a:endParaRPr>
          </a:p>
        </p:txBody>
      </p:sp>
      <p:sp>
        <p:nvSpPr>
          <p:cNvPr id="194" name="Google Shape;194;p6"/>
          <p:cNvSpPr/>
          <p:nvPr/>
        </p:nvSpPr>
        <p:spPr>
          <a:xfrm>
            <a:off x="502920" y="859536"/>
            <a:ext cx="9646920" cy="31089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F6B7A"/>
              </a:buClr>
              <a:buSzPts val="1250"/>
              <a:buFont typeface="Arial"/>
              <a:buNone/>
            </a:pPr>
            <a:r>
              <a:rPr b="0" i="0" lang="en-US" sz="1250" u="none" cap="none" strike="noStrike">
                <a:solidFill>
                  <a:srgbClr val="5F6B7A"/>
                </a:solidFill>
                <a:latin typeface="Arial"/>
                <a:ea typeface="Arial"/>
                <a:cs typeface="Arial"/>
                <a:sym typeface="Arial"/>
              </a:rPr>
              <a:t>كيف يتم التقييم</a:t>
            </a:r>
            <a:endParaRPr b="0" i="0" sz="1250" u="none" cap="none" strike="noStrike">
              <a:solidFill>
                <a:schemeClr val="dk1"/>
              </a:solidFill>
              <a:latin typeface="Calibri"/>
              <a:ea typeface="Calibri"/>
              <a:cs typeface="Calibri"/>
              <a:sym typeface="Calibri"/>
            </a:endParaRPr>
          </a:p>
        </p:txBody>
      </p:sp>
      <p:pic>
        <p:nvPicPr>
          <p:cNvPr descr="/sessions/blissful-determined-ritchie/build/assets/sdaia_logo.png" id="195" name="Google Shape;195;p6"/>
          <p:cNvPicPr preferRelativeResize="0"/>
          <p:nvPr/>
        </p:nvPicPr>
        <p:blipFill rotWithShape="1">
          <a:blip r:embed="rId3">
            <a:alphaModFix/>
          </a:blip>
          <a:srcRect b="0" l="0" r="0" t="0"/>
          <a:stretch/>
        </p:blipFill>
        <p:spPr>
          <a:xfrm>
            <a:off x="10625328" y="310896"/>
            <a:ext cx="1078992" cy="264111"/>
          </a:xfrm>
          <a:prstGeom prst="rect">
            <a:avLst/>
          </a:prstGeom>
          <a:noFill/>
          <a:ln>
            <a:noFill/>
          </a:ln>
        </p:spPr>
      </p:pic>
      <p:sp>
        <p:nvSpPr>
          <p:cNvPr id="196" name="Google Shape;196;p6"/>
          <p:cNvSpPr/>
          <p:nvPr/>
        </p:nvSpPr>
        <p:spPr>
          <a:xfrm>
            <a:off x="502920" y="6528816"/>
            <a:ext cx="8686800"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A79D"/>
              </a:buClr>
              <a:buSzPts val="800"/>
              <a:buFont typeface="Calibri"/>
              <a:buNone/>
            </a:pPr>
            <a:r>
              <a:rPr b="1" i="0" lang="en-US" sz="800" u="none" cap="none" strike="noStrike">
                <a:solidFill>
                  <a:srgbClr val="00A79D"/>
                </a:solidFill>
                <a:latin typeface="Calibri"/>
                <a:ea typeface="Calibri"/>
                <a:cs typeface="Calibri"/>
                <a:sym typeface="Calibri"/>
              </a:rPr>
              <a:t>OVERVIEW   </a:t>
            </a:r>
            <a:r>
              <a:rPr b="0" i="0" lang="en-US" sz="800" u="none" cap="none" strike="noStrike">
                <a:solidFill>
                  <a:srgbClr val="8A96A6"/>
                </a:solidFill>
                <a:latin typeface="Calibri"/>
                <a:ea typeface="Calibri"/>
                <a:cs typeface="Calibri"/>
                <a:sym typeface="Calibri"/>
              </a:rPr>
              <a:t>SDA-AIE-212 · Computer Vision Systems Development</a:t>
            </a:r>
            <a:endParaRPr b="0" i="0" sz="800" u="none" cap="none" strike="noStrike">
              <a:solidFill>
                <a:schemeClr val="dk1"/>
              </a:solidFill>
              <a:latin typeface="Calibri"/>
              <a:ea typeface="Calibri"/>
              <a:cs typeface="Calibri"/>
              <a:sym typeface="Calibri"/>
            </a:endParaRPr>
          </a:p>
        </p:txBody>
      </p:sp>
      <p:sp>
        <p:nvSpPr>
          <p:cNvPr id="197" name="Google Shape;197;p6"/>
          <p:cNvSpPr/>
          <p:nvPr/>
        </p:nvSpPr>
        <p:spPr>
          <a:xfrm>
            <a:off x="11292840" y="6528816"/>
            <a:ext cx="411480" cy="219456"/>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8A96A6"/>
              </a:buClr>
              <a:buSzPts val="900"/>
              <a:buFont typeface="Calibri"/>
              <a:buNone/>
            </a:pPr>
            <a:r>
              <a:rPr b="0" i="0" lang="en-US" sz="900" u="none" cap="none" strike="noStrike">
                <a:solidFill>
                  <a:srgbClr val="8A96A6"/>
                </a:solidFill>
                <a:latin typeface="Calibri"/>
                <a:ea typeface="Calibri"/>
                <a:cs typeface="Calibri"/>
                <a:sym typeface="Calibri"/>
              </a:rPr>
              <a:t>6</a:t>
            </a:r>
            <a:endParaRPr b="0" i="0" sz="900" u="none" cap="none" strike="noStrike">
              <a:solidFill>
                <a:schemeClr val="dk1"/>
              </a:solidFill>
              <a:latin typeface="Calibri"/>
              <a:ea typeface="Calibri"/>
              <a:cs typeface="Calibri"/>
              <a:sym typeface="Calibri"/>
            </a:endParaRPr>
          </a:p>
        </p:txBody>
      </p:sp>
      <p:sp>
        <p:nvSpPr>
          <p:cNvPr id="198" name="Google Shape;198;p6"/>
          <p:cNvSpPr/>
          <p:nvPr/>
        </p:nvSpPr>
        <p:spPr>
          <a:xfrm>
            <a:off x="502920" y="2775204"/>
            <a:ext cx="3515258" cy="2194560"/>
          </a:xfrm>
          <a:prstGeom prst="roundRect">
            <a:avLst>
              <a:gd fmla="val 3750" name="adj"/>
            </a:avLst>
          </a:prstGeom>
          <a:solidFill>
            <a:srgbClr val="E9F6F5"/>
          </a:solidFill>
          <a:ln cap="flat" cmpd="sng" w="12700">
            <a:solidFill>
              <a:srgbClr val="D9E2E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9" name="Google Shape;199;p6"/>
          <p:cNvSpPr/>
          <p:nvPr/>
        </p:nvSpPr>
        <p:spPr>
          <a:xfrm>
            <a:off x="594360" y="2884932"/>
            <a:ext cx="3332378" cy="96560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0A79D"/>
              </a:buClr>
              <a:buSzPts val="3800"/>
              <a:buFont typeface="Calibri"/>
              <a:buNone/>
            </a:pPr>
            <a:r>
              <a:rPr b="1" i="0" lang="en-US" sz="3800" u="none" cap="none" strike="noStrike">
                <a:solidFill>
                  <a:srgbClr val="00A79D"/>
                </a:solidFill>
                <a:latin typeface="Calibri"/>
                <a:ea typeface="Calibri"/>
                <a:cs typeface="Calibri"/>
                <a:sym typeface="Calibri"/>
              </a:rPr>
              <a:t>60%</a:t>
            </a:r>
            <a:endParaRPr b="0" i="0" sz="3800" u="none" cap="none" strike="noStrike">
              <a:solidFill>
                <a:schemeClr val="dk1"/>
              </a:solidFill>
              <a:latin typeface="Calibri"/>
              <a:ea typeface="Calibri"/>
              <a:cs typeface="Calibri"/>
              <a:sym typeface="Calibri"/>
            </a:endParaRPr>
          </a:p>
        </p:txBody>
      </p:sp>
      <p:sp>
        <p:nvSpPr>
          <p:cNvPr id="200" name="Google Shape;200;p6"/>
          <p:cNvSpPr/>
          <p:nvPr/>
        </p:nvSpPr>
        <p:spPr>
          <a:xfrm>
            <a:off x="640080" y="3916375"/>
            <a:ext cx="3240938" cy="32004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D2A5C"/>
              </a:buClr>
              <a:buSzPts val="1250"/>
              <a:buFont typeface="Calibri"/>
              <a:buNone/>
            </a:pPr>
            <a:r>
              <a:rPr b="1" i="0" lang="en-US" sz="1250" u="none" cap="none" strike="noStrike">
                <a:solidFill>
                  <a:srgbClr val="1D2A5C"/>
                </a:solidFill>
                <a:latin typeface="Calibri"/>
                <a:ea typeface="Calibri"/>
                <a:cs typeface="Calibri"/>
                <a:sym typeface="Calibri"/>
              </a:rPr>
              <a:t>Labs</a:t>
            </a:r>
            <a:endParaRPr b="0" i="0" sz="1250" u="none" cap="none" strike="noStrike">
              <a:solidFill>
                <a:schemeClr val="dk1"/>
              </a:solidFill>
              <a:latin typeface="Calibri"/>
              <a:ea typeface="Calibri"/>
              <a:cs typeface="Calibri"/>
              <a:sym typeface="Calibri"/>
            </a:endParaRPr>
          </a:p>
        </p:txBody>
      </p:sp>
      <p:sp>
        <p:nvSpPr>
          <p:cNvPr id="201" name="Google Shape;201;p6"/>
          <p:cNvSpPr/>
          <p:nvPr/>
        </p:nvSpPr>
        <p:spPr>
          <a:xfrm>
            <a:off x="640080" y="4263847"/>
            <a:ext cx="3240938" cy="658368"/>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rgbClr val="5F6B7A"/>
              </a:buClr>
              <a:buSzPts val="1000"/>
              <a:buFont typeface="Calibri"/>
              <a:buNone/>
            </a:pPr>
            <a:r>
              <a:rPr b="0" i="0" lang="en-US" sz="1000" u="none" cap="none" strike="noStrike">
                <a:solidFill>
                  <a:srgbClr val="5F6B7A"/>
                </a:solidFill>
                <a:latin typeface="Calibri"/>
                <a:ea typeface="Calibri"/>
                <a:cs typeface="Calibri"/>
                <a:sym typeface="Calibri"/>
              </a:rPr>
              <a:t>7 cumulative labs — each builds a capstone component</a:t>
            </a:r>
            <a:endParaRPr b="0" i="0" sz="1000" u="none" cap="none" strike="noStrike">
              <a:solidFill>
                <a:schemeClr val="dk1"/>
              </a:solidFill>
              <a:latin typeface="Calibri"/>
              <a:ea typeface="Calibri"/>
              <a:cs typeface="Calibri"/>
              <a:sym typeface="Calibri"/>
            </a:endParaRPr>
          </a:p>
        </p:txBody>
      </p:sp>
      <p:sp>
        <p:nvSpPr>
          <p:cNvPr id="202" name="Google Shape;202;p6"/>
          <p:cNvSpPr/>
          <p:nvPr/>
        </p:nvSpPr>
        <p:spPr>
          <a:xfrm>
            <a:off x="4338218" y="2775204"/>
            <a:ext cx="3515258" cy="2194560"/>
          </a:xfrm>
          <a:prstGeom prst="roundRect">
            <a:avLst>
              <a:gd fmla="val 3750" name="adj"/>
            </a:avLst>
          </a:prstGeom>
          <a:solidFill>
            <a:srgbClr val="F2F6F9"/>
          </a:solidFill>
          <a:ln cap="flat" cmpd="sng" w="12700">
            <a:solidFill>
              <a:srgbClr val="D9E2E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3" name="Google Shape;203;p6"/>
          <p:cNvSpPr/>
          <p:nvPr/>
        </p:nvSpPr>
        <p:spPr>
          <a:xfrm>
            <a:off x="4429658" y="2884932"/>
            <a:ext cx="3332378" cy="96560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9ABE2"/>
              </a:buClr>
              <a:buSzPts val="3800"/>
              <a:buFont typeface="Calibri"/>
              <a:buNone/>
            </a:pPr>
            <a:r>
              <a:rPr b="1" i="0" lang="en-US" sz="3800" u="none" cap="none" strike="noStrike">
                <a:solidFill>
                  <a:srgbClr val="29ABE2"/>
                </a:solidFill>
                <a:latin typeface="Calibri"/>
                <a:ea typeface="Calibri"/>
                <a:cs typeface="Calibri"/>
                <a:sym typeface="Calibri"/>
              </a:rPr>
              <a:t>40%</a:t>
            </a:r>
            <a:endParaRPr b="0" i="0" sz="3800" u="none" cap="none" strike="noStrike">
              <a:solidFill>
                <a:schemeClr val="dk1"/>
              </a:solidFill>
              <a:latin typeface="Calibri"/>
              <a:ea typeface="Calibri"/>
              <a:cs typeface="Calibri"/>
              <a:sym typeface="Calibri"/>
            </a:endParaRPr>
          </a:p>
        </p:txBody>
      </p:sp>
      <p:sp>
        <p:nvSpPr>
          <p:cNvPr id="204" name="Google Shape;204;p6"/>
          <p:cNvSpPr/>
          <p:nvPr/>
        </p:nvSpPr>
        <p:spPr>
          <a:xfrm>
            <a:off x="4475378" y="3916375"/>
            <a:ext cx="3240938" cy="32004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D2A5C"/>
              </a:buClr>
              <a:buSzPts val="1250"/>
              <a:buFont typeface="Calibri"/>
              <a:buNone/>
            </a:pPr>
            <a:r>
              <a:rPr b="1" i="0" lang="en-US" sz="1250" u="none" cap="none" strike="noStrike">
                <a:solidFill>
                  <a:srgbClr val="1D2A5C"/>
                </a:solidFill>
                <a:latin typeface="Calibri"/>
                <a:ea typeface="Calibri"/>
                <a:cs typeface="Calibri"/>
                <a:sym typeface="Calibri"/>
              </a:rPr>
              <a:t>Vision-system project</a:t>
            </a:r>
            <a:endParaRPr b="0" i="0" sz="1250" u="none" cap="none" strike="noStrike">
              <a:solidFill>
                <a:schemeClr val="dk1"/>
              </a:solidFill>
              <a:latin typeface="Calibri"/>
              <a:ea typeface="Calibri"/>
              <a:cs typeface="Calibri"/>
              <a:sym typeface="Calibri"/>
            </a:endParaRPr>
          </a:p>
        </p:txBody>
      </p:sp>
      <p:sp>
        <p:nvSpPr>
          <p:cNvPr id="205" name="Google Shape;205;p6"/>
          <p:cNvSpPr/>
          <p:nvPr/>
        </p:nvSpPr>
        <p:spPr>
          <a:xfrm>
            <a:off x="4475378" y="4263847"/>
            <a:ext cx="3240938" cy="658368"/>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rgbClr val="5F6B7A"/>
              </a:buClr>
              <a:buSzPts val="1000"/>
              <a:buFont typeface="Calibri"/>
              <a:buNone/>
            </a:pPr>
            <a:r>
              <a:rPr b="0" i="0" lang="en-US" sz="1000" u="none" cap="none" strike="noStrike">
                <a:solidFill>
                  <a:srgbClr val="5F6B7A"/>
                </a:solidFill>
                <a:latin typeface="Calibri"/>
                <a:ea typeface="Calibri"/>
                <a:cs typeface="Calibri"/>
                <a:sym typeface="Calibri"/>
              </a:rPr>
              <a:t>Day 4 capstone: assembled inspection system + demo</a:t>
            </a:r>
            <a:endParaRPr b="0" i="0" sz="1000" u="none" cap="none" strike="noStrike">
              <a:solidFill>
                <a:schemeClr val="dk1"/>
              </a:solidFill>
              <a:latin typeface="Calibri"/>
              <a:ea typeface="Calibri"/>
              <a:cs typeface="Calibri"/>
              <a:sym typeface="Calibri"/>
            </a:endParaRPr>
          </a:p>
        </p:txBody>
      </p:sp>
      <p:sp>
        <p:nvSpPr>
          <p:cNvPr id="206" name="Google Shape;206;p6"/>
          <p:cNvSpPr/>
          <p:nvPr/>
        </p:nvSpPr>
        <p:spPr>
          <a:xfrm>
            <a:off x="8173517" y="2775204"/>
            <a:ext cx="3515258" cy="2194560"/>
          </a:xfrm>
          <a:prstGeom prst="roundRect">
            <a:avLst>
              <a:gd fmla="val 3750" name="adj"/>
            </a:avLst>
          </a:prstGeom>
          <a:solidFill>
            <a:srgbClr val="F2F6F9"/>
          </a:solidFill>
          <a:ln cap="flat" cmpd="sng" w="12700">
            <a:solidFill>
              <a:srgbClr val="D9E2E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7" name="Google Shape;207;p6"/>
          <p:cNvSpPr/>
          <p:nvPr/>
        </p:nvSpPr>
        <p:spPr>
          <a:xfrm>
            <a:off x="8264957" y="2884932"/>
            <a:ext cx="3332378" cy="96560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D2A5C"/>
              </a:buClr>
              <a:buSzPts val="3800"/>
              <a:buFont typeface="Calibri"/>
              <a:buNone/>
            </a:pPr>
            <a:r>
              <a:rPr b="1" i="0" lang="en-US" sz="3800" u="none" cap="none" strike="noStrike">
                <a:solidFill>
                  <a:srgbClr val="1D2A5C"/>
                </a:solidFill>
                <a:latin typeface="Calibri"/>
                <a:ea typeface="Calibri"/>
                <a:cs typeface="Calibri"/>
                <a:sym typeface="Calibri"/>
              </a:rPr>
              <a:t>20 h</a:t>
            </a:r>
            <a:endParaRPr b="0" i="0" sz="3800" u="none" cap="none" strike="noStrike">
              <a:solidFill>
                <a:schemeClr val="dk1"/>
              </a:solidFill>
              <a:latin typeface="Calibri"/>
              <a:ea typeface="Calibri"/>
              <a:cs typeface="Calibri"/>
              <a:sym typeface="Calibri"/>
            </a:endParaRPr>
          </a:p>
        </p:txBody>
      </p:sp>
      <p:sp>
        <p:nvSpPr>
          <p:cNvPr id="208" name="Google Shape;208;p6"/>
          <p:cNvSpPr/>
          <p:nvPr/>
        </p:nvSpPr>
        <p:spPr>
          <a:xfrm>
            <a:off x="8310677" y="3916375"/>
            <a:ext cx="3240938" cy="32004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D2A5C"/>
              </a:buClr>
              <a:buSzPts val="1250"/>
              <a:buFont typeface="Calibri"/>
              <a:buNone/>
            </a:pPr>
            <a:r>
              <a:rPr b="1" i="0" lang="en-US" sz="1250" u="none" cap="none" strike="noStrike">
                <a:solidFill>
                  <a:srgbClr val="1D2A5C"/>
                </a:solidFill>
                <a:latin typeface="Calibri"/>
                <a:ea typeface="Calibri"/>
                <a:cs typeface="Calibri"/>
                <a:sym typeface="Calibri"/>
              </a:rPr>
              <a:t>Contact hours</a:t>
            </a:r>
            <a:endParaRPr b="0" i="0" sz="1250" u="none" cap="none" strike="noStrike">
              <a:solidFill>
                <a:schemeClr val="dk1"/>
              </a:solidFill>
              <a:latin typeface="Calibri"/>
              <a:ea typeface="Calibri"/>
              <a:cs typeface="Calibri"/>
              <a:sym typeface="Calibri"/>
            </a:endParaRPr>
          </a:p>
        </p:txBody>
      </p:sp>
      <p:sp>
        <p:nvSpPr>
          <p:cNvPr id="209" name="Google Shape;209;p6"/>
          <p:cNvSpPr/>
          <p:nvPr/>
        </p:nvSpPr>
        <p:spPr>
          <a:xfrm>
            <a:off x="8310677" y="4263847"/>
            <a:ext cx="3240938" cy="658368"/>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rgbClr val="5F6B7A"/>
              </a:buClr>
              <a:buSzPts val="1000"/>
              <a:buFont typeface="Calibri"/>
              <a:buNone/>
            </a:pPr>
            <a:r>
              <a:rPr b="0" i="0" lang="en-US" sz="1000" u="none" cap="none" strike="noStrike">
                <a:solidFill>
                  <a:srgbClr val="5F6B7A"/>
                </a:solidFill>
                <a:latin typeface="Calibri"/>
                <a:ea typeface="Calibri"/>
                <a:cs typeface="Calibri"/>
                <a:sym typeface="Calibri"/>
              </a:rPr>
              <a:t>4 days × 5 hours · theory falls, lab share rises</a:t>
            </a:r>
            <a:endParaRPr b="0" i="0" sz="1000" u="none" cap="none" strike="noStrike">
              <a:solidFill>
                <a:schemeClr val="dk1"/>
              </a:solidFill>
              <a:latin typeface="Calibri"/>
              <a:ea typeface="Calibri"/>
              <a:cs typeface="Calibri"/>
              <a:sym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14" name="Shape 214"/>
        <p:cNvGrpSpPr/>
        <p:nvPr/>
      </p:nvGrpSpPr>
      <p:grpSpPr>
        <a:xfrm>
          <a:off x="0" y="0"/>
          <a:ext cx="0" cy="0"/>
          <a:chOff x="0" y="0"/>
          <a:chExt cx="0" cy="0"/>
        </a:xfrm>
      </p:grpSpPr>
      <p:sp>
        <p:nvSpPr>
          <p:cNvPr id="215" name="Google Shape;215;p7"/>
          <p:cNvSpPr/>
          <p:nvPr/>
        </p:nvSpPr>
        <p:spPr>
          <a:xfrm>
            <a:off x="502920" y="274320"/>
            <a:ext cx="9646920" cy="56692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D2A5C"/>
              </a:buClr>
              <a:buSzPts val="2700"/>
              <a:buFont typeface="Calibri"/>
              <a:buNone/>
            </a:pPr>
            <a:r>
              <a:rPr b="1" i="0" lang="en-US" sz="2700" u="none" cap="none" strike="noStrike">
                <a:solidFill>
                  <a:srgbClr val="1D2A5C"/>
                </a:solidFill>
                <a:latin typeface="Calibri"/>
                <a:ea typeface="Calibri"/>
                <a:cs typeface="Calibri"/>
                <a:sym typeface="Calibri"/>
              </a:rPr>
              <a:t>Environment strategy — verify before Day 1</a:t>
            </a:r>
            <a:endParaRPr b="0" i="0" sz="2700" u="none" cap="none" strike="noStrike">
              <a:solidFill>
                <a:schemeClr val="dk1"/>
              </a:solidFill>
              <a:latin typeface="Calibri"/>
              <a:ea typeface="Calibri"/>
              <a:cs typeface="Calibri"/>
              <a:sym typeface="Calibri"/>
            </a:endParaRPr>
          </a:p>
        </p:txBody>
      </p:sp>
      <p:sp>
        <p:nvSpPr>
          <p:cNvPr id="216" name="Google Shape;216;p7"/>
          <p:cNvSpPr/>
          <p:nvPr/>
        </p:nvSpPr>
        <p:spPr>
          <a:xfrm>
            <a:off x="502920" y="859536"/>
            <a:ext cx="9646920" cy="31089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F6B7A"/>
              </a:buClr>
              <a:buSzPts val="1250"/>
              <a:buFont typeface="Arial"/>
              <a:buNone/>
            </a:pPr>
            <a:r>
              <a:rPr b="0" i="0" lang="en-US" sz="1250" u="none" cap="none" strike="noStrike">
                <a:solidFill>
                  <a:srgbClr val="5F6B7A"/>
                </a:solidFill>
                <a:latin typeface="Arial"/>
                <a:ea typeface="Arial"/>
                <a:cs typeface="Arial"/>
                <a:sym typeface="Arial"/>
              </a:rPr>
              <a:t>استراتيجية بيئة التدريب</a:t>
            </a:r>
            <a:endParaRPr b="0" i="0" sz="1250" u="none" cap="none" strike="noStrike">
              <a:solidFill>
                <a:schemeClr val="dk1"/>
              </a:solidFill>
              <a:latin typeface="Calibri"/>
              <a:ea typeface="Calibri"/>
              <a:cs typeface="Calibri"/>
              <a:sym typeface="Calibri"/>
            </a:endParaRPr>
          </a:p>
        </p:txBody>
      </p:sp>
      <p:pic>
        <p:nvPicPr>
          <p:cNvPr descr="/sessions/blissful-determined-ritchie/build/assets/sdaia_logo.png" id="217" name="Google Shape;217;p7"/>
          <p:cNvPicPr preferRelativeResize="0"/>
          <p:nvPr/>
        </p:nvPicPr>
        <p:blipFill rotWithShape="1">
          <a:blip r:embed="rId3">
            <a:alphaModFix/>
          </a:blip>
          <a:srcRect b="0" l="0" r="0" t="0"/>
          <a:stretch/>
        </p:blipFill>
        <p:spPr>
          <a:xfrm>
            <a:off x="10625328" y="310896"/>
            <a:ext cx="1078992" cy="264111"/>
          </a:xfrm>
          <a:prstGeom prst="rect">
            <a:avLst/>
          </a:prstGeom>
          <a:noFill/>
          <a:ln>
            <a:noFill/>
          </a:ln>
        </p:spPr>
      </p:pic>
      <p:sp>
        <p:nvSpPr>
          <p:cNvPr id="218" name="Google Shape;218;p7"/>
          <p:cNvSpPr/>
          <p:nvPr/>
        </p:nvSpPr>
        <p:spPr>
          <a:xfrm>
            <a:off x="502920" y="6528816"/>
            <a:ext cx="8686800"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A79D"/>
              </a:buClr>
              <a:buSzPts val="800"/>
              <a:buFont typeface="Calibri"/>
              <a:buNone/>
            </a:pPr>
            <a:r>
              <a:rPr b="1" i="0" lang="en-US" sz="800" u="none" cap="none" strike="noStrike">
                <a:solidFill>
                  <a:srgbClr val="00A79D"/>
                </a:solidFill>
                <a:latin typeface="Calibri"/>
                <a:ea typeface="Calibri"/>
                <a:cs typeface="Calibri"/>
                <a:sym typeface="Calibri"/>
              </a:rPr>
              <a:t>OVERVIEW · INSTRUCTOR   </a:t>
            </a:r>
            <a:r>
              <a:rPr b="0" i="0" lang="en-US" sz="800" u="none" cap="none" strike="noStrike">
                <a:solidFill>
                  <a:srgbClr val="8A96A6"/>
                </a:solidFill>
                <a:latin typeface="Calibri"/>
                <a:ea typeface="Calibri"/>
                <a:cs typeface="Calibri"/>
                <a:sym typeface="Calibri"/>
              </a:rPr>
              <a:t>SDA-AIE-212 · Computer Vision Systems Development</a:t>
            </a:r>
            <a:endParaRPr b="0" i="0" sz="800" u="none" cap="none" strike="noStrike">
              <a:solidFill>
                <a:schemeClr val="dk1"/>
              </a:solidFill>
              <a:latin typeface="Calibri"/>
              <a:ea typeface="Calibri"/>
              <a:cs typeface="Calibri"/>
              <a:sym typeface="Calibri"/>
            </a:endParaRPr>
          </a:p>
        </p:txBody>
      </p:sp>
      <p:sp>
        <p:nvSpPr>
          <p:cNvPr id="219" name="Google Shape;219;p7"/>
          <p:cNvSpPr/>
          <p:nvPr/>
        </p:nvSpPr>
        <p:spPr>
          <a:xfrm>
            <a:off x="11292840" y="6528816"/>
            <a:ext cx="411480" cy="219456"/>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8A96A6"/>
              </a:buClr>
              <a:buSzPts val="900"/>
              <a:buFont typeface="Calibri"/>
              <a:buNone/>
            </a:pPr>
            <a:r>
              <a:rPr b="0" i="0" lang="en-US" sz="900" u="none" cap="none" strike="noStrike">
                <a:solidFill>
                  <a:srgbClr val="8A96A6"/>
                </a:solidFill>
                <a:latin typeface="Calibri"/>
                <a:ea typeface="Calibri"/>
                <a:cs typeface="Calibri"/>
                <a:sym typeface="Calibri"/>
              </a:rPr>
              <a:t>7</a:t>
            </a:r>
            <a:endParaRPr b="0" i="0" sz="900" u="none" cap="none" strike="noStrike">
              <a:solidFill>
                <a:schemeClr val="dk1"/>
              </a:solidFill>
              <a:latin typeface="Calibri"/>
              <a:ea typeface="Calibri"/>
              <a:cs typeface="Calibri"/>
              <a:sym typeface="Calibri"/>
            </a:endParaRPr>
          </a:p>
        </p:txBody>
      </p:sp>
      <p:sp>
        <p:nvSpPr>
          <p:cNvPr id="220" name="Google Shape;220;p7"/>
          <p:cNvSpPr/>
          <p:nvPr/>
        </p:nvSpPr>
        <p:spPr>
          <a:xfrm>
            <a:off x="502920" y="1453896"/>
            <a:ext cx="329184" cy="329184"/>
          </a:xfrm>
          <a:prstGeom prst="ellipse">
            <a:avLst/>
          </a:prstGeom>
          <a:solidFill>
            <a:srgbClr val="00A79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1" name="Google Shape;221;p7"/>
          <p:cNvSpPr/>
          <p:nvPr/>
        </p:nvSpPr>
        <p:spPr>
          <a:xfrm>
            <a:off x="502920" y="1453896"/>
            <a:ext cx="329184" cy="32918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300"/>
              <a:buFont typeface="Calibri"/>
              <a:buNone/>
            </a:pPr>
            <a:r>
              <a:rPr b="1" i="0" lang="en-US" sz="1300" u="none" cap="none" strike="noStrike">
                <a:solidFill>
                  <a:srgbClr val="FFFFFF"/>
                </a:solidFill>
                <a:latin typeface="Calibri"/>
                <a:ea typeface="Calibri"/>
                <a:cs typeface="Calibri"/>
                <a:sym typeface="Calibri"/>
              </a:rPr>
              <a:t>1</a:t>
            </a:r>
            <a:endParaRPr b="0" i="0" sz="1300" u="none" cap="none" strike="noStrike">
              <a:solidFill>
                <a:schemeClr val="dk1"/>
              </a:solidFill>
              <a:latin typeface="Calibri"/>
              <a:ea typeface="Calibri"/>
              <a:cs typeface="Calibri"/>
              <a:sym typeface="Calibri"/>
            </a:endParaRPr>
          </a:p>
        </p:txBody>
      </p:sp>
      <p:sp>
        <p:nvSpPr>
          <p:cNvPr id="222" name="Google Shape;222;p7"/>
          <p:cNvSpPr/>
          <p:nvPr/>
        </p:nvSpPr>
        <p:spPr>
          <a:xfrm>
            <a:off x="1005840" y="1389888"/>
            <a:ext cx="10682935"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D2A5C"/>
              </a:buClr>
              <a:buSzPts val="1400"/>
              <a:buFont typeface="Calibri"/>
              <a:buNone/>
            </a:pPr>
            <a:r>
              <a:rPr b="1" i="0" lang="en-US" sz="1400" u="none" cap="none" strike="noStrike">
                <a:solidFill>
                  <a:srgbClr val="1D2A5C"/>
                </a:solidFill>
                <a:latin typeface="Calibri"/>
                <a:ea typeface="Calibri"/>
                <a:cs typeface="Calibri"/>
                <a:sym typeface="Calibri"/>
              </a:rPr>
              <a:t>Primary: classroom GPUs</a:t>
            </a:r>
            <a:endParaRPr b="0" i="0" sz="1400" u="none" cap="none" strike="noStrike">
              <a:solidFill>
                <a:schemeClr val="dk1"/>
              </a:solidFill>
              <a:latin typeface="Calibri"/>
              <a:ea typeface="Calibri"/>
              <a:cs typeface="Calibri"/>
              <a:sym typeface="Calibri"/>
            </a:endParaRPr>
          </a:p>
        </p:txBody>
      </p:sp>
      <p:sp>
        <p:nvSpPr>
          <p:cNvPr id="223" name="Google Shape;223;p7"/>
          <p:cNvSpPr/>
          <p:nvPr/>
        </p:nvSpPr>
        <p:spPr>
          <a:xfrm>
            <a:off x="1005840" y="1691640"/>
            <a:ext cx="10682935" cy="645566"/>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5F6B7A"/>
              </a:buClr>
              <a:buSzPts val="1150"/>
              <a:buFont typeface="Calibri"/>
              <a:buNone/>
            </a:pPr>
            <a:r>
              <a:rPr b="0" i="0" lang="en-US" sz="1150" u="none" cap="none" strike="noStrike">
                <a:solidFill>
                  <a:srgbClr val="5F6B7A"/>
                </a:solidFill>
                <a:latin typeface="Calibri"/>
                <a:ea typeface="Calibri"/>
                <a:cs typeface="Calibri"/>
                <a:sym typeface="Calibri"/>
              </a:rPr>
              <a:t>NVIDIA GPUs with 8 GB+ VRAM per workstation, or a provided cloud-notebook pool.</a:t>
            </a:r>
            <a:endParaRPr b="0" i="0" sz="1150" u="none" cap="none" strike="noStrike">
              <a:solidFill>
                <a:schemeClr val="dk1"/>
              </a:solidFill>
              <a:latin typeface="Calibri"/>
              <a:ea typeface="Calibri"/>
              <a:cs typeface="Calibri"/>
              <a:sym typeface="Calibri"/>
            </a:endParaRPr>
          </a:p>
        </p:txBody>
      </p:sp>
      <p:sp>
        <p:nvSpPr>
          <p:cNvPr id="224" name="Google Shape;224;p7"/>
          <p:cNvSpPr/>
          <p:nvPr/>
        </p:nvSpPr>
        <p:spPr>
          <a:xfrm>
            <a:off x="502920" y="2446934"/>
            <a:ext cx="329184" cy="329184"/>
          </a:xfrm>
          <a:prstGeom prst="ellipse">
            <a:avLst/>
          </a:prstGeom>
          <a:solidFill>
            <a:srgbClr val="29ABE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5" name="Google Shape;225;p7"/>
          <p:cNvSpPr/>
          <p:nvPr/>
        </p:nvSpPr>
        <p:spPr>
          <a:xfrm>
            <a:off x="502920" y="2446934"/>
            <a:ext cx="329184" cy="32918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300"/>
              <a:buFont typeface="Calibri"/>
              <a:buNone/>
            </a:pPr>
            <a:r>
              <a:rPr b="1" i="0" lang="en-US" sz="1300" u="none" cap="none" strike="noStrike">
                <a:solidFill>
                  <a:srgbClr val="FFFFFF"/>
                </a:solidFill>
                <a:latin typeface="Calibri"/>
                <a:ea typeface="Calibri"/>
                <a:cs typeface="Calibri"/>
                <a:sym typeface="Calibri"/>
              </a:rPr>
              <a:t>2</a:t>
            </a:r>
            <a:endParaRPr b="0" i="0" sz="1300" u="none" cap="none" strike="noStrike">
              <a:solidFill>
                <a:schemeClr val="dk1"/>
              </a:solidFill>
              <a:latin typeface="Calibri"/>
              <a:ea typeface="Calibri"/>
              <a:cs typeface="Calibri"/>
              <a:sym typeface="Calibri"/>
            </a:endParaRPr>
          </a:p>
        </p:txBody>
      </p:sp>
      <p:sp>
        <p:nvSpPr>
          <p:cNvPr id="226" name="Google Shape;226;p7"/>
          <p:cNvSpPr/>
          <p:nvPr/>
        </p:nvSpPr>
        <p:spPr>
          <a:xfrm>
            <a:off x="1005840" y="2382926"/>
            <a:ext cx="10682935"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D2A5C"/>
              </a:buClr>
              <a:buSzPts val="1400"/>
              <a:buFont typeface="Calibri"/>
              <a:buNone/>
            </a:pPr>
            <a:r>
              <a:rPr b="1" i="0" lang="en-US" sz="1400" u="none" cap="none" strike="noStrike">
                <a:solidFill>
                  <a:srgbClr val="1D2A5C"/>
                </a:solidFill>
                <a:latin typeface="Calibri"/>
                <a:ea typeface="Calibri"/>
                <a:cs typeface="Calibri"/>
                <a:sym typeface="Calibri"/>
              </a:rPr>
              <a:t>Fallback: CPU path</a:t>
            </a:r>
            <a:endParaRPr b="0" i="0" sz="1400" u="none" cap="none" strike="noStrike">
              <a:solidFill>
                <a:schemeClr val="dk1"/>
              </a:solidFill>
              <a:latin typeface="Calibri"/>
              <a:ea typeface="Calibri"/>
              <a:cs typeface="Calibri"/>
              <a:sym typeface="Calibri"/>
            </a:endParaRPr>
          </a:p>
        </p:txBody>
      </p:sp>
      <p:sp>
        <p:nvSpPr>
          <p:cNvPr id="227" name="Google Shape;227;p7"/>
          <p:cNvSpPr/>
          <p:nvPr/>
        </p:nvSpPr>
        <p:spPr>
          <a:xfrm>
            <a:off x="1005840" y="2684678"/>
            <a:ext cx="10682935" cy="645566"/>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5F6B7A"/>
              </a:buClr>
              <a:buSzPts val="1150"/>
              <a:buFont typeface="Calibri"/>
              <a:buNone/>
            </a:pPr>
            <a:r>
              <a:rPr b="0" i="0" lang="en-US" sz="1150" u="none" cap="none" strike="noStrike">
                <a:solidFill>
                  <a:srgbClr val="5F6B7A"/>
                </a:solidFill>
                <a:latin typeface="Calibri"/>
                <a:ea typeface="Calibri"/>
                <a:cs typeface="Calibri"/>
                <a:sym typeface="Calibri"/>
              </a:rPr>
              <a:t>Reduced image size (320), reduced epochs, and provided pre-trained checkpoints for every lab.</a:t>
            </a:r>
            <a:endParaRPr b="0" i="0" sz="1150" u="none" cap="none" strike="noStrike">
              <a:solidFill>
                <a:schemeClr val="dk1"/>
              </a:solidFill>
              <a:latin typeface="Calibri"/>
              <a:ea typeface="Calibri"/>
              <a:cs typeface="Calibri"/>
              <a:sym typeface="Calibri"/>
            </a:endParaRPr>
          </a:p>
        </p:txBody>
      </p:sp>
      <p:sp>
        <p:nvSpPr>
          <p:cNvPr id="228" name="Google Shape;228;p7"/>
          <p:cNvSpPr/>
          <p:nvPr/>
        </p:nvSpPr>
        <p:spPr>
          <a:xfrm>
            <a:off x="502920" y="3439973"/>
            <a:ext cx="329184" cy="329184"/>
          </a:xfrm>
          <a:prstGeom prst="ellipse">
            <a:avLst/>
          </a:prstGeom>
          <a:solidFill>
            <a:srgbClr val="F5822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9" name="Google Shape;229;p7"/>
          <p:cNvSpPr/>
          <p:nvPr/>
        </p:nvSpPr>
        <p:spPr>
          <a:xfrm>
            <a:off x="502920" y="3439973"/>
            <a:ext cx="329184" cy="32918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300"/>
              <a:buFont typeface="Calibri"/>
              <a:buNone/>
            </a:pPr>
            <a:r>
              <a:rPr b="1" i="0" lang="en-US" sz="1300" u="none" cap="none" strike="noStrike">
                <a:solidFill>
                  <a:srgbClr val="FFFFFF"/>
                </a:solidFill>
                <a:latin typeface="Calibri"/>
                <a:ea typeface="Calibri"/>
                <a:cs typeface="Calibri"/>
                <a:sym typeface="Calibri"/>
              </a:rPr>
              <a:t>3</a:t>
            </a:r>
            <a:endParaRPr b="0" i="0" sz="1300" u="none" cap="none" strike="noStrike">
              <a:solidFill>
                <a:schemeClr val="dk1"/>
              </a:solidFill>
              <a:latin typeface="Calibri"/>
              <a:ea typeface="Calibri"/>
              <a:cs typeface="Calibri"/>
              <a:sym typeface="Calibri"/>
            </a:endParaRPr>
          </a:p>
        </p:txBody>
      </p:sp>
      <p:sp>
        <p:nvSpPr>
          <p:cNvPr id="230" name="Google Shape;230;p7"/>
          <p:cNvSpPr/>
          <p:nvPr/>
        </p:nvSpPr>
        <p:spPr>
          <a:xfrm>
            <a:off x="1005840" y="3375965"/>
            <a:ext cx="10682935"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D2A5C"/>
              </a:buClr>
              <a:buSzPts val="1400"/>
              <a:buFont typeface="Calibri"/>
              <a:buNone/>
            </a:pPr>
            <a:r>
              <a:rPr b="1" i="0" lang="en-US" sz="1400" u="none" cap="none" strike="noStrike">
                <a:solidFill>
                  <a:srgbClr val="1D2A5C"/>
                </a:solidFill>
                <a:latin typeface="Calibri"/>
                <a:ea typeface="Calibri"/>
                <a:cs typeface="Calibri"/>
                <a:sym typeface="Calibri"/>
              </a:rPr>
              <a:t>Training-time discipline</a:t>
            </a:r>
            <a:endParaRPr b="0" i="0" sz="1400" u="none" cap="none" strike="noStrike">
              <a:solidFill>
                <a:schemeClr val="dk1"/>
              </a:solidFill>
              <a:latin typeface="Calibri"/>
              <a:ea typeface="Calibri"/>
              <a:cs typeface="Calibri"/>
              <a:sym typeface="Calibri"/>
            </a:endParaRPr>
          </a:p>
        </p:txBody>
      </p:sp>
      <p:sp>
        <p:nvSpPr>
          <p:cNvPr id="231" name="Google Shape;231;p7"/>
          <p:cNvSpPr/>
          <p:nvPr/>
        </p:nvSpPr>
        <p:spPr>
          <a:xfrm>
            <a:off x="1005840" y="3677717"/>
            <a:ext cx="10682935" cy="645566"/>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5F6B7A"/>
              </a:buClr>
              <a:buSzPts val="1150"/>
              <a:buFont typeface="Calibri"/>
              <a:buNone/>
            </a:pPr>
            <a:r>
              <a:rPr b="0" i="0" lang="en-US" sz="1150" u="none" cap="none" strike="noStrike">
                <a:solidFill>
                  <a:srgbClr val="5F6B7A"/>
                </a:solidFill>
                <a:latin typeface="Calibri"/>
                <a:ea typeface="Calibri"/>
                <a:cs typeface="Calibri"/>
                <a:sym typeface="Calibri"/>
              </a:rPr>
              <a:t>Every lab caps training at ≤ 15 minutes wall-clock by design — small models, subset epochs, starting weights.</a:t>
            </a:r>
            <a:endParaRPr b="0" i="0" sz="1150" u="none" cap="none" strike="noStrike">
              <a:solidFill>
                <a:schemeClr val="dk1"/>
              </a:solidFill>
              <a:latin typeface="Calibri"/>
              <a:ea typeface="Calibri"/>
              <a:cs typeface="Calibri"/>
              <a:sym typeface="Calibri"/>
            </a:endParaRPr>
          </a:p>
        </p:txBody>
      </p:sp>
      <p:sp>
        <p:nvSpPr>
          <p:cNvPr id="232" name="Google Shape;232;p7"/>
          <p:cNvSpPr/>
          <p:nvPr/>
        </p:nvSpPr>
        <p:spPr>
          <a:xfrm>
            <a:off x="502920" y="4433011"/>
            <a:ext cx="329184" cy="329184"/>
          </a:xfrm>
          <a:prstGeom prst="ellipse">
            <a:avLst/>
          </a:prstGeom>
          <a:solidFill>
            <a:srgbClr val="8DC63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3" name="Google Shape;233;p7"/>
          <p:cNvSpPr/>
          <p:nvPr/>
        </p:nvSpPr>
        <p:spPr>
          <a:xfrm>
            <a:off x="502920" y="4433011"/>
            <a:ext cx="329184" cy="32918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300"/>
              <a:buFont typeface="Calibri"/>
              <a:buNone/>
            </a:pPr>
            <a:r>
              <a:rPr b="1" i="0" lang="en-US" sz="1300" u="none" cap="none" strike="noStrike">
                <a:solidFill>
                  <a:srgbClr val="FFFFFF"/>
                </a:solidFill>
                <a:latin typeface="Calibri"/>
                <a:ea typeface="Calibri"/>
                <a:cs typeface="Calibri"/>
                <a:sym typeface="Calibri"/>
              </a:rPr>
              <a:t>4</a:t>
            </a:r>
            <a:endParaRPr b="0" i="0" sz="1300" u="none" cap="none" strike="noStrike">
              <a:solidFill>
                <a:schemeClr val="dk1"/>
              </a:solidFill>
              <a:latin typeface="Calibri"/>
              <a:ea typeface="Calibri"/>
              <a:cs typeface="Calibri"/>
              <a:sym typeface="Calibri"/>
            </a:endParaRPr>
          </a:p>
        </p:txBody>
      </p:sp>
      <p:sp>
        <p:nvSpPr>
          <p:cNvPr id="234" name="Google Shape;234;p7"/>
          <p:cNvSpPr/>
          <p:nvPr/>
        </p:nvSpPr>
        <p:spPr>
          <a:xfrm>
            <a:off x="1005840" y="4369003"/>
            <a:ext cx="10682935"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D2A5C"/>
              </a:buClr>
              <a:buSzPts val="1400"/>
              <a:buFont typeface="Calibri"/>
              <a:buNone/>
            </a:pPr>
            <a:r>
              <a:rPr b="1" i="0" lang="en-US" sz="1400" u="none" cap="none" strike="noStrike">
                <a:solidFill>
                  <a:srgbClr val="1D2A5C"/>
                </a:solidFill>
                <a:latin typeface="Calibri"/>
                <a:ea typeface="Calibri"/>
                <a:cs typeface="Calibri"/>
                <a:sym typeface="Calibri"/>
              </a:rPr>
              <a:t>Checkpoints for stragglers</a:t>
            </a:r>
            <a:endParaRPr b="0" i="0" sz="1400" u="none" cap="none" strike="noStrike">
              <a:solidFill>
                <a:schemeClr val="dk1"/>
              </a:solidFill>
              <a:latin typeface="Calibri"/>
              <a:ea typeface="Calibri"/>
              <a:cs typeface="Calibri"/>
              <a:sym typeface="Calibri"/>
            </a:endParaRPr>
          </a:p>
        </p:txBody>
      </p:sp>
      <p:sp>
        <p:nvSpPr>
          <p:cNvPr id="235" name="Google Shape;235;p7"/>
          <p:cNvSpPr/>
          <p:nvPr/>
        </p:nvSpPr>
        <p:spPr>
          <a:xfrm>
            <a:off x="1005840" y="4670755"/>
            <a:ext cx="10682935" cy="645566"/>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5F6B7A"/>
              </a:buClr>
              <a:buSzPts val="1150"/>
              <a:buFont typeface="Calibri"/>
              <a:buNone/>
            </a:pPr>
            <a:r>
              <a:rPr b="0" i="0" lang="en-US" sz="1150" u="none" cap="none" strike="noStrike">
                <a:solidFill>
                  <a:srgbClr val="5F6B7A"/>
                </a:solidFill>
                <a:latin typeface="Calibri"/>
                <a:ea typeface="Calibri"/>
                <a:cs typeface="Calibri"/>
                <a:sym typeface="Calibri"/>
              </a:rPr>
              <a:t>Publish lab3-start, lab3-best.pt, dates-qc-v2-reference … so nobody loses the thread waiting on a run.</a:t>
            </a:r>
            <a:endParaRPr b="0" i="0" sz="1150" u="none" cap="none" strike="noStrike">
              <a:solidFill>
                <a:schemeClr val="dk1"/>
              </a:solidFill>
              <a:latin typeface="Calibri"/>
              <a:ea typeface="Calibri"/>
              <a:cs typeface="Calibri"/>
              <a:sym typeface="Calibri"/>
            </a:endParaRPr>
          </a:p>
        </p:txBody>
      </p:sp>
      <p:sp>
        <p:nvSpPr>
          <p:cNvPr id="236" name="Google Shape;236;p7"/>
          <p:cNvSpPr/>
          <p:nvPr/>
        </p:nvSpPr>
        <p:spPr>
          <a:xfrm>
            <a:off x="502920" y="5426050"/>
            <a:ext cx="329184" cy="329184"/>
          </a:xfrm>
          <a:prstGeom prst="ellipse">
            <a:avLst/>
          </a:prstGeom>
          <a:solidFill>
            <a:srgbClr val="1D2A5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7" name="Google Shape;237;p7"/>
          <p:cNvSpPr/>
          <p:nvPr/>
        </p:nvSpPr>
        <p:spPr>
          <a:xfrm>
            <a:off x="502920" y="5426050"/>
            <a:ext cx="329184" cy="32918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300"/>
              <a:buFont typeface="Calibri"/>
              <a:buNone/>
            </a:pPr>
            <a:r>
              <a:rPr b="1" i="0" lang="en-US" sz="1300" u="none" cap="none" strike="noStrike">
                <a:solidFill>
                  <a:srgbClr val="FFFFFF"/>
                </a:solidFill>
                <a:latin typeface="Calibri"/>
                <a:ea typeface="Calibri"/>
                <a:cs typeface="Calibri"/>
                <a:sym typeface="Calibri"/>
              </a:rPr>
              <a:t>5</a:t>
            </a:r>
            <a:endParaRPr b="0" i="0" sz="1300" u="none" cap="none" strike="noStrike">
              <a:solidFill>
                <a:schemeClr val="dk1"/>
              </a:solidFill>
              <a:latin typeface="Calibri"/>
              <a:ea typeface="Calibri"/>
              <a:cs typeface="Calibri"/>
              <a:sym typeface="Calibri"/>
            </a:endParaRPr>
          </a:p>
        </p:txBody>
      </p:sp>
      <p:sp>
        <p:nvSpPr>
          <p:cNvPr id="238" name="Google Shape;238;p7"/>
          <p:cNvSpPr/>
          <p:nvPr/>
        </p:nvSpPr>
        <p:spPr>
          <a:xfrm>
            <a:off x="1005840" y="5362042"/>
            <a:ext cx="10682935"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D2A5C"/>
              </a:buClr>
              <a:buSzPts val="1400"/>
              <a:buFont typeface="Calibri"/>
              <a:buNone/>
            </a:pPr>
            <a:r>
              <a:rPr b="1" i="0" lang="en-US" sz="1400" u="none" cap="none" strike="noStrike">
                <a:solidFill>
                  <a:srgbClr val="1D2A5C"/>
                </a:solidFill>
                <a:latin typeface="Calibri"/>
                <a:ea typeface="Calibri"/>
                <a:cs typeface="Calibri"/>
                <a:sym typeface="Calibri"/>
              </a:rPr>
              <a:t>Verify both paths the week before</a:t>
            </a:r>
            <a:endParaRPr b="0" i="0" sz="1400" u="none" cap="none" strike="noStrike">
              <a:solidFill>
                <a:schemeClr val="dk1"/>
              </a:solidFill>
              <a:latin typeface="Calibri"/>
              <a:ea typeface="Calibri"/>
              <a:cs typeface="Calibri"/>
              <a:sym typeface="Calibri"/>
            </a:endParaRPr>
          </a:p>
        </p:txBody>
      </p:sp>
      <p:sp>
        <p:nvSpPr>
          <p:cNvPr id="239" name="Google Shape;239;p7"/>
          <p:cNvSpPr/>
          <p:nvPr/>
        </p:nvSpPr>
        <p:spPr>
          <a:xfrm>
            <a:off x="1005840" y="5663794"/>
            <a:ext cx="10682935" cy="645566"/>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5F6B7A"/>
              </a:buClr>
              <a:buSzPts val="1150"/>
              <a:buFont typeface="Calibri"/>
              <a:buNone/>
            </a:pPr>
            <a:r>
              <a:rPr b="0" i="0" lang="en-US" sz="1150" u="none" cap="none" strike="noStrike">
                <a:solidFill>
                  <a:srgbClr val="5F6B7A"/>
                </a:solidFill>
                <a:latin typeface="Calibri"/>
                <a:ea typeface="Calibri"/>
                <a:cs typeface="Calibri"/>
                <a:sym typeface="Calibri"/>
              </a:rPr>
              <a:t>A CV course with no working GPU plan collapses on Day 2.</a:t>
            </a:r>
            <a:endParaRPr b="0" i="0" sz="1150" u="none" cap="none" strike="noStrike">
              <a:solidFill>
                <a:schemeClr val="dk1"/>
              </a:solidFill>
              <a:latin typeface="Calibri"/>
              <a:ea typeface="Calibri"/>
              <a:cs typeface="Calibri"/>
              <a:sym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44" name="Shape 244"/>
        <p:cNvGrpSpPr/>
        <p:nvPr/>
      </p:nvGrpSpPr>
      <p:grpSpPr>
        <a:xfrm>
          <a:off x="0" y="0"/>
          <a:ext cx="0" cy="0"/>
          <a:chOff x="0" y="0"/>
          <a:chExt cx="0" cy="0"/>
        </a:xfrm>
      </p:grpSpPr>
      <p:sp>
        <p:nvSpPr>
          <p:cNvPr id="245" name="Google Shape;245;p8"/>
          <p:cNvSpPr/>
          <p:nvPr/>
        </p:nvSpPr>
        <p:spPr>
          <a:xfrm>
            <a:off x="502920" y="274320"/>
            <a:ext cx="9646920" cy="56692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D2A5C"/>
              </a:buClr>
              <a:buSzPts val="2700"/>
              <a:buFont typeface="Calibri"/>
              <a:buNone/>
            </a:pPr>
            <a:r>
              <a:rPr b="1" i="0" lang="en-US" sz="2700" u="none" cap="none" strike="noStrike">
                <a:solidFill>
                  <a:srgbClr val="1D2A5C"/>
                </a:solidFill>
                <a:latin typeface="Calibri"/>
                <a:ea typeface="Calibri"/>
                <a:cs typeface="Calibri"/>
                <a:sym typeface="Calibri"/>
              </a:rPr>
              <a:t>How this course is delivered</a:t>
            </a:r>
            <a:endParaRPr b="0" i="0" sz="2700" u="none" cap="none" strike="noStrike">
              <a:solidFill>
                <a:schemeClr val="dk1"/>
              </a:solidFill>
              <a:latin typeface="Calibri"/>
              <a:ea typeface="Calibri"/>
              <a:cs typeface="Calibri"/>
              <a:sym typeface="Calibri"/>
            </a:endParaRPr>
          </a:p>
        </p:txBody>
      </p:sp>
      <p:sp>
        <p:nvSpPr>
          <p:cNvPr id="246" name="Google Shape;246;p8"/>
          <p:cNvSpPr/>
          <p:nvPr/>
        </p:nvSpPr>
        <p:spPr>
          <a:xfrm>
            <a:off x="502920" y="859536"/>
            <a:ext cx="9646920" cy="31089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F6B7A"/>
              </a:buClr>
              <a:buSzPts val="1250"/>
              <a:buFont typeface="Arial"/>
              <a:buNone/>
            </a:pPr>
            <a:r>
              <a:rPr b="0" i="0" lang="en-US" sz="1250" u="none" cap="none" strike="noStrike">
                <a:solidFill>
                  <a:srgbClr val="5F6B7A"/>
                </a:solidFill>
                <a:latin typeface="Arial"/>
                <a:ea typeface="Arial"/>
                <a:cs typeface="Arial"/>
                <a:sym typeface="Arial"/>
              </a:rPr>
              <a:t>طريقة تقديم البرنامج</a:t>
            </a:r>
            <a:endParaRPr b="0" i="0" sz="1250" u="none" cap="none" strike="noStrike">
              <a:solidFill>
                <a:schemeClr val="dk1"/>
              </a:solidFill>
              <a:latin typeface="Calibri"/>
              <a:ea typeface="Calibri"/>
              <a:cs typeface="Calibri"/>
              <a:sym typeface="Calibri"/>
            </a:endParaRPr>
          </a:p>
        </p:txBody>
      </p:sp>
      <p:pic>
        <p:nvPicPr>
          <p:cNvPr descr="/sessions/blissful-determined-ritchie/build/assets/sdaia_logo.png" id="247" name="Google Shape;247;p8"/>
          <p:cNvPicPr preferRelativeResize="0"/>
          <p:nvPr/>
        </p:nvPicPr>
        <p:blipFill rotWithShape="1">
          <a:blip r:embed="rId3">
            <a:alphaModFix/>
          </a:blip>
          <a:srcRect b="0" l="0" r="0" t="0"/>
          <a:stretch/>
        </p:blipFill>
        <p:spPr>
          <a:xfrm>
            <a:off x="10625328" y="310896"/>
            <a:ext cx="1078992" cy="264111"/>
          </a:xfrm>
          <a:prstGeom prst="rect">
            <a:avLst/>
          </a:prstGeom>
          <a:noFill/>
          <a:ln>
            <a:noFill/>
          </a:ln>
        </p:spPr>
      </p:pic>
      <p:sp>
        <p:nvSpPr>
          <p:cNvPr id="248" name="Google Shape;248;p8"/>
          <p:cNvSpPr/>
          <p:nvPr/>
        </p:nvSpPr>
        <p:spPr>
          <a:xfrm>
            <a:off x="502920" y="6528816"/>
            <a:ext cx="8686800"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A79D"/>
              </a:buClr>
              <a:buSzPts val="800"/>
              <a:buFont typeface="Calibri"/>
              <a:buNone/>
            </a:pPr>
            <a:r>
              <a:rPr b="1" i="0" lang="en-US" sz="800" u="none" cap="none" strike="noStrike">
                <a:solidFill>
                  <a:srgbClr val="00A79D"/>
                </a:solidFill>
                <a:latin typeface="Calibri"/>
                <a:ea typeface="Calibri"/>
                <a:cs typeface="Calibri"/>
                <a:sym typeface="Calibri"/>
              </a:rPr>
              <a:t>OVERVIEW · INSTRUCTOR   </a:t>
            </a:r>
            <a:r>
              <a:rPr b="0" i="0" lang="en-US" sz="800" u="none" cap="none" strike="noStrike">
                <a:solidFill>
                  <a:srgbClr val="8A96A6"/>
                </a:solidFill>
                <a:latin typeface="Calibri"/>
                <a:ea typeface="Calibri"/>
                <a:cs typeface="Calibri"/>
                <a:sym typeface="Calibri"/>
              </a:rPr>
              <a:t>SDA-AIE-212 · Computer Vision Systems Development</a:t>
            </a:r>
            <a:endParaRPr b="0" i="0" sz="800" u="none" cap="none" strike="noStrike">
              <a:solidFill>
                <a:schemeClr val="dk1"/>
              </a:solidFill>
              <a:latin typeface="Calibri"/>
              <a:ea typeface="Calibri"/>
              <a:cs typeface="Calibri"/>
              <a:sym typeface="Calibri"/>
            </a:endParaRPr>
          </a:p>
        </p:txBody>
      </p:sp>
      <p:sp>
        <p:nvSpPr>
          <p:cNvPr id="249" name="Google Shape;249;p8"/>
          <p:cNvSpPr/>
          <p:nvPr/>
        </p:nvSpPr>
        <p:spPr>
          <a:xfrm>
            <a:off x="11292840" y="6528816"/>
            <a:ext cx="411480" cy="219456"/>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8A96A6"/>
              </a:buClr>
              <a:buSzPts val="900"/>
              <a:buFont typeface="Calibri"/>
              <a:buNone/>
            </a:pPr>
            <a:r>
              <a:rPr b="0" i="0" lang="en-US" sz="900" u="none" cap="none" strike="noStrike">
                <a:solidFill>
                  <a:srgbClr val="8A96A6"/>
                </a:solidFill>
                <a:latin typeface="Calibri"/>
                <a:ea typeface="Calibri"/>
                <a:cs typeface="Calibri"/>
                <a:sym typeface="Calibri"/>
              </a:rPr>
              <a:t>8</a:t>
            </a:r>
            <a:endParaRPr b="0" i="0" sz="900" u="none" cap="none" strike="noStrike">
              <a:solidFill>
                <a:schemeClr val="dk1"/>
              </a:solidFill>
              <a:latin typeface="Calibri"/>
              <a:ea typeface="Calibri"/>
              <a:cs typeface="Calibri"/>
              <a:sym typeface="Calibri"/>
            </a:endParaRPr>
          </a:p>
        </p:txBody>
      </p:sp>
      <p:sp>
        <p:nvSpPr>
          <p:cNvPr id="250" name="Google Shape;250;p8"/>
          <p:cNvSpPr/>
          <p:nvPr/>
        </p:nvSpPr>
        <p:spPr>
          <a:xfrm>
            <a:off x="502920" y="1453896"/>
            <a:ext cx="329184" cy="329184"/>
          </a:xfrm>
          <a:prstGeom prst="ellipse">
            <a:avLst/>
          </a:prstGeom>
          <a:solidFill>
            <a:srgbClr val="00A79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1" name="Google Shape;251;p8"/>
          <p:cNvSpPr/>
          <p:nvPr/>
        </p:nvSpPr>
        <p:spPr>
          <a:xfrm>
            <a:off x="502920" y="1453896"/>
            <a:ext cx="329184" cy="32918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300"/>
              <a:buFont typeface="Calibri"/>
              <a:buNone/>
            </a:pPr>
            <a:r>
              <a:rPr b="1" i="0" lang="en-US" sz="1300" u="none" cap="none" strike="noStrike">
                <a:solidFill>
                  <a:srgbClr val="FFFFFF"/>
                </a:solidFill>
                <a:latin typeface="Calibri"/>
                <a:ea typeface="Calibri"/>
                <a:cs typeface="Calibri"/>
                <a:sym typeface="Calibri"/>
              </a:rPr>
              <a:t>1</a:t>
            </a:r>
            <a:endParaRPr b="0" i="0" sz="1300" u="none" cap="none" strike="noStrike">
              <a:solidFill>
                <a:schemeClr val="dk1"/>
              </a:solidFill>
              <a:latin typeface="Calibri"/>
              <a:ea typeface="Calibri"/>
              <a:cs typeface="Calibri"/>
              <a:sym typeface="Calibri"/>
            </a:endParaRPr>
          </a:p>
        </p:txBody>
      </p:sp>
      <p:sp>
        <p:nvSpPr>
          <p:cNvPr id="252" name="Google Shape;252;p8"/>
          <p:cNvSpPr/>
          <p:nvPr/>
        </p:nvSpPr>
        <p:spPr>
          <a:xfrm>
            <a:off x="1005840" y="1389888"/>
            <a:ext cx="10682935"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D2A5C"/>
              </a:buClr>
              <a:buSzPts val="1400"/>
              <a:buFont typeface="Calibri"/>
              <a:buNone/>
            </a:pPr>
            <a:r>
              <a:rPr b="1" i="0" lang="en-US" sz="1400" u="none" cap="none" strike="noStrike">
                <a:solidFill>
                  <a:srgbClr val="1D2A5C"/>
                </a:solidFill>
                <a:latin typeface="Calibri"/>
                <a:ea typeface="Calibri"/>
                <a:cs typeface="Calibri"/>
                <a:sym typeface="Calibri"/>
              </a:rPr>
              <a:t>Golden thread</a:t>
            </a:r>
            <a:endParaRPr b="0" i="0" sz="1400" u="none" cap="none" strike="noStrike">
              <a:solidFill>
                <a:schemeClr val="dk1"/>
              </a:solidFill>
              <a:latin typeface="Calibri"/>
              <a:ea typeface="Calibri"/>
              <a:cs typeface="Calibri"/>
              <a:sym typeface="Calibri"/>
            </a:endParaRPr>
          </a:p>
        </p:txBody>
      </p:sp>
      <p:sp>
        <p:nvSpPr>
          <p:cNvPr id="253" name="Google Shape;253;p8"/>
          <p:cNvSpPr/>
          <p:nvPr/>
        </p:nvSpPr>
        <p:spPr>
          <a:xfrm>
            <a:off x="1005840" y="1691640"/>
            <a:ext cx="10682935" cy="645566"/>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5F6B7A"/>
              </a:buClr>
              <a:buSzPts val="1150"/>
              <a:buFont typeface="Calibri"/>
              <a:buNone/>
            </a:pPr>
            <a:r>
              <a:rPr b="0" i="0" lang="en-US" sz="1150" u="none" cap="none" strike="noStrike">
                <a:solidFill>
                  <a:srgbClr val="5F6B7A"/>
                </a:solidFill>
                <a:latin typeface="Calibri"/>
                <a:ea typeface="Calibri"/>
                <a:cs typeface="Calibri"/>
                <a:sym typeface="Calibri"/>
              </a:rPr>
              <a:t>Never introduce a throwaway dataset — always evolve the course artefact. That rule makes the capstone possible.</a:t>
            </a:r>
            <a:endParaRPr b="0" i="0" sz="1150" u="none" cap="none" strike="noStrike">
              <a:solidFill>
                <a:schemeClr val="dk1"/>
              </a:solidFill>
              <a:latin typeface="Calibri"/>
              <a:ea typeface="Calibri"/>
              <a:cs typeface="Calibri"/>
              <a:sym typeface="Calibri"/>
            </a:endParaRPr>
          </a:p>
        </p:txBody>
      </p:sp>
      <p:sp>
        <p:nvSpPr>
          <p:cNvPr id="254" name="Google Shape;254;p8"/>
          <p:cNvSpPr/>
          <p:nvPr/>
        </p:nvSpPr>
        <p:spPr>
          <a:xfrm>
            <a:off x="502920" y="2446934"/>
            <a:ext cx="329184" cy="329184"/>
          </a:xfrm>
          <a:prstGeom prst="ellipse">
            <a:avLst/>
          </a:prstGeom>
          <a:solidFill>
            <a:srgbClr val="29ABE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5" name="Google Shape;255;p8"/>
          <p:cNvSpPr/>
          <p:nvPr/>
        </p:nvSpPr>
        <p:spPr>
          <a:xfrm>
            <a:off x="502920" y="2446934"/>
            <a:ext cx="329184" cy="32918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300"/>
              <a:buFont typeface="Calibri"/>
              <a:buNone/>
            </a:pPr>
            <a:r>
              <a:rPr b="1" i="0" lang="en-US" sz="1300" u="none" cap="none" strike="noStrike">
                <a:solidFill>
                  <a:srgbClr val="FFFFFF"/>
                </a:solidFill>
                <a:latin typeface="Calibri"/>
                <a:ea typeface="Calibri"/>
                <a:cs typeface="Calibri"/>
                <a:sym typeface="Calibri"/>
              </a:rPr>
              <a:t>2</a:t>
            </a:r>
            <a:endParaRPr b="0" i="0" sz="1300" u="none" cap="none" strike="noStrike">
              <a:solidFill>
                <a:schemeClr val="dk1"/>
              </a:solidFill>
              <a:latin typeface="Calibri"/>
              <a:ea typeface="Calibri"/>
              <a:cs typeface="Calibri"/>
              <a:sym typeface="Calibri"/>
            </a:endParaRPr>
          </a:p>
        </p:txBody>
      </p:sp>
      <p:sp>
        <p:nvSpPr>
          <p:cNvPr id="256" name="Google Shape;256;p8"/>
          <p:cNvSpPr/>
          <p:nvPr/>
        </p:nvSpPr>
        <p:spPr>
          <a:xfrm>
            <a:off x="1005840" y="2382926"/>
            <a:ext cx="10682935"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D2A5C"/>
              </a:buClr>
              <a:buSzPts val="1400"/>
              <a:buFont typeface="Calibri"/>
              <a:buNone/>
            </a:pPr>
            <a:r>
              <a:rPr b="1" i="0" lang="en-US" sz="1400" u="none" cap="none" strike="noStrike">
                <a:solidFill>
                  <a:srgbClr val="1D2A5C"/>
                </a:solidFill>
                <a:latin typeface="Calibri"/>
                <a:ea typeface="Calibri"/>
                <a:cs typeface="Calibri"/>
                <a:sym typeface="Calibri"/>
              </a:rPr>
              <a:t>Pairs, rotated daily</a:t>
            </a:r>
            <a:endParaRPr b="0" i="0" sz="1400" u="none" cap="none" strike="noStrike">
              <a:solidFill>
                <a:schemeClr val="dk1"/>
              </a:solidFill>
              <a:latin typeface="Calibri"/>
              <a:ea typeface="Calibri"/>
              <a:cs typeface="Calibri"/>
              <a:sym typeface="Calibri"/>
            </a:endParaRPr>
          </a:p>
        </p:txBody>
      </p:sp>
      <p:sp>
        <p:nvSpPr>
          <p:cNvPr id="257" name="Google Shape;257;p8"/>
          <p:cNvSpPr/>
          <p:nvPr/>
        </p:nvSpPr>
        <p:spPr>
          <a:xfrm>
            <a:off x="1005840" y="2684678"/>
            <a:ext cx="10682935" cy="645566"/>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5F6B7A"/>
              </a:buClr>
              <a:buSzPts val="1150"/>
              <a:buFont typeface="Calibri"/>
              <a:buNone/>
            </a:pPr>
            <a:r>
              <a:rPr b="0" i="0" lang="en-US" sz="1150" u="none" cap="none" strike="noStrike">
                <a:solidFill>
                  <a:srgbClr val="5F6B7A"/>
                </a:solidFill>
                <a:latin typeface="Calibri"/>
                <a:ea typeface="Calibri"/>
                <a:cs typeface="Calibri"/>
                <a:sym typeface="Calibri"/>
              </a:rPr>
              <a:t>Pair strong-PyTorch with strong-domain-intuition participants; Day 3 error analysis benefits most from mixed pairs.</a:t>
            </a:r>
            <a:endParaRPr b="0" i="0" sz="1150" u="none" cap="none" strike="noStrike">
              <a:solidFill>
                <a:schemeClr val="dk1"/>
              </a:solidFill>
              <a:latin typeface="Calibri"/>
              <a:ea typeface="Calibri"/>
              <a:cs typeface="Calibri"/>
              <a:sym typeface="Calibri"/>
            </a:endParaRPr>
          </a:p>
        </p:txBody>
      </p:sp>
      <p:sp>
        <p:nvSpPr>
          <p:cNvPr id="258" name="Google Shape;258;p8"/>
          <p:cNvSpPr/>
          <p:nvPr/>
        </p:nvSpPr>
        <p:spPr>
          <a:xfrm>
            <a:off x="502920" y="3439973"/>
            <a:ext cx="329184" cy="329184"/>
          </a:xfrm>
          <a:prstGeom prst="ellipse">
            <a:avLst/>
          </a:prstGeom>
          <a:solidFill>
            <a:srgbClr val="F5822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9" name="Google Shape;259;p8"/>
          <p:cNvSpPr/>
          <p:nvPr/>
        </p:nvSpPr>
        <p:spPr>
          <a:xfrm>
            <a:off x="502920" y="3439973"/>
            <a:ext cx="329184" cy="32918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300"/>
              <a:buFont typeface="Calibri"/>
              <a:buNone/>
            </a:pPr>
            <a:r>
              <a:rPr b="1" i="0" lang="en-US" sz="1300" u="none" cap="none" strike="noStrike">
                <a:solidFill>
                  <a:srgbClr val="FFFFFF"/>
                </a:solidFill>
                <a:latin typeface="Calibri"/>
                <a:ea typeface="Calibri"/>
                <a:cs typeface="Calibri"/>
                <a:sym typeface="Calibri"/>
              </a:rPr>
              <a:t>3</a:t>
            </a:r>
            <a:endParaRPr b="0" i="0" sz="1300" u="none" cap="none" strike="noStrike">
              <a:solidFill>
                <a:schemeClr val="dk1"/>
              </a:solidFill>
              <a:latin typeface="Calibri"/>
              <a:ea typeface="Calibri"/>
              <a:cs typeface="Calibri"/>
              <a:sym typeface="Calibri"/>
            </a:endParaRPr>
          </a:p>
        </p:txBody>
      </p:sp>
      <p:sp>
        <p:nvSpPr>
          <p:cNvPr id="260" name="Google Shape;260;p8"/>
          <p:cNvSpPr/>
          <p:nvPr/>
        </p:nvSpPr>
        <p:spPr>
          <a:xfrm>
            <a:off x="1005840" y="3375965"/>
            <a:ext cx="10682935"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D2A5C"/>
              </a:buClr>
              <a:buSzPts val="1400"/>
              <a:buFont typeface="Calibri"/>
              <a:buNone/>
            </a:pPr>
            <a:r>
              <a:rPr b="1" i="0" lang="en-US" sz="1400" u="none" cap="none" strike="noStrike">
                <a:solidFill>
                  <a:srgbClr val="1D2A5C"/>
                </a:solidFill>
                <a:latin typeface="Calibri"/>
                <a:ea typeface="Calibri"/>
                <a:cs typeface="Calibri"/>
                <a:sym typeface="Calibri"/>
              </a:rPr>
              <a:t>Hour rhythm</a:t>
            </a:r>
            <a:endParaRPr b="0" i="0" sz="1400" u="none" cap="none" strike="noStrike">
              <a:solidFill>
                <a:schemeClr val="dk1"/>
              </a:solidFill>
              <a:latin typeface="Calibri"/>
              <a:ea typeface="Calibri"/>
              <a:cs typeface="Calibri"/>
              <a:sym typeface="Calibri"/>
            </a:endParaRPr>
          </a:p>
        </p:txBody>
      </p:sp>
      <p:sp>
        <p:nvSpPr>
          <p:cNvPr id="261" name="Google Shape;261;p8"/>
          <p:cNvSpPr/>
          <p:nvPr/>
        </p:nvSpPr>
        <p:spPr>
          <a:xfrm>
            <a:off x="1005840" y="3677717"/>
            <a:ext cx="10682935" cy="645566"/>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5F6B7A"/>
              </a:buClr>
              <a:buSzPts val="1150"/>
              <a:buFont typeface="Calibri"/>
              <a:buNone/>
            </a:pPr>
            <a:r>
              <a:rPr b="0" i="0" lang="en-US" sz="1150" u="none" cap="none" strike="noStrike">
                <a:solidFill>
                  <a:srgbClr val="5F6B7A"/>
                </a:solidFill>
                <a:latin typeface="Calibri"/>
                <a:ea typeface="Calibri"/>
                <a:cs typeface="Calibri"/>
                <a:sym typeface="Calibri"/>
              </a:rPr>
              <a:t>Each 'hour' is 50 minutes of instruction + 10 minutes buffer; schedule the long break around Dhuhr.</a:t>
            </a:r>
            <a:endParaRPr b="0" i="0" sz="1150" u="none" cap="none" strike="noStrike">
              <a:solidFill>
                <a:schemeClr val="dk1"/>
              </a:solidFill>
              <a:latin typeface="Calibri"/>
              <a:ea typeface="Calibri"/>
              <a:cs typeface="Calibri"/>
              <a:sym typeface="Calibri"/>
            </a:endParaRPr>
          </a:p>
        </p:txBody>
      </p:sp>
      <p:sp>
        <p:nvSpPr>
          <p:cNvPr id="262" name="Google Shape;262;p8"/>
          <p:cNvSpPr/>
          <p:nvPr/>
        </p:nvSpPr>
        <p:spPr>
          <a:xfrm>
            <a:off x="502920" y="4433011"/>
            <a:ext cx="329184" cy="329184"/>
          </a:xfrm>
          <a:prstGeom prst="ellipse">
            <a:avLst/>
          </a:prstGeom>
          <a:solidFill>
            <a:srgbClr val="8DC63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3" name="Google Shape;263;p8"/>
          <p:cNvSpPr/>
          <p:nvPr/>
        </p:nvSpPr>
        <p:spPr>
          <a:xfrm>
            <a:off x="502920" y="4433011"/>
            <a:ext cx="329184" cy="32918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300"/>
              <a:buFont typeface="Calibri"/>
              <a:buNone/>
            </a:pPr>
            <a:r>
              <a:rPr b="1" i="0" lang="en-US" sz="1300" u="none" cap="none" strike="noStrike">
                <a:solidFill>
                  <a:srgbClr val="FFFFFF"/>
                </a:solidFill>
                <a:latin typeface="Calibri"/>
                <a:ea typeface="Calibri"/>
                <a:cs typeface="Calibri"/>
                <a:sym typeface="Calibri"/>
              </a:rPr>
              <a:t>4</a:t>
            </a:r>
            <a:endParaRPr b="0" i="0" sz="1300" u="none" cap="none" strike="noStrike">
              <a:solidFill>
                <a:schemeClr val="dk1"/>
              </a:solidFill>
              <a:latin typeface="Calibri"/>
              <a:ea typeface="Calibri"/>
              <a:cs typeface="Calibri"/>
              <a:sym typeface="Calibri"/>
            </a:endParaRPr>
          </a:p>
        </p:txBody>
      </p:sp>
      <p:sp>
        <p:nvSpPr>
          <p:cNvPr id="264" name="Google Shape;264;p8"/>
          <p:cNvSpPr/>
          <p:nvPr/>
        </p:nvSpPr>
        <p:spPr>
          <a:xfrm>
            <a:off x="1005840" y="4369003"/>
            <a:ext cx="10682935"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D2A5C"/>
              </a:buClr>
              <a:buSzPts val="1400"/>
              <a:buFont typeface="Calibri"/>
              <a:buNone/>
            </a:pPr>
            <a:r>
              <a:rPr b="1" i="0" lang="en-US" sz="1400" u="none" cap="none" strike="noStrike">
                <a:solidFill>
                  <a:srgbClr val="1D2A5C"/>
                </a:solidFill>
                <a:latin typeface="Calibri"/>
                <a:ea typeface="Calibri"/>
                <a:cs typeface="Calibri"/>
                <a:sym typeface="Calibri"/>
              </a:rPr>
              <a:t>Language</a:t>
            </a:r>
            <a:endParaRPr b="0" i="0" sz="1400" u="none" cap="none" strike="noStrike">
              <a:solidFill>
                <a:schemeClr val="dk1"/>
              </a:solidFill>
              <a:latin typeface="Calibri"/>
              <a:ea typeface="Calibri"/>
              <a:cs typeface="Calibri"/>
              <a:sym typeface="Calibri"/>
            </a:endParaRPr>
          </a:p>
        </p:txBody>
      </p:sp>
      <p:sp>
        <p:nvSpPr>
          <p:cNvPr id="265" name="Google Shape;265;p8"/>
          <p:cNvSpPr/>
          <p:nvPr/>
        </p:nvSpPr>
        <p:spPr>
          <a:xfrm>
            <a:off x="1005840" y="4670755"/>
            <a:ext cx="10682935" cy="645566"/>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5F6B7A"/>
              </a:buClr>
              <a:buSzPts val="1150"/>
              <a:buFont typeface="Calibri"/>
              <a:buNone/>
            </a:pPr>
            <a:r>
              <a:rPr b="0" i="0" lang="en-US" sz="1150" u="none" cap="none" strike="noStrike">
                <a:solidFill>
                  <a:srgbClr val="5F6B7A"/>
                </a:solidFill>
                <a:latin typeface="Calibri"/>
                <a:ea typeface="Calibri"/>
                <a:cs typeface="Calibri"/>
                <a:sym typeface="Calibri"/>
              </a:rPr>
              <a:t>Deliver in English or Arabic — but keep all code, identifiers, class names, and annotation labels in English.</a:t>
            </a:r>
            <a:endParaRPr b="0" i="0" sz="1150" u="none" cap="none" strike="noStrike">
              <a:solidFill>
                <a:schemeClr val="dk1"/>
              </a:solidFill>
              <a:latin typeface="Calibri"/>
              <a:ea typeface="Calibri"/>
              <a:cs typeface="Calibri"/>
              <a:sym typeface="Calibri"/>
            </a:endParaRPr>
          </a:p>
        </p:txBody>
      </p:sp>
      <p:sp>
        <p:nvSpPr>
          <p:cNvPr id="266" name="Google Shape;266;p8"/>
          <p:cNvSpPr/>
          <p:nvPr/>
        </p:nvSpPr>
        <p:spPr>
          <a:xfrm>
            <a:off x="502920" y="5426050"/>
            <a:ext cx="329184" cy="329184"/>
          </a:xfrm>
          <a:prstGeom prst="ellipse">
            <a:avLst/>
          </a:prstGeom>
          <a:solidFill>
            <a:srgbClr val="1D2A5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7" name="Google Shape;267;p8"/>
          <p:cNvSpPr/>
          <p:nvPr/>
        </p:nvSpPr>
        <p:spPr>
          <a:xfrm>
            <a:off x="502920" y="5426050"/>
            <a:ext cx="329184" cy="32918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300"/>
              <a:buFont typeface="Calibri"/>
              <a:buNone/>
            </a:pPr>
            <a:r>
              <a:rPr b="1" i="0" lang="en-US" sz="1300" u="none" cap="none" strike="noStrike">
                <a:solidFill>
                  <a:srgbClr val="FFFFFF"/>
                </a:solidFill>
                <a:latin typeface="Calibri"/>
                <a:ea typeface="Calibri"/>
                <a:cs typeface="Calibri"/>
                <a:sym typeface="Calibri"/>
              </a:rPr>
              <a:t>5</a:t>
            </a:r>
            <a:endParaRPr b="0" i="0" sz="1300" u="none" cap="none" strike="noStrike">
              <a:solidFill>
                <a:schemeClr val="dk1"/>
              </a:solidFill>
              <a:latin typeface="Calibri"/>
              <a:ea typeface="Calibri"/>
              <a:cs typeface="Calibri"/>
              <a:sym typeface="Calibri"/>
            </a:endParaRPr>
          </a:p>
        </p:txBody>
      </p:sp>
      <p:sp>
        <p:nvSpPr>
          <p:cNvPr id="268" name="Google Shape;268;p8"/>
          <p:cNvSpPr/>
          <p:nvPr/>
        </p:nvSpPr>
        <p:spPr>
          <a:xfrm>
            <a:off x="1005840" y="5362042"/>
            <a:ext cx="10682935"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D2A5C"/>
              </a:buClr>
              <a:buSzPts val="1400"/>
              <a:buFont typeface="Calibri"/>
              <a:buNone/>
            </a:pPr>
            <a:r>
              <a:rPr b="1" i="0" lang="en-US" sz="1400" u="none" cap="none" strike="noStrike">
                <a:solidFill>
                  <a:srgbClr val="1D2A5C"/>
                </a:solidFill>
                <a:latin typeface="Calibri"/>
                <a:ea typeface="Calibri"/>
                <a:cs typeface="Calibri"/>
                <a:sym typeface="Calibri"/>
              </a:rPr>
              <a:t>Overrun watch</a:t>
            </a:r>
            <a:endParaRPr b="0" i="0" sz="1400" u="none" cap="none" strike="noStrike">
              <a:solidFill>
                <a:schemeClr val="dk1"/>
              </a:solidFill>
              <a:latin typeface="Calibri"/>
              <a:ea typeface="Calibri"/>
              <a:cs typeface="Calibri"/>
              <a:sym typeface="Calibri"/>
            </a:endParaRPr>
          </a:p>
        </p:txBody>
      </p:sp>
      <p:sp>
        <p:nvSpPr>
          <p:cNvPr id="269" name="Google Shape;269;p8"/>
          <p:cNvSpPr/>
          <p:nvPr/>
        </p:nvSpPr>
        <p:spPr>
          <a:xfrm>
            <a:off x="1005840" y="5663794"/>
            <a:ext cx="10682935" cy="645566"/>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5F6B7A"/>
              </a:buClr>
              <a:buSzPts val="1150"/>
              <a:buFont typeface="Calibri"/>
              <a:buNone/>
            </a:pPr>
            <a:r>
              <a:rPr b="0" i="0" lang="en-US" sz="1150" u="none" cap="none" strike="noStrike">
                <a:solidFill>
                  <a:srgbClr val="5F6B7A"/>
                </a:solidFill>
                <a:latin typeface="Calibri"/>
                <a:ea typeface="Calibri"/>
                <a:cs typeface="Calibri"/>
                <a:sym typeface="Calibri"/>
              </a:rPr>
              <a:t>Labs 3 and 5 are the most overrun-prone (training time and annotation time) — use the checkpoint fast-forward.</a:t>
            </a:r>
            <a:endParaRPr b="0" i="0" sz="1150" u="none" cap="none" strike="noStrike">
              <a:solidFill>
                <a:schemeClr val="dk1"/>
              </a:solidFill>
              <a:latin typeface="Calibri"/>
              <a:ea typeface="Calibri"/>
              <a:cs typeface="Calibri"/>
              <a:sym typeface="Calibri"/>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74" name="Shape 274"/>
        <p:cNvGrpSpPr/>
        <p:nvPr/>
      </p:nvGrpSpPr>
      <p:grpSpPr>
        <a:xfrm>
          <a:off x="0" y="0"/>
          <a:ext cx="0" cy="0"/>
          <a:chOff x="0" y="0"/>
          <a:chExt cx="0" cy="0"/>
        </a:xfrm>
      </p:grpSpPr>
      <p:pic>
        <p:nvPicPr>
          <p:cNvPr descr="/sessions/blissful-determined-ritchie/build/assets/sdaia_logo.png" id="275" name="Google Shape;275;p9"/>
          <p:cNvPicPr preferRelativeResize="0"/>
          <p:nvPr/>
        </p:nvPicPr>
        <p:blipFill rotWithShape="1">
          <a:blip r:embed="rId3">
            <a:alphaModFix/>
          </a:blip>
          <a:srcRect b="0" l="0" r="0" t="0"/>
          <a:stretch/>
        </p:blipFill>
        <p:spPr>
          <a:xfrm>
            <a:off x="10625328" y="310896"/>
            <a:ext cx="1078992" cy="264111"/>
          </a:xfrm>
          <a:prstGeom prst="rect">
            <a:avLst/>
          </a:prstGeom>
          <a:noFill/>
          <a:ln>
            <a:noFill/>
          </a:ln>
        </p:spPr>
      </p:pic>
      <p:sp>
        <p:nvSpPr>
          <p:cNvPr id="276" name="Google Shape;276;p9"/>
          <p:cNvSpPr/>
          <p:nvPr/>
        </p:nvSpPr>
        <p:spPr>
          <a:xfrm>
            <a:off x="502920" y="6528816"/>
            <a:ext cx="8686800"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A96A6"/>
              </a:buClr>
              <a:buSzPts val="800"/>
              <a:buFont typeface="Calibri"/>
              <a:buNone/>
            </a:pPr>
            <a:r>
              <a:rPr b="0" i="0" lang="en-US" sz="800" u="none" cap="none" strike="noStrike">
                <a:solidFill>
                  <a:srgbClr val="8A96A6"/>
                </a:solidFill>
                <a:latin typeface="Calibri"/>
                <a:ea typeface="Calibri"/>
                <a:cs typeface="Calibri"/>
                <a:sym typeface="Calibri"/>
              </a:rPr>
              <a:t>SDA-AIE-212 · Computer Vision Systems Development</a:t>
            </a:r>
            <a:endParaRPr b="0" i="0" sz="800" u="none" cap="none" strike="noStrike">
              <a:solidFill>
                <a:schemeClr val="dk1"/>
              </a:solidFill>
              <a:latin typeface="Calibri"/>
              <a:ea typeface="Calibri"/>
              <a:cs typeface="Calibri"/>
              <a:sym typeface="Calibri"/>
            </a:endParaRPr>
          </a:p>
        </p:txBody>
      </p:sp>
      <p:sp>
        <p:nvSpPr>
          <p:cNvPr id="277" name="Google Shape;277;p9"/>
          <p:cNvSpPr/>
          <p:nvPr/>
        </p:nvSpPr>
        <p:spPr>
          <a:xfrm>
            <a:off x="11292840" y="6528816"/>
            <a:ext cx="411480" cy="219456"/>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8A96A6"/>
              </a:buClr>
              <a:buSzPts val="900"/>
              <a:buFont typeface="Calibri"/>
              <a:buNone/>
            </a:pPr>
            <a:r>
              <a:rPr b="0" i="0" lang="en-US" sz="900" u="none" cap="none" strike="noStrike">
                <a:solidFill>
                  <a:srgbClr val="8A96A6"/>
                </a:solidFill>
                <a:latin typeface="Calibri"/>
                <a:ea typeface="Calibri"/>
                <a:cs typeface="Calibri"/>
                <a:sym typeface="Calibri"/>
              </a:rPr>
              <a:t>9</a:t>
            </a:r>
            <a:endParaRPr b="0" i="0" sz="900" u="none" cap="none" strike="noStrike">
              <a:solidFill>
                <a:schemeClr val="dk1"/>
              </a:solidFill>
              <a:latin typeface="Calibri"/>
              <a:ea typeface="Calibri"/>
              <a:cs typeface="Calibri"/>
              <a:sym typeface="Calibri"/>
            </a:endParaRPr>
          </a:p>
        </p:txBody>
      </p:sp>
      <p:sp>
        <p:nvSpPr>
          <p:cNvPr id="278" name="Google Shape;278;p9"/>
          <p:cNvSpPr/>
          <p:nvPr/>
        </p:nvSpPr>
        <p:spPr>
          <a:xfrm>
            <a:off x="640080" y="5664708"/>
            <a:ext cx="246888" cy="213970"/>
          </a:xfrm>
          <a:prstGeom prst="triangle">
            <a:avLst>
              <a:gd fmla="val 50000" name="adj"/>
            </a:avLst>
          </a:prstGeom>
          <a:solidFill>
            <a:srgbClr val="00A79D">
              <a:alpha val="18039"/>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9" name="Google Shape;279;p9"/>
          <p:cNvSpPr/>
          <p:nvPr/>
        </p:nvSpPr>
        <p:spPr>
          <a:xfrm rot="10800000">
            <a:off x="903427" y="5458968"/>
            <a:ext cx="246888" cy="213970"/>
          </a:xfrm>
          <a:prstGeom prst="triangle">
            <a:avLst>
              <a:gd fmla="val 50000" name="adj"/>
            </a:avLst>
          </a:prstGeom>
          <a:solidFill>
            <a:srgbClr val="29ABE2">
              <a:alpha val="18039"/>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0" name="Google Shape;280;p9"/>
          <p:cNvSpPr/>
          <p:nvPr/>
        </p:nvSpPr>
        <p:spPr>
          <a:xfrm rot="10800000">
            <a:off x="903427" y="5870448"/>
            <a:ext cx="246888" cy="213970"/>
          </a:xfrm>
          <a:prstGeom prst="triangle">
            <a:avLst>
              <a:gd fmla="val 50000" name="adj"/>
            </a:avLst>
          </a:prstGeom>
          <a:solidFill>
            <a:srgbClr val="F58220">
              <a:alpha val="18039"/>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1" name="Google Shape;281;p9"/>
          <p:cNvSpPr/>
          <p:nvPr/>
        </p:nvSpPr>
        <p:spPr>
          <a:xfrm>
            <a:off x="1166774" y="5664708"/>
            <a:ext cx="246888" cy="213970"/>
          </a:xfrm>
          <a:prstGeom prst="triangle">
            <a:avLst>
              <a:gd fmla="val 50000" name="adj"/>
            </a:avLst>
          </a:prstGeom>
          <a:solidFill>
            <a:srgbClr val="8DC63F">
              <a:alpha val="18039"/>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2" name="Google Shape;282;p9"/>
          <p:cNvSpPr/>
          <p:nvPr/>
        </p:nvSpPr>
        <p:spPr>
          <a:xfrm>
            <a:off x="1166774" y="5253228"/>
            <a:ext cx="246888" cy="213970"/>
          </a:xfrm>
          <a:prstGeom prst="triangle">
            <a:avLst>
              <a:gd fmla="val 50000" name="adj"/>
            </a:avLst>
          </a:prstGeom>
          <a:solidFill>
            <a:srgbClr val="1D2A5C">
              <a:alpha val="18039"/>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3" name="Google Shape;283;p9"/>
          <p:cNvSpPr/>
          <p:nvPr/>
        </p:nvSpPr>
        <p:spPr>
          <a:xfrm rot="10800000">
            <a:off x="1430122" y="5458968"/>
            <a:ext cx="246888" cy="213970"/>
          </a:xfrm>
          <a:prstGeom prst="triangle">
            <a:avLst>
              <a:gd fmla="val 50000" name="adj"/>
            </a:avLst>
          </a:prstGeom>
          <a:solidFill>
            <a:srgbClr val="29ABE2">
              <a:alpha val="18039"/>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4" name="Google Shape;284;p9"/>
          <p:cNvSpPr/>
          <p:nvPr/>
        </p:nvSpPr>
        <p:spPr>
          <a:xfrm>
            <a:off x="1430122" y="5870448"/>
            <a:ext cx="246888" cy="213970"/>
          </a:xfrm>
          <a:prstGeom prst="triangle">
            <a:avLst>
              <a:gd fmla="val 50000" name="adj"/>
            </a:avLst>
          </a:prstGeom>
          <a:solidFill>
            <a:srgbClr val="00A79D">
              <a:alpha val="18039"/>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5" name="Google Shape;285;p9"/>
          <p:cNvSpPr/>
          <p:nvPr/>
        </p:nvSpPr>
        <p:spPr>
          <a:xfrm rot="10800000">
            <a:off x="1693469" y="5664708"/>
            <a:ext cx="246888" cy="213970"/>
          </a:xfrm>
          <a:prstGeom prst="triangle">
            <a:avLst>
              <a:gd fmla="val 50000" name="adj"/>
            </a:avLst>
          </a:prstGeom>
          <a:solidFill>
            <a:srgbClr val="F58220">
              <a:alpha val="18039"/>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6" name="Google Shape;286;p9"/>
          <p:cNvSpPr/>
          <p:nvPr/>
        </p:nvSpPr>
        <p:spPr>
          <a:xfrm>
            <a:off x="10058400" y="2189988"/>
            <a:ext cx="246888" cy="213970"/>
          </a:xfrm>
          <a:prstGeom prst="triangle">
            <a:avLst>
              <a:gd fmla="val 50000" name="adj"/>
            </a:avLst>
          </a:prstGeom>
          <a:solidFill>
            <a:srgbClr val="00A79D">
              <a:alpha val="18039"/>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7" name="Google Shape;287;p9"/>
          <p:cNvSpPr/>
          <p:nvPr/>
        </p:nvSpPr>
        <p:spPr>
          <a:xfrm rot="10800000">
            <a:off x="10321747" y="1984248"/>
            <a:ext cx="246888" cy="213970"/>
          </a:xfrm>
          <a:prstGeom prst="triangle">
            <a:avLst>
              <a:gd fmla="val 50000" name="adj"/>
            </a:avLst>
          </a:prstGeom>
          <a:solidFill>
            <a:srgbClr val="29ABE2">
              <a:alpha val="18039"/>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8" name="Google Shape;288;p9"/>
          <p:cNvSpPr/>
          <p:nvPr/>
        </p:nvSpPr>
        <p:spPr>
          <a:xfrm rot="10800000">
            <a:off x="10321747" y="2395728"/>
            <a:ext cx="246888" cy="213970"/>
          </a:xfrm>
          <a:prstGeom prst="triangle">
            <a:avLst>
              <a:gd fmla="val 50000" name="adj"/>
            </a:avLst>
          </a:prstGeom>
          <a:solidFill>
            <a:srgbClr val="F58220">
              <a:alpha val="18039"/>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9" name="Google Shape;289;p9"/>
          <p:cNvSpPr/>
          <p:nvPr/>
        </p:nvSpPr>
        <p:spPr>
          <a:xfrm>
            <a:off x="10585094" y="2189988"/>
            <a:ext cx="246888" cy="213970"/>
          </a:xfrm>
          <a:prstGeom prst="triangle">
            <a:avLst>
              <a:gd fmla="val 50000" name="adj"/>
            </a:avLst>
          </a:prstGeom>
          <a:solidFill>
            <a:srgbClr val="8DC63F">
              <a:alpha val="18039"/>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0" name="Google Shape;290;p9"/>
          <p:cNvSpPr/>
          <p:nvPr/>
        </p:nvSpPr>
        <p:spPr>
          <a:xfrm>
            <a:off x="10585094" y="1778508"/>
            <a:ext cx="246888" cy="213970"/>
          </a:xfrm>
          <a:prstGeom prst="triangle">
            <a:avLst>
              <a:gd fmla="val 50000" name="adj"/>
            </a:avLst>
          </a:prstGeom>
          <a:solidFill>
            <a:srgbClr val="1D2A5C">
              <a:alpha val="18039"/>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1" name="Google Shape;291;p9"/>
          <p:cNvSpPr/>
          <p:nvPr/>
        </p:nvSpPr>
        <p:spPr>
          <a:xfrm rot="10800000">
            <a:off x="10848442" y="1984248"/>
            <a:ext cx="246888" cy="213970"/>
          </a:xfrm>
          <a:prstGeom prst="triangle">
            <a:avLst>
              <a:gd fmla="val 50000" name="adj"/>
            </a:avLst>
          </a:prstGeom>
          <a:solidFill>
            <a:srgbClr val="29ABE2">
              <a:alpha val="18039"/>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2" name="Google Shape;292;p9"/>
          <p:cNvSpPr/>
          <p:nvPr/>
        </p:nvSpPr>
        <p:spPr>
          <a:xfrm>
            <a:off x="10848442" y="2395728"/>
            <a:ext cx="246888" cy="213970"/>
          </a:xfrm>
          <a:prstGeom prst="triangle">
            <a:avLst>
              <a:gd fmla="val 50000" name="adj"/>
            </a:avLst>
          </a:prstGeom>
          <a:solidFill>
            <a:srgbClr val="00A79D">
              <a:alpha val="18039"/>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3" name="Google Shape;293;p9"/>
          <p:cNvSpPr/>
          <p:nvPr/>
        </p:nvSpPr>
        <p:spPr>
          <a:xfrm rot="10800000">
            <a:off x="11111789" y="2189988"/>
            <a:ext cx="246888" cy="213970"/>
          </a:xfrm>
          <a:prstGeom prst="triangle">
            <a:avLst>
              <a:gd fmla="val 50000" name="adj"/>
            </a:avLst>
          </a:prstGeom>
          <a:solidFill>
            <a:srgbClr val="F58220">
              <a:alpha val="18039"/>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4" name="Google Shape;294;p9"/>
          <p:cNvSpPr/>
          <p:nvPr/>
        </p:nvSpPr>
        <p:spPr>
          <a:xfrm>
            <a:off x="1463040" y="2194560"/>
            <a:ext cx="9235440" cy="219456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D2A5C"/>
              </a:buClr>
              <a:buSzPts val="3000"/>
              <a:buFont typeface="Calibri"/>
              <a:buNone/>
            </a:pPr>
            <a:r>
              <a:rPr b="1" i="0" lang="en-US" sz="3000" u="none" cap="none" strike="noStrike">
                <a:solidFill>
                  <a:srgbClr val="1D2A5C"/>
                </a:solidFill>
                <a:latin typeface="Calibri"/>
                <a:ea typeface="Calibri"/>
                <a:cs typeface="Calibri"/>
                <a:sym typeface="Calibri"/>
              </a:rPr>
              <a:t>"Most production vision failures are input failures."</a:t>
            </a:r>
            <a:endParaRPr b="0" i="0" sz="3000" u="none" cap="none" strike="noStrike">
              <a:solidFill>
                <a:schemeClr val="dk1"/>
              </a:solidFill>
              <a:latin typeface="Calibri"/>
              <a:ea typeface="Calibri"/>
              <a:cs typeface="Calibri"/>
              <a:sym typeface="Calibri"/>
            </a:endParaRPr>
          </a:p>
        </p:txBody>
      </p:sp>
      <p:sp>
        <p:nvSpPr>
          <p:cNvPr id="295" name="Google Shape;295;p9"/>
          <p:cNvSpPr/>
          <p:nvPr/>
        </p:nvSpPr>
        <p:spPr>
          <a:xfrm>
            <a:off x="2011680" y="4572000"/>
            <a:ext cx="8138160" cy="82296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rgbClr val="5F6B7A"/>
              </a:buClr>
              <a:buSzPts val="1400"/>
              <a:buFont typeface="Calibri"/>
              <a:buNone/>
            </a:pPr>
            <a:r>
              <a:rPr b="0" i="1" lang="en-US" sz="1400" u="none" cap="none" strike="noStrike">
                <a:solidFill>
                  <a:srgbClr val="5F6B7A"/>
                </a:solidFill>
                <a:latin typeface="Calibri"/>
                <a:ea typeface="Calibri"/>
                <a:cs typeface="Calibri"/>
                <a:sym typeface="Calibri"/>
              </a:rPr>
              <a:t>A camera firmware update, a resize mismatch, a silent BGR/RGB swap — Day 1 starts where the failures start: the data layer.</a:t>
            </a:r>
            <a:endParaRPr b="0" i="0" sz="1400" u="none" cap="none" strike="noStrike">
              <a:solidFill>
                <a:schemeClr val="dk1"/>
              </a:solidFill>
              <a:latin typeface="Calibri"/>
              <a:ea typeface="Calibri"/>
              <a:cs typeface="Calibri"/>
              <a:sym typeface="Calibri"/>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41F49"/>
        </a:solidFill>
      </p:bgPr>
    </p:bg>
    <p:spTree>
      <p:nvGrpSpPr>
        <p:cNvPr id="300" name="Shape 300"/>
        <p:cNvGrpSpPr/>
        <p:nvPr/>
      </p:nvGrpSpPr>
      <p:grpSpPr>
        <a:xfrm>
          <a:off x="0" y="0"/>
          <a:ext cx="0" cy="0"/>
          <a:chOff x="0" y="0"/>
          <a:chExt cx="0" cy="0"/>
        </a:xfrm>
      </p:grpSpPr>
      <p:sp>
        <p:nvSpPr>
          <p:cNvPr id="301" name="Google Shape;301;p10"/>
          <p:cNvSpPr/>
          <p:nvPr/>
        </p:nvSpPr>
        <p:spPr>
          <a:xfrm>
            <a:off x="9418320" y="6149340"/>
            <a:ext cx="411480" cy="356616"/>
          </a:xfrm>
          <a:prstGeom prst="triangle">
            <a:avLst>
              <a:gd fmla="val 50000" name="adj"/>
            </a:avLst>
          </a:prstGeom>
          <a:solidFill>
            <a:srgbClr val="00A79D">
              <a:alpha val="18039"/>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2" name="Google Shape;302;p10"/>
          <p:cNvSpPr/>
          <p:nvPr/>
        </p:nvSpPr>
        <p:spPr>
          <a:xfrm rot="10800000">
            <a:off x="9857232" y="5806440"/>
            <a:ext cx="411480" cy="356616"/>
          </a:xfrm>
          <a:prstGeom prst="triangle">
            <a:avLst>
              <a:gd fmla="val 50000" name="adj"/>
            </a:avLst>
          </a:prstGeom>
          <a:solidFill>
            <a:srgbClr val="29ABE2">
              <a:alpha val="18039"/>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3" name="Google Shape;303;p10"/>
          <p:cNvSpPr/>
          <p:nvPr/>
        </p:nvSpPr>
        <p:spPr>
          <a:xfrm rot="10800000">
            <a:off x="9857232" y="6492240"/>
            <a:ext cx="411480" cy="356616"/>
          </a:xfrm>
          <a:prstGeom prst="triangle">
            <a:avLst>
              <a:gd fmla="val 50000" name="adj"/>
            </a:avLst>
          </a:prstGeom>
          <a:solidFill>
            <a:srgbClr val="F58220">
              <a:alpha val="18039"/>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4" name="Google Shape;304;p10"/>
          <p:cNvSpPr/>
          <p:nvPr/>
        </p:nvSpPr>
        <p:spPr>
          <a:xfrm>
            <a:off x="10296144" y="6149340"/>
            <a:ext cx="411480" cy="356616"/>
          </a:xfrm>
          <a:prstGeom prst="triangle">
            <a:avLst>
              <a:gd fmla="val 50000" name="adj"/>
            </a:avLst>
          </a:prstGeom>
          <a:solidFill>
            <a:srgbClr val="8DC63F">
              <a:alpha val="18039"/>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5" name="Google Shape;305;p10"/>
          <p:cNvSpPr/>
          <p:nvPr/>
        </p:nvSpPr>
        <p:spPr>
          <a:xfrm>
            <a:off x="10296144" y="5463540"/>
            <a:ext cx="411480" cy="356616"/>
          </a:xfrm>
          <a:prstGeom prst="triangle">
            <a:avLst>
              <a:gd fmla="val 50000" name="adj"/>
            </a:avLst>
          </a:prstGeom>
          <a:solidFill>
            <a:srgbClr val="1D2A5C">
              <a:alpha val="18039"/>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6" name="Google Shape;306;p10"/>
          <p:cNvSpPr/>
          <p:nvPr/>
        </p:nvSpPr>
        <p:spPr>
          <a:xfrm rot="10800000">
            <a:off x="10735056" y="5806440"/>
            <a:ext cx="411480" cy="356616"/>
          </a:xfrm>
          <a:prstGeom prst="triangle">
            <a:avLst>
              <a:gd fmla="val 50000" name="adj"/>
            </a:avLst>
          </a:prstGeom>
          <a:solidFill>
            <a:srgbClr val="29ABE2">
              <a:alpha val="18039"/>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7" name="Google Shape;307;p10"/>
          <p:cNvSpPr/>
          <p:nvPr/>
        </p:nvSpPr>
        <p:spPr>
          <a:xfrm>
            <a:off x="10735056" y="6492240"/>
            <a:ext cx="411480" cy="356616"/>
          </a:xfrm>
          <a:prstGeom prst="triangle">
            <a:avLst>
              <a:gd fmla="val 50000" name="adj"/>
            </a:avLst>
          </a:prstGeom>
          <a:solidFill>
            <a:srgbClr val="00A79D">
              <a:alpha val="18039"/>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8" name="Google Shape;308;p10"/>
          <p:cNvSpPr/>
          <p:nvPr/>
        </p:nvSpPr>
        <p:spPr>
          <a:xfrm rot="10800000">
            <a:off x="11173968" y="6149340"/>
            <a:ext cx="411480" cy="356616"/>
          </a:xfrm>
          <a:prstGeom prst="triangle">
            <a:avLst>
              <a:gd fmla="val 50000" name="adj"/>
            </a:avLst>
          </a:prstGeom>
          <a:solidFill>
            <a:srgbClr val="F58220">
              <a:alpha val="18039"/>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9" name="Google Shape;309;p10"/>
          <p:cNvSpPr/>
          <p:nvPr/>
        </p:nvSpPr>
        <p:spPr>
          <a:xfrm>
            <a:off x="365760" y="747522"/>
            <a:ext cx="233172" cy="202082"/>
          </a:xfrm>
          <a:prstGeom prst="triangle">
            <a:avLst>
              <a:gd fmla="val 50000" name="adj"/>
            </a:avLst>
          </a:prstGeom>
          <a:solidFill>
            <a:srgbClr val="00A79D">
              <a:alpha val="18039"/>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0" name="Google Shape;310;p10"/>
          <p:cNvSpPr/>
          <p:nvPr/>
        </p:nvSpPr>
        <p:spPr>
          <a:xfrm rot="10800000">
            <a:off x="614477" y="553212"/>
            <a:ext cx="233172" cy="202082"/>
          </a:xfrm>
          <a:prstGeom prst="triangle">
            <a:avLst>
              <a:gd fmla="val 50000" name="adj"/>
            </a:avLst>
          </a:prstGeom>
          <a:solidFill>
            <a:srgbClr val="29ABE2">
              <a:alpha val="18039"/>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1" name="Google Shape;311;p10"/>
          <p:cNvSpPr/>
          <p:nvPr/>
        </p:nvSpPr>
        <p:spPr>
          <a:xfrm rot="10800000">
            <a:off x="614477" y="941832"/>
            <a:ext cx="233172" cy="202082"/>
          </a:xfrm>
          <a:prstGeom prst="triangle">
            <a:avLst>
              <a:gd fmla="val 50000" name="adj"/>
            </a:avLst>
          </a:prstGeom>
          <a:solidFill>
            <a:srgbClr val="F58220">
              <a:alpha val="18039"/>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2" name="Google Shape;312;p10"/>
          <p:cNvSpPr/>
          <p:nvPr/>
        </p:nvSpPr>
        <p:spPr>
          <a:xfrm>
            <a:off x="863194" y="747522"/>
            <a:ext cx="233172" cy="202082"/>
          </a:xfrm>
          <a:prstGeom prst="triangle">
            <a:avLst>
              <a:gd fmla="val 50000" name="adj"/>
            </a:avLst>
          </a:prstGeom>
          <a:solidFill>
            <a:srgbClr val="8DC63F">
              <a:alpha val="18039"/>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3" name="Google Shape;313;p10"/>
          <p:cNvSpPr/>
          <p:nvPr/>
        </p:nvSpPr>
        <p:spPr>
          <a:xfrm>
            <a:off x="863194" y="358902"/>
            <a:ext cx="233172" cy="202082"/>
          </a:xfrm>
          <a:prstGeom prst="triangle">
            <a:avLst>
              <a:gd fmla="val 50000" name="adj"/>
            </a:avLst>
          </a:prstGeom>
          <a:solidFill>
            <a:srgbClr val="1D2A5C">
              <a:alpha val="18039"/>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4" name="Google Shape;314;p10"/>
          <p:cNvSpPr/>
          <p:nvPr/>
        </p:nvSpPr>
        <p:spPr>
          <a:xfrm rot="10800000">
            <a:off x="1111910" y="553212"/>
            <a:ext cx="233172" cy="202082"/>
          </a:xfrm>
          <a:prstGeom prst="triangle">
            <a:avLst>
              <a:gd fmla="val 50000" name="adj"/>
            </a:avLst>
          </a:prstGeom>
          <a:solidFill>
            <a:srgbClr val="29ABE2">
              <a:alpha val="18039"/>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5" name="Google Shape;315;p10"/>
          <p:cNvSpPr/>
          <p:nvPr/>
        </p:nvSpPr>
        <p:spPr>
          <a:xfrm>
            <a:off x="1111910" y="941832"/>
            <a:ext cx="233172" cy="202082"/>
          </a:xfrm>
          <a:prstGeom prst="triangle">
            <a:avLst>
              <a:gd fmla="val 50000" name="adj"/>
            </a:avLst>
          </a:prstGeom>
          <a:solidFill>
            <a:srgbClr val="00A79D">
              <a:alpha val="18039"/>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6" name="Google Shape;316;p10"/>
          <p:cNvSpPr/>
          <p:nvPr/>
        </p:nvSpPr>
        <p:spPr>
          <a:xfrm rot="10800000">
            <a:off x="1360627" y="747522"/>
            <a:ext cx="233172" cy="202082"/>
          </a:xfrm>
          <a:prstGeom prst="triangle">
            <a:avLst>
              <a:gd fmla="val 50000" name="adj"/>
            </a:avLst>
          </a:prstGeom>
          <a:solidFill>
            <a:srgbClr val="F58220">
              <a:alpha val="18039"/>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7" name="Google Shape;317;p10"/>
          <p:cNvSpPr/>
          <p:nvPr/>
        </p:nvSpPr>
        <p:spPr>
          <a:xfrm>
            <a:off x="10332720" y="347472"/>
            <a:ext cx="1481328" cy="566928"/>
          </a:xfrm>
          <a:prstGeom prst="roundRect">
            <a:avLst>
              <a:gd fmla="val 14516" name="adj"/>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sessions/blissful-determined-ritchie/build/assets/sdaia_logo.png" id="318" name="Google Shape;318;p10"/>
          <p:cNvPicPr preferRelativeResize="0"/>
          <p:nvPr/>
        </p:nvPicPr>
        <p:blipFill rotWithShape="1">
          <a:blip r:embed="rId3">
            <a:alphaModFix/>
          </a:blip>
          <a:srcRect b="0" l="0" r="0" t="0"/>
          <a:stretch/>
        </p:blipFill>
        <p:spPr>
          <a:xfrm>
            <a:off x="10442448" y="438912"/>
            <a:ext cx="1261872" cy="308876"/>
          </a:xfrm>
          <a:prstGeom prst="rect">
            <a:avLst/>
          </a:prstGeom>
          <a:noFill/>
          <a:ln>
            <a:noFill/>
          </a:ln>
        </p:spPr>
      </p:pic>
      <p:sp>
        <p:nvSpPr>
          <p:cNvPr id="319" name="Google Shape;319;p10"/>
          <p:cNvSpPr/>
          <p:nvPr/>
        </p:nvSpPr>
        <p:spPr>
          <a:xfrm>
            <a:off x="777240" y="1325880"/>
            <a:ext cx="548640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A79D"/>
              </a:buClr>
              <a:buSzPts val="2000"/>
              <a:buFont typeface="Calibri"/>
              <a:buNone/>
            </a:pPr>
            <a:r>
              <a:rPr b="1" i="0" lang="en-US" sz="2000" u="none" cap="none" strike="noStrike">
                <a:solidFill>
                  <a:srgbClr val="00A79D"/>
                </a:solidFill>
                <a:latin typeface="Calibri"/>
                <a:ea typeface="Calibri"/>
                <a:cs typeface="Calibri"/>
                <a:sym typeface="Calibri"/>
              </a:rPr>
              <a:t>DAY 1</a:t>
            </a:r>
            <a:endParaRPr b="0" i="0" sz="2000" u="none" cap="none" strike="noStrike">
              <a:solidFill>
                <a:schemeClr val="dk1"/>
              </a:solidFill>
              <a:latin typeface="Calibri"/>
              <a:ea typeface="Calibri"/>
              <a:cs typeface="Calibri"/>
              <a:sym typeface="Calibri"/>
            </a:endParaRPr>
          </a:p>
        </p:txBody>
      </p:sp>
      <p:sp>
        <p:nvSpPr>
          <p:cNvPr id="320" name="Google Shape;320;p10"/>
          <p:cNvSpPr/>
          <p:nvPr/>
        </p:nvSpPr>
        <p:spPr>
          <a:xfrm>
            <a:off x="749808" y="1828800"/>
            <a:ext cx="7589520" cy="13716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FFFFFF"/>
              </a:buClr>
              <a:buSzPts val="3600"/>
              <a:buFont typeface="Calibri"/>
              <a:buNone/>
            </a:pPr>
            <a:r>
              <a:rPr b="1" i="0" lang="en-US" sz="3600" u="none" cap="none" strike="noStrike">
                <a:solidFill>
                  <a:srgbClr val="FFFFFF"/>
                </a:solidFill>
                <a:latin typeface="Calibri"/>
                <a:ea typeface="Calibri"/>
                <a:cs typeface="Calibri"/>
                <a:sym typeface="Calibri"/>
              </a:rPr>
              <a:t>Seeing Like a Machine</a:t>
            </a:r>
            <a:endParaRPr b="0" i="0" sz="3600" u="none" cap="none" strike="noStrike">
              <a:solidFill>
                <a:schemeClr val="dk1"/>
              </a:solidFill>
              <a:latin typeface="Calibri"/>
              <a:ea typeface="Calibri"/>
              <a:cs typeface="Calibri"/>
              <a:sym typeface="Calibri"/>
            </a:endParaRPr>
          </a:p>
        </p:txBody>
      </p:sp>
      <p:sp>
        <p:nvSpPr>
          <p:cNvPr id="321" name="Google Shape;321;p10"/>
          <p:cNvSpPr/>
          <p:nvPr/>
        </p:nvSpPr>
        <p:spPr>
          <a:xfrm>
            <a:off x="777240" y="2852928"/>
            <a:ext cx="758952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B9C8E8"/>
              </a:buClr>
              <a:buSzPts val="1700"/>
              <a:buFont typeface="Arial"/>
              <a:buNone/>
            </a:pPr>
            <a:r>
              <a:rPr b="0" i="0" lang="en-US" sz="1700" u="none" cap="none" strike="noStrike">
                <a:solidFill>
                  <a:srgbClr val="B9C8E8"/>
                </a:solidFill>
                <a:latin typeface="Arial"/>
                <a:ea typeface="Arial"/>
                <a:cs typeface="Arial"/>
                <a:sym typeface="Arial"/>
              </a:rPr>
              <a:t>الرؤية كما تراها الآلة</a:t>
            </a:r>
            <a:endParaRPr b="0" i="0" sz="1700" u="none" cap="none" strike="noStrike">
              <a:solidFill>
                <a:schemeClr val="dk1"/>
              </a:solidFill>
              <a:latin typeface="Calibri"/>
              <a:ea typeface="Calibri"/>
              <a:cs typeface="Calibri"/>
              <a:sym typeface="Calibri"/>
            </a:endParaRPr>
          </a:p>
        </p:txBody>
      </p:sp>
      <p:sp>
        <p:nvSpPr>
          <p:cNvPr id="322" name="Google Shape;322;p10"/>
          <p:cNvSpPr/>
          <p:nvPr/>
        </p:nvSpPr>
        <p:spPr>
          <a:xfrm>
            <a:off x="804672" y="3520440"/>
            <a:ext cx="6949440" cy="2560320"/>
          </a:xfrm>
          <a:prstGeom prst="rect">
            <a:avLst/>
          </a:prstGeom>
          <a:noFill/>
          <a:ln>
            <a:noFill/>
          </a:ln>
        </p:spPr>
        <p:txBody>
          <a:bodyPr anchorCtr="0" anchor="t" bIns="0" lIns="0" spcFirstLastPara="1" rIns="0" wrap="square" tIns="0">
            <a:noAutofit/>
          </a:bodyPr>
          <a:lstStyle/>
          <a:p>
            <a:pPr indent="-177800" lvl="0" marL="177800" marR="0" rtl="0" algn="l">
              <a:spcBef>
                <a:spcPts val="0"/>
              </a:spcBef>
              <a:spcAft>
                <a:spcPts val="0"/>
              </a:spcAft>
              <a:buClr>
                <a:srgbClr val="DCE6F8"/>
              </a:buClr>
              <a:buSzPts val="1300"/>
              <a:buFont typeface="Calibri"/>
              <a:buChar char="▪"/>
            </a:pPr>
            <a:r>
              <a:rPr b="0" i="0" lang="en-US" sz="1300" u="none" cap="none" strike="noStrike">
                <a:solidFill>
                  <a:srgbClr val="DCE6F8"/>
                </a:solidFill>
                <a:latin typeface="Calibri"/>
                <a:ea typeface="Calibri"/>
                <a:cs typeface="Calibri"/>
                <a:sym typeface="Calibri"/>
              </a:rPr>
              <a:t>H1 Why vision systems fail in production + kickoff</a:t>
            </a:r>
            <a:endParaRPr b="0" i="0" sz="1300" u="none" cap="none" strike="noStrike">
              <a:solidFill>
                <a:schemeClr val="dk1"/>
              </a:solidFill>
              <a:latin typeface="Calibri"/>
              <a:ea typeface="Calibri"/>
              <a:cs typeface="Calibri"/>
              <a:sym typeface="Calibri"/>
            </a:endParaRPr>
          </a:p>
          <a:p>
            <a:pPr indent="-177800" lvl="0" marL="177800" marR="0" rtl="0" algn="l">
              <a:spcBef>
                <a:spcPts val="800"/>
              </a:spcBef>
              <a:spcAft>
                <a:spcPts val="0"/>
              </a:spcAft>
              <a:buClr>
                <a:srgbClr val="DCE6F8"/>
              </a:buClr>
              <a:buSzPts val="1300"/>
              <a:buFont typeface="Calibri"/>
              <a:buChar char="▪"/>
            </a:pPr>
            <a:r>
              <a:rPr b="0" i="0" lang="en-US" sz="1300" u="none" cap="none" strike="noStrike">
                <a:solidFill>
                  <a:srgbClr val="DCE6F8"/>
                </a:solidFill>
                <a:latin typeface="Calibri"/>
                <a:ea typeface="Calibri"/>
                <a:cs typeface="Calibri"/>
                <a:sym typeface="Calibri"/>
              </a:rPr>
              <a:t>H2 Image data, preprocessing &amp; augmentation (M1)</a:t>
            </a:r>
            <a:endParaRPr b="0" i="0" sz="1300" u="none" cap="none" strike="noStrike">
              <a:solidFill>
                <a:schemeClr val="dk1"/>
              </a:solidFill>
              <a:latin typeface="Calibri"/>
              <a:ea typeface="Calibri"/>
              <a:cs typeface="Calibri"/>
              <a:sym typeface="Calibri"/>
            </a:endParaRPr>
          </a:p>
          <a:p>
            <a:pPr indent="-177800" lvl="0" marL="177800" marR="0" rtl="0" algn="l">
              <a:spcBef>
                <a:spcPts val="800"/>
              </a:spcBef>
              <a:spcAft>
                <a:spcPts val="0"/>
              </a:spcAft>
              <a:buClr>
                <a:srgbClr val="DCE6F8"/>
              </a:buClr>
              <a:buSzPts val="1300"/>
              <a:buFont typeface="Calibri"/>
              <a:buChar char="▪"/>
            </a:pPr>
            <a:r>
              <a:rPr b="0" i="0" lang="en-US" sz="1300" u="none" cap="none" strike="noStrike">
                <a:solidFill>
                  <a:srgbClr val="DCE6F8"/>
                </a:solidFill>
                <a:latin typeface="Calibri"/>
                <a:ea typeface="Calibri"/>
                <a:cs typeface="Calibri"/>
                <a:sym typeface="Calibri"/>
              </a:rPr>
              <a:t>H3 Lab 1 — build the dates-qc input pipeline</a:t>
            </a:r>
            <a:endParaRPr b="0" i="0" sz="1300" u="none" cap="none" strike="noStrike">
              <a:solidFill>
                <a:schemeClr val="dk1"/>
              </a:solidFill>
              <a:latin typeface="Calibri"/>
              <a:ea typeface="Calibri"/>
              <a:cs typeface="Calibri"/>
              <a:sym typeface="Calibri"/>
            </a:endParaRPr>
          </a:p>
          <a:p>
            <a:pPr indent="-177800" lvl="0" marL="177800" marR="0" rtl="0" algn="l">
              <a:spcBef>
                <a:spcPts val="800"/>
              </a:spcBef>
              <a:spcAft>
                <a:spcPts val="0"/>
              </a:spcAft>
              <a:buClr>
                <a:srgbClr val="DCE6F8"/>
              </a:buClr>
              <a:buSzPts val="1300"/>
              <a:buFont typeface="Calibri"/>
              <a:buChar char="▪"/>
            </a:pPr>
            <a:r>
              <a:rPr b="0" i="0" lang="en-US" sz="1300" u="none" cap="none" strike="noStrike">
                <a:solidFill>
                  <a:srgbClr val="DCE6F8"/>
                </a:solidFill>
                <a:latin typeface="Calibri"/>
                <a:ea typeface="Calibri"/>
                <a:cs typeface="Calibri"/>
                <a:sym typeface="Calibri"/>
              </a:rPr>
              <a:t>H4 CNN architectures &amp; vision transformers (M2)</a:t>
            </a:r>
            <a:endParaRPr b="0" i="0" sz="1300" u="none" cap="none" strike="noStrike">
              <a:solidFill>
                <a:schemeClr val="dk1"/>
              </a:solidFill>
              <a:latin typeface="Calibri"/>
              <a:ea typeface="Calibri"/>
              <a:cs typeface="Calibri"/>
              <a:sym typeface="Calibri"/>
            </a:endParaRPr>
          </a:p>
          <a:p>
            <a:pPr indent="-177800" lvl="0" marL="177800" marR="0" rtl="0" algn="l">
              <a:spcBef>
                <a:spcPts val="800"/>
              </a:spcBef>
              <a:spcAft>
                <a:spcPts val="0"/>
              </a:spcAft>
              <a:buClr>
                <a:srgbClr val="DCE6F8"/>
              </a:buClr>
              <a:buSzPts val="1300"/>
              <a:buFont typeface="Calibri"/>
              <a:buChar char="▪"/>
            </a:pPr>
            <a:r>
              <a:rPr b="0" i="0" lang="en-US" sz="1300" u="none" cap="none" strike="noStrike">
                <a:solidFill>
                  <a:srgbClr val="DCE6F8"/>
                </a:solidFill>
                <a:latin typeface="Calibri"/>
                <a:ea typeface="Calibri"/>
                <a:cs typeface="Calibri"/>
                <a:sym typeface="Calibri"/>
              </a:rPr>
              <a:t>H5 Lab 2a — fine-tune the grade classifier</a:t>
            </a:r>
            <a:endParaRPr b="0" i="0" sz="1300" u="none" cap="none" strike="noStrike">
              <a:solidFill>
                <a:schemeClr val="dk1"/>
              </a:solidFill>
              <a:latin typeface="Calibri"/>
              <a:ea typeface="Calibri"/>
              <a:cs typeface="Calibri"/>
              <a:sym typeface="Calibri"/>
            </a:endParaRPr>
          </a:p>
        </p:txBody>
      </p:sp>
      <p:sp>
        <p:nvSpPr>
          <p:cNvPr id="323" name="Google Shape;323;p10"/>
          <p:cNvSpPr/>
          <p:nvPr/>
        </p:nvSpPr>
        <p:spPr>
          <a:xfrm>
            <a:off x="8366760" y="3520440"/>
            <a:ext cx="3383280" cy="2286000"/>
          </a:xfrm>
          <a:prstGeom prst="roundRect">
            <a:avLst>
              <a:gd fmla="val 4000" name="adj"/>
            </a:avLst>
          </a:prstGeom>
          <a:solidFill>
            <a:srgbClr val="1C2C63"/>
          </a:solidFill>
          <a:ln cap="flat" cmpd="sng" w="15875">
            <a:solidFill>
              <a:srgbClr val="00A79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4" name="Google Shape;324;p10"/>
          <p:cNvSpPr/>
          <p:nvPr/>
        </p:nvSpPr>
        <p:spPr>
          <a:xfrm>
            <a:off x="8595360" y="3703320"/>
            <a:ext cx="292608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A79D"/>
              </a:buClr>
              <a:buSzPts val="1000"/>
              <a:buFont typeface="Calibri"/>
              <a:buNone/>
            </a:pPr>
            <a:r>
              <a:rPr b="1" i="0" lang="en-US" sz="1000" u="none" cap="none" strike="noStrike">
                <a:solidFill>
                  <a:srgbClr val="00A79D"/>
                </a:solidFill>
                <a:latin typeface="Calibri"/>
                <a:ea typeface="Calibri"/>
                <a:cs typeface="Calibri"/>
                <a:sym typeface="Calibri"/>
              </a:rPr>
              <a:t>END-OF-DAY DELIVERABLE</a:t>
            </a:r>
            <a:endParaRPr b="0" i="0" sz="1000" u="none" cap="none" strike="noStrike">
              <a:solidFill>
                <a:schemeClr val="dk1"/>
              </a:solidFill>
              <a:latin typeface="Calibri"/>
              <a:ea typeface="Calibri"/>
              <a:cs typeface="Calibri"/>
              <a:sym typeface="Calibri"/>
            </a:endParaRPr>
          </a:p>
        </p:txBody>
      </p:sp>
      <p:sp>
        <p:nvSpPr>
          <p:cNvPr id="325" name="Google Shape;325;p10"/>
          <p:cNvSpPr/>
          <p:nvPr/>
        </p:nvSpPr>
        <p:spPr>
          <a:xfrm>
            <a:off x="8595360" y="4041648"/>
            <a:ext cx="2971800" cy="16002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FFFFFF"/>
              </a:buClr>
              <a:buSzPts val="1250"/>
              <a:buFont typeface="Calibri"/>
              <a:buNone/>
            </a:pPr>
            <a:r>
              <a:rPr b="0" i="0" lang="en-US" sz="1250" u="none" cap="none" strike="noStrike">
                <a:solidFill>
                  <a:srgbClr val="FFFFFF"/>
                </a:solidFill>
                <a:latin typeface="Calibri"/>
                <a:ea typeface="Calibri"/>
                <a:cs typeface="Calibri"/>
                <a:sym typeface="Calibri"/>
              </a:rPr>
              <a:t>Working dates-qc input pipeline + fine-tuned grade classifier beating the frozen baseline</a:t>
            </a:r>
            <a:endParaRPr b="0" i="0" sz="1250" u="none" cap="none" strike="noStrike">
              <a:solidFill>
                <a:schemeClr val="dk1"/>
              </a:solidFill>
              <a:latin typeface="Calibri"/>
              <a:ea typeface="Calibri"/>
              <a:cs typeface="Calibri"/>
              <a:sym typeface="Calibri"/>
            </a:endParaRPr>
          </a:p>
        </p:txBody>
      </p:sp>
      <p:sp>
        <p:nvSpPr>
          <p:cNvPr id="326" name="Google Shape;326;p10"/>
          <p:cNvSpPr/>
          <p:nvPr/>
        </p:nvSpPr>
        <p:spPr>
          <a:xfrm>
            <a:off x="11292840" y="6528816"/>
            <a:ext cx="411480" cy="219456"/>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5A6A96"/>
              </a:buClr>
              <a:buSzPts val="900"/>
              <a:buFont typeface="Calibri"/>
              <a:buNone/>
            </a:pPr>
            <a:r>
              <a:rPr b="0" i="0" lang="en-US" sz="900" u="none" cap="none" strike="noStrike">
                <a:solidFill>
                  <a:srgbClr val="5A6A96"/>
                </a:solidFill>
                <a:latin typeface="Calibri"/>
                <a:ea typeface="Calibri"/>
                <a:cs typeface="Calibri"/>
                <a:sym typeface="Calibri"/>
              </a:rPr>
              <a:t>10</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31" name="Shape 331"/>
        <p:cNvGrpSpPr/>
        <p:nvPr/>
      </p:nvGrpSpPr>
      <p:grpSpPr>
        <a:xfrm>
          <a:off x="0" y="0"/>
          <a:ext cx="0" cy="0"/>
          <a:chOff x="0" y="0"/>
          <a:chExt cx="0" cy="0"/>
        </a:xfrm>
      </p:grpSpPr>
      <p:sp>
        <p:nvSpPr>
          <p:cNvPr id="332" name="Google Shape;332;p11"/>
          <p:cNvSpPr/>
          <p:nvPr/>
        </p:nvSpPr>
        <p:spPr>
          <a:xfrm>
            <a:off x="502920" y="274320"/>
            <a:ext cx="9646920" cy="56692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D2A5C"/>
              </a:buClr>
              <a:buSzPts val="2700"/>
              <a:buFont typeface="Calibri"/>
              <a:buNone/>
            </a:pPr>
            <a:r>
              <a:rPr b="1" i="0" lang="en-US" sz="2700" u="none" cap="none" strike="noStrike">
                <a:solidFill>
                  <a:srgbClr val="1D2A5C"/>
                </a:solidFill>
                <a:latin typeface="Calibri"/>
                <a:ea typeface="Calibri"/>
                <a:cs typeface="Calibri"/>
                <a:sym typeface="Calibri"/>
              </a:rPr>
              <a:t>Day 1 hour by hour</a:t>
            </a:r>
            <a:endParaRPr b="0" i="0" sz="2700" u="none" cap="none" strike="noStrike">
              <a:solidFill>
                <a:schemeClr val="dk1"/>
              </a:solidFill>
              <a:latin typeface="Calibri"/>
              <a:ea typeface="Calibri"/>
              <a:cs typeface="Calibri"/>
              <a:sym typeface="Calibri"/>
            </a:endParaRPr>
          </a:p>
        </p:txBody>
      </p:sp>
      <p:sp>
        <p:nvSpPr>
          <p:cNvPr id="333" name="Google Shape;333;p11"/>
          <p:cNvSpPr/>
          <p:nvPr/>
        </p:nvSpPr>
        <p:spPr>
          <a:xfrm>
            <a:off x="502920" y="859536"/>
            <a:ext cx="9646920" cy="31089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F6B7A"/>
              </a:buClr>
              <a:buSzPts val="1250"/>
              <a:buFont typeface="Arial"/>
              <a:buNone/>
            </a:pPr>
            <a:r>
              <a:rPr b="0" i="0" lang="en-US" sz="1250" u="none" cap="none" strike="noStrike">
                <a:solidFill>
                  <a:srgbClr val="5F6B7A"/>
                </a:solidFill>
                <a:latin typeface="Arial"/>
                <a:ea typeface="Arial"/>
                <a:cs typeface="Arial"/>
                <a:sym typeface="Arial"/>
              </a:rPr>
              <a:t>اليوم الأول ساعة بساعة</a:t>
            </a:r>
            <a:endParaRPr b="0" i="0" sz="1250" u="none" cap="none" strike="noStrike">
              <a:solidFill>
                <a:schemeClr val="dk1"/>
              </a:solidFill>
              <a:latin typeface="Calibri"/>
              <a:ea typeface="Calibri"/>
              <a:cs typeface="Calibri"/>
              <a:sym typeface="Calibri"/>
            </a:endParaRPr>
          </a:p>
        </p:txBody>
      </p:sp>
      <p:pic>
        <p:nvPicPr>
          <p:cNvPr descr="/sessions/blissful-determined-ritchie/build/assets/sdaia_logo.png" id="334" name="Google Shape;334;p11"/>
          <p:cNvPicPr preferRelativeResize="0"/>
          <p:nvPr/>
        </p:nvPicPr>
        <p:blipFill rotWithShape="1">
          <a:blip r:embed="rId3">
            <a:alphaModFix/>
          </a:blip>
          <a:srcRect b="0" l="0" r="0" t="0"/>
          <a:stretch/>
        </p:blipFill>
        <p:spPr>
          <a:xfrm>
            <a:off x="10625328" y="310896"/>
            <a:ext cx="1078992" cy="264111"/>
          </a:xfrm>
          <a:prstGeom prst="rect">
            <a:avLst/>
          </a:prstGeom>
          <a:noFill/>
          <a:ln>
            <a:noFill/>
          </a:ln>
        </p:spPr>
      </p:pic>
      <p:sp>
        <p:nvSpPr>
          <p:cNvPr id="335" name="Google Shape;335;p11"/>
          <p:cNvSpPr/>
          <p:nvPr/>
        </p:nvSpPr>
        <p:spPr>
          <a:xfrm>
            <a:off x="502920" y="6528816"/>
            <a:ext cx="8686800"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A79D"/>
              </a:buClr>
              <a:buSzPts val="800"/>
              <a:buFont typeface="Calibri"/>
              <a:buNone/>
            </a:pPr>
            <a:r>
              <a:rPr b="1" i="0" lang="en-US" sz="800" u="none" cap="none" strike="noStrike">
                <a:solidFill>
                  <a:srgbClr val="00A79D"/>
                </a:solidFill>
                <a:latin typeface="Calibri"/>
                <a:ea typeface="Calibri"/>
                <a:cs typeface="Calibri"/>
                <a:sym typeface="Calibri"/>
              </a:rPr>
              <a:t>DAY 1   </a:t>
            </a:r>
            <a:r>
              <a:rPr b="0" i="0" lang="en-US" sz="800" u="none" cap="none" strike="noStrike">
                <a:solidFill>
                  <a:srgbClr val="8A96A6"/>
                </a:solidFill>
                <a:latin typeface="Calibri"/>
                <a:ea typeface="Calibri"/>
                <a:cs typeface="Calibri"/>
                <a:sym typeface="Calibri"/>
              </a:rPr>
              <a:t>SDA-AIE-212 · Computer Vision Systems Development</a:t>
            </a:r>
            <a:endParaRPr b="0" i="0" sz="800" u="none" cap="none" strike="noStrike">
              <a:solidFill>
                <a:schemeClr val="dk1"/>
              </a:solidFill>
              <a:latin typeface="Calibri"/>
              <a:ea typeface="Calibri"/>
              <a:cs typeface="Calibri"/>
              <a:sym typeface="Calibri"/>
            </a:endParaRPr>
          </a:p>
        </p:txBody>
      </p:sp>
      <p:sp>
        <p:nvSpPr>
          <p:cNvPr id="336" name="Google Shape;336;p11"/>
          <p:cNvSpPr/>
          <p:nvPr/>
        </p:nvSpPr>
        <p:spPr>
          <a:xfrm>
            <a:off x="11292840" y="6528816"/>
            <a:ext cx="411480" cy="219456"/>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8A96A6"/>
              </a:buClr>
              <a:buSzPts val="900"/>
              <a:buFont typeface="Calibri"/>
              <a:buNone/>
            </a:pPr>
            <a:r>
              <a:rPr b="0" i="0" lang="en-US" sz="900" u="none" cap="none" strike="noStrike">
                <a:solidFill>
                  <a:srgbClr val="8A96A6"/>
                </a:solidFill>
                <a:latin typeface="Calibri"/>
                <a:ea typeface="Calibri"/>
                <a:cs typeface="Calibri"/>
                <a:sym typeface="Calibri"/>
              </a:rPr>
              <a:t>11</a:t>
            </a:r>
            <a:endParaRPr b="0" i="0" sz="900" u="none" cap="none" strike="noStrike">
              <a:solidFill>
                <a:schemeClr val="dk1"/>
              </a:solidFill>
              <a:latin typeface="Calibri"/>
              <a:ea typeface="Calibri"/>
              <a:cs typeface="Calibri"/>
              <a:sym typeface="Calibri"/>
            </a:endParaRPr>
          </a:p>
        </p:txBody>
      </p:sp>
      <p:graphicFrame>
        <p:nvGraphicFramePr>
          <p:cNvPr id="337" name="Google Shape;337;p11"/>
          <p:cNvGraphicFramePr/>
          <p:nvPr/>
        </p:nvGraphicFramePr>
        <p:xfrm>
          <a:off x="502920" y="1389888"/>
          <a:ext cx="3000000" cy="3000000"/>
        </p:xfrm>
        <a:graphic>
          <a:graphicData uri="http://schemas.openxmlformats.org/drawingml/2006/table">
            <a:tbl>
              <a:tblPr>
                <a:noFill/>
                <a:tableStyleId>{F80342BA-3033-44D6-9F91-622DC7A4C435}</a:tableStyleId>
              </a:tblPr>
              <a:tblGrid>
                <a:gridCol w="1246100"/>
                <a:gridCol w="4179575"/>
                <a:gridCol w="3789900"/>
                <a:gridCol w="1970275"/>
              </a:tblGrid>
              <a:tr h="713225">
                <a:tc>
                  <a:txBody>
                    <a:bodyPr/>
                    <a:lstStyle/>
                    <a:p>
                      <a:pPr indent="0" lvl="0" marL="0" marR="0" rtl="0" algn="l">
                        <a:spcBef>
                          <a:spcPts val="0"/>
                        </a:spcBef>
                        <a:spcAft>
                          <a:spcPts val="0"/>
                        </a:spcAft>
                        <a:buClr>
                          <a:srgbClr val="FFFFFF"/>
                        </a:buClr>
                        <a:buSzPts val="1150"/>
                        <a:buFont typeface="Calibri"/>
                        <a:buNone/>
                      </a:pPr>
                      <a:r>
                        <a:rPr b="1" lang="en-US" sz="1150" u="none" cap="none" strike="noStrike">
                          <a:solidFill>
                            <a:srgbClr val="FFFFFF"/>
                          </a:solidFill>
                          <a:latin typeface="Calibri"/>
                          <a:ea typeface="Calibri"/>
                          <a:cs typeface="Calibri"/>
                          <a:sym typeface="Calibri"/>
                        </a:rPr>
                        <a:t>Hour</a:t>
                      </a:r>
                      <a:endParaRPr sz="1150" u="none" cap="none" strike="noStrike">
                        <a:latin typeface="Calibri"/>
                        <a:ea typeface="Calibri"/>
                        <a:cs typeface="Calibri"/>
                        <a:sym typeface="Calibri"/>
                      </a:endParaRPr>
                    </a:p>
                  </a:txBody>
                  <a:tcPr marT="64000" marB="64000" marR="64000" marL="64000" anchor="ctr">
                    <a:lnL cap="flat" cmpd="sng" w="9525">
                      <a:solidFill>
                        <a:srgbClr val="D9E2EA"/>
                      </a:solidFill>
                      <a:prstDash val="solid"/>
                      <a:round/>
                      <a:headEnd len="sm" w="sm" type="none"/>
                      <a:tailEnd len="sm" w="sm" type="none"/>
                    </a:lnL>
                    <a:lnR cap="flat" cmpd="sng" w="9525">
                      <a:solidFill>
                        <a:srgbClr val="D9E2EA"/>
                      </a:solidFill>
                      <a:prstDash val="solid"/>
                      <a:round/>
                      <a:headEnd len="sm" w="sm" type="none"/>
                      <a:tailEnd len="sm" w="sm" type="none"/>
                    </a:lnR>
                    <a:lnT cap="flat" cmpd="sng" w="9525">
                      <a:solidFill>
                        <a:srgbClr val="D9E2EA"/>
                      </a:solidFill>
                      <a:prstDash val="solid"/>
                      <a:round/>
                      <a:headEnd len="sm" w="sm" type="none"/>
                      <a:tailEnd len="sm" w="sm" type="none"/>
                    </a:lnT>
                    <a:lnB cap="flat" cmpd="sng" w="9525">
                      <a:solidFill>
                        <a:srgbClr val="D9E2EA"/>
                      </a:solidFill>
                      <a:prstDash val="solid"/>
                      <a:round/>
                      <a:headEnd len="sm" w="sm" type="none"/>
                      <a:tailEnd len="sm" w="sm" type="none"/>
                    </a:lnB>
                    <a:solidFill>
                      <a:srgbClr val="1D2A5C"/>
                    </a:solidFill>
                  </a:tcPr>
                </a:tc>
                <a:tc>
                  <a:txBody>
                    <a:bodyPr/>
                    <a:lstStyle/>
                    <a:p>
                      <a:pPr indent="0" lvl="0" marL="0" marR="0" rtl="0" algn="l">
                        <a:spcBef>
                          <a:spcPts val="0"/>
                        </a:spcBef>
                        <a:spcAft>
                          <a:spcPts val="0"/>
                        </a:spcAft>
                        <a:buClr>
                          <a:srgbClr val="FFFFFF"/>
                        </a:buClr>
                        <a:buSzPts val="1150"/>
                        <a:buFont typeface="Calibri"/>
                        <a:buNone/>
                      </a:pPr>
                      <a:r>
                        <a:rPr b="1" lang="en-US" sz="1150" u="none" cap="none" strike="noStrike">
                          <a:solidFill>
                            <a:srgbClr val="FFFFFF"/>
                          </a:solidFill>
                          <a:latin typeface="Calibri"/>
                          <a:ea typeface="Calibri"/>
                          <a:cs typeface="Calibri"/>
                          <a:sym typeface="Calibri"/>
                        </a:rPr>
                        <a:t>Session</a:t>
                      </a:r>
                      <a:endParaRPr sz="1150" u="none" cap="none" strike="noStrike">
                        <a:latin typeface="Calibri"/>
                        <a:ea typeface="Calibri"/>
                        <a:cs typeface="Calibri"/>
                        <a:sym typeface="Calibri"/>
                      </a:endParaRPr>
                    </a:p>
                  </a:txBody>
                  <a:tcPr marT="64000" marB="64000" marR="64000" marL="64000" anchor="ctr">
                    <a:lnL cap="flat" cmpd="sng" w="9525">
                      <a:solidFill>
                        <a:srgbClr val="D9E2EA"/>
                      </a:solidFill>
                      <a:prstDash val="solid"/>
                      <a:round/>
                      <a:headEnd len="sm" w="sm" type="none"/>
                      <a:tailEnd len="sm" w="sm" type="none"/>
                    </a:lnL>
                    <a:lnR cap="flat" cmpd="sng" w="9525">
                      <a:solidFill>
                        <a:srgbClr val="D9E2EA"/>
                      </a:solidFill>
                      <a:prstDash val="solid"/>
                      <a:round/>
                      <a:headEnd len="sm" w="sm" type="none"/>
                      <a:tailEnd len="sm" w="sm" type="none"/>
                    </a:lnR>
                    <a:lnT cap="flat" cmpd="sng" w="9525">
                      <a:solidFill>
                        <a:srgbClr val="D9E2EA"/>
                      </a:solidFill>
                      <a:prstDash val="solid"/>
                      <a:round/>
                      <a:headEnd len="sm" w="sm" type="none"/>
                      <a:tailEnd len="sm" w="sm" type="none"/>
                    </a:lnT>
                    <a:lnB cap="flat" cmpd="sng" w="9525">
                      <a:solidFill>
                        <a:srgbClr val="D9E2EA"/>
                      </a:solidFill>
                      <a:prstDash val="solid"/>
                      <a:round/>
                      <a:headEnd len="sm" w="sm" type="none"/>
                      <a:tailEnd len="sm" w="sm" type="none"/>
                    </a:lnB>
                    <a:solidFill>
                      <a:srgbClr val="1D2A5C"/>
                    </a:solidFill>
                  </a:tcPr>
                </a:tc>
                <a:tc>
                  <a:txBody>
                    <a:bodyPr/>
                    <a:lstStyle/>
                    <a:p>
                      <a:pPr indent="0" lvl="0" marL="0" marR="0" rtl="0" algn="l">
                        <a:spcBef>
                          <a:spcPts val="0"/>
                        </a:spcBef>
                        <a:spcAft>
                          <a:spcPts val="0"/>
                        </a:spcAft>
                        <a:buClr>
                          <a:srgbClr val="FFFFFF"/>
                        </a:buClr>
                        <a:buSzPts val="1150"/>
                        <a:buFont typeface="Calibri"/>
                        <a:buNone/>
                      </a:pPr>
                      <a:r>
                        <a:rPr b="1" lang="en-US" sz="1150" u="none" cap="none" strike="noStrike">
                          <a:solidFill>
                            <a:srgbClr val="FFFFFF"/>
                          </a:solidFill>
                          <a:latin typeface="Calibri"/>
                          <a:ea typeface="Calibri"/>
                          <a:cs typeface="Calibri"/>
                          <a:sym typeface="Calibri"/>
                        </a:rPr>
                        <a:t>Delivery mode</a:t>
                      </a:r>
                      <a:endParaRPr sz="1150" u="none" cap="none" strike="noStrike">
                        <a:latin typeface="Calibri"/>
                        <a:ea typeface="Calibri"/>
                        <a:cs typeface="Calibri"/>
                        <a:sym typeface="Calibri"/>
                      </a:endParaRPr>
                    </a:p>
                  </a:txBody>
                  <a:tcPr marT="64000" marB="64000" marR="64000" marL="64000" anchor="ctr">
                    <a:lnL cap="flat" cmpd="sng" w="9525">
                      <a:solidFill>
                        <a:srgbClr val="D9E2EA"/>
                      </a:solidFill>
                      <a:prstDash val="solid"/>
                      <a:round/>
                      <a:headEnd len="sm" w="sm" type="none"/>
                      <a:tailEnd len="sm" w="sm" type="none"/>
                    </a:lnL>
                    <a:lnR cap="flat" cmpd="sng" w="9525">
                      <a:solidFill>
                        <a:srgbClr val="D9E2EA"/>
                      </a:solidFill>
                      <a:prstDash val="solid"/>
                      <a:round/>
                      <a:headEnd len="sm" w="sm" type="none"/>
                      <a:tailEnd len="sm" w="sm" type="none"/>
                    </a:lnR>
                    <a:lnT cap="flat" cmpd="sng" w="9525">
                      <a:solidFill>
                        <a:srgbClr val="D9E2EA"/>
                      </a:solidFill>
                      <a:prstDash val="solid"/>
                      <a:round/>
                      <a:headEnd len="sm" w="sm" type="none"/>
                      <a:tailEnd len="sm" w="sm" type="none"/>
                    </a:lnT>
                    <a:lnB cap="flat" cmpd="sng" w="9525">
                      <a:solidFill>
                        <a:srgbClr val="D9E2EA"/>
                      </a:solidFill>
                      <a:prstDash val="solid"/>
                      <a:round/>
                      <a:headEnd len="sm" w="sm" type="none"/>
                      <a:tailEnd len="sm" w="sm" type="none"/>
                    </a:lnB>
                    <a:solidFill>
                      <a:srgbClr val="1D2A5C"/>
                    </a:solidFill>
                  </a:tcPr>
                </a:tc>
                <a:tc>
                  <a:txBody>
                    <a:bodyPr/>
                    <a:lstStyle/>
                    <a:p>
                      <a:pPr indent="0" lvl="0" marL="0" marR="0" rtl="0" algn="l">
                        <a:spcBef>
                          <a:spcPts val="0"/>
                        </a:spcBef>
                        <a:spcAft>
                          <a:spcPts val="0"/>
                        </a:spcAft>
                        <a:buClr>
                          <a:srgbClr val="FFFFFF"/>
                        </a:buClr>
                        <a:buSzPts val="1150"/>
                        <a:buFont typeface="Calibri"/>
                        <a:buNone/>
                      </a:pPr>
                      <a:r>
                        <a:rPr b="1" lang="en-US" sz="1150" u="none" cap="none" strike="noStrike">
                          <a:solidFill>
                            <a:srgbClr val="FFFFFF"/>
                          </a:solidFill>
                          <a:latin typeface="Calibri"/>
                          <a:ea typeface="Calibri"/>
                          <a:cs typeface="Calibri"/>
                          <a:sym typeface="Calibri"/>
                        </a:rPr>
                        <a:t>Theory/Lab</a:t>
                      </a:r>
                      <a:endParaRPr sz="1150" u="none" cap="none" strike="noStrike">
                        <a:latin typeface="Calibri"/>
                        <a:ea typeface="Calibri"/>
                        <a:cs typeface="Calibri"/>
                        <a:sym typeface="Calibri"/>
                      </a:endParaRPr>
                    </a:p>
                  </a:txBody>
                  <a:tcPr marT="64000" marB="64000" marR="64000" marL="64000" anchor="ctr">
                    <a:lnL cap="flat" cmpd="sng" w="9525">
                      <a:solidFill>
                        <a:srgbClr val="D9E2EA"/>
                      </a:solidFill>
                      <a:prstDash val="solid"/>
                      <a:round/>
                      <a:headEnd len="sm" w="sm" type="none"/>
                      <a:tailEnd len="sm" w="sm" type="none"/>
                    </a:lnL>
                    <a:lnR cap="flat" cmpd="sng" w="9525">
                      <a:solidFill>
                        <a:srgbClr val="D9E2EA"/>
                      </a:solidFill>
                      <a:prstDash val="solid"/>
                      <a:round/>
                      <a:headEnd len="sm" w="sm" type="none"/>
                      <a:tailEnd len="sm" w="sm" type="none"/>
                    </a:lnR>
                    <a:lnT cap="flat" cmpd="sng" w="9525">
                      <a:solidFill>
                        <a:srgbClr val="D9E2EA"/>
                      </a:solidFill>
                      <a:prstDash val="solid"/>
                      <a:round/>
                      <a:headEnd len="sm" w="sm" type="none"/>
                      <a:tailEnd len="sm" w="sm" type="none"/>
                    </a:lnT>
                    <a:lnB cap="flat" cmpd="sng" w="9525">
                      <a:solidFill>
                        <a:srgbClr val="D9E2EA"/>
                      </a:solidFill>
                      <a:prstDash val="solid"/>
                      <a:round/>
                      <a:headEnd len="sm" w="sm" type="none"/>
                      <a:tailEnd len="sm" w="sm" type="none"/>
                    </a:lnB>
                    <a:solidFill>
                      <a:srgbClr val="1D2A5C"/>
                    </a:solidFill>
                  </a:tcPr>
                </a:tc>
              </a:tr>
              <a:tr h="713225">
                <a:tc>
                  <a:txBody>
                    <a:bodyPr/>
                    <a:lstStyle/>
                    <a:p>
                      <a:pPr indent="0" lvl="0" marL="0" marR="0" rtl="0" algn="l">
                        <a:spcBef>
                          <a:spcPts val="0"/>
                        </a:spcBef>
                        <a:spcAft>
                          <a:spcPts val="0"/>
                        </a:spcAft>
                        <a:buClr>
                          <a:srgbClr val="1D2A5C"/>
                        </a:buClr>
                        <a:buSzPts val="1150"/>
                        <a:buFont typeface="Calibri"/>
                        <a:buNone/>
                      </a:pPr>
                      <a:r>
                        <a:rPr b="1" lang="en-US" sz="1150" u="none" cap="none" strike="noStrike">
                          <a:solidFill>
                            <a:srgbClr val="1D2A5C"/>
                          </a:solidFill>
                          <a:latin typeface="Calibri"/>
                          <a:ea typeface="Calibri"/>
                          <a:cs typeface="Calibri"/>
                          <a:sym typeface="Calibri"/>
                        </a:rPr>
                        <a:t>1</a:t>
                      </a:r>
                      <a:endParaRPr sz="1150" u="none" cap="none" strike="noStrike">
                        <a:latin typeface="Calibri"/>
                        <a:ea typeface="Calibri"/>
                        <a:cs typeface="Calibri"/>
                        <a:sym typeface="Calibri"/>
                      </a:endParaRPr>
                    </a:p>
                  </a:txBody>
                  <a:tcPr marT="64000" marB="64000" marR="64000" marL="64000" anchor="ctr">
                    <a:lnL cap="flat" cmpd="sng" w="9525">
                      <a:solidFill>
                        <a:srgbClr val="D9E2EA"/>
                      </a:solidFill>
                      <a:prstDash val="solid"/>
                      <a:round/>
                      <a:headEnd len="sm" w="sm" type="none"/>
                      <a:tailEnd len="sm" w="sm" type="none"/>
                    </a:lnL>
                    <a:lnR cap="flat" cmpd="sng" w="9525">
                      <a:solidFill>
                        <a:srgbClr val="D9E2EA"/>
                      </a:solidFill>
                      <a:prstDash val="solid"/>
                      <a:round/>
                      <a:headEnd len="sm" w="sm" type="none"/>
                      <a:tailEnd len="sm" w="sm" type="none"/>
                    </a:lnR>
                    <a:lnT cap="flat" cmpd="sng" w="9525">
                      <a:solidFill>
                        <a:srgbClr val="D9E2EA"/>
                      </a:solidFill>
                      <a:prstDash val="solid"/>
                      <a:round/>
                      <a:headEnd len="sm" w="sm" type="none"/>
                      <a:tailEnd len="sm" w="sm" type="none"/>
                    </a:lnT>
                    <a:lnB cap="flat" cmpd="sng" w="9525">
                      <a:solidFill>
                        <a:srgbClr val="D9E2EA"/>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23293B"/>
                        </a:buClr>
                        <a:buSzPts val="1150"/>
                        <a:buFont typeface="Calibri"/>
                        <a:buNone/>
                      </a:pPr>
                      <a:r>
                        <a:rPr lang="en-US" sz="1150" u="none" cap="none" strike="noStrike">
                          <a:solidFill>
                            <a:srgbClr val="23293B"/>
                          </a:solidFill>
                          <a:latin typeface="Calibri"/>
                          <a:ea typeface="Calibri"/>
                          <a:cs typeface="Calibri"/>
                          <a:sym typeface="Calibri"/>
                        </a:rPr>
                        <a:t>Why vision systems fail + course kickoff</a:t>
                      </a:r>
                      <a:endParaRPr sz="1150" u="none" cap="none" strike="noStrike">
                        <a:latin typeface="Calibri"/>
                        <a:ea typeface="Calibri"/>
                        <a:cs typeface="Calibri"/>
                        <a:sym typeface="Calibri"/>
                      </a:endParaRPr>
                    </a:p>
                  </a:txBody>
                  <a:tcPr marT="64000" marB="64000" marR="64000" marL="64000" anchor="ctr">
                    <a:lnL cap="flat" cmpd="sng" w="9525">
                      <a:solidFill>
                        <a:srgbClr val="D9E2EA"/>
                      </a:solidFill>
                      <a:prstDash val="solid"/>
                      <a:round/>
                      <a:headEnd len="sm" w="sm" type="none"/>
                      <a:tailEnd len="sm" w="sm" type="none"/>
                    </a:lnL>
                    <a:lnR cap="flat" cmpd="sng" w="9525">
                      <a:solidFill>
                        <a:srgbClr val="D9E2EA"/>
                      </a:solidFill>
                      <a:prstDash val="solid"/>
                      <a:round/>
                      <a:headEnd len="sm" w="sm" type="none"/>
                      <a:tailEnd len="sm" w="sm" type="none"/>
                    </a:lnR>
                    <a:lnT cap="flat" cmpd="sng" w="9525">
                      <a:solidFill>
                        <a:srgbClr val="D9E2EA"/>
                      </a:solidFill>
                      <a:prstDash val="solid"/>
                      <a:round/>
                      <a:headEnd len="sm" w="sm" type="none"/>
                      <a:tailEnd len="sm" w="sm" type="none"/>
                    </a:lnT>
                    <a:lnB cap="flat" cmpd="sng" w="9525">
                      <a:solidFill>
                        <a:srgbClr val="D9E2EA"/>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23293B"/>
                        </a:buClr>
                        <a:buSzPts val="1150"/>
                        <a:buFont typeface="Calibri"/>
                        <a:buNone/>
                      </a:pPr>
                      <a:r>
                        <a:rPr lang="en-US" sz="1150" u="none" cap="none" strike="noStrike">
                          <a:solidFill>
                            <a:srgbClr val="23293B"/>
                          </a:solidFill>
                          <a:latin typeface="Calibri"/>
                          <a:ea typeface="Calibri"/>
                          <a:cs typeface="Calibri"/>
                          <a:sym typeface="Calibri"/>
                        </a:rPr>
                        <a:t>Interactive lecture + failure stories</a:t>
                      </a:r>
                      <a:endParaRPr sz="1150" u="none" cap="none" strike="noStrike">
                        <a:latin typeface="Calibri"/>
                        <a:ea typeface="Calibri"/>
                        <a:cs typeface="Calibri"/>
                        <a:sym typeface="Calibri"/>
                      </a:endParaRPr>
                    </a:p>
                  </a:txBody>
                  <a:tcPr marT="64000" marB="64000" marR="64000" marL="64000" anchor="ctr">
                    <a:lnL cap="flat" cmpd="sng" w="9525">
                      <a:solidFill>
                        <a:srgbClr val="D9E2EA"/>
                      </a:solidFill>
                      <a:prstDash val="solid"/>
                      <a:round/>
                      <a:headEnd len="sm" w="sm" type="none"/>
                      <a:tailEnd len="sm" w="sm" type="none"/>
                    </a:lnL>
                    <a:lnR cap="flat" cmpd="sng" w="9525">
                      <a:solidFill>
                        <a:srgbClr val="D9E2EA"/>
                      </a:solidFill>
                      <a:prstDash val="solid"/>
                      <a:round/>
                      <a:headEnd len="sm" w="sm" type="none"/>
                      <a:tailEnd len="sm" w="sm" type="none"/>
                    </a:lnR>
                    <a:lnT cap="flat" cmpd="sng" w="9525">
                      <a:solidFill>
                        <a:srgbClr val="D9E2EA"/>
                      </a:solidFill>
                      <a:prstDash val="solid"/>
                      <a:round/>
                      <a:headEnd len="sm" w="sm" type="none"/>
                      <a:tailEnd len="sm" w="sm" type="none"/>
                    </a:lnT>
                    <a:lnB cap="flat" cmpd="sng" w="9525">
                      <a:solidFill>
                        <a:srgbClr val="D9E2EA"/>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23293B"/>
                        </a:buClr>
                        <a:buSzPts val="1150"/>
                        <a:buFont typeface="Calibri"/>
                        <a:buNone/>
                      </a:pPr>
                      <a:r>
                        <a:rPr lang="en-US" sz="1150" u="none" cap="none" strike="noStrike">
                          <a:solidFill>
                            <a:srgbClr val="23293B"/>
                          </a:solidFill>
                          <a:latin typeface="Calibri"/>
                          <a:ea typeface="Calibri"/>
                          <a:cs typeface="Calibri"/>
                          <a:sym typeface="Calibri"/>
                        </a:rPr>
                        <a:t>80/20</a:t>
                      </a:r>
                      <a:endParaRPr sz="1150" u="none" cap="none" strike="noStrike">
                        <a:latin typeface="Calibri"/>
                        <a:ea typeface="Calibri"/>
                        <a:cs typeface="Calibri"/>
                        <a:sym typeface="Calibri"/>
                      </a:endParaRPr>
                    </a:p>
                  </a:txBody>
                  <a:tcPr marT="64000" marB="64000" marR="64000" marL="64000" anchor="ctr">
                    <a:lnL cap="flat" cmpd="sng" w="9525">
                      <a:solidFill>
                        <a:srgbClr val="D9E2EA"/>
                      </a:solidFill>
                      <a:prstDash val="solid"/>
                      <a:round/>
                      <a:headEnd len="sm" w="sm" type="none"/>
                      <a:tailEnd len="sm" w="sm" type="none"/>
                    </a:lnL>
                    <a:lnR cap="flat" cmpd="sng" w="9525">
                      <a:solidFill>
                        <a:srgbClr val="D9E2EA"/>
                      </a:solidFill>
                      <a:prstDash val="solid"/>
                      <a:round/>
                      <a:headEnd len="sm" w="sm" type="none"/>
                      <a:tailEnd len="sm" w="sm" type="none"/>
                    </a:lnR>
                    <a:lnT cap="flat" cmpd="sng" w="9525">
                      <a:solidFill>
                        <a:srgbClr val="D9E2EA"/>
                      </a:solidFill>
                      <a:prstDash val="solid"/>
                      <a:round/>
                      <a:headEnd len="sm" w="sm" type="none"/>
                      <a:tailEnd len="sm" w="sm" type="none"/>
                    </a:lnT>
                    <a:lnB cap="flat" cmpd="sng" w="9525">
                      <a:solidFill>
                        <a:srgbClr val="D9E2EA"/>
                      </a:solidFill>
                      <a:prstDash val="solid"/>
                      <a:round/>
                      <a:headEnd len="sm" w="sm" type="none"/>
                      <a:tailEnd len="sm" w="sm" type="none"/>
                    </a:lnB>
                    <a:solidFill>
                      <a:srgbClr val="FFFFFF"/>
                    </a:solidFill>
                  </a:tcPr>
                </a:tc>
              </a:tr>
              <a:tr h="713225">
                <a:tc>
                  <a:txBody>
                    <a:bodyPr/>
                    <a:lstStyle/>
                    <a:p>
                      <a:pPr indent="0" lvl="0" marL="0" marR="0" rtl="0" algn="l">
                        <a:spcBef>
                          <a:spcPts val="0"/>
                        </a:spcBef>
                        <a:spcAft>
                          <a:spcPts val="0"/>
                        </a:spcAft>
                        <a:buClr>
                          <a:srgbClr val="1D2A5C"/>
                        </a:buClr>
                        <a:buSzPts val="1150"/>
                        <a:buFont typeface="Calibri"/>
                        <a:buNone/>
                      </a:pPr>
                      <a:r>
                        <a:rPr b="1" lang="en-US" sz="1150" u="none" cap="none" strike="noStrike">
                          <a:solidFill>
                            <a:srgbClr val="1D2A5C"/>
                          </a:solidFill>
                          <a:latin typeface="Calibri"/>
                          <a:ea typeface="Calibri"/>
                          <a:cs typeface="Calibri"/>
                          <a:sym typeface="Calibri"/>
                        </a:rPr>
                        <a:t>2</a:t>
                      </a:r>
                      <a:endParaRPr sz="1150" u="none" cap="none" strike="noStrike">
                        <a:latin typeface="Calibri"/>
                        <a:ea typeface="Calibri"/>
                        <a:cs typeface="Calibri"/>
                        <a:sym typeface="Calibri"/>
                      </a:endParaRPr>
                    </a:p>
                  </a:txBody>
                  <a:tcPr marT="64000" marB="64000" marR="64000" marL="64000" anchor="ctr">
                    <a:lnL cap="flat" cmpd="sng" w="9525">
                      <a:solidFill>
                        <a:srgbClr val="D9E2EA"/>
                      </a:solidFill>
                      <a:prstDash val="solid"/>
                      <a:round/>
                      <a:headEnd len="sm" w="sm" type="none"/>
                      <a:tailEnd len="sm" w="sm" type="none"/>
                    </a:lnL>
                    <a:lnR cap="flat" cmpd="sng" w="9525">
                      <a:solidFill>
                        <a:srgbClr val="D9E2EA"/>
                      </a:solidFill>
                      <a:prstDash val="solid"/>
                      <a:round/>
                      <a:headEnd len="sm" w="sm" type="none"/>
                      <a:tailEnd len="sm" w="sm" type="none"/>
                    </a:lnR>
                    <a:lnT cap="flat" cmpd="sng" w="9525">
                      <a:solidFill>
                        <a:srgbClr val="D9E2EA"/>
                      </a:solidFill>
                      <a:prstDash val="solid"/>
                      <a:round/>
                      <a:headEnd len="sm" w="sm" type="none"/>
                      <a:tailEnd len="sm" w="sm" type="none"/>
                    </a:lnT>
                    <a:lnB cap="flat" cmpd="sng" w="9525">
                      <a:solidFill>
                        <a:srgbClr val="D9E2EA"/>
                      </a:solidFill>
                      <a:prstDash val="solid"/>
                      <a:round/>
                      <a:headEnd len="sm" w="sm" type="none"/>
                      <a:tailEnd len="sm" w="sm" type="none"/>
                    </a:lnB>
                    <a:solidFill>
                      <a:srgbClr val="F2F6F9"/>
                    </a:solidFill>
                  </a:tcPr>
                </a:tc>
                <a:tc>
                  <a:txBody>
                    <a:bodyPr/>
                    <a:lstStyle/>
                    <a:p>
                      <a:pPr indent="0" lvl="0" marL="0" marR="0" rtl="0" algn="l">
                        <a:spcBef>
                          <a:spcPts val="0"/>
                        </a:spcBef>
                        <a:spcAft>
                          <a:spcPts val="0"/>
                        </a:spcAft>
                        <a:buClr>
                          <a:srgbClr val="23293B"/>
                        </a:buClr>
                        <a:buSzPts val="1150"/>
                        <a:buFont typeface="Calibri"/>
                        <a:buNone/>
                      </a:pPr>
                      <a:r>
                        <a:rPr lang="en-US" sz="1150" u="none" cap="none" strike="noStrike">
                          <a:solidFill>
                            <a:srgbClr val="23293B"/>
                          </a:solidFill>
                          <a:latin typeface="Calibri"/>
                          <a:ea typeface="Calibri"/>
                          <a:cs typeface="Calibri"/>
                          <a:sym typeface="Calibri"/>
                        </a:rPr>
                        <a:t>Image data, preprocessing &amp; augmentation (M1)</a:t>
                      </a:r>
                      <a:endParaRPr sz="1150" u="none" cap="none" strike="noStrike">
                        <a:latin typeface="Calibri"/>
                        <a:ea typeface="Calibri"/>
                        <a:cs typeface="Calibri"/>
                        <a:sym typeface="Calibri"/>
                      </a:endParaRPr>
                    </a:p>
                  </a:txBody>
                  <a:tcPr marT="64000" marB="64000" marR="64000" marL="64000" anchor="ctr">
                    <a:lnL cap="flat" cmpd="sng" w="9525">
                      <a:solidFill>
                        <a:srgbClr val="D9E2EA"/>
                      </a:solidFill>
                      <a:prstDash val="solid"/>
                      <a:round/>
                      <a:headEnd len="sm" w="sm" type="none"/>
                      <a:tailEnd len="sm" w="sm" type="none"/>
                    </a:lnL>
                    <a:lnR cap="flat" cmpd="sng" w="9525">
                      <a:solidFill>
                        <a:srgbClr val="D9E2EA"/>
                      </a:solidFill>
                      <a:prstDash val="solid"/>
                      <a:round/>
                      <a:headEnd len="sm" w="sm" type="none"/>
                      <a:tailEnd len="sm" w="sm" type="none"/>
                    </a:lnR>
                    <a:lnT cap="flat" cmpd="sng" w="9525">
                      <a:solidFill>
                        <a:srgbClr val="D9E2EA"/>
                      </a:solidFill>
                      <a:prstDash val="solid"/>
                      <a:round/>
                      <a:headEnd len="sm" w="sm" type="none"/>
                      <a:tailEnd len="sm" w="sm" type="none"/>
                    </a:lnT>
                    <a:lnB cap="flat" cmpd="sng" w="9525">
                      <a:solidFill>
                        <a:srgbClr val="D9E2EA"/>
                      </a:solidFill>
                      <a:prstDash val="solid"/>
                      <a:round/>
                      <a:headEnd len="sm" w="sm" type="none"/>
                      <a:tailEnd len="sm" w="sm" type="none"/>
                    </a:lnB>
                    <a:solidFill>
                      <a:srgbClr val="F2F6F9"/>
                    </a:solidFill>
                  </a:tcPr>
                </a:tc>
                <a:tc>
                  <a:txBody>
                    <a:bodyPr/>
                    <a:lstStyle/>
                    <a:p>
                      <a:pPr indent="0" lvl="0" marL="0" marR="0" rtl="0" algn="l">
                        <a:spcBef>
                          <a:spcPts val="0"/>
                        </a:spcBef>
                        <a:spcAft>
                          <a:spcPts val="0"/>
                        </a:spcAft>
                        <a:buClr>
                          <a:srgbClr val="23293B"/>
                        </a:buClr>
                        <a:buSzPts val="1150"/>
                        <a:buFont typeface="Calibri"/>
                        <a:buNone/>
                      </a:pPr>
                      <a:r>
                        <a:rPr lang="en-US" sz="1150" u="none" cap="none" strike="noStrike">
                          <a:solidFill>
                            <a:srgbClr val="23293B"/>
                          </a:solidFill>
                          <a:latin typeface="Calibri"/>
                          <a:ea typeface="Calibri"/>
                          <a:cs typeface="Calibri"/>
                          <a:sym typeface="Calibri"/>
                        </a:rPr>
                        <a:t>Lecture + live pipeline demo</a:t>
                      </a:r>
                      <a:endParaRPr sz="1150" u="none" cap="none" strike="noStrike">
                        <a:latin typeface="Calibri"/>
                        <a:ea typeface="Calibri"/>
                        <a:cs typeface="Calibri"/>
                        <a:sym typeface="Calibri"/>
                      </a:endParaRPr>
                    </a:p>
                  </a:txBody>
                  <a:tcPr marT="64000" marB="64000" marR="64000" marL="64000" anchor="ctr">
                    <a:lnL cap="flat" cmpd="sng" w="9525">
                      <a:solidFill>
                        <a:srgbClr val="D9E2EA"/>
                      </a:solidFill>
                      <a:prstDash val="solid"/>
                      <a:round/>
                      <a:headEnd len="sm" w="sm" type="none"/>
                      <a:tailEnd len="sm" w="sm" type="none"/>
                    </a:lnL>
                    <a:lnR cap="flat" cmpd="sng" w="9525">
                      <a:solidFill>
                        <a:srgbClr val="D9E2EA"/>
                      </a:solidFill>
                      <a:prstDash val="solid"/>
                      <a:round/>
                      <a:headEnd len="sm" w="sm" type="none"/>
                      <a:tailEnd len="sm" w="sm" type="none"/>
                    </a:lnR>
                    <a:lnT cap="flat" cmpd="sng" w="9525">
                      <a:solidFill>
                        <a:srgbClr val="D9E2EA"/>
                      </a:solidFill>
                      <a:prstDash val="solid"/>
                      <a:round/>
                      <a:headEnd len="sm" w="sm" type="none"/>
                      <a:tailEnd len="sm" w="sm" type="none"/>
                    </a:lnT>
                    <a:lnB cap="flat" cmpd="sng" w="9525">
                      <a:solidFill>
                        <a:srgbClr val="D9E2EA"/>
                      </a:solidFill>
                      <a:prstDash val="solid"/>
                      <a:round/>
                      <a:headEnd len="sm" w="sm" type="none"/>
                      <a:tailEnd len="sm" w="sm" type="none"/>
                    </a:lnB>
                    <a:solidFill>
                      <a:srgbClr val="F2F6F9"/>
                    </a:solidFill>
                  </a:tcPr>
                </a:tc>
                <a:tc>
                  <a:txBody>
                    <a:bodyPr/>
                    <a:lstStyle/>
                    <a:p>
                      <a:pPr indent="0" lvl="0" marL="0" marR="0" rtl="0" algn="l">
                        <a:spcBef>
                          <a:spcPts val="0"/>
                        </a:spcBef>
                        <a:spcAft>
                          <a:spcPts val="0"/>
                        </a:spcAft>
                        <a:buClr>
                          <a:srgbClr val="23293B"/>
                        </a:buClr>
                        <a:buSzPts val="1150"/>
                        <a:buFont typeface="Calibri"/>
                        <a:buNone/>
                      </a:pPr>
                      <a:r>
                        <a:rPr lang="en-US" sz="1150" u="none" cap="none" strike="noStrike">
                          <a:solidFill>
                            <a:srgbClr val="23293B"/>
                          </a:solidFill>
                          <a:latin typeface="Calibri"/>
                          <a:ea typeface="Calibri"/>
                          <a:cs typeface="Calibri"/>
                          <a:sym typeface="Calibri"/>
                        </a:rPr>
                        <a:t>70/30</a:t>
                      </a:r>
                      <a:endParaRPr sz="1150" u="none" cap="none" strike="noStrike">
                        <a:latin typeface="Calibri"/>
                        <a:ea typeface="Calibri"/>
                        <a:cs typeface="Calibri"/>
                        <a:sym typeface="Calibri"/>
                      </a:endParaRPr>
                    </a:p>
                  </a:txBody>
                  <a:tcPr marT="64000" marB="64000" marR="64000" marL="64000" anchor="ctr">
                    <a:lnL cap="flat" cmpd="sng" w="9525">
                      <a:solidFill>
                        <a:srgbClr val="D9E2EA"/>
                      </a:solidFill>
                      <a:prstDash val="solid"/>
                      <a:round/>
                      <a:headEnd len="sm" w="sm" type="none"/>
                      <a:tailEnd len="sm" w="sm" type="none"/>
                    </a:lnL>
                    <a:lnR cap="flat" cmpd="sng" w="9525">
                      <a:solidFill>
                        <a:srgbClr val="D9E2EA"/>
                      </a:solidFill>
                      <a:prstDash val="solid"/>
                      <a:round/>
                      <a:headEnd len="sm" w="sm" type="none"/>
                      <a:tailEnd len="sm" w="sm" type="none"/>
                    </a:lnR>
                    <a:lnT cap="flat" cmpd="sng" w="9525">
                      <a:solidFill>
                        <a:srgbClr val="D9E2EA"/>
                      </a:solidFill>
                      <a:prstDash val="solid"/>
                      <a:round/>
                      <a:headEnd len="sm" w="sm" type="none"/>
                      <a:tailEnd len="sm" w="sm" type="none"/>
                    </a:lnT>
                    <a:lnB cap="flat" cmpd="sng" w="9525">
                      <a:solidFill>
                        <a:srgbClr val="D9E2EA"/>
                      </a:solidFill>
                      <a:prstDash val="solid"/>
                      <a:round/>
                      <a:headEnd len="sm" w="sm" type="none"/>
                      <a:tailEnd len="sm" w="sm" type="none"/>
                    </a:lnB>
                    <a:solidFill>
                      <a:srgbClr val="F2F6F9"/>
                    </a:solidFill>
                  </a:tcPr>
                </a:tc>
              </a:tr>
              <a:tr h="713225">
                <a:tc>
                  <a:txBody>
                    <a:bodyPr/>
                    <a:lstStyle/>
                    <a:p>
                      <a:pPr indent="0" lvl="0" marL="0" marR="0" rtl="0" algn="l">
                        <a:spcBef>
                          <a:spcPts val="0"/>
                        </a:spcBef>
                        <a:spcAft>
                          <a:spcPts val="0"/>
                        </a:spcAft>
                        <a:buClr>
                          <a:srgbClr val="1D2A5C"/>
                        </a:buClr>
                        <a:buSzPts val="1150"/>
                        <a:buFont typeface="Calibri"/>
                        <a:buNone/>
                      </a:pPr>
                      <a:r>
                        <a:rPr b="1" lang="en-US" sz="1150" u="none" cap="none" strike="noStrike">
                          <a:solidFill>
                            <a:srgbClr val="1D2A5C"/>
                          </a:solidFill>
                          <a:latin typeface="Calibri"/>
                          <a:ea typeface="Calibri"/>
                          <a:cs typeface="Calibri"/>
                          <a:sym typeface="Calibri"/>
                        </a:rPr>
                        <a:t>3</a:t>
                      </a:r>
                      <a:endParaRPr sz="1150" u="none" cap="none" strike="noStrike">
                        <a:latin typeface="Calibri"/>
                        <a:ea typeface="Calibri"/>
                        <a:cs typeface="Calibri"/>
                        <a:sym typeface="Calibri"/>
                      </a:endParaRPr>
                    </a:p>
                  </a:txBody>
                  <a:tcPr marT="64000" marB="64000" marR="64000" marL="64000" anchor="ctr">
                    <a:lnL cap="flat" cmpd="sng" w="9525">
                      <a:solidFill>
                        <a:srgbClr val="D9E2EA"/>
                      </a:solidFill>
                      <a:prstDash val="solid"/>
                      <a:round/>
                      <a:headEnd len="sm" w="sm" type="none"/>
                      <a:tailEnd len="sm" w="sm" type="none"/>
                    </a:lnL>
                    <a:lnR cap="flat" cmpd="sng" w="9525">
                      <a:solidFill>
                        <a:srgbClr val="D9E2EA"/>
                      </a:solidFill>
                      <a:prstDash val="solid"/>
                      <a:round/>
                      <a:headEnd len="sm" w="sm" type="none"/>
                      <a:tailEnd len="sm" w="sm" type="none"/>
                    </a:lnR>
                    <a:lnT cap="flat" cmpd="sng" w="9525">
                      <a:solidFill>
                        <a:srgbClr val="D9E2EA"/>
                      </a:solidFill>
                      <a:prstDash val="solid"/>
                      <a:round/>
                      <a:headEnd len="sm" w="sm" type="none"/>
                      <a:tailEnd len="sm" w="sm" type="none"/>
                    </a:lnT>
                    <a:lnB cap="flat" cmpd="sng" w="9525">
                      <a:solidFill>
                        <a:srgbClr val="D9E2EA"/>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23293B"/>
                        </a:buClr>
                        <a:buSzPts val="1150"/>
                        <a:buFont typeface="Calibri"/>
                        <a:buNone/>
                      </a:pPr>
                      <a:r>
                        <a:rPr lang="en-US" sz="1150" u="none" cap="none" strike="noStrike">
                          <a:solidFill>
                            <a:srgbClr val="23293B"/>
                          </a:solidFill>
                          <a:latin typeface="Calibri"/>
                          <a:ea typeface="Calibri"/>
                          <a:cs typeface="Calibri"/>
                          <a:sym typeface="Calibri"/>
                        </a:rPr>
                        <a:t>Lab 1 — build the dates-qc input pipeline</a:t>
                      </a:r>
                      <a:endParaRPr sz="1150" u="none" cap="none" strike="noStrike">
                        <a:latin typeface="Calibri"/>
                        <a:ea typeface="Calibri"/>
                        <a:cs typeface="Calibri"/>
                        <a:sym typeface="Calibri"/>
                      </a:endParaRPr>
                    </a:p>
                  </a:txBody>
                  <a:tcPr marT="64000" marB="64000" marR="64000" marL="64000" anchor="ctr">
                    <a:lnL cap="flat" cmpd="sng" w="9525">
                      <a:solidFill>
                        <a:srgbClr val="D9E2EA"/>
                      </a:solidFill>
                      <a:prstDash val="solid"/>
                      <a:round/>
                      <a:headEnd len="sm" w="sm" type="none"/>
                      <a:tailEnd len="sm" w="sm" type="none"/>
                    </a:lnL>
                    <a:lnR cap="flat" cmpd="sng" w="9525">
                      <a:solidFill>
                        <a:srgbClr val="D9E2EA"/>
                      </a:solidFill>
                      <a:prstDash val="solid"/>
                      <a:round/>
                      <a:headEnd len="sm" w="sm" type="none"/>
                      <a:tailEnd len="sm" w="sm" type="none"/>
                    </a:lnR>
                    <a:lnT cap="flat" cmpd="sng" w="9525">
                      <a:solidFill>
                        <a:srgbClr val="D9E2EA"/>
                      </a:solidFill>
                      <a:prstDash val="solid"/>
                      <a:round/>
                      <a:headEnd len="sm" w="sm" type="none"/>
                      <a:tailEnd len="sm" w="sm" type="none"/>
                    </a:lnT>
                    <a:lnB cap="flat" cmpd="sng" w="9525">
                      <a:solidFill>
                        <a:srgbClr val="D9E2EA"/>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23293B"/>
                        </a:buClr>
                        <a:buSzPts val="1150"/>
                        <a:buFont typeface="Calibri"/>
                        <a:buNone/>
                      </a:pPr>
                      <a:r>
                        <a:rPr lang="en-US" sz="1150" u="none" cap="none" strike="noStrike">
                          <a:solidFill>
                            <a:srgbClr val="23293B"/>
                          </a:solidFill>
                          <a:latin typeface="Calibri"/>
                          <a:ea typeface="Calibri"/>
                          <a:cs typeface="Calibri"/>
                          <a:sym typeface="Calibri"/>
                        </a:rPr>
                        <a:t>Guided lab (pairs)</a:t>
                      </a:r>
                      <a:endParaRPr sz="1150" u="none" cap="none" strike="noStrike">
                        <a:latin typeface="Calibri"/>
                        <a:ea typeface="Calibri"/>
                        <a:cs typeface="Calibri"/>
                        <a:sym typeface="Calibri"/>
                      </a:endParaRPr>
                    </a:p>
                  </a:txBody>
                  <a:tcPr marT="64000" marB="64000" marR="64000" marL="64000" anchor="ctr">
                    <a:lnL cap="flat" cmpd="sng" w="9525">
                      <a:solidFill>
                        <a:srgbClr val="D9E2EA"/>
                      </a:solidFill>
                      <a:prstDash val="solid"/>
                      <a:round/>
                      <a:headEnd len="sm" w="sm" type="none"/>
                      <a:tailEnd len="sm" w="sm" type="none"/>
                    </a:lnL>
                    <a:lnR cap="flat" cmpd="sng" w="9525">
                      <a:solidFill>
                        <a:srgbClr val="D9E2EA"/>
                      </a:solidFill>
                      <a:prstDash val="solid"/>
                      <a:round/>
                      <a:headEnd len="sm" w="sm" type="none"/>
                      <a:tailEnd len="sm" w="sm" type="none"/>
                    </a:lnR>
                    <a:lnT cap="flat" cmpd="sng" w="9525">
                      <a:solidFill>
                        <a:srgbClr val="D9E2EA"/>
                      </a:solidFill>
                      <a:prstDash val="solid"/>
                      <a:round/>
                      <a:headEnd len="sm" w="sm" type="none"/>
                      <a:tailEnd len="sm" w="sm" type="none"/>
                    </a:lnT>
                    <a:lnB cap="flat" cmpd="sng" w="9525">
                      <a:solidFill>
                        <a:srgbClr val="D9E2EA"/>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23293B"/>
                        </a:buClr>
                        <a:buSzPts val="1150"/>
                        <a:buFont typeface="Calibri"/>
                        <a:buNone/>
                      </a:pPr>
                      <a:r>
                        <a:rPr lang="en-US" sz="1150" u="none" cap="none" strike="noStrike">
                          <a:solidFill>
                            <a:srgbClr val="23293B"/>
                          </a:solidFill>
                          <a:latin typeface="Calibri"/>
                          <a:ea typeface="Calibri"/>
                          <a:cs typeface="Calibri"/>
                          <a:sym typeface="Calibri"/>
                        </a:rPr>
                        <a:t>10/90</a:t>
                      </a:r>
                      <a:endParaRPr sz="1150" u="none" cap="none" strike="noStrike">
                        <a:latin typeface="Calibri"/>
                        <a:ea typeface="Calibri"/>
                        <a:cs typeface="Calibri"/>
                        <a:sym typeface="Calibri"/>
                      </a:endParaRPr>
                    </a:p>
                  </a:txBody>
                  <a:tcPr marT="64000" marB="64000" marR="64000" marL="64000" anchor="ctr">
                    <a:lnL cap="flat" cmpd="sng" w="9525">
                      <a:solidFill>
                        <a:srgbClr val="D9E2EA"/>
                      </a:solidFill>
                      <a:prstDash val="solid"/>
                      <a:round/>
                      <a:headEnd len="sm" w="sm" type="none"/>
                      <a:tailEnd len="sm" w="sm" type="none"/>
                    </a:lnL>
                    <a:lnR cap="flat" cmpd="sng" w="9525">
                      <a:solidFill>
                        <a:srgbClr val="D9E2EA"/>
                      </a:solidFill>
                      <a:prstDash val="solid"/>
                      <a:round/>
                      <a:headEnd len="sm" w="sm" type="none"/>
                      <a:tailEnd len="sm" w="sm" type="none"/>
                    </a:lnR>
                    <a:lnT cap="flat" cmpd="sng" w="9525">
                      <a:solidFill>
                        <a:srgbClr val="D9E2EA"/>
                      </a:solidFill>
                      <a:prstDash val="solid"/>
                      <a:round/>
                      <a:headEnd len="sm" w="sm" type="none"/>
                      <a:tailEnd len="sm" w="sm" type="none"/>
                    </a:lnT>
                    <a:lnB cap="flat" cmpd="sng" w="9525">
                      <a:solidFill>
                        <a:srgbClr val="D9E2EA"/>
                      </a:solidFill>
                      <a:prstDash val="solid"/>
                      <a:round/>
                      <a:headEnd len="sm" w="sm" type="none"/>
                      <a:tailEnd len="sm" w="sm" type="none"/>
                    </a:lnB>
                    <a:solidFill>
                      <a:srgbClr val="FFFFFF"/>
                    </a:solidFill>
                  </a:tcPr>
                </a:tc>
              </a:tr>
              <a:tr h="713225">
                <a:tc>
                  <a:txBody>
                    <a:bodyPr/>
                    <a:lstStyle/>
                    <a:p>
                      <a:pPr indent="0" lvl="0" marL="0" marR="0" rtl="0" algn="l">
                        <a:spcBef>
                          <a:spcPts val="0"/>
                        </a:spcBef>
                        <a:spcAft>
                          <a:spcPts val="0"/>
                        </a:spcAft>
                        <a:buClr>
                          <a:srgbClr val="1D2A5C"/>
                        </a:buClr>
                        <a:buSzPts val="1150"/>
                        <a:buFont typeface="Calibri"/>
                        <a:buNone/>
                      </a:pPr>
                      <a:r>
                        <a:rPr b="1" lang="en-US" sz="1150" u="none" cap="none" strike="noStrike">
                          <a:solidFill>
                            <a:srgbClr val="1D2A5C"/>
                          </a:solidFill>
                          <a:latin typeface="Calibri"/>
                          <a:ea typeface="Calibri"/>
                          <a:cs typeface="Calibri"/>
                          <a:sym typeface="Calibri"/>
                        </a:rPr>
                        <a:t>4</a:t>
                      </a:r>
                      <a:endParaRPr sz="1150" u="none" cap="none" strike="noStrike">
                        <a:latin typeface="Calibri"/>
                        <a:ea typeface="Calibri"/>
                        <a:cs typeface="Calibri"/>
                        <a:sym typeface="Calibri"/>
                      </a:endParaRPr>
                    </a:p>
                  </a:txBody>
                  <a:tcPr marT="64000" marB="64000" marR="64000" marL="64000" anchor="ctr">
                    <a:lnL cap="flat" cmpd="sng" w="9525">
                      <a:solidFill>
                        <a:srgbClr val="D9E2EA"/>
                      </a:solidFill>
                      <a:prstDash val="solid"/>
                      <a:round/>
                      <a:headEnd len="sm" w="sm" type="none"/>
                      <a:tailEnd len="sm" w="sm" type="none"/>
                    </a:lnL>
                    <a:lnR cap="flat" cmpd="sng" w="9525">
                      <a:solidFill>
                        <a:srgbClr val="D9E2EA"/>
                      </a:solidFill>
                      <a:prstDash val="solid"/>
                      <a:round/>
                      <a:headEnd len="sm" w="sm" type="none"/>
                      <a:tailEnd len="sm" w="sm" type="none"/>
                    </a:lnR>
                    <a:lnT cap="flat" cmpd="sng" w="9525">
                      <a:solidFill>
                        <a:srgbClr val="D9E2EA"/>
                      </a:solidFill>
                      <a:prstDash val="solid"/>
                      <a:round/>
                      <a:headEnd len="sm" w="sm" type="none"/>
                      <a:tailEnd len="sm" w="sm" type="none"/>
                    </a:lnT>
                    <a:lnB cap="flat" cmpd="sng" w="9525">
                      <a:solidFill>
                        <a:srgbClr val="D9E2EA"/>
                      </a:solidFill>
                      <a:prstDash val="solid"/>
                      <a:round/>
                      <a:headEnd len="sm" w="sm" type="none"/>
                      <a:tailEnd len="sm" w="sm" type="none"/>
                    </a:lnB>
                    <a:solidFill>
                      <a:srgbClr val="F2F6F9"/>
                    </a:solidFill>
                  </a:tcPr>
                </a:tc>
                <a:tc>
                  <a:txBody>
                    <a:bodyPr/>
                    <a:lstStyle/>
                    <a:p>
                      <a:pPr indent="0" lvl="0" marL="0" marR="0" rtl="0" algn="l">
                        <a:spcBef>
                          <a:spcPts val="0"/>
                        </a:spcBef>
                        <a:spcAft>
                          <a:spcPts val="0"/>
                        </a:spcAft>
                        <a:buClr>
                          <a:srgbClr val="23293B"/>
                        </a:buClr>
                        <a:buSzPts val="1150"/>
                        <a:buFont typeface="Calibri"/>
                        <a:buNone/>
                      </a:pPr>
                      <a:r>
                        <a:rPr lang="en-US" sz="1150" u="none" cap="none" strike="noStrike">
                          <a:solidFill>
                            <a:srgbClr val="23293B"/>
                          </a:solidFill>
                          <a:latin typeface="Calibri"/>
                          <a:ea typeface="Calibri"/>
                          <a:cs typeface="Calibri"/>
                          <a:sym typeface="Calibri"/>
                        </a:rPr>
                        <a:t>CNN architectures &amp; vision transformers (M2)</a:t>
                      </a:r>
                      <a:endParaRPr sz="1150" u="none" cap="none" strike="noStrike">
                        <a:latin typeface="Calibri"/>
                        <a:ea typeface="Calibri"/>
                        <a:cs typeface="Calibri"/>
                        <a:sym typeface="Calibri"/>
                      </a:endParaRPr>
                    </a:p>
                  </a:txBody>
                  <a:tcPr marT="64000" marB="64000" marR="64000" marL="64000" anchor="ctr">
                    <a:lnL cap="flat" cmpd="sng" w="9525">
                      <a:solidFill>
                        <a:srgbClr val="D9E2EA"/>
                      </a:solidFill>
                      <a:prstDash val="solid"/>
                      <a:round/>
                      <a:headEnd len="sm" w="sm" type="none"/>
                      <a:tailEnd len="sm" w="sm" type="none"/>
                    </a:lnL>
                    <a:lnR cap="flat" cmpd="sng" w="9525">
                      <a:solidFill>
                        <a:srgbClr val="D9E2EA"/>
                      </a:solidFill>
                      <a:prstDash val="solid"/>
                      <a:round/>
                      <a:headEnd len="sm" w="sm" type="none"/>
                      <a:tailEnd len="sm" w="sm" type="none"/>
                    </a:lnR>
                    <a:lnT cap="flat" cmpd="sng" w="9525">
                      <a:solidFill>
                        <a:srgbClr val="D9E2EA"/>
                      </a:solidFill>
                      <a:prstDash val="solid"/>
                      <a:round/>
                      <a:headEnd len="sm" w="sm" type="none"/>
                      <a:tailEnd len="sm" w="sm" type="none"/>
                    </a:lnT>
                    <a:lnB cap="flat" cmpd="sng" w="9525">
                      <a:solidFill>
                        <a:srgbClr val="D9E2EA"/>
                      </a:solidFill>
                      <a:prstDash val="solid"/>
                      <a:round/>
                      <a:headEnd len="sm" w="sm" type="none"/>
                      <a:tailEnd len="sm" w="sm" type="none"/>
                    </a:lnB>
                    <a:solidFill>
                      <a:srgbClr val="F2F6F9"/>
                    </a:solidFill>
                  </a:tcPr>
                </a:tc>
                <a:tc>
                  <a:txBody>
                    <a:bodyPr/>
                    <a:lstStyle/>
                    <a:p>
                      <a:pPr indent="0" lvl="0" marL="0" marR="0" rtl="0" algn="l">
                        <a:spcBef>
                          <a:spcPts val="0"/>
                        </a:spcBef>
                        <a:spcAft>
                          <a:spcPts val="0"/>
                        </a:spcAft>
                        <a:buClr>
                          <a:srgbClr val="23293B"/>
                        </a:buClr>
                        <a:buSzPts val="1150"/>
                        <a:buFont typeface="Calibri"/>
                        <a:buNone/>
                      </a:pPr>
                      <a:r>
                        <a:rPr lang="en-US" sz="1150" u="none" cap="none" strike="noStrike">
                          <a:solidFill>
                            <a:srgbClr val="23293B"/>
                          </a:solidFill>
                          <a:latin typeface="Calibri"/>
                          <a:ea typeface="Calibri"/>
                          <a:cs typeface="Calibri"/>
                          <a:sym typeface="Calibri"/>
                        </a:rPr>
                        <a:t>Lecture + architecture walkthrough</a:t>
                      </a:r>
                      <a:endParaRPr sz="1150" u="none" cap="none" strike="noStrike">
                        <a:latin typeface="Calibri"/>
                        <a:ea typeface="Calibri"/>
                        <a:cs typeface="Calibri"/>
                        <a:sym typeface="Calibri"/>
                      </a:endParaRPr>
                    </a:p>
                  </a:txBody>
                  <a:tcPr marT="64000" marB="64000" marR="64000" marL="64000" anchor="ctr">
                    <a:lnL cap="flat" cmpd="sng" w="9525">
                      <a:solidFill>
                        <a:srgbClr val="D9E2EA"/>
                      </a:solidFill>
                      <a:prstDash val="solid"/>
                      <a:round/>
                      <a:headEnd len="sm" w="sm" type="none"/>
                      <a:tailEnd len="sm" w="sm" type="none"/>
                    </a:lnL>
                    <a:lnR cap="flat" cmpd="sng" w="9525">
                      <a:solidFill>
                        <a:srgbClr val="D9E2EA"/>
                      </a:solidFill>
                      <a:prstDash val="solid"/>
                      <a:round/>
                      <a:headEnd len="sm" w="sm" type="none"/>
                      <a:tailEnd len="sm" w="sm" type="none"/>
                    </a:lnR>
                    <a:lnT cap="flat" cmpd="sng" w="9525">
                      <a:solidFill>
                        <a:srgbClr val="D9E2EA"/>
                      </a:solidFill>
                      <a:prstDash val="solid"/>
                      <a:round/>
                      <a:headEnd len="sm" w="sm" type="none"/>
                      <a:tailEnd len="sm" w="sm" type="none"/>
                    </a:lnT>
                    <a:lnB cap="flat" cmpd="sng" w="9525">
                      <a:solidFill>
                        <a:srgbClr val="D9E2EA"/>
                      </a:solidFill>
                      <a:prstDash val="solid"/>
                      <a:round/>
                      <a:headEnd len="sm" w="sm" type="none"/>
                      <a:tailEnd len="sm" w="sm" type="none"/>
                    </a:lnB>
                    <a:solidFill>
                      <a:srgbClr val="F2F6F9"/>
                    </a:solidFill>
                  </a:tcPr>
                </a:tc>
                <a:tc>
                  <a:txBody>
                    <a:bodyPr/>
                    <a:lstStyle/>
                    <a:p>
                      <a:pPr indent="0" lvl="0" marL="0" marR="0" rtl="0" algn="l">
                        <a:spcBef>
                          <a:spcPts val="0"/>
                        </a:spcBef>
                        <a:spcAft>
                          <a:spcPts val="0"/>
                        </a:spcAft>
                        <a:buClr>
                          <a:srgbClr val="23293B"/>
                        </a:buClr>
                        <a:buSzPts val="1150"/>
                        <a:buFont typeface="Calibri"/>
                        <a:buNone/>
                      </a:pPr>
                      <a:r>
                        <a:rPr lang="en-US" sz="1150" u="none" cap="none" strike="noStrike">
                          <a:solidFill>
                            <a:srgbClr val="23293B"/>
                          </a:solidFill>
                          <a:latin typeface="Calibri"/>
                          <a:ea typeface="Calibri"/>
                          <a:cs typeface="Calibri"/>
                          <a:sym typeface="Calibri"/>
                        </a:rPr>
                        <a:t>70/30</a:t>
                      </a:r>
                      <a:endParaRPr sz="1150" u="none" cap="none" strike="noStrike">
                        <a:latin typeface="Calibri"/>
                        <a:ea typeface="Calibri"/>
                        <a:cs typeface="Calibri"/>
                        <a:sym typeface="Calibri"/>
                      </a:endParaRPr>
                    </a:p>
                  </a:txBody>
                  <a:tcPr marT="64000" marB="64000" marR="64000" marL="64000" anchor="ctr">
                    <a:lnL cap="flat" cmpd="sng" w="9525">
                      <a:solidFill>
                        <a:srgbClr val="D9E2EA"/>
                      </a:solidFill>
                      <a:prstDash val="solid"/>
                      <a:round/>
                      <a:headEnd len="sm" w="sm" type="none"/>
                      <a:tailEnd len="sm" w="sm" type="none"/>
                    </a:lnL>
                    <a:lnR cap="flat" cmpd="sng" w="9525">
                      <a:solidFill>
                        <a:srgbClr val="D9E2EA"/>
                      </a:solidFill>
                      <a:prstDash val="solid"/>
                      <a:round/>
                      <a:headEnd len="sm" w="sm" type="none"/>
                      <a:tailEnd len="sm" w="sm" type="none"/>
                    </a:lnR>
                    <a:lnT cap="flat" cmpd="sng" w="9525">
                      <a:solidFill>
                        <a:srgbClr val="D9E2EA"/>
                      </a:solidFill>
                      <a:prstDash val="solid"/>
                      <a:round/>
                      <a:headEnd len="sm" w="sm" type="none"/>
                      <a:tailEnd len="sm" w="sm" type="none"/>
                    </a:lnT>
                    <a:lnB cap="flat" cmpd="sng" w="9525">
                      <a:solidFill>
                        <a:srgbClr val="D9E2EA"/>
                      </a:solidFill>
                      <a:prstDash val="solid"/>
                      <a:round/>
                      <a:headEnd len="sm" w="sm" type="none"/>
                      <a:tailEnd len="sm" w="sm" type="none"/>
                    </a:lnB>
                    <a:solidFill>
                      <a:srgbClr val="F2F6F9"/>
                    </a:solidFill>
                  </a:tcPr>
                </a:tc>
              </a:tr>
              <a:tr h="713225">
                <a:tc>
                  <a:txBody>
                    <a:bodyPr/>
                    <a:lstStyle/>
                    <a:p>
                      <a:pPr indent="0" lvl="0" marL="0" marR="0" rtl="0" algn="l">
                        <a:spcBef>
                          <a:spcPts val="0"/>
                        </a:spcBef>
                        <a:spcAft>
                          <a:spcPts val="0"/>
                        </a:spcAft>
                        <a:buClr>
                          <a:srgbClr val="1D2A5C"/>
                        </a:buClr>
                        <a:buSzPts val="1150"/>
                        <a:buFont typeface="Calibri"/>
                        <a:buNone/>
                      </a:pPr>
                      <a:r>
                        <a:rPr b="1" lang="en-US" sz="1150" u="none" cap="none" strike="noStrike">
                          <a:solidFill>
                            <a:srgbClr val="1D2A5C"/>
                          </a:solidFill>
                          <a:latin typeface="Calibri"/>
                          <a:ea typeface="Calibri"/>
                          <a:cs typeface="Calibri"/>
                          <a:sym typeface="Calibri"/>
                        </a:rPr>
                        <a:t>5</a:t>
                      </a:r>
                      <a:endParaRPr sz="1150" u="none" cap="none" strike="noStrike">
                        <a:latin typeface="Calibri"/>
                        <a:ea typeface="Calibri"/>
                        <a:cs typeface="Calibri"/>
                        <a:sym typeface="Calibri"/>
                      </a:endParaRPr>
                    </a:p>
                  </a:txBody>
                  <a:tcPr marT="64000" marB="64000" marR="64000" marL="64000" anchor="ctr">
                    <a:lnL cap="flat" cmpd="sng" w="9525">
                      <a:solidFill>
                        <a:srgbClr val="D9E2EA"/>
                      </a:solidFill>
                      <a:prstDash val="solid"/>
                      <a:round/>
                      <a:headEnd len="sm" w="sm" type="none"/>
                      <a:tailEnd len="sm" w="sm" type="none"/>
                    </a:lnL>
                    <a:lnR cap="flat" cmpd="sng" w="9525">
                      <a:solidFill>
                        <a:srgbClr val="D9E2EA"/>
                      </a:solidFill>
                      <a:prstDash val="solid"/>
                      <a:round/>
                      <a:headEnd len="sm" w="sm" type="none"/>
                      <a:tailEnd len="sm" w="sm" type="none"/>
                    </a:lnR>
                    <a:lnT cap="flat" cmpd="sng" w="9525">
                      <a:solidFill>
                        <a:srgbClr val="D9E2EA"/>
                      </a:solidFill>
                      <a:prstDash val="solid"/>
                      <a:round/>
                      <a:headEnd len="sm" w="sm" type="none"/>
                      <a:tailEnd len="sm" w="sm" type="none"/>
                    </a:lnT>
                    <a:lnB cap="flat" cmpd="sng" w="9525">
                      <a:solidFill>
                        <a:srgbClr val="D9E2EA"/>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23293B"/>
                        </a:buClr>
                        <a:buSzPts val="1150"/>
                        <a:buFont typeface="Calibri"/>
                        <a:buNone/>
                      </a:pPr>
                      <a:r>
                        <a:rPr lang="en-US" sz="1150" u="none" cap="none" strike="noStrike">
                          <a:solidFill>
                            <a:srgbClr val="23293B"/>
                          </a:solidFill>
                          <a:latin typeface="Calibri"/>
                          <a:ea typeface="Calibri"/>
                          <a:cs typeface="Calibri"/>
                          <a:sym typeface="Calibri"/>
                        </a:rPr>
                        <a:t>Lab 2a — fine-tune the grade classifier</a:t>
                      </a:r>
                      <a:endParaRPr sz="1150" u="none" cap="none" strike="noStrike">
                        <a:latin typeface="Calibri"/>
                        <a:ea typeface="Calibri"/>
                        <a:cs typeface="Calibri"/>
                        <a:sym typeface="Calibri"/>
                      </a:endParaRPr>
                    </a:p>
                  </a:txBody>
                  <a:tcPr marT="64000" marB="64000" marR="64000" marL="64000" anchor="ctr">
                    <a:lnL cap="flat" cmpd="sng" w="9525">
                      <a:solidFill>
                        <a:srgbClr val="D9E2EA"/>
                      </a:solidFill>
                      <a:prstDash val="solid"/>
                      <a:round/>
                      <a:headEnd len="sm" w="sm" type="none"/>
                      <a:tailEnd len="sm" w="sm" type="none"/>
                    </a:lnL>
                    <a:lnR cap="flat" cmpd="sng" w="9525">
                      <a:solidFill>
                        <a:srgbClr val="D9E2EA"/>
                      </a:solidFill>
                      <a:prstDash val="solid"/>
                      <a:round/>
                      <a:headEnd len="sm" w="sm" type="none"/>
                      <a:tailEnd len="sm" w="sm" type="none"/>
                    </a:lnR>
                    <a:lnT cap="flat" cmpd="sng" w="9525">
                      <a:solidFill>
                        <a:srgbClr val="D9E2EA"/>
                      </a:solidFill>
                      <a:prstDash val="solid"/>
                      <a:round/>
                      <a:headEnd len="sm" w="sm" type="none"/>
                      <a:tailEnd len="sm" w="sm" type="none"/>
                    </a:lnT>
                    <a:lnB cap="flat" cmpd="sng" w="9525">
                      <a:solidFill>
                        <a:srgbClr val="D9E2EA"/>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23293B"/>
                        </a:buClr>
                        <a:buSzPts val="1150"/>
                        <a:buFont typeface="Calibri"/>
                        <a:buNone/>
                      </a:pPr>
                      <a:r>
                        <a:rPr lang="en-US" sz="1150" u="none" cap="none" strike="noStrike">
                          <a:solidFill>
                            <a:srgbClr val="23293B"/>
                          </a:solidFill>
                          <a:latin typeface="Calibri"/>
                          <a:ea typeface="Calibri"/>
                          <a:cs typeface="Calibri"/>
                          <a:sym typeface="Calibri"/>
                        </a:rPr>
                        <a:t>Guided lab (pairs)</a:t>
                      </a:r>
                      <a:endParaRPr sz="1150" u="none" cap="none" strike="noStrike">
                        <a:latin typeface="Calibri"/>
                        <a:ea typeface="Calibri"/>
                        <a:cs typeface="Calibri"/>
                        <a:sym typeface="Calibri"/>
                      </a:endParaRPr>
                    </a:p>
                  </a:txBody>
                  <a:tcPr marT="64000" marB="64000" marR="64000" marL="64000" anchor="ctr">
                    <a:lnL cap="flat" cmpd="sng" w="9525">
                      <a:solidFill>
                        <a:srgbClr val="D9E2EA"/>
                      </a:solidFill>
                      <a:prstDash val="solid"/>
                      <a:round/>
                      <a:headEnd len="sm" w="sm" type="none"/>
                      <a:tailEnd len="sm" w="sm" type="none"/>
                    </a:lnL>
                    <a:lnR cap="flat" cmpd="sng" w="9525">
                      <a:solidFill>
                        <a:srgbClr val="D9E2EA"/>
                      </a:solidFill>
                      <a:prstDash val="solid"/>
                      <a:round/>
                      <a:headEnd len="sm" w="sm" type="none"/>
                      <a:tailEnd len="sm" w="sm" type="none"/>
                    </a:lnR>
                    <a:lnT cap="flat" cmpd="sng" w="9525">
                      <a:solidFill>
                        <a:srgbClr val="D9E2EA"/>
                      </a:solidFill>
                      <a:prstDash val="solid"/>
                      <a:round/>
                      <a:headEnd len="sm" w="sm" type="none"/>
                      <a:tailEnd len="sm" w="sm" type="none"/>
                    </a:lnT>
                    <a:lnB cap="flat" cmpd="sng" w="9525">
                      <a:solidFill>
                        <a:srgbClr val="D9E2EA"/>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23293B"/>
                        </a:buClr>
                        <a:buSzPts val="1150"/>
                        <a:buFont typeface="Calibri"/>
                        <a:buNone/>
                      </a:pPr>
                      <a:r>
                        <a:rPr lang="en-US" sz="1150" u="none" cap="none" strike="noStrike">
                          <a:solidFill>
                            <a:srgbClr val="23293B"/>
                          </a:solidFill>
                          <a:latin typeface="Calibri"/>
                          <a:ea typeface="Calibri"/>
                          <a:cs typeface="Calibri"/>
                          <a:sym typeface="Calibri"/>
                        </a:rPr>
                        <a:t>10/90</a:t>
                      </a:r>
                      <a:endParaRPr sz="1150" u="none" cap="none" strike="noStrike">
                        <a:latin typeface="Calibri"/>
                        <a:ea typeface="Calibri"/>
                        <a:cs typeface="Calibri"/>
                        <a:sym typeface="Calibri"/>
                      </a:endParaRPr>
                    </a:p>
                  </a:txBody>
                  <a:tcPr marT="64000" marB="64000" marR="64000" marL="64000" anchor="ctr">
                    <a:lnL cap="flat" cmpd="sng" w="9525">
                      <a:solidFill>
                        <a:srgbClr val="D9E2EA"/>
                      </a:solidFill>
                      <a:prstDash val="solid"/>
                      <a:round/>
                      <a:headEnd len="sm" w="sm" type="none"/>
                      <a:tailEnd len="sm" w="sm" type="none"/>
                    </a:lnL>
                    <a:lnR cap="flat" cmpd="sng" w="9525">
                      <a:solidFill>
                        <a:srgbClr val="D9E2EA"/>
                      </a:solidFill>
                      <a:prstDash val="solid"/>
                      <a:round/>
                      <a:headEnd len="sm" w="sm" type="none"/>
                      <a:tailEnd len="sm" w="sm" type="none"/>
                    </a:lnR>
                    <a:lnT cap="flat" cmpd="sng" w="9525">
                      <a:solidFill>
                        <a:srgbClr val="D9E2EA"/>
                      </a:solidFill>
                      <a:prstDash val="solid"/>
                      <a:round/>
                      <a:headEnd len="sm" w="sm" type="none"/>
                      <a:tailEnd len="sm" w="sm" type="none"/>
                    </a:lnT>
                    <a:lnB cap="flat" cmpd="sng" w="9525">
                      <a:solidFill>
                        <a:srgbClr val="D9E2EA"/>
                      </a:solidFill>
                      <a:prstDash val="solid"/>
                      <a:round/>
                      <a:headEnd len="sm" w="sm" type="none"/>
                      <a:tailEnd len="sm" w="sm" type="none"/>
                    </a:lnB>
                    <a:solidFill>
                      <a:srgbClr val="FFFFFF"/>
                    </a:solidFill>
                  </a:tcPr>
                </a:tc>
              </a:tr>
            </a:tbl>
          </a:graphicData>
        </a:graphic>
      </p:graphicFrame>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41F49"/>
        </a:solidFill>
      </p:bgPr>
    </p:bg>
    <p:spTree>
      <p:nvGrpSpPr>
        <p:cNvPr id="342" name="Shape 342"/>
        <p:cNvGrpSpPr/>
        <p:nvPr/>
      </p:nvGrpSpPr>
      <p:grpSpPr>
        <a:xfrm>
          <a:off x="0" y="0"/>
          <a:ext cx="0" cy="0"/>
          <a:chOff x="0" y="0"/>
          <a:chExt cx="0" cy="0"/>
        </a:xfrm>
      </p:grpSpPr>
      <p:sp>
        <p:nvSpPr>
          <p:cNvPr id="343" name="Google Shape;343;p12"/>
          <p:cNvSpPr/>
          <p:nvPr/>
        </p:nvSpPr>
        <p:spPr>
          <a:xfrm>
            <a:off x="9418320" y="6149340"/>
            <a:ext cx="411480" cy="356616"/>
          </a:xfrm>
          <a:prstGeom prst="triangle">
            <a:avLst>
              <a:gd fmla="val 50000" name="adj"/>
            </a:avLst>
          </a:prstGeom>
          <a:solidFill>
            <a:srgbClr val="00A79D">
              <a:alpha val="18039"/>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4" name="Google Shape;344;p12"/>
          <p:cNvSpPr/>
          <p:nvPr/>
        </p:nvSpPr>
        <p:spPr>
          <a:xfrm rot="10800000">
            <a:off x="9857232" y="5806440"/>
            <a:ext cx="411480" cy="356616"/>
          </a:xfrm>
          <a:prstGeom prst="triangle">
            <a:avLst>
              <a:gd fmla="val 50000" name="adj"/>
            </a:avLst>
          </a:prstGeom>
          <a:solidFill>
            <a:srgbClr val="29ABE2">
              <a:alpha val="18039"/>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5" name="Google Shape;345;p12"/>
          <p:cNvSpPr/>
          <p:nvPr/>
        </p:nvSpPr>
        <p:spPr>
          <a:xfrm rot="10800000">
            <a:off x="9857232" y="6492240"/>
            <a:ext cx="411480" cy="356616"/>
          </a:xfrm>
          <a:prstGeom prst="triangle">
            <a:avLst>
              <a:gd fmla="val 50000" name="adj"/>
            </a:avLst>
          </a:prstGeom>
          <a:solidFill>
            <a:srgbClr val="F58220">
              <a:alpha val="18039"/>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6" name="Google Shape;346;p12"/>
          <p:cNvSpPr/>
          <p:nvPr/>
        </p:nvSpPr>
        <p:spPr>
          <a:xfrm>
            <a:off x="10296144" y="6149340"/>
            <a:ext cx="411480" cy="356616"/>
          </a:xfrm>
          <a:prstGeom prst="triangle">
            <a:avLst>
              <a:gd fmla="val 50000" name="adj"/>
            </a:avLst>
          </a:prstGeom>
          <a:solidFill>
            <a:srgbClr val="8DC63F">
              <a:alpha val="18039"/>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7" name="Google Shape;347;p12"/>
          <p:cNvSpPr/>
          <p:nvPr/>
        </p:nvSpPr>
        <p:spPr>
          <a:xfrm>
            <a:off x="10296144" y="5463540"/>
            <a:ext cx="411480" cy="356616"/>
          </a:xfrm>
          <a:prstGeom prst="triangle">
            <a:avLst>
              <a:gd fmla="val 50000" name="adj"/>
            </a:avLst>
          </a:prstGeom>
          <a:solidFill>
            <a:srgbClr val="1D2A5C">
              <a:alpha val="18039"/>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8" name="Google Shape;348;p12"/>
          <p:cNvSpPr/>
          <p:nvPr/>
        </p:nvSpPr>
        <p:spPr>
          <a:xfrm rot="10800000">
            <a:off x="10735056" y="5806440"/>
            <a:ext cx="411480" cy="356616"/>
          </a:xfrm>
          <a:prstGeom prst="triangle">
            <a:avLst>
              <a:gd fmla="val 50000" name="adj"/>
            </a:avLst>
          </a:prstGeom>
          <a:solidFill>
            <a:srgbClr val="29ABE2">
              <a:alpha val="18039"/>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9" name="Google Shape;349;p12"/>
          <p:cNvSpPr/>
          <p:nvPr/>
        </p:nvSpPr>
        <p:spPr>
          <a:xfrm>
            <a:off x="10735056" y="6492240"/>
            <a:ext cx="411480" cy="356616"/>
          </a:xfrm>
          <a:prstGeom prst="triangle">
            <a:avLst>
              <a:gd fmla="val 50000" name="adj"/>
            </a:avLst>
          </a:prstGeom>
          <a:solidFill>
            <a:srgbClr val="00A79D">
              <a:alpha val="18039"/>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0" name="Google Shape;350;p12"/>
          <p:cNvSpPr/>
          <p:nvPr/>
        </p:nvSpPr>
        <p:spPr>
          <a:xfrm rot="10800000">
            <a:off x="11173968" y="6149340"/>
            <a:ext cx="411480" cy="356616"/>
          </a:xfrm>
          <a:prstGeom prst="triangle">
            <a:avLst>
              <a:gd fmla="val 50000" name="adj"/>
            </a:avLst>
          </a:prstGeom>
          <a:solidFill>
            <a:srgbClr val="F58220">
              <a:alpha val="18039"/>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1" name="Google Shape;351;p12"/>
          <p:cNvSpPr/>
          <p:nvPr/>
        </p:nvSpPr>
        <p:spPr>
          <a:xfrm>
            <a:off x="365760" y="747522"/>
            <a:ext cx="233172" cy="202082"/>
          </a:xfrm>
          <a:prstGeom prst="triangle">
            <a:avLst>
              <a:gd fmla="val 50000" name="adj"/>
            </a:avLst>
          </a:prstGeom>
          <a:solidFill>
            <a:srgbClr val="00A79D">
              <a:alpha val="18039"/>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2" name="Google Shape;352;p12"/>
          <p:cNvSpPr/>
          <p:nvPr/>
        </p:nvSpPr>
        <p:spPr>
          <a:xfrm rot="10800000">
            <a:off x="614477" y="553212"/>
            <a:ext cx="233172" cy="202082"/>
          </a:xfrm>
          <a:prstGeom prst="triangle">
            <a:avLst>
              <a:gd fmla="val 50000" name="adj"/>
            </a:avLst>
          </a:prstGeom>
          <a:solidFill>
            <a:srgbClr val="29ABE2">
              <a:alpha val="18039"/>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3" name="Google Shape;353;p12"/>
          <p:cNvSpPr/>
          <p:nvPr/>
        </p:nvSpPr>
        <p:spPr>
          <a:xfrm rot="10800000">
            <a:off x="614477" y="941832"/>
            <a:ext cx="233172" cy="202082"/>
          </a:xfrm>
          <a:prstGeom prst="triangle">
            <a:avLst>
              <a:gd fmla="val 50000" name="adj"/>
            </a:avLst>
          </a:prstGeom>
          <a:solidFill>
            <a:srgbClr val="F58220">
              <a:alpha val="18039"/>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4" name="Google Shape;354;p12"/>
          <p:cNvSpPr/>
          <p:nvPr/>
        </p:nvSpPr>
        <p:spPr>
          <a:xfrm>
            <a:off x="863194" y="747522"/>
            <a:ext cx="233172" cy="202082"/>
          </a:xfrm>
          <a:prstGeom prst="triangle">
            <a:avLst>
              <a:gd fmla="val 50000" name="adj"/>
            </a:avLst>
          </a:prstGeom>
          <a:solidFill>
            <a:srgbClr val="8DC63F">
              <a:alpha val="18039"/>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5" name="Google Shape;355;p12"/>
          <p:cNvSpPr/>
          <p:nvPr/>
        </p:nvSpPr>
        <p:spPr>
          <a:xfrm>
            <a:off x="863194" y="358902"/>
            <a:ext cx="233172" cy="202082"/>
          </a:xfrm>
          <a:prstGeom prst="triangle">
            <a:avLst>
              <a:gd fmla="val 50000" name="adj"/>
            </a:avLst>
          </a:prstGeom>
          <a:solidFill>
            <a:srgbClr val="1D2A5C">
              <a:alpha val="18039"/>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6" name="Google Shape;356;p12"/>
          <p:cNvSpPr/>
          <p:nvPr/>
        </p:nvSpPr>
        <p:spPr>
          <a:xfrm rot="10800000">
            <a:off x="1111910" y="553212"/>
            <a:ext cx="233172" cy="202082"/>
          </a:xfrm>
          <a:prstGeom prst="triangle">
            <a:avLst>
              <a:gd fmla="val 50000" name="adj"/>
            </a:avLst>
          </a:prstGeom>
          <a:solidFill>
            <a:srgbClr val="29ABE2">
              <a:alpha val="18039"/>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7" name="Google Shape;357;p12"/>
          <p:cNvSpPr/>
          <p:nvPr/>
        </p:nvSpPr>
        <p:spPr>
          <a:xfrm>
            <a:off x="1111910" y="941832"/>
            <a:ext cx="233172" cy="202082"/>
          </a:xfrm>
          <a:prstGeom prst="triangle">
            <a:avLst>
              <a:gd fmla="val 50000" name="adj"/>
            </a:avLst>
          </a:prstGeom>
          <a:solidFill>
            <a:srgbClr val="00A79D">
              <a:alpha val="18039"/>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8" name="Google Shape;358;p12"/>
          <p:cNvSpPr/>
          <p:nvPr/>
        </p:nvSpPr>
        <p:spPr>
          <a:xfrm rot="10800000">
            <a:off x="1360627" y="747522"/>
            <a:ext cx="233172" cy="202082"/>
          </a:xfrm>
          <a:prstGeom prst="triangle">
            <a:avLst>
              <a:gd fmla="val 50000" name="adj"/>
            </a:avLst>
          </a:prstGeom>
          <a:solidFill>
            <a:srgbClr val="F58220">
              <a:alpha val="18039"/>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9" name="Google Shape;359;p12"/>
          <p:cNvSpPr/>
          <p:nvPr/>
        </p:nvSpPr>
        <p:spPr>
          <a:xfrm>
            <a:off x="10332720" y="347472"/>
            <a:ext cx="1481328" cy="566928"/>
          </a:xfrm>
          <a:prstGeom prst="roundRect">
            <a:avLst>
              <a:gd fmla="val 14516" name="adj"/>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sessions/blissful-determined-ritchie/build/assets/sdaia_logo.png" id="360" name="Google Shape;360;p12"/>
          <p:cNvPicPr preferRelativeResize="0"/>
          <p:nvPr/>
        </p:nvPicPr>
        <p:blipFill rotWithShape="1">
          <a:blip r:embed="rId3">
            <a:alphaModFix/>
          </a:blip>
          <a:srcRect b="0" l="0" r="0" t="0"/>
          <a:stretch/>
        </p:blipFill>
        <p:spPr>
          <a:xfrm>
            <a:off x="10442448" y="438912"/>
            <a:ext cx="1261872" cy="308876"/>
          </a:xfrm>
          <a:prstGeom prst="rect">
            <a:avLst/>
          </a:prstGeom>
          <a:noFill/>
          <a:ln>
            <a:noFill/>
          </a:ln>
        </p:spPr>
      </p:pic>
      <p:sp>
        <p:nvSpPr>
          <p:cNvPr id="361" name="Google Shape;361;p12"/>
          <p:cNvSpPr/>
          <p:nvPr/>
        </p:nvSpPr>
        <p:spPr>
          <a:xfrm>
            <a:off x="777240" y="1325880"/>
            <a:ext cx="548640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A79D"/>
              </a:buClr>
              <a:buSzPts val="2000"/>
              <a:buFont typeface="Calibri"/>
              <a:buNone/>
            </a:pPr>
            <a:r>
              <a:rPr b="1" i="0" lang="en-US" sz="2000" u="none" cap="none" strike="noStrike">
                <a:solidFill>
                  <a:srgbClr val="00A79D"/>
                </a:solidFill>
                <a:latin typeface="Calibri"/>
                <a:ea typeface="Calibri"/>
                <a:cs typeface="Calibri"/>
                <a:sym typeface="Calibri"/>
              </a:rPr>
              <a:t>MODULE 1</a:t>
            </a:r>
            <a:endParaRPr b="0" i="0" sz="2000" u="none" cap="none" strike="noStrike">
              <a:solidFill>
                <a:schemeClr val="dk1"/>
              </a:solidFill>
              <a:latin typeface="Calibri"/>
              <a:ea typeface="Calibri"/>
              <a:cs typeface="Calibri"/>
              <a:sym typeface="Calibri"/>
            </a:endParaRPr>
          </a:p>
        </p:txBody>
      </p:sp>
      <p:sp>
        <p:nvSpPr>
          <p:cNvPr id="362" name="Google Shape;362;p12"/>
          <p:cNvSpPr/>
          <p:nvPr/>
        </p:nvSpPr>
        <p:spPr>
          <a:xfrm>
            <a:off x="749808" y="1828800"/>
            <a:ext cx="7589520" cy="13716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FFFFFF"/>
              </a:buClr>
              <a:buSzPts val="3600"/>
              <a:buFont typeface="Calibri"/>
              <a:buNone/>
            </a:pPr>
            <a:r>
              <a:rPr b="1" i="0" lang="en-US" sz="3600" u="none" cap="none" strike="noStrike">
                <a:solidFill>
                  <a:srgbClr val="FFFFFF"/>
                </a:solidFill>
                <a:latin typeface="Calibri"/>
                <a:ea typeface="Calibri"/>
                <a:cs typeface="Calibri"/>
                <a:sym typeface="Calibri"/>
              </a:rPr>
              <a:t>Image Data, Preprocessing &amp; Augmentation</a:t>
            </a:r>
            <a:endParaRPr b="0" i="0" sz="3600" u="none" cap="none" strike="noStrike">
              <a:solidFill>
                <a:schemeClr val="dk1"/>
              </a:solidFill>
              <a:latin typeface="Calibri"/>
              <a:ea typeface="Calibri"/>
              <a:cs typeface="Calibri"/>
              <a:sym typeface="Calibri"/>
            </a:endParaRPr>
          </a:p>
        </p:txBody>
      </p:sp>
      <p:sp>
        <p:nvSpPr>
          <p:cNvPr id="363" name="Google Shape;363;p12"/>
          <p:cNvSpPr/>
          <p:nvPr/>
        </p:nvSpPr>
        <p:spPr>
          <a:xfrm>
            <a:off x="777240" y="3127248"/>
            <a:ext cx="758952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B9C8E8"/>
              </a:buClr>
              <a:buSzPts val="1700"/>
              <a:buFont typeface="Arial"/>
              <a:buNone/>
            </a:pPr>
            <a:r>
              <a:rPr b="0" i="0" lang="en-US" sz="1700" u="none" cap="none" strike="noStrike">
                <a:solidFill>
                  <a:srgbClr val="B9C8E8"/>
                </a:solidFill>
                <a:latin typeface="Arial"/>
                <a:ea typeface="Arial"/>
                <a:cs typeface="Arial"/>
                <a:sym typeface="Arial"/>
              </a:rPr>
              <a:t>بيانات الصور والمعالجة المسبقة والتعزيز</a:t>
            </a:r>
            <a:endParaRPr b="0" i="0" sz="1700" u="none" cap="none" strike="noStrike">
              <a:solidFill>
                <a:schemeClr val="dk1"/>
              </a:solidFill>
              <a:latin typeface="Calibri"/>
              <a:ea typeface="Calibri"/>
              <a:cs typeface="Calibri"/>
              <a:sym typeface="Calibri"/>
            </a:endParaRPr>
          </a:p>
        </p:txBody>
      </p:sp>
      <p:sp>
        <p:nvSpPr>
          <p:cNvPr id="364" name="Google Shape;364;p12"/>
          <p:cNvSpPr/>
          <p:nvPr/>
        </p:nvSpPr>
        <p:spPr>
          <a:xfrm>
            <a:off x="804672" y="3703320"/>
            <a:ext cx="6949440" cy="2560320"/>
          </a:xfrm>
          <a:prstGeom prst="rect">
            <a:avLst/>
          </a:prstGeom>
          <a:noFill/>
          <a:ln>
            <a:noFill/>
          </a:ln>
        </p:spPr>
        <p:txBody>
          <a:bodyPr anchorCtr="0" anchor="t" bIns="0" lIns="0" spcFirstLastPara="1" rIns="0" wrap="square" tIns="0">
            <a:noAutofit/>
          </a:bodyPr>
          <a:lstStyle/>
          <a:p>
            <a:pPr indent="-177800" lvl="0" marL="177800" marR="0" rtl="0" algn="l">
              <a:spcBef>
                <a:spcPts val="0"/>
              </a:spcBef>
              <a:spcAft>
                <a:spcPts val="0"/>
              </a:spcAft>
              <a:buClr>
                <a:srgbClr val="DCE6F8"/>
              </a:buClr>
              <a:buSzPts val="1300"/>
              <a:buFont typeface="Calibri"/>
              <a:buChar char="▪"/>
            </a:pPr>
            <a:r>
              <a:rPr b="0" i="0" lang="en-US" sz="1300" u="none" cap="none" strike="noStrike">
                <a:solidFill>
                  <a:srgbClr val="DCE6F8"/>
                </a:solidFill>
                <a:latin typeface="Calibri"/>
                <a:ea typeface="Calibri"/>
                <a:cs typeface="Calibri"/>
                <a:sym typeface="Calibri"/>
              </a:rPr>
              <a:t>Images as tensors &amp; the preprocessing contract</a:t>
            </a:r>
            <a:endParaRPr b="0" i="0" sz="1300" u="none" cap="none" strike="noStrike">
              <a:solidFill>
                <a:schemeClr val="dk1"/>
              </a:solidFill>
              <a:latin typeface="Calibri"/>
              <a:ea typeface="Calibri"/>
              <a:cs typeface="Calibri"/>
              <a:sym typeface="Calibri"/>
            </a:endParaRPr>
          </a:p>
          <a:p>
            <a:pPr indent="-177800" lvl="0" marL="177800" marR="0" rtl="0" algn="l">
              <a:spcBef>
                <a:spcPts val="800"/>
              </a:spcBef>
              <a:spcAft>
                <a:spcPts val="0"/>
              </a:spcAft>
              <a:buClr>
                <a:srgbClr val="DCE6F8"/>
              </a:buClr>
              <a:buSzPts val="1300"/>
              <a:buFont typeface="Calibri"/>
              <a:buChar char="▪"/>
            </a:pPr>
            <a:r>
              <a:rPr b="0" i="0" lang="en-US" sz="1300" u="none" cap="none" strike="noStrike">
                <a:solidFill>
                  <a:srgbClr val="DCE6F8"/>
                </a:solidFill>
                <a:latin typeface="Calibri"/>
                <a:ea typeface="Calibri"/>
                <a:cs typeface="Calibri"/>
                <a:sym typeface="Calibri"/>
              </a:rPr>
              <a:t>Augmentation as encoded domain knowledge</a:t>
            </a:r>
            <a:endParaRPr b="0" i="0" sz="1300" u="none" cap="none" strike="noStrike">
              <a:solidFill>
                <a:schemeClr val="dk1"/>
              </a:solidFill>
              <a:latin typeface="Calibri"/>
              <a:ea typeface="Calibri"/>
              <a:cs typeface="Calibri"/>
              <a:sym typeface="Calibri"/>
            </a:endParaRPr>
          </a:p>
          <a:p>
            <a:pPr indent="-177800" lvl="0" marL="177800" marR="0" rtl="0" algn="l">
              <a:spcBef>
                <a:spcPts val="800"/>
              </a:spcBef>
              <a:spcAft>
                <a:spcPts val="0"/>
              </a:spcAft>
              <a:buClr>
                <a:srgbClr val="DCE6F8"/>
              </a:buClr>
              <a:buSzPts val="1300"/>
              <a:buFont typeface="Calibri"/>
              <a:buChar char="▪"/>
            </a:pPr>
            <a:r>
              <a:rPr b="0" i="0" lang="en-US" sz="1300" u="none" cap="none" strike="noStrike">
                <a:solidFill>
                  <a:srgbClr val="DCE6F8"/>
                </a:solidFill>
                <a:latin typeface="Calibri"/>
                <a:ea typeface="Calibri"/>
                <a:cs typeface="Calibri"/>
                <a:sym typeface="Calibri"/>
              </a:rPr>
              <a:t>Input pipelines that keep the GPU fed</a:t>
            </a:r>
            <a:endParaRPr b="0" i="0" sz="1300" u="none" cap="none" strike="noStrike">
              <a:solidFill>
                <a:schemeClr val="dk1"/>
              </a:solidFill>
              <a:latin typeface="Calibri"/>
              <a:ea typeface="Calibri"/>
              <a:cs typeface="Calibri"/>
              <a:sym typeface="Calibri"/>
            </a:endParaRPr>
          </a:p>
          <a:p>
            <a:pPr indent="-177800" lvl="0" marL="177800" marR="0" rtl="0" algn="l">
              <a:spcBef>
                <a:spcPts val="800"/>
              </a:spcBef>
              <a:spcAft>
                <a:spcPts val="0"/>
              </a:spcAft>
              <a:buClr>
                <a:srgbClr val="DCE6F8"/>
              </a:buClr>
              <a:buSzPts val="1300"/>
              <a:buFont typeface="Calibri"/>
              <a:buChar char="▪"/>
            </a:pPr>
            <a:r>
              <a:rPr b="0" i="0" lang="en-US" sz="1300" u="none" cap="none" strike="noStrike">
                <a:solidFill>
                  <a:srgbClr val="DCE6F8"/>
                </a:solidFill>
                <a:latin typeface="Calibri"/>
                <a:ea typeface="Calibri"/>
                <a:cs typeface="Calibri"/>
                <a:sym typeface="Calibri"/>
              </a:rPr>
              <a:t>Data quality: what augmentation cannot fix</a:t>
            </a:r>
            <a:endParaRPr b="0" i="0" sz="1300" u="none" cap="none" strike="noStrike">
              <a:solidFill>
                <a:schemeClr val="dk1"/>
              </a:solidFill>
              <a:latin typeface="Calibri"/>
              <a:ea typeface="Calibri"/>
              <a:cs typeface="Calibri"/>
              <a:sym typeface="Calibri"/>
            </a:endParaRPr>
          </a:p>
        </p:txBody>
      </p:sp>
      <p:sp>
        <p:nvSpPr>
          <p:cNvPr id="365" name="Google Shape;365;p12"/>
          <p:cNvSpPr/>
          <p:nvPr/>
        </p:nvSpPr>
        <p:spPr>
          <a:xfrm>
            <a:off x="8366760" y="3520440"/>
            <a:ext cx="3383280" cy="2286000"/>
          </a:xfrm>
          <a:prstGeom prst="roundRect">
            <a:avLst>
              <a:gd fmla="val 4000" name="adj"/>
            </a:avLst>
          </a:prstGeom>
          <a:solidFill>
            <a:srgbClr val="1C2C63"/>
          </a:solidFill>
          <a:ln cap="flat" cmpd="sng" w="15875">
            <a:solidFill>
              <a:srgbClr val="00A79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6" name="Google Shape;366;p12"/>
          <p:cNvSpPr/>
          <p:nvPr/>
        </p:nvSpPr>
        <p:spPr>
          <a:xfrm>
            <a:off x="8595360" y="3703320"/>
            <a:ext cx="292608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A79D"/>
              </a:buClr>
              <a:buSzPts val="1000"/>
              <a:buFont typeface="Calibri"/>
              <a:buNone/>
            </a:pPr>
            <a:r>
              <a:rPr b="1" i="0" lang="en-US" sz="1000" u="none" cap="none" strike="noStrike">
                <a:solidFill>
                  <a:srgbClr val="00A79D"/>
                </a:solidFill>
                <a:latin typeface="Calibri"/>
                <a:ea typeface="Calibri"/>
                <a:cs typeface="Calibri"/>
                <a:sym typeface="Calibri"/>
              </a:rPr>
              <a:t>MODULE OUTCOME</a:t>
            </a:r>
            <a:endParaRPr b="0" i="0" sz="1000" u="none" cap="none" strike="noStrike">
              <a:solidFill>
                <a:schemeClr val="dk1"/>
              </a:solidFill>
              <a:latin typeface="Calibri"/>
              <a:ea typeface="Calibri"/>
              <a:cs typeface="Calibri"/>
              <a:sym typeface="Calibri"/>
            </a:endParaRPr>
          </a:p>
        </p:txBody>
      </p:sp>
      <p:sp>
        <p:nvSpPr>
          <p:cNvPr id="367" name="Google Shape;367;p12"/>
          <p:cNvSpPr/>
          <p:nvPr/>
        </p:nvSpPr>
        <p:spPr>
          <a:xfrm>
            <a:off x="8595360" y="4041648"/>
            <a:ext cx="2971800" cy="16002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FFFFFF"/>
              </a:buClr>
              <a:buSzPts val="1250"/>
              <a:buFont typeface="Calibri"/>
              <a:buNone/>
            </a:pPr>
            <a:r>
              <a:rPr b="0" i="0" lang="en-US" sz="1250" u="none" cap="none" strike="noStrike">
                <a:solidFill>
                  <a:srgbClr val="FFFFFF"/>
                </a:solidFill>
                <a:latin typeface="Calibri"/>
                <a:ea typeface="Calibri"/>
                <a:cs typeface="Calibri"/>
                <a:sym typeface="Calibri"/>
              </a:rPr>
              <a:t>A measured, reproducible dates-qc input pipeline with an audited, justified augmentation policy</a:t>
            </a:r>
            <a:endParaRPr b="0" i="0" sz="1250" u="none" cap="none" strike="noStrike">
              <a:solidFill>
                <a:schemeClr val="dk1"/>
              </a:solidFill>
              <a:latin typeface="Calibri"/>
              <a:ea typeface="Calibri"/>
              <a:cs typeface="Calibri"/>
              <a:sym typeface="Calibri"/>
            </a:endParaRPr>
          </a:p>
        </p:txBody>
      </p:sp>
      <p:sp>
        <p:nvSpPr>
          <p:cNvPr id="368" name="Google Shape;368;p12"/>
          <p:cNvSpPr/>
          <p:nvPr/>
        </p:nvSpPr>
        <p:spPr>
          <a:xfrm>
            <a:off x="11292840" y="6528816"/>
            <a:ext cx="411480" cy="219456"/>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5A6A96"/>
              </a:buClr>
              <a:buSzPts val="900"/>
              <a:buFont typeface="Calibri"/>
              <a:buNone/>
            </a:pPr>
            <a:r>
              <a:rPr b="0" i="0" lang="en-US" sz="900" u="none" cap="none" strike="noStrike">
                <a:solidFill>
                  <a:srgbClr val="5A6A96"/>
                </a:solidFill>
                <a:latin typeface="Calibri"/>
                <a:ea typeface="Calibri"/>
                <a:cs typeface="Calibri"/>
                <a:sym typeface="Calibri"/>
              </a:rPr>
              <a:t>12</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73" name="Shape 373"/>
        <p:cNvGrpSpPr/>
        <p:nvPr/>
      </p:nvGrpSpPr>
      <p:grpSpPr>
        <a:xfrm>
          <a:off x="0" y="0"/>
          <a:ext cx="0" cy="0"/>
          <a:chOff x="0" y="0"/>
          <a:chExt cx="0" cy="0"/>
        </a:xfrm>
      </p:grpSpPr>
      <p:sp>
        <p:nvSpPr>
          <p:cNvPr id="374" name="Google Shape;374;p13"/>
          <p:cNvSpPr/>
          <p:nvPr/>
        </p:nvSpPr>
        <p:spPr>
          <a:xfrm>
            <a:off x="502920" y="274320"/>
            <a:ext cx="9646920" cy="56692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D2A5C"/>
              </a:buClr>
              <a:buSzPts val="2700"/>
              <a:buFont typeface="Calibri"/>
              <a:buNone/>
            </a:pPr>
            <a:r>
              <a:rPr b="1" i="0" lang="en-US" sz="2700" u="none" cap="none" strike="noStrike">
                <a:solidFill>
                  <a:srgbClr val="1D2A5C"/>
                </a:solidFill>
                <a:latin typeface="Calibri"/>
                <a:ea typeface="Calibri"/>
                <a:cs typeface="Calibri"/>
                <a:sym typeface="Calibri"/>
              </a:rPr>
              <a:t>Why the data layer matters</a:t>
            </a:r>
            <a:endParaRPr b="0" i="0" sz="2700" u="none" cap="none" strike="noStrike">
              <a:solidFill>
                <a:schemeClr val="dk1"/>
              </a:solidFill>
              <a:latin typeface="Calibri"/>
              <a:ea typeface="Calibri"/>
              <a:cs typeface="Calibri"/>
              <a:sym typeface="Calibri"/>
            </a:endParaRPr>
          </a:p>
        </p:txBody>
      </p:sp>
      <p:sp>
        <p:nvSpPr>
          <p:cNvPr id="375" name="Google Shape;375;p13"/>
          <p:cNvSpPr/>
          <p:nvPr/>
        </p:nvSpPr>
        <p:spPr>
          <a:xfrm>
            <a:off x="502920" y="859536"/>
            <a:ext cx="9646920" cy="31089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F6B7A"/>
              </a:buClr>
              <a:buSzPts val="1250"/>
              <a:buFont typeface="Arial"/>
              <a:buNone/>
            </a:pPr>
            <a:r>
              <a:rPr b="0" i="0" lang="en-US" sz="1250" u="none" cap="none" strike="noStrike">
                <a:solidFill>
                  <a:srgbClr val="5F6B7A"/>
                </a:solidFill>
                <a:latin typeface="Arial"/>
                <a:ea typeface="Arial"/>
                <a:cs typeface="Arial"/>
                <a:sym typeface="Arial"/>
              </a:rPr>
              <a:t>لماذا تهم طبقة البيانات</a:t>
            </a:r>
            <a:endParaRPr b="0" i="0" sz="1250" u="none" cap="none" strike="noStrike">
              <a:solidFill>
                <a:schemeClr val="dk1"/>
              </a:solidFill>
              <a:latin typeface="Calibri"/>
              <a:ea typeface="Calibri"/>
              <a:cs typeface="Calibri"/>
              <a:sym typeface="Calibri"/>
            </a:endParaRPr>
          </a:p>
        </p:txBody>
      </p:sp>
      <p:pic>
        <p:nvPicPr>
          <p:cNvPr descr="/sessions/blissful-determined-ritchie/build/assets/sdaia_logo.png" id="376" name="Google Shape;376;p13"/>
          <p:cNvPicPr preferRelativeResize="0"/>
          <p:nvPr/>
        </p:nvPicPr>
        <p:blipFill rotWithShape="1">
          <a:blip r:embed="rId3">
            <a:alphaModFix/>
          </a:blip>
          <a:srcRect b="0" l="0" r="0" t="0"/>
          <a:stretch/>
        </p:blipFill>
        <p:spPr>
          <a:xfrm>
            <a:off x="10625328" y="310896"/>
            <a:ext cx="1078992" cy="264111"/>
          </a:xfrm>
          <a:prstGeom prst="rect">
            <a:avLst/>
          </a:prstGeom>
          <a:noFill/>
          <a:ln>
            <a:noFill/>
          </a:ln>
        </p:spPr>
      </p:pic>
      <p:sp>
        <p:nvSpPr>
          <p:cNvPr id="377" name="Google Shape;377;p13"/>
          <p:cNvSpPr/>
          <p:nvPr/>
        </p:nvSpPr>
        <p:spPr>
          <a:xfrm>
            <a:off x="502920" y="6528816"/>
            <a:ext cx="8686800"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A79D"/>
              </a:buClr>
              <a:buSzPts val="800"/>
              <a:buFont typeface="Calibri"/>
              <a:buNone/>
            </a:pPr>
            <a:r>
              <a:rPr b="1" i="0" lang="en-US" sz="800" u="none" cap="none" strike="noStrike">
                <a:solidFill>
                  <a:srgbClr val="00A79D"/>
                </a:solidFill>
                <a:latin typeface="Calibri"/>
                <a:ea typeface="Calibri"/>
                <a:cs typeface="Calibri"/>
                <a:sym typeface="Calibri"/>
              </a:rPr>
              <a:t>MODULE 1   </a:t>
            </a:r>
            <a:r>
              <a:rPr b="0" i="0" lang="en-US" sz="800" u="none" cap="none" strike="noStrike">
                <a:solidFill>
                  <a:srgbClr val="8A96A6"/>
                </a:solidFill>
                <a:latin typeface="Calibri"/>
                <a:ea typeface="Calibri"/>
                <a:cs typeface="Calibri"/>
                <a:sym typeface="Calibri"/>
              </a:rPr>
              <a:t>SDA-AIE-212 · Computer Vision Systems Development</a:t>
            </a:r>
            <a:endParaRPr b="0" i="0" sz="800" u="none" cap="none" strike="noStrike">
              <a:solidFill>
                <a:schemeClr val="dk1"/>
              </a:solidFill>
              <a:latin typeface="Calibri"/>
              <a:ea typeface="Calibri"/>
              <a:cs typeface="Calibri"/>
              <a:sym typeface="Calibri"/>
            </a:endParaRPr>
          </a:p>
        </p:txBody>
      </p:sp>
      <p:sp>
        <p:nvSpPr>
          <p:cNvPr id="378" name="Google Shape;378;p13"/>
          <p:cNvSpPr/>
          <p:nvPr/>
        </p:nvSpPr>
        <p:spPr>
          <a:xfrm>
            <a:off x="11292840" y="6528816"/>
            <a:ext cx="411480" cy="219456"/>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8A96A6"/>
              </a:buClr>
              <a:buSzPts val="900"/>
              <a:buFont typeface="Calibri"/>
              <a:buNone/>
            </a:pPr>
            <a:r>
              <a:rPr b="0" i="0" lang="en-US" sz="900" u="none" cap="none" strike="noStrike">
                <a:solidFill>
                  <a:srgbClr val="8A96A6"/>
                </a:solidFill>
                <a:latin typeface="Calibri"/>
                <a:ea typeface="Calibri"/>
                <a:cs typeface="Calibri"/>
                <a:sym typeface="Calibri"/>
              </a:rPr>
              <a:t>13</a:t>
            </a:r>
            <a:endParaRPr b="0" i="0" sz="900" u="none" cap="none" strike="noStrike">
              <a:solidFill>
                <a:schemeClr val="dk1"/>
              </a:solidFill>
              <a:latin typeface="Calibri"/>
              <a:ea typeface="Calibri"/>
              <a:cs typeface="Calibri"/>
              <a:sym typeface="Calibri"/>
            </a:endParaRPr>
          </a:p>
        </p:txBody>
      </p:sp>
      <p:sp>
        <p:nvSpPr>
          <p:cNvPr id="379" name="Google Shape;379;p13"/>
          <p:cNvSpPr/>
          <p:nvPr/>
        </p:nvSpPr>
        <p:spPr>
          <a:xfrm>
            <a:off x="502920" y="1389888"/>
            <a:ext cx="11185855" cy="384048"/>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5F6B7A"/>
              </a:buClr>
              <a:buSzPts val="1250"/>
              <a:buFont typeface="Calibri"/>
              <a:buNone/>
            </a:pPr>
            <a:r>
              <a:rPr b="0" i="1" lang="en-US" sz="1250" u="none" cap="none" strike="noStrike">
                <a:solidFill>
                  <a:srgbClr val="5F6B7A"/>
                </a:solidFill>
                <a:latin typeface="Calibri"/>
                <a:ea typeface="Calibri"/>
                <a:cs typeface="Calibri"/>
                <a:sym typeface="Calibri"/>
              </a:rPr>
              <a:t>Most production vision failures are input failures — and in Saudi deployments, imaging conditions are harsh and variable.</a:t>
            </a:r>
            <a:endParaRPr b="0" i="0" sz="1250" u="none" cap="none" strike="noStrike">
              <a:solidFill>
                <a:schemeClr val="dk1"/>
              </a:solidFill>
              <a:latin typeface="Calibri"/>
              <a:ea typeface="Calibri"/>
              <a:cs typeface="Calibri"/>
              <a:sym typeface="Calibri"/>
            </a:endParaRPr>
          </a:p>
        </p:txBody>
      </p:sp>
      <p:sp>
        <p:nvSpPr>
          <p:cNvPr id="380" name="Google Shape;380;p13"/>
          <p:cNvSpPr/>
          <p:nvPr/>
        </p:nvSpPr>
        <p:spPr>
          <a:xfrm>
            <a:off x="502920" y="3026664"/>
            <a:ext cx="2556434" cy="2194560"/>
          </a:xfrm>
          <a:prstGeom prst="roundRect">
            <a:avLst>
              <a:gd fmla="val 3750" name="adj"/>
            </a:avLst>
          </a:prstGeom>
          <a:solidFill>
            <a:srgbClr val="E9F6F5"/>
          </a:solidFill>
          <a:ln cap="flat" cmpd="sng" w="12700">
            <a:solidFill>
              <a:srgbClr val="D9E2E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1" name="Google Shape;381;p13"/>
          <p:cNvSpPr/>
          <p:nvPr/>
        </p:nvSpPr>
        <p:spPr>
          <a:xfrm>
            <a:off x="594360" y="3136392"/>
            <a:ext cx="2373554" cy="96560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E8503A"/>
              </a:buClr>
              <a:buSzPts val="3800"/>
              <a:buFont typeface="Calibri"/>
              <a:buNone/>
            </a:pPr>
            <a:r>
              <a:rPr b="1" i="0" lang="en-US" sz="3800" u="none" cap="none" strike="noStrike">
                <a:solidFill>
                  <a:srgbClr val="E8503A"/>
                </a:solidFill>
                <a:latin typeface="Calibri"/>
                <a:ea typeface="Calibri"/>
                <a:cs typeface="Calibri"/>
                <a:sym typeface="Calibri"/>
              </a:rPr>
              <a:t>5-10</a:t>
            </a:r>
            <a:endParaRPr b="0" i="0" sz="3800" u="none" cap="none" strike="noStrike">
              <a:solidFill>
                <a:schemeClr val="dk1"/>
              </a:solidFill>
              <a:latin typeface="Calibri"/>
              <a:ea typeface="Calibri"/>
              <a:cs typeface="Calibri"/>
              <a:sym typeface="Calibri"/>
            </a:endParaRPr>
          </a:p>
        </p:txBody>
      </p:sp>
      <p:sp>
        <p:nvSpPr>
          <p:cNvPr id="382" name="Google Shape;382;p13"/>
          <p:cNvSpPr/>
          <p:nvPr/>
        </p:nvSpPr>
        <p:spPr>
          <a:xfrm>
            <a:off x="640080" y="4167835"/>
            <a:ext cx="2282114" cy="32004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D2A5C"/>
              </a:buClr>
              <a:buSzPts val="1250"/>
              <a:buFont typeface="Calibri"/>
              <a:buNone/>
            </a:pPr>
            <a:r>
              <a:rPr b="1" i="0" lang="en-US" sz="1250" u="none" cap="none" strike="noStrike">
                <a:solidFill>
                  <a:srgbClr val="1D2A5C"/>
                </a:solidFill>
                <a:latin typeface="Calibri"/>
                <a:ea typeface="Calibri"/>
                <a:cs typeface="Calibri"/>
                <a:sym typeface="Calibri"/>
              </a:rPr>
              <a:t>points lost silently</a:t>
            </a:r>
            <a:endParaRPr b="0" i="0" sz="1250" u="none" cap="none" strike="noStrike">
              <a:solidFill>
                <a:schemeClr val="dk1"/>
              </a:solidFill>
              <a:latin typeface="Calibri"/>
              <a:ea typeface="Calibri"/>
              <a:cs typeface="Calibri"/>
              <a:sym typeface="Calibri"/>
            </a:endParaRPr>
          </a:p>
        </p:txBody>
      </p:sp>
      <p:sp>
        <p:nvSpPr>
          <p:cNvPr id="383" name="Google Shape;383;p13"/>
          <p:cNvSpPr/>
          <p:nvPr/>
        </p:nvSpPr>
        <p:spPr>
          <a:xfrm>
            <a:off x="640080" y="4515307"/>
            <a:ext cx="2282114" cy="658368"/>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rgbClr val="5F6B7A"/>
              </a:buClr>
              <a:buSzPts val="1000"/>
              <a:buFont typeface="Calibri"/>
              <a:buNone/>
            </a:pPr>
            <a:r>
              <a:rPr b="0" i="0" lang="en-US" sz="1000" u="none" cap="none" strike="noStrike">
                <a:solidFill>
                  <a:srgbClr val="5F6B7A"/>
                </a:solidFill>
                <a:latin typeface="Calibri"/>
                <a:ea typeface="Calibri"/>
                <a:cs typeface="Calibri"/>
                <a:sym typeface="Calibri"/>
              </a:rPr>
              <a:t>a BGR/RGB swap degrades, never crashes</a:t>
            </a:r>
            <a:endParaRPr b="0" i="0" sz="1000" u="none" cap="none" strike="noStrike">
              <a:solidFill>
                <a:schemeClr val="dk1"/>
              </a:solidFill>
              <a:latin typeface="Calibri"/>
              <a:ea typeface="Calibri"/>
              <a:cs typeface="Calibri"/>
              <a:sym typeface="Calibri"/>
            </a:endParaRPr>
          </a:p>
        </p:txBody>
      </p:sp>
      <p:sp>
        <p:nvSpPr>
          <p:cNvPr id="384" name="Google Shape;384;p13"/>
          <p:cNvSpPr/>
          <p:nvPr/>
        </p:nvSpPr>
        <p:spPr>
          <a:xfrm>
            <a:off x="3379394" y="3026664"/>
            <a:ext cx="2556434" cy="2194560"/>
          </a:xfrm>
          <a:prstGeom prst="roundRect">
            <a:avLst>
              <a:gd fmla="val 3750" name="adj"/>
            </a:avLst>
          </a:prstGeom>
          <a:solidFill>
            <a:srgbClr val="F2F6F9"/>
          </a:solidFill>
          <a:ln cap="flat" cmpd="sng" w="12700">
            <a:solidFill>
              <a:srgbClr val="D9E2E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5" name="Google Shape;385;p13"/>
          <p:cNvSpPr/>
          <p:nvPr/>
        </p:nvSpPr>
        <p:spPr>
          <a:xfrm>
            <a:off x="3470834" y="3136392"/>
            <a:ext cx="2373554" cy="96560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E8503A"/>
              </a:buClr>
              <a:buSzPts val="3800"/>
              <a:buFont typeface="Calibri"/>
              <a:buNone/>
            </a:pPr>
            <a:r>
              <a:rPr b="1" i="0" lang="en-US" sz="3800" u="none" cap="none" strike="noStrike">
                <a:solidFill>
                  <a:srgbClr val="E8503A"/>
                </a:solidFill>
                <a:latin typeface="Calibri"/>
                <a:ea typeface="Calibri"/>
                <a:cs typeface="Calibri"/>
                <a:sym typeface="Calibri"/>
              </a:rPr>
              <a:t>3-8%</a:t>
            </a:r>
            <a:endParaRPr b="0" i="0" sz="3800" u="none" cap="none" strike="noStrike">
              <a:solidFill>
                <a:schemeClr val="dk1"/>
              </a:solidFill>
              <a:latin typeface="Calibri"/>
              <a:ea typeface="Calibri"/>
              <a:cs typeface="Calibri"/>
              <a:sym typeface="Calibri"/>
            </a:endParaRPr>
          </a:p>
        </p:txBody>
      </p:sp>
      <p:sp>
        <p:nvSpPr>
          <p:cNvPr id="386" name="Google Shape;386;p13"/>
          <p:cNvSpPr/>
          <p:nvPr/>
        </p:nvSpPr>
        <p:spPr>
          <a:xfrm>
            <a:off x="3516554" y="4167835"/>
            <a:ext cx="2282114" cy="32004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D2A5C"/>
              </a:buClr>
              <a:buSzPts val="1250"/>
              <a:buFont typeface="Calibri"/>
              <a:buNone/>
            </a:pPr>
            <a:r>
              <a:rPr b="1" i="0" lang="en-US" sz="1250" u="none" cap="none" strike="noStrike">
                <a:solidFill>
                  <a:srgbClr val="1D2A5C"/>
                </a:solidFill>
                <a:latin typeface="Calibri"/>
                <a:ea typeface="Calibri"/>
                <a:cs typeface="Calibri"/>
                <a:sym typeface="Calibri"/>
              </a:rPr>
              <a:t>label error, 1st pass</a:t>
            </a:r>
            <a:endParaRPr b="0" i="0" sz="1250" u="none" cap="none" strike="noStrike">
              <a:solidFill>
                <a:schemeClr val="dk1"/>
              </a:solidFill>
              <a:latin typeface="Calibri"/>
              <a:ea typeface="Calibri"/>
              <a:cs typeface="Calibri"/>
              <a:sym typeface="Calibri"/>
            </a:endParaRPr>
          </a:p>
        </p:txBody>
      </p:sp>
      <p:sp>
        <p:nvSpPr>
          <p:cNvPr id="387" name="Google Shape;387;p13"/>
          <p:cNvSpPr/>
          <p:nvPr/>
        </p:nvSpPr>
        <p:spPr>
          <a:xfrm>
            <a:off x="3516554" y="4515307"/>
            <a:ext cx="2282114" cy="658368"/>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rgbClr val="5F6B7A"/>
              </a:buClr>
              <a:buSzPts val="1000"/>
              <a:buFont typeface="Calibri"/>
              <a:buNone/>
            </a:pPr>
            <a:r>
              <a:rPr b="0" i="0" lang="en-US" sz="1000" u="none" cap="none" strike="noStrike">
                <a:solidFill>
                  <a:srgbClr val="5F6B7A"/>
                </a:solidFill>
                <a:latin typeface="Calibri"/>
                <a:ea typeface="Calibri"/>
                <a:cs typeface="Calibri"/>
                <a:sym typeface="Calibri"/>
              </a:rPr>
              <a:t>typical in industrial QC annotation</a:t>
            </a:r>
            <a:endParaRPr b="0" i="0" sz="1000" u="none" cap="none" strike="noStrike">
              <a:solidFill>
                <a:schemeClr val="dk1"/>
              </a:solidFill>
              <a:latin typeface="Calibri"/>
              <a:ea typeface="Calibri"/>
              <a:cs typeface="Calibri"/>
              <a:sym typeface="Calibri"/>
            </a:endParaRPr>
          </a:p>
        </p:txBody>
      </p:sp>
      <p:sp>
        <p:nvSpPr>
          <p:cNvPr id="388" name="Google Shape;388;p13"/>
          <p:cNvSpPr/>
          <p:nvPr/>
        </p:nvSpPr>
        <p:spPr>
          <a:xfrm>
            <a:off x="6255868" y="3026664"/>
            <a:ext cx="2556434" cy="2194560"/>
          </a:xfrm>
          <a:prstGeom prst="roundRect">
            <a:avLst>
              <a:gd fmla="val 3750" name="adj"/>
            </a:avLst>
          </a:prstGeom>
          <a:solidFill>
            <a:srgbClr val="F2F6F9"/>
          </a:solidFill>
          <a:ln cap="flat" cmpd="sng" w="12700">
            <a:solidFill>
              <a:srgbClr val="D9E2E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9" name="Google Shape;389;p13"/>
          <p:cNvSpPr/>
          <p:nvPr/>
        </p:nvSpPr>
        <p:spPr>
          <a:xfrm>
            <a:off x="6347308" y="3136392"/>
            <a:ext cx="2373554" cy="96560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58220"/>
              </a:buClr>
              <a:buSzPts val="3800"/>
              <a:buFont typeface="Calibri"/>
              <a:buNone/>
            </a:pPr>
            <a:r>
              <a:rPr b="1" i="0" lang="en-US" sz="3800" u="none" cap="none" strike="noStrike">
                <a:solidFill>
                  <a:srgbClr val="F58220"/>
                </a:solidFill>
                <a:latin typeface="Calibri"/>
                <a:ea typeface="Calibri"/>
                <a:cs typeface="Calibri"/>
                <a:sym typeface="Calibri"/>
              </a:rPr>
              <a:t>400</a:t>
            </a:r>
            <a:endParaRPr b="0" i="0" sz="3800" u="none" cap="none" strike="noStrike">
              <a:solidFill>
                <a:schemeClr val="dk1"/>
              </a:solidFill>
              <a:latin typeface="Calibri"/>
              <a:ea typeface="Calibri"/>
              <a:cs typeface="Calibri"/>
              <a:sym typeface="Calibri"/>
            </a:endParaRPr>
          </a:p>
        </p:txBody>
      </p:sp>
      <p:sp>
        <p:nvSpPr>
          <p:cNvPr id="390" name="Google Shape;390;p13"/>
          <p:cNvSpPr/>
          <p:nvPr/>
        </p:nvSpPr>
        <p:spPr>
          <a:xfrm>
            <a:off x="6393028" y="4167835"/>
            <a:ext cx="2282114" cy="32004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D2A5C"/>
              </a:buClr>
              <a:buSzPts val="1250"/>
              <a:buFont typeface="Calibri"/>
              <a:buNone/>
            </a:pPr>
            <a:r>
              <a:rPr b="1" i="0" lang="en-US" sz="1250" u="none" cap="none" strike="noStrike">
                <a:solidFill>
                  <a:srgbClr val="1D2A5C"/>
                </a:solidFill>
                <a:latin typeface="Calibri"/>
                <a:ea typeface="Calibri"/>
                <a:cs typeface="Calibri"/>
                <a:sym typeface="Calibri"/>
              </a:rPr>
              <a:t>img/s loader target</a:t>
            </a:r>
            <a:endParaRPr b="0" i="0" sz="1250" u="none" cap="none" strike="noStrike">
              <a:solidFill>
                <a:schemeClr val="dk1"/>
              </a:solidFill>
              <a:latin typeface="Calibri"/>
              <a:ea typeface="Calibri"/>
              <a:cs typeface="Calibri"/>
              <a:sym typeface="Calibri"/>
            </a:endParaRPr>
          </a:p>
        </p:txBody>
      </p:sp>
      <p:sp>
        <p:nvSpPr>
          <p:cNvPr id="391" name="Google Shape;391;p13"/>
          <p:cNvSpPr/>
          <p:nvPr/>
        </p:nvSpPr>
        <p:spPr>
          <a:xfrm>
            <a:off x="6393028" y="4515307"/>
            <a:ext cx="2282114" cy="658368"/>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rgbClr val="5F6B7A"/>
              </a:buClr>
              <a:buSzPts val="1000"/>
              <a:buFont typeface="Calibri"/>
              <a:buNone/>
            </a:pPr>
            <a:r>
              <a:rPr b="0" i="0" lang="en-US" sz="1000" u="none" cap="none" strike="noStrike">
                <a:solidFill>
                  <a:srgbClr val="5F6B7A"/>
                </a:solidFill>
                <a:latin typeface="Calibri"/>
                <a:ea typeface="Calibri"/>
                <a:cs typeface="Calibri"/>
                <a:sym typeface="Calibri"/>
              </a:rPr>
              <a:t>at 224 px so the GPU is never starved</a:t>
            </a:r>
            <a:endParaRPr b="0" i="0" sz="1000" u="none" cap="none" strike="noStrike">
              <a:solidFill>
                <a:schemeClr val="dk1"/>
              </a:solidFill>
              <a:latin typeface="Calibri"/>
              <a:ea typeface="Calibri"/>
              <a:cs typeface="Calibri"/>
              <a:sym typeface="Calibri"/>
            </a:endParaRPr>
          </a:p>
        </p:txBody>
      </p:sp>
      <p:sp>
        <p:nvSpPr>
          <p:cNvPr id="392" name="Google Shape;392;p13"/>
          <p:cNvSpPr/>
          <p:nvPr/>
        </p:nvSpPr>
        <p:spPr>
          <a:xfrm>
            <a:off x="9132341" y="3026664"/>
            <a:ext cx="2556434" cy="2194560"/>
          </a:xfrm>
          <a:prstGeom prst="roundRect">
            <a:avLst>
              <a:gd fmla="val 3750" name="adj"/>
            </a:avLst>
          </a:prstGeom>
          <a:solidFill>
            <a:srgbClr val="F2F6F9"/>
          </a:solidFill>
          <a:ln cap="flat" cmpd="sng" w="12700">
            <a:solidFill>
              <a:srgbClr val="D9E2E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3" name="Google Shape;393;p13"/>
          <p:cNvSpPr/>
          <p:nvPr/>
        </p:nvSpPr>
        <p:spPr>
          <a:xfrm>
            <a:off x="9223781" y="3136392"/>
            <a:ext cx="2373554" cy="96560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8DC63F"/>
              </a:buClr>
              <a:buSzPts val="3800"/>
              <a:buFont typeface="Calibri"/>
              <a:buNone/>
            </a:pPr>
            <a:r>
              <a:rPr b="1" i="0" lang="en-US" sz="3800" u="none" cap="none" strike="noStrike">
                <a:solidFill>
                  <a:srgbClr val="8DC63F"/>
                </a:solidFill>
                <a:latin typeface="Calibri"/>
                <a:ea typeface="Calibri"/>
                <a:cs typeface="Calibri"/>
                <a:sym typeface="Calibri"/>
              </a:rPr>
              <a:t>12k</a:t>
            </a:r>
            <a:endParaRPr b="0" i="0" sz="3800" u="none" cap="none" strike="noStrike">
              <a:solidFill>
                <a:schemeClr val="dk1"/>
              </a:solidFill>
              <a:latin typeface="Calibri"/>
              <a:ea typeface="Calibri"/>
              <a:cs typeface="Calibri"/>
              <a:sym typeface="Calibri"/>
            </a:endParaRPr>
          </a:p>
        </p:txBody>
      </p:sp>
      <p:sp>
        <p:nvSpPr>
          <p:cNvPr id="394" name="Google Shape;394;p13"/>
          <p:cNvSpPr/>
          <p:nvPr/>
        </p:nvSpPr>
        <p:spPr>
          <a:xfrm>
            <a:off x="9269501" y="4167835"/>
            <a:ext cx="2282114" cy="32004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D2A5C"/>
              </a:buClr>
              <a:buSzPts val="1250"/>
              <a:buFont typeface="Calibri"/>
              <a:buNone/>
            </a:pPr>
            <a:r>
              <a:rPr b="1" i="0" lang="en-US" sz="1250" u="none" cap="none" strike="noStrike">
                <a:solidFill>
                  <a:srgbClr val="1D2A5C"/>
                </a:solidFill>
                <a:latin typeface="Calibri"/>
                <a:ea typeface="Calibri"/>
                <a:cs typeface="Calibri"/>
                <a:sym typeface="Calibri"/>
              </a:rPr>
              <a:t>dates-qc frames</a:t>
            </a:r>
            <a:endParaRPr b="0" i="0" sz="1250" u="none" cap="none" strike="noStrike">
              <a:solidFill>
                <a:schemeClr val="dk1"/>
              </a:solidFill>
              <a:latin typeface="Calibri"/>
              <a:ea typeface="Calibri"/>
              <a:cs typeface="Calibri"/>
              <a:sym typeface="Calibri"/>
            </a:endParaRPr>
          </a:p>
        </p:txBody>
      </p:sp>
      <p:sp>
        <p:nvSpPr>
          <p:cNvPr id="395" name="Google Shape;395;p13"/>
          <p:cNvSpPr/>
          <p:nvPr/>
        </p:nvSpPr>
        <p:spPr>
          <a:xfrm>
            <a:off x="9269501" y="4515307"/>
            <a:ext cx="2282114" cy="658368"/>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rgbClr val="5F6B7A"/>
              </a:buClr>
              <a:buSzPts val="1000"/>
              <a:buFont typeface="Calibri"/>
              <a:buNone/>
            </a:pPr>
            <a:r>
              <a:rPr b="0" i="0" lang="en-US" sz="1000" u="none" cap="none" strike="noStrike">
                <a:solidFill>
                  <a:srgbClr val="5F6B7A"/>
                </a:solidFill>
                <a:latin typeface="Calibri"/>
                <a:ea typeface="Calibri"/>
                <a:cs typeface="Calibri"/>
                <a:sym typeface="Calibri"/>
              </a:rPr>
              <a:t>golden-thread dataset for all modules</a:t>
            </a:r>
            <a:endParaRPr b="0" i="0" sz="1000" u="none" cap="none" strike="noStrike">
              <a:solidFill>
                <a:schemeClr val="dk1"/>
              </a:solidFill>
              <a:latin typeface="Calibri"/>
              <a:ea typeface="Calibri"/>
              <a:cs typeface="Calibri"/>
              <a:sym typeface="Calibri"/>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00" name="Shape 400"/>
        <p:cNvGrpSpPr/>
        <p:nvPr/>
      </p:nvGrpSpPr>
      <p:grpSpPr>
        <a:xfrm>
          <a:off x="0" y="0"/>
          <a:ext cx="0" cy="0"/>
          <a:chOff x="0" y="0"/>
          <a:chExt cx="0" cy="0"/>
        </a:xfrm>
      </p:grpSpPr>
      <p:sp>
        <p:nvSpPr>
          <p:cNvPr id="401" name="Google Shape;401;p14"/>
          <p:cNvSpPr/>
          <p:nvPr/>
        </p:nvSpPr>
        <p:spPr>
          <a:xfrm>
            <a:off x="502920" y="274320"/>
            <a:ext cx="9646920" cy="56692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D2A5C"/>
              </a:buClr>
              <a:buSzPts val="2700"/>
              <a:buFont typeface="Calibri"/>
              <a:buNone/>
            </a:pPr>
            <a:r>
              <a:rPr b="1" i="0" lang="en-US" sz="2700" u="none" cap="none" strike="noStrike">
                <a:solidFill>
                  <a:srgbClr val="1D2A5C"/>
                </a:solidFill>
                <a:latin typeface="Calibri"/>
                <a:ea typeface="Calibri"/>
                <a:cs typeface="Calibri"/>
                <a:sym typeface="Calibri"/>
              </a:rPr>
              <a:t>Industry use cases</a:t>
            </a:r>
            <a:endParaRPr b="0" i="0" sz="2700" u="none" cap="none" strike="noStrike">
              <a:solidFill>
                <a:schemeClr val="dk1"/>
              </a:solidFill>
              <a:latin typeface="Calibri"/>
              <a:ea typeface="Calibri"/>
              <a:cs typeface="Calibri"/>
              <a:sym typeface="Calibri"/>
            </a:endParaRPr>
          </a:p>
        </p:txBody>
      </p:sp>
      <p:sp>
        <p:nvSpPr>
          <p:cNvPr id="402" name="Google Shape;402;p14"/>
          <p:cNvSpPr/>
          <p:nvPr/>
        </p:nvSpPr>
        <p:spPr>
          <a:xfrm>
            <a:off x="502920" y="859536"/>
            <a:ext cx="9646920" cy="31089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F6B7A"/>
              </a:buClr>
              <a:buSzPts val="1250"/>
              <a:buFont typeface="Arial"/>
              <a:buNone/>
            </a:pPr>
            <a:r>
              <a:rPr b="0" i="0" lang="en-US" sz="1250" u="none" cap="none" strike="noStrike">
                <a:solidFill>
                  <a:srgbClr val="5F6B7A"/>
                </a:solidFill>
                <a:latin typeface="Arial"/>
                <a:ea typeface="Arial"/>
                <a:cs typeface="Arial"/>
                <a:sym typeface="Arial"/>
              </a:rPr>
              <a:t>حالات استخدام صناعية</a:t>
            </a:r>
            <a:endParaRPr b="0" i="0" sz="1250" u="none" cap="none" strike="noStrike">
              <a:solidFill>
                <a:schemeClr val="dk1"/>
              </a:solidFill>
              <a:latin typeface="Calibri"/>
              <a:ea typeface="Calibri"/>
              <a:cs typeface="Calibri"/>
              <a:sym typeface="Calibri"/>
            </a:endParaRPr>
          </a:p>
        </p:txBody>
      </p:sp>
      <p:pic>
        <p:nvPicPr>
          <p:cNvPr descr="/sessions/blissful-determined-ritchie/build/assets/sdaia_logo.png" id="403" name="Google Shape;403;p14"/>
          <p:cNvPicPr preferRelativeResize="0"/>
          <p:nvPr/>
        </p:nvPicPr>
        <p:blipFill rotWithShape="1">
          <a:blip r:embed="rId3">
            <a:alphaModFix/>
          </a:blip>
          <a:srcRect b="0" l="0" r="0" t="0"/>
          <a:stretch/>
        </p:blipFill>
        <p:spPr>
          <a:xfrm>
            <a:off x="10625328" y="310896"/>
            <a:ext cx="1078992" cy="264111"/>
          </a:xfrm>
          <a:prstGeom prst="rect">
            <a:avLst/>
          </a:prstGeom>
          <a:noFill/>
          <a:ln>
            <a:noFill/>
          </a:ln>
        </p:spPr>
      </p:pic>
      <p:sp>
        <p:nvSpPr>
          <p:cNvPr id="404" name="Google Shape;404;p14"/>
          <p:cNvSpPr/>
          <p:nvPr/>
        </p:nvSpPr>
        <p:spPr>
          <a:xfrm>
            <a:off x="502920" y="6528816"/>
            <a:ext cx="8686800"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A79D"/>
              </a:buClr>
              <a:buSzPts val="800"/>
              <a:buFont typeface="Calibri"/>
              <a:buNone/>
            </a:pPr>
            <a:r>
              <a:rPr b="1" i="0" lang="en-US" sz="800" u="none" cap="none" strike="noStrike">
                <a:solidFill>
                  <a:srgbClr val="00A79D"/>
                </a:solidFill>
                <a:latin typeface="Calibri"/>
                <a:ea typeface="Calibri"/>
                <a:cs typeface="Calibri"/>
                <a:sym typeface="Calibri"/>
              </a:rPr>
              <a:t>MODULE 1   </a:t>
            </a:r>
            <a:r>
              <a:rPr b="0" i="0" lang="en-US" sz="800" u="none" cap="none" strike="noStrike">
                <a:solidFill>
                  <a:srgbClr val="8A96A6"/>
                </a:solidFill>
                <a:latin typeface="Calibri"/>
                <a:ea typeface="Calibri"/>
                <a:cs typeface="Calibri"/>
                <a:sym typeface="Calibri"/>
              </a:rPr>
              <a:t>SDA-AIE-212 · Computer Vision Systems Development</a:t>
            </a:r>
            <a:endParaRPr b="0" i="0" sz="800" u="none" cap="none" strike="noStrike">
              <a:solidFill>
                <a:schemeClr val="dk1"/>
              </a:solidFill>
              <a:latin typeface="Calibri"/>
              <a:ea typeface="Calibri"/>
              <a:cs typeface="Calibri"/>
              <a:sym typeface="Calibri"/>
            </a:endParaRPr>
          </a:p>
        </p:txBody>
      </p:sp>
      <p:sp>
        <p:nvSpPr>
          <p:cNvPr id="405" name="Google Shape;405;p14"/>
          <p:cNvSpPr/>
          <p:nvPr/>
        </p:nvSpPr>
        <p:spPr>
          <a:xfrm>
            <a:off x="11292840" y="6528816"/>
            <a:ext cx="411480" cy="219456"/>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8A96A6"/>
              </a:buClr>
              <a:buSzPts val="900"/>
              <a:buFont typeface="Calibri"/>
              <a:buNone/>
            </a:pPr>
            <a:r>
              <a:rPr b="0" i="0" lang="en-US" sz="900" u="none" cap="none" strike="noStrike">
                <a:solidFill>
                  <a:srgbClr val="8A96A6"/>
                </a:solidFill>
                <a:latin typeface="Calibri"/>
                <a:ea typeface="Calibri"/>
                <a:cs typeface="Calibri"/>
                <a:sym typeface="Calibri"/>
              </a:rPr>
              <a:t>14</a:t>
            </a:r>
            <a:endParaRPr b="0" i="0" sz="900" u="none" cap="none" strike="noStrike">
              <a:solidFill>
                <a:schemeClr val="dk1"/>
              </a:solidFill>
              <a:latin typeface="Calibri"/>
              <a:ea typeface="Calibri"/>
              <a:cs typeface="Calibri"/>
              <a:sym typeface="Calibri"/>
            </a:endParaRPr>
          </a:p>
        </p:txBody>
      </p:sp>
      <p:sp>
        <p:nvSpPr>
          <p:cNvPr id="406" name="Google Shape;406;p14"/>
          <p:cNvSpPr/>
          <p:nvPr/>
        </p:nvSpPr>
        <p:spPr>
          <a:xfrm>
            <a:off x="502920" y="1389888"/>
            <a:ext cx="5455768" cy="2354580"/>
          </a:xfrm>
          <a:prstGeom prst="roundRect">
            <a:avLst>
              <a:gd fmla="val 3107" name="adj"/>
            </a:avLst>
          </a:prstGeom>
          <a:solidFill>
            <a:srgbClr val="F2F6F9"/>
          </a:solidFill>
          <a:ln cap="flat" cmpd="sng" w="12700">
            <a:solidFill>
              <a:srgbClr val="D9E2E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7" name="Google Shape;407;p14"/>
          <p:cNvSpPr/>
          <p:nvPr/>
        </p:nvSpPr>
        <p:spPr>
          <a:xfrm>
            <a:off x="667512" y="1536192"/>
            <a:ext cx="310896" cy="310896"/>
          </a:xfrm>
          <a:prstGeom prst="ellipse">
            <a:avLst/>
          </a:prstGeom>
          <a:solidFill>
            <a:srgbClr val="00A79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8" name="Google Shape;408;p14"/>
          <p:cNvSpPr/>
          <p:nvPr/>
        </p:nvSpPr>
        <p:spPr>
          <a:xfrm>
            <a:off x="667512" y="1536192"/>
            <a:ext cx="310896" cy="31089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200"/>
              <a:buFont typeface="Calibri"/>
              <a:buNone/>
            </a:pPr>
            <a:r>
              <a:rPr b="1" i="0" lang="en-US" sz="1200" u="none" cap="none" strike="noStrike">
                <a:solidFill>
                  <a:srgbClr val="FFFFFF"/>
                </a:solidFill>
                <a:latin typeface="Calibri"/>
                <a:ea typeface="Calibri"/>
                <a:cs typeface="Calibri"/>
                <a:sym typeface="Calibri"/>
              </a:rPr>
              <a:t>1</a:t>
            </a:r>
            <a:endParaRPr b="0" i="0" sz="1200" u="none" cap="none" strike="noStrike">
              <a:solidFill>
                <a:schemeClr val="dk1"/>
              </a:solidFill>
              <a:latin typeface="Calibri"/>
              <a:ea typeface="Calibri"/>
              <a:cs typeface="Calibri"/>
              <a:sym typeface="Calibri"/>
            </a:endParaRPr>
          </a:p>
        </p:txBody>
      </p:sp>
      <p:sp>
        <p:nvSpPr>
          <p:cNvPr id="409" name="Google Shape;409;p14"/>
          <p:cNvSpPr/>
          <p:nvPr/>
        </p:nvSpPr>
        <p:spPr>
          <a:xfrm>
            <a:off x="1088136" y="1499616"/>
            <a:ext cx="4724248" cy="38404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D2A5C"/>
              </a:buClr>
              <a:buSzPts val="1250"/>
              <a:buFont typeface="Calibri"/>
              <a:buNone/>
            </a:pPr>
            <a:r>
              <a:rPr b="1" i="0" lang="en-US" sz="1250" u="none" cap="none" strike="noStrike">
                <a:solidFill>
                  <a:srgbClr val="1D2A5C"/>
                </a:solidFill>
                <a:latin typeface="Calibri"/>
                <a:ea typeface="Calibri"/>
                <a:cs typeface="Calibri"/>
                <a:sym typeface="Calibri"/>
              </a:rPr>
              <a:t>Date-packing line</a:t>
            </a:r>
            <a:endParaRPr b="0" i="0" sz="1250" u="none" cap="none" strike="noStrike">
              <a:solidFill>
                <a:schemeClr val="dk1"/>
              </a:solidFill>
              <a:latin typeface="Calibri"/>
              <a:ea typeface="Calibri"/>
              <a:cs typeface="Calibri"/>
              <a:sym typeface="Calibri"/>
            </a:endParaRPr>
          </a:p>
        </p:txBody>
      </p:sp>
      <p:sp>
        <p:nvSpPr>
          <p:cNvPr id="410" name="Google Shape;410;p14"/>
          <p:cNvSpPr/>
          <p:nvPr/>
        </p:nvSpPr>
        <p:spPr>
          <a:xfrm>
            <a:off x="685800" y="1920240"/>
            <a:ext cx="5090008" cy="17145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5F6B7A"/>
              </a:buClr>
              <a:buSzPts val="1100"/>
              <a:buFont typeface="Calibri"/>
              <a:buNone/>
            </a:pPr>
            <a:r>
              <a:rPr b="0" i="0" lang="en-US" sz="1100" u="none" cap="none" strike="noStrike">
                <a:solidFill>
                  <a:srgbClr val="5F6B7A"/>
                </a:solidFill>
                <a:latin typeface="Calibri"/>
                <a:ea typeface="Calibri"/>
                <a:cs typeface="Calibri"/>
                <a:sym typeface="Calibri"/>
              </a:rPr>
              <a:t>Seasonal fruit-colour variation degrades a one-season classifier; fixed with photometric augmentation + normalisation audits.</a:t>
            </a:r>
            <a:endParaRPr b="0" i="0" sz="1100" u="none" cap="none" strike="noStrike">
              <a:solidFill>
                <a:schemeClr val="dk1"/>
              </a:solidFill>
              <a:latin typeface="Calibri"/>
              <a:ea typeface="Calibri"/>
              <a:cs typeface="Calibri"/>
              <a:sym typeface="Calibri"/>
            </a:endParaRPr>
          </a:p>
        </p:txBody>
      </p:sp>
      <p:sp>
        <p:nvSpPr>
          <p:cNvPr id="411" name="Google Shape;411;p14"/>
          <p:cNvSpPr/>
          <p:nvPr/>
        </p:nvSpPr>
        <p:spPr>
          <a:xfrm>
            <a:off x="6233008" y="1389888"/>
            <a:ext cx="5455768" cy="2354580"/>
          </a:xfrm>
          <a:prstGeom prst="roundRect">
            <a:avLst>
              <a:gd fmla="val 3107" name="adj"/>
            </a:avLst>
          </a:prstGeom>
          <a:solidFill>
            <a:srgbClr val="F2F6F9"/>
          </a:solidFill>
          <a:ln cap="flat" cmpd="sng" w="12700">
            <a:solidFill>
              <a:srgbClr val="D9E2E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2" name="Google Shape;412;p14"/>
          <p:cNvSpPr/>
          <p:nvPr/>
        </p:nvSpPr>
        <p:spPr>
          <a:xfrm>
            <a:off x="6397600" y="1536192"/>
            <a:ext cx="310896" cy="310896"/>
          </a:xfrm>
          <a:prstGeom prst="ellipse">
            <a:avLst/>
          </a:prstGeom>
          <a:solidFill>
            <a:srgbClr val="29ABE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3" name="Google Shape;413;p14"/>
          <p:cNvSpPr/>
          <p:nvPr/>
        </p:nvSpPr>
        <p:spPr>
          <a:xfrm>
            <a:off x="6397600" y="1536192"/>
            <a:ext cx="310896" cy="31089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200"/>
              <a:buFont typeface="Calibri"/>
              <a:buNone/>
            </a:pPr>
            <a:r>
              <a:rPr b="1" i="0" lang="en-US" sz="1200" u="none" cap="none" strike="noStrike">
                <a:solidFill>
                  <a:srgbClr val="FFFFFF"/>
                </a:solidFill>
                <a:latin typeface="Calibri"/>
                <a:ea typeface="Calibri"/>
                <a:cs typeface="Calibri"/>
                <a:sym typeface="Calibri"/>
              </a:rPr>
              <a:t>2</a:t>
            </a:r>
            <a:endParaRPr b="0" i="0" sz="1200" u="none" cap="none" strike="noStrike">
              <a:solidFill>
                <a:schemeClr val="dk1"/>
              </a:solidFill>
              <a:latin typeface="Calibri"/>
              <a:ea typeface="Calibri"/>
              <a:cs typeface="Calibri"/>
              <a:sym typeface="Calibri"/>
            </a:endParaRPr>
          </a:p>
        </p:txBody>
      </p:sp>
      <p:sp>
        <p:nvSpPr>
          <p:cNvPr id="414" name="Google Shape;414;p14"/>
          <p:cNvSpPr/>
          <p:nvPr/>
        </p:nvSpPr>
        <p:spPr>
          <a:xfrm>
            <a:off x="6818224" y="1499616"/>
            <a:ext cx="4724248" cy="38404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D2A5C"/>
              </a:buClr>
              <a:buSzPts val="1250"/>
              <a:buFont typeface="Calibri"/>
              <a:buNone/>
            </a:pPr>
            <a:r>
              <a:rPr b="1" i="0" lang="en-US" sz="1250" u="none" cap="none" strike="noStrike">
                <a:solidFill>
                  <a:srgbClr val="1D2A5C"/>
                </a:solidFill>
                <a:latin typeface="Calibri"/>
                <a:ea typeface="Calibri"/>
                <a:cs typeface="Calibri"/>
                <a:sym typeface="Calibri"/>
              </a:rPr>
              <a:t>Hospital imaging</a:t>
            </a:r>
            <a:endParaRPr b="0" i="0" sz="1250" u="none" cap="none" strike="noStrike">
              <a:solidFill>
                <a:schemeClr val="dk1"/>
              </a:solidFill>
              <a:latin typeface="Calibri"/>
              <a:ea typeface="Calibri"/>
              <a:cs typeface="Calibri"/>
              <a:sym typeface="Calibri"/>
            </a:endParaRPr>
          </a:p>
        </p:txBody>
      </p:sp>
      <p:sp>
        <p:nvSpPr>
          <p:cNvPr id="415" name="Google Shape;415;p14"/>
          <p:cNvSpPr/>
          <p:nvPr/>
        </p:nvSpPr>
        <p:spPr>
          <a:xfrm>
            <a:off x="6415888" y="1920240"/>
            <a:ext cx="5090008" cy="17145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5F6B7A"/>
              </a:buClr>
              <a:buSzPts val="1100"/>
              <a:buFont typeface="Calibri"/>
              <a:buNone/>
            </a:pPr>
            <a:r>
              <a:rPr b="0" i="0" lang="en-US" sz="1100" u="none" cap="none" strike="noStrike">
                <a:solidFill>
                  <a:srgbClr val="5F6B7A"/>
                </a:solidFill>
                <a:latin typeface="Calibri"/>
                <a:ea typeface="Calibri"/>
                <a:cs typeface="Calibri"/>
                <a:sym typeface="Calibri"/>
              </a:rPr>
              <a:t>Chest X-ray model collapsed on a new scanner — root cause a DICOM windowing default: a preprocessing-contract violation.</a:t>
            </a:r>
            <a:endParaRPr b="0" i="0" sz="1100" u="none" cap="none" strike="noStrike">
              <a:solidFill>
                <a:schemeClr val="dk1"/>
              </a:solidFill>
              <a:latin typeface="Calibri"/>
              <a:ea typeface="Calibri"/>
              <a:cs typeface="Calibri"/>
              <a:sym typeface="Calibri"/>
            </a:endParaRPr>
          </a:p>
        </p:txBody>
      </p:sp>
      <p:sp>
        <p:nvSpPr>
          <p:cNvPr id="416" name="Google Shape;416;p14"/>
          <p:cNvSpPr/>
          <p:nvPr/>
        </p:nvSpPr>
        <p:spPr>
          <a:xfrm>
            <a:off x="502920" y="4000500"/>
            <a:ext cx="5455768" cy="2354580"/>
          </a:xfrm>
          <a:prstGeom prst="roundRect">
            <a:avLst>
              <a:gd fmla="val 3107" name="adj"/>
            </a:avLst>
          </a:prstGeom>
          <a:solidFill>
            <a:srgbClr val="F2F6F9"/>
          </a:solidFill>
          <a:ln cap="flat" cmpd="sng" w="12700">
            <a:solidFill>
              <a:srgbClr val="D9E2E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7" name="Google Shape;417;p14"/>
          <p:cNvSpPr/>
          <p:nvPr/>
        </p:nvSpPr>
        <p:spPr>
          <a:xfrm>
            <a:off x="667512" y="4146804"/>
            <a:ext cx="310896" cy="310896"/>
          </a:xfrm>
          <a:prstGeom prst="ellipse">
            <a:avLst/>
          </a:prstGeom>
          <a:solidFill>
            <a:srgbClr val="F5822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8" name="Google Shape;418;p14"/>
          <p:cNvSpPr/>
          <p:nvPr/>
        </p:nvSpPr>
        <p:spPr>
          <a:xfrm>
            <a:off x="667512" y="4146804"/>
            <a:ext cx="310896" cy="31089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200"/>
              <a:buFont typeface="Calibri"/>
              <a:buNone/>
            </a:pPr>
            <a:r>
              <a:rPr b="1" i="0" lang="en-US" sz="1200" u="none" cap="none" strike="noStrike">
                <a:solidFill>
                  <a:srgbClr val="FFFFFF"/>
                </a:solidFill>
                <a:latin typeface="Calibri"/>
                <a:ea typeface="Calibri"/>
                <a:cs typeface="Calibri"/>
                <a:sym typeface="Calibri"/>
              </a:rPr>
              <a:t>3</a:t>
            </a:r>
            <a:endParaRPr b="0" i="0" sz="1200" u="none" cap="none" strike="noStrike">
              <a:solidFill>
                <a:schemeClr val="dk1"/>
              </a:solidFill>
              <a:latin typeface="Calibri"/>
              <a:ea typeface="Calibri"/>
              <a:cs typeface="Calibri"/>
              <a:sym typeface="Calibri"/>
            </a:endParaRPr>
          </a:p>
        </p:txBody>
      </p:sp>
      <p:sp>
        <p:nvSpPr>
          <p:cNvPr id="419" name="Google Shape;419;p14"/>
          <p:cNvSpPr/>
          <p:nvPr/>
        </p:nvSpPr>
        <p:spPr>
          <a:xfrm>
            <a:off x="1088136" y="4110228"/>
            <a:ext cx="4724248" cy="38404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D2A5C"/>
              </a:buClr>
              <a:buSzPts val="1250"/>
              <a:buFont typeface="Calibri"/>
              <a:buNone/>
            </a:pPr>
            <a:r>
              <a:rPr b="1" i="0" lang="en-US" sz="1250" u="none" cap="none" strike="noStrike">
                <a:solidFill>
                  <a:srgbClr val="1D2A5C"/>
                </a:solidFill>
                <a:latin typeface="Calibri"/>
                <a:ea typeface="Calibri"/>
                <a:cs typeface="Calibri"/>
                <a:sym typeface="Calibri"/>
              </a:rPr>
              <a:t>Smart-city traffic</a:t>
            </a:r>
            <a:endParaRPr b="0" i="0" sz="1250" u="none" cap="none" strike="noStrike">
              <a:solidFill>
                <a:schemeClr val="dk1"/>
              </a:solidFill>
              <a:latin typeface="Calibri"/>
              <a:ea typeface="Calibri"/>
              <a:cs typeface="Calibri"/>
              <a:sym typeface="Calibri"/>
            </a:endParaRPr>
          </a:p>
        </p:txBody>
      </p:sp>
      <p:sp>
        <p:nvSpPr>
          <p:cNvPr id="420" name="Google Shape;420;p14"/>
          <p:cNvSpPr/>
          <p:nvPr/>
        </p:nvSpPr>
        <p:spPr>
          <a:xfrm>
            <a:off x="685800" y="4530852"/>
            <a:ext cx="5090008" cy="17145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5F6B7A"/>
              </a:buClr>
              <a:buSzPts val="1100"/>
              <a:buFont typeface="Calibri"/>
              <a:buNone/>
            </a:pPr>
            <a:r>
              <a:rPr b="0" i="0" lang="en-US" sz="1100" u="none" cap="none" strike="noStrike">
                <a:solidFill>
                  <a:srgbClr val="5F6B7A"/>
                </a:solidFill>
                <a:latin typeface="Calibri"/>
                <a:ea typeface="Calibri"/>
                <a:cs typeface="Calibri"/>
                <a:sym typeface="Calibri"/>
              </a:rPr>
              <a:t>Night/day and sandstorm conditions demand an augmentation policy tuned to Gulf conditions, not ImageNet defaults.</a:t>
            </a:r>
            <a:endParaRPr b="0" i="0" sz="1100" u="none" cap="none" strike="noStrike">
              <a:solidFill>
                <a:schemeClr val="dk1"/>
              </a:solidFill>
              <a:latin typeface="Calibri"/>
              <a:ea typeface="Calibri"/>
              <a:cs typeface="Calibri"/>
              <a:sym typeface="Calibri"/>
            </a:endParaRPr>
          </a:p>
        </p:txBody>
      </p:sp>
      <p:sp>
        <p:nvSpPr>
          <p:cNvPr id="421" name="Google Shape;421;p14"/>
          <p:cNvSpPr/>
          <p:nvPr/>
        </p:nvSpPr>
        <p:spPr>
          <a:xfrm>
            <a:off x="6233008" y="4000500"/>
            <a:ext cx="5455768" cy="2354580"/>
          </a:xfrm>
          <a:prstGeom prst="roundRect">
            <a:avLst>
              <a:gd fmla="val 3107" name="adj"/>
            </a:avLst>
          </a:prstGeom>
          <a:solidFill>
            <a:srgbClr val="F2F6F9"/>
          </a:solidFill>
          <a:ln cap="flat" cmpd="sng" w="12700">
            <a:solidFill>
              <a:srgbClr val="D9E2E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2" name="Google Shape;422;p14"/>
          <p:cNvSpPr/>
          <p:nvPr/>
        </p:nvSpPr>
        <p:spPr>
          <a:xfrm>
            <a:off x="6397600" y="4146804"/>
            <a:ext cx="310896" cy="310896"/>
          </a:xfrm>
          <a:prstGeom prst="ellipse">
            <a:avLst/>
          </a:prstGeom>
          <a:solidFill>
            <a:srgbClr val="8DC63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3" name="Google Shape;423;p14"/>
          <p:cNvSpPr/>
          <p:nvPr/>
        </p:nvSpPr>
        <p:spPr>
          <a:xfrm>
            <a:off x="6397600" y="4146804"/>
            <a:ext cx="310896" cy="31089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200"/>
              <a:buFont typeface="Calibri"/>
              <a:buNone/>
            </a:pPr>
            <a:r>
              <a:rPr b="1" i="0" lang="en-US" sz="1200" u="none" cap="none" strike="noStrike">
                <a:solidFill>
                  <a:srgbClr val="FFFFFF"/>
                </a:solidFill>
                <a:latin typeface="Calibri"/>
                <a:ea typeface="Calibri"/>
                <a:cs typeface="Calibri"/>
                <a:sym typeface="Calibri"/>
              </a:rPr>
              <a:t>4</a:t>
            </a:r>
            <a:endParaRPr b="0" i="0" sz="1200" u="none" cap="none" strike="noStrike">
              <a:solidFill>
                <a:schemeClr val="dk1"/>
              </a:solidFill>
              <a:latin typeface="Calibri"/>
              <a:ea typeface="Calibri"/>
              <a:cs typeface="Calibri"/>
              <a:sym typeface="Calibri"/>
            </a:endParaRPr>
          </a:p>
        </p:txBody>
      </p:sp>
      <p:sp>
        <p:nvSpPr>
          <p:cNvPr id="424" name="Google Shape;424;p14"/>
          <p:cNvSpPr/>
          <p:nvPr/>
        </p:nvSpPr>
        <p:spPr>
          <a:xfrm>
            <a:off x="6818224" y="4110228"/>
            <a:ext cx="4724248" cy="38404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D2A5C"/>
              </a:buClr>
              <a:buSzPts val="1250"/>
              <a:buFont typeface="Calibri"/>
              <a:buNone/>
            </a:pPr>
            <a:r>
              <a:rPr b="1" i="0" lang="en-US" sz="1250" u="none" cap="none" strike="noStrike">
                <a:solidFill>
                  <a:srgbClr val="1D2A5C"/>
                </a:solidFill>
                <a:latin typeface="Calibri"/>
                <a:ea typeface="Calibri"/>
                <a:cs typeface="Calibri"/>
                <a:sym typeface="Calibri"/>
              </a:rPr>
              <a:t>Gulf line conditions</a:t>
            </a:r>
            <a:endParaRPr b="0" i="0" sz="1250" u="none" cap="none" strike="noStrike">
              <a:solidFill>
                <a:schemeClr val="dk1"/>
              </a:solidFill>
              <a:latin typeface="Calibri"/>
              <a:ea typeface="Calibri"/>
              <a:cs typeface="Calibri"/>
              <a:sym typeface="Calibri"/>
            </a:endParaRPr>
          </a:p>
        </p:txBody>
      </p:sp>
      <p:sp>
        <p:nvSpPr>
          <p:cNvPr id="425" name="Google Shape;425;p14"/>
          <p:cNvSpPr/>
          <p:nvPr/>
        </p:nvSpPr>
        <p:spPr>
          <a:xfrm>
            <a:off x="6415888" y="4530852"/>
            <a:ext cx="5090008" cy="17145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5F6B7A"/>
              </a:buClr>
              <a:buSzPts val="1100"/>
              <a:buFont typeface="Calibri"/>
              <a:buNone/>
            </a:pPr>
            <a:r>
              <a:rPr b="0" i="0" lang="en-US" sz="1100" u="none" cap="none" strike="noStrike">
                <a:solidFill>
                  <a:srgbClr val="5F6B7A"/>
                </a:solidFill>
                <a:latin typeface="Calibri"/>
                <a:ea typeface="Calibri"/>
                <a:cs typeface="Calibri"/>
                <a:sym typeface="Calibri"/>
              </a:rPr>
              <a:t>Dust, heat shimmer and mixed lighting make augmentation the cheapest robustness investment available.</a:t>
            </a:r>
            <a:endParaRPr b="0" i="0" sz="1100" u="none" cap="none" strike="noStrike">
              <a:solidFill>
                <a:schemeClr val="dk1"/>
              </a:solidFill>
              <a:latin typeface="Calibri"/>
              <a:ea typeface="Calibri"/>
              <a:cs typeface="Calibri"/>
              <a:sym typeface="Calibri"/>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30" name="Shape 430"/>
        <p:cNvGrpSpPr/>
        <p:nvPr/>
      </p:nvGrpSpPr>
      <p:grpSpPr>
        <a:xfrm>
          <a:off x="0" y="0"/>
          <a:ext cx="0" cy="0"/>
          <a:chOff x="0" y="0"/>
          <a:chExt cx="0" cy="0"/>
        </a:xfrm>
      </p:grpSpPr>
      <p:sp>
        <p:nvSpPr>
          <p:cNvPr id="431" name="Google Shape;431;p15"/>
          <p:cNvSpPr/>
          <p:nvPr/>
        </p:nvSpPr>
        <p:spPr>
          <a:xfrm>
            <a:off x="502920" y="274320"/>
            <a:ext cx="9646920" cy="56692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D2A5C"/>
              </a:buClr>
              <a:buSzPts val="2700"/>
              <a:buFont typeface="Calibri"/>
              <a:buNone/>
            </a:pPr>
            <a:r>
              <a:rPr b="1" i="0" lang="en-US" sz="2700" u="none" cap="none" strike="noStrike">
                <a:solidFill>
                  <a:srgbClr val="1D2A5C"/>
                </a:solidFill>
                <a:latin typeface="Calibri"/>
                <a:ea typeface="Calibri"/>
                <a:cs typeface="Calibri"/>
                <a:sym typeface="Calibri"/>
              </a:rPr>
              <a:t>Module 1 objectives</a:t>
            </a:r>
            <a:endParaRPr b="0" i="0" sz="2700" u="none" cap="none" strike="noStrike">
              <a:solidFill>
                <a:schemeClr val="dk1"/>
              </a:solidFill>
              <a:latin typeface="Calibri"/>
              <a:ea typeface="Calibri"/>
              <a:cs typeface="Calibri"/>
              <a:sym typeface="Calibri"/>
            </a:endParaRPr>
          </a:p>
        </p:txBody>
      </p:sp>
      <p:sp>
        <p:nvSpPr>
          <p:cNvPr id="432" name="Google Shape;432;p15"/>
          <p:cNvSpPr/>
          <p:nvPr/>
        </p:nvSpPr>
        <p:spPr>
          <a:xfrm>
            <a:off x="502920" y="859536"/>
            <a:ext cx="9646920" cy="31089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F6B7A"/>
              </a:buClr>
              <a:buSzPts val="1250"/>
              <a:buFont typeface="Arial"/>
              <a:buNone/>
            </a:pPr>
            <a:r>
              <a:rPr b="0" i="0" lang="en-US" sz="1250" u="none" cap="none" strike="noStrike">
                <a:solidFill>
                  <a:srgbClr val="5F6B7A"/>
                </a:solidFill>
                <a:latin typeface="Arial"/>
                <a:ea typeface="Arial"/>
                <a:cs typeface="Arial"/>
                <a:sym typeface="Arial"/>
              </a:rPr>
              <a:t>أهداف الوحدة الأولى</a:t>
            </a:r>
            <a:endParaRPr b="0" i="0" sz="1250" u="none" cap="none" strike="noStrike">
              <a:solidFill>
                <a:schemeClr val="dk1"/>
              </a:solidFill>
              <a:latin typeface="Calibri"/>
              <a:ea typeface="Calibri"/>
              <a:cs typeface="Calibri"/>
              <a:sym typeface="Calibri"/>
            </a:endParaRPr>
          </a:p>
        </p:txBody>
      </p:sp>
      <p:pic>
        <p:nvPicPr>
          <p:cNvPr descr="/sessions/blissful-determined-ritchie/build/assets/sdaia_logo.png" id="433" name="Google Shape;433;p15"/>
          <p:cNvPicPr preferRelativeResize="0"/>
          <p:nvPr/>
        </p:nvPicPr>
        <p:blipFill rotWithShape="1">
          <a:blip r:embed="rId3">
            <a:alphaModFix/>
          </a:blip>
          <a:srcRect b="0" l="0" r="0" t="0"/>
          <a:stretch/>
        </p:blipFill>
        <p:spPr>
          <a:xfrm>
            <a:off x="10625328" y="310896"/>
            <a:ext cx="1078992" cy="264111"/>
          </a:xfrm>
          <a:prstGeom prst="rect">
            <a:avLst/>
          </a:prstGeom>
          <a:noFill/>
          <a:ln>
            <a:noFill/>
          </a:ln>
        </p:spPr>
      </p:pic>
      <p:sp>
        <p:nvSpPr>
          <p:cNvPr id="434" name="Google Shape;434;p15"/>
          <p:cNvSpPr/>
          <p:nvPr/>
        </p:nvSpPr>
        <p:spPr>
          <a:xfrm>
            <a:off x="502920" y="6528816"/>
            <a:ext cx="8686800"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A79D"/>
              </a:buClr>
              <a:buSzPts val="800"/>
              <a:buFont typeface="Calibri"/>
              <a:buNone/>
            </a:pPr>
            <a:r>
              <a:rPr b="1" i="0" lang="en-US" sz="800" u="none" cap="none" strike="noStrike">
                <a:solidFill>
                  <a:srgbClr val="00A79D"/>
                </a:solidFill>
                <a:latin typeface="Calibri"/>
                <a:ea typeface="Calibri"/>
                <a:cs typeface="Calibri"/>
                <a:sym typeface="Calibri"/>
              </a:rPr>
              <a:t>MODULE 1   </a:t>
            </a:r>
            <a:r>
              <a:rPr b="0" i="0" lang="en-US" sz="800" u="none" cap="none" strike="noStrike">
                <a:solidFill>
                  <a:srgbClr val="8A96A6"/>
                </a:solidFill>
                <a:latin typeface="Calibri"/>
                <a:ea typeface="Calibri"/>
                <a:cs typeface="Calibri"/>
                <a:sym typeface="Calibri"/>
              </a:rPr>
              <a:t>SDA-AIE-212 · Computer Vision Systems Development</a:t>
            </a:r>
            <a:endParaRPr b="0" i="0" sz="800" u="none" cap="none" strike="noStrike">
              <a:solidFill>
                <a:schemeClr val="dk1"/>
              </a:solidFill>
              <a:latin typeface="Calibri"/>
              <a:ea typeface="Calibri"/>
              <a:cs typeface="Calibri"/>
              <a:sym typeface="Calibri"/>
            </a:endParaRPr>
          </a:p>
        </p:txBody>
      </p:sp>
      <p:sp>
        <p:nvSpPr>
          <p:cNvPr id="435" name="Google Shape;435;p15"/>
          <p:cNvSpPr/>
          <p:nvPr/>
        </p:nvSpPr>
        <p:spPr>
          <a:xfrm>
            <a:off x="11292840" y="6528816"/>
            <a:ext cx="411480" cy="219456"/>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8A96A6"/>
              </a:buClr>
              <a:buSzPts val="900"/>
              <a:buFont typeface="Calibri"/>
              <a:buNone/>
            </a:pPr>
            <a:r>
              <a:rPr b="0" i="0" lang="en-US" sz="900" u="none" cap="none" strike="noStrike">
                <a:solidFill>
                  <a:srgbClr val="8A96A6"/>
                </a:solidFill>
                <a:latin typeface="Calibri"/>
                <a:ea typeface="Calibri"/>
                <a:cs typeface="Calibri"/>
                <a:sym typeface="Calibri"/>
              </a:rPr>
              <a:t>15</a:t>
            </a:r>
            <a:endParaRPr b="0" i="0" sz="900" u="none" cap="none" strike="noStrike">
              <a:solidFill>
                <a:schemeClr val="dk1"/>
              </a:solidFill>
              <a:latin typeface="Calibri"/>
              <a:ea typeface="Calibri"/>
              <a:cs typeface="Calibri"/>
              <a:sym typeface="Calibri"/>
            </a:endParaRPr>
          </a:p>
        </p:txBody>
      </p:sp>
      <p:sp>
        <p:nvSpPr>
          <p:cNvPr id="436" name="Google Shape;436;p15"/>
          <p:cNvSpPr/>
          <p:nvPr/>
        </p:nvSpPr>
        <p:spPr>
          <a:xfrm>
            <a:off x="502920" y="1499616"/>
            <a:ext cx="11183112" cy="832104"/>
          </a:xfrm>
          <a:prstGeom prst="roundRect">
            <a:avLst>
              <a:gd fmla="val 7692" name="adj"/>
            </a:avLst>
          </a:prstGeom>
          <a:solidFill>
            <a:srgbClr val="FAFCFE"/>
          </a:solidFill>
          <a:ln cap="flat" cmpd="sng" w="9525">
            <a:solidFill>
              <a:srgbClr val="D9E2E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7" name="Google Shape;437;p15"/>
          <p:cNvSpPr/>
          <p:nvPr/>
        </p:nvSpPr>
        <p:spPr>
          <a:xfrm>
            <a:off x="649224" y="1751076"/>
            <a:ext cx="329184" cy="329184"/>
          </a:xfrm>
          <a:prstGeom prst="ellipse">
            <a:avLst/>
          </a:prstGeom>
          <a:solidFill>
            <a:srgbClr val="00A79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8" name="Google Shape;438;p15"/>
          <p:cNvSpPr/>
          <p:nvPr/>
        </p:nvSpPr>
        <p:spPr>
          <a:xfrm>
            <a:off x="649224" y="1751076"/>
            <a:ext cx="329184" cy="32918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150"/>
              <a:buFont typeface="Calibri"/>
              <a:buNone/>
            </a:pPr>
            <a:r>
              <a:rPr b="1" i="0" lang="en-US" sz="1150" u="none" cap="none" strike="noStrike">
                <a:solidFill>
                  <a:srgbClr val="FFFFFF"/>
                </a:solidFill>
                <a:latin typeface="Calibri"/>
                <a:ea typeface="Calibri"/>
                <a:cs typeface="Calibri"/>
                <a:sym typeface="Calibri"/>
              </a:rPr>
              <a:t>1.1</a:t>
            </a:r>
            <a:endParaRPr b="0" i="0" sz="1150" u="none" cap="none" strike="noStrike">
              <a:solidFill>
                <a:schemeClr val="dk1"/>
              </a:solidFill>
              <a:latin typeface="Calibri"/>
              <a:ea typeface="Calibri"/>
              <a:cs typeface="Calibri"/>
              <a:sym typeface="Calibri"/>
            </a:endParaRPr>
          </a:p>
        </p:txBody>
      </p:sp>
      <p:sp>
        <p:nvSpPr>
          <p:cNvPr id="439" name="Google Shape;439;p15"/>
          <p:cNvSpPr/>
          <p:nvPr/>
        </p:nvSpPr>
        <p:spPr>
          <a:xfrm>
            <a:off x="1143000" y="1499616"/>
            <a:ext cx="8321040" cy="83210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3293B"/>
              </a:buClr>
              <a:buSzPts val="1250"/>
              <a:buFont typeface="Calibri"/>
              <a:buNone/>
            </a:pPr>
            <a:r>
              <a:rPr b="0" i="0" lang="en-US" sz="1250" u="none" cap="none" strike="noStrike">
                <a:solidFill>
                  <a:srgbClr val="23293B"/>
                </a:solidFill>
                <a:latin typeface="Calibri"/>
                <a:ea typeface="Calibri"/>
                <a:cs typeface="Calibri"/>
                <a:sym typeface="Calibri"/>
              </a:rPr>
              <a:t>Explain image representation: colour spaces, channel order, bit depth, tensor layout (NCHW)</a:t>
            </a:r>
            <a:endParaRPr b="0" i="0" sz="1250" u="none" cap="none" strike="noStrike">
              <a:solidFill>
                <a:schemeClr val="dk1"/>
              </a:solidFill>
              <a:latin typeface="Calibri"/>
              <a:ea typeface="Calibri"/>
              <a:cs typeface="Calibri"/>
              <a:sym typeface="Calibri"/>
            </a:endParaRPr>
          </a:p>
        </p:txBody>
      </p:sp>
      <p:sp>
        <p:nvSpPr>
          <p:cNvPr id="440" name="Google Shape;440;p15"/>
          <p:cNvSpPr/>
          <p:nvPr/>
        </p:nvSpPr>
        <p:spPr>
          <a:xfrm>
            <a:off x="9646920" y="1741932"/>
            <a:ext cx="658368" cy="310896"/>
          </a:xfrm>
          <a:prstGeom prst="roundRect">
            <a:avLst>
              <a:gd fmla="val 50000" name="adj"/>
            </a:avLst>
          </a:prstGeom>
          <a:solidFill>
            <a:srgbClr val="E9F6F5"/>
          </a:solidFill>
          <a:ln cap="flat" cmpd="sng" w="9525">
            <a:solidFill>
              <a:srgbClr val="00A79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1" name="Google Shape;441;p15"/>
          <p:cNvSpPr/>
          <p:nvPr/>
        </p:nvSpPr>
        <p:spPr>
          <a:xfrm>
            <a:off x="9646920" y="1741932"/>
            <a:ext cx="658368" cy="31089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56A63"/>
              </a:buClr>
              <a:buSzPts val="950"/>
              <a:buFont typeface="Calibri"/>
              <a:buNone/>
            </a:pPr>
            <a:r>
              <a:rPr b="1" i="0" lang="en-US" sz="950" u="none" cap="none" strike="noStrike">
                <a:solidFill>
                  <a:srgbClr val="056A63"/>
                </a:solidFill>
                <a:latin typeface="Calibri"/>
                <a:ea typeface="Calibri"/>
                <a:cs typeface="Calibri"/>
                <a:sym typeface="Calibri"/>
              </a:rPr>
              <a:t>LO1</a:t>
            </a:r>
            <a:endParaRPr b="0" i="0" sz="950" u="none" cap="none" strike="noStrike">
              <a:solidFill>
                <a:schemeClr val="dk1"/>
              </a:solidFill>
              <a:latin typeface="Calibri"/>
              <a:ea typeface="Calibri"/>
              <a:cs typeface="Calibri"/>
              <a:sym typeface="Calibri"/>
            </a:endParaRPr>
          </a:p>
        </p:txBody>
      </p:sp>
      <p:sp>
        <p:nvSpPr>
          <p:cNvPr id="442" name="Google Shape;442;p15"/>
          <p:cNvSpPr/>
          <p:nvPr/>
        </p:nvSpPr>
        <p:spPr>
          <a:xfrm>
            <a:off x="502920" y="2459736"/>
            <a:ext cx="11183112" cy="832104"/>
          </a:xfrm>
          <a:prstGeom prst="roundRect">
            <a:avLst>
              <a:gd fmla="val 7692" name="adj"/>
            </a:avLst>
          </a:prstGeom>
          <a:solidFill>
            <a:srgbClr val="F2F6F9"/>
          </a:solidFill>
          <a:ln cap="flat" cmpd="sng" w="9525">
            <a:solidFill>
              <a:srgbClr val="D9E2E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3" name="Google Shape;443;p15"/>
          <p:cNvSpPr/>
          <p:nvPr/>
        </p:nvSpPr>
        <p:spPr>
          <a:xfrm>
            <a:off x="649224" y="2711196"/>
            <a:ext cx="329184" cy="329184"/>
          </a:xfrm>
          <a:prstGeom prst="ellipse">
            <a:avLst/>
          </a:prstGeom>
          <a:solidFill>
            <a:srgbClr val="00A79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4" name="Google Shape;444;p15"/>
          <p:cNvSpPr/>
          <p:nvPr/>
        </p:nvSpPr>
        <p:spPr>
          <a:xfrm>
            <a:off x="649224" y="2711196"/>
            <a:ext cx="329184" cy="32918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150"/>
              <a:buFont typeface="Calibri"/>
              <a:buNone/>
            </a:pPr>
            <a:r>
              <a:rPr b="1" i="0" lang="en-US" sz="1150" u="none" cap="none" strike="noStrike">
                <a:solidFill>
                  <a:srgbClr val="FFFFFF"/>
                </a:solidFill>
                <a:latin typeface="Calibri"/>
                <a:ea typeface="Calibri"/>
                <a:cs typeface="Calibri"/>
                <a:sym typeface="Calibri"/>
              </a:rPr>
              <a:t>1.2</a:t>
            </a:r>
            <a:endParaRPr b="0" i="0" sz="1150" u="none" cap="none" strike="noStrike">
              <a:solidFill>
                <a:schemeClr val="dk1"/>
              </a:solidFill>
              <a:latin typeface="Calibri"/>
              <a:ea typeface="Calibri"/>
              <a:cs typeface="Calibri"/>
              <a:sym typeface="Calibri"/>
            </a:endParaRPr>
          </a:p>
        </p:txBody>
      </p:sp>
      <p:sp>
        <p:nvSpPr>
          <p:cNvPr id="445" name="Google Shape;445;p15"/>
          <p:cNvSpPr/>
          <p:nvPr/>
        </p:nvSpPr>
        <p:spPr>
          <a:xfrm>
            <a:off x="1143000" y="2459736"/>
            <a:ext cx="8321040" cy="83210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3293B"/>
              </a:buClr>
              <a:buSzPts val="1250"/>
              <a:buFont typeface="Calibri"/>
              <a:buNone/>
            </a:pPr>
            <a:r>
              <a:rPr b="0" i="0" lang="en-US" sz="1250" u="none" cap="none" strike="noStrike">
                <a:solidFill>
                  <a:srgbClr val="23293B"/>
                </a:solidFill>
                <a:latin typeface="Calibri"/>
                <a:ea typeface="Calibri"/>
                <a:cs typeface="Calibri"/>
                <a:sym typeface="Calibri"/>
              </a:rPr>
              <a:t>Implement a preprocessing contract shared by training and inference code</a:t>
            </a:r>
            <a:endParaRPr b="0" i="0" sz="1250" u="none" cap="none" strike="noStrike">
              <a:solidFill>
                <a:schemeClr val="dk1"/>
              </a:solidFill>
              <a:latin typeface="Calibri"/>
              <a:ea typeface="Calibri"/>
              <a:cs typeface="Calibri"/>
              <a:sym typeface="Calibri"/>
            </a:endParaRPr>
          </a:p>
        </p:txBody>
      </p:sp>
      <p:sp>
        <p:nvSpPr>
          <p:cNvPr id="446" name="Google Shape;446;p15"/>
          <p:cNvSpPr/>
          <p:nvPr/>
        </p:nvSpPr>
        <p:spPr>
          <a:xfrm>
            <a:off x="9646920" y="2702052"/>
            <a:ext cx="658368" cy="310896"/>
          </a:xfrm>
          <a:prstGeom prst="roundRect">
            <a:avLst>
              <a:gd fmla="val 50000" name="adj"/>
            </a:avLst>
          </a:prstGeom>
          <a:solidFill>
            <a:srgbClr val="E9F6F5"/>
          </a:solidFill>
          <a:ln cap="flat" cmpd="sng" w="9525">
            <a:solidFill>
              <a:srgbClr val="00A79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7" name="Google Shape;447;p15"/>
          <p:cNvSpPr/>
          <p:nvPr/>
        </p:nvSpPr>
        <p:spPr>
          <a:xfrm>
            <a:off x="9646920" y="2702052"/>
            <a:ext cx="658368" cy="31089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56A63"/>
              </a:buClr>
              <a:buSzPts val="950"/>
              <a:buFont typeface="Calibri"/>
              <a:buNone/>
            </a:pPr>
            <a:r>
              <a:rPr b="1" i="0" lang="en-US" sz="950" u="none" cap="none" strike="noStrike">
                <a:solidFill>
                  <a:srgbClr val="056A63"/>
                </a:solidFill>
                <a:latin typeface="Calibri"/>
                <a:ea typeface="Calibri"/>
                <a:cs typeface="Calibri"/>
                <a:sym typeface="Calibri"/>
              </a:rPr>
              <a:t>LO1</a:t>
            </a:r>
            <a:endParaRPr b="0" i="0" sz="950" u="none" cap="none" strike="noStrike">
              <a:solidFill>
                <a:schemeClr val="dk1"/>
              </a:solidFill>
              <a:latin typeface="Calibri"/>
              <a:ea typeface="Calibri"/>
              <a:cs typeface="Calibri"/>
              <a:sym typeface="Calibri"/>
            </a:endParaRPr>
          </a:p>
        </p:txBody>
      </p:sp>
      <p:sp>
        <p:nvSpPr>
          <p:cNvPr id="448" name="Google Shape;448;p15"/>
          <p:cNvSpPr/>
          <p:nvPr/>
        </p:nvSpPr>
        <p:spPr>
          <a:xfrm>
            <a:off x="10360152" y="2702052"/>
            <a:ext cx="658368" cy="310896"/>
          </a:xfrm>
          <a:prstGeom prst="roundRect">
            <a:avLst>
              <a:gd fmla="val 50000" name="adj"/>
            </a:avLst>
          </a:prstGeom>
          <a:solidFill>
            <a:srgbClr val="E9F6F5"/>
          </a:solidFill>
          <a:ln cap="flat" cmpd="sng" w="9525">
            <a:solidFill>
              <a:srgbClr val="00A79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9" name="Google Shape;449;p15"/>
          <p:cNvSpPr/>
          <p:nvPr/>
        </p:nvSpPr>
        <p:spPr>
          <a:xfrm>
            <a:off x="10360152" y="2702052"/>
            <a:ext cx="658368" cy="31089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56A63"/>
              </a:buClr>
              <a:buSzPts val="950"/>
              <a:buFont typeface="Calibri"/>
              <a:buNone/>
            </a:pPr>
            <a:r>
              <a:rPr b="1" i="0" lang="en-US" sz="950" u="none" cap="none" strike="noStrike">
                <a:solidFill>
                  <a:srgbClr val="056A63"/>
                </a:solidFill>
                <a:latin typeface="Calibri"/>
                <a:ea typeface="Calibri"/>
                <a:cs typeface="Calibri"/>
                <a:sym typeface="Calibri"/>
              </a:rPr>
              <a:t>LO4</a:t>
            </a:r>
            <a:endParaRPr b="0" i="0" sz="950" u="none" cap="none" strike="noStrike">
              <a:solidFill>
                <a:schemeClr val="dk1"/>
              </a:solidFill>
              <a:latin typeface="Calibri"/>
              <a:ea typeface="Calibri"/>
              <a:cs typeface="Calibri"/>
              <a:sym typeface="Calibri"/>
            </a:endParaRPr>
          </a:p>
        </p:txBody>
      </p:sp>
      <p:sp>
        <p:nvSpPr>
          <p:cNvPr id="450" name="Google Shape;450;p15"/>
          <p:cNvSpPr/>
          <p:nvPr/>
        </p:nvSpPr>
        <p:spPr>
          <a:xfrm>
            <a:off x="502920" y="3419856"/>
            <a:ext cx="11183112" cy="832104"/>
          </a:xfrm>
          <a:prstGeom prst="roundRect">
            <a:avLst>
              <a:gd fmla="val 7692" name="adj"/>
            </a:avLst>
          </a:prstGeom>
          <a:solidFill>
            <a:srgbClr val="FAFCFE"/>
          </a:solidFill>
          <a:ln cap="flat" cmpd="sng" w="9525">
            <a:solidFill>
              <a:srgbClr val="D9E2E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1" name="Google Shape;451;p15"/>
          <p:cNvSpPr/>
          <p:nvPr/>
        </p:nvSpPr>
        <p:spPr>
          <a:xfrm>
            <a:off x="649224" y="3671316"/>
            <a:ext cx="329184" cy="329184"/>
          </a:xfrm>
          <a:prstGeom prst="ellipse">
            <a:avLst/>
          </a:prstGeom>
          <a:solidFill>
            <a:srgbClr val="00A79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2" name="Google Shape;452;p15"/>
          <p:cNvSpPr/>
          <p:nvPr/>
        </p:nvSpPr>
        <p:spPr>
          <a:xfrm>
            <a:off x="649224" y="3671316"/>
            <a:ext cx="329184" cy="32918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150"/>
              <a:buFont typeface="Calibri"/>
              <a:buNone/>
            </a:pPr>
            <a:r>
              <a:rPr b="1" i="0" lang="en-US" sz="1150" u="none" cap="none" strike="noStrike">
                <a:solidFill>
                  <a:srgbClr val="FFFFFF"/>
                </a:solidFill>
                <a:latin typeface="Calibri"/>
                <a:ea typeface="Calibri"/>
                <a:cs typeface="Calibri"/>
                <a:sym typeface="Calibri"/>
              </a:rPr>
              <a:t>1.3</a:t>
            </a:r>
            <a:endParaRPr b="0" i="0" sz="1150" u="none" cap="none" strike="noStrike">
              <a:solidFill>
                <a:schemeClr val="dk1"/>
              </a:solidFill>
              <a:latin typeface="Calibri"/>
              <a:ea typeface="Calibri"/>
              <a:cs typeface="Calibri"/>
              <a:sym typeface="Calibri"/>
            </a:endParaRPr>
          </a:p>
        </p:txBody>
      </p:sp>
      <p:sp>
        <p:nvSpPr>
          <p:cNvPr id="453" name="Google Shape;453;p15"/>
          <p:cNvSpPr/>
          <p:nvPr/>
        </p:nvSpPr>
        <p:spPr>
          <a:xfrm>
            <a:off x="1143000" y="3419856"/>
            <a:ext cx="8321040" cy="83210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3293B"/>
              </a:buClr>
              <a:buSzPts val="1250"/>
              <a:buFont typeface="Calibri"/>
              <a:buNone/>
            </a:pPr>
            <a:r>
              <a:rPr b="0" i="0" lang="en-US" sz="1250" u="none" cap="none" strike="noStrike">
                <a:solidFill>
                  <a:srgbClr val="23293B"/>
                </a:solidFill>
                <a:latin typeface="Calibri"/>
                <a:ea typeface="Calibri"/>
                <a:cs typeface="Calibri"/>
                <a:sym typeface="Calibri"/>
              </a:rPr>
              <a:t>Design an augmentation policy justified by domain invariances; rule out invalid ones</a:t>
            </a:r>
            <a:endParaRPr b="0" i="0" sz="1250" u="none" cap="none" strike="noStrike">
              <a:solidFill>
                <a:schemeClr val="dk1"/>
              </a:solidFill>
              <a:latin typeface="Calibri"/>
              <a:ea typeface="Calibri"/>
              <a:cs typeface="Calibri"/>
              <a:sym typeface="Calibri"/>
            </a:endParaRPr>
          </a:p>
        </p:txBody>
      </p:sp>
      <p:sp>
        <p:nvSpPr>
          <p:cNvPr id="454" name="Google Shape;454;p15"/>
          <p:cNvSpPr/>
          <p:nvPr/>
        </p:nvSpPr>
        <p:spPr>
          <a:xfrm>
            <a:off x="9646920" y="3662172"/>
            <a:ext cx="658368" cy="310896"/>
          </a:xfrm>
          <a:prstGeom prst="roundRect">
            <a:avLst>
              <a:gd fmla="val 50000" name="adj"/>
            </a:avLst>
          </a:prstGeom>
          <a:solidFill>
            <a:srgbClr val="E9F6F5"/>
          </a:solidFill>
          <a:ln cap="flat" cmpd="sng" w="9525">
            <a:solidFill>
              <a:srgbClr val="00A79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5" name="Google Shape;455;p15"/>
          <p:cNvSpPr/>
          <p:nvPr/>
        </p:nvSpPr>
        <p:spPr>
          <a:xfrm>
            <a:off x="9646920" y="3662172"/>
            <a:ext cx="658368" cy="31089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56A63"/>
              </a:buClr>
              <a:buSzPts val="950"/>
              <a:buFont typeface="Calibri"/>
              <a:buNone/>
            </a:pPr>
            <a:r>
              <a:rPr b="1" i="0" lang="en-US" sz="950" u="none" cap="none" strike="noStrike">
                <a:solidFill>
                  <a:srgbClr val="056A63"/>
                </a:solidFill>
                <a:latin typeface="Calibri"/>
                <a:ea typeface="Calibri"/>
                <a:cs typeface="Calibri"/>
                <a:sym typeface="Calibri"/>
              </a:rPr>
              <a:t>LO3</a:t>
            </a:r>
            <a:endParaRPr b="0" i="0" sz="950" u="none" cap="none" strike="noStrike">
              <a:solidFill>
                <a:schemeClr val="dk1"/>
              </a:solidFill>
              <a:latin typeface="Calibri"/>
              <a:ea typeface="Calibri"/>
              <a:cs typeface="Calibri"/>
              <a:sym typeface="Calibri"/>
            </a:endParaRPr>
          </a:p>
        </p:txBody>
      </p:sp>
      <p:sp>
        <p:nvSpPr>
          <p:cNvPr id="456" name="Google Shape;456;p15"/>
          <p:cNvSpPr/>
          <p:nvPr/>
        </p:nvSpPr>
        <p:spPr>
          <a:xfrm>
            <a:off x="502920" y="4379976"/>
            <a:ext cx="11183112" cy="832104"/>
          </a:xfrm>
          <a:prstGeom prst="roundRect">
            <a:avLst>
              <a:gd fmla="val 7692" name="adj"/>
            </a:avLst>
          </a:prstGeom>
          <a:solidFill>
            <a:srgbClr val="F2F6F9"/>
          </a:solidFill>
          <a:ln cap="flat" cmpd="sng" w="9525">
            <a:solidFill>
              <a:srgbClr val="D9E2E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7" name="Google Shape;457;p15"/>
          <p:cNvSpPr/>
          <p:nvPr/>
        </p:nvSpPr>
        <p:spPr>
          <a:xfrm>
            <a:off x="649224" y="4631436"/>
            <a:ext cx="329184" cy="329184"/>
          </a:xfrm>
          <a:prstGeom prst="ellipse">
            <a:avLst/>
          </a:prstGeom>
          <a:solidFill>
            <a:srgbClr val="00A79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8" name="Google Shape;458;p15"/>
          <p:cNvSpPr/>
          <p:nvPr/>
        </p:nvSpPr>
        <p:spPr>
          <a:xfrm>
            <a:off x="649224" y="4631436"/>
            <a:ext cx="329184" cy="32918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150"/>
              <a:buFont typeface="Calibri"/>
              <a:buNone/>
            </a:pPr>
            <a:r>
              <a:rPr b="1" i="0" lang="en-US" sz="1150" u="none" cap="none" strike="noStrike">
                <a:solidFill>
                  <a:srgbClr val="FFFFFF"/>
                </a:solidFill>
                <a:latin typeface="Calibri"/>
                <a:ea typeface="Calibri"/>
                <a:cs typeface="Calibri"/>
                <a:sym typeface="Calibri"/>
              </a:rPr>
              <a:t>1.4</a:t>
            </a:r>
            <a:endParaRPr b="0" i="0" sz="1150" u="none" cap="none" strike="noStrike">
              <a:solidFill>
                <a:schemeClr val="dk1"/>
              </a:solidFill>
              <a:latin typeface="Calibri"/>
              <a:ea typeface="Calibri"/>
              <a:cs typeface="Calibri"/>
              <a:sym typeface="Calibri"/>
            </a:endParaRPr>
          </a:p>
        </p:txBody>
      </p:sp>
      <p:sp>
        <p:nvSpPr>
          <p:cNvPr id="459" name="Google Shape;459;p15"/>
          <p:cNvSpPr/>
          <p:nvPr/>
        </p:nvSpPr>
        <p:spPr>
          <a:xfrm>
            <a:off x="1143000" y="4379976"/>
            <a:ext cx="8321040" cy="83210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3293B"/>
              </a:buClr>
              <a:buSzPts val="1250"/>
              <a:buFont typeface="Calibri"/>
              <a:buNone/>
            </a:pPr>
            <a:r>
              <a:rPr b="0" i="0" lang="en-US" sz="1250" u="none" cap="none" strike="noStrike">
                <a:solidFill>
                  <a:srgbClr val="23293B"/>
                </a:solidFill>
                <a:latin typeface="Calibri"/>
                <a:ea typeface="Calibri"/>
                <a:cs typeface="Calibri"/>
                <a:sym typeface="Calibri"/>
              </a:rPr>
              <a:t>Build a custom torchvision Dataset/DataLoader pipeline and measure its throughput</a:t>
            </a:r>
            <a:endParaRPr b="0" i="0" sz="1250" u="none" cap="none" strike="noStrike">
              <a:solidFill>
                <a:schemeClr val="dk1"/>
              </a:solidFill>
              <a:latin typeface="Calibri"/>
              <a:ea typeface="Calibri"/>
              <a:cs typeface="Calibri"/>
              <a:sym typeface="Calibri"/>
            </a:endParaRPr>
          </a:p>
        </p:txBody>
      </p:sp>
      <p:sp>
        <p:nvSpPr>
          <p:cNvPr id="460" name="Google Shape;460;p15"/>
          <p:cNvSpPr/>
          <p:nvPr/>
        </p:nvSpPr>
        <p:spPr>
          <a:xfrm>
            <a:off x="9646920" y="4622292"/>
            <a:ext cx="658368" cy="310896"/>
          </a:xfrm>
          <a:prstGeom prst="roundRect">
            <a:avLst>
              <a:gd fmla="val 50000" name="adj"/>
            </a:avLst>
          </a:prstGeom>
          <a:solidFill>
            <a:srgbClr val="E9F6F5"/>
          </a:solidFill>
          <a:ln cap="flat" cmpd="sng" w="9525">
            <a:solidFill>
              <a:srgbClr val="00A79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1" name="Google Shape;461;p15"/>
          <p:cNvSpPr/>
          <p:nvPr/>
        </p:nvSpPr>
        <p:spPr>
          <a:xfrm>
            <a:off x="9646920" y="4622292"/>
            <a:ext cx="658368" cy="31089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56A63"/>
              </a:buClr>
              <a:buSzPts val="950"/>
              <a:buFont typeface="Calibri"/>
              <a:buNone/>
            </a:pPr>
            <a:r>
              <a:rPr b="1" i="0" lang="en-US" sz="950" u="none" cap="none" strike="noStrike">
                <a:solidFill>
                  <a:srgbClr val="056A63"/>
                </a:solidFill>
                <a:latin typeface="Calibri"/>
                <a:ea typeface="Calibri"/>
                <a:cs typeface="Calibri"/>
                <a:sym typeface="Calibri"/>
              </a:rPr>
              <a:t>LO1</a:t>
            </a:r>
            <a:endParaRPr b="0" i="0" sz="950" u="none" cap="none" strike="noStrike">
              <a:solidFill>
                <a:schemeClr val="dk1"/>
              </a:solidFill>
              <a:latin typeface="Calibri"/>
              <a:ea typeface="Calibri"/>
              <a:cs typeface="Calibri"/>
              <a:sym typeface="Calibri"/>
            </a:endParaRPr>
          </a:p>
        </p:txBody>
      </p:sp>
      <p:sp>
        <p:nvSpPr>
          <p:cNvPr id="462" name="Google Shape;462;p15"/>
          <p:cNvSpPr/>
          <p:nvPr/>
        </p:nvSpPr>
        <p:spPr>
          <a:xfrm>
            <a:off x="502920" y="5340096"/>
            <a:ext cx="11183112" cy="832104"/>
          </a:xfrm>
          <a:prstGeom prst="roundRect">
            <a:avLst>
              <a:gd fmla="val 7692" name="adj"/>
            </a:avLst>
          </a:prstGeom>
          <a:solidFill>
            <a:srgbClr val="FAFCFE"/>
          </a:solidFill>
          <a:ln cap="flat" cmpd="sng" w="9525">
            <a:solidFill>
              <a:srgbClr val="D9E2E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3" name="Google Shape;463;p15"/>
          <p:cNvSpPr/>
          <p:nvPr/>
        </p:nvSpPr>
        <p:spPr>
          <a:xfrm>
            <a:off x="649224" y="5591556"/>
            <a:ext cx="329184" cy="329184"/>
          </a:xfrm>
          <a:prstGeom prst="ellipse">
            <a:avLst/>
          </a:prstGeom>
          <a:solidFill>
            <a:srgbClr val="00A79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4" name="Google Shape;464;p15"/>
          <p:cNvSpPr/>
          <p:nvPr/>
        </p:nvSpPr>
        <p:spPr>
          <a:xfrm>
            <a:off x="649224" y="5591556"/>
            <a:ext cx="329184" cy="32918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150"/>
              <a:buFont typeface="Calibri"/>
              <a:buNone/>
            </a:pPr>
            <a:r>
              <a:rPr b="1" i="0" lang="en-US" sz="1150" u="none" cap="none" strike="noStrike">
                <a:solidFill>
                  <a:srgbClr val="FFFFFF"/>
                </a:solidFill>
                <a:latin typeface="Calibri"/>
                <a:ea typeface="Calibri"/>
                <a:cs typeface="Calibri"/>
                <a:sym typeface="Calibri"/>
              </a:rPr>
              <a:t>1.5</a:t>
            </a:r>
            <a:endParaRPr b="0" i="0" sz="1150" u="none" cap="none" strike="noStrike">
              <a:solidFill>
                <a:schemeClr val="dk1"/>
              </a:solidFill>
              <a:latin typeface="Calibri"/>
              <a:ea typeface="Calibri"/>
              <a:cs typeface="Calibri"/>
              <a:sym typeface="Calibri"/>
            </a:endParaRPr>
          </a:p>
        </p:txBody>
      </p:sp>
      <p:sp>
        <p:nvSpPr>
          <p:cNvPr id="465" name="Google Shape;465;p15"/>
          <p:cNvSpPr/>
          <p:nvPr/>
        </p:nvSpPr>
        <p:spPr>
          <a:xfrm>
            <a:off x="1143000" y="5340096"/>
            <a:ext cx="8321040" cy="83210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3293B"/>
              </a:buClr>
              <a:buSzPts val="1250"/>
              <a:buFont typeface="Calibri"/>
              <a:buNone/>
            </a:pPr>
            <a:r>
              <a:rPr b="0" i="0" lang="en-US" sz="1250" u="none" cap="none" strike="noStrike">
                <a:solidFill>
                  <a:srgbClr val="23293B"/>
                </a:solidFill>
                <a:latin typeface="Calibri"/>
                <a:ea typeface="Calibri"/>
                <a:cs typeface="Calibri"/>
                <a:sym typeface="Calibri"/>
              </a:rPr>
              <a:t>Detect data-quality problems: label noise, duplicates, leakage, class imbalance</a:t>
            </a:r>
            <a:endParaRPr b="0" i="0" sz="1250" u="none" cap="none" strike="noStrike">
              <a:solidFill>
                <a:schemeClr val="dk1"/>
              </a:solidFill>
              <a:latin typeface="Calibri"/>
              <a:ea typeface="Calibri"/>
              <a:cs typeface="Calibri"/>
              <a:sym typeface="Calibri"/>
            </a:endParaRPr>
          </a:p>
        </p:txBody>
      </p:sp>
      <p:sp>
        <p:nvSpPr>
          <p:cNvPr id="466" name="Google Shape;466;p15"/>
          <p:cNvSpPr/>
          <p:nvPr/>
        </p:nvSpPr>
        <p:spPr>
          <a:xfrm>
            <a:off x="9646920" y="5582412"/>
            <a:ext cx="658368" cy="310896"/>
          </a:xfrm>
          <a:prstGeom prst="roundRect">
            <a:avLst>
              <a:gd fmla="val 50000" name="adj"/>
            </a:avLst>
          </a:prstGeom>
          <a:solidFill>
            <a:srgbClr val="E9F6F5"/>
          </a:solidFill>
          <a:ln cap="flat" cmpd="sng" w="9525">
            <a:solidFill>
              <a:srgbClr val="00A79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7" name="Google Shape;467;p15"/>
          <p:cNvSpPr/>
          <p:nvPr/>
        </p:nvSpPr>
        <p:spPr>
          <a:xfrm>
            <a:off x="9646920" y="5582412"/>
            <a:ext cx="658368" cy="31089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56A63"/>
              </a:buClr>
              <a:buSzPts val="950"/>
              <a:buFont typeface="Calibri"/>
              <a:buNone/>
            </a:pPr>
            <a:r>
              <a:rPr b="1" i="0" lang="en-US" sz="950" u="none" cap="none" strike="noStrike">
                <a:solidFill>
                  <a:srgbClr val="056A63"/>
                </a:solidFill>
                <a:latin typeface="Calibri"/>
                <a:ea typeface="Calibri"/>
                <a:cs typeface="Calibri"/>
                <a:sym typeface="Calibri"/>
              </a:rPr>
              <a:t>LO3</a:t>
            </a:r>
            <a:endParaRPr b="0" i="0" sz="950" u="none" cap="none" strike="noStrike">
              <a:solidFill>
                <a:schemeClr val="dk1"/>
              </a:solidFill>
              <a:latin typeface="Calibri"/>
              <a:ea typeface="Calibri"/>
              <a:cs typeface="Calibri"/>
              <a:sym typeface="Calibri"/>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72" name="Shape 472"/>
        <p:cNvGrpSpPr/>
        <p:nvPr/>
      </p:nvGrpSpPr>
      <p:grpSpPr>
        <a:xfrm>
          <a:off x="0" y="0"/>
          <a:ext cx="0" cy="0"/>
          <a:chOff x="0" y="0"/>
          <a:chExt cx="0" cy="0"/>
        </a:xfrm>
      </p:grpSpPr>
      <p:sp>
        <p:nvSpPr>
          <p:cNvPr id="473" name="Google Shape;473;p16"/>
          <p:cNvSpPr/>
          <p:nvPr/>
        </p:nvSpPr>
        <p:spPr>
          <a:xfrm>
            <a:off x="502920" y="274320"/>
            <a:ext cx="9646920" cy="56692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D2A5C"/>
              </a:buClr>
              <a:buSzPts val="2700"/>
              <a:buFont typeface="Calibri"/>
              <a:buNone/>
            </a:pPr>
            <a:r>
              <a:rPr b="1" i="0" lang="en-US" sz="2700" u="none" cap="none" strike="noStrike">
                <a:solidFill>
                  <a:srgbClr val="1D2A5C"/>
                </a:solidFill>
                <a:latin typeface="Calibri"/>
                <a:ea typeface="Calibri"/>
                <a:cs typeface="Calibri"/>
                <a:sym typeface="Calibri"/>
              </a:rPr>
              <a:t>From camera frame to model tensor</a:t>
            </a:r>
            <a:endParaRPr b="0" i="0" sz="2700" u="none" cap="none" strike="noStrike">
              <a:solidFill>
                <a:schemeClr val="dk1"/>
              </a:solidFill>
              <a:latin typeface="Calibri"/>
              <a:ea typeface="Calibri"/>
              <a:cs typeface="Calibri"/>
              <a:sym typeface="Calibri"/>
            </a:endParaRPr>
          </a:p>
        </p:txBody>
      </p:sp>
      <p:sp>
        <p:nvSpPr>
          <p:cNvPr id="474" name="Google Shape;474;p16"/>
          <p:cNvSpPr/>
          <p:nvPr/>
        </p:nvSpPr>
        <p:spPr>
          <a:xfrm>
            <a:off x="502920" y="859536"/>
            <a:ext cx="9646920" cy="31089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F6B7A"/>
              </a:buClr>
              <a:buSzPts val="1250"/>
              <a:buFont typeface="Arial"/>
              <a:buNone/>
            </a:pPr>
            <a:r>
              <a:rPr b="0" i="0" lang="en-US" sz="1250" u="none" cap="none" strike="noStrike">
                <a:solidFill>
                  <a:srgbClr val="5F6B7A"/>
                </a:solidFill>
                <a:latin typeface="Arial"/>
                <a:ea typeface="Arial"/>
                <a:cs typeface="Arial"/>
                <a:sym typeface="Arial"/>
              </a:rPr>
              <a:t>من إطار الكاميرا إلى الموتّر</a:t>
            </a:r>
            <a:endParaRPr b="0" i="0" sz="1250" u="none" cap="none" strike="noStrike">
              <a:solidFill>
                <a:schemeClr val="dk1"/>
              </a:solidFill>
              <a:latin typeface="Calibri"/>
              <a:ea typeface="Calibri"/>
              <a:cs typeface="Calibri"/>
              <a:sym typeface="Calibri"/>
            </a:endParaRPr>
          </a:p>
        </p:txBody>
      </p:sp>
      <p:pic>
        <p:nvPicPr>
          <p:cNvPr descr="/sessions/blissful-determined-ritchie/build/assets/sdaia_logo.png" id="475" name="Google Shape;475;p16"/>
          <p:cNvPicPr preferRelativeResize="0"/>
          <p:nvPr/>
        </p:nvPicPr>
        <p:blipFill rotWithShape="1">
          <a:blip r:embed="rId3">
            <a:alphaModFix/>
          </a:blip>
          <a:srcRect b="0" l="0" r="0" t="0"/>
          <a:stretch/>
        </p:blipFill>
        <p:spPr>
          <a:xfrm>
            <a:off x="10625328" y="310896"/>
            <a:ext cx="1078992" cy="264111"/>
          </a:xfrm>
          <a:prstGeom prst="rect">
            <a:avLst/>
          </a:prstGeom>
          <a:noFill/>
          <a:ln>
            <a:noFill/>
          </a:ln>
        </p:spPr>
      </p:pic>
      <p:sp>
        <p:nvSpPr>
          <p:cNvPr id="476" name="Google Shape;476;p16"/>
          <p:cNvSpPr/>
          <p:nvPr/>
        </p:nvSpPr>
        <p:spPr>
          <a:xfrm>
            <a:off x="502920" y="6528816"/>
            <a:ext cx="8686800"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A79D"/>
              </a:buClr>
              <a:buSzPts val="800"/>
              <a:buFont typeface="Calibri"/>
              <a:buNone/>
            </a:pPr>
            <a:r>
              <a:rPr b="1" i="0" lang="en-US" sz="800" u="none" cap="none" strike="noStrike">
                <a:solidFill>
                  <a:srgbClr val="00A79D"/>
                </a:solidFill>
                <a:latin typeface="Calibri"/>
                <a:ea typeface="Calibri"/>
                <a:cs typeface="Calibri"/>
                <a:sym typeface="Calibri"/>
              </a:rPr>
              <a:t>MODULE 1   </a:t>
            </a:r>
            <a:r>
              <a:rPr b="0" i="0" lang="en-US" sz="800" u="none" cap="none" strike="noStrike">
                <a:solidFill>
                  <a:srgbClr val="8A96A6"/>
                </a:solidFill>
                <a:latin typeface="Calibri"/>
                <a:ea typeface="Calibri"/>
                <a:cs typeface="Calibri"/>
                <a:sym typeface="Calibri"/>
              </a:rPr>
              <a:t>SDA-AIE-212 · Computer Vision Systems Development</a:t>
            </a:r>
            <a:endParaRPr b="0" i="0" sz="800" u="none" cap="none" strike="noStrike">
              <a:solidFill>
                <a:schemeClr val="dk1"/>
              </a:solidFill>
              <a:latin typeface="Calibri"/>
              <a:ea typeface="Calibri"/>
              <a:cs typeface="Calibri"/>
              <a:sym typeface="Calibri"/>
            </a:endParaRPr>
          </a:p>
        </p:txBody>
      </p:sp>
      <p:sp>
        <p:nvSpPr>
          <p:cNvPr id="477" name="Google Shape;477;p16"/>
          <p:cNvSpPr/>
          <p:nvPr/>
        </p:nvSpPr>
        <p:spPr>
          <a:xfrm>
            <a:off x="11292840" y="6528816"/>
            <a:ext cx="411480" cy="219456"/>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8A96A6"/>
              </a:buClr>
              <a:buSzPts val="900"/>
              <a:buFont typeface="Calibri"/>
              <a:buNone/>
            </a:pPr>
            <a:r>
              <a:rPr b="0" i="0" lang="en-US" sz="900" u="none" cap="none" strike="noStrike">
                <a:solidFill>
                  <a:srgbClr val="8A96A6"/>
                </a:solidFill>
                <a:latin typeface="Calibri"/>
                <a:ea typeface="Calibri"/>
                <a:cs typeface="Calibri"/>
                <a:sym typeface="Calibri"/>
              </a:rPr>
              <a:t>16</a:t>
            </a:r>
            <a:endParaRPr b="0" i="0" sz="900" u="none" cap="none" strike="noStrike">
              <a:solidFill>
                <a:schemeClr val="dk1"/>
              </a:solidFill>
              <a:latin typeface="Calibri"/>
              <a:ea typeface="Calibri"/>
              <a:cs typeface="Calibri"/>
              <a:sym typeface="Calibri"/>
            </a:endParaRPr>
          </a:p>
        </p:txBody>
      </p:sp>
      <p:sp>
        <p:nvSpPr>
          <p:cNvPr id="478" name="Google Shape;478;p16"/>
          <p:cNvSpPr/>
          <p:nvPr/>
        </p:nvSpPr>
        <p:spPr>
          <a:xfrm>
            <a:off x="502920" y="1389888"/>
            <a:ext cx="11185855" cy="384048"/>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5F6B7A"/>
              </a:buClr>
              <a:buSzPts val="1250"/>
              <a:buFont typeface="Calibri"/>
              <a:buNone/>
            </a:pPr>
            <a:r>
              <a:rPr b="0" i="1" lang="en-US" sz="1250" u="none" cap="none" strike="noStrike">
                <a:solidFill>
                  <a:srgbClr val="5F6B7A"/>
                </a:solidFill>
                <a:latin typeface="Calibri"/>
                <a:ea typeface="Calibri"/>
                <a:cs typeface="Calibri"/>
                <a:sym typeface="Calibri"/>
              </a:rPr>
              <a:t>An 8-bit RGB image is HxWx3 ints in [0,255]; PyTorch wants NxCxHxW floats, normalised. Every arrow is a potential bug.</a:t>
            </a:r>
            <a:endParaRPr b="0" i="0" sz="1250" u="none" cap="none" strike="noStrike">
              <a:solidFill>
                <a:schemeClr val="dk1"/>
              </a:solidFill>
              <a:latin typeface="Calibri"/>
              <a:ea typeface="Calibri"/>
              <a:cs typeface="Calibri"/>
              <a:sym typeface="Calibri"/>
            </a:endParaRPr>
          </a:p>
        </p:txBody>
      </p:sp>
      <p:sp>
        <p:nvSpPr>
          <p:cNvPr id="479" name="Google Shape;479;p16"/>
          <p:cNvSpPr/>
          <p:nvPr/>
        </p:nvSpPr>
        <p:spPr>
          <a:xfrm>
            <a:off x="502920" y="2121408"/>
            <a:ext cx="3472586" cy="1371600"/>
          </a:xfrm>
          <a:prstGeom prst="roundRect">
            <a:avLst>
              <a:gd fmla="val 4667" name="adj"/>
            </a:avLst>
          </a:prstGeom>
          <a:solidFill>
            <a:srgbClr val="F2F6F9"/>
          </a:solidFill>
          <a:ln cap="flat" cmpd="sng" w="15875">
            <a:solidFill>
              <a:srgbClr val="00A79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0" name="Google Shape;480;p16"/>
          <p:cNvSpPr/>
          <p:nvPr/>
        </p:nvSpPr>
        <p:spPr>
          <a:xfrm>
            <a:off x="576072" y="2176272"/>
            <a:ext cx="3326282" cy="6172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D2A5C"/>
              </a:buClr>
              <a:buSzPts val="1250"/>
              <a:buFont typeface="Calibri"/>
              <a:buNone/>
            </a:pPr>
            <a:r>
              <a:rPr b="1" i="0" lang="en-US" sz="1250" u="none" cap="none" strike="noStrike">
                <a:solidFill>
                  <a:srgbClr val="1D2A5C"/>
                </a:solidFill>
                <a:latin typeface="Calibri"/>
                <a:ea typeface="Calibri"/>
                <a:cs typeface="Calibri"/>
                <a:sym typeface="Calibri"/>
              </a:rPr>
              <a:t>Camera frame</a:t>
            </a:r>
            <a:endParaRPr b="0" i="0" sz="1250" u="none" cap="none" strike="noStrike">
              <a:solidFill>
                <a:schemeClr val="dk1"/>
              </a:solidFill>
              <a:latin typeface="Calibri"/>
              <a:ea typeface="Calibri"/>
              <a:cs typeface="Calibri"/>
              <a:sym typeface="Calibri"/>
            </a:endParaRPr>
          </a:p>
        </p:txBody>
      </p:sp>
      <p:sp>
        <p:nvSpPr>
          <p:cNvPr id="481" name="Google Shape;481;p16"/>
          <p:cNvSpPr/>
          <p:nvPr/>
        </p:nvSpPr>
        <p:spPr>
          <a:xfrm>
            <a:off x="576072" y="2779776"/>
            <a:ext cx="3326282" cy="658368"/>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rgbClr val="5F6B7A"/>
              </a:buClr>
              <a:buSzPts val="950"/>
              <a:buFont typeface="Calibri"/>
              <a:buNone/>
            </a:pPr>
            <a:r>
              <a:rPr b="0" i="0" lang="en-US" sz="950" u="none" cap="none" strike="noStrike">
                <a:solidFill>
                  <a:srgbClr val="5F6B7A"/>
                </a:solidFill>
                <a:latin typeface="Calibri"/>
                <a:ea typeface="Calibri"/>
                <a:cs typeface="Calibri"/>
                <a:sym typeface="Calibri"/>
              </a:rPr>
              <a:t>1280x1024 JPEG</a:t>
            </a:r>
            <a:endParaRPr b="0" i="0" sz="950" u="none" cap="none" strike="noStrike">
              <a:solidFill>
                <a:schemeClr val="dk1"/>
              </a:solidFill>
              <a:latin typeface="Calibri"/>
              <a:ea typeface="Calibri"/>
              <a:cs typeface="Calibri"/>
              <a:sym typeface="Calibri"/>
            </a:endParaRPr>
          </a:p>
        </p:txBody>
      </p:sp>
      <p:cxnSp>
        <p:nvCxnSpPr>
          <p:cNvPr id="482" name="Google Shape;482;p16"/>
          <p:cNvCxnSpPr/>
          <p:nvPr/>
        </p:nvCxnSpPr>
        <p:spPr>
          <a:xfrm>
            <a:off x="4030370" y="2807208"/>
            <a:ext cx="274320" cy="0"/>
          </a:xfrm>
          <a:prstGeom prst="straightConnector1">
            <a:avLst/>
          </a:prstGeom>
          <a:noFill/>
          <a:ln cap="flat" cmpd="sng" w="19050">
            <a:solidFill>
              <a:srgbClr val="8A96A6"/>
            </a:solidFill>
            <a:prstDash val="solid"/>
            <a:round/>
            <a:headEnd len="sm" w="sm" type="none"/>
            <a:tailEnd len="med" w="med" type="triangle"/>
          </a:ln>
        </p:spPr>
      </p:cxnSp>
      <p:sp>
        <p:nvSpPr>
          <p:cNvPr id="483" name="Google Shape;483;p16"/>
          <p:cNvSpPr/>
          <p:nvPr/>
        </p:nvSpPr>
        <p:spPr>
          <a:xfrm>
            <a:off x="4359554" y="2121408"/>
            <a:ext cx="3472586" cy="1371600"/>
          </a:xfrm>
          <a:prstGeom prst="roundRect">
            <a:avLst>
              <a:gd fmla="val 4667" name="adj"/>
            </a:avLst>
          </a:prstGeom>
          <a:solidFill>
            <a:srgbClr val="F2F6F9"/>
          </a:solidFill>
          <a:ln cap="flat" cmpd="sng" w="15875">
            <a:solidFill>
              <a:srgbClr val="00A79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4" name="Google Shape;484;p16"/>
          <p:cNvSpPr/>
          <p:nvPr/>
        </p:nvSpPr>
        <p:spPr>
          <a:xfrm>
            <a:off x="4432706" y="2176272"/>
            <a:ext cx="3326282" cy="6172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D2A5C"/>
              </a:buClr>
              <a:buSzPts val="1250"/>
              <a:buFont typeface="Calibri"/>
              <a:buNone/>
            </a:pPr>
            <a:r>
              <a:rPr b="1" i="0" lang="en-US" sz="1250" u="none" cap="none" strike="noStrike">
                <a:solidFill>
                  <a:srgbClr val="1D2A5C"/>
                </a:solidFill>
                <a:latin typeface="Calibri"/>
                <a:ea typeface="Calibri"/>
                <a:cs typeface="Calibri"/>
                <a:sym typeface="Calibri"/>
              </a:rPr>
              <a:t>BGR array</a:t>
            </a:r>
            <a:endParaRPr b="0" i="0" sz="1250" u="none" cap="none" strike="noStrike">
              <a:solidFill>
                <a:schemeClr val="dk1"/>
              </a:solidFill>
              <a:latin typeface="Calibri"/>
              <a:ea typeface="Calibri"/>
              <a:cs typeface="Calibri"/>
              <a:sym typeface="Calibri"/>
            </a:endParaRPr>
          </a:p>
        </p:txBody>
      </p:sp>
      <p:sp>
        <p:nvSpPr>
          <p:cNvPr id="485" name="Google Shape;485;p16"/>
          <p:cNvSpPr/>
          <p:nvPr/>
        </p:nvSpPr>
        <p:spPr>
          <a:xfrm>
            <a:off x="4432706" y="2779776"/>
            <a:ext cx="3326282" cy="658368"/>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rgbClr val="5F6B7A"/>
              </a:buClr>
              <a:buSzPts val="950"/>
              <a:buFont typeface="Calibri"/>
              <a:buNone/>
            </a:pPr>
            <a:r>
              <a:rPr b="0" i="0" lang="en-US" sz="950" u="none" cap="none" strike="noStrike">
                <a:solidFill>
                  <a:srgbClr val="5F6B7A"/>
                </a:solidFill>
                <a:latin typeface="Calibri"/>
                <a:ea typeface="Calibri"/>
                <a:cs typeface="Calibri"/>
                <a:sym typeface="Calibri"/>
              </a:rPr>
              <a:t>cv2.imread -&gt; HWC uint8</a:t>
            </a:r>
            <a:endParaRPr b="0" i="0" sz="950" u="none" cap="none" strike="noStrike">
              <a:solidFill>
                <a:schemeClr val="dk1"/>
              </a:solidFill>
              <a:latin typeface="Calibri"/>
              <a:ea typeface="Calibri"/>
              <a:cs typeface="Calibri"/>
              <a:sym typeface="Calibri"/>
            </a:endParaRPr>
          </a:p>
        </p:txBody>
      </p:sp>
      <p:cxnSp>
        <p:nvCxnSpPr>
          <p:cNvPr id="486" name="Google Shape;486;p16"/>
          <p:cNvCxnSpPr/>
          <p:nvPr/>
        </p:nvCxnSpPr>
        <p:spPr>
          <a:xfrm>
            <a:off x="7887005" y="2807208"/>
            <a:ext cx="274320" cy="0"/>
          </a:xfrm>
          <a:prstGeom prst="straightConnector1">
            <a:avLst/>
          </a:prstGeom>
          <a:noFill/>
          <a:ln cap="flat" cmpd="sng" w="19050">
            <a:solidFill>
              <a:srgbClr val="8A96A6"/>
            </a:solidFill>
            <a:prstDash val="solid"/>
            <a:round/>
            <a:headEnd len="sm" w="sm" type="none"/>
            <a:tailEnd len="med" w="med" type="triangle"/>
          </a:ln>
        </p:spPr>
      </p:cxnSp>
      <p:cxnSp>
        <p:nvCxnSpPr>
          <p:cNvPr id="487" name="Google Shape;487;p16"/>
          <p:cNvCxnSpPr/>
          <p:nvPr/>
        </p:nvCxnSpPr>
        <p:spPr>
          <a:xfrm>
            <a:off x="6095848" y="3493008"/>
            <a:ext cx="0" cy="274320"/>
          </a:xfrm>
          <a:prstGeom prst="straightConnector1">
            <a:avLst/>
          </a:prstGeom>
          <a:noFill/>
          <a:ln cap="flat" cmpd="sng" w="15875">
            <a:solidFill>
              <a:srgbClr val="E8503A"/>
            </a:solidFill>
            <a:prstDash val="dash"/>
            <a:round/>
            <a:headEnd len="sm" w="sm" type="none"/>
            <a:tailEnd len="sm" w="sm" type="none"/>
          </a:ln>
        </p:spPr>
      </p:cxnSp>
      <p:sp>
        <p:nvSpPr>
          <p:cNvPr id="488" name="Google Shape;488;p16"/>
          <p:cNvSpPr/>
          <p:nvPr/>
        </p:nvSpPr>
        <p:spPr>
          <a:xfrm>
            <a:off x="4313834" y="3767328"/>
            <a:ext cx="3564026" cy="475488"/>
          </a:xfrm>
          <a:prstGeom prst="roundRect">
            <a:avLst>
              <a:gd fmla="val 11538" name="adj"/>
            </a:avLst>
          </a:prstGeom>
          <a:solidFill>
            <a:srgbClr val="FDEDEA"/>
          </a:solidFill>
          <a:ln cap="flat" cmpd="sng" w="12700">
            <a:solidFill>
              <a:srgbClr val="E8503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9" name="Google Shape;489;p16"/>
          <p:cNvSpPr/>
          <p:nvPr/>
        </p:nvSpPr>
        <p:spPr>
          <a:xfrm>
            <a:off x="4359554" y="3767328"/>
            <a:ext cx="3472586" cy="47548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E8503A"/>
              </a:buClr>
              <a:buSzPts val="950"/>
              <a:buFont typeface="Calibri"/>
              <a:buNone/>
            </a:pPr>
            <a:r>
              <a:rPr b="1" i="0" lang="en-US" sz="950" u="none" cap="none" strike="noStrike">
                <a:solidFill>
                  <a:srgbClr val="E8503A"/>
                </a:solidFill>
                <a:latin typeface="Calibri"/>
                <a:ea typeface="Calibri"/>
                <a:cs typeface="Calibri"/>
                <a:sym typeface="Calibri"/>
              </a:rPr>
              <a:t>BGR fed to RGB model: silent 5-10 pt loss</a:t>
            </a:r>
            <a:endParaRPr b="0" i="0" sz="950" u="none" cap="none" strike="noStrike">
              <a:solidFill>
                <a:schemeClr val="dk1"/>
              </a:solidFill>
              <a:latin typeface="Calibri"/>
              <a:ea typeface="Calibri"/>
              <a:cs typeface="Calibri"/>
              <a:sym typeface="Calibri"/>
            </a:endParaRPr>
          </a:p>
        </p:txBody>
      </p:sp>
      <p:sp>
        <p:nvSpPr>
          <p:cNvPr id="490" name="Google Shape;490;p16"/>
          <p:cNvSpPr/>
          <p:nvPr/>
        </p:nvSpPr>
        <p:spPr>
          <a:xfrm>
            <a:off x="8216189" y="2121408"/>
            <a:ext cx="3472586" cy="1371600"/>
          </a:xfrm>
          <a:prstGeom prst="roundRect">
            <a:avLst>
              <a:gd fmla="val 4667" name="adj"/>
            </a:avLst>
          </a:prstGeom>
          <a:solidFill>
            <a:srgbClr val="F2F6F9"/>
          </a:solidFill>
          <a:ln cap="flat" cmpd="sng" w="15875">
            <a:solidFill>
              <a:srgbClr val="00A79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1" name="Google Shape;491;p16"/>
          <p:cNvSpPr/>
          <p:nvPr/>
        </p:nvSpPr>
        <p:spPr>
          <a:xfrm>
            <a:off x="8289341" y="2176272"/>
            <a:ext cx="3326282" cy="6172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D2A5C"/>
              </a:buClr>
              <a:buSzPts val="1250"/>
              <a:buFont typeface="Calibri"/>
              <a:buNone/>
            </a:pPr>
            <a:r>
              <a:rPr b="1" i="0" lang="en-US" sz="1250" u="none" cap="none" strike="noStrike">
                <a:solidFill>
                  <a:srgbClr val="1D2A5C"/>
                </a:solidFill>
                <a:latin typeface="Calibri"/>
                <a:ea typeface="Calibri"/>
                <a:cs typeface="Calibri"/>
                <a:sym typeface="Calibri"/>
              </a:rPr>
              <a:t>RGB</a:t>
            </a:r>
            <a:endParaRPr b="0" i="0" sz="1250" u="none" cap="none" strike="noStrike">
              <a:solidFill>
                <a:schemeClr val="dk1"/>
              </a:solidFill>
              <a:latin typeface="Calibri"/>
              <a:ea typeface="Calibri"/>
              <a:cs typeface="Calibri"/>
              <a:sym typeface="Calibri"/>
            </a:endParaRPr>
          </a:p>
        </p:txBody>
      </p:sp>
      <p:sp>
        <p:nvSpPr>
          <p:cNvPr id="492" name="Google Shape;492;p16"/>
          <p:cNvSpPr/>
          <p:nvPr/>
        </p:nvSpPr>
        <p:spPr>
          <a:xfrm>
            <a:off x="8289341" y="2779776"/>
            <a:ext cx="3326282" cy="658368"/>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rgbClr val="5F6B7A"/>
              </a:buClr>
              <a:buSzPts val="950"/>
              <a:buFont typeface="Calibri"/>
              <a:buNone/>
            </a:pPr>
            <a:r>
              <a:rPr b="0" i="0" lang="en-US" sz="950" u="none" cap="none" strike="noStrike">
                <a:solidFill>
                  <a:srgbClr val="5F6B7A"/>
                </a:solidFill>
                <a:latin typeface="Calibri"/>
                <a:ea typeface="Calibri"/>
                <a:cs typeface="Calibri"/>
                <a:sym typeface="Calibri"/>
              </a:rPr>
              <a:t>cvtColor at I/O boundary</a:t>
            </a:r>
            <a:endParaRPr b="0" i="0" sz="950" u="none" cap="none" strike="noStrike">
              <a:solidFill>
                <a:schemeClr val="dk1"/>
              </a:solidFill>
              <a:latin typeface="Calibri"/>
              <a:ea typeface="Calibri"/>
              <a:cs typeface="Calibri"/>
              <a:sym typeface="Calibri"/>
            </a:endParaRPr>
          </a:p>
        </p:txBody>
      </p:sp>
      <p:cxnSp>
        <p:nvCxnSpPr>
          <p:cNvPr id="493" name="Google Shape;493;p16"/>
          <p:cNvCxnSpPr/>
          <p:nvPr/>
        </p:nvCxnSpPr>
        <p:spPr>
          <a:xfrm>
            <a:off x="9952482" y="3493008"/>
            <a:ext cx="0" cy="777240"/>
          </a:xfrm>
          <a:prstGeom prst="straightConnector1">
            <a:avLst/>
          </a:prstGeom>
          <a:noFill/>
          <a:ln cap="flat" cmpd="sng" w="19050">
            <a:solidFill>
              <a:srgbClr val="8A96A6"/>
            </a:solidFill>
            <a:prstDash val="solid"/>
            <a:round/>
            <a:headEnd len="sm" w="sm" type="none"/>
            <a:tailEnd len="med" w="med" type="triangle"/>
          </a:ln>
        </p:spPr>
      </p:cxnSp>
      <p:sp>
        <p:nvSpPr>
          <p:cNvPr id="494" name="Google Shape;494;p16"/>
          <p:cNvSpPr/>
          <p:nvPr/>
        </p:nvSpPr>
        <p:spPr>
          <a:xfrm>
            <a:off x="8216189" y="4361688"/>
            <a:ext cx="3472586" cy="1371600"/>
          </a:xfrm>
          <a:prstGeom prst="roundRect">
            <a:avLst>
              <a:gd fmla="val 4667" name="adj"/>
            </a:avLst>
          </a:prstGeom>
          <a:solidFill>
            <a:srgbClr val="F2F6F9"/>
          </a:solidFill>
          <a:ln cap="flat" cmpd="sng" w="15875">
            <a:solidFill>
              <a:srgbClr val="00A79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5" name="Google Shape;495;p16"/>
          <p:cNvSpPr/>
          <p:nvPr/>
        </p:nvSpPr>
        <p:spPr>
          <a:xfrm>
            <a:off x="8289341" y="4416552"/>
            <a:ext cx="3326282" cy="6172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D2A5C"/>
              </a:buClr>
              <a:buSzPts val="1250"/>
              <a:buFont typeface="Calibri"/>
              <a:buNone/>
            </a:pPr>
            <a:r>
              <a:rPr b="1" i="0" lang="en-US" sz="1250" u="none" cap="none" strike="noStrike">
                <a:solidFill>
                  <a:srgbClr val="1D2A5C"/>
                </a:solidFill>
                <a:latin typeface="Calibri"/>
                <a:ea typeface="Calibri"/>
                <a:cs typeface="Calibri"/>
                <a:sym typeface="Calibri"/>
              </a:rPr>
              <a:t>CHW tensor</a:t>
            </a:r>
            <a:endParaRPr b="0" i="0" sz="1250" u="none" cap="none" strike="noStrike">
              <a:solidFill>
                <a:schemeClr val="dk1"/>
              </a:solidFill>
              <a:latin typeface="Calibri"/>
              <a:ea typeface="Calibri"/>
              <a:cs typeface="Calibri"/>
              <a:sym typeface="Calibri"/>
            </a:endParaRPr>
          </a:p>
        </p:txBody>
      </p:sp>
      <p:sp>
        <p:nvSpPr>
          <p:cNvPr id="496" name="Google Shape;496;p16"/>
          <p:cNvSpPr/>
          <p:nvPr/>
        </p:nvSpPr>
        <p:spPr>
          <a:xfrm>
            <a:off x="8289341" y="5020056"/>
            <a:ext cx="3326282" cy="658368"/>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rgbClr val="5F6B7A"/>
              </a:buClr>
              <a:buSzPts val="950"/>
              <a:buFont typeface="Calibri"/>
              <a:buNone/>
            </a:pPr>
            <a:r>
              <a:rPr b="0" i="0" lang="en-US" sz="950" u="none" cap="none" strike="noStrike">
                <a:solidFill>
                  <a:srgbClr val="5F6B7A"/>
                </a:solidFill>
                <a:latin typeface="Calibri"/>
                <a:ea typeface="Calibri"/>
                <a:cs typeface="Calibri"/>
                <a:sym typeface="Calibri"/>
              </a:rPr>
              <a:t>permute(2, 0, 1)</a:t>
            </a:r>
            <a:endParaRPr b="0" i="0" sz="950" u="none" cap="none" strike="noStrike">
              <a:solidFill>
                <a:schemeClr val="dk1"/>
              </a:solidFill>
              <a:latin typeface="Calibri"/>
              <a:ea typeface="Calibri"/>
              <a:cs typeface="Calibri"/>
              <a:sym typeface="Calibri"/>
            </a:endParaRPr>
          </a:p>
        </p:txBody>
      </p:sp>
      <p:cxnSp>
        <p:nvCxnSpPr>
          <p:cNvPr id="497" name="Google Shape;497;p16"/>
          <p:cNvCxnSpPr/>
          <p:nvPr/>
        </p:nvCxnSpPr>
        <p:spPr>
          <a:xfrm>
            <a:off x="7887005" y="5047488"/>
            <a:ext cx="274320" cy="0"/>
          </a:xfrm>
          <a:prstGeom prst="straightConnector1">
            <a:avLst/>
          </a:prstGeom>
          <a:noFill/>
          <a:ln cap="flat" cmpd="sng" w="19050">
            <a:solidFill>
              <a:srgbClr val="8A96A6"/>
            </a:solidFill>
            <a:prstDash val="solid"/>
            <a:round/>
            <a:headEnd len="med" w="med" type="triangle"/>
            <a:tailEnd len="sm" w="sm" type="none"/>
          </a:ln>
        </p:spPr>
      </p:cxnSp>
      <p:sp>
        <p:nvSpPr>
          <p:cNvPr id="498" name="Google Shape;498;p16"/>
          <p:cNvSpPr/>
          <p:nvPr/>
        </p:nvSpPr>
        <p:spPr>
          <a:xfrm>
            <a:off x="4359554" y="4361688"/>
            <a:ext cx="3472586" cy="1371600"/>
          </a:xfrm>
          <a:prstGeom prst="roundRect">
            <a:avLst>
              <a:gd fmla="val 4667" name="adj"/>
            </a:avLst>
          </a:prstGeom>
          <a:solidFill>
            <a:srgbClr val="F2F6F9"/>
          </a:solidFill>
          <a:ln cap="flat" cmpd="sng" w="15875">
            <a:solidFill>
              <a:srgbClr val="00A79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9" name="Google Shape;499;p16"/>
          <p:cNvSpPr/>
          <p:nvPr/>
        </p:nvSpPr>
        <p:spPr>
          <a:xfrm>
            <a:off x="4432706" y="4416552"/>
            <a:ext cx="3326282" cy="6172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D2A5C"/>
              </a:buClr>
              <a:buSzPts val="1250"/>
              <a:buFont typeface="Calibri"/>
              <a:buNone/>
            </a:pPr>
            <a:r>
              <a:rPr b="1" i="0" lang="en-US" sz="1250" u="none" cap="none" strike="noStrike">
                <a:solidFill>
                  <a:srgbClr val="1D2A5C"/>
                </a:solidFill>
                <a:latin typeface="Calibri"/>
                <a:ea typeface="Calibri"/>
                <a:cs typeface="Calibri"/>
                <a:sym typeface="Calibri"/>
              </a:rPr>
              <a:t>float [0,1]</a:t>
            </a:r>
            <a:endParaRPr b="0" i="0" sz="1250" u="none" cap="none" strike="noStrike">
              <a:solidFill>
                <a:schemeClr val="dk1"/>
              </a:solidFill>
              <a:latin typeface="Calibri"/>
              <a:ea typeface="Calibri"/>
              <a:cs typeface="Calibri"/>
              <a:sym typeface="Calibri"/>
            </a:endParaRPr>
          </a:p>
        </p:txBody>
      </p:sp>
      <p:sp>
        <p:nvSpPr>
          <p:cNvPr id="500" name="Google Shape;500;p16"/>
          <p:cNvSpPr/>
          <p:nvPr/>
        </p:nvSpPr>
        <p:spPr>
          <a:xfrm>
            <a:off x="4432706" y="5020056"/>
            <a:ext cx="3326282" cy="658368"/>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rgbClr val="5F6B7A"/>
              </a:buClr>
              <a:buSzPts val="950"/>
              <a:buFont typeface="Calibri"/>
              <a:buNone/>
            </a:pPr>
            <a:r>
              <a:rPr b="0" i="0" lang="en-US" sz="950" u="none" cap="none" strike="noStrike">
                <a:solidFill>
                  <a:srgbClr val="5F6B7A"/>
                </a:solidFill>
                <a:latin typeface="Calibri"/>
                <a:ea typeface="Calibri"/>
                <a:cs typeface="Calibri"/>
                <a:sym typeface="Calibri"/>
              </a:rPr>
              <a:t>ToDtype(scale=True)</a:t>
            </a:r>
            <a:endParaRPr b="0" i="0" sz="950" u="none" cap="none" strike="noStrike">
              <a:solidFill>
                <a:schemeClr val="dk1"/>
              </a:solidFill>
              <a:latin typeface="Calibri"/>
              <a:ea typeface="Calibri"/>
              <a:cs typeface="Calibri"/>
              <a:sym typeface="Calibri"/>
            </a:endParaRPr>
          </a:p>
        </p:txBody>
      </p:sp>
      <p:cxnSp>
        <p:nvCxnSpPr>
          <p:cNvPr id="501" name="Google Shape;501;p16"/>
          <p:cNvCxnSpPr/>
          <p:nvPr/>
        </p:nvCxnSpPr>
        <p:spPr>
          <a:xfrm>
            <a:off x="4030370" y="5047488"/>
            <a:ext cx="274320" cy="0"/>
          </a:xfrm>
          <a:prstGeom prst="straightConnector1">
            <a:avLst/>
          </a:prstGeom>
          <a:noFill/>
          <a:ln cap="flat" cmpd="sng" w="19050">
            <a:solidFill>
              <a:srgbClr val="8A96A6"/>
            </a:solidFill>
            <a:prstDash val="solid"/>
            <a:round/>
            <a:headEnd len="med" w="med" type="triangle"/>
            <a:tailEnd len="sm" w="sm" type="none"/>
          </a:ln>
        </p:spPr>
      </p:cxnSp>
      <p:cxnSp>
        <p:nvCxnSpPr>
          <p:cNvPr id="502" name="Google Shape;502;p16"/>
          <p:cNvCxnSpPr/>
          <p:nvPr/>
        </p:nvCxnSpPr>
        <p:spPr>
          <a:xfrm>
            <a:off x="6095848" y="5733288"/>
            <a:ext cx="0" cy="274320"/>
          </a:xfrm>
          <a:prstGeom prst="straightConnector1">
            <a:avLst/>
          </a:prstGeom>
          <a:noFill/>
          <a:ln cap="flat" cmpd="sng" w="15875">
            <a:solidFill>
              <a:srgbClr val="E8503A"/>
            </a:solidFill>
            <a:prstDash val="dash"/>
            <a:round/>
            <a:headEnd len="sm" w="sm" type="none"/>
            <a:tailEnd len="sm" w="sm" type="none"/>
          </a:ln>
        </p:spPr>
      </p:cxnSp>
      <p:sp>
        <p:nvSpPr>
          <p:cNvPr id="503" name="Google Shape;503;p16"/>
          <p:cNvSpPr/>
          <p:nvPr/>
        </p:nvSpPr>
        <p:spPr>
          <a:xfrm>
            <a:off x="4313834" y="6007608"/>
            <a:ext cx="3564026" cy="475488"/>
          </a:xfrm>
          <a:prstGeom prst="roundRect">
            <a:avLst>
              <a:gd fmla="val 11538" name="adj"/>
            </a:avLst>
          </a:prstGeom>
          <a:solidFill>
            <a:srgbClr val="FDEDEA"/>
          </a:solidFill>
          <a:ln cap="flat" cmpd="sng" w="12700">
            <a:solidFill>
              <a:srgbClr val="E8503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4" name="Google Shape;504;p16"/>
          <p:cNvSpPr/>
          <p:nvPr/>
        </p:nvSpPr>
        <p:spPr>
          <a:xfrm>
            <a:off x="4359554" y="6007608"/>
            <a:ext cx="3472586" cy="47548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E8503A"/>
              </a:buClr>
              <a:buSzPts val="950"/>
              <a:buFont typeface="Calibri"/>
              <a:buNone/>
            </a:pPr>
            <a:r>
              <a:rPr b="1" i="0" lang="en-US" sz="950" u="none" cap="none" strike="noStrike">
                <a:solidFill>
                  <a:srgbClr val="E8503A"/>
                </a:solidFill>
                <a:latin typeface="Calibri"/>
                <a:ea typeface="Calibri"/>
                <a:cs typeface="Calibri"/>
                <a:sym typeface="Calibri"/>
              </a:rPr>
              <a:t>[0,255] floats: the 2nd most common silent bug</a:t>
            </a:r>
            <a:endParaRPr b="0" i="0" sz="950" u="none" cap="none" strike="noStrike">
              <a:solidFill>
                <a:schemeClr val="dk1"/>
              </a:solidFill>
              <a:latin typeface="Calibri"/>
              <a:ea typeface="Calibri"/>
              <a:cs typeface="Calibri"/>
              <a:sym typeface="Calibri"/>
            </a:endParaRPr>
          </a:p>
        </p:txBody>
      </p:sp>
      <p:sp>
        <p:nvSpPr>
          <p:cNvPr id="505" name="Google Shape;505;p16"/>
          <p:cNvSpPr/>
          <p:nvPr/>
        </p:nvSpPr>
        <p:spPr>
          <a:xfrm>
            <a:off x="502920" y="4361688"/>
            <a:ext cx="3472586" cy="1371600"/>
          </a:xfrm>
          <a:prstGeom prst="roundRect">
            <a:avLst>
              <a:gd fmla="val 4667" name="adj"/>
            </a:avLst>
          </a:prstGeom>
          <a:solidFill>
            <a:srgbClr val="1D2A5C"/>
          </a:solidFill>
          <a:ln cap="flat" cmpd="sng" w="15875">
            <a:solidFill>
              <a:srgbClr val="00A79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6" name="Google Shape;506;p16"/>
          <p:cNvSpPr/>
          <p:nvPr/>
        </p:nvSpPr>
        <p:spPr>
          <a:xfrm>
            <a:off x="576072" y="4416552"/>
            <a:ext cx="3326282" cy="6172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250"/>
              <a:buFont typeface="Calibri"/>
              <a:buNone/>
            </a:pPr>
            <a:r>
              <a:rPr b="1" i="0" lang="en-US" sz="1250" u="none" cap="none" strike="noStrike">
                <a:solidFill>
                  <a:srgbClr val="FFFFFF"/>
                </a:solidFill>
                <a:latin typeface="Calibri"/>
                <a:ea typeface="Calibri"/>
                <a:cs typeface="Calibri"/>
                <a:sym typeface="Calibri"/>
              </a:rPr>
              <a:t>Normalised</a:t>
            </a:r>
            <a:endParaRPr b="0" i="0" sz="1250" u="none" cap="none" strike="noStrike">
              <a:solidFill>
                <a:schemeClr val="dk1"/>
              </a:solidFill>
              <a:latin typeface="Calibri"/>
              <a:ea typeface="Calibri"/>
              <a:cs typeface="Calibri"/>
              <a:sym typeface="Calibri"/>
            </a:endParaRPr>
          </a:p>
        </p:txBody>
      </p:sp>
      <p:sp>
        <p:nvSpPr>
          <p:cNvPr id="507" name="Google Shape;507;p16"/>
          <p:cNvSpPr/>
          <p:nvPr/>
        </p:nvSpPr>
        <p:spPr>
          <a:xfrm>
            <a:off x="576072" y="5020056"/>
            <a:ext cx="3326282" cy="658368"/>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rgbClr val="B9C8E8"/>
              </a:buClr>
              <a:buSzPts val="950"/>
              <a:buFont typeface="Calibri"/>
              <a:buNone/>
            </a:pPr>
            <a:r>
              <a:rPr b="0" i="0" lang="en-US" sz="950" u="none" cap="none" strike="noStrike">
                <a:solidFill>
                  <a:srgbClr val="B9C8E8"/>
                </a:solidFill>
                <a:latin typeface="Calibri"/>
                <a:ea typeface="Calibri"/>
                <a:cs typeface="Calibri"/>
                <a:sym typeface="Calibri"/>
              </a:rPr>
              <a:t>contract mean/std</a:t>
            </a:r>
            <a:endParaRPr b="0" i="0" sz="950" u="none" cap="none" strike="noStrike">
              <a:solidFill>
                <a:schemeClr val="dk1"/>
              </a:solidFill>
              <a:latin typeface="Calibri"/>
              <a:ea typeface="Calibri"/>
              <a:cs typeface="Calibri"/>
              <a:sym typeface="Calibri"/>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12" name="Shape 512"/>
        <p:cNvGrpSpPr/>
        <p:nvPr/>
      </p:nvGrpSpPr>
      <p:grpSpPr>
        <a:xfrm>
          <a:off x="0" y="0"/>
          <a:ext cx="0" cy="0"/>
          <a:chOff x="0" y="0"/>
          <a:chExt cx="0" cy="0"/>
        </a:xfrm>
      </p:grpSpPr>
      <p:sp>
        <p:nvSpPr>
          <p:cNvPr id="513" name="Google Shape;513;p17"/>
          <p:cNvSpPr/>
          <p:nvPr/>
        </p:nvSpPr>
        <p:spPr>
          <a:xfrm>
            <a:off x="502920" y="274320"/>
            <a:ext cx="9646920" cy="56692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D2A5C"/>
              </a:buClr>
              <a:buSzPts val="2700"/>
              <a:buFont typeface="Calibri"/>
              <a:buNone/>
            </a:pPr>
            <a:r>
              <a:rPr b="1" i="0" lang="en-US" sz="2700" u="none" cap="none" strike="noStrike">
                <a:solidFill>
                  <a:srgbClr val="1D2A5C"/>
                </a:solidFill>
                <a:latin typeface="Calibri"/>
                <a:ea typeface="Calibri"/>
                <a:cs typeface="Calibri"/>
                <a:sym typeface="Calibri"/>
              </a:rPr>
              <a:t>The preprocessing contract</a:t>
            </a:r>
            <a:endParaRPr b="0" i="0" sz="2700" u="none" cap="none" strike="noStrike">
              <a:solidFill>
                <a:schemeClr val="dk1"/>
              </a:solidFill>
              <a:latin typeface="Calibri"/>
              <a:ea typeface="Calibri"/>
              <a:cs typeface="Calibri"/>
              <a:sym typeface="Calibri"/>
            </a:endParaRPr>
          </a:p>
        </p:txBody>
      </p:sp>
      <p:sp>
        <p:nvSpPr>
          <p:cNvPr id="514" name="Google Shape;514;p17"/>
          <p:cNvSpPr/>
          <p:nvPr/>
        </p:nvSpPr>
        <p:spPr>
          <a:xfrm>
            <a:off x="502920" y="859536"/>
            <a:ext cx="9646920" cy="31089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F6B7A"/>
              </a:buClr>
              <a:buSzPts val="1250"/>
              <a:buFont typeface="Arial"/>
              <a:buNone/>
            </a:pPr>
            <a:r>
              <a:rPr b="0" i="0" lang="en-US" sz="1250" u="none" cap="none" strike="noStrike">
                <a:solidFill>
                  <a:srgbClr val="5F6B7A"/>
                </a:solidFill>
                <a:latin typeface="Arial"/>
                <a:ea typeface="Arial"/>
                <a:cs typeface="Arial"/>
                <a:sym typeface="Arial"/>
              </a:rPr>
              <a:t>عقد المعالجة المسبقة</a:t>
            </a:r>
            <a:endParaRPr b="0" i="0" sz="1250" u="none" cap="none" strike="noStrike">
              <a:solidFill>
                <a:schemeClr val="dk1"/>
              </a:solidFill>
              <a:latin typeface="Calibri"/>
              <a:ea typeface="Calibri"/>
              <a:cs typeface="Calibri"/>
              <a:sym typeface="Calibri"/>
            </a:endParaRPr>
          </a:p>
        </p:txBody>
      </p:sp>
      <p:pic>
        <p:nvPicPr>
          <p:cNvPr descr="/sessions/blissful-determined-ritchie/build/assets/sdaia_logo.png" id="515" name="Google Shape;515;p17"/>
          <p:cNvPicPr preferRelativeResize="0"/>
          <p:nvPr/>
        </p:nvPicPr>
        <p:blipFill rotWithShape="1">
          <a:blip r:embed="rId3">
            <a:alphaModFix/>
          </a:blip>
          <a:srcRect b="0" l="0" r="0" t="0"/>
          <a:stretch/>
        </p:blipFill>
        <p:spPr>
          <a:xfrm>
            <a:off x="10625328" y="310896"/>
            <a:ext cx="1078992" cy="264111"/>
          </a:xfrm>
          <a:prstGeom prst="rect">
            <a:avLst/>
          </a:prstGeom>
          <a:noFill/>
          <a:ln>
            <a:noFill/>
          </a:ln>
        </p:spPr>
      </p:pic>
      <p:sp>
        <p:nvSpPr>
          <p:cNvPr id="516" name="Google Shape;516;p17"/>
          <p:cNvSpPr/>
          <p:nvPr/>
        </p:nvSpPr>
        <p:spPr>
          <a:xfrm>
            <a:off x="502920" y="6528816"/>
            <a:ext cx="8686800"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A79D"/>
              </a:buClr>
              <a:buSzPts val="800"/>
              <a:buFont typeface="Calibri"/>
              <a:buNone/>
            </a:pPr>
            <a:r>
              <a:rPr b="1" i="0" lang="en-US" sz="800" u="none" cap="none" strike="noStrike">
                <a:solidFill>
                  <a:srgbClr val="00A79D"/>
                </a:solidFill>
                <a:latin typeface="Calibri"/>
                <a:ea typeface="Calibri"/>
                <a:cs typeface="Calibri"/>
                <a:sym typeface="Calibri"/>
              </a:rPr>
              <a:t>MODULE 1   </a:t>
            </a:r>
            <a:r>
              <a:rPr b="0" i="0" lang="en-US" sz="800" u="none" cap="none" strike="noStrike">
                <a:solidFill>
                  <a:srgbClr val="8A96A6"/>
                </a:solidFill>
                <a:latin typeface="Calibri"/>
                <a:ea typeface="Calibri"/>
                <a:cs typeface="Calibri"/>
                <a:sym typeface="Calibri"/>
              </a:rPr>
              <a:t>SDA-AIE-212 · Computer Vision Systems Development</a:t>
            </a:r>
            <a:endParaRPr b="0" i="0" sz="800" u="none" cap="none" strike="noStrike">
              <a:solidFill>
                <a:schemeClr val="dk1"/>
              </a:solidFill>
              <a:latin typeface="Calibri"/>
              <a:ea typeface="Calibri"/>
              <a:cs typeface="Calibri"/>
              <a:sym typeface="Calibri"/>
            </a:endParaRPr>
          </a:p>
        </p:txBody>
      </p:sp>
      <p:sp>
        <p:nvSpPr>
          <p:cNvPr id="517" name="Google Shape;517;p17"/>
          <p:cNvSpPr/>
          <p:nvPr/>
        </p:nvSpPr>
        <p:spPr>
          <a:xfrm>
            <a:off x="11292840" y="6528816"/>
            <a:ext cx="411480" cy="219456"/>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8A96A6"/>
              </a:buClr>
              <a:buSzPts val="900"/>
              <a:buFont typeface="Calibri"/>
              <a:buNone/>
            </a:pPr>
            <a:r>
              <a:rPr b="0" i="0" lang="en-US" sz="900" u="none" cap="none" strike="noStrike">
                <a:solidFill>
                  <a:srgbClr val="8A96A6"/>
                </a:solidFill>
                <a:latin typeface="Calibri"/>
                <a:ea typeface="Calibri"/>
                <a:cs typeface="Calibri"/>
                <a:sym typeface="Calibri"/>
              </a:rPr>
              <a:t>17</a:t>
            </a:r>
            <a:endParaRPr b="0" i="0" sz="900" u="none" cap="none" strike="noStrike">
              <a:solidFill>
                <a:schemeClr val="dk1"/>
              </a:solidFill>
              <a:latin typeface="Calibri"/>
              <a:ea typeface="Calibri"/>
              <a:cs typeface="Calibri"/>
              <a:sym typeface="Calibri"/>
            </a:endParaRPr>
          </a:p>
        </p:txBody>
      </p:sp>
      <p:sp>
        <p:nvSpPr>
          <p:cNvPr id="518" name="Google Shape;518;p17"/>
          <p:cNvSpPr/>
          <p:nvPr/>
        </p:nvSpPr>
        <p:spPr>
          <a:xfrm>
            <a:off x="502920" y="1389888"/>
            <a:ext cx="11185855" cy="384048"/>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5F6B7A"/>
              </a:buClr>
              <a:buSzPts val="1250"/>
              <a:buFont typeface="Calibri"/>
              <a:buNone/>
            </a:pPr>
            <a:r>
              <a:rPr b="0" i="1" lang="en-US" sz="1250" u="none" cap="none" strike="noStrike">
                <a:solidFill>
                  <a:srgbClr val="5F6B7A"/>
                </a:solidFill>
                <a:latin typeface="Calibri"/>
                <a:ea typeface="Calibri"/>
                <a:cs typeface="Calibri"/>
                <a:sym typeface="Calibri"/>
              </a:rPr>
              <a:t>One function, imported by all three. Duplicated resize/normalise code is the vision equivalent of training/serving skew.</a:t>
            </a:r>
            <a:endParaRPr b="0" i="0" sz="1250" u="none" cap="none" strike="noStrike">
              <a:solidFill>
                <a:schemeClr val="dk1"/>
              </a:solidFill>
              <a:latin typeface="Calibri"/>
              <a:ea typeface="Calibri"/>
              <a:cs typeface="Calibri"/>
              <a:sym typeface="Calibri"/>
            </a:endParaRPr>
          </a:p>
        </p:txBody>
      </p:sp>
      <p:cxnSp>
        <p:nvCxnSpPr>
          <p:cNvPr id="519" name="Google Shape;519;p17"/>
          <p:cNvCxnSpPr/>
          <p:nvPr/>
        </p:nvCxnSpPr>
        <p:spPr>
          <a:xfrm>
            <a:off x="7284568" y="2946928"/>
            <a:ext cx="0" cy="823911"/>
          </a:xfrm>
          <a:prstGeom prst="straightConnector1">
            <a:avLst/>
          </a:prstGeom>
          <a:noFill/>
          <a:ln cap="flat" cmpd="sng" w="15875">
            <a:solidFill>
              <a:srgbClr val="D9E2EA"/>
            </a:solidFill>
            <a:prstDash val="solid"/>
            <a:round/>
            <a:headEnd len="sm" w="sm" type="none"/>
            <a:tailEnd len="sm" w="sm" type="none"/>
          </a:ln>
        </p:spPr>
      </p:cxnSp>
      <p:sp>
        <p:nvSpPr>
          <p:cNvPr id="520" name="Google Shape;520;p17"/>
          <p:cNvSpPr/>
          <p:nvPr/>
        </p:nvSpPr>
        <p:spPr>
          <a:xfrm>
            <a:off x="5021428" y="2160544"/>
            <a:ext cx="2148840" cy="786384"/>
          </a:xfrm>
          <a:prstGeom prst="roundRect">
            <a:avLst>
              <a:gd fmla="val 8140" name="adj"/>
            </a:avLst>
          </a:prstGeom>
          <a:solidFill>
            <a:srgbClr val="F2F6F9"/>
          </a:solidFill>
          <a:ln cap="flat" cmpd="sng" w="15875">
            <a:solidFill>
              <a:srgbClr val="00A79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1" name="Google Shape;521;p17"/>
          <p:cNvSpPr/>
          <p:nvPr/>
        </p:nvSpPr>
        <p:spPr>
          <a:xfrm>
            <a:off x="5085436" y="2197120"/>
            <a:ext cx="2020824" cy="39319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D2A5C"/>
              </a:buClr>
              <a:buSzPts val="1150"/>
              <a:buFont typeface="Calibri"/>
              <a:buNone/>
            </a:pPr>
            <a:r>
              <a:rPr b="1" i="0" lang="en-US" sz="1150" u="none" cap="none" strike="noStrike">
                <a:solidFill>
                  <a:srgbClr val="1D2A5C"/>
                </a:solidFill>
                <a:latin typeface="Calibri"/>
                <a:ea typeface="Calibri"/>
                <a:cs typeface="Calibri"/>
                <a:sym typeface="Calibri"/>
              </a:rPr>
              <a:t>Training loop</a:t>
            </a:r>
            <a:endParaRPr b="0" i="0" sz="1150" u="none" cap="none" strike="noStrike">
              <a:solidFill>
                <a:schemeClr val="dk1"/>
              </a:solidFill>
              <a:latin typeface="Calibri"/>
              <a:ea typeface="Calibri"/>
              <a:cs typeface="Calibri"/>
              <a:sym typeface="Calibri"/>
            </a:endParaRPr>
          </a:p>
        </p:txBody>
      </p:sp>
      <p:sp>
        <p:nvSpPr>
          <p:cNvPr id="522" name="Google Shape;522;p17"/>
          <p:cNvSpPr/>
          <p:nvPr/>
        </p:nvSpPr>
        <p:spPr>
          <a:xfrm>
            <a:off x="5085436" y="2553736"/>
            <a:ext cx="2020824" cy="353873"/>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rgbClr val="5F6B7A"/>
              </a:buClr>
              <a:buSzPts val="900"/>
              <a:buFont typeface="Calibri"/>
              <a:buNone/>
            </a:pPr>
            <a:r>
              <a:rPr b="0" i="0" lang="en-US" sz="900" u="none" cap="none" strike="noStrike">
                <a:solidFill>
                  <a:srgbClr val="5F6B7A"/>
                </a:solidFill>
                <a:latin typeface="Calibri"/>
                <a:ea typeface="Calibri"/>
                <a:cs typeface="Calibri"/>
                <a:sym typeface="Calibri"/>
              </a:rPr>
              <a:t>train_tf + eval_tf</a:t>
            </a:r>
            <a:endParaRPr b="0" i="0" sz="900" u="none" cap="none" strike="noStrike">
              <a:solidFill>
                <a:schemeClr val="dk1"/>
              </a:solidFill>
              <a:latin typeface="Calibri"/>
              <a:ea typeface="Calibri"/>
              <a:cs typeface="Calibri"/>
              <a:sym typeface="Calibri"/>
            </a:endParaRPr>
          </a:p>
        </p:txBody>
      </p:sp>
      <p:cxnSp>
        <p:nvCxnSpPr>
          <p:cNvPr id="523" name="Google Shape;523;p17"/>
          <p:cNvCxnSpPr/>
          <p:nvPr/>
        </p:nvCxnSpPr>
        <p:spPr>
          <a:xfrm flipH="1" rot="10800000">
            <a:off x="2695926" y="4123944"/>
            <a:ext cx="2039953" cy="823911"/>
          </a:xfrm>
          <a:prstGeom prst="straightConnector1">
            <a:avLst/>
          </a:prstGeom>
          <a:noFill/>
          <a:ln cap="flat" cmpd="sng" w="15875">
            <a:solidFill>
              <a:srgbClr val="D9E2EA"/>
            </a:solidFill>
            <a:prstDash val="solid"/>
            <a:round/>
            <a:headEnd len="sm" w="sm" type="none"/>
            <a:tailEnd len="sm" w="sm" type="none"/>
          </a:ln>
        </p:spPr>
      </p:cxnSp>
      <p:sp>
        <p:nvSpPr>
          <p:cNvPr id="524" name="Google Shape;524;p17"/>
          <p:cNvSpPr/>
          <p:nvPr/>
        </p:nvSpPr>
        <p:spPr>
          <a:xfrm>
            <a:off x="1621506" y="5300960"/>
            <a:ext cx="2148840" cy="786384"/>
          </a:xfrm>
          <a:prstGeom prst="roundRect">
            <a:avLst>
              <a:gd fmla="val 8140" name="adj"/>
            </a:avLst>
          </a:prstGeom>
          <a:solidFill>
            <a:srgbClr val="F2F6F9"/>
          </a:solidFill>
          <a:ln cap="flat" cmpd="sng" w="15875">
            <a:solidFill>
              <a:srgbClr val="29ABE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5" name="Google Shape;525;p17"/>
          <p:cNvSpPr/>
          <p:nvPr/>
        </p:nvSpPr>
        <p:spPr>
          <a:xfrm>
            <a:off x="1685514" y="5337536"/>
            <a:ext cx="2020824" cy="39319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D2A5C"/>
              </a:buClr>
              <a:buSzPts val="1150"/>
              <a:buFont typeface="Calibri"/>
              <a:buNone/>
            </a:pPr>
            <a:r>
              <a:rPr b="1" i="0" lang="en-US" sz="1150" u="none" cap="none" strike="noStrike">
                <a:solidFill>
                  <a:srgbClr val="1D2A5C"/>
                </a:solidFill>
                <a:latin typeface="Calibri"/>
                <a:ea typeface="Calibri"/>
                <a:cs typeface="Calibri"/>
                <a:sym typeface="Calibri"/>
              </a:rPr>
              <a:t>Eval harness</a:t>
            </a:r>
            <a:endParaRPr b="0" i="0" sz="1150" u="none" cap="none" strike="noStrike">
              <a:solidFill>
                <a:schemeClr val="dk1"/>
              </a:solidFill>
              <a:latin typeface="Calibri"/>
              <a:ea typeface="Calibri"/>
              <a:cs typeface="Calibri"/>
              <a:sym typeface="Calibri"/>
            </a:endParaRPr>
          </a:p>
        </p:txBody>
      </p:sp>
      <p:sp>
        <p:nvSpPr>
          <p:cNvPr id="526" name="Google Shape;526;p17"/>
          <p:cNvSpPr/>
          <p:nvPr/>
        </p:nvSpPr>
        <p:spPr>
          <a:xfrm>
            <a:off x="1685514" y="5694152"/>
            <a:ext cx="2020824" cy="353873"/>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rgbClr val="5F6B7A"/>
              </a:buClr>
              <a:buSzPts val="900"/>
              <a:buFont typeface="Calibri"/>
              <a:buNone/>
            </a:pPr>
            <a:r>
              <a:rPr b="0" i="0" lang="en-US" sz="900" u="none" cap="none" strike="noStrike">
                <a:solidFill>
                  <a:srgbClr val="5F6B7A"/>
                </a:solidFill>
                <a:latin typeface="Calibri"/>
                <a:ea typeface="Calibri"/>
                <a:cs typeface="Calibri"/>
                <a:sym typeface="Calibri"/>
              </a:rPr>
              <a:t>M6 — deterministic</a:t>
            </a:r>
            <a:endParaRPr b="0" i="0" sz="900" u="none" cap="none" strike="noStrike">
              <a:solidFill>
                <a:schemeClr val="dk1"/>
              </a:solidFill>
              <a:latin typeface="Calibri"/>
              <a:ea typeface="Calibri"/>
              <a:cs typeface="Calibri"/>
              <a:sym typeface="Calibri"/>
            </a:endParaRPr>
          </a:p>
        </p:txBody>
      </p:sp>
      <p:cxnSp>
        <p:nvCxnSpPr>
          <p:cNvPr id="527" name="Google Shape;527;p17"/>
          <p:cNvCxnSpPr/>
          <p:nvPr/>
        </p:nvCxnSpPr>
        <p:spPr>
          <a:xfrm rot="10800000">
            <a:off x="7284568" y="4123944"/>
            <a:ext cx="2039953" cy="823911"/>
          </a:xfrm>
          <a:prstGeom prst="straightConnector1">
            <a:avLst/>
          </a:prstGeom>
          <a:noFill/>
          <a:ln cap="flat" cmpd="sng" w="15875">
            <a:solidFill>
              <a:srgbClr val="D9E2EA"/>
            </a:solidFill>
            <a:prstDash val="solid"/>
            <a:round/>
            <a:headEnd len="sm" w="sm" type="none"/>
            <a:tailEnd len="sm" w="sm" type="none"/>
          </a:ln>
        </p:spPr>
      </p:cxnSp>
      <p:sp>
        <p:nvSpPr>
          <p:cNvPr id="528" name="Google Shape;528;p17"/>
          <p:cNvSpPr/>
          <p:nvPr/>
        </p:nvSpPr>
        <p:spPr>
          <a:xfrm>
            <a:off x="8421350" y="5300960"/>
            <a:ext cx="2148840" cy="786384"/>
          </a:xfrm>
          <a:prstGeom prst="roundRect">
            <a:avLst>
              <a:gd fmla="val 8140" name="adj"/>
            </a:avLst>
          </a:prstGeom>
          <a:solidFill>
            <a:srgbClr val="F2F6F9"/>
          </a:solidFill>
          <a:ln cap="flat" cmpd="sng" w="15875">
            <a:solidFill>
              <a:srgbClr val="F5822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9" name="Google Shape;529;p17"/>
          <p:cNvSpPr/>
          <p:nvPr/>
        </p:nvSpPr>
        <p:spPr>
          <a:xfrm>
            <a:off x="8485358" y="5337536"/>
            <a:ext cx="2020824" cy="39319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D2A5C"/>
              </a:buClr>
              <a:buSzPts val="1150"/>
              <a:buFont typeface="Calibri"/>
              <a:buNone/>
            </a:pPr>
            <a:r>
              <a:rPr b="1" i="0" lang="en-US" sz="1150" u="none" cap="none" strike="noStrike">
                <a:solidFill>
                  <a:srgbClr val="1D2A5C"/>
                </a:solidFill>
                <a:latin typeface="Calibri"/>
                <a:ea typeface="Calibri"/>
                <a:cs typeface="Calibri"/>
                <a:sym typeface="Calibri"/>
              </a:rPr>
              <a:t>ONNX wrapper</a:t>
            </a:r>
            <a:endParaRPr b="0" i="0" sz="1150" u="none" cap="none" strike="noStrike">
              <a:solidFill>
                <a:schemeClr val="dk1"/>
              </a:solidFill>
              <a:latin typeface="Calibri"/>
              <a:ea typeface="Calibri"/>
              <a:cs typeface="Calibri"/>
              <a:sym typeface="Calibri"/>
            </a:endParaRPr>
          </a:p>
        </p:txBody>
      </p:sp>
      <p:sp>
        <p:nvSpPr>
          <p:cNvPr id="530" name="Google Shape;530;p17"/>
          <p:cNvSpPr/>
          <p:nvPr/>
        </p:nvSpPr>
        <p:spPr>
          <a:xfrm>
            <a:off x="8485358" y="5694152"/>
            <a:ext cx="2020824" cy="353873"/>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rgbClr val="5F6B7A"/>
              </a:buClr>
              <a:buSzPts val="900"/>
              <a:buFont typeface="Calibri"/>
              <a:buNone/>
            </a:pPr>
            <a:r>
              <a:rPr b="0" i="0" lang="en-US" sz="900" u="none" cap="none" strike="noStrike">
                <a:solidFill>
                  <a:srgbClr val="5F6B7A"/>
                </a:solidFill>
                <a:latin typeface="Calibri"/>
                <a:ea typeface="Calibri"/>
                <a:cs typeface="Calibri"/>
                <a:sym typeface="Calibri"/>
              </a:rPr>
              <a:t>M7 — serving path</a:t>
            </a:r>
            <a:endParaRPr b="0" i="0" sz="900" u="none" cap="none" strike="noStrike">
              <a:solidFill>
                <a:schemeClr val="dk1"/>
              </a:solidFill>
              <a:latin typeface="Calibri"/>
              <a:ea typeface="Calibri"/>
              <a:cs typeface="Calibri"/>
              <a:sym typeface="Calibri"/>
            </a:endParaRPr>
          </a:p>
        </p:txBody>
      </p:sp>
      <p:sp>
        <p:nvSpPr>
          <p:cNvPr id="531" name="Google Shape;531;p17"/>
          <p:cNvSpPr/>
          <p:nvPr/>
        </p:nvSpPr>
        <p:spPr>
          <a:xfrm>
            <a:off x="4907128" y="3666744"/>
            <a:ext cx="2377440" cy="914400"/>
          </a:xfrm>
          <a:prstGeom prst="roundRect">
            <a:avLst>
              <a:gd fmla="val 9000" name="adj"/>
            </a:avLst>
          </a:prstGeom>
          <a:solidFill>
            <a:srgbClr val="00A79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2" name="Google Shape;532;p17"/>
          <p:cNvSpPr/>
          <p:nvPr/>
        </p:nvSpPr>
        <p:spPr>
          <a:xfrm>
            <a:off x="4971136" y="3703320"/>
            <a:ext cx="2249424" cy="5029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300"/>
              <a:buFont typeface="Calibri"/>
              <a:buNone/>
            </a:pPr>
            <a:r>
              <a:rPr b="1" i="0" lang="en-US" sz="1300" u="none" cap="none" strike="noStrike">
                <a:solidFill>
                  <a:srgbClr val="FFFFFF"/>
                </a:solidFill>
                <a:latin typeface="Calibri"/>
                <a:ea typeface="Calibri"/>
                <a:cs typeface="Calibri"/>
                <a:sym typeface="Calibri"/>
              </a:rPr>
              <a:t>transforms.py</a:t>
            </a:r>
            <a:endParaRPr b="0" i="0" sz="1300" u="none" cap="none" strike="noStrike">
              <a:solidFill>
                <a:schemeClr val="dk1"/>
              </a:solidFill>
              <a:latin typeface="Calibri"/>
              <a:ea typeface="Calibri"/>
              <a:cs typeface="Calibri"/>
              <a:sym typeface="Calibri"/>
            </a:endParaRPr>
          </a:p>
        </p:txBody>
      </p:sp>
      <p:sp>
        <p:nvSpPr>
          <p:cNvPr id="533" name="Google Shape;533;p17"/>
          <p:cNvSpPr/>
          <p:nvPr/>
        </p:nvSpPr>
        <p:spPr>
          <a:xfrm>
            <a:off x="4971136" y="4142232"/>
            <a:ext cx="2249424" cy="384048"/>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rgbClr val="D4F1EE"/>
              </a:buClr>
              <a:buSzPts val="900"/>
              <a:buFont typeface="Calibri"/>
              <a:buNone/>
            </a:pPr>
            <a:r>
              <a:rPr b="0" i="0" lang="en-US" sz="900" u="none" cap="none" strike="noStrike">
                <a:solidFill>
                  <a:srgbClr val="D4F1EE"/>
                </a:solidFill>
                <a:latin typeface="Calibri"/>
                <a:ea typeface="Calibri"/>
                <a:cs typeface="Calibri"/>
                <a:sym typeface="Calibri"/>
              </a:rPr>
              <a:t>the contract</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38" name="Shape 538"/>
        <p:cNvGrpSpPr/>
        <p:nvPr/>
      </p:nvGrpSpPr>
      <p:grpSpPr>
        <a:xfrm>
          <a:off x="0" y="0"/>
          <a:ext cx="0" cy="0"/>
          <a:chOff x="0" y="0"/>
          <a:chExt cx="0" cy="0"/>
        </a:xfrm>
      </p:grpSpPr>
      <p:sp>
        <p:nvSpPr>
          <p:cNvPr id="539" name="Google Shape;539;p18"/>
          <p:cNvSpPr/>
          <p:nvPr/>
        </p:nvSpPr>
        <p:spPr>
          <a:xfrm>
            <a:off x="502920" y="274320"/>
            <a:ext cx="9646920" cy="56692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D2A5C"/>
              </a:buClr>
              <a:buSzPts val="2700"/>
              <a:buFont typeface="Calibri"/>
              <a:buNone/>
            </a:pPr>
            <a:r>
              <a:rPr b="1" i="0" lang="en-US" sz="2700" u="none" cap="none" strike="noStrike">
                <a:solidFill>
                  <a:srgbClr val="1D2A5C"/>
                </a:solidFill>
                <a:latin typeface="Calibri"/>
                <a:ea typeface="Calibri"/>
                <a:cs typeface="Calibri"/>
                <a:sym typeface="Calibri"/>
              </a:rPr>
              <a:t>Augmentation encodes domain knowledge</a:t>
            </a:r>
            <a:endParaRPr b="0" i="0" sz="2700" u="none" cap="none" strike="noStrike">
              <a:solidFill>
                <a:schemeClr val="dk1"/>
              </a:solidFill>
              <a:latin typeface="Calibri"/>
              <a:ea typeface="Calibri"/>
              <a:cs typeface="Calibri"/>
              <a:sym typeface="Calibri"/>
            </a:endParaRPr>
          </a:p>
        </p:txBody>
      </p:sp>
      <p:sp>
        <p:nvSpPr>
          <p:cNvPr id="540" name="Google Shape;540;p18"/>
          <p:cNvSpPr/>
          <p:nvPr/>
        </p:nvSpPr>
        <p:spPr>
          <a:xfrm>
            <a:off x="502920" y="859536"/>
            <a:ext cx="9646920" cy="31089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F6B7A"/>
              </a:buClr>
              <a:buSzPts val="1250"/>
              <a:buFont typeface="Arial"/>
              <a:buNone/>
            </a:pPr>
            <a:r>
              <a:rPr b="0" i="0" lang="en-US" sz="1250" u="none" cap="none" strike="noStrike">
                <a:solidFill>
                  <a:srgbClr val="5F6B7A"/>
                </a:solidFill>
                <a:latin typeface="Arial"/>
                <a:ea typeface="Arial"/>
                <a:cs typeface="Arial"/>
                <a:sym typeface="Arial"/>
              </a:rPr>
              <a:t>التعزيز يرمّز معرفة المجال</a:t>
            </a:r>
            <a:endParaRPr b="0" i="0" sz="1250" u="none" cap="none" strike="noStrike">
              <a:solidFill>
                <a:schemeClr val="dk1"/>
              </a:solidFill>
              <a:latin typeface="Calibri"/>
              <a:ea typeface="Calibri"/>
              <a:cs typeface="Calibri"/>
              <a:sym typeface="Calibri"/>
            </a:endParaRPr>
          </a:p>
        </p:txBody>
      </p:sp>
      <p:pic>
        <p:nvPicPr>
          <p:cNvPr descr="/sessions/blissful-determined-ritchie/build/assets/sdaia_logo.png" id="541" name="Google Shape;541;p18"/>
          <p:cNvPicPr preferRelativeResize="0"/>
          <p:nvPr/>
        </p:nvPicPr>
        <p:blipFill rotWithShape="1">
          <a:blip r:embed="rId3">
            <a:alphaModFix/>
          </a:blip>
          <a:srcRect b="0" l="0" r="0" t="0"/>
          <a:stretch/>
        </p:blipFill>
        <p:spPr>
          <a:xfrm>
            <a:off x="10625328" y="310896"/>
            <a:ext cx="1078992" cy="264111"/>
          </a:xfrm>
          <a:prstGeom prst="rect">
            <a:avLst/>
          </a:prstGeom>
          <a:noFill/>
          <a:ln>
            <a:noFill/>
          </a:ln>
        </p:spPr>
      </p:pic>
      <p:sp>
        <p:nvSpPr>
          <p:cNvPr id="542" name="Google Shape;542;p18"/>
          <p:cNvSpPr/>
          <p:nvPr/>
        </p:nvSpPr>
        <p:spPr>
          <a:xfrm>
            <a:off x="502920" y="6528816"/>
            <a:ext cx="8686800"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A79D"/>
              </a:buClr>
              <a:buSzPts val="800"/>
              <a:buFont typeface="Calibri"/>
              <a:buNone/>
            </a:pPr>
            <a:r>
              <a:rPr b="1" i="0" lang="en-US" sz="800" u="none" cap="none" strike="noStrike">
                <a:solidFill>
                  <a:srgbClr val="00A79D"/>
                </a:solidFill>
                <a:latin typeface="Calibri"/>
                <a:ea typeface="Calibri"/>
                <a:cs typeface="Calibri"/>
                <a:sym typeface="Calibri"/>
              </a:rPr>
              <a:t>MODULE 1   </a:t>
            </a:r>
            <a:r>
              <a:rPr b="0" i="0" lang="en-US" sz="800" u="none" cap="none" strike="noStrike">
                <a:solidFill>
                  <a:srgbClr val="8A96A6"/>
                </a:solidFill>
                <a:latin typeface="Calibri"/>
                <a:ea typeface="Calibri"/>
                <a:cs typeface="Calibri"/>
                <a:sym typeface="Calibri"/>
              </a:rPr>
              <a:t>SDA-AIE-212 · Computer Vision Systems Development</a:t>
            </a:r>
            <a:endParaRPr b="0" i="0" sz="800" u="none" cap="none" strike="noStrike">
              <a:solidFill>
                <a:schemeClr val="dk1"/>
              </a:solidFill>
              <a:latin typeface="Calibri"/>
              <a:ea typeface="Calibri"/>
              <a:cs typeface="Calibri"/>
              <a:sym typeface="Calibri"/>
            </a:endParaRPr>
          </a:p>
        </p:txBody>
      </p:sp>
      <p:sp>
        <p:nvSpPr>
          <p:cNvPr id="543" name="Google Shape;543;p18"/>
          <p:cNvSpPr/>
          <p:nvPr/>
        </p:nvSpPr>
        <p:spPr>
          <a:xfrm>
            <a:off x="11292840" y="6528816"/>
            <a:ext cx="411480" cy="219456"/>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8A96A6"/>
              </a:buClr>
              <a:buSzPts val="900"/>
              <a:buFont typeface="Calibri"/>
              <a:buNone/>
            </a:pPr>
            <a:r>
              <a:rPr b="0" i="0" lang="en-US" sz="900" u="none" cap="none" strike="noStrike">
                <a:solidFill>
                  <a:srgbClr val="8A96A6"/>
                </a:solidFill>
                <a:latin typeface="Calibri"/>
                <a:ea typeface="Calibri"/>
                <a:cs typeface="Calibri"/>
                <a:sym typeface="Calibri"/>
              </a:rPr>
              <a:t>18</a:t>
            </a:r>
            <a:endParaRPr b="0" i="0" sz="900" u="none" cap="none" strike="noStrike">
              <a:solidFill>
                <a:schemeClr val="dk1"/>
              </a:solidFill>
              <a:latin typeface="Calibri"/>
              <a:ea typeface="Calibri"/>
              <a:cs typeface="Calibri"/>
              <a:sym typeface="Calibri"/>
            </a:endParaRPr>
          </a:p>
        </p:txBody>
      </p:sp>
      <p:sp>
        <p:nvSpPr>
          <p:cNvPr id="544" name="Google Shape;544;p18"/>
          <p:cNvSpPr/>
          <p:nvPr/>
        </p:nvSpPr>
        <p:spPr>
          <a:xfrm>
            <a:off x="502920" y="1389888"/>
            <a:ext cx="11185855" cy="384048"/>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5F6B7A"/>
              </a:buClr>
              <a:buSzPts val="1250"/>
              <a:buFont typeface="Calibri"/>
              <a:buNone/>
            </a:pPr>
            <a:r>
              <a:rPr b="0" i="1" lang="en-US" sz="1250" u="none" cap="none" strike="noStrike">
                <a:solidFill>
                  <a:srgbClr val="5F6B7A"/>
                </a:solidFill>
                <a:latin typeface="Calibri"/>
                <a:ea typeface="Calibri"/>
                <a:cs typeface="Calibri"/>
                <a:sym typeface="Calibri"/>
              </a:rPr>
              <a:t>The design question for every transform: is this variation REAL on the line?</a:t>
            </a:r>
            <a:endParaRPr b="0" i="0" sz="1250" u="none" cap="none" strike="noStrike">
              <a:solidFill>
                <a:schemeClr val="dk1"/>
              </a:solidFill>
              <a:latin typeface="Calibri"/>
              <a:ea typeface="Calibri"/>
              <a:cs typeface="Calibri"/>
              <a:sym typeface="Calibri"/>
            </a:endParaRPr>
          </a:p>
        </p:txBody>
      </p:sp>
      <p:sp>
        <p:nvSpPr>
          <p:cNvPr id="545" name="Google Shape;545;p18"/>
          <p:cNvSpPr/>
          <p:nvPr/>
        </p:nvSpPr>
        <p:spPr>
          <a:xfrm>
            <a:off x="502920" y="1892808"/>
            <a:ext cx="5455768" cy="2103120"/>
          </a:xfrm>
          <a:prstGeom prst="roundRect">
            <a:avLst>
              <a:gd fmla="val 3478" name="adj"/>
            </a:avLst>
          </a:prstGeom>
          <a:solidFill>
            <a:srgbClr val="F2F6F9"/>
          </a:solidFill>
          <a:ln cap="flat" cmpd="sng" w="12700">
            <a:solidFill>
              <a:srgbClr val="D9E2E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6" name="Google Shape;546;p18"/>
          <p:cNvSpPr/>
          <p:nvPr/>
        </p:nvSpPr>
        <p:spPr>
          <a:xfrm>
            <a:off x="667512" y="2039112"/>
            <a:ext cx="310896" cy="310896"/>
          </a:xfrm>
          <a:prstGeom prst="ellipse">
            <a:avLst/>
          </a:prstGeom>
          <a:solidFill>
            <a:srgbClr val="00A79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7" name="Google Shape;547;p18"/>
          <p:cNvSpPr/>
          <p:nvPr/>
        </p:nvSpPr>
        <p:spPr>
          <a:xfrm>
            <a:off x="667512" y="2039112"/>
            <a:ext cx="310896" cy="31089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200"/>
              <a:buFont typeface="Calibri"/>
              <a:buNone/>
            </a:pPr>
            <a:r>
              <a:rPr b="1" i="0" lang="en-US" sz="1200" u="none" cap="none" strike="noStrike">
                <a:solidFill>
                  <a:srgbClr val="FFFFFF"/>
                </a:solidFill>
                <a:latin typeface="Calibri"/>
                <a:ea typeface="Calibri"/>
                <a:cs typeface="Calibri"/>
                <a:sym typeface="Calibri"/>
              </a:rPr>
              <a:t>1</a:t>
            </a:r>
            <a:endParaRPr b="0" i="0" sz="1200" u="none" cap="none" strike="noStrike">
              <a:solidFill>
                <a:schemeClr val="dk1"/>
              </a:solidFill>
              <a:latin typeface="Calibri"/>
              <a:ea typeface="Calibri"/>
              <a:cs typeface="Calibri"/>
              <a:sym typeface="Calibri"/>
            </a:endParaRPr>
          </a:p>
        </p:txBody>
      </p:sp>
      <p:sp>
        <p:nvSpPr>
          <p:cNvPr id="548" name="Google Shape;548;p18"/>
          <p:cNvSpPr/>
          <p:nvPr/>
        </p:nvSpPr>
        <p:spPr>
          <a:xfrm>
            <a:off x="1088136" y="2002536"/>
            <a:ext cx="4724248" cy="38404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D2A5C"/>
              </a:buClr>
              <a:buSzPts val="1250"/>
              <a:buFont typeface="Calibri"/>
              <a:buNone/>
            </a:pPr>
            <a:r>
              <a:rPr b="1" i="0" lang="en-US" sz="1250" u="none" cap="none" strike="noStrike">
                <a:solidFill>
                  <a:srgbClr val="1D2A5C"/>
                </a:solidFill>
                <a:latin typeface="Calibri"/>
                <a:ea typeface="Calibri"/>
                <a:cs typeface="Calibri"/>
                <a:sym typeface="Calibri"/>
              </a:rPr>
              <a:t>Geometric</a:t>
            </a:r>
            <a:endParaRPr b="0" i="0" sz="1250" u="none" cap="none" strike="noStrike">
              <a:solidFill>
                <a:schemeClr val="dk1"/>
              </a:solidFill>
              <a:latin typeface="Calibri"/>
              <a:ea typeface="Calibri"/>
              <a:cs typeface="Calibri"/>
              <a:sym typeface="Calibri"/>
            </a:endParaRPr>
          </a:p>
        </p:txBody>
      </p:sp>
      <p:sp>
        <p:nvSpPr>
          <p:cNvPr id="549" name="Google Shape;549;p18"/>
          <p:cNvSpPr/>
          <p:nvPr/>
        </p:nvSpPr>
        <p:spPr>
          <a:xfrm>
            <a:off x="685800" y="2423160"/>
            <a:ext cx="5090008" cy="14630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5F6B7A"/>
              </a:buClr>
              <a:buSzPts val="1100"/>
              <a:buFont typeface="Calibri"/>
              <a:buNone/>
            </a:pPr>
            <a:r>
              <a:rPr b="0" i="0" lang="en-US" sz="1100" u="none" cap="none" strike="noStrike">
                <a:solidFill>
                  <a:srgbClr val="5F6B7A"/>
                </a:solidFill>
                <a:latin typeface="Calibri"/>
                <a:ea typeface="Calibri"/>
                <a:cs typeface="Calibri"/>
                <a:sym typeface="Calibri"/>
              </a:rPr>
              <a:t>Flips, rotation, scale jitter. Dates land in any pose — full rotation valid. X-rays are never mirrored — flip invalid.</a:t>
            </a:r>
            <a:endParaRPr b="0" i="0" sz="1100" u="none" cap="none" strike="noStrike">
              <a:solidFill>
                <a:schemeClr val="dk1"/>
              </a:solidFill>
              <a:latin typeface="Calibri"/>
              <a:ea typeface="Calibri"/>
              <a:cs typeface="Calibri"/>
              <a:sym typeface="Calibri"/>
            </a:endParaRPr>
          </a:p>
        </p:txBody>
      </p:sp>
      <p:sp>
        <p:nvSpPr>
          <p:cNvPr id="550" name="Google Shape;550;p18"/>
          <p:cNvSpPr/>
          <p:nvPr/>
        </p:nvSpPr>
        <p:spPr>
          <a:xfrm>
            <a:off x="6233008" y="1892808"/>
            <a:ext cx="5455768" cy="2103120"/>
          </a:xfrm>
          <a:prstGeom prst="roundRect">
            <a:avLst>
              <a:gd fmla="val 3478" name="adj"/>
            </a:avLst>
          </a:prstGeom>
          <a:solidFill>
            <a:srgbClr val="F2F6F9"/>
          </a:solidFill>
          <a:ln cap="flat" cmpd="sng" w="12700">
            <a:solidFill>
              <a:srgbClr val="D9E2E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1" name="Google Shape;551;p18"/>
          <p:cNvSpPr/>
          <p:nvPr/>
        </p:nvSpPr>
        <p:spPr>
          <a:xfrm>
            <a:off x="6397600" y="2039112"/>
            <a:ext cx="310896" cy="310896"/>
          </a:xfrm>
          <a:prstGeom prst="ellipse">
            <a:avLst/>
          </a:prstGeom>
          <a:solidFill>
            <a:srgbClr val="29ABE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2" name="Google Shape;552;p18"/>
          <p:cNvSpPr/>
          <p:nvPr/>
        </p:nvSpPr>
        <p:spPr>
          <a:xfrm>
            <a:off x="6397600" y="2039112"/>
            <a:ext cx="310896" cy="31089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200"/>
              <a:buFont typeface="Calibri"/>
              <a:buNone/>
            </a:pPr>
            <a:r>
              <a:rPr b="1" i="0" lang="en-US" sz="1200" u="none" cap="none" strike="noStrike">
                <a:solidFill>
                  <a:srgbClr val="FFFFFF"/>
                </a:solidFill>
                <a:latin typeface="Calibri"/>
                <a:ea typeface="Calibri"/>
                <a:cs typeface="Calibri"/>
                <a:sym typeface="Calibri"/>
              </a:rPr>
              <a:t>2</a:t>
            </a:r>
            <a:endParaRPr b="0" i="0" sz="1200" u="none" cap="none" strike="noStrike">
              <a:solidFill>
                <a:schemeClr val="dk1"/>
              </a:solidFill>
              <a:latin typeface="Calibri"/>
              <a:ea typeface="Calibri"/>
              <a:cs typeface="Calibri"/>
              <a:sym typeface="Calibri"/>
            </a:endParaRPr>
          </a:p>
        </p:txBody>
      </p:sp>
      <p:sp>
        <p:nvSpPr>
          <p:cNvPr id="553" name="Google Shape;553;p18"/>
          <p:cNvSpPr/>
          <p:nvPr/>
        </p:nvSpPr>
        <p:spPr>
          <a:xfrm>
            <a:off x="6818224" y="2002536"/>
            <a:ext cx="4724248" cy="38404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D2A5C"/>
              </a:buClr>
              <a:buSzPts val="1250"/>
              <a:buFont typeface="Calibri"/>
              <a:buNone/>
            </a:pPr>
            <a:r>
              <a:rPr b="1" i="0" lang="en-US" sz="1250" u="none" cap="none" strike="noStrike">
                <a:solidFill>
                  <a:srgbClr val="1D2A5C"/>
                </a:solidFill>
                <a:latin typeface="Calibri"/>
                <a:ea typeface="Calibri"/>
                <a:cs typeface="Calibri"/>
                <a:sym typeface="Calibri"/>
              </a:rPr>
              <a:t>Photometric</a:t>
            </a:r>
            <a:endParaRPr b="0" i="0" sz="1250" u="none" cap="none" strike="noStrike">
              <a:solidFill>
                <a:schemeClr val="dk1"/>
              </a:solidFill>
              <a:latin typeface="Calibri"/>
              <a:ea typeface="Calibri"/>
              <a:cs typeface="Calibri"/>
              <a:sym typeface="Calibri"/>
            </a:endParaRPr>
          </a:p>
        </p:txBody>
      </p:sp>
      <p:sp>
        <p:nvSpPr>
          <p:cNvPr id="554" name="Google Shape;554;p18"/>
          <p:cNvSpPr/>
          <p:nvPr/>
        </p:nvSpPr>
        <p:spPr>
          <a:xfrm>
            <a:off x="6415888" y="2423160"/>
            <a:ext cx="5090008" cy="14630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5F6B7A"/>
              </a:buClr>
              <a:buSzPts val="1100"/>
              <a:buFont typeface="Calibri"/>
              <a:buNone/>
            </a:pPr>
            <a:r>
              <a:rPr b="0" i="0" lang="en-US" sz="1100" u="none" cap="none" strike="noStrike">
                <a:solidFill>
                  <a:srgbClr val="5F6B7A"/>
                </a:solidFill>
                <a:latin typeface="Calibri"/>
                <a:ea typeface="Calibri"/>
                <a:cs typeface="Calibri"/>
                <a:sym typeface="Calibri"/>
              </a:rPr>
              <a:t>Brightness/contrast/hue jitter, white-balance drift — the workhorse for cameras whose exposure drifts with lamp ageing.</a:t>
            </a:r>
            <a:endParaRPr b="0" i="0" sz="1100" u="none" cap="none" strike="noStrike">
              <a:solidFill>
                <a:schemeClr val="dk1"/>
              </a:solidFill>
              <a:latin typeface="Calibri"/>
              <a:ea typeface="Calibri"/>
              <a:cs typeface="Calibri"/>
              <a:sym typeface="Calibri"/>
            </a:endParaRPr>
          </a:p>
        </p:txBody>
      </p:sp>
      <p:sp>
        <p:nvSpPr>
          <p:cNvPr id="555" name="Google Shape;555;p18"/>
          <p:cNvSpPr/>
          <p:nvPr/>
        </p:nvSpPr>
        <p:spPr>
          <a:xfrm>
            <a:off x="502920" y="4251960"/>
            <a:ext cx="5455768" cy="2103120"/>
          </a:xfrm>
          <a:prstGeom prst="roundRect">
            <a:avLst>
              <a:gd fmla="val 3478" name="adj"/>
            </a:avLst>
          </a:prstGeom>
          <a:solidFill>
            <a:srgbClr val="F2F6F9"/>
          </a:solidFill>
          <a:ln cap="flat" cmpd="sng" w="12700">
            <a:solidFill>
              <a:srgbClr val="D9E2E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6" name="Google Shape;556;p18"/>
          <p:cNvSpPr/>
          <p:nvPr/>
        </p:nvSpPr>
        <p:spPr>
          <a:xfrm>
            <a:off x="667512" y="4398264"/>
            <a:ext cx="310896" cy="310896"/>
          </a:xfrm>
          <a:prstGeom prst="ellipse">
            <a:avLst/>
          </a:prstGeom>
          <a:solidFill>
            <a:srgbClr val="F5822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7" name="Google Shape;557;p18"/>
          <p:cNvSpPr/>
          <p:nvPr/>
        </p:nvSpPr>
        <p:spPr>
          <a:xfrm>
            <a:off x="667512" y="4398264"/>
            <a:ext cx="310896" cy="31089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200"/>
              <a:buFont typeface="Calibri"/>
              <a:buNone/>
            </a:pPr>
            <a:r>
              <a:rPr b="1" i="0" lang="en-US" sz="1200" u="none" cap="none" strike="noStrike">
                <a:solidFill>
                  <a:srgbClr val="FFFFFF"/>
                </a:solidFill>
                <a:latin typeface="Calibri"/>
                <a:ea typeface="Calibri"/>
                <a:cs typeface="Calibri"/>
                <a:sym typeface="Calibri"/>
              </a:rPr>
              <a:t>3</a:t>
            </a:r>
            <a:endParaRPr b="0" i="0" sz="1200" u="none" cap="none" strike="noStrike">
              <a:solidFill>
                <a:schemeClr val="dk1"/>
              </a:solidFill>
              <a:latin typeface="Calibri"/>
              <a:ea typeface="Calibri"/>
              <a:cs typeface="Calibri"/>
              <a:sym typeface="Calibri"/>
            </a:endParaRPr>
          </a:p>
        </p:txBody>
      </p:sp>
      <p:sp>
        <p:nvSpPr>
          <p:cNvPr id="558" name="Google Shape;558;p18"/>
          <p:cNvSpPr/>
          <p:nvPr/>
        </p:nvSpPr>
        <p:spPr>
          <a:xfrm>
            <a:off x="1088136" y="4361688"/>
            <a:ext cx="4724248" cy="38404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D2A5C"/>
              </a:buClr>
              <a:buSzPts val="1250"/>
              <a:buFont typeface="Calibri"/>
              <a:buNone/>
            </a:pPr>
            <a:r>
              <a:rPr b="1" i="0" lang="en-US" sz="1250" u="none" cap="none" strike="noStrike">
                <a:solidFill>
                  <a:srgbClr val="1D2A5C"/>
                </a:solidFill>
                <a:latin typeface="Calibri"/>
                <a:ea typeface="Calibri"/>
                <a:cs typeface="Calibri"/>
                <a:sym typeface="Calibri"/>
              </a:rPr>
              <a:t>Occlusion &amp; noise</a:t>
            </a:r>
            <a:endParaRPr b="0" i="0" sz="1250" u="none" cap="none" strike="noStrike">
              <a:solidFill>
                <a:schemeClr val="dk1"/>
              </a:solidFill>
              <a:latin typeface="Calibri"/>
              <a:ea typeface="Calibri"/>
              <a:cs typeface="Calibri"/>
              <a:sym typeface="Calibri"/>
            </a:endParaRPr>
          </a:p>
        </p:txBody>
      </p:sp>
      <p:sp>
        <p:nvSpPr>
          <p:cNvPr id="559" name="Google Shape;559;p18"/>
          <p:cNvSpPr/>
          <p:nvPr/>
        </p:nvSpPr>
        <p:spPr>
          <a:xfrm>
            <a:off x="685800" y="4782312"/>
            <a:ext cx="5090008" cy="14630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5F6B7A"/>
              </a:buClr>
              <a:buSzPts val="1100"/>
              <a:buFont typeface="Calibri"/>
              <a:buNone/>
            </a:pPr>
            <a:r>
              <a:rPr b="0" i="0" lang="en-US" sz="1100" u="none" cap="none" strike="noStrike">
                <a:solidFill>
                  <a:srgbClr val="5F6B7A"/>
                </a:solidFill>
                <a:latin typeface="Calibri"/>
                <a:ea typeface="Calibri"/>
                <a:cs typeface="Calibri"/>
                <a:sym typeface="Calibri"/>
              </a:rPr>
              <a:t>Random erasing, ISO noise, motion blur (conveyor speed!), dust simulation — modelling Gulf-environment degradations.</a:t>
            </a:r>
            <a:endParaRPr b="0" i="0" sz="1100" u="none" cap="none" strike="noStrike">
              <a:solidFill>
                <a:schemeClr val="dk1"/>
              </a:solidFill>
              <a:latin typeface="Calibri"/>
              <a:ea typeface="Calibri"/>
              <a:cs typeface="Calibri"/>
              <a:sym typeface="Calibri"/>
            </a:endParaRPr>
          </a:p>
        </p:txBody>
      </p:sp>
      <p:sp>
        <p:nvSpPr>
          <p:cNvPr id="560" name="Google Shape;560;p18"/>
          <p:cNvSpPr/>
          <p:nvPr/>
        </p:nvSpPr>
        <p:spPr>
          <a:xfrm>
            <a:off x="6233008" y="4251960"/>
            <a:ext cx="5455768" cy="2103120"/>
          </a:xfrm>
          <a:prstGeom prst="roundRect">
            <a:avLst>
              <a:gd fmla="val 3478" name="adj"/>
            </a:avLst>
          </a:prstGeom>
          <a:solidFill>
            <a:srgbClr val="F2F6F9"/>
          </a:solidFill>
          <a:ln cap="flat" cmpd="sng" w="12700">
            <a:solidFill>
              <a:srgbClr val="D9E2E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1" name="Google Shape;561;p18"/>
          <p:cNvSpPr/>
          <p:nvPr/>
        </p:nvSpPr>
        <p:spPr>
          <a:xfrm>
            <a:off x="6397600" y="4398264"/>
            <a:ext cx="310896" cy="310896"/>
          </a:xfrm>
          <a:prstGeom prst="ellipse">
            <a:avLst/>
          </a:prstGeom>
          <a:solidFill>
            <a:srgbClr val="8DC63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2" name="Google Shape;562;p18"/>
          <p:cNvSpPr/>
          <p:nvPr/>
        </p:nvSpPr>
        <p:spPr>
          <a:xfrm>
            <a:off x="6397600" y="4398264"/>
            <a:ext cx="310896" cy="31089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200"/>
              <a:buFont typeface="Calibri"/>
              <a:buNone/>
            </a:pPr>
            <a:r>
              <a:rPr b="1" i="0" lang="en-US" sz="1200" u="none" cap="none" strike="noStrike">
                <a:solidFill>
                  <a:srgbClr val="FFFFFF"/>
                </a:solidFill>
                <a:latin typeface="Calibri"/>
                <a:ea typeface="Calibri"/>
                <a:cs typeface="Calibri"/>
                <a:sym typeface="Calibri"/>
              </a:rPr>
              <a:t>4</a:t>
            </a:r>
            <a:endParaRPr b="0" i="0" sz="1200" u="none" cap="none" strike="noStrike">
              <a:solidFill>
                <a:schemeClr val="dk1"/>
              </a:solidFill>
              <a:latin typeface="Calibri"/>
              <a:ea typeface="Calibri"/>
              <a:cs typeface="Calibri"/>
              <a:sym typeface="Calibri"/>
            </a:endParaRPr>
          </a:p>
        </p:txBody>
      </p:sp>
      <p:sp>
        <p:nvSpPr>
          <p:cNvPr id="563" name="Google Shape;563;p18"/>
          <p:cNvSpPr/>
          <p:nvPr/>
        </p:nvSpPr>
        <p:spPr>
          <a:xfrm>
            <a:off x="6818224" y="4361688"/>
            <a:ext cx="4724248" cy="38404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D2A5C"/>
              </a:buClr>
              <a:buSzPts val="1250"/>
              <a:buFont typeface="Calibri"/>
              <a:buNone/>
            </a:pPr>
            <a:r>
              <a:rPr b="1" i="0" lang="en-US" sz="1250" u="none" cap="none" strike="noStrike">
                <a:solidFill>
                  <a:srgbClr val="1D2A5C"/>
                </a:solidFill>
                <a:latin typeface="Calibri"/>
                <a:ea typeface="Calibri"/>
                <a:cs typeface="Calibri"/>
                <a:sym typeface="Calibri"/>
              </a:rPr>
              <a:t>Policy strength</a:t>
            </a:r>
            <a:endParaRPr b="0" i="0" sz="1250" u="none" cap="none" strike="noStrike">
              <a:solidFill>
                <a:schemeClr val="dk1"/>
              </a:solidFill>
              <a:latin typeface="Calibri"/>
              <a:ea typeface="Calibri"/>
              <a:cs typeface="Calibri"/>
              <a:sym typeface="Calibri"/>
            </a:endParaRPr>
          </a:p>
        </p:txBody>
      </p:sp>
      <p:sp>
        <p:nvSpPr>
          <p:cNvPr id="564" name="Google Shape;564;p18"/>
          <p:cNvSpPr/>
          <p:nvPr/>
        </p:nvSpPr>
        <p:spPr>
          <a:xfrm>
            <a:off x="6415888" y="4782312"/>
            <a:ext cx="5090008" cy="14630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5F6B7A"/>
              </a:buClr>
              <a:buSzPts val="1100"/>
              <a:buFont typeface="Calibri"/>
              <a:buNone/>
            </a:pPr>
            <a:r>
              <a:rPr b="0" i="0" lang="en-US" sz="1100" u="none" cap="none" strike="noStrike">
                <a:solidFill>
                  <a:srgbClr val="5F6B7A"/>
                </a:solidFill>
                <a:latin typeface="Calibri"/>
                <a:ea typeface="Calibri"/>
                <a:cs typeface="Calibri"/>
                <a:sym typeface="Calibri"/>
              </a:rPr>
              <a:t>Too weak underfits robustness; too strong destroys labels. Habit: render 32 augmented samples and LOOK before training.</a:t>
            </a:r>
            <a:endParaRPr b="0" i="0" sz="1100" u="none" cap="none" strike="noStrike">
              <a:solidFill>
                <a:schemeClr val="dk1"/>
              </a:solidFill>
              <a:latin typeface="Calibri"/>
              <a:ea typeface="Calibri"/>
              <a:cs typeface="Calibri"/>
              <a:sym typeface="Calibri"/>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69" name="Shape 569"/>
        <p:cNvGrpSpPr/>
        <p:nvPr/>
      </p:nvGrpSpPr>
      <p:grpSpPr>
        <a:xfrm>
          <a:off x="0" y="0"/>
          <a:ext cx="0" cy="0"/>
          <a:chOff x="0" y="0"/>
          <a:chExt cx="0" cy="0"/>
        </a:xfrm>
      </p:grpSpPr>
      <p:sp>
        <p:nvSpPr>
          <p:cNvPr id="570" name="Google Shape;570;p19"/>
          <p:cNvSpPr/>
          <p:nvPr/>
        </p:nvSpPr>
        <p:spPr>
          <a:xfrm>
            <a:off x="502920" y="274320"/>
            <a:ext cx="9646920" cy="56692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D2A5C"/>
              </a:buClr>
              <a:buSzPts val="2700"/>
              <a:buFont typeface="Calibri"/>
              <a:buNone/>
            </a:pPr>
            <a:r>
              <a:rPr b="1" i="0" lang="en-US" sz="2700" u="none" cap="none" strike="noStrike">
                <a:solidFill>
                  <a:srgbClr val="1D2A5C"/>
                </a:solidFill>
                <a:latin typeface="Calibri"/>
                <a:ea typeface="Calibri"/>
                <a:cs typeface="Calibri"/>
                <a:sym typeface="Calibri"/>
              </a:rPr>
              <a:t>Input pipelines that keep the GPU fed</a:t>
            </a:r>
            <a:endParaRPr b="0" i="0" sz="2700" u="none" cap="none" strike="noStrike">
              <a:solidFill>
                <a:schemeClr val="dk1"/>
              </a:solidFill>
              <a:latin typeface="Calibri"/>
              <a:ea typeface="Calibri"/>
              <a:cs typeface="Calibri"/>
              <a:sym typeface="Calibri"/>
            </a:endParaRPr>
          </a:p>
        </p:txBody>
      </p:sp>
      <p:sp>
        <p:nvSpPr>
          <p:cNvPr id="571" name="Google Shape;571;p19"/>
          <p:cNvSpPr/>
          <p:nvPr/>
        </p:nvSpPr>
        <p:spPr>
          <a:xfrm>
            <a:off x="502920" y="859536"/>
            <a:ext cx="9646920" cy="31089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F6B7A"/>
              </a:buClr>
              <a:buSzPts val="1250"/>
              <a:buFont typeface="Arial"/>
              <a:buNone/>
            </a:pPr>
            <a:r>
              <a:rPr b="0" i="0" lang="en-US" sz="1250" u="none" cap="none" strike="noStrike">
                <a:solidFill>
                  <a:srgbClr val="5F6B7A"/>
                </a:solidFill>
                <a:latin typeface="Arial"/>
                <a:ea typeface="Arial"/>
                <a:cs typeface="Arial"/>
                <a:sym typeface="Arial"/>
              </a:rPr>
              <a:t>خطوط إدخال تُبقي المعالج الرسومي مشغولاً</a:t>
            </a:r>
            <a:endParaRPr b="0" i="0" sz="1250" u="none" cap="none" strike="noStrike">
              <a:solidFill>
                <a:schemeClr val="dk1"/>
              </a:solidFill>
              <a:latin typeface="Calibri"/>
              <a:ea typeface="Calibri"/>
              <a:cs typeface="Calibri"/>
              <a:sym typeface="Calibri"/>
            </a:endParaRPr>
          </a:p>
        </p:txBody>
      </p:sp>
      <p:pic>
        <p:nvPicPr>
          <p:cNvPr descr="/sessions/blissful-determined-ritchie/build/assets/sdaia_logo.png" id="572" name="Google Shape;572;p19"/>
          <p:cNvPicPr preferRelativeResize="0"/>
          <p:nvPr/>
        </p:nvPicPr>
        <p:blipFill rotWithShape="1">
          <a:blip r:embed="rId3">
            <a:alphaModFix/>
          </a:blip>
          <a:srcRect b="0" l="0" r="0" t="0"/>
          <a:stretch/>
        </p:blipFill>
        <p:spPr>
          <a:xfrm>
            <a:off x="10625328" y="310896"/>
            <a:ext cx="1078992" cy="264111"/>
          </a:xfrm>
          <a:prstGeom prst="rect">
            <a:avLst/>
          </a:prstGeom>
          <a:noFill/>
          <a:ln>
            <a:noFill/>
          </a:ln>
        </p:spPr>
      </p:pic>
      <p:sp>
        <p:nvSpPr>
          <p:cNvPr id="573" name="Google Shape;573;p19"/>
          <p:cNvSpPr/>
          <p:nvPr/>
        </p:nvSpPr>
        <p:spPr>
          <a:xfrm>
            <a:off x="502920" y="6528816"/>
            <a:ext cx="8686800"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A79D"/>
              </a:buClr>
              <a:buSzPts val="800"/>
              <a:buFont typeface="Calibri"/>
              <a:buNone/>
            </a:pPr>
            <a:r>
              <a:rPr b="1" i="0" lang="en-US" sz="800" u="none" cap="none" strike="noStrike">
                <a:solidFill>
                  <a:srgbClr val="00A79D"/>
                </a:solidFill>
                <a:latin typeface="Calibri"/>
                <a:ea typeface="Calibri"/>
                <a:cs typeface="Calibri"/>
                <a:sym typeface="Calibri"/>
              </a:rPr>
              <a:t>MODULE 1   </a:t>
            </a:r>
            <a:r>
              <a:rPr b="0" i="0" lang="en-US" sz="800" u="none" cap="none" strike="noStrike">
                <a:solidFill>
                  <a:srgbClr val="8A96A6"/>
                </a:solidFill>
                <a:latin typeface="Calibri"/>
                <a:ea typeface="Calibri"/>
                <a:cs typeface="Calibri"/>
                <a:sym typeface="Calibri"/>
              </a:rPr>
              <a:t>SDA-AIE-212 · Computer Vision Systems Development</a:t>
            </a:r>
            <a:endParaRPr b="0" i="0" sz="800" u="none" cap="none" strike="noStrike">
              <a:solidFill>
                <a:schemeClr val="dk1"/>
              </a:solidFill>
              <a:latin typeface="Calibri"/>
              <a:ea typeface="Calibri"/>
              <a:cs typeface="Calibri"/>
              <a:sym typeface="Calibri"/>
            </a:endParaRPr>
          </a:p>
        </p:txBody>
      </p:sp>
      <p:sp>
        <p:nvSpPr>
          <p:cNvPr id="574" name="Google Shape;574;p19"/>
          <p:cNvSpPr/>
          <p:nvPr/>
        </p:nvSpPr>
        <p:spPr>
          <a:xfrm>
            <a:off x="11292840" y="6528816"/>
            <a:ext cx="411480" cy="219456"/>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8A96A6"/>
              </a:buClr>
              <a:buSzPts val="900"/>
              <a:buFont typeface="Calibri"/>
              <a:buNone/>
            </a:pPr>
            <a:r>
              <a:rPr b="0" i="0" lang="en-US" sz="900" u="none" cap="none" strike="noStrike">
                <a:solidFill>
                  <a:srgbClr val="8A96A6"/>
                </a:solidFill>
                <a:latin typeface="Calibri"/>
                <a:ea typeface="Calibri"/>
                <a:cs typeface="Calibri"/>
                <a:sym typeface="Calibri"/>
              </a:rPr>
              <a:t>19</a:t>
            </a:r>
            <a:endParaRPr b="0" i="0" sz="900" u="none" cap="none" strike="noStrike">
              <a:solidFill>
                <a:schemeClr val="dk1"/>
              </a:solidFill>
              <a:latin typeface="Calibri"/>
              <a:ea typeface="Calibri"/>
              <a:cs typeface="Calibri"/>
              <a:sym typeface="Calibri"/>
            </a:endParaRPr>
          </a:p>
        </p:txBody>
      </p:sp>
      <p:sp>
        <p:nvSpPr>
          <p:cNvPr id="575" name="Google Shape;575;p19"/>
          <p:cNvSpPr/>
          <p:nvPr/>
        </p:nvSpPr>
        <p:spPr>
          <a:xfrm>
            <a:off x="502920" y="1559052"/>
            <a:ext cx="329184" cy="329184"/>
          </a:xfrm>
          <a:prstGeom prst="ellipse">
            <a:avLst/>
          </a:prstGeom>
          <a:solidFill>
            <a:srgbClr val="00A79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6" name="Google Shape;576;p19"/>
          <p:cNvSpPr/>
          <p:nvPr/>
        </p:nvSpPr>
        <p:spPr>
          <a:xfrm>
            <a:off x="502920" y="1559052"/>
            <a:ext cx="329184" cy="32918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300"/>
              <a:buFont typeface="Calibri"/>
              <a:buNone/>
            </a:pPr>
            <a:r>
              <a:rPr b="1" i="0" lang="en-US" sz="1300" u="none" cap="none" strike="noStrike">
                <a:solidFill>
                  <a:srgbClr val="FFFFFF"/>
                </a:solidFill>
                <a:latin typeface="Calibri"/>
                <a:ea typeface="Calibri"/>
                <a:cs typeface="Calibri"/>
                <a:sym typeface="Calibri"/>
              </a:rPr>
              <a:t>1</a:t>
            </a:r>
            <a:endParaRPr b="0" i="0" sz="1300" u="none" cap="none" strike="noStrike">
              <a:solidFill>
                <a:schemeClr val="dk1"/>
              </a:solidFill>
              <a:latin typeface="Calibri"/>
              <a:ea typeface="Calibri"/>
              <a:cs typeface="Calibri"/>
              <a:sym typeface="Calibri"/>
            </a:endParaRPr>
          </a:p>
        </p:txBody>
      </p:sp>
      <p:sp>
        <p:nvSpPr>
          <p:cNvPr id="577" name="Google Shape;577;p19"/>
          <p:cNvSpPr/>
          <p:nvPr/>
        </p:nvSpPr>
        <p:spPr>
          <a:xfrm>
            <a:off x="1005840" y="1495044"/>
            <a:ext cx="493776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D2A5C"/>
              </a:buClr>
              <a:buSzPts val="1400"/>
              <a:buFont typeface="Calibri"/>
              <a:buNone/>
            </a:pPr>
            <a:r>
              <a:rPr b="1" i="0" lang="en-US" sz="1400" u="none" cap="none" strike="noStrike">
                <a:solidFill>
                  <a:srgbClr val="1D2A5C"/>
                </a:solidFill>
                <a:latin typeface="Calibri"/>
                <a:ea typeface="Calibri"/>
                <a:cs typeface="Calibri"/>
                <a:sym typeface="Calibri"/>
              </a:rPr>
              <a:t>Parallelise the loader</a:t>
            </a:r>
            <a:endParaRPr b="0" i="0" sz="1400" u="none" cap="none" strike="noStrike">
              <a:solidFill>
                <a:schemeClr val="dk1"/>
              </a:solidFill>
              <a:latin typeface="Calibri"/>
              <a:ea typeface="Calibri"/>
              <a:cs typeface="Calibri"/>
              <a:sym typeface="Calibri"/>
            </a:endParaRPr>
          </a:p>
        </p:txBody>
      </p:sp>
      <p:sp>
        <p:nvSpPr>
          <p:cNvPr id="578" name="Google Shape;578;p19"/>
          <p:cNvSpPr/>
          <p:nvPr/>
        </p:nvSpPr>
        <p:spPr>
          <a:xfrm>
            <a:off x="1005840" y="1796796"/>
            <a:ext cx="4937760" cy="841248"/>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5F6B7A"/>
              </a:buClr>
              <a:buSzPts val="1150"/>
              <a:buFont typeface="Calibri"/>
              <a:buNone/>
            </a:pPr>
            <a:r>
              <a:rPr b="0" i="0" lang="en-US" sz="1150" u="none" cap="none" strike="noStrike">
                <a:solidFill>
                  <a:srgbClr val="5F6B7A"/>
                </a:solidFill>
                <a:latin typeface="Calibri"/>
                <a:ea typeface="Calibri"/>
                <a:cs typeface="Calibri"/>
                <a:sym typeface="Calibri"/>
              </a:rPr>
              <a:t>DataLoader runs __getitem__ across num_workers; pin_memory=True speeds host-to-GPU copies</a:t>
            </a:r>
            <a:endParaRPr b="0" i="0" sz="1150" u="none" cap="none" strike="noStrike">
              <a:solidFill>
                <a:schemeClr val="dk1"/>
              </a:solidFill>
              <a:latin typeface="Calibri"/>
              <a:ea typeface="Calibri"/>
              <a:cs typeface="Calibri"/>
              <a:sym typeface="Calibri"/>
            </a:endParaRPr>
          </a:p>
        </p:txBody>
      </p:sp>
      <p:sp>
        <p:nvSpPr>
          <p:cNvPr id="579" name="Google Shape;579;p19"/>
          <p:cNvSpPr/>
          <p:nvPr/>
        </p:nvSpPr>
        <p:spPr>
          <a:xfrm>
            <a:off x="502920" y="2747772"/>
            <a:ext cx="329184" cy="329184"/>
          </a:xfrm>
          <a:prstGeom prst="ellipse">
            <a:avLst/>
          </a:prstGeom>
          <a:solidFill>
            <a:srgbClr val="29ABE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0" name="Google Shape;580;p19"/>
          <p:cNvSpPr/>
          <p:nvPr/>
        </p:nvSpPr>
        <p:spPr>
          <a:xfrm>
            <a:off x="502920" y="2747772"/>
            <a:ext cx="329184" cy="32918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300"/>
              <a:buFont typeface="Calibri"/>
              <a:buNone/>
            </a:pPr>
            <a:r>
              <a:rPr b="1" i="0" lang="en-US" sz="1300" u="none" cap="none" strike="noStrike">
                <a:solidFill>
                  <a:srgbClr val="FFFFFF"/>
                </a:solidFill>
                <a:latin typeface="Calibri"/>
                <a:ea typeface="Calibri"/>
                <a:cs typeface="Calibri"/>
                <a:sym typeface="Calibri"/>
              </a:rPr>
              <a:t>2</a:t>
            </a:r>
            <a:endParaRPr b="0" i="0" sz="1300" u="none" cap="none" strike="noStrike">
              <a:solidFill>
                <a:schemeClr val="dk1"/>
              </a:solidFill>
              <a:latin typeface="Calibri"/>
              <a:ea typeface="Calibri"/>
              <a:cs typeface="Calibri"/>
              <a:sym typeface="Calibri"/>
            </a:endParaRPr>
          </a:p>
        </p:txBody>
      </p:sp>
      <p:sp>
        <p:nvSpPr>
          <p:cNvPr id="581" name="Google Shape;581;p19"/>
          <p:cNvSpPr/>
          <p:nvPr/>
        </p:nvSpPr>
        <p:spPr>
          <a:xfrm>
            <a:off x="1005840" y="2683764"/>
            <a:ext cx="493776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D2A5C"/>
              </a:buClr>
              <a:buSzPts val="1400"/>
              <a:buFont typeface="Calibri"/>
              <a:buNone/>
            </a:pPr>
            <a:r>
              <a:rPr b="1" i="0" lang="en-US" sz="1400" u="none" cap="none" strike="noStrike">
                <a:solidFill>
                  <a:srgbClr val="1D2A5C"/>
                </a:solidFill>
                <a:latin typeface="Calibri"/>
                <a:ea typeface="Calibri"/>
                <a:cs typeface="Calibri"/>
                <a:sym typeface="Calibri"/>
              </a:rPr>
              <a:t>Measure, don't guess</a:t>
            </a:r>
            <a:endParaRPr b="0" i="0" sz="1400" u="none" cap="none" strike="noStrike">
              <a:solidFill>
                <a:schemeClr val="dk1"/>
              </a:solidFill>
              <a:latin typeface="Calibri"/>
              <a:ea typeface="Calibri"/>
              <a:cs typeface="Calibri"/>
              <a:sym typeface="Calibri"/>
            </a:endParaRPr>
          </a:p>
        </p:txBody>
      </p:sp>
      <p:sp>
        <p:nvSpPr>
          <p:cNvPr id="582" name="Google Shape;582;p19"/>
          <p:cNvSpPr/>
          <p:nvPr/>
        </p:nvSpPr>
        <p:spPr>
          <a:xfrm>
            <a:off x="1005840" y="2985516"/>
            <a:ext cx="4937760" cy="841248"/>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5F6B7A"/>
              </a:buClr>
              <a:buSzPts val="1150"/>
              <a:buFont typeface="Calibri"/>
              <a:buNone/>
            </a:pPr>
            <a:r>
              <a:rPr b="0" i="0" lang="en-US" sz="1150" u="none" cap="none" strike="noStrike">
                <a:solidFill>
                  <a:srgbClr val="5F6B7A"/>
                </a:solidFill>
                <a:latin typeface="Calibri"/>
                <a:ea typeface="Calibri"/>
                <a:cs typeface="Calibri"/>
                <a:sym typeface="Calibri"/>
              </a:rPr>
              <a:t>Sawtooth GPU utilisation means the pipeline is the bottleneck, not the model</a:t>
            </a:r>
            <a:endParaRPr b="0" i="0" sz="1150" u="none" cap="none" strike="noStrike">
              <a:solidFill>
                <a:schemeClr val="dk1"/>
              </a:solidFill>
              <a:latin typeface="Calibri"/>
              <a:ea typeface="Calibri"/>
              <a:cs typeface="Calibri"/>
              <a:sym typeface="Calibri"/>
            </a:endParaRPr>
          </a:p>
        </p:txBody>
      </p:sp>
      <p:sp>
        <p:nvSpPr>
          <p:cNvPr id="583" name="Google Shape;583;p19"/>
          <p:cNvSpPr/>
          <p:nvPr/>
        </p:nvSpPr>
        <p:spPr>
          <a:xfrm>
            <a:off x="502920" y="3936492"/>
            <a:ext cx="329184" cy="329184"/>
          </a:xfrm>
          <a:prstGeom prst="ellipse">
            <a:avLst/>
          </a:prstGeom>
          <a:solidFill>
            <a:srgbClr val="F5822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4" name="Google Shape;584;p19"/>
          <p:cNvSpPr/>
          <p:nvPr/>
        </p:nvSpPr>
        <p:spPr>
          <a:xfrm>
            <a:off x="502920" y="3936492"/>
            <a:ext cx="329184" cy="32918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300"/>
              <a:buFont typeface="Calibri"/>
              <a:buNone/>
            </a:pPr>
            <a:r>
              <a:rPr b="1" i="0" lang="en-US" sz="1300" u="none" cap="none" strike="noStrike">
                <a:solidFill>
                  <a:srgbClr val="FFFFFF"/>
                </a:solidFill>
                <a:latin typeface="Calibri"/>
                <a:ea typeface="Calibri"/>
                <a:cs typeface="Calibri"/>
                <a:sym typeface="Calibri"/>
              </a:rPr>
              <a:t>3</a:t>
            </a:r>
            <a:endParaRPr b="0" i="0" sz="1300" u="none" cap="none" strike="noStrike">
              <a:solidFill>
                <a:schemeClr val="dk1"/>
              </a:solidFill>
              <a:latin typeface="Calibri"/>
              <a:ea typeface="Calibri"/>
              <a:cs typeface="Calibri"/>
              <a:sym typeface="Calibri"/>
            </a:endParaRPr>
          </a:p>
        </p:txBody>
      </p:sp>
      <p:sp>
        <p:nvSpPr>
          <p:cNvPr id="585" name="Google Shape;585;p19"/>
          <p:cNvSpPr/>
          <p:nvPr/>
        </p:nvSpPr>
        <p:spPr>
          <a:xfrm>
            <a:off x="1005840" y="3872484"/>
            <a:ext cx="493776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D2A5C"/>
              </a:buClr>
              <a:buSzPts val="1400"/>
              <a:buFont typeface="Calibri"/>
              <a:buNone/>
            </a:pPr>
            <a:r>
              <a:rPr b="1" i="0" lang="en-US" sz="1400" u="none" cap="none" strike="noStrike">
                <a:solidFill>
                  <a:srgbClr val="1D2A5C"/>
                </a:solidFill>
                <a:latin typeface="Calibri"/>
                <a:ea typeface="Calibri"/>
                <a:cs typeface="Calibri"/>
                <a:sym typeface="Calibri"/>
              </a:rPr>
              <a:t>Decode cost dominates</a:t>
            </a:r>
            <a:endParaRPr b="0" i="0" sz="1400" u="none" cap="none" strike="noStrike">
              <a:solidFill>
                <a:schemeClr val="dk1"/>
              </a:solidFill>
              <a:latin typeface="Calibri"/>
              <a:ea typeface="Calibri"/>
              <a:cs typeface="Calibri"/>
              <a:sym typeface="Calibri"/>
            </a:endParaRPr>
          </a:p>
        </p:txBody>
      </p:sp>
      <p:sp>
        <p:nvSpPr>
          <p:cNvPr id="586" name="Google Shape;586;p19"/>
          <p:cNvSpPr/>
          <p:nvPr/>
        </p:nvSpPr>
        <p:spPr>
          <a:xfrm>
            <a:off x="1005840" y="4174236"/>
            <a:ext cx="4937760" cy="841248"/>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5F6B7A"/>
              </a:buClr>
              <a:buSzPts val="1150"/>
              <a:buFont typeface="Calibri"/>
              <a:buNone/>
            </a:pPr>
            <a:r>
              <a:rPr b="0" i="0" lang="en-US" sz="1150" u="none" cap="none" strike="noStrike">
                <a:solidFill>
                  <a:srgbClr val="5F6B7A"/>
                </a:solidFill>
                <a:latin typeface="Calibri"/>
                <a:ea typeface="Calibri"/>
                <a:cs typeface="Calibri"/>
                <a:sym typeface="Calibri"/>
              </a:rPr>
              <a:t>JPEG decode of a 1280x1024 frame is 8-12 ms on CPU; resize-on-disk first, then more workers</a:t>
            </a:r>
            <a:endParaRPr b="0" i="0" sz="1150" u="none" cap="none" strike="noStrike">
              <a:solidFill>
                <a:schemeClr val="dk1"/>
              </a:solidFill>
              <a:latin typeface="Calibri"/>
              <a:ea typeface="Calibri"/>
              <a:cs typeface="Calibri"/>
              <a:sym typeface="Calibri"/>
            </a:endParaRPr>
          </a:p>
        </p:txBody>
      </p:sp>
      <p:sp>
        <p:nvSpPr>
          <p:cNvPr id="587" name="Google Shape;587;p19"/>
          <p:cNvSpPr/>
          <p:nvPr/>
        </p:nvSpPr>
        <p:spPr>
          <a:xfrm>
            <a:off x="502920" y="5125212"/>
            <a:ext cx="329184" cy="329184"/>
          </a:xfrm>
          <a:prstGeom prst="ellipse">
            <a:avLst/>
          </a:prstGeom>
          <a:solidFill>
            <a:srgbClr val="8DC63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8" name="Google Shape;588;p19"/>
          <p:cNvSpPr/>
          <p:nvPr/>
        </p:nvSpPr>
        <p:spPr>
          <a:xfrm>
            <a:off x="502920" y="5125212"/>
            <a:ext cx="329184" cy="32918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300"/>
              <a:buFont typeface="Calibri"/>
              <a:buNone/>
            </a:pPr>
            <a:r>
              <a:rPr b="1" i="0" lang="en-US" sz="1300" u="none" cap="none" strike="noStrike">
                <a:solidFill>
                  <a:srgbClr val="FFFFFF"/>
                </a:solidFill>
                <a:latin typeface="Calibri"/>
                <a:ea typeface="Calibri"/>
                <a:cs typeface="Calibri"/>
                <a:sym typeface="Calibri"/>
              </a:rPr>
              <a:t>4</a:t>
            </a:r>
            <a:endParaRPr b="0" i="0" sz="1300" u="none" cap="none" strike="noStrike">
              <a:solidFill>
                <a:schemeClr val="dk1"/>
              </a:solidFill>
              <a:latin typeface="Calibri"/>
              <a:ea typeface="Calibri"/>
              <a:cs typeface="Calibri"/>
              <a:sym typeface="Calibri"/>
            </a:endParaRPr>
          </a:p>
        </p:txBody>
      </p:sp>
      <p:sp>
        <p:nvSpPr>
          <p:cNvPr id="589" name="Google Shape;589;p19"/>
          <p:cNvSpPr/>
          <p:nvPr/>
        </p:nvSpPr>
        <p:spPr>
          <a:xfrm>
            <a:off x="1005840" y="5061204"/>
            <a:ext cx="493776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D2A5C"/>
              </a:buClr>
              <a:buSzPts val="1400"/>
              <a:buFont typeface="Calibri"/>
              <a:buNone/>
            </a:pPr>
            <a:r>
              <a:rPr b="1" i="0" lang="en-US" sz="1400" u="none" cap="none" strike="noStrike">
                <a:solidFill>
                  <a:srgbClr val="1D2A5C"/>
                </a:solidFill>
                <a:latin typeface="Calibri"/>
                <a:ea typeface="Calibri"/>
                <a:cs typeface="Calibri"/>
                <a:sym typeface="Calibri"/>
              </a:rPr>
              <a:t>Deterministic eval loading</a:t>
            </a:r>
            <a:endParaRPr b="0" i="0" sz="1400" u="none" cap="none" strike="noStrike">
              <a:solidFill>
                <a:schemeClr val="dk1"/>
              </a:solidFill>
              <a:latin typeface="Calibri"/>
              <a:ea typeface="Calibri"/>
              <a:cs typeface="Calibri"/>
              <a:sym typeface="Calibri"/>
            </a:endParaRPr>
          </a:p>
        </p:txBody>
      </p:sp>
      <p:sp>
        <p:nvSpPr>
          <p:cNvPr id="590" name="Google Shape;590;p19"/>
          <p:cNvSpPr/>
          <p:nvPr/>
        </p:nvSpPr>
        <p:spPr>
          <a:xfrm>
            <a:off x="1005840" y="5362956"/>
            <a:ext cx="4937760" cy="841248"/>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5F6B7A"/>
              </a:buClr>
              <a:buSzPts val="1150"/>
              <a:buFont typeface="Calibri"/>
              <a:buNone/>
            </a:pPr>
            <a:r>
              <a:rPr b="0" i="0" lang="en-US" sz="1150" u="none" cap="none" strike="noStrike">
                <a:solidFill>
                  <a:srgbClr val="5F6B7A"/>
                </a:solidFill>
                <a:latin typeface="Calibri"/>
                <a:ea typeface="Calibri"/>
                <a:cs typeface="Calibri"/>
                <a:sym typeface="Calibri"/>
              </a:rPr>
              <a:t>shuffle=False, fixed worker seeds, frozen file list — M6 must repeat exactly</a:t>
            </a:r>
            <a:endParaRPr b="0" i="0" sz="1150" u="none" cap="none" strike="noStrike">
              <a:solidFill>
                <a:schemeClr val="dk1"/>
              </a:solidFill>
              <a:latin typeface="Calibri"/>
              <a:ea typeface="Calibri"/>
              <a:cs typeface="Calibri"/>
              <a:sym typeface="Calibri"/>
            </a:endParaRPr>
          </a:p>
        </p:txBody>
      </p:sp>
      <p:sp>
        <p:nvSpPr>
          <p:cNvPr id="591" name="Google Shape;591;p19"/>
          <p:cNvSpPr/>
          <p:nvPr/>
        </p:nvSpPr>
        <p:spPr>
          <a:xfrm>
            <a:off x="6355080" y="2775204"/>
            <a:ext cx="1563624" cy="2194560"/>
          </a:xfrm>
          <a:prstGeom prst="roundRect">
            <a:avLst>
              <a:gd fmla="val 5263" name="adj"/>
            </a:avLst>
          </a:prstGeom>
          <a:solidFill>
            <a:srgbClr val="E9F6F5"/>
          </a:solidFill>
          <a:ln cap="flat" cmpd="sng" w="12700">
            <a:solidFill>
              <a:srgbClr val="D9E2E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2" name="Google Shape;592;p19"/>
          <p:cNvSpPr/>
          <p:nvPr/>
        </p:nvSpPr>
        <p:spPr>
          <a:xfrm>
            <a:off x="6446520" y="2884932"/>
            <a:ext cx="1380744" cy="96560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0A79D"/>
              </a:buClr>
              <a:buSzPts val="3800"/>
              <a:buFont typeface="Calibri"/>
              <a:buNone/>
            </a:pPr>
            <a:r>
              <a:rPr b="1" i="0" lang="en-US" sz="3800" u="none" cap="none" strike="noStrike">
                <a:solidFill>
                  <a:srgbClr val="00A79D"/>
                </a:solidFill>
                <a:latin typeface="Calibri"/>
                <a:ea typeface="Calibri"/>
                <a:cs typeface="Calibri"/>
                <a:sym typeface="Calibri"/>
              </a:rPr>
              <a:t>400+</a:t>
            </a:r>
            <a:endParaRPr b="0" i="0" sz="3800" u="none" cap="none" strike="noStrike">
              <a:solidFill>
                <a:schemeClr val="dk1"/>
              </a:solidFill>
              <a:latin typeface="Calibri"/>
              <a:ea typeface="Calibri"/>
              <a:cs typeface="Calibri"/>
              <a:sym typeface="Calibri"/>
            </a:endParaRPr>
          </a:p>
        </p:txBody>
      </p:sp>
      <p:sp>
        <p:nvSpPr>
          <p:cNvPr id="593" name="Google Shape;593;p19"/>
          <p:cNvSpPr/>
          <p:nvPr/>
        </p:nvSpPr>
        <p:spPr>
          <a:xfrm>
            <a:off x="6492240" y="3916375"/>
            <a:ext cx="1289304" cy="32004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D2A5C"/>
              </a:buClr>
              <a:buSzPts val="1250"/>
              <a:buFont typeface="Calibri"/>
              <a:buNone/>
            </a:pPr>
            <a:r>
              <a:rPr b="1" i="0" lang="en-US" sz="1250" u="none" cap="none" strike="noStrike">
                <a:solidFill>
                  <a:srgbClr val="1D2A5C"/>
                </a:solidFill>
                <a:latin typeface="Calibri"/>
                <a:ea typeface="Calibri"/>
                <a:cs typeface="Calibri"/>
                <a:sym typeface="Calibri"/>
              </a:rPr>
              <a:t>img/s target @224</a:t>
            </a:r>
            <a:endParaRPr b="0" i="0" sz="1250" u="none" cap="none" strike="noStrike">
              <a:solidFill>
                <a:schemeClr val="dk1"/>
              </a:solidFill>
              <a:latin typeface="Calibri"/>
              <a:ea typeface="Calibri"/>
              <a:cs typeface="Calibri"/>
              <a:sym typeface="Calibri"/>
            </a:endParaRPr>
          </a:p>
        </p:txBody>
      </p:sp>
      <p:sp>
        <p:nvSpPr>
          <p:cNvPr id="594" name="Google Shape;594;p19"/>
          <p:cNvSpPr/>
          <p:nvPr/>
        </p:nvSpPr>
        <p:spPr>
          <a:xfrm>
            <a:off x="6492240" y="4263847"/>
            <a:ext cx="1289304" cy="658368"/>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rgbClr val="5F6B7A"/>
              </a:buClr>
              <a:buSzPts val="1000"/>
              <a:buFont typeface="Calibri"/>
              <a:buNone/>
            </a:pPr>
            <a:r>
              <a:rPr b="0" i="0" lang="en-US" sz="1000" u="none" cap="none" strike="noStrike">
                <a:solidFill>
                  <a:srgbClr val="5F6B7A"/>
                </a:solidFill>
                <a:latin typeface="Calibri"/>
                <a:ea typeface="Calibri"/>
                <a:cs typeface="Calibri"/>
                <a:sym typeface="Calibri"/>
              </a:rPr>
              <a:t>course rule of thumb</a:t>
            </a:r>
            <a:endParaRPr b="0" i="0" sz="1000" u="none" cap="none" strike="noStrike">
              <a:solidFill>
                <a:schemeClr val="dk1"/>
              </a:solidFill>
              <a:latin typeface="Calibri"/>
              <a:ea typeface="Calibri"/>
              <a:cs typeface="Calibri"/>
              <a:sym typeface="Calibri"/>
            </a:endParaRPr>
          </a:p>
        </p:txBody>
      </p:sp>
      <p:sp>
        <p:nvSpPr>
          <p:cNvPr id="595" name="Google Shape;595;p19"/>
          <p:cNvSpPr/>
          <p:nvPr/>
        </p:nvSpPr>
        <p:spPr>
          <a:xfrm>
            <a:off x="8238744" y="2775204"/>
            <a:ext cx="1563624" cy="2194560"/>
          </a:xfrm>
          <a:prstGeom prst="roundRect">
            <a:avLst>
              <a:gd fmla="val 5263" name="adj"/>
            </a:avLst>
          </a:prstGeom>
          <a:solidFill>
            <a:srgbClr val="F2F6F9"/>
          </a:solidFill>
          <a:ln cap="flat" cmpd="sng" w="12700">
            <a:solidFill>
              <a:srgbClr val="D9E2E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6" name="Google Shape;596;p19"/>
          <p:cNvSpPr/>
          <p:nvPr/>
        </p:nvSpPr>
        <p:spPr>
          <a:xfrm>
            <a:off x="8330184" y="2884932"/>
            <a:ext cx="1380744" cy="96560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9ABE2"/>
              </a:buClr>
              <a:buSzPts val="3800"/>
              <a:buFont typeface="Calibri"/>
              <a:buNone/>
            </a:pPr>
            <a:r>
              <a:rPr b="1" i="0" lang="en-US" sz="3800" u="none" cap="none" strike="noStrike">
                <a:solidFill>
                  <a:srgbClr val="29ABE2"/>
                </a:solidFill>
                <a:latin typeface="Calibri"/>
                <a:ea typeface="Calibri"/>
                <a:cs typeface="Calibri"/>
                <a:sym typeface="Calibri"/>
              </a:rPr>
              <a:t>465</a:t>
            </a:r>
            <a:endParaRPr b="0" i="0" sz="3800" u="none" cap="none" strike="noStrike">
              <a:solidFill>
                <a:schemeClr val="dk1"/>
              </a:solidFill>
              <a:latin typeface="Calibri"/>
              <a:ea typeface="Calibri"/>
              <a:cs typeface="Calibri"/>
              <a:sym typeface="Calibri"/>
            </a:endParaRPr>
          </a:p>
        </p:txBody>
      </p:sp>
      <p:sp>
        <p:nvSpPr>
          <p:cNvPr id="597" name="Google Shape;597;p19"/>
          <p:cNvSpPr/>
          <p:nvPr/>
        </p:nvSpPr>
        <p:spPr>
          <a:xfrm>
            <a:off x="8375904" y="3916375"/>
            <a:ext cx="1289304" cy="32004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D2A5C"/>
              </a:buClr>
              <a:buSzPts val="1250"/>
              <a:buFont typeface="Calibri"/>
              <a:buNone/>
            </a:pPr>
            <a:r>
              <a:rPr b="1" i="0" lang="en-US" sz="1250" u="none" cap="none" strike="noStrike">
                <a:solidFill>
                  <a:srgbClr val="1D2A5C"/>
                </a:solidFill>
                <a:latin typeface="Calibri"/>
                <a:ea typeface="Calibri"/>
                <a:cs typeface="Calibri"/>
                <a:sym typeface="Calibri"/>
              </a:rPr>
              <a:t>img/s, workers=8</a:t>
            </a:r>
            <a:endParaRPr b="0" i="0" sz="1250" u="none" cap="none" strike="noStrike">
              <a:solidFill>
                <a:schemeClr val="dk1"/>
              </a:solidFill>
              <a:latin typeface="Calibri"/>
              <a:ea typeface="Calibri"/>
              <a:cs typeface="Calibri"/>
              <a:sym typeface="Calibri"/>
            </a:endParaRPr>
          </a:p>
        </p:txBody>
      </p:sp>
      <p:sp>
        <p:nvSpPr>
          <p:cNvPr id="598" name="Google Shape;598;p19"/>
          <p:cNvSpPr/>
          <p:nvPr/>
        </p:nvSpPr>
        <p:spPr>
          <a:xfrm>
            <a:off x="8375904" y="4263847"/>
            <a:ext cx="1289304" cy="658368"/>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rgbClr val="5F6B7A"/>
              </a:buClr>
              <a:buSzPts val="1000"/>
              <a:buFont typeface="Calibri"/>
              <a:buNone/>
            </a:pPr>
            <a:r>
              <a:rPr b="0" i="0" lang="en-US" sz="1000" u="none" cap="none" strike="noStrike">
                <a:solidFill>
                  <a:srgbClr val="5F6B7A"/>
                </a:solidFill>
                <a:latin typeface="Calibri"/>
                <a:ea typeface="Calibri"/>
                <a:cs typeface="Calibri"/>
                <a:sym typeface="Calibri"/>
              </a:rPr>
              <a:t>vs 118 at workers=0</a:t>
            </a:r>
            <a:endParaRPr b="0" i="0" sz="1000" u="none" cap="none" strike="noStrike">
              <a:solidFill>
                <a:schemeClr val="dk1"/>
              </a:solidFill>
              <a:latin typeface="Calibri"/>
              <a:ea typeface="Calibri"/>
              <a:cs typeface="Calibri"/>
              <a:sym typeface="Calibri"/>
            </a:endParaRPr>
          </a:p>
        </p:txBody>
      </p:sp>
      <p:sp>
        <p:nvSpPr>
          <p:cNvPr id="599" name="Google Shape;599;p19"/>
          <p:cNvSpPr/>
          <p:nvPr/>
        </p:nvSpPr>
        <p:spPr>
          <a:xfrm>
            <a:off x="10122408" y="2775204"/>
            <a:ext cx="1563624" cy="2194560"/>
          </a:xfrm>
          <a:prstGeom prst="roundRect">
            <a:avLst>
              <a:gd fmla="val 5263" name="adj"/>
            </a:avLst>
          </a:prstGeom>
          <a:solidFill>
            <a:srgbClr val="F2F6F9"/>
          </a:solidFill>
          <a:ln cap="flat" cmpd="sng" w="12700">
            <a:solidFill>
              <a:srgbClr val="D9E2E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0" name="Google Shape;600;p19"/>
          <p:cNvSpPr/>
          <p:nvPr/>
        </p:nvSpPr>
        <p:spPr>
          <a:xfrm>
            <a:off x="10213848" y="2884932"/>
            <a:ext cx="1380744" cy="96560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58220"/>
              </a:buClr>
              <a:buSzPts val="3800"/>
              <a:buFont typeface="Calibri"/>
              <a:buNone/>
            </a:pPr>
            <a:r>
              <a:rPr b="1" i="0" lang="en-US" sz="3800" u="none" cap="none" strike="noStrike">
                <a:solidFill>
                  <a:srgbClr val="F58220"/>
                </a:solidFill>
                <a:latin typeface="Calibri"/>
                <a:ea typeface="Calibri"/>
                <a:cs typeface="Calibri"/>
                <a:sym typeface="Calibri"/>
              </a:rPr>
              <a:t>91%</a:t>
            </a:r>
            <a:endParaRPr b="0" i="0" sz="3800" u="none" cap="none" strike="noStrike">
              <a:solidFill>
                <a:schemeClr val="dk1"/>
              </a:solidFill>
              <a:latin typeface="Calibri"/>
              <a:ea typeface="Calibri"/>
              <a:cs typeface="Calibri"/>
              <a:sym typeface="Calibri"/>
            </a:endParaRPr>
          </a:p>
        </p:txBody>
      </p:sp>
      <p:sp>
        <p:nvSpPr>
          <p:cNvPr id="601" name="Google Shape;601;p19"/>
          <p:cNvSpPr/>
          <p:nvPr/>
        </p:nvSpPr>
        <p:spPr>
          <a:xfrm>
            <a:off x="10259568" y="3916375"/>
            <a:ext cx="1289304" cy="32004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D2A5C"/>
              </a:buClr>
              <a:buSzPts val="1250"/>
              <a:buFont typeface="Calibri"/>
              <a:buNone/>
            </a:pPr>
            <a:r>
              <a:rPr b="1" i="0" lang="en-US" sz="1250" u="none" cap="none" strike="noStrike">
                <a:solidFill>
                  <a:srgbClr val="1D2A5C"/>
                </a:solidFill>
                <a:latin typeface="Calibri"/>
                <a:ea typeface="Calibri"/>
                <a:cs typeface="Calibri"/>
                <a:sym typeface="Calibri"/>
              </a:rPr>
              <a:t>GPU util when fed</a:t>
            </a:r>
            <a:endParaRPr b="0" i="0" sz="1250" u="none" cap="none" strike="noStrike">
              <a:solidFill>
                <a:schemeClr val="dk1"/>
              </a:solidFill>
              <a:latin typeface="Calibri"/>
              <a:ea typeface="Calibri"/>
              <a:cs typeface="Calibri"/>
              <a:sym typeface="Calibri"/>
            </a:endParaRPr>
          </a:p>
        </p:txBody>
      </p:sp>
      <p:sp>
        <p:nvSpPr>
          <p:cNvPr id="602" name="Google Shape;602;p19"/>
          <p:cNvSpPr/>
          <p:nvPr/>
        </p:nvSpPr>
        <p:spPr>
          <a:xfrm>
            <a:off x="10259568" y="4263847"/>
            <a:ext cx="1289304" cy="658368"/>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rgbClr val="5F6B7A"/>
              </a:buClr>
              <a:buSzPts val="1000"/>
              <a:buFont typeface="Calibri"/>
              <a:buNone/>
            </a:pPr>
            <a:r>
              <a:rPr b="0" i="0" lang="en-US" sz="1000" u="none" cap="none" strike="noStrike">
                <a:solidFill>
                  <a:srgbClr val="5F6B7A"/>
                </a:solidFill>
                <a:latin typeface="Calibri"/>
                <a:ea typeface="Calibri"/>
                <a:cs typeface="Calibri"/>
                <a:sym typeface="Calibri"/>
              </a:rPr>
              <a:t>vs 31% when starved</a:t>
            </a:r>
            <a:endParaRPr b="0" i="0" sz="1000" u="none" cap="none" strike="noStrike">
              <a:solidFill>
                <a:schemeClr val="dk1"/>
              </a:solidFill>
              <a:latin typeface="Calibri"/>
              <a:ea typeface="Calibri"/>
              <a:cs typeface="Calibri"/>
              <a:sym typeface="Calibri"/>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607" name="Shape 607"/>
        <p:cNvGrpSpPr/>
        <p:nvPr/>
      </p:nvGrpSpPr>
      <p:grpSpPr>
        <a:xfrm>
          <a:off x="0" y="0"/>
          <a:ext cx="0" cy="0"/>
          <a:chOff x="0" y="0"/>
          <a:chExt cx="0" cy="0"/>
        </a:xfrm>
      </p:grpSpPr>
      <p:sp>
        <p:nvSpPr>
          <p:cNvPr id="608" name="Google Shape;608;p20"/>
          <p:cNvSpPr/>
          <p:nvPr/>
        </p:nvSpPr>
        <p:spPr>
          <a:xfrm>
            <a:off x="502920" y="274320"/>
            <a:ext cx="9646920" cy="56692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D2A5C"/>
              </a:buClr>
              <a:buSzPts val="2700"/>
              <a:buFont typeface="Calibri"/>
              <a:buNone/>
            </a:pPr>
            <a:r>
              <a:rPr b="1" i="0" lang="en-US" sz="2700" u="none" cap="none" strike="noStrike">
                <a:solidFill>
                  <a:srgbClr val="1D2A5C"/>
                </a:solidFill>
                <a:latin typeface="Calibri"/>
                <a:ea typeface="Calibri"/>
                <a:cs typeface="Calibri"/>
                <a:sym typeface="Calibri"/>
              </a:rPr>
              <a:t>Data quality: what augmentation cannot fix</a:t>
            </a:r>
            <a:endParaRPr b="0" i="0" sz="2700" u="none" cap="none" strike="noStrike">
              <a:solidFill>
                <a:schemeClr val="dk1"/>
              </a:solidFill>
              <a:latin typeface="Calibri"/>
              <a:ea typeface="Calibri"/>
              <a:cs typeface="Calibri"/>
              <a:sym typeface="Calibri"/>
            </a:endParaRPr>
          </a:p>
        </p:txBody>
      </p:sp>
      <p:sp>
        <p:nvSpPr>
          <p:cNvPr id="609" name="Google Shape;609;p20"/>
          <p:cNvSpPr/>
          <p:nvPr/>
        </p:nvSpPr>
        <p:spPr>
          <a:xfrm>
            <a:off x="502920" y="859536"/>
            <a:ext cx="9646920" cy="31089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F6B7A"/>
              </a:buClr>
              <a:buSzPts val="1250"/>
              <a:buFont typeface="Arial"/>
              <a:buNone/>
            </a:pPr>
            <a:r>
              <a:rPr b="0" i="0" lang="en-US" sz="1250" u="none" cap="none" strike="noStrike">
                <a:solidFill>
                  <a:srgbClr val="5F6B7A"/>
                </a:solidFill>
                <a:latin typeface="Arial"/>
                <a:ea typeface="Arial"/>
                <a:cs typeface="Arial"/>
                <a:sym typeface="Arial"/>
              </a:rPr>
              <a:t>جودة البيانات: ما لا يصلحه التعزيز</a:t>
            </a:r>
            <a:endParaRPr b="0" i="0" sz="1250" u="none" cap="none" strike="noStrike">
              <a:solidFill>
                <a:schemeClr val="dk1"/>
              </a:solidFill>
              <a:latin typeface="Calibri"/>
              <a:ea typeface="Calibri"/>
              <a:cs typeface="Calibri"/>
              <a:sym typeface="Calibri"/>
            </a:endParaRPr>
          </a:p>
        </p:txBody>
      </p:sp>
      <p:pic>
        <p:nvPicPr>
          <p:cNvPr descr="/sessions/blissful-determined-ritchie/build/assets/sdaia_logo.png" id="610" name="Google Shape;610;p20"/>
          <p:cNvPicPr preferRelativeResize="0"/>
          <p:nvPr/>
        </p:nvPicPr>
        <p:blipFill rotWithShape="1">
          <a:blip r:embed="rId3">
            <a:alphaModFix/>
          </a:blip>
          <a:srcRect b="0" l="0" r="0" t="0"/>
          <a:stretch/>
        </p:blipFill>
        <p:spPr>
          <a:xfrm>
            <a:off x="10625328" y="310896"/>
            <a:ext cx="1078992" cy="264111"/>
          </a:xfrm>
          <a:prstGeom prst="rect">
            <a:avLst/>
          </a:prstGeom>
          <a:noFill/>
          <a:ln>
            <a:noFill/>
          </a:ln>
        </p:spPr>
      </p:pic>
      <p:sp>
        <p:nvSpPr>
          <p:cNvPr id="611" name="Google Shape;611;p20"/>
          <p:cNvSpPr/>
          <p:nvPr/>
        </p:nvSpPr>
        <p:spPr>
          <a:xfrm>
            <a:off x="502920" y="6528816"/>
            <a:ext cx="8686800"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A79D"/>
              </a:buClr>
              <a:buSzPts val="800"/>
              <a:buFont typeface="Calibri"/>
              <a:buNone/>
            </a:pPr>
            <a:r>
              <a:rPr b="1" i="0" lang="en-US" sz="800" u="none" cap="none" strike="noStrike">
                <a:solidFill>
                  <a:srgbClr val="00A79D"/>
                </a:solidFill>
                <a:latin typeface="Calibri"/>
                <a:ea typeface="Calibri"/>
                <a:cs typeface="Calibri"/>
                <a:sym typeface="Calibri"/>
              </a:rPr>
              <a:t>MODULE 1   </a:t>
            </a:r>
            <a:r>
              <a:rPr b="0" i="0" lang="en-US" sz="800" u="none" cap="none" strike="noStrike">
                <a:solidFill>
                  <a:srgbClr val="8A96A6"/>
                </a:solidFill>
                <a:latin typeface="Calibri"/>
                <a:ea typeface="Calibri"/>
                <a:cs typeface="Calibri"/>
                <a:sym typeface="Calibri"/>
              </a:rPr>
              <a:t>SDA-AIE-212 · Computer Vision Systems Development</a:t>
            </a:r>
            <a:endParaRPr b="0" i="0" sz="800" u="none" cap="none" strike="noStrike">
              <a:solidFill>
                <a:schemeClr val="dk1"/>
              </a:solidFill>
              <a:latin typeface="Calibri"/>
              <a:ea typeface="Calibri"/>
              <a:cs typeface="Calibri"/>
              <a:sym typeface="Calibri"/>
            </a:endParaRPr>
          </a:p>
        </p:txBody>
      </p:sp>
      <p:sp>
        <p:nvSpPr>
          <p:cNvPr id="612" name="Google Shape;612;p20"/>
          <p:cNvSpPr/>
          <p:nvPr/>
        </p:nvSpPr>
        <p:spPr>
          <a:xfrm>
            <a:off x="11292840" y="6528816"/>
            <a:ext cx="411480" cy="219456"/>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8A96A6"/>
              </a:buClr>
              <a:buSzPts val="900"/>
              <a:buFont typeface="Calibri"/>
              <a:buNone/>
            </a:pPr>
            <a:r>
              <a:rPr b="0" i="0" lang="en-US" sz="900" u="none" cap="none" strike="noStrike">
                <a:solidFill>
                  <a:srgbClr val="8A96A6"/>
                </a:solidFill>
                <a:latin typeface="Calibri"/>
                <a:ea typeface="Calibri"/>
                <a:cs typeface="Calibri"/>
                <a:sym typeface="Calibri"/>
              </a:rPr>
              <a:t>20</a:t>
            </a:r>
            <a:endParaRPr b="0" i="0" sz="900" u="none" cap="none" strike="noStrike">
              <a:solidFill>
                <a:schemeClr val="dk1"/>
              </a:solidFill>
              <a:latin typeface="Calibri"/>
              <a:ea typeface="Calibri"/>
              <a:cs typeface="Calibri"/>
              <a:sym typeface="Calibri"/>
            </a:endParaRPr>
          </a:p>
        </p:txBody>
      </p:sp>
      <p:sp>
        <p:nvSpPr>
          <p:cNvPr id="613" name="Google Shape;613;p20"/>
          <p:cNvSpPr/>
          <p:nvPr/>
        </p:nvSpPr>
        <p:spPr>
          <a:xfrm>
            <a:off x="502920" y="1559052"/>
            <a:ext cx="329184" cy="329184"/>
          </a:xfrm>
          <a:prstGeom prst="ellipse">
            <a:avLst/>
          </a:prstGeom>
          <a:solidFill>
            <a:srgbClr val="00A79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4" name="Google Shape;614;p20"/>
          <p:cNvSpPr/>
          <p:nvPr/>
        </p:nvSpPr>
        <p:spPr>
          <a:xfrm>
            <a:off x="502920" y="1559052"/>
            <a:ext cx="329184" cy="32918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300"/>
              <a:buFont typeface="Calibri"/>
              <a:buNone/>
            </a:pPr>
            <a:r>
              <a:rPr b="1" i="0" lang="en-US" sz="1300" u="none" cap="none" strike="noStrike">
                <a:solidFill>
                  <a:srgbClr val="FFFFFF"/>
                </a:solidFill>
                <a:latin typeface="Calibri"/>
                <a:ea typeface="Calibri"/>
                <a:cs typeface="Calibri"/>
                <a:sym typeface="Calibri"/>
              </a:rPr>
              <a:t>1</a:t>
            </a:r>
            <a:endParaRPr b="0" i="0" sz="1300" u="none" cap="none" strike="noStrike">
              <a:solidFill>
                <a:schemeClr val="dk1"/>
              </a:solidFill>
              <a:latin typeface="Calibri"/>
              <a:ea typeface="Calibri"/>
              <a:cs typeface="Calibri"/>
              <a:sym typeface="Calibri"/>
            </a:endParaRPr>
          </a:p>
        </p:txBody>
      </p:sp>
      <p:sp>
        <p:nvSpPr>
          <p:cNvPr id="615" name="Google Shape;615;p20"/>
          <p:cNvSpPr/>
          <p:nvPr/>
        </p:nvSpPr>
        <p:spPr>
          <a:xfrm>
            <a:off x="1005840" y="1495044"/>
            <a:ext cx="10682935"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D2A5C"/>
              </a:buClr>
              <a:buSzPts val="1400"/>
              <a:buFont typeface="Calibri"/>
              <a:buNone/>
            </a:pPr>
            <a:r>
              <a:rPr b="1" i="0" lang="en-US" sz="1400" u="none" cap="none" strike="noStrike">
                <a:solidFill>
                  <a:srgbClr val="1D2A5C"/>
                </a:solidFill>
                <a:latin typeface="Calibri"/>
                <a:ea typeface="Calibri"/>
                <a:cs typeface="Calibri"/>
                <a:sym typeface="Calibri"/>
              </a:rPr>
              <a:t>Label noise</a:t>
            </a:r>
            <a:endParaRPr b="0" i="0" sz="1400" u="none" cap="none" strike="noStrike">
              <a:solidFill>
                <a:schemeClr val="dk1"/>
              </a:solidFill>
              <a:latin typeface="Calibri"/>
              <a:ea typeface="Calibri"/>
              <a:cs typeface="Calibri"/>
              <a:sym typeface="Calibri"/>
            </a:endParaRPr>
          </a:p>
        </p:txBody>
      </p:sp>
      <p:sp>
        <p:nvSpPr>
          <p:cNvPr id="616" name="Google Shape;616;p20"/>
          <p:cNvSpPr/>
          <p:nvPr/>
        </p:nvSpPr>
        <p:spPr>
          <a:xfrm>
            <a:off x="1005840" y="1796796"/>
            <a:ext cx="10682935" cy="841248"/>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5F6B7A"/>
              </a:buClr>
              <a:buSzPts val="1150"/>
              <a:buFont typeface="Calibri"/>
              <a:buNone/>
            </a:pPr>
            <a:r>
              <a:rPr b="0" i="0" lang="en-US" sz="1150" u="none" cap="none" strike="noStrike">
                <a:solidFill>
                  <a:srgbClr val="5F6B7A"/>
                </a:solidFill>
                <a:latin typeface="Calibri"/>
                <a:ea typeface="Calibri"/>
                <a:cs typeface="Calibri"/>
                <a:sym typeface="Calibri"/>
              </a:rPr>
              <a:t>3-8% label error is typical at first annotation pass; noise on the reject class is the expensive kind — it teaches the model that defects are acceptable</a:t>
            </a:r>
            <a:endParaRPr b="0" i="0" sz="1150" u="none" cap="none" strike="noStrike">
              <a:solidFill>
                <a:schemeClr val="dk1"/>
              </a:solidFill>
              <a:latin typeface="Calibri"/>
              <a:ea typeface="Calibri"/>
              <a:cs typeface="Calibri"/>
              <a:sym typeface="Calibri"/>
            </a:endParaRPr>
          </a:p>
        </p:txBody>
      </p:sp>
      <p:sp>
        <p:nvSpPr>
          <p:cNvPr id="617" name="Google Shape;617;p20"/>
          <p:cNvSpPr/>
          <p:nvPr/>
        </p:nvSpPr>
        <p:spPr>
          <a:xfrm>
            <a:off x="502920" y="2747772"/>
            <a:ext cx="329184" cy="329184"/>
          </a:xfrm>
          <a:prstGeom prst="ellipse">
            <a:avLst/>
          </a:prstGeom>
          <a:solidFill>
            <a:srgbClr val="29ABE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8" name="Google Shape;618;p20"/>
          <p:cNvSpPr/>
          <p:nvPr/>
        </p:nvSpPr>
        <p:spPr>
          <a:xfrm>
            <a:off x="502920" y="2747772"/>
            <a:ext cx="329184" cy="32918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300"/>
              <a:buFont typeface="Calibri"/>
              <a:buNone/>
            </a:pPr>
            <a:r>
              <a:rPr b="1" i="0" lang="en-US" sz="1300" u="none" cap="none" strike="noStrike">
                <a:solidFill>
                  <a:srgbClr val="FFFFFF"/>
                </a:solidFill>
                <a:latin typeface="Calibri"/>
                <a:ea typeface="Calibri"/>
                <a:cs typeface="Calibri"/>
                <a:sym typeface="Calibri"/>
              </a:rPr>
              <a:t>2</a:t>
            </a:r>
            <a:endParaRPr b="0" i="0" sz="1300" u="none" cap="none" strike="noStrike">
              <a:solidFill>
                <a:schemeClr val="dk1"/>
              </a:solidFill>
              <a:latin typeface="Calibri"/>
              <a:ea typeface="Calibri"/>
              <a:cs typeface="Calibri"/>
              <a:sym typeface="Calibri"/>
            </a:endParaRPr>
          </a:p>
        </p:txBody>
      </p:sp>
      <p:sp>
        <p:nvSpPr>
          <p:cNvPr id="619" name="Google Shape;619;p20"/>
          <p:cNvSpPr/>
          <p:nvPr/>
        </p:nvSpPr>
        <p:spPr>
          <a:xfrm>
            <a:off x="1005840" y="2683764"/>
            <a:ext cx="10682935"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D2A5C"/>
              </a:buClr>
              <a:buSzPts val="1400"/>
              <a:buFont typeface="Calibri"/>
              <a:buNone/>
            </a:pPr>
            <a:r>
              <a:rPr b="1" i="0" lang="en-US" sz="1400" u="none" cap="none" strike="noStrike">
                <a:solidFill>
                  <a:srgbClr val="1D2A5C"/>
                </a:solidFill>
                <a:latin typeface="Calibri"/>
                <a:ea typeface="Calibri"/>
                <a:cs typeface="Calibri"/>
                <a:sym typeface="Calibri"/>
              </a:rPr>
              <a:t>Duplicates across splits</a:t>
            </a:r>
            <a:endParaRPr b="0" i="0" sz="1400" u="none" cap="none" strike="noStrike">
              <a:solidFill>
                <a:schemeClr val="dk1"/>
              </a:solidFill>
              <a:latin typeface="Calibri"/>
              <a:ea typeface="Calibri"/>
              <a:cs typeface="Calibri"/>
              <a:sym typeface="Calibri"/>
            </a:endParaRPr>
          </a:p>
        </p:txBody>
      </p:sp>
      <p:sp>
        <p:nvSpPr>
          <p:cNvPr id="620" name="Google Shape;620;p20"/>
          <p:cNvSpPr/>
          <p:nvPr/>
        </p:nvSpPr>
        <p:spPr>
          <a:xfrm>
            <a:off x="1005840" y="2985516"/>
            <a:ext cx="10682935" cy="841248"/>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5F6B7A"/>
              </a:buClr>
              <a:buSzPts val="1150"/>
              <a:buFont typeface="Calibri"/>
              <a:buNone/>
            </a:pPr>
            <a:r>
              <a:rPr b="0" i="0" lang="en-US" sz="1150" u="none" cap="none" strike="noStrike">
                <a:solidFill>
                  <a:srgbClr val="5F6B7A"/>
                </a:solidFill>
                <a:latin typeface="Calibri"/>
                <a:ea typeface="Calibri"/>
                <a:cs typeface="Calibri"/>
                <a:sym typeface="Calibri"/>
              </a:rPr>
              <a:t>Consecutive conveyor frames of the same fruit leaking across train/val inflates every metric — split by fruit/session identity, never by random frame</a:t>
            </a:r>
            <a:endParaRPr b="0" i="0" sz="1150" u="none" cap="none" strike="noStrike">
              <a:solidFill>
                <a:schemeClr val="dk1"/>
              </a:solidFill>
              <a:latin typeface="Calibri"/>
              <a:ea typeface="Calibri"/>
              <a:cs typeface="Calibri"/>
              <a:sym typeface="Calibri"/>
            </a:endParaRPr>
          </a:p>
        </p:txBody>
      </p:sp>
      <p:sp>
        <p:nvSpPr>
          <p:cNvPr id="621" name="Google Shape;621;p20"/>
          <p:cNvSpPr/>
          <p:nvPr/>
        </p:nvSpPr>
        <p:spPr>
          <a:xfrm>
            <a:off x="502920" y="3936492"/>
            <a:ext cx="329184" cy="329184"/>
          </a:xfrm>
          <a:prstGeom prst="ellipse">
            <a:avLst/>
          </a:prstGeom>
          <a:solidFill>
            <a:srgbClr val="F5822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2" name="Google Shape;622;p20"/>
          <p:cNvSpPr/>
          <p:nvPr/>
        </p:nvSpPr>
        <p:spPr>
          <a:xfrm>
            <a:off x="502920" y="3936492"/>
            <a:ext cx="329184" cy="32918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300"/>
              <a:buFont typeface="Calibri"/>
              <a:buNone/>
            </a:pPr>
            <a:r>
              <a:rPr b="1" i="0" lang="en-US" sz="1300" u="none" cap="none" strike="noStrike">
                <a:solidFill>
                  <a:srgbClr val="FFFFFF"/>
                </a:solidFill>
                <a:latin typeface="Calibri"/>
                <a:ea typeface="Calibri"/>
                <a:cs typeface="Calibri"/>
                <a:sym typeface="Calibri"/>
              </a:rPr>
              <a:t>3</a:t>
            </a:r>
            <a:endParaRPr b="0" i="0" sz="1300" u="none" cap="none" strike="noStrike">
              <a:solidFill>
                <a:schemeClr val="dk1"/>
              </a:solidFill>
              <a:latin typeface="Calibri"/>
              <a:ea typeface="Calibri"/>
              <a:cs typeface="Calibri"/>
              <a:sym typeface="Calibri"/>
            </a:endParaRPr>
          </a:p>
        </p:txBody>
      </p:sp>
      <p:sp>
        <p:nvSpPr>
          <p:cNvPr id="623" name="Google Shape;623;p20"/>
          <p:cNvSpPr/>
          <p:nvPr/>
        </p:nvSpPr>
        <p:spPr>
          <a:xfrm>
            <a:off x="1005840" y="3872484"/>
            <a:ext cx="10682935"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D2A5C"/>
              </a:buClr>
              <a:buSzPts val="1400"/>
              <a:buFont typeface="Calibri"/>
              <a:buNone/>
            </a:pPr>
            <a:r>
              <a:rPr b="1" i="0" lang="en-US" sz="1400" u="none" cap="none" strike="noStrike">
                <a:solidFill>
                  <a:srgbClr val="1D2A5C"/>
                </a:solidFill>
                <a:latin typeface="Calibri"/>
                <a:ea typeface="Calibri"/>
                <a:cs typeface="Calibri"/>
                <a:sym typeface="Calibri"/>
              </a:rPr>
              <a:t>Class imbalance</a:t>
            </a:r>
            <a:endParaRPr b="0" i="0" sz="1400" u="none" cap="none" strike="noStrike">
              <a:solidFill>
                <a:schemeClr val="dk1"/>
              </a:solidFill>
              <a:latin typeface="Calibri"/>
              <a:ea typeface="Calibri"/>
              <a:cs typeface="Calibri"/>
              <a:sym typeface="Calibri"/>
            </a:endParaRPr>
          </a:p>
        </p:txBody>
      </p:sp>
      <p:sp>
        <p:nvSpPr>
          <p:cNvPr id="624" name="Google Shape;624;p20"/>
          <p:cNvSpPr/>
          <p:nvPr/>
        </p:nvSpPr>
        <p:spPr>
          <a:xfrm>
            <a:off x="1005840" y="4174236"/>
            <a:ext cx="10682935" cy="841248"/>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5F6B7A"/>
              </a:buClr>
              <a:buSzPts val="1150"/>
              <a:buFont typeface="Calibri"/>
              <a:buNone/>
            </a:pPr>
            <a:r>
              <a:rPr b="0" i="0" lang="en-US" sz="1150" u="none" cap="none" strike="noStrike">
                <a:solidFill>
                  <a:srgbClr val="5F6B7A"/>
                </a:solidFill>
                <a:latin typeface="Calibri"/>
                <a:ea typeface="Calibri"/>
                <a:cs typeface="Calibri"/>
                <a:sym typeface="Calibri"/>
              </a:rPr>
              <a:t>Rejects are (thankfully) rare — 2-4% of frames. Tools: weighted sampling, loss weighting, honest per-class metrics — never accuracy alone</a:t>
            </a:r>
            <a:endParaRPr b="0" i="0" sz="1150" u="none" cap="none" strike="noStrike">
              <a:solidFill>
                <a:schemeClr val="dk1"/>
              </a:solidFill>
              <a:latin typeface="Calibri"/>
              <a:ea typeface="Calibri"/>
              <a:cs typeface="Calibri"/>
              <a:sym typeface="Calibri"/>
            </a:endParaRPr>
          </a:p>
        </p:txBody>
      </p:sp>
      <p:sp>
        <p:nvSpPr>
          <p:cNvPr id="625" name="Google Shape;625;p20"/>
          <p:cNvSpPr/>
          <p:nvPr/>
        </p:nvSpPr>
        <p:spPr>
          <a:xfrm>
            <a:off x="502920" y="5125212"/>
            <a:ext cx="329184" cy="329184"/>
          </a:xfrm>
          <a:prstGeom prst="ellipse">
            <a:avLst/>
          </a:prstGeom>
          <a:solidFill>
            <a:srgbClr val="8DC63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6" name="Google Shape;626;p20"/>
          <p:cNvSpPr/>
          <p:nvPr/>
        </p:nvSpPr>
        <p:spPr>
          <a:xfrm>
            <a:off x="502920" y="5125212"/>
            <a:ext cx="329184" cy="32918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300"/>
              <a:buFont typeface="Calibri"/>
              <a:buNone/>
            </a:pPr>
            <a:r>
              <a:rPr b="1" i="0" lang="en-US" sz="1300" u="none" cap="none" strike="noStrike">
                <a:solidFill>
                  <a:srgbClr val="FFFFFF"/>
                </a:solidFill>
                <a:latin typeface="Calibri"/>
                <a:ea typeface="Calibri"/>
                <a:cs typeface="Calibri"/>
                <a:sym typeface="Calibri"/>
              </a:rPr>
              <a:t>4</a:t>
            </a:r>
            <a:endParaRPr b="0" i="0" sz="1300" u="none" cap="none" strike="noStrike">
              <a:solidFill>
                <a:schemeClr val="dk1"/>
              </a:solidFill>
              <a:latin typeface="Calibri"/>
              <a:ea typeface="Calibri"/>
              <a:cs typeface="Calibri"/>
              <a:sym typeface="Calibri"/>
            </a:endParaRPr>
          </a:p>
        </p:txBody>
      </p:sp>
      <p:sp>
        <p:nvSpPr>
          <p:cNvPr id="627" name="Google Shape;627;p20"/>
          <p:cNvSpPr/>
          <p:nvPr/>
        </p:nvSpPr>
        <p:spPr>
          <a:xfrm>
            <a:off x="1005840" y="5061204"/>
            <a:ext cx="10682935"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D2A5C"/>
              </a:buClr>
              <a:buSzPts val="1400"/>
              <a:buFont typeface="Calibri"/>
              <a:buNone/>
            </a:pPr>
            <a:r>
              <a:rPr b="1" i="0" lang="en-US" sz="1400" u="none" cap="none" strike="noStrike">
                <a:solidFill>
                  <a:srgbClr val="1D2A5C"/>
                </a:solidFill>
                <a:latin typeface="Calibri"/>
                <a:ea typeface="Calibri"/>
                <a:cs typeface="Calibri"/>
                <a:sym typeface="Calibri"/>
              </a:rPr>
              <a:t>Shortcut leakage</a:t>
            </a:r>
            <a:endParaRPr b="0" i="0" sz="1400" u="none" cap="none" strike="noStrike">
              <a:solidFill>
                <a:schemeClr val="dk1"/>
              </a:solidFill>
              <a:latin typeface="Calibri"/>
              <a:ea typeface="Calibri"/>
              <a:cs typeface="Calibri"/>
              <a:sym typeface="Calibri"/>
            </a:endParaRPr>
          </a:p>
        </p:txBody>
      </p:sp>
      <p:sp>
        <p:nvSpPr>
          <p:cNvPr id="628" name="Google Shape;628;p20"/>
          <p:cNvSpPr/>
          <p:nvPr/>
        </p:nvSpPr>
        <p:spPr>
          <a:xfrm>
            <a:off x="1005840" y="5362956"/>
            <a:ext cx="10682935" cy="841248"/>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5F6B7A"/>
              </a:buClr>
              <a:buSzPts val="1150"/>
              <a:buFont typeface="Calibri"/>
              <a:buNone/>
            </a:pPr>
            <a:r>
              <a:rPr b="0" i="0" lang="en-US" sz="1150" u="none" cap="none" strike="noStrike">
                <a:solidFill>
                  <a:srgbClr val="5F6B7A"/>
                </a:solidFill>
                <a:latin typeface="Calibri"/>
                <a:ea typeface="Calibri"/>
                <a:cs typeface="Calibri"/>
                <a:sym typeface="Calibri"/>
              </a:rPr>
              <a:t>Timestamps, camera-station watermarks, background artefacts correlated with the label — Grad-CAM inspection is the detection tool</a:t>
            </a:r>
            <a:endParaRPr b="0" i="0" sz="1150" u="none" cap="none" strike="noStrike">
              <a:solidFill>
                <a:schemeClr val="dk1"/>
              </a:solidFill>
              <a:latin typeface="Calibri"/>
              <a:ea typeface="Calibri"/>
              <a:cs typeface="Calibri"/>
              <a:sym typeface="Calibri"/>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633" name="Shape 633"/>
        <p:cNvGrpSpPr/>
        <p:nvPr/>
      </p:nvGrpSpPr>
      <p:grpSpPr>
        <a:xfrm>
          <a:off x="0" y="0"/>
          <a:ext cx="0" cy="0"/>
          <a:chOff x="0" y="0"/>
          <a:chExt cx="0" cy="0"/>
        </a:xfrm>
      </p:grpSpPr>
      <p:sp>
        <p:nvSpPr>
          <p:cNvPr id="634" name="Google Shape;634;p21"/>
          <p:cNvSpPr/>
          <p:nvPr/>
        </p:nvSpPr>
        <p:spPr>
          <a:xfrm>
            <a:off x="502920" y="274320"/>
            <a:ext cx="9646920" cy="56692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D2A5C"/>
              </a:buClr>
              <a:buSzPts val="2700"/>
              <a:buFont typeface="Calibri"/>
              <a:buNone/>
            </a:pPr>
            <a:r>
              <a:rPr b="1" i="0" lang="en-US" sz="2700" u="none" cap="none" strike="noStrike">
                <a:solidFill>
                  <a:srgbClr val="1D2A5C"/>
                </a:solidFill>
                <a:latin typeface="Calibri"/>
                <a:ea typeface="Calibri"/>
                <a:cs typeface="Calibri"/>
                <a:sym typeface="Calibri"/>
              </a:rPr>
              <a:t>Common mistakes &amp; defences</a:t>
            </a:r>
            <a:endParaRPr b="0" i="0" sz="2700" u="none" cap="none" strike="noStrike">
              <a:solidFill>
                <a:schemeClr val="dk1"/>
              </a:solidFill>
              <a:latin typeface="Calibri"/>
              <a:ea typeface="Calibri"/>
              <a:cs typeface="Calibri"/>
              <a:sym typeface="Calibri"/>
            </a:endParaRPr>
          </a:p>
        </p:txBody>
      </p:sp>
      <p:sp>
        <p:nvSpPr>
          <p:cNvPr id="635" name="Google Shape;635;p21"/>
          <p:cNvSpPr/>
          <p:nvPr/>
        </p:nvSpPr>
        <p:spPr>
          <a:xfrm>
            <a:off x="502920" y="859536"/>
            <a:ext cx="9646920" cy="31089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F6B7A"/>
              </a:buClr>
              <a:buSzPts val="1250"/>
              <a:buFont typeface="Arial"/>
              <a:buNone/>
            </a:pPr>
            <a:r>
              <a:rPr b="0" i="0" lang="en-US" sz="1250" u="none" cap="none" strike="noStrike">
                <a:solidFill>
                  <a:srgbClr val="5F6B7A"/>
                </a:solidFill>
                <a:latin typeface="Arial"/>
                <a:ea typeface="Arial"/>
                <a:cs typeface="Arial"/>
                <a:sym typeface="Arial"/>
              </a:rPr>
              <a:t>الأخطاء الشائعة ودفاعاتها</a:t>
            </a:r>
            <a:endParaRPr b="0" i="0" sz="1250" u="none" cap="none" strike="noStrike">
              <a:solidFill>
                <a:schemeClr val="dk1"/>
              </a:solidFill>
              <a:latin typeface="Calibri"/>
              <a:ea typeface="Calibri"/>
              <a:cs typeface="Calibri"/>
              <a:sym typeface="Calibri"/>
            </a:endParaRPr>
          </a:p>
        </p:txBody>
      </p:sp>
      <p:pic>
        <p:nvPicPr>
          <p:cNvPr descr="/sessions/blissful-determined-ritchie/build/assets/sdaia_logo.png" id="636" name="Google Shape;636;p21"/>
          <p:cNvPicPr preferRelativeResize="0"/>
          <p:nvPr/>
        </p:nvPicPr>
        <p:blipFill rotWithShape="1">
          <a:blip r:embed="rId3">
            <a:alphaModFix/>
          </a:blip>
          <a:srcRect b="0" l="0" r="0" t="0"/>
          <a:stretch/>
        </p:blipFill>
        <p:spPr>
          <a:xfrm>
            <a:off x="10625328" y="310896"/>
            <a:ext cx="1078992" cy="264111"/>
          </a:xfrm>
          <a:prstGeom prst="rect">
            <a:avLst/>
          </a:prstGeom>
          <a:noFill/>
          <a:ln>
            <a:noFill/>
          </a:ln>
        </p:spPr>
      </p:pic>
      <p:sp>
        <p:nvSpPr>
          <p:cNvPr id="637" name="Google Shape;637;p21"/>
          <p:cNvSpPr/>
          <p:nvPr/>
        </p:nvSpPr>
        <p:spPr>
          <a:xfrm>
            <a:off x="502920" y="6528816"/>
            <a:ext cx="8686800"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A79D"/>
              </a:buClr>
              <a:buSzPts val="800"/>
              <a:buFont typeface="Calibri"/>
              <a:buNone/>
            </a:pPr>
            <a:r>
              <a:rPr b="1" i="0" lang="en-US" sz="800" u="none" cap="none" strike="noStrike">
                <a:solidFill>
                  <a:srgbClr val="00A79D"/>
                </a:solidFill>
                <a:latin typeface="Calibri"/>
                <a:ea typeface="Calibri"/>
                <a:cs typeface="Calibri"/>
                <a:sym typeface="Calibri"/>
              </a:rPr>
              <a:t>MODULE 1   </a:t>
            </a:r>
            <a:r>
              <a:rPr b="0" i="0" lang="en-US" sz="800" u="none" cap="none" strike="noStrike">
                <a:solidFill>
                  <a:srgbClr val="8A96A6"/>
                </a:solidFill>
                <a:latin typeface="Calibri"/>
                <a:ea typeface="Calibri"/>
                <a:cs typeface="Calibri"/>
                <a:sym typeface="Calibri"/>
              </a:rPr>
              <a:t>SDA-AIE-212 · Computer Vision Systems Development</a:t>
            </a:r>
            <a:endParaRPr b="0" i="0" sz="800" u="none" cap="none" strike="noStrike">
              <a:solidFill>
                <a:schemeClr val="dk1"/>
              </a:solidFill>
              <a:latin typeface="Calibri"/>
              <a:ea typeface="Calibri"/>
              <a:cs typeface="Calibri"/>
              <a:sym typeface="Calibri"/>
            </a:endParaRPr>
          </a:p>
        </p:txBody>
      </p:sp>
      <p:sp>
        <p:nvSpPr>
          <p:cNvPr id="638" name="Google Shape;638;p21"/>
          <p:cNvSpPr/>
          <p:nvPr/>
        </p:nvSpPr>
        <p:spPr>
          <a:xfrm>
            <a:off x="11292840" y="6528816"/>
            <a:ext cx="411480" cy="219456"/>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8A96A6"/>
              </a:buClr>
              <a:buSzPts val="900"/>
              <a:buFont typeface="Calibri"/>
              <a:buNone/>
            </a:pPr>
            <a:r>
              <a:rPr b="0" i="0" lang="en-US" sz="900" u="none" cap="none" strike="noStrike">
                <a:solidFill>
                  <a:srgbClr val="8A96A6"/>
                </a:solidFill>
                <a:latin typeface="Calibri"/>
                <a:ea typeface="Calibri"/>
                <a:cs typeface="Calibri"/>
                <a:sym typeface="Calibri"/>
              </a:rPr>
              <a:t>21</a:t>
            </a:r>
            <a:endParaRPr b="0" i="0" sz="900" u="none" cap="none" strike="noStrike">
              <a:solidFill>
                <a:schemeClr val="dk1"/>
              </a:solidFill>
              <a:latin typeface="Calibri"/>
              <a:ea typeface="Calibri"/>
              <a:cs typeface="Calibri"/>
              <a:sym typeface="Calibri"/>
            </a:endParaRPr>
          </a:p>
        </p:txBody>
      </p:sp>
      <p:graphicFrame>
        <p:nvGraphicFramePr>
          <p:cNvPr id="639" name="Google Shape;639;p21"/>
          <p:cNvGraphicFramePr/>
          <p:nvPr/>
        </p:nvGraphicFramePr>
        <p:xfrm>
          <a:off x="502920" y="1389888"/>
          <a:ext cx="3000000" cy="3000000"/>
        </p:xfrm>
        <a:graphic>
          <a:graphicData uri="http://schemas.openxmlformats.org/drawingml/2006/table">
            <a:tbl>
              <a:tblPr>
                <a:noFill/>
                <a:tableStyleId>{F80342BA-3033-44D6-9F91-622DC7A4C435}</a:tableStyleId>
              </a:tblPr>
              <a:tblGrid>
                <a:gridCol w="3737350"/>
                <a:gridCol w="3411725"/>
                <a:gridCol w="4036800"/>
              </a:tblGrid>
              <a:tr h="696250">
                <a:tc>
                  <a:txBody>
                    <a:bodyPr/>
                    <a:lstStyle/>
                    <a:p>
                      <a:pPr indent="0" lvl="0" marL="0" marR="0" rtl="0" algn="l">
                        <a:spcBef>
                          <a:spcPts val="0"/>
                        </a:spcBef>
                        <a:spcAft>
                          <a:spcPts val="0"/>
                        </a:spcAft>
                        <a:buClr>
                          <a:srgbClr val="FFFFFF"/>
                        </a:buClr>
                        <a:buSzPts val="1050"/>
                        <a:buFont typeface="Calibri"/>
                        <a:buNone/>
                      </a:pPr>
                      <a:r>
                        <a:rPr b="1" lang="en-US" sz="1050" u="none" cap="none" strike="noStrike">
                          <a:solidFill>
                            <a:srgbClr val="FFFFFF"/>
                          </a:solidFill>
                          <a:latin typeface="Calibri"/>
                          <a:ea typeface="Calibri"/>
                          <a:cs typeface="Calibri"/>
                          <a:sym typeface="Calibri"/>
                        </a:rPr>
                        <a:t>Mistake</a:t>
                      </a:r>
                      <a:endParaRPr sz="1050" u="none" cap="none" strike="noStrike">
                        <a:latin typeface="Calibri"/>
                        <a:ea typeface="Calibri"/>
                        <a:cs typeface="Calibri"/>
                        <a:sym typeface="Calibri"/>
                      </a:endParaRPr>
                    </a:p>
                  </a:txBody>
                  <a:tcPr marT="64000" marB="64000" marR="64000" marL="64000" anchor="ctr">
                    <a:lnL cap="flat" cmpd="sng" w="9525">
                      <a:solidFill>
                        <a:srgbClr val="D9E2EA"/>
                      </a:solidFill>
                      <a:prstDash val="solid"/>
                      <a:round/>
                      <a:headEnd len="sm" w="sm" type="none"/>
                      <a:tailEnd len="sm" w="sm" type="none"/>
                    </a:lnL>
                    <a:lnR cap="flat" cmpd="sng" w="9525">
                      <a:solidFill>
                        <a:srgbClr val="D9E2EA"/>
                      </a:solidFill>
                      <a:prstDash val="solid"/>
                      <a:round/>
                      <a:headEnd len="sm" w="sm" type="none"/>
                      <a:tailEnd len="sm" w="sm" type="none"/>
                    </a:lnR>
                    <a:lnT cap="flat" cmpd="sng" w="9525">
                      <a:solidFill>
                        <a:srgbClr val="D9E2EA"/>
                      </a:solidFill>
                      <a:prstDash val="solid"/>
                      <a:round/>
                      <a:headEnd len="sm" w="sm" type="none"/>
                      <a:tailEnd len="sm" w="sm" type="none"/>
                    </a:lnT>
                    <a:lnB cap="flat" cmpd="sng" w="9525">
                      <a:solidFill>
                        <a:srgbClr val="D9E2EA"/>
                      </a:solidFill>
                      <a:prstDash val="solid"/>
                      <a:round/>
                      <a:headEnd len="sm" w="sm" type="none"/>
                      <a:tailEnd len="sm" w="sm" type="none"/>
                    </a:lnB>
                    <a:solidFill>
                      <a:srgbClr val="1D2A5C"/>
                    </a:solidFill>
                  </a:tcPr>
                </a:tc>
                <a:tc>
                  <a:txBody>
                    <a:bodyPr/>
                    <a:lstStyle/>
                    <a:p>
                      <a:pPr indent="0" lvl="0" marL="0" marR="0" rtl="0" algn="l">
                        <a:spcBef>
                          <a:spcPts val="0"/>
                        </a:spcBef>
                        <a:spcAft>
                          <a:spcPts val="0"/>
                        </a:spcAft>
                        <a:buClr>
                          <a:srgbClr val="FFFFFF"/>
                        </a:buClr>
                        <a:buSzPts val="1050"/>
                        <a:buFont typeface="Calibri"/>
                        <a:buNone/>
                      </a:pPr>
                      <a:r>
                        <a:rPr b="1" lang="en-US" sz="1050" u="none" cap="none" strike="noStrike">
                          <a:solidFill>
                            <a:srgbClr val="FFFFFF"/>
                          </a:solidFill>
                          <a:latin typeface="Calibri"/>
                          <a:ea typeface="Calibri"/>
                          <a:cs typeface="Calibri"/>
                          <a:sym typeface="Calibri"/>
                        </a:rPr>
                        <a:t>Consequence</a:t>
                      </a:r>
                      <a:endParaRPr sz="1050" u="none" cap="none" strike="noStrike">
                        <a:latin typeface="Calibri"/>
                        <a:ea typeface="Calibri"/>
                        <a:cs typeface="Calibri"/>
                        <a:sym typeface="Calibri"/>
                      </a:endParaRPr>
                    </a:p>
                  </a:txBody>
                  <a:tcPr marT="64000" marB="64000" marR="64000" marL="64000" anchor="ctr">
                    <a:lnL cap="flat" cmpd="sng" w="9525">
                      <a:solidFill>
                        <a:srgbClr val="D9E2EA"/>
                      </a:solidFill>
                      <a:prstDash val="solid"/>
                      <a:round/>
                      <a:headEnd len="sm" w="sm" type="none"/>
                      <a:tailEnd len="sm" w="sm" type="none"/>
                    </a:lnL>
                    <a:lnR cap="flat" cmpd="sng" w="9525">
                      <a:solidFill>
                        <a:srgbClr val="D9E2EA"/>
                      </a:solidFill>
                      <a:prstDash val="solid"/>
                      <a:round/>
                      <a:headEnd len="sm" w="sm" type="none"/>
                      <a:tailEnd len="sm" w="sm" type="none"/>
                    </a:lnR>
                    <a:lnT cap="flat" cmpd="sng" w="9525">
                      <a:solidFill>
                        <a:srgbClr val="D9E2EA"/>
                      </a:solidFill>
                      <a:prstDash val="solid"/>
                      <a:round/>
                      <a:headEnd len="sm" w="sm" type="none"/>
                      <a:tailEnd len="sm" w="sm" type="none"/>
                    </a:lnT>
                    <a:lnB cap="flat" cmpd="sng" w="9525">
                      <a:solidFill>
                        <a:srgbClr val="D9E2EA"/>
                      </a:solidFill>
                      <a:prstDash val="solid"/>
                      <a:round/>
                      <a:headEnd len="sm" w="sm" type="none"/>
                      <a:tailEnd len="sm" w="sm" type="none"/>
                    </a:lnB>
                    <a:solidFill>
                      <a:srgbClr val="1D2A5C"/>
                    </a:solidFill>
                  </a:tcPr>
                </a:tc>
                <a:tc>
                  <a:txBody>
                    <a:bodyPr/>
                    <a:lstStyle/>
                    <a:p>
                      <a:pPr indent="0" lvl="0" marL="0" marR="0" rtl="0" algn="l">
                        <a:spcBef>
                          <a:spcPts val="0"/>
                        </a:spcBef>
                        <a:spcAft>
                          <a:spcPts val="0"/>
                        </a:spcAft>
                        <a:buClr>
                          <a:srgbClr val="FFFFFF"/>
                        </a:buClr>
                        <a:buSzPts val="1050"/>
                        <a:buFont typeface="Calibri"/>
                        <a:buNone/>
                      </a:pPr>
                      <a:r>
                        <a:rPr b="1" lang="en-US" sz="1050" u="none" cap="none" strike="noStrike">
                          <a:solidFill>
                            <a:srgbClr val="FFFFFF"/>
                          </a:solidFill>
                          <a:latin typeface="Calibri"/>
                          <a:ea typeface="Calibri"/>
                          <a:cs typeface="Calibri"/>
                          <a:sym typeface="Calibri"/>
                        </a:rPr>
                        <a:t>Defence</a:t>
                      </a:r>
                      <a:endParaRPr sz="1050" u="none" cap="none" strike="noStrike">
                        <a:latin typeface="Calibri"/>
                        <a:ea typeface="Calibri"/>
                        <a:cs typeface="Calibri"/>
                        <a:sym typeface="Calibri"/>
                      </a:endParaRPr>
                    </a:p>
                  </a:txBody>
                  <a:tcPr marT="64000" marB="64000" marR="64000" marL="64000" anchor="ctr">
                    <a:lnL cap="flat" cmpd="sng" w="9525">
                      <a:solidFill>
                        <a:srgbClr val="D9E2EA"/>
                      </a:solidFill>
                      <a:prstDash val="solid"/>
                      <a:round/>
                      <a:headEnd len="sm" w="sm" type="none"/>
                      <a:tailEnd len="sm" w="sm" type="none"/>
                    </a:lnL>
                    <a:lnR cap="flat" cmpd="sng" w="9525">
                      <a:solidFill>
                        <a:srgbClr val="D9E2EA"/>
                      </a:solidFill>
                      <a:prstDash val="solid"/>
                      <a:round/>
                      <a:headEnd len="sm" w="sm" type="none"/>
                      <a:tailEnd len="sm" w="sm" type="none"/>
                    </a:lnR>
                    <a:lnT cap="flat" cmpd="sng" w="9525">
                      <a:solidFill>
                        <a:srgbClr val="D9E2EA"/>
                      </a:solidFill>
                      <a:prstDash val="solid"/>
                      <a:round/>
                      <a:headEnd len="sm" w="sm" type="none"/>
                      <a:tailEnd len="sm" w="sm" type="none"/>
                    </a:lnT>
                    <a:lnB cap="flat" cmpd="sng" w="9525">
                      <a:solidFill>
                        <a:srgbClr val="D9E2EA"/>
                      </a:solidFill>
                      <a:prstDash val="solid"/>
                      <a:round/>
                      <a:headEnd len="sm" w="sm" type="none"/>
                      <a:tailEnd len="sm" w="sm" type="none"/>
                    </a:lnB>
                    <a:solidFill>
                      <a:srgbClr val="1D2A5C"/>
                    </a:solidFill>
                  </a:tcPr>
                </a:tc>
              </a:tr>
              <a:tr h="696250">
                <a:tc>
                  <a:txBody>
                    <a:bodyPr/>
                    <a:lstStyle/>
                    <a:p>
                      <a:pPr indent="0" lvl="0" marL="0" marR="0" rtl="0" algn="l">
                        <a:spcBef>
                          <a:spcPts val="0"/>
                        </a:spcBef>
                        <a:spcAft>
                          <a:spcPts val="0"/>
                        </a:spcAft>
                        <a:buClr>
                          <a:srgbClr val="1D2A5C"/>
                        </a:buClr>
                        <a:buSzPts val="1050"/>
                        <a:buFont typeface="Calibri"/>
                        <a:buNone/>
                      </a:pPr>
                      <a:r>
                        <a:rPr b="1" lang="en-US" sz="1050" u="none" cap="none" strike="noStrike">
                          <a:solidFill>
                            <a:srgbClr val="1D2A5C"/>
                          </a:solidFill>
                          <a:latin typeface="Calibri"/>
                          <a:ea typeface="Calibri"/>
                          <a:cs typeface="Calibri"/>
                          <a:sym typeface="Calibri"/>
                        </a:rPr>
                        <a:t>BGR fed to RGB-trained model</a:t>
                      </a:r>
                      <a:endParaRPr sz="1050" u="none" cap="none" strike="noStrike">
                        <a:latin typeface="Calibri"/>
                        <a:ea typeface="Calibri"/>
                        <a:cs typeface="Calibri"/>
                        <a:sym typeface="Calibri"/>
                      </a:endParaRPr>
                    </a:p>
                  </a:txBody>
                  <a:tcPr marT="64000" marB="64000" marR="64000" marL="64000" anchor="ctr">
                    <a:lnL cap="flat" cmpd="sng" w="9525">
                      <a:solidFill>
                        <a:srgbClr val="D9E2EA"/>
                      </a:solidFill>
                      <a:prstDash val="solid"/>
                      <a:round/>
                      <a:headEnd len="sm" w="sm" type="none"/>
                      <a:tailEnd len="sm" w="sm" type="none"/>
                    </a:lnL>
                    <a:lnR cap="flat" cmpd="sng" w="9525">
                      <a:solidFill>
                        <a:srgbClr val="D9E2EA"/>
                      </a:solidFill>
                      <a:prstDash val="solid"/>
                      <a:round/>
                      <a:headEnd len="sm" w="sm" type="none"/>
                      <a:tailEnd len="sm" w="sm" type="none"/>
                    </a:lnR>
                    <a:lnT cap="flat" cmpd="sng" w="9525">
                      <a:solidFill>
                        <a:srgbClr val="D9E2EA"/>
                      </a:solidFill>
                      <a:prstDash val="solid"/>
                      <a:round/>
                      <a:headEnd len="sm" w="sm" type="none"/>
                      <a:tailEnd len="sm" w="sm" type="none"/>
                    </a:lnT>
                    <a:lnB cap="flat" cmpd="sng" w="9525">
                      <a:solidFill>
                        <a:srgbClr val="D9E2EA"/>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23293B"/>
                        </a:buClr>
                        <a:buSzPts val="1050"/>
                        <a:buFont typeface="Calibri"/>
                        <a:buNone/>
                      </a:pPr>
                      <a:r>
                        <a:rPr lang="en-US" sz="1050" u="none" cap="none" strike="noStrike">
                          <a:solidFill>
                            <a:srgbClr val="23293B"/>
                          </a:solidFill>
                          <a:latin typeface="Calibri"/>
                          <a:ea typeface="Calibri"/>
                          <a:cs typeface="Calibri"/>
                          <a:sym typeface="Calibri"/>
                        </a:rPr>
                        <a:t>Silent 5-10 pt degradation</a:t>
                      </a:r>
                      <a:endParaRPr sz="1050" u="none" cap="none" strike="noStrike">
                        <a:latin typeface="Calibri"/>
                        <a:ea typeface="Calibri"/>
                        <a:cs typeface="Calibri"/>
                        <a:sym typeface="Calibri"/>
                      </a:endParaRPr>
                    </a:p>
                  </a:txBody>
                  <a:tcPr marT="64000" marB="64000" marR="64000" marL="64000" anchor="ctr">
                    <a:lnL cap="flat" cmpd="sng" w="9525">
                      <a:solidFill>
                        <a:srgbClr val="D9E2EA"/>
                      </a:solidFill>
                      <a:prstDash val="solid"/>
                      <a:round/>
                      <a:headEnd len="sm" w="sm" type="none"/>
                      <a:tailEnd len="sm" w="sm" type="none"/>
                    </a:lnL>
                    <a:lnR cap="flat" cmpd="sng" w="9525">
                      <a:solidFill>
                        <a:srgbClr val="D9E2EA"/>
                      </a:solidFill>
                      <a:prstDash val="solid"/>
                      <a:round/>
                      <a:headEnd len="sm" w="sm" type="none"/>
                      <a:tailEnd len="sm" w="sm" type="none"/>
                    </a:lnR>
                    <a:lnT cap="flat" cmpd="sng" w="9525">
                      <a:solidFill>
                        <a:srgbClr val="D9E2EA"/>
                      </a:solidFill>
                      <a:prstDash val="solid"/>
                      <a:round/>
                      <a:headEnd len="sm" w="sm" type="none"/>
                      <a:tailEnd len="sm" w="sm" type="none"/>
                    </a:lnT>
                    <a:lnB cap="flat" cmpd="sng" w="9525">
                      <a:solidFill>
                        <a:srgbClr val="D9E2EA"/>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23293B"/>
                        </a:buClr>
                        <a:buSzPts val="1050"/>
                        <a:buFont typeface="Calibri"/>
                        <a:buNone/>
                      </a:pPr>
                      <a:r>
                        <a:rPr lang="en-US" sz="1050" u="none" cap="none" strike="noStrike">
                          <a:solidFill>
                            <a:srgbClr val="23293B"/>
                          </a:solidFill>
                          <a:latin typeface="Calibri"/>
                          <a:ea typeface="Calibri"/>
                          <a:cs typeface="Calibri"/>
                          <a:sym typeface="Calibri"/>
                        </a:rPr>
                        <a:t>Assert channel order at the I/O boundary</a:t>
                      </a:r>
                      <a:endParaRPr sz="1050" u="none" cap="none" strike="noStrike">
                        <a:latin typeface="Calibri"/>
                        <a:ea typeface="Calibri"/>
                        <a:cs typeface="Calibri"/>
                        <a:sym typeface="Calibri"/>
                      </a:endParaRPr>
                    </a:p>
                  </a:txBody>
                  <a:tcPr marT="64000" marB="64000" marR="64000" marL="64000" anchor="ctr">
                    <a:lnL cap="flat" cmpd="sng" w="9525">
                      <a:solidFill>
                        <a:srgbClr val="D9E2EA"/>
                      </a:solidFill>
                      <a:prstDash val="solid"/>
                      <a:round/>
                      <a:headEnd len="sm" w="sm" type="none"/>
                      <a:tailEnd len="sm" w="sm" type="none"/>
                    </a:lnL>
                    <a:lnR cap="flat" cmpd="sng" w="9525">
                      <a:solidFill>
                        <a:srgbClr val="D9E2EA"/>
                      </a:solidFill>
                      <a:prstDash val="solid"/>
                      <a:round/>
                      <a:headEnd len="sm" w="sm" type="none"/>
                      <a:tailEnd len="sm" w="sm" type="none"/>
                    </a:lnR>
                    <a:lnT cap="flat" cmpd="sng" w="9525">
                      <a:solidFill>
                        <a:srgbClr val="D9E2EA"/>
                      </a:solidFill>
                      <a:prstDash val="solid"/>
                      <a:round/>
                      <a:headEnd len="sm" w="sm" type="none"/>
                      <a:tailEnd len="sm" w="sm" type="none"/>
                    </a:lnT>
                    <a:lnB cap="flat" cmpd="sng" w="9525">
                      <a:solidFill>
                        <a:srgbClr val="D9E2EA"/>
                      </a:solidFill>
                      <a:prstDash val="solid"/>
                      <a:round/>
                      <a:headEnd len="sm" w="sm" type="none"/>
                      <a:tailEnd len="sm" w="sm" type="none"/>
                    </a:lnB>
                    <a:solidFill>
                      <a:srgbClr val="FFFFFF"/>
                    </a:solidFill>
                  </a:tcPr>
                </a:tc>
              </a:tr>
              <a:tr h="696250">
                <a:tc>
                  <a:txBody>
                    <a:bodyPr/>
                    <a:lstStyle/>
                    <a:p>
                      <a:pPr indent="0" lvl="0" marL="0" marR="0" rtl="0" algn="l">
                        <a:spcBef>
                          <a:spcPts val="0"/>
                        </a:spcBef>
                        <a:spcAft>
                          <a:spcPts val="0"/>
                        </a:spcAft>
                        <a:buClr>
                          <a:srgbClr val="1D2A5C"/>
                        </a:buClr>
                        <a:buSzPts val="1050"/>
                        <a:buFont typeface="Calibri"/>
                        <a:buNone/>
                      </a:pPr>
                      <a:r>
                        <a:rPr b="1" lang="en-US" sz="1050" u="none" cap="none" strike="noStrike">
                          <a:solidFill>
                            <a:srgbClr val="1D2A5C"/>
                          </a:solidFill>
                          <a:latin typeface="Calibri"/>
                          <a:ea typeface="Calibri"/>
                          <a:cs typeface="Calibri"/>
                          <a:sym typeface="Calibri"/>
                        </a:rPr>
                        <a:t>Interpolation differs train vs serve</a:t>
                      </a:r>
                      <a:endParaRPr sz="1050" u="none" cap="none" strike="noStrike">
                        <a:latin typeface="Calibri"/>
                        <a:ea typeface="Calibri"/>
                        <a:cs typeface="Calibri"/>
                        <a:sym typeface="Calibri"/>
                      </a:endParaRPr>
                    </a:p>
                  </a:txBody>
                  <a:tcPr marT="64000" marB="64000" marR="64000" marL="64000" anchor="ctr">
                    <a:lnL cap="flat" cmpd="sng" w="9525">
                      <a:solidFill>
                        <a:srgbClr val="D9E2EA"/>
                      </a:solidFill>
                      <a:prstDash val="solid"/>
                      <a:round/>
                      <a:headEnd len="sm" w="sm" type="none"/>
                      <a:tailEnd len="sm" w="sm" type="none"/>
                    </a:lnL>
                    <a:lnR cap="flat" cmpd="sng" w="9525">
                      <a:solidFill>
                        <a:srgbClr val="D9E2EA"/>
                      </a:solidFill>
                      <a:prstDash val="solid"/>
                      <a:round/>
                      <a:headEnd len="sm" w="sm" type="none"/>
                      <a:tailEnd len="sm" w="sm" type="none"/>
                    </a:lnR>
                    <a:lnT cap="flat" cmpd="sng" w="9525">
                      <a:solidFill>
                        <a:srgbClr val="D9E2EA"/>
                      </a:solidFill>
                      <a:prstDash val="solid"/>
                      <a:round/>
                      <a:headEnd len="sm" w="sm" type="none"/>
                      <a:tailEnd len="sm" w="sm" type="none"/>
                    </a:lnT>
                    <a:lnB cap="flat" cmpd="sng" w="9525">
                      <a:solidFill>
                        <a:srgbClr val="D9E2EA"/>
                      </a:solidFill>
                      <a:prstDash val="solid"/>
                      <a:round/>
                      <a:headEnd len="sm" w="sm" type="none"/>
                      <a:tailEnd len="sm" w="sm" type="none"/>
                    </a:lnB>
                    <a:solidFill>
                      <a:srgbClr val="F2F6F9"/>
                    </a:solidFill>
                  </a:tcPr>
                </a:tc>
                <a:tc>
                  <a:txBody>
                    <a:bodyPr/>
                    <a:lstStyle/>
                    <a:p>
                      <a:pPr indent="0" lvl="0" marL="0" marR="0" rtl="0" algn="l">
                        <a:spcBef>
                          <a:spcPts val="0"/>
                        </a:spcBef>
                        <a:spcAft>
                          <a:spcPts val="0"/>
                        </a:spcAft>
                        <a:buClr>
                          <a:srgbClr val="23293B"/>
                        </a:buClr>
                        <a:buSzPts val="1050"/>
                        <a:buFont typeface="Calibri"/>
                        <a:buNone/>
                      </a:pPr>
                      <a:r>
                        <a:rPr lang="en-US" sz="1050" u="none" cap="none" strike="noStrike">
                          <a:solidFill>
                            <a:srgbClr val="23293B"/>
                          </a:solidFill>
                          <a:latin typeface="Calibri"/>
                          <a:ea typeface="Calibri"/>
                          <a:cs typeface="Calibri"/>
                          <a:sym typeface="Calibri"/>
                        </a:rPr>
                        <a:t>A real 2-point mAP loss</a:t>
                      </a:r>
                      <a:endParaRPr sz="1050" u="none" cap="none" strike="noStrike">
                        <a:latin typeface="Calibri"/>
                        <a:ea typeface="Calibri"/>
                        <a:cs typeface="Calibri"/>
                        <a:sym typeface="Calibri"/>
                      </a:endParaRPr>
                    </a:p>
                  </a:txBody>
                  <a:tcPr marT="64000" marB="64000" marR="64000" marL="64000" anchor="ctr">
                    <a:lnL cap="flat" cmpd="sng" w="9525">
                      <a:solidFill>
                        <a:srgbClr val="D9E2EA"/>
                      </a:solidFill>
                      <a:prstDash val="solid"/>
                      <a:round/>
                      <a:headEnd len="sm" w="sm" type="none"/>
                      <a:tailEnd len="sm" w="sm" type="none"/>
                    </a:lnL>
                    <a:lnR cap="flat" cmpd="sng" w="9525">
                      <a:solidFill>
                        <a:srgbClr val="D9E2EA"/>
                      </a:solidFill>
                      <a:prstDash val="solid"/>
                      <a:round/>
                      <a:headEnd len="sm" w="sm" type="none"/>
                      <a:tailEnd len="sm" w="sm" type="none"/>
                    </a:lnR>
                    <a:lnT cap="flat" cmpd="sng" w="9525">
                      <a:solidFill>
                        <a:srgbClr val="D9E2EA"/>
                      </a:solidFill>
                      <a:prstDash val="solid"/>
                      <a:round/>
                      <a:headEnd len="sm" w="sm" type="none"/>
                      <a:tailEnd len="sm" w="sm" type="none"/>
                    </a:lnT>
                    <a:lnB cap="flat" cmpd="sng" w="9525">
                      <a:solidFill>
                        <a:srgbClr val="D9E2EA"/>
                      </a:solidFill>
                      <a:prstDash val="solid"/>
                      <a:round/>
                      <a:headEnd len="sm" w="sm" type="none"/>
                      <a:tailEnd len="sm" w="sm" type="none"/>
                    </a:lnB>
                    <a:solidFill>
                      <a:srgbClr val="F2F6F9"/>
                    </a:solidFill>
                  </a:tcPr>
                </a:tc>
                <a:tc>
                  <a:txBody>
                    <a:bodyPr/>
                    <a:lstStyle/>
                    <a:p>
                      <a:pPr indent="0" lvl="0" marL="0" marR="0" rtl="0" algn="l">
                        <a:spcBef>
                          <a:spcPts val="0"/>
                        </a:spcBef>
                        <a:spcAft>
                          <a:spcPts val="0"/>
                        </a:spcAft>
                        <a:buClr>
                          <a:srgbClr val="23293B"/>
                        </a:buClr>
                        <a:buSzPts val="1050"/>
                        <a:buFont typeface="Calibri"/>
                        <a:buNone/>
                      </a:pPr>
                      <a:r>
                        <a:rPr lang="en-US" sz="1050" u="none" cap="none" strike="noStrike">
                          <a:solidFill>
                            <a:srgbClr val="23293B"/>
                          </a:solidFill>
                          <a:latin typeface="Calibri"/>
                          <a:ea typeface="Calibri"/>
                          <a:cs typeface="Calibri"/>
                          <a:sym typeface="Calibri"/>
                        </a:rPr>
                        <a:t>Pin resize semantics; test it</a:t>
                      </a:r>
                      <a:endParaRPr sz="1050" u="none" cap="none" strike="noStrike">
                        <a:latin typeface="Calibri"/>
                        <a:ea typeface="Calibri"/>
                        <a:cs typeface="Calibri"/>
                        <a:sym typeface="Calibri"/>
                      </a:endParaRPr>
                    </a:p>
                  </a:txBody>
                  <a:tcPr marT="64000" marB="64000" marR="64000" marL="64000" anchor="ctr">
                    <a:lnL cap="flat" cmpd="sng" w="9525">
                      <a:solidFill>
                        <a:srgbClr val="D9E2EA"/>
                      </a:solidFill>
                      <a:prstDash val="solid"/>
                      <a:round/>
                      <a:headEnd len="sm" w="sm" type="none"/>
                      <a:tailEnd len="sm" w="sm" type="none"/>
                    </a:lnL>
                    <a:lnR cap="flat" cmpd="sng" w="9525">
                      <a:solidFill>
                        <a:srgbClr val="D9E2EA"/>
                      </a:solidFill>
                      <a:prstDash val="solid"/>
                      <a:round/>
                      <a:headEnd len="sm" w="sm" type="none"/>
                      <a:tailEnd len="sm" w="sm" type="none"/>
                    </a:lnR>
                    <a:lnT cap="flat" cmpd="sng" w="9525">
                      <a:solidFill>
                        <a:srgbClr val="D9E2EA"/>
                      </a:solidFill>
                      <a:prstDash val="solid"/>
                      <a:round/>
                      <a:headEnd len="sm" w="sm" type="none"/>
                      <a:tailEnd len="sm" w="sm" type="none"/>
                    </a:lnT>
                    <a:lnB cap="flat" cmpd="sng" w="9525">
                      <a:solidFill>
                        <a:srgbClr val="D9E2EA"/>
                      </a:solidFill>
                      <a:prstDash val="solid"/>
                      <a:round/>
                      <a:headEnd len="sm" w="sm" type="none"/>
                      <a:tailEnd len="sm" w="sm" type="none"/>
                    </a:lnB>
                    <a:solidFill>
                      <a:srgbClr val="F2F6F9"/>
                    </a:solidFill>
                  </a:tcPr>
                </a:tc>
              </a:tr>
              <a:tr h="696250">
                <a:tc>
                  <a:txBody>
                    <a:bodyPr/>
                    <a:lstStyle/>
                    <a:p>
                      <a:pPr indent="0" lvl="0" marL="0" marR="0" rtl="0" algn="l">
                        <a:spcBef>
                          <a:spcPts val="0"/>
                        </a:spcBef>
                        <a:spcAft>
                          <a:spcPts val="0"/>
                        </a:spcAft>
                        <a:buClr>
                          <a:srgbClr val="1D2A5C"/>
                        </a:buClr>
                        <a:buSzPts val="1050"/>
                        <a:buFont typeface="Calibri"/>
                        <a:buNone/>
                      </a:pPr>
                      <a:r>
                        <a:rPr b="1" lang="en-US" sz="1050" u="none" cap="none" strike="noStrike">
                          <a:solidFill>
                            <a:srgbClr val="1D2A5C"/>
                          </a:solidFill>
                          <a:latin typeface="Calibri"/>
                          <a:ea typeface="Calibri"/>
                          <a:cs typeface="Calibri"/>
                          <a:sym typeface="Calibri"/>
                        </a:rPr>
                        <a:t>Augmenting the validation set</a:t>
                      </a:r>
                      <a:endParaRPr sz="1050" u="none" cap="none" strike="noStrike">
                        <a:latin typeface="Calibri"/>
                        <a:ea typeface="Calibri"/>
                        <a:cs typeface="Calibri"/>
                        <a:sym typeface="Calibri"/>
                      </a:endParaRPr>
                    </a:p>
                  </a:txBody>
                  <a:tcPr marT="64000" marB="64000" marR="64000" marL="64000" anchor="ctr">
                    <a:lnL cap="flat" cmpd="sng" w="9525">
                      <a:solidFill>
                        <a:srgbClr val="D9E2EA"/>
                      </a:solidFill>
                      <a:prstDash val="solid"/>
                      <a:round/>
                      <a:headEnd len="sm" w="sm" type="none"/>
                      <a:tailEnd len="sm" w="sm" type="none"/>
                    </a:lnL>
                    <a:lnR cap="flat" cmpd="sng" w="9525">
                      <a:solidFill>
                        <a:srgbClr val="D9E2EA"/>
                      </a:solidFill>
                      <a:prstDash val="solid"/>
                      <a:round/>
                      <a:headEnd len="sm" w="sm" type="none"/>
                      <a:tailEnd len="sm" w="sm" type="none"/>
                    </a:lnR>
                    <a:lnT cap="flat" cmpd="sng" w="9525">
                      <a:solidFill>
                        <a:srgbClr val="D9E2EA"/>
                      </a:solidFill>
                      <a:prstDash val="solid"/>
                      <a:round/>
                      <a:headEnd len="sm" w="sm" type="none"/>
                      <a:tailEnd len="sm" w="sm" type="none"/>
                    </a:lnT>
                    <a:lnB cap="flat" cmpd="sng" w="9525">
                      <a:solidFill>
                        <a:srgbClr val="D9E2EA"/>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23293B"/>
                        </a:buClr>
                        <a:buSzPts val="1050"/>
                        <a:buFont typeface="Calibri"/>
                        <a:buNone/>
                      </a:pPr>
                      <a:r>
                        <a:rPr lang="en-US" sz="1050" u="none" cap="none" strike="noStrike">
                          <a:solidFill>
                            <a:srgbClr val="23293B"/>
                          </a:solidFill>
                          <a:latin typeface="Calibri"/>
                          <a:ea typeface="Calibri"/>
                          <a:cs typeface="Calibri"/>
                          <a:sym typeface="Calibri"/>
                        </a:rPr>
                        <a:t>Noisy, optimistic metrics</a:t>
                      </a:r>
                      <a:endParaRPr sz="1050" u="none" cap="none" strike="noStrike">
                        <a:latin typeface="Calibri"/>
                        <a:ea typeface="Calibri"/>
                        <a:cs typeface="Calibri"/>
                        <a:sym typeface="Calibri"/>
                      </a:endParaRPr>
                    </a:p>
                  </a:txBody>
                  <a:tcPr marT="64000" marB="64000" marR="64000" marL="64000" anchor="ctr">
                    <a:lnL cap="flat" cmpd="sng" w="9525">
                      <a:solidFill>
                        <a:srgbClr val="D9E2EA"/>
                      </a:solidFill>
                      <a:prstDash val="solid"/>
                      <a:round/>
                      <a:headEnd len="sm" w="sm" type="none"/>
                      <a:tailEnd len="sm" w="sm" type="none"/>
                    </a:lnL>
                    <a:lnR cap="flat" cmpd="sng" w="9525">
                      <a:solidFill>
                        <a:srgbClr val="D9E2EA"/>
                      </a:solidFill>
                      <a:prstDash val="solid"/>
                      <a:round/>
                      <a:headEnd len="sm" w="sm" type="none"/>
                      <a:tailEnd len="sm" w="sm" type="none"/>
                    </a:lnR>
                    <a:lnT cap="flat" cmpd="sng" w="9525">
                      <a:solidFill>
                        <a:srgbClr val="D9E2EA"/>
                      </a:solidFill>
                      <a:prstDash val="solid"/>
                      <a:round/>
                      <a:headEnd len="sm" w="sm" type="none"/>
                      <a:tailEnd len="sm" w="sm" type="none"/>
                    </a:lnT>
                    <a:lnB cap="flat" cmpd="sng" w="9525">
                      <a:solidFill>
                        <a:srgbClr val="D9E2EA"/>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23293B"/>
                        </a:buClr>
                        <a:buSzPts val="1050"/>
                        <a:buFont typeface="Calibri"/>
                        <a:buNone/>
                      </a:pPr>
                      <a:r>
                        <a:rPr lang="en-US" sz="1050" u="none" cap="none" strike="noStrike">
                          <a:solidFill>
                            <a:srgbClr val="23293B"/>
                          </a:solidFill>
                          <a:latin typeface="Calibri"/>
                          <a:ea typeface="Calibri"/>
                          <a:cs typeface="Calibri"/>
                          <a:sym typeface="Calibri"/>
                        </a:rPr>
                        <a:t>Train/eval transform split, non-negotiable</a:t>
                      </a:r>
                      <a:endParaRPr sz="1050" u="none" cap="none" strike="noStrike">
                        <a:latin typeface="Calibri"/>
                        <a:ea typeface="Calibri"/>
                        <a:cs typeface="Calibri"/>
                        <a:sym typeface="Calibri"/>
                      </a:endParaRPr>
                    </a:p>
                  </a:txBody>
                  <a:tcPr marT="64000" marB="64000" marR="64000" marL="64000" anchor="ctr">
                    <a:lnL cap="flat" cmpd="sng" w="9525">
                      <a:solidFill>
                        <a:srgbClr val="D9E2EA"/>
                      </a:solidFill>
                      <a:prstDash val="solid"/>
                      <a:round/>
                      <a:headEnd len="sm" w="sm" type="none"/>
                      <a:tailEnd len="sm" w="sm" type="none"/>
                    </a:lnL>
                    <a:lnR cap="flat" cmpd="sng" w="9525">
                      <a:solidFill>
                        <a:srgbClr val="D9E2EA"/>
                      </a:solidFill>
                      <a:prstDash val="solid"/>
                      <a:round/>
                      <a:headEnd len="sm" w="sm" type="none"/>
                      <a:tailEnd len="sm" w="sm" type="none"/>
                    </a:lnR>
                    <a:lnT cap="flat" cmpd="sng" w="9525">
                      <a:solidFill>
                        <a:srgbClr val="D9E2EA"/>
                      </a:solidFill>
                      <a:prstDash val="solid"/>
                      <a:round/>
                      <a:headEnd len="sm" w="sm" type="none"/>
                      <a:tailEnd len="sm" w="sm" type="none"/>
                    </a:lnT>
                    <a:lnB cap="flat" cmpd="sng" w="9525">
                      <a:solidFill>
                        <a:srgbClr val="D9E2EA"/>
                      </a:solidFill>
                      <a:prstDash val="solid"/>
                      <a:round/>
                      <a:headEnd len="sm" w="sm" type="none"/>
                      <a:tailEnd len="sm" w="sm" type="none"/>
                    </a:lnB>
                    <a:solidFill>
                      <a:srgbClr val="FFFFFF"/>
                    </a:solidFill>
                  </a:tcPr>
                </a:tc>
              </a:tr>
              <a:tr h="696250">
                <a:tc>
                  <a:txBody>
                    <a:bodyPr/>
                    <a:lstStyle/>
                    <a:p>
                      <a:pPr indent="0" lvl="0" marL="0" marR="0" rtl="0" algn="l">
                        <a:spcBef>
                          <a:spcPts val="0"/>
                        </a:spcBef>
                        <a:spcAft>
                          <a:spcPts val="0"/>
                        </a:spcAft>
                        <a:buClr>
                          <a:srgbClr val="1D2A5C"/>
                        </a:buClr>
                        <a:buSzPts val="1050"/>
                        <a:buFont typeface="Calibri"/>
                        <a:buNone/>
                      </a:pPr>
                      <a:r>
                        <a:rPr b="1" lang="en-US" sz="1050" u="none" cap="none" strike="noStrike">
                          <a:solidFill>
                            <a:srgbClr val="1D2A5C"/>
                          </a:solidFill>
                          <a:latin typeface="Calibri"/>
                          <a:ea typeface="Calibri"/>
                          <a:cs typeface="Calibri"/>
                          <a:sym typeface="Calibri"/>
                        </a:rPr>
                        <a:t>Random split over frame sequences</a:t>
                      </a:r>
                      <a:endParaRPr sz="1050" u="none" cap="none" strike="noStrike">
                        <a:latin typeface="Calibri"/>
                        <a:ea typeface="Calibri"/>
                        <a:cs typeface="Calibri"/>
                        <a:sym typeface="Calibri"/>
                      </a:endParaRPr>
                    </a:p>
                  </a:txBody>
                  <a:tcPr marT="64000" marB="64000" marR="64000" marL="64000" anchor="ctr">
                    <a:lnL cap="flat" cmpd="sng" w="9525">
                      <a:solidFill>
                        <a:srgbClr val="D9E2EA"/>
                      </a:solidFill>
                      <a:prstDash val="solid"/>
                      <a:round/>
                      <a:headEnd len="sm" w="sm" type="none"/>
                      <a:tailEnd len="sm" w="sm" type="none"/>
                    </a:lnL>
                    <a:lnR cap="flat" cmpd="sng" w="9525">
                      <a:solidFill>
                        <a:srgbClr val="D9E2EA"/>
                      </a:solidFill>
                      <a:prstDash val="solid"/>
                      <a:round/>
                      <a:headEnd len="sm" w="sm" type="none"/>
                      <a:tailEnd len="sm" w="sm" type="none"/>
                    </a:lnR>
                    <a:lnT cap="flat" cmpd="sng" w="9525">
                      <a:solidFill>
                        <a:srgbClr val="D9E2EA"/>
                      </a:solidFill>
                      <a:prstDash val="solid"/>
                      <a:round/>
                      <a:headEnd len="sm" w="sm" type="none"/>
                      <a:tailEnd len="sm" w="sm" type="none"/>
                    </a:lnT>
                    <a:lnB cap="flat" cmpd="sng" w="9525">
                      <a:solidFill>
                        <a:srgbClr val="D9E2EA"/>
                      </a:solidFill>
                      <a:prstDash val="solid"/>
                      <a:round/>
                      <a:headEnd len="sm" w="sm" type="none"/>
                      <a:tailEnd len="sm" w="sm" type="none"/>
                    </a:lnB>
                    <a:solidFill>
                      <a:srgbClr val="F2F6F9"/>
                    </a:solidFill>
                  </a:tcPr>
                </a:tc>
                <a:tc>
                  <a:txBody>
                    <a:bodyPr/>
                    <a:lstStyle/>
                    <a:p>
                      <a:pPr indent="0" lvl="0" marL="0" marR="0" rtl="0" algn="l">
                        <a:spcBef>
                          <a:spcPts val="0"/>
                        </a:spcBef>
                        <a:spcAft>
                          <a:spcPts val="0"/>
                        </a:spcAft>
                        <a:buClr>
                          <a:srgbClr val="23293B"/>
                        </a:buClr>
                        <a:buSzPts val="1050"/>
                        <a:buFont typeface="Calibri"/>
                        <a:buNone/>
                      </a:pPr>
                      <a:r>
                        <a:rPr lang="en-US" sz="1050" u="none" cap="none" strike="noStrike">
                          <a:solidFill>
                            <a:srgbClr val="23293B"/>
                          </a:solidFill>
                          <a:latin typeface="Calibri"/>
                          <a:ea typeface="Calibri"/>
                          <a:cs typeface="Calibri"/>
                          <a:sym typeface="Calibri"/>
                        </a:rPr>
                        <a:t>Near-duplicate leakage</a:t>
                      </a:r>
                      <a:endParaRPr sz="1050" u="none" cap="none" strike="noStrike">
                        <a:latin typeface="Calibri"/>
                        <a:ea typeface="Calibri"/>
                        <a:cs typeface="Calibri"/>
                        <a:sym typeface="Calibri"/>
                      </a:endParaRPr>
                    </a:p>
                  </a:txBody>
                  <a:tcPr marT="64000" marB="64000" marR="64000" marL="64000" anchor="ctr">
                    <a:lnL cap="flat" cmpd="sng" w="9525">
                      <a:solidFill>
                        <a:srgbClr val="D9E2EA"/>
                      </a:solidFill>
                      <a:prstDash val="solid"/>
                      <a:round/>
                      <a:headEnd len="sm" w="sm" type="none"/>
                      <a:tailEnd len="sm" w="sm" type="none"/>
                    </a:lnL>
                    <a:lnR cap="flat" cmpd="sng" w="9525">
                      <a:solidFill>
                        <a:srgbClr val="D9E2EA"/>
                      </a:solidFill>
                      <a:prstDash val="solid"/>
                      <a:round/>
                      <a:headEnd len="sm" w="sm" type="none"/>
                      <a:tailEnd len="sm" w="sm" type="none"/>
                    </a:lnR>
                    <a:lnT cap="flat" cmpd="sng" w="9525">
                      <a:solidFill>
                        <a:srgbClr val="D9E2EA"/>
                      </a:solidFill>
                      <a:prstDash val="solid"/>
                      <a:round/>
                      <a:headEnd len="sm" w="sm" type="none"/>
                      <a:tailEnd len="sm" w="sm" type="none"/>
                    </a:lnT>
                    <a:lnB cap="flat" cmpd="sng" w="9525">
                      <a:solidFill>
                        <a:srgbClr val="D9E2EA"/>
                      </a:solidFill>
                      <a:prstDash val="solid"/>
                      <a:round/>
                      <a:headEnd len="sm" w="sm" type="none"/>
                      <a:tailEnd len="sm" w="sm" type="none"/>
                    </a:lnB>
                    <a:solidFill>
                      <a:srgbClr val="F2F6F9"/>
                    </a:solidFill>
                  </a:tcPr>
                </a:tc>
                <a:tc>
                  <a:txBody>
                    <a:bodyPr/>
                    <a:lstStyle/>
                    <a:p>
                      <a:pPr indent="0" lvl="0" marL="0" marR="0" rtl="0" algn="l">
                        <a:spcBef>
                          <a:spcPts val="0"/>
                        </a:spcBef>
                        <a:spcAft>
                          <a:spcPts val="0"/>
                        </a:spcAft>
                        <a:buClr>
                          <a:srgbClr val="23293B"/>
                        </a:buClr>
                        <a:buSzPts val="1050"/>
                        <a:buFont typeface="Calibri"/>
                        <a:buNone/>
                      </a:pPr>
                      <a:r>
                        <a:rPr lang="en-US" sz="1050" u="none" cap="none" strike="noStrike">
                          <a:solidFill>
                            <a:srgbClr val="23293B"/>
                          </a:solidFill>
                          <a:latin typeface="Calibri"/>
                          <a:ea typeface="Calibri"/>
                          <a:cs typeface="Calibri"/>
                          <a:sym typeface="Calibri"/>
                        </a:rPr>
                        <a:t>Split by session</a:t>
                      </a:r>
                      <a:endParaRPr sz="1050" u="none" cap="none" strike="noStrike">
                        <a:latin typeface="Calibri"/>
                        <a:ea typeface="Calibri"/>
                        <a:cs typeface="Calibri"/>
                        <a:sym typeface="Calibri"/>
                      </a:endParaRPr>
                    </a:p>
                  </a:txBody>
                  <a:tcPr marT="64000" marB="64000" marR="64000" marL="64000" anchor="ctr">
                    <a:lnL cap="flat" cmpd="sng" w="9525">
                      <a:solidFill>
                        <a:srgbClr val="D9E2EA"/>
                      </a:solidFill>
                      <a:prstDash val="solid"/>
                      <a:round/>
                      <a:headEnd len="sm" w="sm" type="none"/>
                      <a:tailEnd len="sm" w="sm" type="none"/>
                    </a:lnL>
                    <a:lnR cap="flat" cmpd="sng" w="9525">
                      <a:solidFill>
                        <a:srgbClr val="D9E2EA"/>
                      </a:solidFill>
                      <a:prstDash val="solid"/>
                      <a:round/>
                      <a:headEnd len="sm" w="sm" type="none"/>
                      <a:tailEnd len="sm" w="sm" type="none"/>
                    </a:lnR>
                    <a:lnT cap="flat" cmpd="sng" w="9525">
                      <a:solidFill>
                        <a:srgbClr val="D9E2EA"/>
                      </a:solidFill>
                      <a:prstDash val="solid"/>
                      <a:round/>
                      <a:headEnd len="sm" w="sm" type="none"/>
                      <a:tailEnd len="sm" w="sm" type="none"/>
                    </a:lnT>
                    <a:lnB cap="flat" cmpd="sng" w="9525">
                      <a:solidFill>
                        <a:srgbClr val="D9E2EA"/>
                      </a:solidFill>
                      <a:prstDash val="solid"/>
                      <a:round/>
                      <a:headEnd len="sm" w="sm" type="none"/>
                      <a:tailEnd len="sm" w="sm" type="none"/>
                    </a:lnB>
                    <a:solidFill>
                      <a:srgbClr val="F2F6F9"/>
                    </a:solidFill>
                  </a:tcPr>
                </a:tc>
              </a:tr>
              <a:tr h="696250">
                <a:tc>
                  <a:txBody>
                    <a:bodyPr/>
                    <a:lstStyle/>
                    <a:p>
                      <a:pPr indent="0" lvl="0" marL="0" marR="0" rtl="0" algn="l">
                        <a:spcBef>
                          <a:spcPts val="0"/>
                        </a:spcBef>
                        <a:spcAft>
                          <a:spcPts val="0"/>
                        </a:spcAft>
                        <a:buClr>
                          <a:srgbClr val="1D2A5C"/>
                        </a:buClr>
                        <a:buSzPts val="1050"/>
                        <a:buFont typeface="Calibri"/>
                        <a:buNone/>
                      </a:pPr>
                      <a:r>
                        <a:rPr b="1" lang="en-US" sz="1050" u="none" cap="none" strike="noStrike">
                          <a:solidFill>
                            <a:srgbClr val="1D2A5C"/>
                          </a:solidFill>
                          <a:latin typeface="Calibri"/>
                          <a:ea typeface="Calibri"/>
                          <a:cs typeface="Calibri"/>
                          <a:sym typeface="Calibri"/>
                        </a:rPr>
                        <a:t>Mismatched normalisation stats</a:t>
                      </a:r>
                      <a:endParaRPr sz="1050" u="none" cap="none" strike="noStrike">
                        <a:latin typeface="Calibri"/>
                        <a:ea typeface="Calibri"/>
                        <a:cs typeface="Calibri"/>
                        <a:sym typeface="Calibri"/>
                      </a:endParaRPr>
                    </a:p>
                  </a:txBody>
                  <a:tcPr marT="64000" marB="64000" marR="64000" marL="64000" anchor="ctr">
                    <a:lnL cap="flat" cmpd="sng" w="9525">
                      <a:solidFill>
                        <a:srgbClr val="D9E2EA"/>
                      </a:solidFill>
                      <a:prstDash val="solid"/>
                      <a:round/>
                      <a:headEnd len="sm" w="sm" type="none"/>
                      <a:tailEnd len="sm" w="sm" type="none"/>
                    </a:lnL>
                    <a:lnR cap="flat" cmpd="sng" w="9525">
                      <a:solidFill>
                        <a:srgbClr val="D9E2EA"/>
                      </a:solidFill>
                      <a:prstDash val="solid"/>
                      <a:round/>
                      <a:headEnd len="sm" w="sm" type="none"/>
                      <a:tailEnd len="sm" w="sm" type="none"/>
                    </a:lnR>
                    <a:lnT cap="flat" cmpd="sng" w="9525">
                      <a:solidFill>
                        <a:srgbClr val="D9E2EA"/>
                      </a:solidFill>
                      <a:prstDash val="solid"/>
                      <a:round/>
                      <a:headEnd len="sm" w="sm" type="none"/>
                      <a:tailEnd len="sm" w="sm" type="none"/>
                    </a:lnT>
                    <a:lnB cap="flat" cmpd="sng" w="9525">
                      <a:solidFill>
                        <a:srgbClr val="D9E2EA"/>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23293B"/>
                        </a:buClr>
                        <a:buSzPts val="1050"/>
                        <a:buFont typeface="Calibri"/>
                        <a:buNone/>
                      </a:pPr>
                      <a:r>
                        <a:rPr lang="en-US" sz="1050" u="none" cap="none" strike="noStrike">
                          <a:solidFill>
                            <a:srgbClr val="23293B"/>
                          </a:solidFill>
                          <a:latin typeface="Calibri"/>
                          <a:ea typeface="Calibri"/>
                          <a:cs typeface="Calibri"/>
                          <a:sym typeface="Calibri"/>
                        </a:rPr>
                        <a:t>Contract broken at serve time</a:t>
                      </a:r>
                      <a:endParaRPr sz="1050" u="none" cap="none" strike="noStrike">
                        <a:latin typeface="Calibri"/>
                        <a:ea typeface="Calibri"/>
                        <a:cs typeface="Calibri"/>
                        <a:sym typeface="Calibri"/>
                      </a:endParaRPr>
                    </a:p>
                  </a:txBody>
                  <a:tcPr marT="64000" marB="64000" marR="64000" marL="64000" anchor="ctr">
                    <a:lnL cap="flat" cmpd="sng" w="9525">
                      <a:solidFill>
                        <a:srgbClr val="D9E2EA"/>
                      </a:solidFill>
                      <a:prstDash val="solid"/>
                      <a:round/>
                      <a:headEnd len="sm" w="sm" type="none"/>
                      <a:tailEnd len="sm" w="sm" type="none"/>
                    </a:lnL>
                    <a:lnR cap="flat" cmpd="sng" w="9525">
                      <a:solidFill>
                        <a:srgbClr val="D9E2EA"/>
                      </a:solidFill>
                      <a:prstDash val="solid"/>
                      <a:round/>
                      <a:headEnd len="sm" w="sm" type="none"/>
                      <a:tailEnd len="sm" w="sm" type="none"/>
                    </a:lnR>
                    <a:lnT cap="flat" cmpd="sng" w="9525">
                      <a:solidFill>
                        <a:srgbClr val="D9E2EA"/>
                      </a:solidFill>
                      <a:prstDash val="solid"/>
                      <a:round/>
                      <a:headEnd len="sm" w="sm" type="none"/>
                      <a:tailEnd len="sm" w="sm" type="none"/>
                    </a:lnT>
                    <a:lnB cap="flat" cmpd="sng" w="9525">
                      <a:solidFill>
                        <a:srgbClr val="D9E2EA"/>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23293B"/>
                        </a:buClr>
                        <a:buSzPts val="1050"/>
                        <a:buFont typeface="Calibri"/>
                        <a:buNone/>
                      </a:pPr>
                      <a:r>
                        <a:rPr lang="en-US" sz="1050" u="none" cap="none" strike="noStrike">
                          <a:solidFill>
                            <a:srgbClr val="23293B"/>
                          </a:solidFill>
                          <a:latin typeface="Calibri"/>
                          <a:ea typeface="Calibri"/>
                          <a:cs typeface="Calibri"/>
                          <a:sym typeface="Calibri"/>
                        </a:rPr>
                        <a:t>Stats travel with the checkpoint</a:t>
                      </a:r>
                      <a:endParaRPr sz="1050" u="none" cap="none" strike="noStrike">
                        <a:latin typeface="Calibri"/>
                        <a:ea typeface="Calibri"/>
                        <a:cs typeface="Calibri"/>
                        <a:sym typeface="Calibri"/>
                      </a:endParaRPr>
                    </a:p>
                  </a:txBody>
                  <a:tcPr marT="64000" marB="64000" marR="64000" marL="64000" anchor="ctr">
                    <a:lnL cap="flat" cmpd="sng" w="9525">
                      <a:solidFill>
                        <a:srgbClr val="D9E2EA"/>
                      </a:solidFill>
                      <a:prstDash val="solid"/>
                      <a:round/>
                      <a:headEnd len="sm" w="sm" type="none"/>
                      <a:tailEnd len="sm" w="sm" type="none"/>
                    </a:lnL>
                    <a:lnR cap="flat" cmpd="sng" w="9525">
                      <a:solidFill>
                        <a:srgbClr val="D9E2EA"/>
                      </a:solidFill>
                      <a:prstDash val="solid"/>
                      <a:round/>
                      <a:headEnd len="sm" w="sm" type="none"/>
                      <a:tailEnd len="sm" w="sm" type="none"/>
                    </a:lnR>
                    <a:lnT cap="flat" cmpd="sng" w="9525">
                      <a:solidFill>
                        <a:srgbClr val="D9E2EA"/>
                      </a:solidFill>
                      <a:prstDash val="solid"/>
                      <a:round/>
                      <a:headEnd len="sm" w="sm" type="none"/>
                      <a:tailEnd len="sm" w="sm" type="none"/>
                    </a:lnT>
                    <a:lnB cap="flat" cmpd="sng" w="9525">
                      <a:solidFill>
                        <a:srgbClr val="D9E2EA"/>
                      </a:solidFill>
                      <a:prstDash val="solid"/>
                      <a:round/>
                      <a:headEnd len="sm" w="sm" type="none"/>
                      <a:tailEnd len="sm" w="sm" type="none"/>
                    </a:lnB>
                    <a:solidFill>
                      <a:srgbClr val="FFFFFF"/>
                    </a:solidFill>
                  </a:tcPr>
                </a:tc>
              </a:tr>
              <a:tr h="696250">
                <a:tc>
                  <a:txBody>
                    <a:bodyPr/>
                    <a:lstStyle/>
                    <a:p>
                      <a:pPr indent="0" lvl="0" marL="0" marR="0" rtl="0" algn="l">
                        <a:spcBef>
                          <a:spcPts val="0"/>
                        </a:spcBef>
                        <a:spcAft>
                          <a:spcPts val="0"/>
                        </a:spcAft>
                        <a:buClr>
                          <a:srgbClr val="1D2A5C"/>
                        </a:buClr>
                        <a:buSzPts val="1050"/>
                        <a:buFont typeface="Calibri"/>
                        <a:buNone/>
                      </a:pPr>
                      <a:r>
                        <a:rPr b="1" lang="en-US" sz="1050" u="none" cap="none" strike="noStrike">
                          <a:solidFill>
                            <a:srgbClr val="1D2A5C"/>
                          </a:solidFill>
                          <a:latin typeface="Calibri"/>
                          <a:ea typeface="Calibri"/>
                          <a:cs typeface="Calibri"/>
                          <a:sym typeface="Calibri"/>
                        </a:rPr>
                        <a:t>Ignoring EXIF orientation</a:t>
                      </a:r>
                      <a:endParaRPr sz="1050" u="none" cap="none" strike="noStrike">
                        <a:latin typeface="Calibri"/>
                        <a:ea typeface="Calibri"/>
                        <a:cs typeface="Calibri"/>
                        <a:sym typeface="Calibri"/>
                      </a:endParaRPr>
                    </a:p>
                  </a:txBody>
                  <a:tcPr marT="64000" marB="64000" marR="64000" marL="64000" anchor="ctr">
                    <a:lnL cap="flat" cmpd="sng" w="9525">
                      <a:solidFill>
                        <a:srgbClr val="D9E2EA"/>
                      </a:solidFill>
                      <a:prstDash val="solid"/>
                      <a:round/>
                      <a:headEnd len="sm" w="sm" type="none"/>
                      <a:tailEnd len="sm" w="sm" type="none"/>
                    </a:lnL>
                    <a:lnR cap="flat" cmpd="sng" w="9525">
                      <a:solidFill>
                        <a:srgbClr val="D9E2EA"/>
                      </a:solidFill>
                      <a:prstDash val="solid"/>
                      <a:round/>
                      <a:headEnd len="sm" w="sm" type="none"/>
                      <a:tailEnd len="sm" w="sm" type="none"/>
                    </a:lnR>
                    <a:lnT cap="flat" cmpd="sng" w="9525">
                      <a:solidFill>
                        <a:srgbClr val="D9E2EA"/>
                      </a:solidFill>
                      <a:prstDash val="solid"/>
                      <a:round/>
                      <a:headEnd len="sm" w="sm" type="none"/>
                      <a:tailEnd len="sm" w="sm" type="none"/>
                    </a:lnT>
                    <a:lnB cap="flat" cmpd="sng" w="9525">
                      <a:solidFill>
                        <a:srgbClr val="D9E2EA"/>
                      </a:solidFill>
                      <a:prstDash val="solid"/>
                      <a:round/>
                      <a:headEnd len="sm" w="sm" type="none"/>
                      <a:tailEnd len="sm" w="sm" type="none"/>
                    </a:lnB>
                    <a:solidFill>
                      <a:srgbClr val="F2F6F9"/>
                    </a:solidFill>
                  </a:tcPr>
                </a:tc>
                <a:tc>
                  <a:txBody>
                    <a:bodyPr/>
                    <a:lstStyle/>
                    <a:p>
                      <a:pPr indent="0" lvl="0" marL="0" marR="0" rtl="0" algn="l">
                        <a:spcBef>
                          <a:spcPts val="0"/>
                        </a:spcBef>
                        <a:spcAft>
                          <a:spcPts val="0"/>
                        </a:spcAft>
                        <a:buClr>
                          <a:srgbClr val="23293B"/>
                        </a:buClr>
                        <a:buSzPts val="1050"/>
                        <a:buFont typeface="Calibri"/>
                        <a:buNone/>
                      </a:pPr>
                      <a:r>
                        <a:rPr lang="en-US" sz="1050" u="none" cap="none" strike="noStrike">
                          <a:solidFill>
                            <a:srgbClr val="23293B"/>
                          </a:solidFill>
                          <a:latin typeface="Calibri"/>
                          <a:ea typeface="Calibri"/>
                          <a:cs typeface="Calibri"/>
                          <a:sym typeface="Calibri"/>
                        </a:rPr>
                        <a:t>Images silently rotated 90 deg</a:t>
                      </a:r>
                      <a:endParaRPr sz="1050" u="none" cap="none" strike="noStrike">
                        <a:latin typeface="Calibri"/>
                        <a:ea typeface="Calibri"/>
                        <a:cs typeface="Calibri"/>
                        <a:sym typeface="Calibri"/>
                      </a:endParaRPr>
                    </a:p>
                  </a:txBody>
                  <a:tcPr marT="64000" marB="64000" marR="64000" marL="64000" anchor="ctr">
                    <a:lnL cap="flat" cmpd="sng" w="9525">
                      <a:solidFill>
                        <a:srgbClr val="D9E2EA"/>
                      </a:solidFill>
                      <a:prstDash val="solid"/>
                      <a:round/>
                      <a:headEnd len="sm" w="sm" type="none"/>
                      <a:tailEnd len="sm" w="sm" type="none"/>
                    </a:lnL>
                    <a:lnR cap="flat" cmpd="sng" w="9525">
                      <a:solidFill>
                        <a:srgbClr val="D9E2EA"/>
                      </a:solidFill>
                      <a:prstDash val="solid"/>
                      <a:round/>
                      <a:headEnd len="sm" w="sm" type="none"/>
                      <a:tailEnd len="sm" w="sm" type="none"/>
                    </a:lnR>
                    <a:lnT cap="flat" cmpd="sng" w="9525">
                      <a:solidFill>
                        <a:srgbClr val="D9E2EA"/>
                      </a:solidFill>
                      <a:prstDash val="solid"/>
                      <a:round/>
                      <a:headEnd len="sm" w="sm" type="none"/>
                      <a:tailEnd len="sm" w="sm" type="none"/>
                    </a:lnT>
                    <a:lnB cap="flat" cmpd="sng" w="9525">
                      <a:solidFill>
                        <a:srgbClr val="D9E2EA"/>
                      </a:solidFill>
                      <a:prstDash val="solid"/>
                      <a:round/>
                      <a:headEnd len="sm" w="sm" type="none"/>
                      <a:tailEnd len="sm" w="sm" type="none"/>
                    </a:lnB>
                    <a:solidFill>
                      <a:srgbClr val="F2F6F9"/>
                    </a:solidFill>
                  </a:tcPr>
                </a:tc>
                <a:tc>
                  <a:txBody>
                    <a:bodyPr/>
                    <a:lstStyle/>
                    <a:p>
                      <a:pPr indent="0" lvl="0" marL="0" marR="0" rtl="0" algn="l">
                        <a:spcBef>
                          <a:spcPts val="0"/>
                        </a:spcBef>
                        <a:spcAft>
                          <a:spcPts val="0"/>
                        </a:spcAft>
                        <a:buClr>
                          <a:srgbClr val="23293B"/>
                        </a:buClr>
                        <a:buSzPts val="1050"/>
                        <a:buFont typeface="Calibri"/>
                        <a:buNone/>
                      </a:pPr>
                      <a:r>
                        <a:rPr lang="en-US" sz="1050" u="none" cap="none" strike="noStrike">
                          <a:solidFill>
                            <a:srgbClr val="23293B"/>
                          </a:solidFill>
                          <a:latin typeface="Calibri"/>
                          <a:ea typeface="Calibri"/>
                          <a:cs typeface="Calibri"/>
                          <a:sym typeface="Calibri"/>
                        </a:rPr>
                        <a:t>Respect EXIF in the decode path</a:t>
                      </a:r>
                      <a:endParaRPr sz="1050" u="none" cap="none" strike="noStrike">
                        <a:latin typeface="Calibri"/>
                        <a:ea typeface="Calibri"/>
                        <a:cs typeface="Calibri"/>
                        <a:sym typeface="Calibri"/>
                      </a:endParaRPr>
                    </a:p>
                  </a:txBody>
                  <a:tcPr marT="64000" marB="64000" marR="64000" marL="64000" anchor="ctr">
                    <a:lnL cap="flat" cmpd="sng" w="9525">
                      <a:solidFill>
                        <a:srgbClr val="D9E2EA"/>
                      </a:solidFill>
                      <a:prstDash val="solid"/>
                      <a:round/>
                      <a:headEnd len="sm" w="sm" type="none"/>
                      <a:tailEnd len="sm" w="sm" type="none"/>
                    </a:lnL>
                    <a:lnR cap="flat" cmpd="sng" w="9525">
                      <a:solidFill>
                        <a:srgbClr val="D9E2EA"/>
                      </a:solidFill>
                      <a:prstDash val="solid"/>
                      <a:round/>
                      <a:headEnd len="sm" w="sm" type="none"/>
                      <a:tailEnd len="sm" w="sm" type="none"/>
                    </a:lnR>
                    <a:lnT cap="flat" cmpd="sng" w="9525">
                      <a:solidFill>
                        <a:srgbClr val="D9E2EA"/>
                      </a:solidFill>
                      <a:prstDash val="solid"/>
                      <a:round/>
                      <a:headEnd len="sm" w="sm" type="none"/>
                      <a:tailEnd len="sm" w="sm" type="none"/>
                    </a:lnT>
                    <a:lnB cap="flat" cmpd="sng" w="9525">
                      <a:solidFill>
                        <a:srgbClr val="D9E2EA"/>
                      </a:solidFill>
                      <a:prstDash val="solid"/>
                      <a:round/>
                      <a:headEnd len="sm" w="sm" type="none"/>
                      <a:tailEnd len="sm" w="sm" type="none"/>
                    </a:lnB>
                    <a:solidFill>
                      <a:srgbClr val="F2F6F9"/>
                    </a:solidFill>
                  </a:tcPr>
                </a:tc>
              </a:tr>
            </a:tbl>
          </a:graphicData>
        </a:graphic>
      </p:graphicFrame>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644" name="Shape 644"/>
        <p:cNvGrpSpPr/>
        <p:nvPr/>
      </p:nvGrpSpPr>
      <p:grpSpPr>
        <a:xfrm>
          <a:off x="0" y="0"/>
          <a:ext cx="0" cy="0"/>
          <a:chOff x="0" y="0"/>
          <a:chExt cx="0" cy="0"/>
        </a:xfrm>
      </p:grpSpPr>
      <p:sp>
        <p:nvSpPr>
          <p:cNvPr id="645" name="Google Shape;645;p22"/>
          <p:cNvSpPr/>
          <p:nvPr/>
        </p:nvSpPr>
        <p:spPr>
          <a:xfrm>
            <a:off x="502920" y="274320"/>
            <a:ext cx="9646920" cy="56692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D2A5C"/>
              </a:buClr>
              <a:buSzPts val="2700"/>
              <a:buFont typeface="Calibri"/>
              <a:buNone/>
            </a:pPr>
            <a:r>
              <a:rPr b="1" i="0" lang="en-US" sz="2700" u="none" cap="none" strike="noStrike">
                <a:solidFill>
                  <a:srgbClr val="1D2A5C"/>
                </a:solidFill>
                <a:latin typeface="Calibri"/>
                <a:ea typeface="Calibri"/>
                <a:cs typeface="Calibri"/>
                <a:sym typeface="Calibri"/>
              </a:rPr>
              <a:t>transforms.py — single source of truth</a:t>
            </a:r>
            <a:endParaRPr b="0" i="0" sz="2700" u="none" cap="none" strike="noStrike">
              <a:solidFill>
                <a:schemeClr val="dk1"/>
              </a:solidFill>
              <a:latin typeface="Calibri"/>
              <a:ea typeface="Calibri"/>
              <a:cs typeface="Calibri"/>
              <a:sym typeface="Calibri"/>
            </a:endParaRPr>
          </a:p>
        </p:txBody>
      </p:sp>
      <p:sp>
        <p:nvSpPr>
          <p:cNvPr id="646" name="Google Shape;646;p22"/>
          <p:cNvSpPr/>
          <p:nvPr/>
        </p:nvSpPr>
        <p:spPr>
          <a:xfrm>
            <a:off x="502920" y="859536"/>
            <a:ext cx="9646920" cy="31089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F6B7A"/>
              </a:buClr>
              <a:buSzPts val="1250"/>
              <a:buFont typeface="Arial"/>
              <a:buNone/>
            </a:pPr>
            <a:r>
              <a:rPr b="0" i="0" lang="en-US" sz="1250" u="none" cap="none" strike="noStrike">
                <a:solidFill>
                  <a:srgbClr val="5F6B7A"/>
                </a:solidFill>
                <a:latin typeface="Arial"/>
                <a:ea typeface="Arial"/>
                <a:cs typeface="Arial"/>
                <a:sym typeface="Arial"/>
              </a:rPr>
              <a:t>المصدر الوحيد للحقيقة</a:t>
            </a:r>
            <a:endParaRPr b="0" i="0" sz="1250" u="none" cap="none" strike="noStrike">
              <a:solidFill>
                <a:schemeClr val="dk1"/>
              </a:solidFill>
              <a:latin typeface="Calibri"/>
              <a:ea typeface="Calibri"/>
              <a:cs typeface="Calibri"/>
              <a:sym typeface="Calibri"/>
            </a:endParaRPr>
          </a:p>
        </p:txBody>
      </p:sp>
      <p:pic>
        <p:nvPicPr>
          <p:cNvPr descr="/sessions/blissful-determined-ritchie/build/assets/sdaia_logo.png" id="647" name="Google Shape;647;p22"/>
          <p:cNvPicPr preferRelativeResize="0"/>
          <p:nvPr/>
        </p:nvPicPr>
        <p:blipFill rotWithShape="1">
          <a:blip r:embed="rId3">
            <a:alphaModFix/>
          </a:blip>
          <a:srcRect b="0" l="0" r="0" t="0"/>
          <a:stretch/>
        </p:blipFill>
        <p:spPr>
          <a:xfrm>
            <a:off x="10625328" y="310896"/>
            <a:ext cx="1078992" cy="264111"/>
          </a:xfrm>
          <a:prstGeom prst="rect">
            <a:avLst/>
          </a:prstGeom>
          <a:noFill/>
          <a:ln>
            <a:noFill/>
          </a:ln>
        </p:spPr>
      </p:pic>
      <p:sp>
        <p:nvSpPr>
          <p:cNvPr id="648" name="Google Shape;648;p22"/>
          <p:cNvSpPr/>
          <p:nvPr/>
        </p:nvSpPr>
        <p:spPr>
          <a:xfrm>
            <a:off x="502920" y="6528816"/>
            <a:ext cx="8686800"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A79D"/>
              </a:buClr>
              <a:buSzPts val="800"/>
              <a:buFont typeface="Calibri"/>
              <a:buNone/>
            </a:pPr>
            <a:r>
              <a:rPr b="1" i="0" lang="en-US" sz="800" u="none" cap="none" strike="noStrike">
                <a:solidFill>
                  <a:srgbClr val="00A79D"/>
                </a:solidFill>
                <a:latin typeface="Calibri"/>
                <a:ea typeface="Calibri"/>
                <a:cs typeface="Calibri"/>
                <a:sym typeface="Calibri"/>
              </a:rPr>
              <a:t>MODULE 1   </a:t>
            </a:r>
            <a:r>
              <a:rPr b="0" i="0" lang="en-US" sz="800" u="none" cap="none" strike="noStrike">
                <a:solidFill>
                  <a:srgbClr val="8A96A6"/>
                </a:solidFill>
                <a:latin typeface="Calibri"/>
                <a:ea typeface="Calibri"/>
                <a:cs typeface="Calibri"/>
                <a:sym typeface="Calibri"/>
              </a:rPr>
              <a:t>SDA-AIE-212 · Computer Vision Systems Development</a:t>
            </a:r>
            <a:endParaRPr b="0" i="0" sz="800" u="none" cap="none" strike="noStrike">
              <a:solidFill>
                <a:schemeClr val="dk1"/>
              </a:solidFill>
              <a:latin typeface="Calibri"/>
              <a:ea typeface="Calibri"/>
              <a:cs typeface="Calibri"/>
              <a:sym typeface="Calibri"/>
            </a:endParaRPr>
          </a:p>
        </p:txBody>
      </p:sp>
      <p:sp>
        <p:nvSpPr>
          <p:cNvPr id="649" name="Google Shape;649;p22"/>
          <p:cNvSpPr/>
          <p:nvPr/>
        </p:nvSpPr>
        <p:spPr>
          <a:xfrm>
            <a:off x="11292840" y="6528816"/>
            <a:ext cx="411480" cy="219456"/>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8A96A6"/>
              </a:buClr>
              <a:buSzPts val="900"/>
              <a:buFont typeface="Calibri"/>
              <a:buNone/>
            </a:pPr>
            <a:r>
              <a:rPr b="0" i="0" lang="en-US" sz="900" u="none" cap="none" strike="noStrike">
                <a:solidFill>
                  <a:srgbClr val="8A96A6"/>
                </a:solidFill>
                <a:latin typeface="Calibri"/>
                <a:ea typeface="Calibri"/>
                <a:cs typeface="Calibri"/>
                <a:sym typeface="Calibri"/>
              </a:rPr>
              <a:t>22</a:t>
            </a:r>
            <a:endParaRPr b="0" i="0" sz="900" u="none" cap="none" strike="noStrike">
              <a:solidFill>
                <a:schemeClr val="dk1"/>
              </a:solidFill>
              <a:latin typeface="Calibri"/>
              <a:ea typeface="Calibri"/>
              <a:cs typeface="Calibri"/>
              <a:sym typeface="Calibri"/>
            </a:endParaRPr>
          </a:p>
        </p:txBody>
      </p:sp>
      <p:sp>
        <p:nvSpPr>
          <p:cNvPr id="650" name="Google Shape;650;p22"/>
          <p:cNvSpPr/>
          <p:nvPr/>
        </p:nvSpPr>
        <p:spPr>
          <a:xfrm>
            <a:off x="502920" y="1389888"/>
            <a:ext cx="7178040" cy="4965192"/>
          </a:xfrm>
          <a:prstGeom prst="roundRect">
            <a:avLst>
              <a:gd fmla="val 1842" name="adj"/>
            </a:avLst>
          </a:prstGeom>
          <a:solidFill>
            <a:srgbClr val="0F172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1" name="Google Shape;651;p22"/>
          <p:cNvSpPr/>
          <p:nvPr/>
        </p:nvSpPr>
        <p:spPr>
          <a:xfrm>
            <a:off x="704088" y="1536192"/>
            <a:ext cx="2699309" cy="292608"/>
          </a:xfrm>
          <a:prstGeom prst="roundRect">
            <a:avLst>
              <a:gd fmla="val 18750" name="adj"/>
            </a:avLst>
          </a:prstGeom>
          <a:solidFill>
            <a:srgbClr val="1E293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2" name="Google Shape;652;p22"/>
          <p:cNvSpPr/>
          <p:nvPr/>
        </p:nvSpPr>
        <p:spPr>
          <a:xfrm>
            <a:off x="795528" y="1536192"/>
            <a:ext cx="662940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EEAD4"/>
              </a:buClr>
              <a:buSzPts val="950"/>
              <a:buFont typeface="Courier New"/>
              <a:buNone/>
            </a:pPr>
            <a:r>
              <a:rPr b="0" i="0" lang="en-US" sz="950" u="none" cap="none" strike="noStrike">
                <a:solidFill>
                  <a:srgbClr val="5EEAD4"/>
                </a:solidFill>
                <a:latin typeface="Courier New"/>
                <a:ea typeface="Courier New"/>
                <a:cs typeface="Courier New"/>
                <a:sym typeface="Courier New"/>
              </a:rPr>
              <a:t>src/tamr_vision/data/transforms.py</a:t>
            </a:r>
            <a:endParaRPr b="0" i="0" sz="950" u="none" cap="none" strike="noStrike">
              <a:solidFill>
                <a:schemeClr val="dk1"/>
              </a:solidFill>
              <a:latin typeface="Calibri"/>
              <a:ea typeface="Calibri"/>
              <a:cs typeface="Calibri"/>
              <a:sym typeface="Calibri"/>
            </a:endParaRPr>
          </a:p>
        </p:txBody>
      </p:sp>
      <p:sp>
        <p:nvSpPr>
          <p:cNvPr id="653" name="Google Shape;653;p22"/>
          <p:cNvSpPr/>
          <p:nvPr/>
        </p:nvSpPr>
        <p:spPr>
          <a:xfrm>
            <a:off x="758952" y="1920240"/>
            <a:ext cx="6720840" cy="4279392"/>
          </a:xfrm>
          <a:prstGeom prst="rect">
            <a:avLst/>
          </a:prstGeom>
          <a:noFill/>
          <a:ln>
            <a:noFill/>
          </a:ln>
        </p:spPr>
        <p:txBody>
          <a:bodyPr anchorCtr="0" anchor="t" bIns="0" lIns="0" spcFirstLastPara="1" rIns="0" wrap="square" tIns="0">
            <a:noAutofit/>
          </a:bodyPr>
          <a:lstStyle/>
          <a:p>
            <a:pPr indent="0" lvl="0" marL="0" marR="0" rtl="0" algn="l">
              <a:lnSpc>
                <a:spcPct val="128000"/>
              </a:lnSpc>
              <a:spcBef>
                <a:spcPts val="0"/>
              </a:spcBef>
              <a:spcAft>
                <a:spcPts val="0"/>
              </a:spcAft>
              <a:buClr>
                <a:srgbClr val="8FBF71"/>
              </a:buClr>
              <a:buSzPts val="900"/>
              <a:buFont typeface="Courier New"/>
              <a:buNone/>
            </a:pPr>
            <a:r>
              <a:rPr b="0" i="0" lang="en-US" sz="900" u="none" cap="none" strike="noStrike">
                <a:solidFill>
                  <a:srgbClr val="8FBF71"/>
                </a:solidFill>
                <a:latin typeface="Courier New"/>
                <a:ea typeface="Courier New"/>
                <a:cs typeface="Courier New"/>
                <a:sym typeface="Courier New"/>
              </a:rPr>
              <a:t># THE preprocessing contract. Training, eval, and the ONNX</a:t>
            </a:r>
            <a:endParaRPr b="0" i="0" sz="900" u="none" cap="none" strike="noStrike">
              <a:solidFill>
                <a:schemeClr val="dk1"/>
              </a:solidFill>
              <a:latin typeface="Calibri"/>
              <a:ea typeface="Calibri"/>
              <a:cs typeface="Calibri"/>
              <a:sym typeface="Calibri"/>
            </a:endParaRPr>
          </a:p>
          <a:p>
            <a:pPr indent="0" lvl="0" marL="0" marR="0" rtl="0" algn="l">
              <a:lnSpc>
                <a:spcPct val="128000"/>
              </a:lnSpc>
              <a:spcBef>
                <a:spcPts val="0"/>
              </a:spcBef>
              <a:spcAft>
                <a:spcPts val="0"/>
              </a:spcAft>
              <a:buClr>
                <a:srgbClr val="8FBF71"/>
              </a:buClr>
              <a:buSzPts val="900"/>
              <a:buFont typeface="Courier New"/>
              <a:buNone/>
            </a:pPr>
            <a:r>
              <a:rPr b="0" i="0" lang="en-US" sz="900" u="none" cap="none" strike="noStrike">
                <a:solidFill>
                  <a:srgbClr val="8FBF71"/>
                </a:solidFill>
                <a:latin typeface="Courier New"/>
                <a:ea typeface="Courier New"/>
                <a:cs typeface="Courier New"/>
                <a:sym typeface="Courier New"/>
              </a:rPr>
              <a:t># wrapper all import from here -- never duplicate resize or</a:t>
            </a:r>
            <a:endParaRPr b="0" i="0" sz="900" u="none" cap="none" strike="noStrike">
              <a:solidFill>
                <a:schemeClr val="dk1"/>
              </a:solidFill>
              <a:latin typeface="Calibri"/>
              <a:ea typeface="Calibri"/>
              <a:cs typeface="Calibri"/>
              <a:sym typeface="Calibri"/>
            </a:endParaRPr>
          </a:p>
          <a:p>
            <a:pPr indent="0" lvl="0" marL="0" marR="0" rtl="0" algn="l">
              <a:lnSpc>
                <a:spcPct val="128000"/>
              </a:lnSpc>
              <a:spcBef>
                <a:spcPts val="0"/>
              </a:spcBef>
              <a:spcAft>
                <a:spcPts val="0"/>
              </a:spcAft>
              <a:buClr>
                <a:srgbClr val="8FBF71"/>
              </a:buClr>
              <a:buSzPts val="900"/>
              <a:buFont typeface="Courier New"/>
              <a:buNone/>
            </a:pPr>
            <a:r>
              <a:rPr b="0" i="0" lang="en-US" sz="900" u="none" cap="none" strike="noStrike">
                <a:solidFill>
                  <a:srgbClr val="8FBF71"/>
                </a:solidFill>
                <a:latin typeface="Courier New"/>
                <a:ea typeface="Courier New"/>
                <a:cs typeface="Courier New"/>
                <a:sym typeface="Courier New"/>
              </a:rPr>
              <a:t># normalisation logic anywhere else in the codebase.</a:t>
            </a:r>
            <a:endParaRPr b="0" i="0" sz="900" u="none" cap="none" strike="noStrike">
              <a:solidFill>
                <a:schemeClr val="dk1"/>
              </a:solidFill>
              <a:latin typeface="Calibri"/>
              <a:ea typeface="Calibri"/>
              <a:cs typeface="Calibri"/>
              <a:sym typeface="Calibri"/>
            </a:endParaRPr>
          </a:p>
          <a:p>
            <a:pPr indent="0" lvl="0" marL="0" marR="0" rtl="0" algn="l">
              <a:lnSpc>
                <a:spcPct val="128000"/>
              </a:lnSpc>
              <a:spcBef>
                <a:spcPts val="0"/>
              </a:spcBef>
              <a:spcAft>
                <a:spcPts val="0"/>
              </a:spcAft>
              <a:buClr>
                <a:srgbClr val="DCE6F5"/>
              </a:buClr>
              <a:buSzPts val="900"/>
              <a:buFont typeface="Courier New"/>
              <a:buNone/>
            </a:pPr>
            <a:r>
              <a:rPr b="0" i="0" lang="en-US" sz="900" u="none" cap="none" strike="noStrike">
                <a:solidFill>
                  <a:srgbClr val="DCE6F5"/>
                </a:solidFill>
                <a:latin typeface="Courier New"/>
                <a:ea typeface="Courier New"/>
                <a:cs typeface="Courier New"/>
                <a:sym typeface="Courier New"/>
              </a:rPr>
              <a:t>import torch</a:t>
            </a:r>
            <a:endParaRPr b="0" i="0" sz="900" u="none" cap="none" strike="noStrike">
              <a:solidFill>
                <a:schemeClr val="dk1"/>
              </a:solidFill>
              <a:latin typeface="Calibri"/>
              <a:ea typeface="Calibri"/>
              <a:cs typeface="Calibri"/>
              <a:sym typeface="Calibri"/>
            </a:endParaRPr>
          </a:p>
          <a:p>
            <a:pPr indent="0" lvl="0" marL="0" marR="0" rtl="0" algn="l">
              <a:lnSpc>
                <a:spcPct val="128000"/>
              </a:lnSpc>
              <a:spcBef>
                <a:spcPts val="0"/>
              </a:spcBef>
              <a:spcAft>
                <a:spcPts val="0"/>
              </a:spcAft>
              <a:buClr>
                <a:srgbClr val="DCE6F5"/>
              </a:buClr>
              <a:buSzPts val="900"/>
              <a:buFont typeface="Courier New"/>
              <a:buNone/>
            </a:pPr>
            <a:r>
              <a:rPr b="0" i="0" lang="en-US" sz="900" u="none" cap="none" strike="noStrike">
                <a:solidFill>
                  <a:srgbClr val="DCE6F5"/>
                </a:solidFill>
                <a:latin typeface="Courier New"/>
                <a:ea typeface="Courier New"/>
                <a:cs typeface="Courier New"/>
                <a:sym typeface="Courier New"/>
              </a:rPr>
              <a:t>from torchvision.transforms import v2</a:t>
            </a:r>
            <a:endParaRPr b="0" i="0" sz="900" u="none" cap="none" strike="noStrike">
              <a:solidFill>
                <a:schemeClr val="dk1"/>
              </a:solidFill>
              <a:latin typeface="Calibri"/>
              <a:ea typeface="Calibri"/>
              <a:cs typeface="Calibri"/>
              <a:sym typeface="Calibri"/>
            </a:endParaRPr>
          </a:p>
          <a:p>
            <a:pPr indent="0" lvl="0" marL="0" marR="0" rtl="0" algn="l">
              <a:lnSpc>
                <a:spcPct val="128000"/>
              </a:lnSpc>
              <a:spcBef>
                <a:spcPts val="0"/>
              </a:spcBef>
              <a:spcAft>
                <a:spcPts val="0"/>
              </a:spcAft>
              <a:buClr>
                <a:srgbClr val="DCE6F5"/>
              </a:buClr>
              <a:buSzPts val="900"/>
              <a:buFont typeface="Courier New"/>
              <a:buNone/>
            </a:pPr>
            <a:r>
              <a:rPr b="0" i="0" lang="en-US" sz="900" u="none" cap="none" strike="noStrike">
                <a:solidFill>
                  <a:srgbClr val="DCE6F5"/>
                </a:solidFill>
                <a:latin typeface="Courier New"/>
                <a:ea typeface="Courier New"/>
                <a:cs typeface="Courier New"/>
                <a:sym typeface="Courier New"/>
              </a:rPr>
              <a:t> </a:t>
            </a:r>
            <a:endParaRPr b="0" i="0" sz="900" u="none" cap="none" strike="noStrike">
              <a:solidFill>
                <a:schemeClr val="dk1"/>
              </a:solidFill>
              <a:latin typeface="Calibri"/>
              <a:ea typeface="Calibri"/>
              <a:cs typeface="Calibri"/>
              <a:sym typeface="Calibri"/>
            </a:endParaRPr>
          </a:p>
          <a:p>
            <a:pPr indent="0" lvl="0" marL="0" marR="0" rtl="0" algn="l">
              <a:lnSpc>
                <a:spcPct val="128000"/>
              </a:lnSpc>
              <a:spcBef>
                <a:spcPts val="0"/>
              </a:spcBef>
              <a:spcAft>
                <a:spcPts val="0"/>
              </a:spcAft>
              <a:buClr>
                <a:srgbClr val="DCE6F5"/>
              </a:buClr>
              <a:buSzPts val="900"/>
              <a:buFont typeface="Courier New"/>
              <a:buNone/>
            </a:pPr>
            <a:r>
              <a:rPr b="0" i="0" lang="en-US" sz="900" u="none" cap="none" strike="noStrike">
                <a:solidFill>
                  <a:srgbClr val="DCE6F5"/>
                </a:solidFill>
                <a:latin typeface="Courier New"/>
                <a:ea typeface="Courier New"/>
                <a:cs typeface="Courier New"/>
                <a:sym typeface="Courier New"/>
              </a:rPr>
              <a:t>IMG_SIZE = 224        # classifier; detector uses 640 (M3)</a:t>
            </a:r>
            <a:endParaRPr b="0" i="0" sz="900" u="none" cap="none" strike="noStrike">
              <a:solidFill>
                <a:schemeClr val="dk1"/>
              </a:solidFill>
              <a:latin typeface="Calibri"/>
              <a:ea typeface="Calibri"/>
              <a:cs typeface="Calibri"/>
              <a:sym typeface="Calibri"/>
            </a:endParaRPr>
          </a:p>
          <a:p>
            <a:pPr indent="0" lvl="0" marL="0" marR="0" rtl="0" algn="l">
              <a:lnSpc>
                <a:spcPct val="128000"/>
              </a:lnSpc>
              <a:spcBef>
                <a:spcPts val="0"/>
              </a:spcBef>
              <a:spcAft>
                <a:spcPts val="0"/>
              </a:spcAft>
              <a:buClr>
                <a:srgbClr val="DCE6F5"/>
              </a:buClr>
              <a:buSzPts val="900"/>
              <a:buFont typeface="Courier New"/>
              <a:buNone/>
            </a:pPr>
            <a:r>
              <a:rPr b="0" i="0" lang="en-US" sz="900" u="none" cap="none" strike="noStrike">
                <a:solidFill>
                  <a:srgbClr val="DCE6F5"/>
                </a:solidFill>
                <a:latin typeface="Courier New"/>
                <a:ea typeface="Courier New"/>
                <a:cs typeface="Courier New"/>
                <a:sym typeface="Courier New"/>
              </a:rPr>
              <a:t>IMAGENET_MEAN = (0.485, 0.456, 0.406)</a:t>
            </a:r>
            <a:endParaRPr b="0" i="0" sz="900" u="none" cap="none" strike="noStrike">
              <a:solidFill>
                <a:schemeClr val="dk1"/>
              </a:solidFill>
              <a:latin typeface="Calibri"/>
              <a:ea typeface="Calibri"/>
              <a:cs typeface="Calibri"/>
              <a:sym typeface="Calibri"/>
            </a:endParaRPr>
          </a:p>
          <a:p>
            <a:pPr indent="0" lvl="0" marL="0" marR="0" rtl="0" algn="l">
              <a:lnSpc>
                <a:spcPct val="128000"/>
              </a:lnSpc>
              <a:spcBef>
                <a:spcPts val="0"/>
              </a:spcBef>
              <a:spcAft>
                <a:spcPts val="0"/>
              </a:spcAft>
              <a:buClr>
                <a:srgbClr val="DCE6F5"/>
              </a:buClr>
              <a:buSzPts val="900"/>
              <a:buFont typeface="Courier New"/>
              <a:buNone/>
            </a:pPr>
            <a:r>
              <a:rPr b="0" i="0" lang="en-US" sz="900" u="none" cap="none" strike="noStrike">
                <a:solidFill>
                  <a:srgbClr val="DCE6F5"/>
                </a:solidFill>
                <a:latin typeface="Courier New"/>
                <a:ea typeface="Courier New"/>
                <a:cs typeface="Courier New"/>
                <a:sym typeface="Courier New"/>
              </a:rPr>
              <a:t>IMAGENET_STD = (0.229, 0.224, 0.225)</a:t>
            </a:r>
            <a:endParaRPr b="0" i="0" sz="900" u="none" cap="none" strike="noStrike">
              <a:solidFill>
                <a:schemeClr val="dk1"/>
              </a:solidFill>
              <a:latin typeface="Calibri"/>
              <a:ea typeface="Calibri"/>
              <a:cs typeface="Calibri"/>
              <a:sym typeface="Calibri"/>
            </a:endParaRPr>
          </a:p>
          <a:p>
            <a:pPr indent="0" lvl="0" marL="0" marR="0" rtl="0" algn="l">
              <a:lnSpc>
                <a:spcPct val="128000"/>
              </a:lnSpc>
              <a:spcBef>
                <a:spcPts val="0"/>
              </a:spcBef>
              <a:spcAft>
                <a:spcPts val="0"/>
              </a:spcAft>
              <a:buClr>
                <a:srgbClr val="DCE6F5"/>
              </a:buClr>
              <a:buSzPts val="900"/>
              <a:buFont typeface="Courier New"/>
              <a:buNone/>
            </a:pPr>
            <a:r>
              <a:rPr b="0" i="0" lang="en-US" sz="900" u="none" cap="none" strike="noStrike">
                <a:solidFill>
                  <a:srgbClr val="DCE6F5"/>
                </a:solidFill>
                <a:latin typeface="Courier New"/>
                <a:ea typeface="Courier New"/>
                <a:cs typeface="Courier New"/>
                <a:sym typeface="Courier New"/>
              </a:rPr>
              <a:t> </a:t>
            </a:r>
            <a:endParaRPr b="0" i="0" sz="900" u="none" cap="none" strike="noStrike">
              <a:solidFill>
                <a:schemeClr val="dk1"/>
              </a:solidFill>
              <a:latin typeface="Calibri"/>
              <a:ea typeface="Calibri"/>
              <a:cs typeface="Calibri"/>
              <a:sym typeface="Calibri"/>
            </a:endParaRPr>
          </a:p>
          <a:p>
            <a:pPr indent="0" lvl="0" marL="0" marR="0" rtl="0" algn="l">
              <a:lnSpc>
                <a:spcPct val="128000"/>
              </a:lnSpc>
              <a:spcBef>
                <a:spcPts val="0"/>
              </a:spcBef>
              <a:spcAft>
                <a:spcPts val="0"/>
              </a:spcAft>
              <a:buClr>
                <a:srgbClr val="DCE6F5"/>
              </a:buClr>
              <a:buSzPts val="900"/>
              <a:buFont typeface="Courier New"/>
              <a:buNone/>
            </a:pPr>
            <a:r>
              <a:rPr b="0" i="0" lang="en-US" sz="900" u="none" cap="none" strike="noStrike">
                <a:solidFill>
                  <a:srgbClr val="DCE6F5"/>
                </a:solidFill>
                <a:latin typeface="Courier New"/>
                <a:ea typeface="Courier New"/>
                <a:cs typeface="Courier New"/>
                <a:sym typeface="Courier New"/>
              </a:rPr>
              <a:t>def eval_tf():</a:t>
            </a:r>
            <a:endParaRPr b="0" i="0" sz="900" u="none" cap="none" strike="noStrike">
              <a:solidFill>
                <a:schemeClr val="dk1"/>
              </a:solidFill>
              <a:latin typeface="Calibri"/>
              <a:ea typeface="Calibri"/>
              <a:cs typeface="Calibri"/>
              <a:sym typeface="Calibri"/>
            </a:endParaRPr>
          </a:p>
          <a:p>
            <a:pPr indent="0" lvl="0" marL="0" marR="0" rtl="0" algn="l">
              <a:lnSpc>
                <a:spcPct val="128000"/>
              </a:lnSpc>
              <a:spcBef>
                <a:spcPts val="0"/>
              </a:spcBef>
              <a:spcAft>
                <a:spcPts val="0"/>
              </a:spcAft>
              <a:buClr>
                <a:srgbClr val="8FBF71"/>
              </a:buClr>
              <a:buSzPts val="900"/>
              <a:buFont typeface="Courier New"/>
              <a:buNone/>
            </a:pPr>
            <a:r>
              <a:rPr b="0" i="0" lang="en-US" sz="900" u="none" cap="none" strike="noStrike">
                <a:solidFill>
                  <a:srgbClr val="8FBF71"/>
                </a:solidFill>
                <a:latin typeface="Courier New"/>
                <a:ea typeface="Courier New"/>
                <a:cs typeface="Courier New"/>
                <a:sym typeface="Courier New"/>
              </a:rPr>
              <a:t>    """Deterministic path: eval harness AND production."""</a:t>
            </a:r>
            <a:endParaRPr b="0" i="0" sz="900" u="none" cap="none" strike="noStrike">
              <a:solidFill>
                <a:schemeClr val="dk1"/>
              </a:solidFill>
              <a:latin typeface="Calibri"/>
              <a:ea typeface="Calibri"/>
              <a:cs typeface="Calibri"/>
              <a:sym typeface="Calibri"/>
            </a:endParaRPr>
          </a:p>
          <a:p>
            <a:pPr indent="0" lvl="0" marL="0" marR="0" rtl="0" algn="l">
              <a:lnSpc>
                <a:spcPct val="128000"/>
              </a:lnSpc>
              <a:spcBef>
                <a:spcPts val="0"/>
              </a:spcBef>
              <a:spcAft>
                <a:spcPts val="0"/>
              </a:spcAft>
              <a:buClr>
                <a:srgbClr val="DCE6F5"/>
              </a:buClr>
              <a:buSzPts val="900"/>
              <a:buFont typeface="Courier New"/>
              <a:buNone/>
            </a:pPr>
            <a:r>
              <a:rPr b="0" i="0" lang="en-US" sz="900" u="none" cap="none" strike="noStrike">
                <a:solidFill>
                  <a:srgbClr val="DCE6F5"/>
                </a:solidFill>
                <a:latin typeface="Courier New"/>
                <a:ea typeface="Courier New"/>
                <a:cs typeface="Courier New"/>
                <a:sym typeface="Courier New"/>
              </a:rPr>
              <a:t>    return v2.Compose([</a:t>
            </a:r>
            <a:endParaRPr b="0" i="0" sz="900" u="none" cap="none" strike="noStrike">
              <a:solidFill>
                <a:schemeClr val="dk1"/>
              </a:solidFill>
              <a:latin typeface="Calibri"/>
              <a:ea typeface="Calibri"/>
              <a:cs typeface="Calibri"/>
              <a:sym typeface="Calibri"/>
            </a:endParaRPr>
          </a:p>
          <a:p>
            <a:pPr indent="0" lvl="0" marL="0" marR="0" rtl="0" algn="l">
              <a:lnSpc>
                <a:spcPct val="128000"/>
              </a:lnSpc>
              <a:spcBef>
                <a:spcPts val="0"/>
              </a:spcBef>
              <a:spcAft>
                <a:spcPts val="0"/>
              </a:spcAft>
              <a:buClr>
                <a:srgbClr val="DCE6F5"/>
              </a:buClr>
              <a:buSzPts val="900"/>
              <a:buFont typeface="Courier New"/>
              <a:buNone/>
            </a:pPr>
            <a:r>
              <a:rPr b="0" i="0" lang="en-US" sz="900" u="none" cap="none" strike="noStrike">
                <a:solidFill>
                  <a:srgbClr val="DCE6F5"/>
                </a:solidFill>
                <a:latin typeface="Courier New"/>
                <a:ea typeface="Courier New"/>
                <a:cs typeface="Courier New"/>
                <a:sym typeface="Courier New"/>
              </a:rPr>
              <a:t>        v2.Resize((IMG_SIZE, IMG_SIZE)),        # bilinear</a:t>
            </a:r>
            <a:endParaRPr b="0" i="0" sz="900" u="none" cap="none" strike="noStrike">
              <a:solidFill>
                <a:schemeClr val="dk1"/>
              </a:solidFill>
              <a:latin typeface="Calibri"/>
              <a:ea typeface="Calibri"/>
              <a:cs typeface="Calibri"/>
              <a:sym typeface="Calibri"/>
            </a:endParaRPr>
          </a:p>
          <a:p>
            <a:pPr indent="0" lvl="0" marL="0" marR="0" rtl="0" algn="l">
              <a:lnSpc>
                <a:spcPct val="128000"/>
              </a:lnSpc>
              <a:spcBef>
                <a:spcPts val="0"/>
              </a:spcBef>
              <a:spcAft>
                <a:spcPts val="0"/>
              </a:spcAft>
              <a:buClr>
                <a:srgbClr val="DCE6F5"/>
              </a:buClr>
              <a:buSzPts val="900"/>
              <a:buFont typeface="Courier New"/>
              <a:buNone/>
            </a:pPr>
            <a:r>
              <a:rPr b="0" i="0" lang="en-US" sz="900" u="none" cap="none" strike="noStrike">
                <a:solidFill>
                  <a:srgbClr val="DCE6F5"/>
                </a:solidFill>
                <a:latin typeface="Courier New"/>
                <a:ea typeface="Courier New"/>
                <a:cs typeface="Courier New"/>
                <a:sym typeface="Courier New"/>
              </a:rPr>
              <a:t>        v2.ToDtype(torch.float32, scale=True),  # -&gt;[0,1]</a:t>
            </a:r>
            <a:endParaRPr b="0" i="0" sz="900" u="none" cap="none" strike="noStrike">
              <a:solidFill>
                <a:schemeClr val="dk1"/>
              </a:solidFill>
              <a:latin typeface="Calibri"/>
              <a:ea typeface="Calibri"/>
              <a:cs typeface="Calibri"/>
              <a:sym typeface="Calibri"/>
            </a:endParaRPr>
          </a:p>
          <a:p>
            <a:pPr indent="0" lvl="0" marL="0" marR="0" rtl="0" algn="l">
              <a:lnSpc>
                <a:spcPct val="128000"/>
              </a:lnSpc>
              <a:spcBef>
                <a:spcPts val="0"/>
              </a:spcBef>
              <a:spcAft>
                <a:spcPts val="0"/>
              </a:spcAft>
              <a:buClr>
                <a:srgbClr val="DCE6F5"/>
              </a:buClr>
              <a:buSzPts val="900"/>
              <a:buFont typeface="Courier New"/>
              <a:buNone/>
            </a:pPr>
            <a:r>
              <a:rPr b="0" i="0" lang="en-US" sz="900" u="none" cap="none" strike="noStrike">
                <a:solidFill>
                  <a:srgbClr val="DCE6F5"/>
                </a:solidFill>
                <a:latin typeface="Courier New"/>
                <a:ea typeface="Courier New"/>
                <a:cs typeface="Courier New"/>
                <a:sym typeface="Courier New"/>
              </a:rPr>
              <a:t>        v2.Normalize(IMAGENET_MEAN, IMAGENET_STD)])</a:t>
            </a:r>
            <a:endParaRPr b="0" i="0" sz="900" u="none" cap="none" strike="noStrike">
              <a:solidFill>
                <a:schemeClr val="dk1"/>
              </a:solidFill>
              <a:latin typeface="Calibri"/>
              <a:ea typeface="Calibri"/>
              <a:cs typeface="Calibri"/>
              <a:sym typeface="Calibri"/>
            </a:endParaRPr>
          </a:p>
          <a:p>
            <a:pPr indent="0" lvl="0" marL="0" marR="0" rtl="0" algn="l">
              <a:lnSpc>
                <a:spcPct val="128000"/>
              </a:lnSpc>
              <a:spcBef>
                <a:spcPts val="0"/>
              </a:spcBef>
              <a:spcAft>
                <a:spcPts val="0"/>
              </a:spcAft>
              <a:buClr>
                <a:srgbClr val="DCE6F5"/>
              </a:buClr>
              <a:buSzPts val="900"/>
              <a:buFont typeface="Courier New"/>
              <a:buNone/>
            </a:pPr>
            <a:r>
              <a:rPr b="0" i="0" lang="en-US" sz="900" u="none" cap="none" strike="noStrike">
                <a:solidFill>
                  <a:srgbClr val="DCE6F5"/>
                </a:solidFill>
                <a:latin typeface="Courier New"/>
                <a:ea typeface="Courier New"/>
                <a:cs typeface="Courier New"/>
                <a:sym typeface="Courier New"/>
              </a:rPr>
              <a:t> </a:t>
            </a:r>
            <a:endParaRPr b="0" i="0" sz="900" u="none" cap="none" strike="noStrike">
              <a:solidFill>
                <a:schemeClr val="dk1"/>
              </a:solidFill>
              <a:latin typeface="Calibri"/>
              <a:ea typeface="Calibri"/>
              <a:cs typeface="Calibri"/>
              <a:sym typeface="Calibri"/>
            </a:endParaRPr>
          </a:p>
          <a:p>
            <a:pPr indent="0" lvl="0" marL="0" marR="0" rtl="0" algn="l">
              <a:lnSpc>
                <a:spcPct val="128000"/>
              </a:lnSpc>
              <a:spcBef>
                <a:spcPts val="0"/>
              </a:spcBef>
              <a:spcAft>
                <a:spcPts val="0"/>
              </a:spcAft>
              <a:buClr>
                <a:srgbClr val="DCE6F5"/>
              </a:buClr>
              <a:buSzPts val="900"/>
              <a:buFont typeface="Courier New"/>
              <a:buNone/>
            </a:pPr>
            <a:r>
              <a:rPr b="0" i="0" lang="en-US" sz="900" u="none" cap="none" strike="noStrike">
                <a:solidFill>
                  <a:srgbClr val="DCE6F5"/>
                </a:solidFill>
                <a:latin typeface="Courier New"/>
                <a:ea typeface="Courier New"/>
                <a:cs typeface="Courier New"/>
                <a:sym typeface="Courier New"/>
              </a:rPr>
              <a:t>def train_tf():</a:t>
            </a:r>
            <a:endParaRPr b="0" i="0" sz="900" u="none" cap="none" strike="noStrike">
              <a:solidFill>
                <a:schemeClr val="dk1"/>
              </a:solidFill>
              <a:latin typeface="Calibri"/>
              <a:ea typeface="Calibri"/>
              <a:cs typeface="Calibri"/>
              <a:sym typeface="Calibri"/>
            </a:endParaRPr>
          </a:p>
          <a:p>
            <a:pPr indent="0" lvl="0" marL="0" marR="0" rtl="0" algn="l">
              <a:lnSpc>
                <a:spcPct val="128000"/>
              </a:lnSpc>
              <a:spcBef>
                <a:spcPts val="0"/>
              </a:spcBef>
              <a:spcAft>
                <a:spcPts val="0"/>
              </a:spcAft>
              <a:buClr>
                <a:srgbClr val="8FBF71"/>
              </a:buClr>
              <a:buSzPts val="900"/>
              <a:buFont typeface="Courier New"/>
              <a:buNone/>
            </a:pPr>
            <a:r>
              <a:rPr b="0" i="0" lang="en-US" sz="900" u="none" cap="none" strike="noStrike">
                <a:solidFill>
                  <a:srgbClr val="8FBF71"/>
                </a:solidFill>
                <a:latin typeface="Courier New"/>
                <a:ea typeface="Courier New"/>
                <a:cs typeface="Courier New"/>
                <a:sym typeface="Courier New"/>
              </a:rPr>
              <a:t>    """Every transform models a REAL line variation."""</a:t>
            </a:r>
            <a:endParaRPr b="0" i="0" sz="900" u="none" cap="none" strike="noStrike">
              <a:solidFill>
                <a:schemeClr val="dk1"/>
              </a:solidFill>
              <a:latin typeface="Calibri"/>
              <a:ea typeface="Calibri"/>
              <a:cs typeface="Calibri"/>
              <a:sym typeface="Calibri"/>
            </a:endParaRPr>
          </a:p>
          <a:p>
            <a:pPr indent="0" lvl="0" marL="0" marR="0" rtl="0" algn="l">
              <a:lnSpc>
                <a:spcPct val="128000"/>
              </a:lnSpc>
              <a:spcBef>
                <a:spcPts val="0"/>
              </a:spcBef>
              <a:spcAft>
                <a:spcPts val="0"/>
              </a:spcAft>
              <a:buClr>
                <a:srgbClr val="DCE6F5"/>
              </a:buClr>
              <a:buSzPts val="900"/>
              <a:buFont typeface="Courier New"/>
              <a:buNone/>
            </a:pPr>
            <a:r>
              <a:rPr b="0" i="0" lang="en-US" sz="900" u="none" cap="none" strike="noStrike">
                <a:solidFill>
                  <a:srgbClr val="DCE6F5"/>
                </a:solidFill>
                <a:latin typeface="Courier New"/>
                <a:ea typeface="Courier New"/>
                <a:cs typeface="Courier New"/>
                <a:sym typeface="Courier New"/>
              </a:rPr>
              <a:t>    return v2.Compose([</a:t>
            </a:r>
            <a:endParaRPr b="0" i="0" sz="900" u="none" cap="none" strike="noStrike">
              <a:solidFill>
                <a:schemeClr val="dk1"/>
              </a:solidFill>
              <a:latin typeface="Calibri"/>
              <a:ea typeface="Calibri"/>
              <a:cs typeface="Calibri"/>
              <a:sym typeface="Calibri"/>
            </a:endParaRPr>
          </a:p>
          <a:p>
            <a:pPr indent="0" lvl="0" marL="0" marR="0" rtl="0" algn="l">
              <a:lnSpc>
                <a:spcPct val="128000"/>
              </a:lnSpc>
              <a:spcBef>
                <a:spcPts val="0"/>
              </a:spcBef>
              <a:spcAft>
                <a:spcPts val="0"/>
              </a:spcAft>
              <a:buClr>
                <a:srgbClr val="DCE6F5"/>
              </a:buClr>
              <a:buSzPts val="900"/>
              <a:buFont typeface="Courier New"/>
              <a:buNone/>
            </a:pPr>
            <a:r>
              <a:rPr b="0" i="0" lang="en-US" sz="900" u="none" cap="none" strike="noStrike">
                <a:solidFill>
                  <a:srgbClr val="DCE6F5"/>
                </a:solidFill>
                <a:latin typeface="Courier New"/>
                <a:ea typeface="Courier New"/>
                <a:cs typeface="Courier New"/>
                <a:sym typeface="Courier New"/>
              </a:rPr>
              <a:t>        v2.Resize((IMG_SIZE, IMG_SIZE)),</a:t>
            </a:r>
            <a:endParaRPr b="0" i="0" sz="900" u="none" cap="none" strike="noStrike">
              <a:solidFill>
                <a:schemeClr val="dk1"/>
              </a:solidFill>
              <a:latin typeface="Calibri"/>
              <a:ea typeface="Calibri"/>
              <a:cs typeface="Calibri"/>
              <a:sym typeface="Calibri"/>
            </a:endParaRPr>
          </a:p>
          <a:p>
            <a:pPr indent="0" lvl="0" marL="0" marR="0" rtl="0" algn="l">
              <a:lnSpc>
                <a:spcPct val="128000"/>
              </a:lnSpc>
              <a:spcBef>
                <a:spcPts val="0"/>
              </a:spcBef>
              <a:spcAft>
                <a:spcPts val="0"/>
              </a:spcAft>
              <a:buClr>
                <a:srgbClr val="DCE6F5"/>
              </a:buClr>
              <a:buSzPts val="900"/>
              <a:buFont typeface="Courier New"/>
              <a:buNone/>
            </a:pPr>
            <a:r>
              <a:rPr b="0" i="0" lang="en-US" sz="900" u="none" cap="none" strike="noStrike">
                <a:solidFill>
                  <a:srgbClr val="DCE6F5"/>
                </a:solidFill>
                <a:latin typeface="Courier New"/>
                <a:ea typeface="Courier New"/>
                <a:cs typeface="Courier New"/>
                <a:sym typeface="Courier New"/>
              </a:rPr>
              <a:t>        v2.RandomRotation(180),  # fruit lands in any pose</a:t>
            </a:r>
            <a:endParaRPr b="0" i="0" sz="900" u="none" cap="none" strike="noStrike">
              <a:solidFill>
                <a:schemeClr val="dk1"/>
              </a:solidFill>
              <a:latin typeface="Calibri"/>
              <a:ea typeface="Calibri"/>
              <a:cs typeface="Calibri"/>
              <a:sym typeface="Calibri"/>
            </a:endParaRPr>
          </a:p>
          <a:p>
            <a:pPr indent="0" lvl="0" marL="0" marR="0" rtl="0" algn="l">
              <a:lnSpc>
                <a:spcPct val="128000"/>
              </a:lnSpc>
              <a:spcBef>
                <a:spcPts val="0"/>
              </a:spcBef>
              <a:spcAft>
                <a:spcPts val="0"/>
              </a:spcAft>
              <a:buClr>
                <a:srgbClr val="DCE6F5"/>
              </a:buClr>
              <a:buSzPts val="900"/>
              <a:buFont typeface="Courier New"/>
              <a:buNone/>
            </a:pPr>
            <a:r>
              <a:rPr b="0" i="0" lang="en-US" sz="900" u="none" cap="none" strike="noStrike">
                <a:solidFill>
                  <a:srgbClr val="DCE6F5"/>
                </a:solidFill>
                <a:latin typeface="Courier New"/>
                <a:ea typeface="Courier New"/>
                <a:cs typeface="Courier New"/>
                <a:sym typeface="Courier New"/>
              </a:rPr>
              <a:t>        v2.ColorJitter(brightness=0.25, contrast=0.2,</a:t>
            </a:r>
            <a:endParaRPr b="0" i="0" sz="900" u="none" cap="none" strike="noStrike">
              <a:solidFill>
                <a:schemeClr val="dk1"/>
              </a:solidFill>
              <a:latin typeface="Calibri"/>
              <a:ea typeface="Calibri"/>
              <a:cs typeface="Calibri"/>
              <a:sym typeface="Calibri"/>
            </a:endParaRPr>
          </a:p>
          <a:p>
            <a:pPr indent="0" lvl="0" marL="0" marR="0" rtl="0" algn="l">
              <a:lnSpc>
                <a:spcPct val="128000"/>
              </a:lnSpc>
              <a:spcBef>
                <a:spcPts val="0"/>
              </a:spcBef>
              <a:spcAft>
                <a:spcPts val="0"/>
              </a:spcAft>
              <a:buClr>
                <a:srgbClr val="DCE6F5"/>
              </a:buClr>
              <a:buSzPts val="900"/>
              <a:buFont typeface="Courier New"/>
              <a:buNone/>
            </a:pPr>
            <a:r>
              <a:rPr b="0" i="0" lang="en-US" sz="900" u="none" cap="none" strike="noStrike">
                <a:solidFill>
                  <a:srgbClr val="DCE6F5"/>
                </a:solidFill>
                <a:latin typeface="Courier New"/>
                <a:ea typeface="Courier New"/>
                <a:cs typeface="Courier New"/>
                <a:sym typeface="Courier New"/>
              </a:rPr>
              <a:t>                       saturation=0.2, hue=0.03),</a:t>
            </a:r>
            <a:endParaRPr b="0" i="0" sz="900" u="none" cap="none" strike="noStrike">
              <a:solidFill>
                <a:schemeClr val="dk1"/>
              </a:solidFill>
              <a:latin typeface="Calibri"/>
              <a:ea typeface="Calibri"/>
              <a:cs typeface="Calibri"/>
              <a:sym typeface="Calibri"/>
            </a:endParaRPr>
          </a:p>
          <a:p>
            <a:pPr indent="0" lvl="0" marL="0" marR="0" rtl="0" algn="l">
              <a:lnSpc>
                <a:spcPct val="128000"/>
              </a:lnSpc>
              <a:spcBef>
                <a:spcPts val="0"/>
              </a:spcBef>
              <a:spcAft>
                <a:spcPts val="0"/>
              </a:spcAft>
              <a:buClr>
                <a:srgbClr val="8FBF71"/>
              </a:buClr>
              <a:buSzPts val="900"/>
              <a:buFont typeface="Courier New"/>
              <a:buNone/>
            </a:pPr>
            <a:r>
              <a:rPr b="0" i="0" lang="en-US" sz="900" u="none" cap="none" strike="noStrike">
                <a:solidFill>
                  <a:srgbClr val="8FBF71"/>
                </a:solidFill>
                <a:latin typeface="Courier New"/>
                <a:ea typeface="Courier New"/>
                <a:cs typeface="Courier New"/>
                <a:sym typeface="Courier New"/>
              </a:rPr>
              <a:t>        # ... flips, blur p=0.15, RandomErasing p=0.15</a:t>
            </a:r>
            <a:endParaRPr b="0" i="0" sz="900" u="none" cap="none" strike="noStrike">
              <a:solidFill>
                <a:schemeClr val="dk1"/>
              </a:solidFill>
              <a:latin typeface="Calibri"/>
              <a:ea typeface="Calibri"/>
              <a:cs typeface="Calibri"/>
              <a:sym typeface="Calibri"/>
            </a:endParaRPr>
          </a:p>
          <a:p>
            <a:pPr indent="0" lvl="0" marL="0" marR="0" rtl="0" algn="l">
              <a:lnSpc>
                <a:spcPct val="128000"/>
              </a:lnSpc>
              <a:spcBef>
                <a:spcPts val="0"/>
              </a:spcBef>
              <a:spcAft>
                <a:spcPts val="0"/>
              </a:spcAft>
              <a:buClr>
                <a:srgbClr val="DCE6F5"/>
              </a:buClr>
              <a:buSzPts val="900"/>
              <a:buFont typeface="Courier New"/>
              <a:buNone/>
            </a:pPr>
            <a:r>
              <a:rPr b="0" i="0" lang="en-US" sz="900" u="none" cap="none" strike="noStrike">
                <a:solidFill>
                  <a:srgbClr val="DCE6F5"/>
                </a:solidFill>
                <a:latin typeface="Courier New"/>
                <a:ea typeface="Courier New"/>
                <a:cs typeface="Courier New"/>
                <a:sym typeface="Courier New"/>
              </a:rPr>
              <a:t>        v2.ToDtype(torch.float32, scale=True),</a:t>
            </a:r>
            <a:endParaRPr b="0" i="0" sz="900" u="none" cap="none" strike="noStrike">
              <a:solidFill>
                <a:schemeClr val="dk1"/>
              </a:solidFill>
              <a:latin typeface="Calibri"/>
              <a:ea typeface="Calibri"/>
              <a:cs typeface="Calibri"/>
              <a:sym typeface="Calibri"/>
            </a:endParaRPr>
          </a:p>
          <a:p>
            <a:pPr indent="0" lvl="0" marL="0" marR="0" rtl="0" algn="l">
              <a:lnSpc>
                <a:spcPct val="128000"/>
              </a:lnSpc>
              <a:spcBef>
                <a:spcPts val="0"/>
              </a:spcBef>
              <a:spcAft>
                <a:spcPts val="0"/>
              </a:spcAft>
              <a:buClr>
                <a:srgbClr val="DCE6F5"/>
              </a:buClr>
              <a:buSzPts val="900"/>
              <a:buFont typeface="Courier New"/>
              <a:buNone/>
            </a:pPr>
            <a:r>
              <a:rPr b="0" i="0" lang="en-US" sz="900" u="none" cap="none" strike="noStrike">
                <a:solidFill>
                  <a:srgbClr val="DCE6F5"/>
                </a:solidFill>
                <a:latin typeface="Courier New"/>
                <a:ea typeface="Courier New"/>
                <a:cs typeface="Courier New"/>
                <a:sym typeface="Courier New"/>
              </a:rPr>
              <a:t>        v2.Normalize(IMAGENET_MEAN, IMAGENET_STD)])</a:t>
            </a:r>
            <a:endParaRPr b="0" i="0" sz="900" u="none" cap="none" strike="noStrike">
              <a:solidFill>
                <a:schemeClr val="dk1"/>
              </a:solidFill>
              <a:latin typeface="Calibri"/>
              <a:ea typeface="Calibri"/>
              <a:cs typeface="Calibri"/>
              <a:sym typeface="Calibri"/>
            </a:endParaRPr>
          </a:p>
        </p:txBody>
      </p:sp>
      <p:sp>
        <p:nvSpPr>
          <p:cNvPr id="654" name="Google Shape;654;p22"/>
          <p:cNvSpPr/>
          <p:nvPr/>
        </p:nvSpPr>
        <p:spPr>
          <a:xfrm>
            <a:off x="7973568" y="1389888"/>
            <a:ext cx="3712464" cy="1090422"/>
          </a:xfrm>
          <a:prstGeom prst="roundRect">
            <a:avLst>
              <a:gd fmla="val 5870" name="adj"/>
            </a:avLst>
          </a:prstGeom>
          <a:solidFill>
            <a:srgbClr val="F2F6F9"/>
          </a:solidFill>
          <a:ln cap="flat" cmpd="sng" w="12700">
            <a:solidFill>
              <a:srgbClr val="D9E2E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5" name="Google Shape;655;p22"/>
          <p:cNvSpPr/>
          <p:nvPr/>
        </p:nvSpPr>
        <p:spPr>
          <a:xfrm>
            <a:off x="8101584" y="1508760"/>
            <a:ext cx="237744" cy="237744"/>
          </a:xfrm>
          <a:prstGeom prst="ellipse">
            <a:avLst/>
          </a:prstGeom>
          <a:solidFill>
            <a:srgbClr val="00A79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6" name="Google Shape;656;p22"/>
          <p:cNvSpPr/>
          <p:nvPr/>
        </p:nvSpPr>
        <p:spPr>
          <a:xfrm>
            <a:off x="8101584" y="1508760"/>
            <a:ext cx="237744" cy="23774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000"/>
              <a:buFont typeface="Calibri"/>
              <a:buNone/>
            </a:pPr>
            <a:r>
              <a:rPr b="1" i="0" lang="en-US" sz="1000" u="none" cap="none" strike="noStrike">
                <a:solidFill>
                  <a:srgbClr val="FFFFFF"/>
                </a:solidFill>
                <a:latin typeface="Calibri"/>
                <a:ea typeface="Calibri"/>
                <a:cs typeface="Calibri"/>
                <a:sym typeface="Calibri"/>
              </a:rPr>
              <a:t>1</a:t>
            </a:r>
            <a:endParaRPr b="0" i="0" sz="1000" u="none" cap="none" strike="noStrike">
              <a:solidFill>
                <a:schemeClr val="dk1"/>
              </a:solidFill>
              <a:latin typeface="Calibri"/>
              <a:ea typeface="Calibri"/>
              <a:cs typeface="Calibri"/>
              <a:sym typeface="Calibri"/>
            </a:endParaRPr>
          </a:p>
        </p:txBody>
      </p:sp>
      <p:sp>
        <p:nvSpPr>
          <p:cNvPr id="657" name="Google Shape;657;p22"/>
          <p:cNvSpPr/>
          <p:nvPr/>
        </p:nvSpPr>
        <p:spPr>
          <a:xfrm>
            <a:off x="8430768" y="1444752"/>
            <a:ext cx="3145536"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D2A5C"/>
              </a:buClr>
              <a:buSzPts val="1150"/>
              <a:buFont typeface="Calibri"/>
              <a:buNone/>
            </a:pPr>
            <a:r>
              <a:rPr b="1" i="0" lang="en-US" sz="1150" u="none" cap="none" strike="noStrike">
                <a:solidFill>
                  <a:srgbClr val="1D2A5C"/>
                </a:solidFill>
                <a:latin typeface="Calibri"/>
                <a:ea typeface="Calibri"/>
                <a:cs typeface="Calibri"/>
                <a:sym typeface="Calibri"/>
              </a:rPr>
              <a:t>One module, three consumers</a:t>
            </a:r>
            <a:endParaRPr b="0" i="0" sz="1150" u="none" cap="none" strike="noStrike">
              <a:solidFill>
                <a:schemeClr val="dk1"/>
              </a:solidFill>
              <a:latin typeface="Calibri"/>
              <a:ea typeface="Calibri"/>
              <a:cs typeface="Calibri"/>
              <a:sym typeface="Calibri"/>
            </a:endParaRPr>
          </a:p>
        </p:txBody>
      </p:sp>
      <p:sp>
        <p:nvSpPr>
          <p:cNvPr id="658" name="Google Shape;658;p22"/>
          <p:cNvSpPr/>
          <p:nvPr/>
        </p:nvSpPr>
        <p:spPr>
          <a:xfrm>
            <a:off x="8430768" y="1719072"/>
            <a:ext cx="3145536" cy="688086"/>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5F6B7A"/>
              </a:buClr>
              <a:buSzPts val="1000"/>
              <a:buFont typeface="Calibri"/>
              <a:buNone/>
            </a:pPr>
            <a:r>
              <a:rPr b="0" i="0" lang="en-US" sz="1000" u="none" cap="none" strike="noStrike">
                <a:solidFill>
                  <a:srgbClr val="5F6B7A"/>
                </a:solidFill>
                <a:latin typeface="Calibri"/>
                <a:ea typeface="Calibri"/>
                <a:cs typeface="Calibri"/>
                <a:sym typeface="Calibri"/>
              </a:rPr>
              <a:t>training loop, eval harness (M6), ONNX wrapper (M7) all import this</a:t>
            </a:r>
            <a:endParaRPr b="0" i="0" sz="1000" u="none" cap="none" strike="noStrike">
              <a:solidFill>
                <a:schemeClr val="dk1"/>
              </a:solidFill>
              <a:latin typeface="Calibri"/>
              <a:ea typeface="Calibri"/>
              <a:cs typeface="Calibri"/>
              <a:sym typeface="Calibri"/>
            </a:endParaRPr>
          </a:p>
        </p:txBody>
      </p:sp>
      <p:sp>
        <p:nvSpPr>
          <p:cNvPr id="659" name="Google Shape;659;p22"/>
          <p:cNvSpPr/>
          <p:nvPr/>
        </p:nvSpPr>
        <p:spPr>
          <a:xfrm>
            <a:off x="7973568" y="2681478"/>
            <a:ext cx="3712464" cy="1090422"/>
          </a:xfrm>
          <a:prstGeom prst="roundRect">
            <a:avLst>
              <a:gd fmla="val 5870" name="adj"/>
            </a:avLst>
          </a:prstGeom>
          <a:solidFill>
            <a:srgbClr val="F2F6F9"/>
          </a:solidFill>
          <a:ln cap="flat" cmpd="sng" w="12700">
            <a:solidFill>
              <a:srgbClr val="D9E2E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0" name="Google Shape;660;p22"/>
          <p:cNvSpPr/>
          <p:nvPr/>
        </p:nvSpPr>
        <p:spPr>
          <a:xfrm>
            <a:off x="8101584" y="2800350"/>
            <a:ext cx="237744" cy="237744"/>
          </a:xfrm>
          <a:prstGeom prst="ellipse">
            <a:avLst/>
          </a:prstGeom>
          <a:solidFill>
            <a:srgbClr val="29ABE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1" name="Google Shape;661;p22"/>
          <p:cNvSpPr/>
          <p:nvPr/>
        </p:nvSpPr>
        <p:spPr>
          <a:xfrm>
            <a:off x="8101584" y="2800350"/>
            <a:ext cx="237744" cy="23774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000"/>
              <a:buFont typeface="Calibri"/>
              <a:buNone/>
            </a:pPr>
            <a:r>
              <a:rPr b="1" i="0" lang="en-US" sz="1000" u="none" cap="none" strike="noStrike">
                <a:solidFill>
                  <a:srgbClr val="FFFFFF"/>
                </a:solidFill>
                <a:latin typeface="Calibri"/>
                <a:ea typeface="Calibri"/>
                <a:cs typeface="Calibri"/>
                <a:sym typeface="Calibri"/>
              </a:rPr>
              <a:t>2</a:t>
            </a:r>
            <a:endParaRPr b="0" i="0" sz="1000" u="none" cap="none" strike="noStrike">
              <a:solidFill>
                <a:schemeClr val="dk1"/>
              </a:solidFill>
              <a:latin typeface="Calibri"/>
              <a:ea typeface="Calibri"/>
              <a:cs typeface="Calibri"/>
              <a:sym typeface="Calibri"/>
            </a:endParaRPr>
          </a:p>
        </p:txBody>
      </p:sp>
      <p:sp>
        <p:nvSpPr>
          <p:cNvPr id="662" name="Google Shape;662;p22"/>
          <p:cNvSpPr/>
          <p:nvPr/>
        </p:nvSpPr>
        <p:spPr>
          <a:xfrm>
            <a:off x="8430768" y="2736342"/>
            <a:ext cx="3145536"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D2A5C"/>
              </a:buClr>
              <a:buSzPts val="1150"/>
              <a:buFont typeface="Calibri"/>
              <a:buNone/>
            </a:pPr>
            <a:r>
              <a:rPr b="1" i="0" lang="en-US" sz="1150" u="none" cap="none" strike="noStrike">
                <a:solidFill>
                  <a:srgbClr val="1D2A5C"/>
                </a:solidFill>
                <a:latin typeface="Calibri"/>
                <a:ea typeface="Calibri"/>
                <a:cs typeface="Calibri"/>
                <a:sym typeface="Calibri"/>
              </a:rPr>
              <a:t>Dtype before Normalize</a:t>
            </a:r>
            <a:endParaRPr b="0" i="0" sz="1150" u="none" cap="none" strike="noStrike">
              <a:solidFill>
                <a:schemeClr val="dk1"/>
              </a:solidFill>
              <a:latin typeface="Calibri"/>
              <a:ea typeface="Calibri"/>
              <a:cs typeface="Calibri"/>
              <a:sym typeface="Calibri"/>
            </a:endParaRPr>
          </a:p>
        </p:txBody>
      </p:sp>
      <p:sp>
        <p:nvSpPr>
          <p:cNvPr id="663" name="Google Shape;663;p22"/>
          <p:cNvSpPr/>
          <p:nvPr/>
        </p:nvSpPr>
        <p:spPr>
          <a:xfrm>
            <a:off x="8430768" y="3010662"/>
            <a:ext cx="3145536" cy="688086"/>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5F6B7A"/>
              </a:buClr>
              <a:buSzPts val="1000"/>
              <a:buFont typeface="Calibri"/>
              <a:buNone/>
            </a:pPr>
            <a:r>
              <a:rPr b="0" i="0" lang="en-US" sz="1000" u="none" cap="none" strike="noStrike">
                <a:solidFill>
                  <a:srgbClr val="5F6B7A"/>
                </a:solidFill>
                <a:latin typeface="Calibri"/>
                <a:ea typeface="Calibri"/>
                <a:cs typeface="Calibri"/>
                <a:sym typeface="Calibri"/>
              </a:rPr>
              <a:t>uint8 [0,255] to float [0,1] via ToDtype(scale=True) — order matters</a:t>
            </a:r>
            <a:endParaRPr b="0" i="0" sz="1000" u="none" cap="none" strike="noStrike">
              <a:solidFill>
                <a:schemeClr val="dk1"/>
              </a:solidFill>
              <a:latin typeface="Calibri"/>
              <a:ea typeface="Calibri"/>
              <a:cs typeface="Calibri"/>
              <a:sym typeface="Calibri"/>
            </a:endParaRPr>
          </a:p>
        </p:txBody>
      </p:sp>
      <p:sp>
        <p:nvSpPr>
          <p:cNvPr id="664" name="Google Shape;664;p22"/>
          <p:cNvSpPr/>
          <p:nvPr/>
        </p:nvSpPr>
        <p:spPr>
          <a:xfrm>
            <a:off x="7973568" y="3973068"/>
            <a:ext cx="3712464" cy="1090422"/>
          </a:xfrm>
          <a:prstGeom prst="roundRect">
            <a:avLst>
              <a:gd fmla="val 5870" name="adj"/>
            </a:avLst>
          </a:prstGeom>
          <a:solidFill>
            <a:srgbClr val="F2F6F9"/>
          </a:solidFill>
          <a:ln cap="flat" cmpd="sng" w="12700">
            <a:solidFill>
              <a:srgbClr val="D9E2E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5" name="Google Shape;665;p22"/>
          <p:cNvSpPr/>
          <p:nvPr/>
        </p:nvSpPr>
        <p:spPr>
          <a:xfrm>
            <a:off x="8101584" y="4091940"/>
            <a:ext cx="237744" cy="237744"/>
          </a:xfrm>
          <a:prstGeom prst="ellipse">
            <a:avLst/>
          </a:prstGeom>
          <a:solidFill>
            <a:srgbClr val="F5822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6" name="Google Shape;666;p22"/>
          <p:cNvSpPr/>
          <p:nvPr/>
        </p:nvSpPr>
        <p:spPr>
          <a:xfrm>
            <a:off x="8101584" y="4091940"/>
            <a:ext cx="237744" cy="23774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000"/>
              <a:buFont typeface="Calibri"/>
              <a:buNone/>
            </a:pPr>
            <a:r>
              <a:rPr b="1" i="0" lang="en-US" sz="1000" u="none" cap="none" strike="noStrike">
                <a:solidFill>
                  <a:srgbClr val="FFFFFF"/>
                </a:solidFill>
                <a:latin typeface="Calibri"/>
                <a:ea typeface="Calibri"/>
                <a:cs typeface="Calibri"/>
                <a:sym typeface="Calibri"/>
              </a:rPr>
              <a:t>3</a:t>
            </a:r>
            <a:endParaRPr b="0" i="0" sz="1000" u="none" cap="none" strike="noStrike">
              <a:solidFill>
                <a:schemeClr val="dk1"/>
              </a:solidFill>
              <a:latin typeface="Calibri"/>
              <a:ea typeface="Calibri"/>
              <a:cs typeface="Calibri"/>
              <a:sym typeface="Calibri"/>
            </a:endParaRPr>
          </a:p>
        </p:txBody>
      </p:sp>
      <p:sp>
        <p:nvSpPr>
          <p:cNvPr id="667" name="Google Shape;667;p22"/>
          <p:cNvSpPr/>
          <p:nvPr/>
        </p:nvSpPr>
        <p:spPr>
          <a:xfrm>
            <a:off x="8430768" y="4027932"/>
            <a:ext cx="3145536"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D2A5C"/>
              </a:buClr>
              <a:buSzPts val="1150"/>
              <a:buFont typeface="Calibri"/>
              <a:buNone/>
            </a:pPr>
            <a:r>
              <a:rPr b="1" i="0" lang="en-US" sz="1150" u="none" cap="none" strike="noStrike">
                <a:solidFill>
                  <a:srgbClr val="1D2A5C"/>
                </a:solidFill>
                <a:latin typeface="Calibri"/>
                <a:ea typeface="Calibri"/>
                <a:cs typeface="Calibri"/>
                <a:sym typeface="Calibri"/>
              </a:rPr>
              <a:t>Split from line one</a:t>
            </a:r>
            <a:endParaRPr b="0" i="0" sz="1150" u="none" cap="none" strike="noStrike">
              <a:solidFill>
                <a:schemeClr val="dk1"/>
              </a:solidFill>
              <a:latin typeface="Calibri"/>
              <a:ea typeface="Calibri"/>
              <a:cs typeface="Calibri"/>
              <a:sym typeface="Calibri"/>
            </a:endParaRPr>
          </a:p>
        </p:txBody>
      </p:sp>
      <p:sp>
        <p:nvSpPr>
          <p:cNvPr id="668" name="Google Shape;668;p22"/>
          <p:cNvSpPr/>
          <p:nvPr/>
        </p:nvSpPr>
        <p:spPr>
          <a:xfrm>
            <a:off x="8430768" y="4302252"/>
            <a:ext cx="3145536" cy="688086"/>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5F6B7A"/>
              </a:buClr>
              <a:buSzPts val="1000"/>
              <a:buFont typeface="Calibri"/>
              <a:buNone/>
            </a:pPr>
            <a:r>
              <a:rPr b="0" i="0" lang="en-US" sz="1000" u="none" cap="none" strike="noStrike">
                <a:solidFill>
                  <a:srgbClr val="5F6B7A"/>
                </a:solidFill>
                <a:latin typeface="Calibri"/>
                <a:ea typeface="Calibri"/>
                <a:cs typeface="Calibri"/>
                <a:sym typeface="Calibri"/>
              </a:rPr>
              <a:t>augmentation lives only in train_tf(); eval path stays deterministic</a:t>
            </a:r>
            <a:endParaRPr b="0" i="0" sz="1000" u="none" cap="none" strike="noStrike">
              <a:solidFill>
                <a:schemeClr val="dk1"/>
              </a:solidFill>
              <a:latin typeface="Calibri"/>
              <a:ea typeface="Calibri"/>
              <a:cs typeface="Calibri"/>
              <a:sym typeface="Calibri"/>
            </a:endParaRPr>
          </a:p>
        </p:txBody>
      </p:sp>
      <p:sp>
        <p:nvSpPr>
          <p:cNvPr id="669" name="Google Shape;669;p22"/>
          <p:cNvSpPr/>
          <p:nvPr/>
        </p:nvSpPr>
        <p:spPr>
          <a:xfrm>
            <a:off x="7973568" y="5264658"/>
            <a:ext cx="3712464" cy="1090422"/>
          </a:xfrm>
          <a:prstGeom prst="roundRect">
            <a:avLst>
              <a:gd fmla="val 5870" name="adj"/>
            </a:avLst>
          </a:prstGeom>
          <a:solidFill>
            <a:srgbClr val="F2F6F9"/>
          </a:solidFill>
          <a:ln cap="flat" cmpd="sng" w="12700">
            <a:solidFill>
              <a:srgbClr val="D9E2E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0" name="Google Shape;670;p22"/>
          <p:cNvSpPr/>
          <p:nvPr/>
        </p:nvSpPr>
        <p:spPr>
          <a:xfrm>
            <a:off x="8101584" y="5383530"/>
            <a:ext cx="237744" cy="237744"/>
          </a:xfrm>
          <a:prstGeom prst="ellipse">
            <a:avLst/>
          </a:prstGeom>
          <a:solidFill>
            <a:srgbClr val="8DC63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1" name="Google Shape;671;p22"/>
          <p:cNvSpPr/>
          <p:nvPr/>
        </p:nvSpPr>
        <p:spPr>
          <a:xfrm>
            <a:off x="8101584" y="5383530"/>
            <a:ext cx="237744" cy="23774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000"/>
              <a:buFont typeface="Calibri"/>
              <a:buNone/>
            </a:pPr>
            <a:r>
              <a:rPr b="1" i="0" lang="en-US" sz="1000" u="none" cap="none" strike="noStrike">
                <a:solidFill>
                  <a:srgbClr val="FFFFFF"/>
                </a:solidFill>
                <a:latin typeface="Calibri"/>
                <a:ea typeface="Calibri"/>
                <a:cs typeface="Calibri"/>
                <a:sym typeface="Calibri"/>
              </a:rPr>
              <a:t>4</a:t>
            </a:r>
            <a:endParaRPr b="0" i="0" sz="1000" u="none" cap="none" strike="noStrike">
              <a:solidFill>
                <a:schemeClr val="dk1"/>
              </a:solidFill>
              <a:latin typeface="Calibri"/>
              <a:ea typeface="Calibri"/>
              <a:cs typeface="Calibri"/>
              <a:sym typeface="Calibri"/>
            </a:endParaRPr>
          </a:p>
        </p:txBody>
      </p:sp>
      <p:sp>
        <p:nvSpPr>
          <p:cNvPr id="672" name="Google Shape;672;p22"/>
          <p:cNvSpPr/>
          <p:nvPr/>
        </p:nvSpPr>
        <p:spPr>
          <a:xfrm>
            <a:off x="8430768" y="5319522"/>
            <a:ext cx="3145536"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D2A5C"/>
              </a:buClr>
              <a:buSzPts val="1150"/>
              <a:buFont typeface="Calibri"/>
              <a:buNone/>
            </a:pPr>
            <a:r>
              <a:rPr b="1" i="0" lang="en-US" sz="1150" u="none" cap="none" strike="noStrike">
                <a:solidFill>
                  <a:srgbClr val="1D2A5C"/>
                </a:solidFill>
                <a:latin typeface="Calibri"/>
                <a:ea typeface="Calibri"/>
                <a:cs typeface="Calibri"/>
                <a:sym typeface="Calibri"/>
              </a:rPr>
              <a:t>Comment = justification</a:t>
            </a:r>
            <a:endParaRPr b="0" i="0" sz="1150" u="none" cap="none" strike="noStrike">
              <a:solidFill>
                <a:schemeClr val="dk1"/>
              </a:solidFill>
              <a:latin typeface="Calibri"/>
              <a:ea typeface="Calibri"/>
              <a:cs typeface="Calibri"/>
              <a:sym typeface="Calibri"/>
            </a:endParaRPr>
          </a:p>
        </p:txBody>
      </p:sp>
      <p:sp>
        <p:nvSpPr>
          <p:cNvPr id="673" name="Google Shape;673;p22"/>
          <p:cNvSpPr/>
          <p:nvPr/>
        </p:nvSpPr>
        <p:spPr>
          <a:xfrm>
            <a:off x="8430768" y="5593842"/>
            <a:ext cx="3145536" cy="688086"/>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5F6B7A"/>
              </a:buClr>
              <a:buSzPts val="1000"/>
              <a:buFont typeface="Calibri"/>
              <a:buNone/>
            </a:pPr>
            <a:r>
              <a:rPr b="0" i="0" lang="en-US" sz="1000" u="none" cap="none" strike="noStrike">
                <a:solidFill>
                  <a:srgbClr val="5F6B7A"/>
                </a:solidFill>
                <a:latin typeface="Calibri"/>
                <a:ea typeface="Calibri"/>
                <a:cs typeface="Calibri"/>
                <a:sym typeface="Calibri"/>
              </a:rPr>
              <a:t>each transform names the line variation it models — no comment, no transform</a:t>
            </a:r>
            <a:endParaRPr b="0" i="0" sz="1000" u="none" cap="none" strike="noStrike">
              <a:solidFill>
                <a:schemeClr val="dk1"/>
              </a:solidFill>
              <a:latin typeface="Calibri"/>
              <a:ea typeface="Calibri"/>
              <a:cs typeface="Calibri"/>
              <a:sym typeface="Calibri"/>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678" name="Shape 678"/>
        <p:cNvGrpSpPr/>
        <p:nvPr/>
      </p:nvGrpSpPr>
      <p:grpSpPr>
        <a:xfrm>
          <a:off x="0" y="0"/>
          <a:ext cx="0" cy="0"/>
          <a:chOff x="0" y="0"/>
          <a:chExt cx="0" cy="0"/>
        </a:xfrm>
      </p:grpSpPr>
      <p:sp>
        <p:nvSpPr>
          <p:cNvPr id="679" name="Google Shape;679;p23"/>
          <p:cNvSpPr/>
          <p:nvPr/>
        </p:nvSpPr>
        <p:spPr>
          <a:xfrm>
            <a:off x="502920" y="274320"/>
            <a:ext cx="9646920" cy="56692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D2A5C"/>
              </a:buClr>
              <a:buSzPts val="2700"/>
              <a:buFont typeface="Calibri"/>
              <a:buNone/>
            </a:pPr>
            <a:r>
              <a:rPr b="1" i="0" lang="en-US" sz="2700" u="none" cap="none" strike="noStrike">
                <a:solidFill>
                  <a:srgbClr val="1D2A5C"/>
                </a:solidFill>
                <a:latin typeface="Calibri"/>
                <a:ea typeface="Calibri"/>
                <a:cs typeface="Calibri"/>
                <a:sym typeface="Calibri"/>
              </a:rPr>
              <a:t>Dataset with a correct I/O boundary</a:t>
            </a:r>
            <a:endParaRPr b="0" i="0" sz="2700" u="none" cap="none" strike="noStrike">
              <a:solidFill>
                <a:schemeClr val="dk1"/>
              </a:solidFill>
              <a:latin typeface="Calibri"/>
              <a:ea typeface="Calibri"/>
              <a:cs typeface="Calibri"/>
              <a:sym typeface="Calibri"/>
            </a:endParaRPr>
          </a:p>
        </p:txBody>
      </p:sp>
      <p:sp>
        <p:nvSpPr>
          <p:cNvPr id="680" name="Google Shape;680;p23"/>
          <p:cNvSpPr/>
          <p:nvPr/>
        </p:nvSpPr>
        <p:spPr>
          <a:xfrm>
            <a:off x="502920" y="859536"/>
            <a:ext cx="9646920" cy="31089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F6B7A"/>
              </a:buClr>
              <a:buSzPts val="1250"/>
              <a:buFont typeface="Arial"/>
              <a:buNone/>
            </a:pPr>
            <a:r>
              <a:rPr b="0" i="0" lang="en-US" sz="1250" u="none" cap="none" strike="noStrike">
                <a:solidFill>
                  <a:srgbClr val="5F6B7A"/>
                </a:solidFill>
                <a:latin typeface="Arial"/>
                <a:ea typeface="Arial"/>
                <a:cs typeface="Arial"/>
                <a:sym typeface="Arial"/>
              </a:rPr>
              <a:t>مجموعة بيانات بحدود إدخال صحيحة</a:t>
            </a:r>
            <a:endParaRPr b="0" i="0" sz="1250" u="none" cap="none" strike="noStrike">
              <a:solidFill>
                <a:schemeClr val="dk1"/>
              </a:solidFill>
              <a:latin typeface="Calibri"/>
              <a:ea typeface="Calibri"/>
              <a:cs typeface="Calibri"/>
              <a:sym typeface="Calibri"/>
            </a:endParaRPr>
          </a:p>
        </p:txBody>
      </p:sp>
      <p:pic>
        <p:nvPicPr>
          <p:cNvPr descr="/sessions/blissful-determined-ritchie/build/assets/sdaia_logo.png" id="681" name="Google Shape;681;p23"/>
          <p:cNvPicPr preferRelativeResize="0"/>
          <p:nvPr/>
        </p:nvPicPr>
        <p:blipFill rotWithShape="1">
          <a:blip r:embed="rId3">
            <a:alphaModFix/>
          </a:blip>
          <a:srcRect b="0" l="0" r="0" t="0"/>
          <a:stretch/>
        </p:blipFill>
        <p:spPr>
          <a:xfrm>
            <a:off x="10625328" y="310896"/>
            <a:ext cx="1078992" cy="264111"/>
          </a:xfrm>
          <a:prstGeom prst="rect">
            <a:avLst/>
          </a:prstGeom>
          <a:noFill/>
          <a:ln>
            <a:noFill/>
          </a:ln>
        </p:spPr>
      </p:pic>
      <p:sp>
        <p:nvSpPr>
          <p:cNvPr id="682" name="Google Shape;682;p23"/>
          <p:cNvSpPr/>
          <p:nvPr/>
        </p:nvSpPr>
        <p:spPr>
          <a:xfrm>
            <a:off x="502920" y="6528816"/>
            <a:ext cx="8686800"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A79D"/>
              </a:buClr>
              <a:buSzPts val="800"/>
              <a:buFont typeface="Calibri"/>
              <a:buNone/>
            </a:pPr>
            <a:r>
              <a:rPr b="1" i="0" lang="en-US" sz="800" u="none" cap="none" strike="noStrike">
                <a:solidFill>
                  <a:srgbClr val="00A79D"/>
                </a:solidFill>
                <a:latin typeface="Calibri"/>
                <a:ea typeface="Calibri"/>
                <a:cs typeface="Calibri"/>
                <a:sym typeface="Calibri"/>
              </a:rPr>
              <a:t>MODULE 1   </a:t>
            </a:r>
            <a:r>
              <a:rPr b="0" i="0" lang="en-US" sz="800" u="none" cap="none" strike="noStrike">
                <a:solidFill>
                  <a:srgbClr val="8A96A6"/>
                </a:solidFill>
                <a:latin typeface="Calibri"/>
                <a:ea typeface="Calibri"/>
                <a:cs typeface="Calibri"/>
                <a:sym typeface="Calibri"/>
              </a:rPr>
              <a:t>SDA-AIE-212 · Computer Vision Systems Development</a:t>
            </a:r>
            <a:endParaRPr b="0" i="0" sz="800" u="none" cap="none" strike="noStrike">
              <a:solidFill>
                <a:schemeClr val="dk1"/>
              </a:solidFill>
              <a:latin typeface="Calibri"/>
              <a:ea typeface="Calibri"/>
              <a:cs typeface="Calibri"/>
              <a:sym typeface="Calibri"/>
            </a:endParaRPr>
          </a:p>
        </p:txBody>
      </p:sp>
      <p:sp>
        <p:nvSpPr>
          <p:cNvPr id="683" name="Google Shape;683;p23"/>
          <p:cNvSpPr/>
          <p:nvPr/>
        </p:nvSpPr>
        <p:spPr>
          <a:xfrm>
            <a:off x="11292840" y="6528816"/>
            <a:ext cx="411480" cy="219456"/>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8A96A6"/>
              </a:buClr>
              <a:buSzPts val="900"/>
              <a:buFont typeface="Calibri"/>
              <a:buNone/>
            </a:pPr>
            <a:r>
              <a:rPr b="0" i="0" lang="en-US" sz="900" u="none" cap="none" strike="noStrike">
                <a:solidFill>
                  <a:srgbClr val="8A96A6"/>
                </a:solidFill>
                <a:latin typeface="Calibri"/>
                <a:ea typeface="Calibri"/>
                <a:cs typeface="Calibri"/>
                <a:sym typeface="Calibri"/>
              </a:rPr>
              <a:t>23</a:t>
            </a:r>
            <a:endParaRPr b="0" i="0" sz="900" u="none" cap="none" strike="noStrike">
              <a:solidFill>
                <a:schemeClr val="dk1"/>
              </a:solidFill>
              <a:latin typeface="Calibri"/>
              <a:ea typeface="Calibri"/>
              <a:cs typeface="Calibri"/>
              <a:sym typeface="Calibri"/>
            </a:endParaRPr>
          </a:p>
        </p:txBody>
      </p:sp>
      <p:sp>
        <p:nvSpPr>
          <p:cNvPr id="684" name="Google Shape;684;p23"/>
          <p:cNvSpPr/>
          <p:nvPr/>
        </p:nvSpPr>
        <p:spPr>
          <a:xfrm>
            <a:off x="502920" y="1389888"/>
            <a:ext cx="7178040" cy="4965192"/>
          </a:xfrm>
          <a:prstGeom prst="roundRect">
            <a:avLst>
              <a:gd fmla="val 1842" name="adj"/>
            </a:avLst>
          </a:prstGeom>
          <a:solidFill>
            <a:srgbClr val="0F172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5" name="Google Shape;685;p23"/>
          <p:cNvSpPr/>
          <p:nvPr/>
        </p:nvSpPr>
        <p:spPr>
          <a:xfrm>
            <a:off x="704088" y="1536192"/>
            <a:ext cx="2485339" cy="292608"/>
          </a:xfrm>
          <a:prstGeom prst="roundRect">
            <a:avLst>
              <a:gd fmla="val 18750" name="adj"/>
            </a:avLst>
          </a:prstGeom>
          <a:solidFill>
            <a:srgbClr val="1E293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6" name="Google Shape;686;p23"/>
          <p:cNvSpPr/>
          <p:nvPr/>
        </p:nvSpPr>
        <p:spPr>
          <a:xfrm>
            <a:off x="795528" y="1536192"/>
            <a:ext cx="662940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EEAD4"/>
              </a:buClr>
              <a:buSzPts val="950"/>
              <a:buFont typeface="Courier New"/>
              <a:buNone/>
            </a:pPr>
            <a:r>
              <a:rPr b="0" i="0" lang="en-US" sz="950" u="none" cap="none" strike="noStrike">
                <a:solidFill>
                  <a:srgbClr val="5EEAD4"/>
                </a:solidFill>
                <a:latin typeface="Courier New"/>
                <a:ea typeface="Courier New"/>
                <a:cs typeface="Courier New"/>
                <a:sym typeface="Courier New"/>
              </a:rPr>
              <a:t>src/tamr_vision/data/dataset.py</a:t>
            </a:r>
            <a:endParaRPr b="0" i="0" sz="950" u="none" cap="none" strike="noStrike">
              <a:solidFill>
                <a:schemeClr val="dk1"/>
              </a:solidFill>
              <a:latin typeface="Calibri"/>
              <a:ea typeface="Calibri"/>
              <a:cs typeface="Calibri"/>
              <a:sym typeface="Calibri"/>
            </a:endParaRPr>
          </a:p>
        </p:txBody>
      </p:sp>
      <p:sp>
        <p:nvSpPr>
          <p:cNvPr id="687" name="Google Shape;687;p23"/>
          <p:cNvSpPr/>
          <p:nvPr/>
        </p:nvSpPr>
        <p:spPr>
          <a:xfrm>
            <a:off x="758952" y="1920240"/>
            <a:ext cx="6720840" cy="4279392"/>
          </a:xfrm>
          <a:prstGeom prst="rect">
            <a:avLst/>
          </a:prstGeom>
          <a:noFill/>
          <a:ln>
            <a:noFill/>
          </a:ln>
        </p:spPr>
        <p:txBody>
          <a:bodyPr anchorCtr="0" anchor="t" bIns="0" lIns="0" spcFirstLastPara="1" rIns="0" wrap="square" tIns="0">
            <a:noAutofit/>
          </a:bodyPr>
          <a:lstStyle/>
          <a:p>
            <a:pPr indent="0" lvl="0" marL="0" marR="0" rtl="0" algn="l">
              <a:lnSpc>
                <a:spcPct val="128000"/>
              </a:lnSpc>
              <a:spcBef>
                <a:spcPts val="0"/>
              </a:spcBef>
              <a:spcAft>
                <a:spcPts val="0"/>
              </a:spcAft>
              <a:buClr>
                <a:srgbClr val="8FBF71"/>
              </a:buClr>
              <a:buSzPts val="900"/>
              <a:buFont typeface="Courier New"/>
              <a:buNone/>
            </a:pPr>
            <a:r>
              <a:rPr b="0" i="0" lang="en-US" sz="900" u="none" cap="none" strike="noStrike">
                <a:solidFill>
                  <a:srgbClr val="8FBF71"/>
                </a:solidFill>
                <a:latin typeface="Courier New"/>
                <a:ea typeface="Courier New"/>
                <a:cs typeface="Courier New"/>
                <a:sym typeface="Courier New"/>
              </a:rPr>
              <a:t># dates-qc dataset. Split assigned by SESSION, not by</a:t>
            </a:r>
            <a:endParaRPr b="0" i="0" sz="900" u="none" cap="none" strike="noStrike">
              <a:solidFill>
                <a:schemeClr val="dk1"/>
              </a:solidFill>
              <a:latin typeface="Calibri"/>
              <a:ea typeface="Calibri"/>
              <a:cs typeface="Calibri"/>
              <a:sym typeface="Calibri"/>
            </a:endParaRPr>
          </a:p>
          <a:p>
            <a:pPr indent="0" lvl="0" marL="0" marR="0" rtl="0" algn="l">
              <a:lnSpc>
                <a:spcPct val="128000"/>
              </a:lnSpc>
              <a:spcBef>
                <a:spcPts val="0"/>
              </a:spcBef>
              <a:spcAft>
                <a:spcPts val="0"/>
              </a:spcAft>
              <a:buClr>
                <a:srgbClr val="8FBF71"/>
              </a:buClr>
              <a:buSzPts val="900"/>
              <a:buFont typeface="Courier New"/>
              <a:buNone/>
            </a:pPr>
            <a:r>
              <a:rPr b="0" i="0" lang="en-US" sz="900" u="none" cap="none" strike="noStrike">
                <a:solidFill>
                  <a:srgbClr val="8FBF71"/>
                </a:solidFill>
                <a:latin typeface="Courier New"/>
                <a:ea typeface="Courier New"/>
                <a:cs typeface="Courier New"/>
                <a:sym typeface="Courier New"/>
              </a:rPr>
              <a:t># frame -- the leakage defence lives in the manifest.</a:t>
            </a:r>
            <a:endParaRPr b="0" i="0" sz="900" u="none" cap="none" strike="noStrike">
              <a:solidFill>
                <a:schemeClr val="dk1"/>
              </a:solidFill>
              <a:latin typeface="Calibri"/>
              <a:ea typeface="Calibri"/>
              <a:cs typeface="Calibri"/>
              <a:sym typeface="Calibri"/>
            </a:endParaRPr>
          </a:p>
          <a:p>
            <a:pPr indent="0" lvl="0" marL="0" marR="0" rtl="0" algn="l">
              <a:lnSpc>
                <a:spcPct val="128000"/>
              </a:lnSpc>
              <a:spcBef>
                <a:spcPts val="0"/>
              </a:spcBef>
              <a:spcAft>
                <a:spcPts val="0"/>
              </a:spcAft>
              <a:buClr>
                <a:srgbClr val="DCE6F5"/>
              </a:buClr>
              <a:buSzPts val="900"/>
              <a:buFont typeface="Courier New"/>
              <a:buNone/>
            </a:pPr>
            <a:r>
              <a:rPr b="0" i="0" lang="en-US" sz="900" u="none" cap="none" strike="noStrike">
                <a:solidFill>
                  <a:srgbClr val="DCE6F5"/>
                </a:solidFill>
                <a:latin typeface="Courier New"/>
                <a:ea typeface="Courier New"/>
                <a:cs typeface="Courier New"/>
                <a:sym typeface="Courier New"/>
              </a:rPr>
              <a:t>import cv2</a:t>
            </a:r>
            <a:endParaRPr b="0" i="0" sz="900" u="none" cap="none" strike="noStrike">
              <a:solidFill>
                <a:schemeClr val="dk1"/>
              </a:solidFill>
              <a:latin typeface="Calibri"/>
              <a:ea typeface="Calibri"/>
              <a:cs typeface="Calibri"/>
              <a:sym typeface="Calibri"/>
            </a:endParaRPr>
          </a:p>
          <a:p>
            <a:pPr indent="0" lvl="0" marL="0" marR="0" rtl="0" algn="l">
              <a:lnSpc>
                <a:spcPct val="128000"/>
              </a:lnSpc>
              <a:spcBef>
                <a:spcPts val="0"/>
              </a:spcBef>
              <a:spcAft>
                <a:spcPts val="0"/>
              </a:spcAft>
              <a:buClr>
                <a:srgbClr val="DCE6F5"/>
              </a:buClr>
              <a:buSzPts val="900"/>
              <a:buFont typeface="Courier New"/>
              <a:buNone/>
            </a:pPr>
            <a:r>
              <a:rPr b="0" i="0" lang="en-US" sz="900" u="none" cap="none" strike="noStrike">
                <a:solidFill>
                  <a:srgbClr val="DCE6F5"/>
                </a:solidFill>
                <a:latin typeface="Courier New"/>
                <a:ea typeface="Courier New"/>
                <a:cs typeface="Courier New"/>
                <a:sym typeface="Courier New"/>
              </a:rPr>
              <a:t>import pandas as pd</a:t>
            </a:r>
            <a:endParaRPr b="0" i="0" sz="900" u="none" cap="none" strike="noStrike">
              <a:solidFill>
                <a:schemeClr val="dk1"/>
              </a:solidFill>
              <a:latin typeface="Calibri"/>
              <a:ea typeface="Calibri"/>
              <a:cs typeface="Calibri"/>
              <a:sym typeface="Calibri"/>
            </a:endParaRPr>
          </a:p>
          <a:p>
            <a:pPr indent="0" lvl="0" marL="0" marR="0" rtl="0" algn="l">
              <a:lnSpc>
                <a:spcPct val="128000"/>
              </a:lnSpc>
              <a:spcBef>
                <a:spcPts val="0"/>
              </a:spcBef>
              <a:spcAft>
                <a:spcPts val="0"/>
              </a:spcAft>
              <a:buClr>
                <a:srgbClr val="DCE6F5"/>
              </a:buClr>
              <a:buSzPts val="900"/>
              <a:buFont typeface="Courier New"/>
              <a:buNone/>
            </a:pPr>
            <a:r>
              <a:rPr b="0" i="0" lang="en-US" sz="900" u="none" cap="none" strike="noStrike">
                <a:solidFill>
                  <a:srgbClr val="DCE6F5"/>
                </a:solidFill>
                <a:latin typeface="Courier New"/>
                <a:ea typeface="Courier New"/>
                <a:cs typeface="Courier New"/>
                <a:sym typeface="Courier New"/>
              </a:rPr>
              <a:t>import torch</a:t>
            </a:r>
            <a:endParaRPr b="0" i="0" sz="900" u="none" cap="none" strike="noStrike">
              <a:solidFill>
                <a:schemeClr val="dk1"/>
              </a:solidFill>
              <a:latin typeface="Calibri"/>
              <a:ea typeface="Calibri"/>
              <a:cs typeface="Calibri"/>
              <a:sym typeface="Calibri"/>
            </a:endParaRPr>
          </a:p>
          <a:p>
            <a:pPr indent="0" lvl="0" marL="0" marR="0" rtl="0" algn="l">
              <a:lnSpc>
                <a:spcPct val="128000"/>
              </a:lnSpc>
              <a:spcBef>
                <a:spcPts val="0"/>
              </a:spcBef>
              <a:spcAft>
                <a:spcPts val="0"/>
              </a:spcAft>
              <a:buClr>
                <a:srgbClr val="DCE6F5"/>
              </a:buClr>
              <a:buSzPts val="900"/>
              <a:buFont typeface="Courier New"/>
              <a:buNone/>
            </a:pPr>
            <a:r>
              <a:rPr b="0" i="0" lang="en-US" sz="900" u="none" cap="none" strike="noStrike">
                <a:solidFill>
                  <a:srgbClr val="DCE6F5"/>
                </a:solidFill>
                <a:latin typeface="Courier New"/>
                <a:ea typeface="Courier New"/>
                <a:cs typeface="Courier New"/>
                <a:sym typeface="Courier New"/>
              </a:rPr>
              <a:t>from torch.utils.data import Dataset</a:t>
            </a:r>
            <a:endParaRPr b="0" i="0" sz="900" u="none" cap="none" strike="noStrike">
              <a:solidFill>
                <a:schemeClr val="dk1"/>
              </a:solidFill>
              <a:latin typeface="Calibri"/>
              <a:ea typeface="Calibri"/>
              <a:cs typeface="Calibri"/>
              <a:sym typeface="Calibri"/>
            </a:endParaRPr>
          </a:p>
          <a:p>
            <a:pPr indent="0" lvl="0" marL="0" marR="0" rtl="0" algn="l">
              <a:lnSpc>
                <a:spcPct val="128000"/>
              </a:lnSpc>
              <a:spcBef>
                <a:spcPts val="0"/>
              </a:spcBef>
              <a:spcAft>
                <a:spcPts val="0"/>
              </a:spcAft>
              <a:buClr>
                <a:srgbClr val="DCE6F5"/>
              </a:buClr>
              <a:buSzPts val="900"/>
              <a:buFont typeface="Courier New"/>
              <a:buNone/>
            </a:pPr>
            <a:r>
              <a:rPr b="0" i="0" lang="en-US" sz="900" u="none" cap="none" strike="noStrike">
                <a:solidFill>
                  <a:srgbClr val="DCE6F5"/>
                </a:solidFill>
                <a:latin typeface="Courier New"/>
                <a:ea typeface="Courier New"/>
                <a:cs typeface="Courier New"/>
                <a:sym typeface="Courier New"/>
              </a:rPr>
              <a:t> </a:t>
            </a:r>
            <a:endParaRPr b="0" i="0" sz="900" u="none" cap="none" strike="noStrike">
              <a:solidFill>
                <a:schemeClr val="dk1"/>
              </a:solidFill>
              <a:latin typeface="Calibri"/>
              <a:ea typeface="Calibri"/>
              <a:cs typeface="Calibri"/>
              <a:sym typeface="Calibri"/>
            </a:endParaRPr>
          </a:p>
          <a:p>
            <a:pPr indent="0" lvl="0" marL="0" marR="0" rtl="0" algn="l">
              <a:lnSpc>
                <a:spcPct val="128000"/>
              </a:lnSpc>
              <a:spcBef>
                <a:spcPts val="0"/>
              </a:spcBef>
              <a:spcAft>
                <a:spcPts val="0"/>
              </a:spcAft>
              <a:buClr>
                <a:srgbClr val="DCE6F5"/>
              </a:buClr>
              <a:buSzPts val="900"/>
              <a:buFont typeface="Courier New"/>
              <a:buNone/>
            </a:pPr>
            <a:r>
              <a:rPr b="0" i="0" lang="en-US" sz="900" u="none" cap="none" strike="noStrike">
                <a:solidFill>
                  <a:srgbClr val="DCE6F5"/>
                </a:solidFill>
                <a:latin typeface="Courier New"/>
                <a:ea typeface="Courier New"/>
                <a:cs typeface="Courier New"/>
                <a:sym typeface="Courier New"/>
              </a:rPr>
              <a:t>GRADES = ["premium", "standard",</a:t>
            </a:r>
            <a:endParaRPr b="0" i="0" sz="900" u="none" cap="none" strike="noStrike">
              <a:solidFill>
                <a:schemeClr val="dk1"/>
              </a:solidFill>
              <a:latin typeface="Calibri"/>
              <a:ea typeface="Calibri"/>
              <a:cs typeface="Calibri"/>
              <a:sym typeface="Calibri"/>
            </a:endParaRPr>
          </a:p>
          <a:p>
            <a:pPr indent="0" lvl="0" marL="0" marR="0" rtl="0" algn="l">
              <a:lnSpc>
                <a:spcPct val="128000"/>
              </a:lnSpc>
              <a:spcBef>
                <a:spcPts val="0"/>
              </a:spcBef>
              <a:spcAft>
                <a:spcPts val="0"/>
              </a:spcAft>
              <a:buClr>
                <a:srgbClr val="DCE6F5"/>
              </a:buClr>
              <a:buSzPts val="900"/>
              <a:buFont typeface="Courier New"/>
              <a:buNone/>
            </a:pPr>
            <a:r>
              <a:rPr b="0" i="0" lang="en-US" sz="900" u="none" cap="none" strike="noStrike">
                <a:solidFill>
                  <a:srgbClr val="DCE6F5"/>
                </a:solidFill>
                <a:latin typeface="Courier New"/>
                <a:ea typeface="Courier New"/>
                <a:cs typeface="Courier New"/>
                <a:sym typeface="Courier New"/>
              </a:rPr>
              <a:t>          "substandard", "reject"]   # frozen order</a:t>
            </a:r>
            <a:endParaRPr b="0" i="0" sz="900" u="none" cap="none" strike="noStrike">
              <a:solidFill>
                <a:schemeClr val="dk1"/>
              </a:solidFill>
              <a:latin typeface="Calibri"/>
              <a:ea typeface="Calibri"/>
              <a:cs typeface="Calibri"/>
              <a:sym typeface="Calibri"/>
            </a:endParaRPr>
          </a:p>
          <a:p>
            <a:pPr indent="0" lvl="0" marL="0" marR="0" rtl="0" algn="l">
              <a:lnSpc>
                <a:spcPct val="128000"/>
              </a:lnSpc>
              <a:spcBef>
                <a:spcPts val="0"/>
              </a:spcBef>
              <a:spcAft>
                <a:spcPts val="0"/>
              </a:spcAft>
              <a:buClr>
                <a:srgbClr val="DCE6F5"/>
              </a:buClr>
              <a:buSzPts val="900"/>
              <a:buFont typeface="Courier New"/>
              <a:buNone/>
            </a:pPr>
            <a:r>
              <a:rPr b="0" i="0" lang="en-US" sz="900" u="none" cap="none" strike="noStrike">
                <a:solidFill>
                  <a:srgbClr val="DCE6F5"/>
                </a:solidFill>
                <a:latin typeface="Courier New"/>
                <a:ea typeface="Courier New"/>
                <a:cs typeface="Courier New"/>
                <a:sym typeface="Courier New"/>
              </a:rPr>
              <a:t> </a:t>
            </a:r>
            <a:endParaRPr b="0" i="0" sz="900" u="none" cap="none" strike="noStrike">
              <a:solidFill>
                <a:schemeClr val="dk1"/>
              </a:solidFill>
              <a:latin typeface="Calibri"/>
              <a:ea typeface="Calibri"/>
              <a:cs typeface="Calibri"/>
              <a:sym typeface="Calibri"/>
            </a:endParaRPr>
          </a:p>
          <a:p>
            <a:pPr indent="0" lvl="0" marL="0" marR="0" rtl="0" algn="l">
              <a:lnSpc>
                <a:spcPct val="128000"/>
              </a:lnSpc>
              <a:spcBef>
                <a:spcPts val="0"/>
              </a:spcBef>
              <a:spcAft>
                <a:spcPts val="0"/>
              </a:spcAft>
              <a:buClr>
                <a:srgbClr val="DCE6F5"/>
              </a:buClr>
              <a:buSzPts val="900"/>
              <a:buFont typeface="Courier New"/>
              <a:buNone/>
            </a:pPr>
            <a:r>
              <a:rPr b="0" i="0" lang="en-US" sz="900" u="none" cap="none" strike="noStrike">
                <a:solidFill>
                  <a:srgbClr val="DCE6F5"/>
                </a:solidFill>
                <a:latin typeface="Courier New"/>
                <a:ea typeface="Courier New"/>
                <a:cs typeface="Courier New"/>
                <a:sym typeface="Courier New"/>
              </a:rPr>
              <a:t>class DatesQCDataset(Dataset):</a:t>
            </a:r>
            <a:endParaRPr b="0" i="0" sz="900" u="none" cap="none" strike="noStrike">
              <a:solidFill>
                <a:schemeClr val="dk1"/>
              </a:solidFill>
              <a:latin typeface="Calibri"/>
              <a:ea typeface="Calibri"/>
              <a:cs typeface="Calibri"/>
              <a:sym typeface="Calibri"/>
            </a:endParaRPr>
          </a:p>
          <a:p>
            <a:pPr indent="0" lvl="0" marL="0" marR="0" rtl="0" algn="l">
              <a:lnSpc>
                <a:spcPct val="128000"/>
              </a:lnSpc>
              <a:spcBef>
                <a:spcPts val="0"/>
              </a:spcBef>
              <a:spcAft>
                <a:spcPts val="0"/>
              </a:spcAft>
              <a:buClr>
                <a:srgbClr val="DCE6F5"/>
              </a:buClr>
              <a:buSzPts val="900"/>
              <a:buFont typeface="Courier New"/>
              <a:buNone/>
            </a:pPr>
            <a:r>
              <a:rPr b="0" i="0" lang="en-US" sz="900" u="none" cap="none" strike="noStrike">
                <a:solidFill>
                  <a:srgbClr val="DCE6F5"/>
                </a:solidFill>
                <a:latin typeface="Courier New"/>
                <a:ea typeface="Courier New"/>
                <a:cs typeface="Courier New"/>
                <a:sym typeface="Courier New"/>
              </a:rPr>
              <a:t>    def __init__(self, root, split, transform=None):</a:t>
            </a:r>
            <a:endParaRPr b="0" i="0" sz="900" u="none" cap="none" strike="noStrike">
              <a:solidFill>
                <a:schemeClr val="dk1"/>
              </a:solidFill>
              <a:latin typeface="Calibri"/>
              <a:ea typeface="Calibri"/>
              <a:cs typeface="Calibri"/>
              <a:sym typeface="Calibri"/>
            </a:endParaRPr>
          </a:p>
          <a:p>
            <a:pPr indent="0" lvl="0" marL="0" marR="0" rtl="0" algn="l">
              <a:lnSpc>
                <a:spcPct val="128000"/>
              </a:lnSpc>
              <a:spcBef>
                <a:spcPts val="0"/>
              </a:spcBef>
              <a:spcAft>
                <a:spcPts val="0"/>
              </a:spcAft>
              <a:buClr>
                <a:srgbClr val="DCE6F5"/>
              </a:buClr>
              <a:buSzPts val="900"/>
              <a:buFont typeface="Courier New"/>
              <a:buNone/>
            </a:pPr>
            <a:r>
              <a:rPr b="0" i="0" lang="en-US" sz="900" u="none" cap="none" strike="noStrike">
                <a:solidFill>
                  <a:srgbClr val="DCE6F5"/>
                </a:solidFill>
                <a:latin typeface="Courier New"/>
                <a:ea typeface="Courier New"/>
                <a:cs typeface="Courier New"/>
                <a:sym typeface="Courier New"/>
              </a:rPr>
              <a:t>        m = pd.read_csv(root / "manifest_v1.csv")</a:t>
            </a:r>
            <a:endParaRPr b="0" i="0" sz="900" u="none" cap="none" strike="noStrike">
              <a:solidFill>
                <a:schemeClr val="dk1"/>
              </a:solidFill>
              <a:latin typeface="Calibri"/>
              <a:ea typeface="Calibri"/>
              <a:cs typeface="Calibri"/>
              <a:sym typeface="Calibri"/>
            </a:endParaRPr>
          </a:p>
          <a:p>
            <a:pPr indent="0" lvl="0" marL="0" marR="0" rtl="0" algn="l">
              <a:lnSpc>
                <a:spcPct val="128000"/>
              </a:lnSpc>
              <a:spcBef>
                <a:spcPts val="0"/>
              </a:spcBef>
              <a:spcAft>
                <a:spcPts val="0"/>
              </a:spcAft>
              <a:buClr>
                <a:srgbClr val="DCE6F5"/>
              </a:buClr>
              <a:buSzPts val="900"/>
              <a:buFont typeface="Courier New"/>
              <a:buNone/>
            </a:pPr>
            <a:r>
              <a:rPr b="0" i="0" lang="en-US" sz="900" u="none" cap="none" strike="noStrike">
                <a:solidFill>
                  <a:srgbClr val="DCE6F5"/>
                </a:solidFill>
                <a:latin typeface="Courier New"/>
                <a:ea typeface="Courier New"/>
                <a:cs typeface="Courier New"/>
                <a:sym typeface="Courier New"/>
              </a:rPr>
              <a:t>        m = m[m["split"] == split]</a:t>
            </a:r>
            <a:endParaRPr b="0" i="0" sz="900" u="none" cap="none" strike="noStrike">
              <a:solidFill>
                <a:schemeClr val="dk1"/>
              </a:solidFill>
              <a:latin typeface="Calibri"/>
              <a:ea typeface="Calibri"/>
              <a:cs typeface="Calibri"/>
              <a:sym typeface="Calibri"/>
            </a:endParaRPr>
          </a:p>
          <a:p>
            <a:pPr indent="0" lvl="0" marL="0" marR="0" rtl="0" algn="l">
              <a:lnSpc>
                <a:spcPct val="128000"/>
              </a:lnSpc>
              <a:spcBef>
                <a:spcPts val="0"/>
              </a:spcBef>
              <a:spcAft>
                <a:spcPts val="0"/>
              </a:spcAft>
              <a:buClr>
                <a:srgbClr val="DCE6F5"/>
              </a:buClr>
              <a:buSzPts val="900"/>
              <a:buFont typeface="Courier New"/>
              <a:buNone/>
            </a:pPr>
            <a:r>
              <a:rPr b="0" i="0" lang="en-US" sz="900" u="none" cap="none" strike="noStrike">
                <a:solidFill>
                  <a:srgbClr val="DCE6F5"/>
                </a:solidFill>
                <a:latin typeface="Courier New"/>
                <a:ea typeface="Courier New"/>
                <a:cs typeface="Courier New"/>
                <a:sym typeface="Courier New"/>
              </a:rPr>
              <a:t>        self.rows = m.reset_index(drop=True)</a:t>
            </a:r>
            <a:endParaRPr b="0" i="0" sz="900" u="none" cap="none" strike="noStrike">
              <a:solidFill>
                <a:schemeClr val="dk1"/>
              </a:solidFill>
              <a:latin typeface="Calibri"/>
              <a:ea typeface="Calibri"/>
              <a:cs typeface="Calibri"/>
              <a:sym typeface="Calibri"/>
            </a:endParaRPr>
          </a:p>
          <a:p>
            <a:pPr indent="0" lvl="0" marL="0" marR="0" rtl="0" algn="l">
              <a:lnSpc>
                <a:spcPct val="128000"/>
              </a:lnSpc>
              <a:spcBef>
                <a:spcPts val="0"/>
              </a:spcBef>
              <a:spcAft>
                <a:spcPts val="0"/>
              </a:spcAft>
              <a:buClr>
                <a:srgbClr val="DCE6F5"/>
              </a:buClr>
              <a:buSzPts val="900"/>
              <a:buFont typeface="Courier New"/>
              <a:buNone/>
            </a:pPr>
            <a:r>
              <a:rPr b="0" i="0" lang="en-US" sz="900" u="none" cap="none" strike="noStrike">
                <a:solidFill>
                  <a:srgbClr val="DCE6F5"/>
                </a:solidFill>
                <a:latin typeface="Courier New"/>
                <a:ea typeface="Courier New"/>
                <a:cs typeface="Courier New"/>
                <a:sym typeface="Courier New"/>
              </a:rPr>
              <a:t>        self.root, self.transform = root, transform</a:t>
            </a:r>
            <a:endParaRPr b="0" i="0" sz="900" u="none" cap="none" strike="noStrike">
              <a:solidFill>
                <a:schemeClr val="dk1"/>
              </a:solidFill>
              <a:latin typeface="Calibri"/>
              <a:ea typeface="Calibri"/>
              <a:cs typeface="Calibri"/>
              <a:sym typeface="Calibri"/>
            </a:endParaRPr>
          </a:p>
          <a:p>
            <a:pPr indent="0" lvl="0" marL="0" marR="0" rtl="0" algn="l">
              <a:lnSpc>
                <a:spcPct val="128000"/>
              </a:lnSpc>
              <a:spcBef>
                <a:spcPts val="0"/>
              </a:spcBef>
              <a:spcAft>
                <a:spcPts val="0"/>
              </a:spcAft>
              <a:buClr>
                <a:srgbClr val="8FBF71"/>
              </a:buClr>
              <a:buSzPts val="900"/>
              <a:buFont typeface="Courier New"/>
              <a:buNone/>
            </a:pPr>
            <a:r>
              <a:rPr b="0" i="0" lang="en-US" sz="900" u="none" cap="none" strike="noStrike">
                <a:solidFill>
                  <a:srgbClr val="8FBF71"/>
                </a:solidFill>
                <a:latin typeface="Courier New"/>
                <a:ea typeface="Courier New"/>
                <a:cs typeface="Courier New"/>
                <a:sym typeface="Courier New"/>
              </a:rPr>
              <a:t>    # __len__ omitted: len(self.rows)</a:t>
            </a:r>
            <a:endParaRPr b="0" i="0" sz="900" u="none" cap="none" strike="noStrike">
              <a:solidFill>
                <a:schemeClr val="dk1"/>
              </a:solidFill>
              <a:latin typeface="Calibri"/>
              <a:ea typeface="Calibri"/>
              <a:cs typeface="Calibri"/>
              <a:sym typeface="Calibri"/>
            </a:endParaRPr>
          </a:p>
          <a:p>
            <a:pPr indent="0" lvl="0" marL="0" marR="0" rtl="0" algn="l">
              <a:lnSpc>
                <a:spcPct val="128000"/>
              </a:lnSpc>
              <a:spcBef>
                <a:spcPts val="0"/>
              </a:spcBef>
              <a:spcAft>
                <a:spcPts val="0"/>
              </a:spcAft>
              <a:buClr>
                <a:srgbClr val="DCE6F5"/>
              </a:buClr>
              <a:buSzPts val="900"/>
              <a:buFont typeface="Courier New"/>
              <a:buNone/>
            </a:pPr>
            <a:r>
              <a:rPr b="0" i="0" lang="en-US" sz="900" u="none" cap="none" strike="noStrike">
                <a:solidFill>
                  <a:srgbClr val="DCE6F5"/>
                </a:solidFill>
                <a:latin typeface="Courier New"/>
                <a:ea typeface="Courier New"/>
                <a:cs typeface="Courier New"/>
                <a:sym typeface="Courier New"/>
              </a:rPr>
              <a:t> </a:t>
            </a:r>
            <a:endParaRPr b="0" i="0" sz="900" u="none" cap="none" strike="noStrike">
              <a:solidFill>
                <a:schemeClr val="dk1"/>
              </a:solidFill>
              <a:latin typeface="Calibri"/>
              <a:ea typeface="Calibri"/>
              <a:cs typeface="Calibri"/>
              <a:sym typeface="Calibri"/>
            </a:endParaRPr>
          </a:p>
          <a:p>
            <a:pPr indent="0" lvl="0" marL="0" marR="0" rtl="0" algn="l">
              <a:lnSpc>
                <a:spcPct val="128000"/>
              </a:lnSpc>
              <a:spcBef>
                <a:spcPts val="0"/>
              </a:spcBef>
              <a:spcAft>
                <a:spcPts val="0"/>
              </a:spcAft>
              <a:buClr>
                <a:srgbClr val="DCE6F5"/>
              </a:buClr>
              <a:buSzPts val="900"/>
              <a:buFont typeface="Courier New"/>
              <a:buNone/>
            </a:pPr>
            <a:r>
              <a:rPr b="0" i="0" lang="en-US" sz="900" u="none" cap="none" strike="noStrike">
                <a:solidFill>
                  <a:srgbClr val="DCE6F5"/>
                </a:solidFill>
                <a:latin typeface="Courier New"/>
                <a:ea typeface="Courier New"/>
                <a:cs typeface="Courier New"/>
                <a:sym typeface="Courier New"/>
              </a:rPr>
              <a:t>    def __getitem__(self, idx):</a:t>
            </a:r>
            <a:endParaRPr b="0" i="0" sz="900" u="none" cap="none" strike="noStrike">
              <a:solidFill>
                <a:schemeClr val="dk1"/>
              </a:solidFill>
              <a:latin typeface="Calibri"/>
              <a:ea typeface="Calibri"/>
              <a:cs typeface="Calibri"/>
              <a:sym typeface="Calibri"/>
            </a:endParaRPr>
          </a:p>
          <a:p>
            <a:pPr indent="0" lvl="0" marL="0" marR="0" rtl="0" algn="l">
              <a:lnSpc>
                <a:spcPct val="128000"/>
              </a:lnSpc>
              <a:spcBef>
                <a:spcPts val="0"/>
              </a:spcBef>
              <a:spcAft>
                <a:spcPts val="0"/>
              </a:spcAft>
              <a:buClr>
                <a:srgbClr val="DCE6F5"/>
              </a:buClr>
              <a:buSzPts val="900"/>
              <a:buFont typeface="Courier New"/>
              <a:buNone/>
            </a:pPr>
            <a:r>
              <a:rPr b="0" i="0" lang="en-US" sz="900" u="none" cap="none" strike="noStrike">
                <a:solidFill>
                  <a:srgbClr val="DCE6F5"/>
                </a:solidFill>
                <a:latin typeface="Courier New"/>
                <a:ea typeface="Courier New"/>
                <a:cs typeface="Courier New"/>
                <a:sym typeface="Courier New"/>
              </a:rPr>
              <a:t>        row = self.rows.iloc[idx]</a:t>
            </a:r>
            <a:endParaRPr b="0" i="0" sz="900" u="none" cap="none" strike="noStrike">
              <a:solidFill>
                <a:schemeClr val="dk1"/>
              </a:solidFill>
              <a:latin typeface="Calibri"/>
              <a:ea typeface="Calibri"/>
              <a:cs typeface="Calibri"/>
              <a:sym typeface="Calibri"/>
            </a:endParaRPr>
          </a:p>
          <a:p>
            <a:pPr indent="0" lvl="0" marL="0" marR="0" rtl="0" algn="l">
              <a:lnSpc>
                <a:spcPct val="128000"/>
              </a:lnSpc>
              <a:spcBef>
                <a:spcPts val="0"/>
              </a:spcBef>
              <a:spcAft>
                <a:spcPts val="0"/>
              </a:spcAft>
              <a:buClr>
                <a:srgbClr val="DCE6F5"/>
              </a:buClr>
              <a:buSzPts val="900"/>
              <a:buFont typeface="Courier New"/>
              <a:buNone/>
            </a:pPr>
            <a:r>
              <a:rPr b="0" i="0" lang="en-US" sz="900" u="none" cap="none" strike="noStrike">
                <a:solidFill>
                  <a:srgbClr val="DCE6F5"/>
                </a:solidFill>
                <a:latin typeface="Courier New"/>
                <a:ea typeface="Courier New"/>
                <a:cs typeface="Courier New"/>
                <a:sym typeface="Courier New"/>
              </a:rPr>
              <a:t>        p = str(self.root / "images" / row["file"])</a:t>
            </a:r>
            <a:endParaRPr b="0" i="0" sz="900" u="none" cap="none" strike="noStrike">
              <a:solidFill>
                <a:schemeClr val="dk1"/>
              </a:solidFill>
              <a:latin typeface="Calibri"/>
              <a:ea typeface="Calibri"/>
              <a:cs typeface="Calibri"/>
              <a:sym typeface="Calibri"/>
            </a:endParaRPr>
          </a:p>
          <a:p>
            <a:pPr indent="0" lvl="0" marL="0" marR="0" rtl="0" algn="l">
              <a:lnSpc>
                <a:spcPct val="128000"/>
              </a:lnSpc>
              <a:spcBef>
                <a:spcPts val="0"/>
              </a:spcBef>
              <a:spcAft>
                <a:spcPts val="0"/>
              </a:spcAft>
              <a:buClr>
                <a:srgbClr val="DCE6F5"/>
              </a:buClr>
              <a:buSzPts val="900"/>
              <a:buFont typeface="Courier New"/>
              <a:buNone/>
            </a:pPr>
            <a:r>
              <a:rPr b="0" i="0" lang="en-US" sz="900" u="none" cap="none" strike="noStrike">
                <a:solidFill>
                  <a:srgbClr val="DCE6F5"/>
                </a:solidFill>
                <a:latin typeface="Courier New"/>
                <a:ea typeface="Courier New"/>
                <a:cs typeface="Courier New"/>
                <a:sym typeface="Courier New"/>
              </a:rPr>
              <a:t>        img = cv2.imread(p)</a:t>
            </a:r>
            <a:endParaRPr b="0" i="0" sz="900" u="none" cap="none" strike="noStrike">
              <a:solidFill>
                <a:schemeClr val="dk1"/>
              </a:solidFill>
              <a:latin typeface="Calibri"/>
              <a:ea typeface="Calibri"/>
              <a:cs typeface="Calibri"/>
              <a:sym typeface="Calibri"/>
            </a:endParaRPr>
          </a:p>
          <a:p>
            <a:pPr indent="0" lvl="0" marL="0" marR="0" rtl="0" algn="l">
              <a:lnSpc>
                <a:spcPct val="128000"/>
              </a:lnSpc>
              <a:spcBef>
                <a:spcPts val="0"/>
              </a:spcBef>
              <a:spcAft>
                <a:spcPts val="0"/>
              </a:spcAft>
              <a:buClr>
                <a:srgbClr val="DCE6F5"/>
              </a:buClr>
              <a:buSzPts val="900"/>
              <a:buFont typeface="Courier New"/>
              <a:buNone/>
            </a:pPr>
            <a:r>
              <a:rPr b="0" i="0" lang="en-US" sz="900" u="none" cap="none" strike="noStrike">
                <a:solidFill>
                  <a:srgbClr val="DCE6F5"/>
                </a:solidFill>
                <a:latin typeface="Courier New"/>
                <a:ea typeface="Courier New"/>
                <a:cs typeface="Courier New"/>
                <a:sym typeface="Courier New"/>
              </a:rPr>
              <a:t>        if img is None:   # fail loudly, not a black image</a:t>
            </a:r>
            <a:endParaRPr b="0" i="0" sz="900" u="none" cap="none" strike="noStrike">
              <a:solidFill>
                <a:schemeClr val="dk1"/>
              </a:solidFill>
              <a:latin typeface="Calibri"/>
              <a:ea typeface="Calibri"/>
              <a:cs typeface="Calibri"/>
              <a:sym typeface="Calibri"/>
            </a:endParaRPr>
          </a:p>
          <a:p>
            <a:pPr indent="0" lvl="0" marL="0" marR="0" rtl="0" algn="l">
              <a:lnSpc>
                <a:spcPct val="128000"/>
              </a:lnSpc>
              <a:spcBef>
                <a:spcPts val="0"/>
              </a:spcBef>
              <a:spcAft>
                <a:spcPts val="0"/>
              </a:spcAft>
              <a:buClr>
                <a:srgbClr val="DCE6F5"/>
              </a:buClr>
              <a:buSzPts val="900"/>
              <a:buFont typeface="Courier New"/>
              <a:buNone/>
            </a:pPr>
            <a:r>
              <a:rPr b="0" i="0" lang="en-US" sz="900" u="none" cap="none" strike="noStrike">
                <a:solidFill>
                  <a:srgbClr val="DCE6F5"/>
                </a:solidFill>
                <a:latin typeface="Courier New"/>
                <a:ea typeface="Courier New"/>
                <a:cs typeface="Courier New"/>
                <a:sym typeface="Courier New"/>
              </a:rPr>
              <a:t>            raise FileNotFoundError(row["file"])</a:t>
            </a:r>
            <a:endParaRPr b="0" i="0" sz="900" u="none" cap="none" strike="noStrike">
              <a:solidFill>
                <a:schemeClr val="dk1"/>
              </a:solidFill>
              <a:latin typeface="Calibri"/>
              <a:ea typeface="Calibri"/>
              <a:cs typeface="Calibri"/>
              <a:sym typeface="Calibri"/>
            </a:endParaRPr>
          </a:p>
          <a:p>
            <a:pPr indent="0" lvl="0" marL="0" marR="0" rtl="0" algn="l">
              <a:lnSpc>
                <a:spcPct val="128000"/>
              </a:lnSpc>
              <a:spcBef>
                <a:spcPts val="0"/>
              </a:spcBef>
              <a:spcAft>
                <a:spcPts val="0"/>
              </a:spcAft>
              <a:buClr>
                <a:srgbClr val="DCE6F5"/>
              </a:buClr>
              <a:buSzPts val="900"/>
              <a:buFont typeface="Courier New"/>
              <a:buNone/>
            </a:pPr>
            <a:r>
              <a:rPr b="0" i="0" lang="en-US" sz="900" u="none" cap="none" strike="noStrike">
                <a:solidFill>
                  <a:srgbClr val="DCE6F5"/>
                </a:solidFill>
                <a:latin typeface="Courier New"/>
                <a:ea typeface="Courier New"/>
                <a:cs typeface="Courier New"/>
                <a:sym typeface="Courier New"/>
              </a:rPr>
              <a:t>        img = cv2.cvtColor(img, cv2.COLOR_BGR2RGB)</a:t>
            </a:r>
            <a:endParaRPr b="0" i="0" sz="900" u="none" cap="none" strike="noStrike">
              <a:solidFill>
                <a:schemeClr val="dk1"/>
              </a:solidFill>
              <a:latin typeface="Calibri"/>
              <a:ea typeface="Calibri"/>
              <a:cs typeface="Calibri"/>
              <a:sym typeface="Calibri"/>
            </a:endParaRPr>
          </a:p>
          <a:p>
            <a:pPr indent="0" lvl="0" marL="0" marR="0" rtl="0" algn="l">
              <a:lnSpc>
                <a:spcPct val="128000"/>
              </a:lnSpc>
              <a:spcBef>
                <a:spcPts val="0"/>
              </a:spcBef>
              <a:spcAft>
                <a:spcPts val="0"/>
              </a:spcAft>
              <a:buClr>
                <a:srgbClr val="DCE6F5"/>
              </a:buClr>
              <a:buSzPts val="900"/>
              <a:buFont typeface="Courier New"/>
              <a:buNone/>
            </a:pPr>
            <a:r>
              <a:rPr b="0" i="0" lang="en-US" sz="900" u="none" cap="none" strike="noStrike">
                <a:solidFill>
                  <a:srgbClr val="DCE6F5"/>
                </a:solidFill>
                <a:latin typeface="Courier New"/>
                <a:ea typeface="Courier New"/>
                <a:cs typeface="Courier New"/>
                <a:sym typeface="Courier New"/>
              </a:rPr>
              <a:t>        t = torch.from_numpy(img).permute(2, 0, 1)</a:t>
            </a:r>
            <a:endParaRPr b="0" i="0" sz="900" u="none" cap="none" strike="noStrike">
              <a:solidFill>
                <a:schemeClr val="dk1"/>
              </a:solidFill>
              <a:latin typeface="Calibri"/>
              <a:ea typeface="Calibri"/>
              <a:cs typeface="Calibri"/>
              <a:sym typeface="Calibri"/>
            </a:endParaRPr>
          </a:p>
          <a:p>
            <a:pPr indent="0" lvl="0" marL="0" marR="0" rtl="0" algn="l">
              <a:lnSpc>
                <a:spcPct val="128000"/>
              </a:lnSpc>
              <a:spcBef>
                <a:spcPts val="0"/>
              </a:spcBef>
              <a:spcAft>
                <a:spcPts val="0"/>
              </a:spcAft>
              <a:buClr>
                <a:srgbClr val="DCE6F5"/>
              </a:buClr>
              <a:buSzPts val="900"/>
              <a:buFont typeface="Courier New"/>
              <a:buNone/>
            </a:pPr>
            <a:r>
              <a:rPr b="0" i="0" lang="en-US" sz="900" u="none" cap="none" strike="noStrike">
                <a:solidFill>
                  <a:srgbClr val="DCE6F5"/>
                </a:solidFill>
                <a:latin typeface="Courier New"/>
                <a:ea typeface="Courier New"/>
                <a:cs typeface="Courier New"/>
                <a:sym typeface="Courier New"/>
              </a:rPr>
              <a:t>        if self.transform:</a:t>
            </a:r>
            <a:endParaRPr b="0" i="0" sz="900" u="none" cap="none" strike="noStrike">
              <a:solidFill>
                <a:schemeClr val="dk1"/>
              </a:solidFill>
              <a:latin typeface="Calibri"/>
              <a:ea typeface="Calibri"/>
              <a:cs typeface="Calibri"/>
              <a:sym typeface="Calibri"/>
            </a:endParaRPr>
          </a:p>
          <a:p>
            <a:pPr indent="0" lvl="0" marL="0" marR="0" rtl="0" algn="l">
              <a:lnSpc>
                <a:spcPct val="128000"/>
              </a:lnSpc>
              <a:spcBef>
                <a:spcPts val="0"/>
              </a:spcBef>
              <a:spcAft>
                <a:spcPts val="0"/>
              </a:spcAft>
              <a:buClr>
                <a:srgbClr val="DCE6F5"/>
              </a:buClr>
              <a:buSzPts val="900"/>
              <a:buFont typeface="Courier New"/>
              <a:buNone/>
            </a:pPr>
            <a:r>
              <a:rPr b="0" i="0" lang="en-US" sz="900" u="none" cap="none" strike="noStrike">
                <a:solidFill>
                  <a:srgbClr val="DCE6F5"/>
                </a:solidFill>
                <a:latin typeface="Courier New"/>
                <a:ea typeface="Courier New"/>
                <a:cs typeface="Courier New"/>
                <a:sym typeface="Courier New"/>
              </a:rPr>
              <a:t>            t = self.transform(t)</a:t>
            </a:r>
            <a:endParaRPr b="0" i="0" sz="900" u="none" cap="none" strike="noStrike">
              <a:solidFill>
                <a:schemeClr val="dk1"/>
              </a:solidFill>
              <a:latin typeface="Calibri"/>
              <a:ea typeface="Calibri"/>
              <a:cs typeface="Calibri"/>
              <a:sym typeface="Calibri"/>
            </a:endParaRPr>
          </a:p>
          <a:p>
            <a:pPr indent="0" lvl="0" marL="0" marR="0" rtl="0" algn="l">
              <a:lnSpc>
                <a:spcPct val="128000"/>
              </a:lnSpc>
              <a:spcBef>
                <a:spcPts val="0"/>
              </a:spcBef>
              <a:spcAft>
                <a:spcPts val="0"/>
              </a:spcAft>
              <a:buClr>
                <a:srgbClr val="DCE6F5"/>
              </a:buClr>
              <a:buSzPts val="900"/>
              <a:buFont typeface="Courier New"/>
              <a:buNone/>
            </a:pPr>
            <a:r>
              <a:rPr b="0" i="0" lang="en-US" sz="900" u="none" cap="none" strike="noStrike">
                <a:solidFill>
                  <a:srgbClr val="DCE6F5"/>
                </a:solidFill>
                <a:latin typeface="Courier New"/>
                <a:ea typeface="Courier New"/>
                <a:cs typeface="Courier New"/>
                <a:sym typeface="Courier New"/>
              </a:rPr>
              <a:t>        return t, GRADES.index(row["grade"])</a:t>
            </a:r>
            <a:endParaRPr b="0" i="0" sz="900" u="none" cap="none" strike="noStrike">
              <a:solidFill>
                <a:schemeClr val="dk1"/>
              </a:solidFill>
              <a:latin typeface="Calibri"/>
              <a:ea typeface="Calibri"/>
              <a:cs typeface="Calibri"/>
              <a:sym typeface="Calibri"/>
            </a:endParaRPr>
          </a:p>
        </p:txBody>
      </p:sp>
      <p:sp>
        <p:nvSpPr>
          <p:cNvPr id="688" name="Google Shape;688;p23"/>
          <p:cNvSpPr/>
          <p:nvPr/>
        </p:nvSpPr>
        <p:spPr>
          <a:xfrm>
            <a:off x="7973568" y="1389888"/>
            <a:ext cx="3712464" cy="1090422"/>
          </a:xfrm>
          <a:prstGeom prst="roundRect">
            <a:avLst>
              <a:gd fmla="val 5870" name="adj"/>
            </a:avLst>
          </a:prstGeom>
          <a:solidFill>
            <a:srgbClr val="F2F6F9"/>
          </a:solidFill>
          <a:ln cap="flat" cmpd="sng" w="12700">
            <a:solidFill>
              <a:srgbClr val="D9E2E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9" name="Google Shape;689;p23"/>
          <p:cNvSpPr/>
          <p:nvPr/>
        </p:nvSpPr>
        <p:spPr>
          <a:xfrm>
            <a:off x="8101584" y="1508760"/>
            <a:ext cx="237744" cy="237744"/>
          </a:xfrm>
          <a:prstGeom prst="ellipse">
            <a:avLst/>
          </a:prstGeom>
          <a:solidFill>
            <a:srgbClr val="00A79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0" name="Google Shape;690;p23"/>
          <p:cNvSpPr/>
          <p:nvPr/>
        </p:nvSpPr>
        <p:spPr>
          <a:xfrm>
            <a:off x="8101584" y="1508760"/>
            <a:ext cx="237744" cy="23774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000"/>
              <a:buFont typeface="Calibri"/>
              <a:buNone/>
            </a:pPr>
            <a:r>
              <a:rPr b="1" i="0" lang="en-US" sz="1000" u="none" cap="none" strike="noStrike">
                <a:solidFill>
                  <a:srgbClr val="FFFFFF"/>
                </a:solidFill>
                <a:latin typeface="Calibri"/>
                <a:ea typeface="Calibri"/>
                <a:cs typeface="Calibri"/>
                <a:sym typeface="Calibri"/>
              </a:rPr>
              <a:t>1</a:t>
            </a:r>
            <a:endParaRPr b="0" i="0" sz="1000" u="none" cap="none" strike="noStrike">
              <a:solidFill>
                <a:schemeClr val="dk1"/>
              </a:solidFill>
              <a:latin typeface="Calibri"/>
              <a:ea typeface="Calibri"/>
              <a:cs typeface="Calibri"/>
              <a:sym typeface="Calibri"/>
            </a:endParaRPr>
          </a:p>
        </p:txBody>
      </p:sp>
      <p:sp>
        <p:nvSpPr>
          <p:cNvPr id="691" name="Google Shape;691;p23"/>
          <p:cNvSpPr/>
          <p:nvPr/>
        </p:nvSpPr>
        <p:spPr>
          <a:xfrm>
            <a:off x="8430768" y="1444752"/>
            <a:ext cx="3145536"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D2A5C"/>
              </a:buClr>
              <a:buSzPts val="1150"/>
              <a:buFont typeface="Calibri"/>
              <a:buNone/>
            </a:pPr>
            <a:r>
              <a:rPr b="1" i="0" lang="en-US" sz="1150" u="none" cap="none" strike="noStrike">
                <a:solidFill>
                  <a:srgbClr val="1D2A5C"/>
                </a:solidFill>
                <a:latin typeface="Calibri"/>
                <a:ea typeface="Calibri"/>
                <a:cs typeface="Calibri"/>
                <a:sym typeface="Calibri"/>
              </a:rPr>
              <a:t>BGR to RGB at the boundary</a:t>
            </a:r>
            <a:endParaRPr b="0" i="0" sz="1150" u="none" cap="none" strike="noStrike">
              <a:solidFill>
                <a:schemeClr val="dk1"/>
              </a:solidFill>
              <a:latin typeface="Calibri"/>
              <a:ea typeface="Calibri"/>
              <a:cs typeface="Calibri"/>
              <a:sym typeface="Calibri"/>
            </a:endParaRPr>
          </a:p>
        </p:txBody>
      </p:sp>
      <p:sp>
        <p:nvSpPr>
          <p:cNvPr id="692" name="Google Shape;692;p23"/>
          <p:cNvSpPr/>
          <p:nvPr/>
        </p:nvSpPr>
        <p:spPr>
          <a:xfrm>
            <a:off x="8430768" y="1719072"/>
            <a:ext cx="3145536" cy="688086"/>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5F6B7A"/>
              </a:buClr>
              <a:buSzPts val="1000"/>
              <a:buFont typeface="Calibri"/>
              <a:buNone/>
            </a:pPr>
            <a:r>
              <a:rPr b="0" i="0" lang="en-US" sz="1000" u="none" cap="none" strike="noStrike">
                <a:solidFill>
                  <a:srgbClr val="5F6B7A"/>
                </a:solidFill>
                <a:latin typeface="Calibri"/>
                <a:ea typeface="Calibri"/>
                <a:cs typeface="Calibri"/>
                <a:sym typeface="Calibri"/>
              </a:rPr>
              <a:t>cv2 loads BGR; convert once at I/O and never think about it again</a:t>
            </a:r>
            <a:endParaRPr b="0" i="0" sz="1000" u="none" cap="none" strike="noStrike">
              <a:solidFill>
                <a:schemeClr val="dk1"/>
              </a:solidFill>
              <a:latin typeface="Calibri"/>
              <a:ea typeface="Calibri"/>
              <a:cs typeface="Calibri"/>
              <a:sym typeface="Calibri"/>
            </a:endParaRPr>
          </a:p>
        </p:txBody>
      </p:sp>
      <p:sp>
        <p:nvSpPr>
          <p:cNvPr id="693" name="Google Shape;693;p23"/>
          <p:cNvSpPr/>
          <p:nvPr/>
        </p:nvSpPr>
        <p:spPr>
          <a:xfrm>
            <a:off x="7973568" y="2681478"/>
            <a:ext cx="3712464" cy="1090422"/>
          </a:xfrm>
          <a:prstGeom prst="roundRect">
            <a:avLst>
              <a:gd fmla="val 5870" name="adj"/>
            </a:avLst>
          </a:prstGeom>
          <a:solidFill>
            <a:srgbClr val="F2F6F9"/>
          </a:solidFill>
          <a:ln cap="flat" cmpd="sng" w="12700">
            <a:solidFill>
              <a:srgbClr val="D9E2E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4" name="Google Shape;694;p23"/>
          <p:cNvSpPr/>
          <p:nvPr/>
        </p:nvSpPr>
        <p:spPr>
          <a:xfrm>
            <a:off x="8101584" y="2800350"/>
            <a:ext cx="237744" cy="237744"/>
          </a:xfrm>
          <a:prstGeom prst="ellipse">
            <a:avLst/>
          </a:prstGeom>
          <a:solidFill>
            <a:srgbClr val="29ABE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5" name="Google Shape;695;p23"/>
          <p:cNvSpPr/>
          <p:nvPr/>
        </p:nvSpPr>
        <p:spPr>
          <a:xfrm>
            <a:off x="8101584" y="2800350"/>
            <a:ext cx="237744" cy="23774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000"/>
              <a:buFont typeface="Calibri"/>
              <a:buNone/>
            </a:pPr>
            <a:r>
              <a:rPr b="1" i="0" lang="en-US" sz="1000" u="none" cap="none" strike="noStrike">
                <a:solidFill>
                  <a:srgbClr val="FFFFFF"/>
                </a:solidFill>
                <a:latin typeface="Calibri"/>
                <a:ea typeface="Calibri"/>
                <a:cs typeface="Calibri"/>
                <a:sym typeface="Calibri"/>
              </a:rPr>
              <a:t>2</a:t>
            </a:r>
            <a:endParaRPr b="0" i="0" sz="1000" u="none" cap="none" strike="noStrike">
              <a:solidFill>
                <a:schemeClr val="dk1"/>
              </a:solidFill>
              <a:latin typeface="Calibri"/>
              <a:ea typeface="Calibri"/>
              <a:cs typeface="Calibri"/>
              <a:sym typeface="Calibri"/>
            </a:endParaRPr>
          </a:p>
        </p:txBody>
      </p:sp>
      <p:sp>
        <p:nvSpPr>
          <p:cNvPr id="696" name="Google Shape;696;p23"/>
          <p:cNvSpPr/>
          <p:nvPr/>
        </p:nvSpPr>
        <p:spPr>
          <a:xfrm>
            <a:off x="8430768" y="2736342"/>
            <a:ext cx="3145536"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D2A5C"/>
              </a:buClr>
              <a:buSzPts val="1150"/>
              <a:buFont typeface="Calibri"/>
              <a:buNone/>
            </a:pPr>
            <a:r>
              <a:rPr b="1" i="0" lang="en-US" sz="1150" u="none" cap="none" strike="noStrike">
                <a:solidFill>
                  <a:srgbClr val="1D2A5C"/>
                </a:solidFill>
                <a:latin typeface="Calibri"/>
                <a:ea typeface="Calibri"/>
                <a:cs typeface="Calibri"/>
                <a:sym typeface="Calibri"/>
              </a:rPr>
              <a:t>Fail loudly</a:t>
            </a:r>
            <a:endParaRPr b="0" i="0" sz="1150" u="none" cap="none" strike="noStrike">
              <a:solidFill>
                <a:schemeClr val="dk1"/>
              </a:solidFill>
              <a:latin typeface="Calibri"/>
              <a:ea typeface="Calibri"/>
              <a:cs typeface="Calibri"/>
              <a:sym typeface="Calibri"/>
            </a:endParaRPr>
          </a:p>
        </p:txBody>
      </p:sp>
      <p:sp>
        <p:nvSpPr>
          <p:cNvPr id="697" name="Google Shape;697;p23"/>
          <p:cNvSpPr/>
          <p:nvPr/>
        </p:nvSpPr>
        <p:spPr>
          <a:xfrm>
            <a:off x="8430768" y="3010662"/>
            <a:ext cx="3145536" cy="688086"/>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5F6B7A"/>
              </a:buClr>
              <a:buSzPts val="1000"/>
              <a:buFont typeface="Calibri"/>
              <a:buNone/>
            </a:pPr>
            <a:r>
              <a:rPr b="0" i="0" lang="en-US" sz="1000" u="none" cap="none" strike="noStrike">
                <a:solidFill>
                  <a:srgbClr val="5F6B7A"/>
                </a:solidFill>
                <a:latin typeface="Calibri"/>
                <a:ea typeface="Calibri"/>
                <a:cs typeface="Calibri"/>
                <a:sym typeface="Calibri"/>
              </a:rPr>
              <a:t>cv2.imread returns None on a bad path — raise, don't train on black frames</a:t>
            </a:r>
            <a:endParaRPr b="0" i="0" sz="1000" u="none" cap="none" strike="noStrike">
              <a:solidFill>
                <a:schemeClr val="dk1"/>
              </a:solidFill>
              <a:latin typeface="Calibri"/>
              <a:ea typeface="Calibri"/>
              <a:cs typeface="Calibri"/>
              <a:sym typeface="Calibri"/>
            </a:endParaRPr>
          </a:p>
        </p:txBody>
      </p:sp>
      <p:sp>
        <p:nvSpPr>
          <p:cNvPr id="698" name="Google Shape;698;p23"/>
          <p:cNvSpPr/>
          <p:nvPr/>
        </p:nvSpPr>
        <p:spPr>
          <a:xfrm>
            <a:off x="7973568" y="3973068"/>
            <a:ext cx="3712464" cy="1090422"/>
          </a:xfrm>
          <a:prstGeom prst="roundRect">
            <a:avLst>
              <a:gd fmla="val 5870" name="adj"/>
            </a:avLst>
          </a:prstGeom>
          <a:solidFill>
            <a:srgbClr val="F2F6F9"/>
          </a:solidFill>
          <a:ln cap="flat" cmpd="sng" w="12700">
            <a:solidFill>
              <a:srgbClr val="D9E2E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9" name="Google Shape;699;p23"/>
          <p:cNvSpPr/>
          <p:nvPr/>
        </p:nvSpPr>
        <p:spPr>
          <a:xfrm>
            <a:off x="8101584" y="4091940"/>
            <a:ext cx="237744" cy="237744"/>
          </a:xfrm>
          <a:prstGeom prst="ellipse">
            <a:avLst/>
          </a:prstGeom>
          <a:solidFill>
            <a:srgbClr val="F5822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0" name="Google Shape;700;p23"/>
          <p:cNvSpPr/>
          <p:nvPr/>
        </p:nvSpPr>
        <p:spPr>
          <a:xfrm>
            <a:off x="8101584" y="4091940"/>
            <a:ext cx="237744" cy="23774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000"/>
              <a:buFont typeface="Calibri"/>
              <a:buNone/>
            </a:pPr>
            <a:r>
              <a:rPr b="1" i="0" lang="en-US" sz="1000" u="none" cap="none" strike="noStrike">
                <a:solidFill>
                  <a:srgbClr val="FFFFFF"/>
                </a:solidFill>
                <a:latin typeface="Calibri"/>
                <a:ea typeface="Calibri"/>
                <a:cs typeface="Calibri"/>
                <a:sym typeface="Calibri"/>
              </a:rPr>
              <a:t>3</a:t>
            </a:r>
            <a:endParaRPr b="0" i="0" sz="1000" u="none" cap="none" strike="noStrike">
              <a:solidFill>
                <a:schemeClr val="dk1"/>
              </a:solidFill>
              <a:latin typeface="Calibri"/>
              <a:ea typeface="Calibri"/>
              <a:cs typeface="Calibri"/>
              <a:sym typeface="Calibri"/>
            </a:endParaRPr>
          </a:p>
        </p:txBody>
      </p:sp>
      <p:sp>
        <p:nvSpPr>
          <p:cNvPr id="701" name="Google Shape;701;p23"/>
          <p:cNvSpPr/>
          <p:nvPr/>
        </p:nvSpPr>
        <p:spPr>
          <a:xfrm>
            <a:off x="8430768" y="4027932"/>
            <a:ext cx="3145536"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D2A5C"/>
              </a:buClr>
              <a:buSzPts val="1150"/>
              <a:buFont typeface="Calibri"/>
              <a:buNone/>
            </a:pPr>
            <a:r>
              <a:rPr b="1" i="0" lang="en-US" sz="1150" u="none" cap="none" strike="noStrike">
                <a:solidFill>
                  <a:srgbClr val="1D2A5C"/>
                </a:solidFill>
                <a:latin typeface="Calibri"/>
                <a:ea typeface="Calibri"/>
                <a:cs typeface="Calibri"/>
                <a:sym typeface="Calibri"/>
              </a:rPr>
              <a:t>Frozen class order</a:t>
            </a:r>
            <a:endParaRPr b="0" i="0" sz="1150" u="none" cap="none" strike="noStrike">
              <a:solidFill>
                <a:schemeClr val="dk1"/>
              </a:solidFill>
              <a:latin typeface="Calibri"/>
              <a:ea typeface="Calibri"/>
              <a:cs typeface="Calibri"/>
              <a:sym typeface="Calibri"/>
            </a:endParaRPr>
          </a:p>
        </p:txBody>
      </p:sp>
      <p:sp>
        <p:nvSpPr>
          <p:cNvPr id="702" name="Google Shape;702;p23"/>
          <p:cNvSpPr/>
          <p:nvPr/>
        </p:nvSpPr>
        <p:spPr>
          <a:xfrm>
            <a:off x="8430768" y="4302252"/>
            <a:ext cx="3145536" cy="688086"/>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5F6B7A"/>
              </a:buClr>
              <a:buSzPts val="1000"/>
              <a:buFont typeface="Calibri"/>
              <a:buNone/>
            </a:pPr>
            <a:r>
              <a:rPr b="0" i="0" lang="en-US" sz="1000" u="none" cap="none" strike="noStrike">
                <a:solidFill>
                  <a:srgbClr val="5F6B7A"/>
                </a:solidFill>
                <a:latin typeface="Calibri"/>
                <a:ea typeface="Calibri"/>
                <a:cs typeface="Calibri"/>
                <a:sym typeface="Calibri"/>
              </a:rPr>
              <a:t>GRADES order travels with the checkpoint in M2 — never reorder</a:t>
            </a:r>
            <a:endParaRPr b="0" i="0" sz="1000" u="none" cap="none" strike="noStrike">
              <a:solidFill>
                <a:schemeClr val="dk1"/>
              </a:solidFill>
              <a:latin typeface="Calibri"/>
              <a:ea typeface="Calibri"/>
              <a:cs typeface="Calibri"/>
              <a:sym typeface="Calibri"/>
            </a:endParaRPr>
          </a:p>
        </p:txBody>
      </p:sp>
      <p:sp>
        <p:nvSpPr>
          <p:cNvPr id="703" name="Google Shape;703;p23"/>
          <p:cNvSpPr/>
          <p:nvPr/>
        </p:nvSpPr>
        <p:spPr>
          <a:xfrm>
            <a:off x="7973568" y="5264658"/>
            <a:ext cx="3712464" cy="1090422"/>
          </a:xfrm>
          <a:prstGeom prst="roundRect">
            <a:avLst>
              <a:gd fmla="val 5870" name="adj"/>
            </a:avLst>
          </a:prstGeom>
          <a:solidFill>
            <a:srgbClr val="F2F6F9"/>
          </a:solidFill>
          <a:ln cap="flat" cmpd="sng" w="12700">
            <a:solidFill>
              <a:srgbClr val="D9E2E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4" name="Google Shape;704;p23"/>
          <p:cNvSpPr/>
          <p:nvPr/>
        </p:nvSpPr>
        <p:spPr>
          <a:xfrm>
            <a:off x="8101584" y="5383530"/>
            <a:ext cx="237744" cy="237744"/>
          </a:xfrm>
          <a:prstGeom prst="ellipse">
            <a:avLst/>
          </a:prstGeom>
          <a:solidFill>
            <a:srgbClr val="8DC63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5" name="Google Shape;705;p23"/>
          <p:cNvSpPr/>
          <p:nvPr/>
        </p:nvSpPr>
        <p:spPr>
          <a:xfrm>
            <a:off x="8101584" y="5383530"/>
            <a:ext cx="237744" cy="23774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000"/>
              <a:buFont typeface="Calibri"/>
              <a:buNone/>
            </a:pPr>
            <a:r>
              <a:rPr b="1" i="0" lang="en-US" sz="1000" u="none" cap="none" strike="noStrike">
                <a:solidFill>
                  <a:srgbClr val="FFFFFF"/>
                </a:solidFill>
                <a:latin typeface="Calibri"/>
                <a:ea typeface="Calibri"/>
                <a:cs typeface="Calibri"/>
                <a:sym typeface="Calibri"/>
              </a:rPr>
              <a:t>4</a:t>
            </a:r>
            <a:endParaRPr b="0" i="0" sz="1000" u="none" cap="none" strike="noStrike">
              <a:solidFill>
                <a:schemeClr val="dk1"/>
              </a:solidFill>
              <a:latin typeface="Calibri"/>
              <a:ea typeface="Calibri"/>
              <a:cs typeface="Calibri"/>
              <a:sym typeface="Calibri"/>
            </a:endParaRPr>
          </a:p>
        </p:txBody>
      </p:sp>
      <p:sp>
        <p:nvSpPr>
          <p:cNvPr id="706" name="Google Shape;706;p23"/>
          <p:cNvSpPr/>
          <p:nvPr/>
        </p:nvSpPr>
        <p:spPr>
          <a:xfrm>
            <a:off x="8430768" y="5319522"/>
            <a:ext cx="3145536"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D2A5C"/>
              </a:buClr>
              <a:buSzPts val="1150"/>
              <a:buFont typeface="Calibri"/>
              <a:buNone/>
            </a:pPr>
            <a:r>
              <a:rPr b="1" i="0" lang="en-US" sz="1150" u="none" cap="none" strike="noStrike">
                <a:solidFill>
                  <a:srgbClr val="1D2A5C"/>
                </a:solidFill>
                <a:latin typeface="Calibri"/>
                <a:ea typeface="Calibri"/>
                <a:cs typeface="Calibri"/>
                <a:sym typeface="Calibri"/>
              </a:rPr>
              <a:t>Session-based split</a:t>
            </a:r>
            <a:endParaRPr b="0" i="0" sz="1150" u="none" cap="none" strike="noStrike">
              <a:solidFill>
                <a:schemeClr val="dk1"/>
              </a:solidFill>
              <a:latin typeface="Calibri"/>
              <a:ea typeface="Calibri"/>
              <a:cs typeface="Calibri"/>
              <a:sym typeface="Calibri"/>
            </a:endParaRPr>
          </a:p>
        </p:txBody>
      </p:sp>
      <p:sp>
        <p:nvSpPr>
          <p:cNvPr id="707" name="Google Shape;707;p23"/>
          <p:cNvSpPr/>
          <p:nvPr/>
        </p:nvSpPr>
        <p:spPr>
          <a:xfrm>
            <a:off x="8430768" y="5593842"/>
            <a:ext cx="3145536" cy="688086"/>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5F6B7A"/>
              </a:buClr>
              <a:buSzPts val="1000"/>
              <a:buFont typeface="Calibri"/>
              <a:buNone/>
            </a:pPr>
            <a:r>
              <a:rPr b="0" i="0" lang="en-US" sz="1000" u="none" cap="none" strike="noStrike">
                <a:solidFill>
                  <a:srgbClr val="5F6B7A"/>
                </a:solidFill>
                <a:latin typeface="Calibri"/>
                <a:ea typeface="Calibri"/>
                <a:cs typeface="Calibri"/>
                <a:sym typeface="Calibri"/>
              </a:rPr>
              <a:t>manifest assigns split by session_id — the leakage defence</a:t>
            </a:r>
            <a:endParaRPr b="0" i="0" sz="1000" u="none" cap="none" strike="noStrike">
              <a:solidFill>
                <a:schemeClr val="dk1"/>
              </a:solidFill>
              <a:latin typeface="Calibri"/>
              <a:ea typeface="Calibri"/>
              <a:cs typeface="Calibri"/>
              <a:sym typeface="Calibri"/>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712" name="Shape 712"/>
        <p:cNvGrpSpPr/>
        <p:nvPr/>
      </p:nvGrpSpPr>
      <p:grpSpPr>
        <a:xfrm>
          <a:off x="0" y="0"/>
          <a:ext cx="0" cy="0"/>
          <a:chOff x="0" y="0"/>
          <a:chExt cx="0" cy="0"/>
        </a:xfrm>
      </p:grpSpPr>
      <p:sp>
        <p:nvSpPr>
          <p:cNvPr id="713" name="Google Shape;713;p24"/>
          <p:cNvSpPr/>
          <p:nvPr/>
        </p:nvSpPr>
        <p:spPr>
          <a:xfrm>
            <a:off x="502920" y="274320"/>
            <a:ext cx="9646920" cy="56692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D2A5C"/>
              </a:buClr>
              <a:buSzPts val="2700"/>
              <a:buFont typeface="Calibri"/>
              <a:buNone/>
            </a:pPr>
            <a:r>
              <a:rPr b="1" i="0" lang="en-US" sz="2700" u="none" cap="none" strike="noStrike">
                <a:solidFill>
                  <a:srgbClr val="1D2A5C"/>
                </a:solidFill>
                <a:latin typeface="Calibri"/>
                <a:ea typeface="Calibri"/>
                <a:cs typeface="Calibri"/>
                <a:sym typeface="Calibri"/>
              </a:rPr>
              <a:t>Lab 1 — Build the dates-qc input pipeline</a:t>
            </a:r>
            <a:endParaRPr b="0" i="0" sz="2700" u="none" cap="none" strike="noStrike">
              <a:solidFill>
                <a:schemeClr val="dk1"/>
              </a:solidFill>
              <a:latin typeface="Calibri"/>
              <a:ea typeface="Calibri"/>
              <a:cs typeface="Calibri"/>
              <a:sym typeface="Calibri"/>
            </a:endParaRPr>
          </a:p>
        </p:txBody>
      </p:sp>
      <p:sp>
        <p:nvSpPr>
          <p:cNvPr id="714" name="Google Shape;714;p24"/>
          <p:cNvSpPr/>
          <p:nvPr/>
        </p:nvSpPr>
        <p:spPr>
          <a:xfrm>
            <a:off x="502920" y="859536"/>
            <a:ext cx="9646920" cy="31089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F6B7A"/>
              </a:buClr>
              <a:buSzPts val="1250"/>
              <a:buFont typeface="Arial"/>
              <a:buNone/>
            </a:pPr>
            <a:r>
              <a:rPr b="0" i="0" lang="en-US" sz="1250" u="none" cap="none" strike="noStrike">
                <a:solidFill>
                  <a:srgbClr val="5F6B7A"/>
                </a:solidFill>
                <a:latin typeface="Arial"/>
                <a:ea typeface="Arial"/>
                <a:cs typeface="Arial"/>
                <a:sym typeface="Arial"/>
              </a:rPr>
              <a:t>المختبر 1: بناء خط إدخال البيانات</a:t>
            </a:r>
            <a:endParaRPr b="0" i="0" sz="1250" u="none" cap="none" strike="noStrike">
              <a:solidFill>
                <a:schemeClr val="dk1"/>
              </a:solidFill>
              <a:latin typeface="Calibri"/>
              <a:ea typeface="Calibri"/>
              <a:cs typeface="Calibri"/>
              <a:sym typeface="Calibri"/>
            </a:endParaRPr>
          </a:p>
        </p:txBody>
      </p:sp>
      <p:pic>
        <p:nvPicPr>
          <p:cNvPr descr="/sessions/blissful-determined-ritchie/build/assets/sdaia_logo.png" id="715" name="Google Shape;715;p24"/>
          <p:cNvPicPr preferRelativeResize="0"/>
          <p:nvPr/>
        </p:nvPicPr>
        <p:blipFill rotWithShape="1">
          <a:blip r:embed="rId3">
            <a:alphaModFix/>
          </a:blip>
          <a:srcRect b="0" l="0" r="0" t="0"/>
          <a:stretch/>
        </p:blipFill>
        <p:spPr>
          <a:xfrm>
            <a:off x="10625328" y="310896"/>
            <a:ext cx="1078992" cy="264111"/>
          </a:xfrm>
          <a:prstGeom prst="rect">
            <a:avLst/>
          </a:prstGeom>
          <a:noFill/>
          <a:ln>
            <a:noFill/>
          </a:ln>
        </p:spPr>
      </p:pic>
      <p:sp>
        <p:nvSpPr>
          <p:cNvPr id="716" name="Google Shape;716;p24"/>
          <p:cNvSpPr/>
          <p:nvPr/>
        </p:nvSpPr>
        <p:spPr>
          <a:xfrm>
            <a:off x="502920" y="6528816"/>
            <a:ext cx="8686800"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A79D"/>
              </a:buClr>
              <a:buSzPts val="800"/>
              <a:buFont typeface="Calibri"/>
              <a:buNone/>
            </a:pPr>
            <a:r>
              <a:rPr b="1" i="0" lang="en-US" sz="800" u="none" cap="none" strike="noStrike">
                <a:solidFill>
                  <a:srgbClr val="00A79D"/>
                </a:solidFill>
                <a:latin typeface="Calibri"/>
                <a:ea typeface="Calibri"/>
                <a:cs typeface="Calibri"/>
                <a:sym typeface="Calibri"/>
              </a:rPr>
              <a:t>MODULE 1 · LAB   </a:t>
            </a:r>
            <a:r>
              <a:rPr b="0" i="0" lang="en-US" sz="800" u="none" cap="none" strike="noStrike">
                <a:solidFill>
                  <a:srgbClr val="8A96A6"/>
                </a:solidFill>
                <a:latin typeface="Calibri"/>
                <a:ea typeface="Calibri"/>
                <a:cs typeface="Calibri"/>
                <a:sym typeface="Calibri"/>
              </a:rPr>
              <a:t>SDA-AIE-212 · Computer Vision Systems Development</a:t>
            </a:r>
            <a:endParaRPr b="0" i="0" sz="800" u="none" cap="none" strike="noStrike">
              <a:solidFill>
                <a:schemeClr val="dk1"/>
              </a:solidFill>
              <a:latin typeface="Calibri"/>
              <a:ea typeface="Calibri"/>
              <a:cs typeface="Calibri"/>
              <a:sym typeface="Calibri"/>
            </a:endParaRPr>
          </a:p>
        </p:txBody>
      </p:sp>
      <p:sp>
        <p:nvSpPr>
          <p:cNvPr id="717" name="Google Shape;717;p24"/>
          <p:cNvSpPr/>
          <p:nvPr/>
        </p:nvSpPr>
        <p:spPr>
          <a:xfrm>
            <a:off x="11292840" y="6528816"/>
            <a:ext cx="411480" cy="219456"/>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8A96A6"/>
              </a:buClr>
              <a:buSzPts val="900"/>
              <a:buFont typeface="Calibri"/>
              <a:buNone/>
            </a:pPr>
            <a:r>
              <a:rPr b="0" i="0" lang="en-US" sz="900" u="none" cap="none" strike="noStrike">
                <a:solidFill>
                  <a:srgbClr val="8A96A6"/>
                </a:solidFill>
                <a:latin typeface="Calibri"/>
                <a:ea typeface="Calibri"/>
                <a:cs typeface="Calibri"/>
                <a:sym typeface="Calibri"/>
              </a:rPr>
              <a:t>24</a:t>
            </a:r>
            <a:endParaRPr b="0" i="0" sz="900" u="none" cap="none" strike="noStrike">
              <a:solidFill>
                <a:schemeClr val="dk1"/>
              </a:solidFill>
              <a:latin typeface="Calibri"/>
              <a:ea typeface="Calibri"/>
              <a:cs typeface="Calibri"/>
              <a:sym typeface="Calibri"/>
            </a:endParaRPr>
          </a:p>
        </p:txBody>
      </p:sp>
      <p:sp>
        <p:nvSpPr>
          <p:cNvPr id="718" name="Google Shape;718;p24"/>
          <p:cNvSpPr/>
          <p:nvPr/>
        </p:nvSpPr>
        <p:spPr>
          <a:xfrm>
            <a:off x="502920" y="1389888"/>
            <a:ext cx="5806440" cy="932688"/>
          </a:xfrm>
          <a:prstGeom prst="roundRect">
            <a:avLst>
              <a:gd fmla="val 7843" name="adj"/>
            </a:avLst>
          </a:prstGeom>
          <a:solidFill>
            <a:srgbClr val="E9F6F5"/>
          </a:solidFill>
          <a:ln cap="flat" cmpd="sng" w="12700">
            <a:solidFill>
              <a:srgbClr val="00A79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9" name="Google Shape;719;p24"/>
          <p:cNvSpPr/>
          <p:nvPr/>
        </p:nvSpPr>
        <p:spPr>
          <a:xfrm>
            <a:off x="649224" y="1463040"/>
            <a:ext cx="5532120"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A79D"/>
              </a:buClr>
              <a:buSzPts val="900"/>
              <a:buFont typeface="Calibri"/>
              <a:buNone/>
            </a:pPr>
            <a:r>
              <a:rPr b="1" i="0" lang="en-US" sz="900" u="none" cap="none" strike="noStrike">
                <a:solidFill>
                  <a:srgbClr val="00A79D"/>
                </a:solidFill>
                <a:latin typeface="Calibri"/>
                <a:ea typeface="Calibri"/>
                <a:cs typeface="Calibri"/>
                <a:sym typeface="Calibri"/>
              </a:rPr>
              <a:t>OBJECTIVE</a:t>
            </a:r>
            <a:endParaRPr b="0" i="0" sz="900" u="none" cap="none" strike="noStrike">
              <a:solidFill>
                <a:schemeClr val="dk1"/>
              </a:solidFill>
              <a:latin typeface="Calibri"/>
              <a:ea typeface="Calibri"/>
              <a:cs typeface="Calibri"/>
              <a:sym typeface="Calibri"/>
            </a:endParaRPr>
          </a:p>
        </p:txBody>
      </p:sp>
      <p:sp>
        <p:nvSpPr>
          <p:cNvPr id="720" name="Google Shape;720;p24"/>
          <p:cNvSpPr/>
          <p:nvPr/>
        </p:nvSpPr>
        <p:spPr>
          <a:xfrm>
            <a:off x="649224" y="1682496"/>
            <a:ext cx="5532120" cy="585216"/>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23293B"/>
              </a:buClr>
              <a:buSzPts val="1050"/>
              <a:buFont typeface="Calibri"/>
              <a:buNone/>
            </a:pPr>
            <a:r>
              <a:rPr b="0" i="0" lang="en-US" sz="1050" u="none" cap="none" strike="noStrike">
                <a:solidFill>
                  <a:srgbClr val="23293B"/>
                </a:solidFill>
                <a:latin typeface="Calibri"/>
                <a:ea typeface="Calibri"/>
                <a:cs typeface="Calibri"/>
                <a:sym typeface="Calibri"/>
              </a:rPr>
              <a:t>Implement the Dataset + transforms contract, compute dataset statistics, visually audit the augmentation policy, measure throughput</a:t>
            </a:r>
            <a:endParaRPr b="0" i="0" sz="1050" u="none" cap="none" strike="noStrike">
              <a:solidFill>
                <a:schemeClr val="dk1"/>
              </a:solidFill>
              <a:latin typeface="Calibri"/>
              <a:ea typeface="Calibri"/>
              <a:cs typeface="Calibri"/>
              <a:sym typeface="Calibri"/>
            </a:endParaRPr>
          </a:p>
        </p:txBody>
      </p:sp>
      <p:sp>
        <p:nvSpPr>
          <p:cNvPr id="721" name="Google Shape;721;p24"/>
          <p:cNvSpPr/>
          <p:nvPr/>
        </p:nvSpPr>
        <p:spPr>
          <a:xfrm>
            <a:off x="6510528" y="1389888"/>
            <a:ext cx="1600200" cy="932688"/>
          </a:xfrm>
          <a:prstGeom prst="roundRect">
            <a:avLst>
              <a:gd fmla="val 7843" name="adj"/>
            </a:avLst>
          </a:prstGeom>
          <a:solidFill>
            <a:srgbClr val="F2F6F9"/>
          </a:solidFill>
          <a:ln cap="flat" cmpd="sng" w="12700">
            <a:solidFill>
              <a:srgbClr val="D9E2E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2" name="Google Shape;722;p24"/>
          <p:cNvSpPr/>
          <p:nvPr/>
        </p:nvSpPr>
        <p:spPr>
          <a:xfrm>
            <a:off x="6656832" y="1463040"/>
            <a:ext cx="1325880"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A79D"/>
              </a:buClr>
              <a:buSzPts val="900"/>
              <a:buFont typeface="Calibri"/>
              <a:buNone/>
            </a:pPr>
            <a:r>
              <a:rPr b="1" i="0" lang="en-US" sz="900" u="none" cap="none" strike="noStrike">
                <a:solidFill>
                  <a:srgbClr val="00A79D"/>
                </a:solidFill>
                <a:latin typeface="Calibri"/>
                <a:ea typeface="Calibri"/>
                <a:cs typeface="Calibri"/>
                <a:sym typeface="Calibri"/>
              </a:rPr>
              <a:t>DURATION</a:t>
            </a:r>
            <a:endParaRPr b="0" i="0" sz="900" u="none" cap="none" strike="noStrike">
              <a:solidFill>
                <a:schemeClr val="dk1"/>
              </a:solidFill>
              <a:latin typeface="Calibri"/>
              <a:ea typeface="Calibri"/>
              <a:cs typeface="Calibri"/>
              <a:sym typeface="Calibri"/>
            </a:endParaRPr>
          </a:p>
        </p:txBody>
      </p:sp>
      <p:sp>
        <p:nvSpPr>
          <p:cNvPr id="723" name="Google Shape;723;p24"/>
          <p:cNvSpPr/>
          <p:nvPr/>
        </p:nvSpPr>
        <p:spPr>
          <a:xfrm>
            <a:off x="6656832" y="1682496"/>
            <a:ext cx="1325880" cy="585216"/>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23293B"/>
              </a:buClr>
              <a:buSzPts val="1050"/>
              <a:buFont typeface="Calibri"/>
              <a:buNone/>
            </a:pPr>
            <a:r>
              <a:rPr b="0" i="0" lang="en-US" sz="1050" u="none" cap="none" strike="noStrike">
                <a:solidFill>
                  <a:srgbClr val="23293B"/>
                </a:solidFill>
                <a:latin typeface="Calibri"/>
                <a:ea typeface="Calibri"/>
                <a:cs typeface="Calibri"/>
                <a:sym typeface="Calibri"/>
              </a:rPr>
              <a:t>50 minutes</a:t>
            </a:r>
            <a:endParaRPr b="0" i="0" sz="1050" u="none" cap="none" strike="noStrike">
              <a:solidFill>
                <a:schemeClr val="dk1"/>
              </a:solidFill>
              <a:latin typeface="Calibri"/>
              <a:ea typeface="Calibri"/>
              <a:cs typeface="Calibri"/>
              <a:sym typeface="Calibri"/>
            </a:endParaRPr>
          </a:p>
        </p:txBody>
      </p:sp>
      <p:sp>
        <p:nvSpPr>
          <p:cNvPr id="724" name="Google Shape;724;p24"/>
          <p:cNvSpPr/>
          <p:nvPr/>
        </p:nvSpPr>
        <p:spPr>
          <a:xfrm>
            <a:off x="8311896" y="1389888"/>
            <a:ext cx="3383280" cy="932688"/>
          </a:xfrm>
          <a:prstGeom prst="roundRect">
            <a:avLst>
              <a:gd fmla="val 7843" name="adj"/>
            </a:avLst>
          </a:prstGeom>
          <a:solidFill>
            <a:srgbClr val="F2F6F9"/>
          </a:solidFill>
          <a:ln cap="flat" cmpd="sng" w="12700">
            <a:solidFill>
              <a:srgbClr val="D9E2E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5" name="Google Shape;725;p24"/>
          <p:cNvSpPr/>
          <p:nvPr/>
        </p:nvSpPr>
        <p:spPr>
          <a:xfrm>
            <a:off x="8458200" y="1463040"/>
            <a:ext cx="3108960"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A79D"/>
              </a:buClr>
              <a:buSzPts val="900"/>
              <a:buFont typeface="Calibri"/>
              <a:buNone/>
            </a:pPr>
            <a:r>
              <a:rPr b="1" i="0" lang="en-US" sz="900" u="none" cap="none" strike="noStrike">
                <a:solidFill>
                  <a:srgbClr val="00A79D"/>
                </a:solidFill>
                <a:latin typeface="Calibri"/>
                <a:ea typeface="Calibri"/>
                <a:cs typeface="Calibri"/>
                <a:sym typeface="Calibri"/>
              </a:rPr>
              <a:t>SETUP</a:t>
            </a:r>
            <a:endParaRPr b="0" i="0" sz="900" u="none" cap="none" strike="noStrike">
              <a:solidFill>
                <a:schemeClr val="dk1"/>
              </a:solidFill>
              <a:latin typeface="Calibri"/>
              <a:ea typeface="Calibri"/>
              <a:cs typeface="Calibri"/>
              <a:sym typeface="Calibri"/>
            </a:endParaRPr>
          </a:p>
        </p:txBody>
      </p:sp>
      <p:sp>
        <p:nvSpPr>
          <p:cNvPr id="726" name="Google Shape;726;p24"/>
          <p:cNvSpPr/>
          <p:nvPr/>
        </p:nvSpPr>
        <p:spPr>
          <a:xfrm>
            <a:off x="8458200" y="1682496"/>
            <a:ext cx="3108960" cy="585216"/>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23293B"/>
              </a:buClr>
              <a:buSzPts val="1050"/>
              <a:buFont typeface="Calibri"/>
              <a:buNone/>
            </a:pPr>
            <a:r>
              <a:rPr b="0" i="0" lang="en-US" sz="1050" u="none" cap="none" strike="noStrike">
                <a:solidFill>
                  <a:srgbClr val="23293B"/>
                </a:solidFill>
                <a:latin typeface="Calibri"/>
                <a:ea typeface="Calibri"/>
                <a:cs typeface="Calibri"/>
                <a:sym typeface="Calibri"/>
              </a:rPr>
              <a:t>Python 3.12, PyTorch 2.4+, OpenCV; repo cloned; git checkout lab1-start</a:t>
            </a:r>
            <a:endParaRPr b="0" i="0" sz="1050" u="none" cap="none" strike="noStrike">
              <a:solidFill>
                <a:schemeClr val="dk1"/>
              </a:solidFill>
              <a:latin typeface="Calibri"/>
              <a:ea typeface="Calibri"/>
              <a:cs typeface="Calibri"/>
              <a:sym typeface="Calibri"/>
            </a:endParaRPr>
          </a:p>
        </p:txBody>
      </p:sp>
      <p:sp>
        <p:nvSpPr>
          <p:cNvPr id="727" name="Google Shape;727;p24"/>
          <p:cNvSpPr/>
          <p:nvPr/>
        </p:nvSpPr>
        <p:spPr>
          <a:xfrm>
            <a:off x="502920" y="2661666"/>
            <a:ext cx="274320" cy="274320"/>
          </a:xfrm>
          <a:prstGeom prst="ellipse">
            <a:avLst/>
          </a:prstGeom>
          <a:solidFill>
            <a:srgbClr val="1D2A5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8" name="Google Shape;728;p24"/>
          <p:cNvSpPr/>
          <p:nvPr/>
        </p:nvSpPr>
        <p:spPr>
          <a:xfrm>
            <a:off x="502920" y="2661666"/>
            <a:ext cx="274320" cy="2743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100"/>
              <a:buFont typeface="Calibri"/>
              <a:buNone/>
            </a:pPr>
            <a:r>
              <a:rPr b="1" i="0" lang="en-US" sz="1100" u="none" cap="none" strike="noStrike">
                <a:solidFill>
                  <a:srgbClr val="FFFFFF"/>
                </a:solidFill>
                <a:latin typeface="Calibri"/>
                <a:ea typeface="Calibri"/>
                <a:cs typeface="Calibri"/>
                <a:sym typeface="Calibri"/>
              </a:rPr>
              <a:t>1</a:t>
            </a:r>
            <a:endParaRPr b="0" i="0" sz="1100" u="none" cap="none" strike="noStrike">
              <a:solidFill>
                <a:schemeClr val="dk1"/>
              </a:solidFill>
              <a:latin typeface="Calibri"/>
              <a:ea typeface="Calibri"/>
              <a:cs typeface="Calibri"/>
              <a:sym typeface="Calibri"/>
            </a:endParaRPr>
          </a:p>
        </p:txBody>
      </p:sp>
      <p:sp>
        <p:nvSpPr>
          <p:cNvPr id="729" name="Google Shape;729;p24"/>
          <p:cNvSpPr/>
          <p:nvPr/>
        </p:nvSpPr>
        <p:spPr>
          <a:xfrm>
            <a:off x="886968" y="2661666"/>
            <a:ext cx="658368" cy="274320"/>
          </a:xfrm>
          <a:prstGeom prst="roundRect">
            <a:avLst>
              <a:gd fmla="val 50000" name="adj"/>
            </a:avLst>
          </a:prstGeom>
          <a:solidFill>
            <a:srgbClr val="E9F6F5"/>
          </a:solidFill>
          <a:ln cap="flat" cmpd="sng" w="9525">
            <a:solidFill>
              <a:srgbClr val="00A79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0" name="Google Shape;730;p24"/>
          <p:cNvSpPr/>
          <p:nvPr/>
        </p:nvSpPr>
        <p:spPr>
          <a:xfrm>
            <a:off x="886968" y="2661666"/>
            <a:ext cx="658368" cy="2743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56A63"/>
              </a:buClr>
              <a:buSzPts val="900"/>
              <a:buFont typeface="Calibri"/>
              <a:buNone/>
            </a:pPr>
            <a:r>
              <a:rPr b="1" i="0" lang="en-US" sz="900" u="none" cap="none" strike="noStrike">
                <a:solidFill>
                  <a:srgbClr val="056A63"/>
                </a:solidFill>
                <a:latin typeface="Calibri"/>
                <a:ea typeface="Calibri"/>
                <a:cs typeface="Calibri"/>
                <a:sym typeface="Calibri"/>
              </a:rPr>
              <a:t>5 min</a:t>
            </a:r>
            <a:endParaRPr b="0" i="0" sz="900" u="none" cap="none" strike="noStrike">
              <a:solidFill>
                <a:schemeClr val="dk1"/>
              </a:solidFill>
              <a:latin typeface="Calibri"/>
              <a:ea typeface="Calibri"/>
              <a:cs typeface="Calibri"/>
              <a:sym typeface="Calibri"/>
            </a:endParaRPr>
          </a:p>
        </p:txBody>
      </p:sp>
      <p:sp>
        <p:nvSpPr>
          <p:cNvPr id="731" name="Google Shape;731;p24"/>
          <p:cNvSpPr/>
          <p:nvPr/>
        </p:nvSpPr>
        <p:spPr>
          <a:xfrm>
            <a:off x="1673352" y="2523744"/>
            <a:ext cx="5733288" cy="5867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3293B"/>
              </a:buClr>
              <a:buSzPts val="1150"/>
              <a:buFont typeface="Calibri"/>
              <a:buNone/>
            </a:pPr>
            <a:r>
              <a:rPr b="0" i="0" lang="en-US" sz="1150" u="none" cap="none" strike="noStrike">
                <a:solidFill>
                  <a:srgbClr val="23293B"/>
                </a:solidFill>
                <a:latin typeface="Calibri"/>
                <a:ea typeface="Calibri"/>
                <a:cs typeface="Calibri"/>
                <a:sym typeface="Calibri"/>
              </a:rPr>
              <a:t>Explore the bundle: 12,000 frames + manifest; confirm split is by session_id</a:t>
            </a:r>
            <a:endParaRPr b="0" i="0" sz="1150" u="none" cap="none" strike="noStrike">
              <a:solidFill>
                <a:schemeClr val="dk1"/>
              </a:solidFill>
              <a:latin typeface="Calibri"/>
              <a:ea typeface="Calibri"/>
              <a:cs typeface="Calibri"/>
              <a:sym typeface="Calibri"/>
            </a:endParaRPr>
          </a:p>
        </p:txBody>
      </p:sp>
      <p:sp>
        <p:nvSpPr>
          <p:cNvPr id="732" name="Google Shape;732;p24"/>
          <p:cNvSpPr/>
          <p:nvPr/>
        </p:nvSpPr>
        <p:spPr>
          <a:xfrm>
            <a:off x="502920" y="3303270"/>
            <a:ext cx="274320" cy="274320"/>
          </a:xfrm>
          <a:prstGeom prst="ellipse">
            <a:avLst/>
          </a:prstGeom>
          <a:solidFill>
            <a:srgbClr val="1D2A5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3" name="Google Shape;733;p24"/>
          <p:cNvSpPr/>
          <p:nvPr/>
        </p:nvSpPr>
        <p:spPr>
          <a:xfrm>
            <a:off x="502920" y="3303270"/>
            <a:ext cx="274320" cy="2743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100"/>
              <a:buFont typeface="Calibri"/>
              <a:buNone/>
            </a:pPr>
            <a:r>
              <a:rPr b="1" i="0" lang="en-US" sz="1100" u="none" cap="none" strike="noStrike">
                <a:solidFill>
                  <a:srgbClr val="FFFFFF"/>
                </a:solidFill>
                <a:latin typeface="Calibri"/>
                <a:ea typeface="Calibri"/>
                <a:cs typeface="Calibri"/>
                <a:sym typeface="Calibri"/>
              </a:rPr>
              <a:t>2</a:t>
            </a:r>
            <a:endParaRPr b="0" i="0" sz="1100" u="none" cap="none" strike="noStrike">
              <a:solidFill>
                <a:schemeClr val="dk1"/>
              </a:solidFill>
              <a:latin typeface="Calibri"/>
              <a:ea typeface="Calibri"/>
              <a:cs typeface="Calibri"/>
              <a:sym typeface="Calibri"/>
            </a:endParaRPr>
          </a:p>
        </p:txBody>
      </p:sp>
      <p:sp>
        <p:nvSpPr>
          <p:cNvPr id="734" name="Google Shape;734;p24"/>
          <p:cNvSpPr/>
          <p:nvPr/>
        </p:nvSpPr>
        <p:spPr>
          <a:xfrm>
            <a:off x="886968" y="3303270"/>
            <a:ext cx="658368" cy="274320"/>
          </a:xfrm>
          <a:prstGeom prst="roundRect">
            <a:avLst>
              <a:gd fmla="val 50000" name="adj"/>
            </a:avLst>
          </a:prstGeom>
          <a:solidFill>
            <a:srgbClr val="E9F6F5"/>
          </a:solidFill>
          <a:ln cap="flat" cmpd="sng" w="9525">
            <a:solidFill>
              <a:srgbClr val="00A79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5" name="Google Shape;735;p24"/>
          <p:cNvSpPr/>
          <p:nvPr/>
        </p:nvSpPr>
        <p:spPr>
          <a:xfrm>
            <a:off x="886968" y="3303270"/>
            <a:ext cx="658368" cy="2743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56A63"/>
              </a:buClr>
              <a:buSzPts val="900"/>
              <a:buFont typeface="Calibri"/>
              <a:buNone/>
            </a:pPr>
            <a:r>
              <a:rPr b="1" i="0" lang="en-US" sz="900" u="none" cap="none" strike="noStrike">
                <a:solidFill>
                  <a:srgbClr val="056A63"/>
                </a:solidFill>
                <a:latin typeface="Calibri"/>
                <a:ea typeface="Calibri"/>
                <a:cs typeface="Calibri"/>
                <a:sym typeface="Calibri"/>
              </a:rPr>
              <a:t>10 min</a:t>
            </a:r>
            <a:endParaRPr b="0" i="0" sz="900" u="none" cap="none" strike="noStrike">
              <a:solidFill>
                <a:schemeClr val="dk1"/>
              </a:solidFill>
              <a:latin typeface="Calibri"/>
              <a:ea typeface="Calibri"/>
              <a:cs typeface="Calibri"/>
              <a:sym typeface="Calibri"/>
            </a:endParaRPr>
          </a:p>
        </p:txBody>
      </p:sp>
      <p:sp>
        <p:nvSpPr>
          <p:cNvPr id="736" name="Google Shape;736;p24"/>
          <p:cNvSpPr/>
          <p:nvPr/>
        </p:nvSpPr>
        <p:spPr>
          <a:xfrm>
            <a:off x="1673352" y="3165348"/>
            <a:ext cx="5733288" cy="5867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3293B"/>
              </a:buClr>
              <a:buSzPts val="1150"/>
              <a:buFont typeface="Calibri"/>
              <a:buNone/>
            </a:pPr>
            <a:r>
              <a:rPr b="0" i="0" lang="en-US" sz="1150" u="none" cap="none" strike="noStrike">
                <a:solidFill>
                  <a:srgbClr val="23293B"/>
                </a:solidFill>
                <a:latin typeface="Calibri"/>
                <a:ea typeface="Calibri"/>
                <a:cs typeface="Calibri"/>
                <a:sym typeface="Calibri"/>
              </a:rPr>
              <a:t>Implement DatesQCDataset; find and fix the planted colour bug; add R&gt;B assert</a:t>
            </a:r>
            <a:endParaRPr b="0" i="0" sz="1150" u="none" cap="none" strike="noStrike">
              <a:solidFill>
                <a:schemeClr val="dk1"/>
              </a:solidFill>
              <a:latin typeface="Calibri"/>
              <a:ea typeface="Calibri"/>
              <a:cs typeface="Calibri"/>
              <a:sym typeface="Calibri"/>
            </a:endParaRPr>
          </a:p>
        </p:txBody>
      </p:sp>
      <p:sp>
        <p:nvSpPr>
          <p:cNvPr id="737" name="Google Shape;737;p24"/>
          <p:cNvSpPr/>
          <p:nvPr/>
        </p:nvSpPr>
        <p:spPr>
          <a:xfrm>
            <a:off x="502920" y="3944874"/>
            <a:ext cx="274320" cy="274320"/>
          </a:xfrm>
          <a:prstGeom prst="ellipse">
            <a:avLst/>
          </a:prstGeom>
          <a:solidFill>
            <a:srgbClr val="1D2A5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8" name="Google Shape;738;p24"/>
          <p:cNvSpPr/>
          <p:nvPr/>
        </p:nvSpPr>
        <p:spPr>
          <a:xfrm>
            <a:off x="502920" y="3944874"/>
            <a:ext cx="274320" cy="2743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100"/>
              <a:buFont typeface="Calibri"/>
              <a:buNone/>
            </a:pPr>
            <a:r>
              <a:rPr b="1" i="0" lang="en-US" sz="1100" u="none" cap="none" strike="noStrike">
                <a:solidFill>
                  <a:srgbClr val="FFFFFF"/>
                </a:solidFill>
                <a:latin typeface="Calibri"/>
                <a:ea typeface="Calibri"/>
                <a:cs typeface="Calibri"/>
                <a:sym typeface="Calibri"/>
              </a:rPr>
              <a:t>3</a:t>
            </a:r>
            <a:endParaRPr b="0" i="0" sz="1100" u="none" cap="none" strike="noStrike">
              <a:solidFill>
                <a:schemeClr val="dk1"/>
              </a:solidFill>
              <a:latin typeface="Calibri"/>
              <a:ea typeface="Calibri"/>
              <a:cs typeface="Calibri"/>
              <a:sym typeface="Calibri"/>
            </a:endParaRPr>
          </a:p>
        </p:txBody>
      </p:sp>
      <p:sp>
        <p:nvSpPr>
          <p:cNvPr id="739" name="Google Shape;739;p24"/>
          <p:cNvSpPr/>
          <p:nvPr/>
        </p:nvSpPr>
        <p:spPr>
          <a:xfrm>
            <a:off x="886968" y="3944874"/>
            <a:ext cx="658368" cy="274320"/>
          </a:xfrm>
          <a:prstGeom prst="roundRect">
            <a:avLst>
              <a:gd fmla="val 50000" name="adj"/>
            </a:avLst>
          </a:prstGeom>
          <a:solidFill>
            <a:srgbClr val="E9F6F5"/>
          </a:solidFill>
          <a:ln cap="flat" cmpd="sng" w="9525">
            <a:solidFill>
              <a:srgbClr val="00A79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0" name="Google Shape;740;p24"/>
          <p:cNvSpPr/>
          <p:nvPr/>
        </p:nvSpPr>
        <p:spPr>
          <a:xfrm>
            <a:off x="886968" y="3944874"/>
            <a:ext cx="658368" cy="2743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56A63"/>
              </a:buClr>
              <a:buSzPts val="900"/>
              <a:buFont typeface="Calibri"/>
              <a:buNone/>
            </a:pPr>
            <a:r>
              <a:rPr b="1" i="0" lang="en-US" sz="900" u="none" cap="none" strike="noStrike">
                <a:solidFill>
                  <a:srgbClr val="056A63"/>
                </a:solidFill>
                <a:latin typeface="Calibri"/>
                <a:ea typeface="Calibri"/>
                <a:cs typeface="Calibri"/>
                <a:sym typeface="Calibri"/>
              </a:rPr>
              <a:t>10 min</a:t>
            </a:r>
            <a:endParaRPr b="0" i="0" sz="900" u="none" cap="none" strike="noStrike">
              <a:solidFill>
                <a:schemeClr val="dk1"/>
              </a:solidFill>
              <a:latin typeface="Calibri"/>
              <a:ea typeface="Calibri"/>
              <a:cs typeface="Calibri"/>
              <a:sym typeface="Calibri"/>
            </a:endParaRPr>
          </a:p>
        </p:txBody>
      </p:sp>
      <p:sp>
        <p:nvSpPr>
          <p:cNvPr id="741" name="Google Shape;741;p24"/>
          <p:cNvSpPr/>
          <p:nvPr/>
        </p:nvSpPr>
        <p:spPr>
          <a:xfrm>
            <a:off x="1673352" y="3806952"/>
            <a:ext cx="5733288" cy="5867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3293B"/>
              </a:buClr>
              <a:buSzPts val="1150"/>
              <a:buFont typeface="Calibri"/>
              <a:buNone/>
            </a:pPr>
            <a:r>
              <a:rPr b="0" i="0" lang="en-US" sz="1150" u="none" cap="none" strike="noStrike">
                <a:solidFill>
                  <a:srgbClr val="23293B"/>
                </a:solidFill>
                <a:latin typeface="Calibri"/>
                <a:ea typeface="Calibri"/>
                <a:cs typeface="Calibri"/>
                <a:sym typeface="Calibri"/>
              </a:rPr>
              <a:t>Implement train_tf()/eval_tf(); comment each transform with its line variation</a:t>
            </a:r>
            <a:endParaRPr b="0" i="0" sz="1150" u="none" cap="none" strike="noStrike">
              <a:solidFill>
                <a:schemeClr val="dk1"/>
              </a:solidFill>
              <a:latin typeface="Calibri"/>
              <a:ea typeface="Calibri"/>
              <a:cs typeface="Calibri"/>
              <a:sym typeface="Calibri"/>
            </a:endParaRPr>
          </a:p>
        </p:txBody>
      </p:sp>
      <p:sp>
        <p:nvSpPr>
          <p:cNvPr id="742" name="Google Shape;742;p24"/>
          <p:cNvSpPr/>
          <p:nvPr/>
        </p:nvSpPr>
        <p:spPr>
          <a:xfrm>
            <a:off x="502920" y="4586478"/>
            <a:ext cx="274320" cy="274320"/>
          </a:xfrm>
          <a:prstGeom prst="ellipse">
            <a:avLst/>
          </a:prstGeom>
          <a:solidFill>
            <a:srgbClr val="1D2A5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3" name="Google Shape;743;p24"/>
          <p:cNvSpPr/>
          <p:nvPr/>
        </p:nvSpPr>
        <p:spPr>
          <a:xfrm>
            <a:off x="502920" y="4586478"/>
            <a:ext cx="274320" cy="2743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100"/>
              <a:buFont typeface="Calibri"/>
              <a:buNone/>
            </a:pPr>
            <a:r>
              <a:rPr b="1" i="0" lang="en-US" sz="1100" u="none" cap="none" strike="noStrike">
                <a:solidFill>
                  <a:srgbClr val="FFFFFF"/>
                </a:solidFill>
                <a:latin typeface="Calibri"/>
                <a:ea typeface="Calibri"/>
                <a:cs typeface="Calibri"/>
                <a:sym typeface="Calibri"/>
              </a:rPr>
              <a:t>4</a:t>
            </a:r>
            <a:endParaRPr b="0" i="0" sz="1100" u="none" cap="none" strike="noStrike">
              <a:solidFill>
                <a:schemeClr val="dk1"/>
              </a:solidFill>
              <a:latin typeface="Calibri"/>
              <a:ea typeface="Calibri"/>
              <a:cs typeface="Calibri"/>
              <a:sym typeface="Calibri"/>
            </a:endParaRPr>
          </a:p>
        </p:txBody>
      </p:sp>
      <p:sp>
        <p:nvSpPr>
          <p:cNvPr id="744" name="Google Shape;744;p24"/>
          <p:cNvSpPr/>
          <p:nvPr/>
        </p:nvSpPr>
        <p:spPr>
          <a:xfrm>
            <a:off x="886968" y="4586478"/>
            <a:ext cx="658368" cy="274320"/>
          </a:xfrm>
          <a:prstGeom prst="roundRect">
            <a:avLst>
              <a:gd fmla="val 50000" name="adj"/>
            </a:avLst>
          </a:prstGeom>
          <a:solidFill>
            <a:srgbClr val="E9F6F5"/>
          </a:solidFill>
          <a:ln cap="flat" cmpd="sng" w="9525">
            <a:solidFill>
              <a:srgbClr val="00A79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5" name="Google Shape;745;p24"/>
          <p:cNvSpPr/>
          <p:nvPr/>
        </p:nvSpPr>
        <p:spPr>
          <a:xfrm>
            <a:off x="886968" y="4586478"/>
            <a:ext cx="658368" cy="2743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56A63"/>
              </a:buClr>
              <a:buSzPts val="900"/>
              <a:buFont typeface="Calibri"/>
              <a:buNone/>
            </a:pPr>
            <a:r>
              <a:rPr b="1" i="0" lang="en-US" sz="900" u="none" cap="none" strike="noStrike">
                <a:solidFill>
                  <a:srgbClr val="056A63"/>
                </a:solidFill>
                <a:latin typeface="Calibri"/>
                <a:ea typeface="Calibri"/>
                <a:cs typeface="Calibri"/>
                <a:sym typeface="Calibri"/>
              </a:rPr>
              <a:t>10 min</a:t>
            </a:r>
            <a:endParaRPr b="0" i="0" sz="900" u="none" cap="none" strike="noStrike">
              <a:solidFill>
                <a:schemeClr val="dk1"/>
              </a:solidFill>
              <a:latin typeface="Calibri"/>
              <a:ea typeface="Calibri"/>
              <a:cs typeface="Calibri"/>
              <a:sym typeface="Calibri"/>
            </a:endParaRPr>
          </a:p>
        </p:txBody>
      </p:sp>
      <p:sp>
        <p:nvSpPr>
          <p:cNvPr id="746" name="Google Shape;746;p24"/>
          <p:cNvSpPr/>
          <p:nvPr/>
        </p:nvSpPr>
        <p:spPr>
          <a:xfrm>
            <a:off x="1673352" y="4448556"/>
            <a:ext cx="5733288" cy="5867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3293B"/>
              </a:buClr>
              <a:buSzPts val="1150"/>
              <a:buFont typeface="Calibri"/>
              <a:buNone/>
            </a:pPr>
            <a:r>
              <a:rPr b="0" i="0" lang="en-US" sz="1150" u="none" cap="none" strike="noStrike">
                <a:solidFill>
                  <a:srgbClr val="23293B"/>
                </a:solidFill>
                <a:latin typeface="Calibri"/>
                <a:ea typeface="Calibri"/>
                <a:cs typeface="Calibri"/>
                <a:sym typeface="Calibri"/>
              </a:rPr>
              <a:t>Run dataset_stats.py; record mean/std + throughput at workers 0/4/8</a:t>
            </a:r>
            <a:endParaRPr b="0" i="0" sz="1150" u="none" cap="none" strike="noStrike">
              <a:solidFill>
                <a:schemeClr val="dk1"/>
              </a:solidFill>
              <a:latin typeface="Calibri"/>
              <a:ea typeface="Calibri"/>
              <a:cs typeface="Calibri"/>
              <a:sym typeface="Calibri"/>
            </a:endParaRPr>
          </a:p>
        </p:txBody>
      </p:sp>
      <p:sp>
        <p:nvSpPr>
          <p:cNvPr id="747" name="Google Shape;747;p24"/>
          <p:cNvSpPr/>
          <p:nvPr/>
        </p:nvSpPr>
        <p:spPr>
          <a:xfrm>
            <a:off x="502920" y="5228082"/>
            <a:ext cx="274320" cy="274320"/>
          </a:xfrm>
          <a:prstGeom prst="ellipse">
            <a:avLst/>
          </a:prstGeom>
          <a:solidFill>
            <a:srgbClr val="1D2A5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8" name="Google Shape;748;p24"/>
          <p:cNvSpPr/>
          <p:nvPr/>
        </p:nvSpPr>
        <p:spPr>
          <a:xfrm>
            <a:off x="502920" y="5228082"/>
            <a:ext cx="274320" cy="2743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100"/>
              <a:buFont typeface="Calibri"/>
              <a:buNone/>
            </a:pPr>
            <a:r>
              <a:rPr b="1" i="0" lang="en-US" sz="1100" u="none" cap="none" strike="noStrike">
                <a:solidFill>
                  <a:srgbClr val="FFFFFF"/>
                </a:solidFill>
                <a:latin typeface="Calibri"/>
                <a:ea typeface="Calibri"/>
                <a:cs typeface="Calibri"/>
                <a:sym typeface="Calibri"/>
              </a:rPr>
              <a:t>5</a:t>
            </a:r>
            <a:endParaRPr b="0" i="0" sz="1100" u="none" cap="none" strike="noStrike">
              <a:solidFill>
                <a:schemeClr val="dk1"/>
              </a:solidFill>
              <a:latin typeface="Calibri"/>
              <a:ea typeface="Calibri"/>
              <a:cs typeface="Calibri"/>
              <a:sym typeface="Calibri"/>
            </a:endParaRPr>
          </a:p>
        </p:txBody>
      </p:sp>
      <p:sp>
        <p:nvSpPr>
          <p:cNvPr id="749" name="Google Shape;749;p24"/>
          <p:cNvSpPr/>
          <p:nvPr/>
        </p:nvSpPr>
        <p:spPr>
          <a:xfrm>
            <a:off x="886968" y="5228082"/>
            <a:ext cx="658368" cy="274320"/>
          </a:xfrm>
          <a:prstGeom prst="roundRect">
            <a:avLst>
              <a:gd fmla="val 50000" name="adj"/>
            </a:avLst>
          </a:prstGeom>
          <a:solidFill>
            <a:srgbClr val="E9F6F5"/>
          </a:solidFill>
          <a:ln cap="flat" cmpd="sng" w="9525">
            <a:solidFill>
              <a:srgbClr val="00A79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0" name="Google Shape;750;p24"/>
          <p:cNvSpPr/>
          <p:nvPr/>
        </p:nvSpPr>
        <p:spPr>
          <a:xfrm>
            <a:off x="886968" y="5228082"/>
            <a:ext cx="658368" cy="2743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56A63"/>
              </a:buClr>
              <a:buSzPts val="900"/>
              <a:buFont typeface="Calibri"/>
              <a:buNone/>
            </a:pPr>
            <a:r>
              <a:rPr b="1" i="0" lang="en-US" sz="900" u="none" cap="none" strike="noStrike">
                <a:solidFill>
                  <a:srgbClr val="056A63"/>
                </a:solidFill>
                <a:latin typeface="Calibri"/>
                <a:ea typeface="Calibri"/>
                <a:cs typeface="Calibri"/>
                <a:sym typeface="Calibri"/>
              </a:rPr>
              <a:t>10 min</a:t>
            </a:r>
            <a:endParaRPr b="0" i="0" sz="900" u="none" cap="none" strike="noStrike">
              <a:solidFill>
                <a:schemeClr val="dk1"/>
              </a:solidFill>
              <a:latin typeface="Calibri"/>
              <a:ea typeface="Calibri"/>
              <a:cs typeface="Calibri"/>
              <a:sym typeface="Calibri"/>
            </a:endParaRPr>
          </a:p>
        </p:txBody>
      </p:sp>
      <p:sp>
        <p:nvSpPr>
          <p:cNvPr id="751" name="Google Shape;751;p24"/>
          <p:cNvSpPr/>
          <p:nvPr/>
        </p:nvSpPr>
        <p:spPr>
          <a:xfrm>
            <a:off x="1673352" y="5090160"/>
            <a:ext cx="5733288" cy="5867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3293B"/>
              </a:buClr>
              <a:buSzPts val="1150"/>
              <a:buFont typeface="Calibri"/>
              <a:buNone/>
            </a:pPr>
            <a:r>
              <a:rPr b="0" i="0" lang="en-US" sz="1150" u="none" cap="none" strike="noStrike">
                <a:solidFill>
                  <a:srgbClr val="23293B"/>
                </a:solidFill>
                <a:latin typeface="Calibri"/>
                <a:ea typeface="Calibri"/>
                <a:cs typeface="Calibri"/>
                <a:sym typeface="Calibri"/>
              </a:rPr>
              <a:t>Run aug_audit.py; find one over-strong sample; adjust one parameter, justified</a:t>
            </a:r>
            <a:endParaRPr b="0" i="0" sz="1150" u="none" cap="none" strike="noStrike">
              <a:solidFill>
                <a:schemeClr val="dk1"/>
              </a:solidFill>
              <a:latin typeface="Calibri"/>
              <a:ea typeface="Calibri"/>
              <a:cs typeface="Calibri"/>
              <a:sym typeface="Calibri"/>
            </a:endParaRPr>
          </a:p>
        </p:txBody>
      </p:sp>
      <p:sp>
        <p:nvSpPr>
          <p:cNvPr id="752" name="Google Shape;752;p24"/>
          <p:cNvSpPr/>
          <p:nvPr/>
        </p:nvSpPr>
        <p:spPr>
          <a:xfrm>
            <a:off x="502920" y="5869686"/>
            <a:ext cx="274320" cy="274320"/>
          </a:xfrm>
          <a:prstGeom prst="ellipse">
            <a:avLst/>
          </a:prstGeom>
          <a:solidFill>
            <a:srgbClr val="1D2A5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3" name="Google Shape;753;p24"/>
          <p:cNvSpPr/>
          <p:nvPr/>
        </p:nvSpPr>
        <p:spPr>
          <a:xfrm>
            <a:off x="502920" y="5869686"/>
            <a:ext cx="274320" cy="2743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100"/>
              <a:buFont typeface="Calibri"/>
              <a:buNone/>
            </a:pPr>
            <a:r>
              <a:rPr b="1" i="0" lang="en-US" sz="1100" u="none" cap="none" strike="noStrike">
                <a:solidFill>
                  <a:srgbClr val="FFFFFF"/>
                </a:solidFill>
                <a:latin typeface="Calibri"/>
                <a:ea typeface="Calibri"/>
                <a:cs typeface="Calibri"/>
                <a:sym typeface="Calibri"/>
              </a:rPr>
              <a:t>6</a:t>
            </a:r>
            <a:endParaRPr b="0" i="0" sz="1100" u="none" cap="none" strike="noStrike">
              <a:solidFill>
                <a:schemeClr val="dk1"/>
              </a:solidFill>
              <a:latin typeface="Calibri"/>
              <a:ea typeface="Calibri"/>
              <a:cs typeface="Calibri"/>
              <a:sym typeface="Calibri"/>
            </a:endParaRPr>
          </a:p>
        </p:txBody>
      </p:sp>
      <p:sp>
        <p:nvSpPr>
          <p:cNvPr id="754" name="Google Shape;754;p24"/>
          <p:cNvSpPr/>
          <p:nvPr/>
        </p:nvSpPr>
        <p:spPr>
          <a:xfrm>
            <a:off x="886968" y="5869686"/>
            <a:ext cx="658368" cy="274320"/>
          </a:xfrm>
          <a:prstGeom prst="roundRect">
            <a:avLst>
              <a:gd fmla="val 50000" name="adj"/>
            </a:avLst>
          </a:prstGeom>
          <a:solidFill>
            <a:srgbClr val="E9F6F5"/>
          </a:solidFill>
          <a:ln cap="flat" cmpd="sng" w="9525">
            <a:solidFill>
              <a:srgbClr val="00A79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5" name="Google Shape;755;p24"/>
          <p:cNvSpPr/>
          <p:nvPr/>
        </p:nvSpPr>
        <p:spPr>
          <a:xfrm>
            <a:off x="886968" y="5869686"/>
            <a:ext cx="658368" cy="2743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56A63"/>
              </a:buClr>
              <a:buSzPts val="900"/>
              <a:buFont typeface="Calibri"/>
              <a:buNone/>
            </a:pPr>
            <a:r>
              <a:rPr b="1" i="0" lang="en-US" sz="900" u="none" cap="none" strike="noStrike">
                <a:solidFill>
                  <a:srgbClr val="056A63"/>
                </a:solidFill>
                <a:latin typeface="Calibri"/>
                <a:ea typeface="Calibri"/>
                <a:cs typeface="Calibri"/>
                <a:sym typeface="Calibri"/>
              </a:rPr>
              <a:t>5 min</a:t>
            </a:r>
            <a:endParaRPr b="0" i="0" sz="900" u="none" cap="none" strike="noStrike">
              <a:solidFill>
                <a:schemeClr val="dk1"/>
              </a:solidFill>
              <a:latin typeface="Calibri"/>
              <a:ea typeface="Calibri"/>
              <a:cs typeface="Calibri"/>
              <a:sym typeface="Calibri"/>
            </a:endParaRPr>
          </a:p>
        </p:txBody>
      </p:sp>
      <p:sp>
        <p:nvSpPr>
          <p:cNvPr id="756" name="Google Shape;756;p24"/>
          <p:cNvSpPr/>
          <p:nvPr/>
        </p:nvSpPr>
        <p:spPr>
          <a:xfrm>
            <a:off x="1673352" y="5731764"/>
            <a:ext cx="5733288" cy="5867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3293B"/>
              </a:buClr>
              <a:buSzPts val="1150"/>
              <a:buFont typeface="Calibri"/>
              <a:buNone/>
            </a:pPr>
            <a:r>
              <a:rPr b="0" i="0" lang="en-US" sz="1150" u="none" cap="none" strike="noStrike">
                <a:solidFill>
                  <a:srgbClr val="23293B"/>
                </a:solidFill>
                <a:latin typeface="Calibri"/>
                <a:ea typeface="Calibri"/>
                <a:cs typeface="Calibri"/>
                <a:sym typeface="Calibri"/>
              </a:rPr>
              <a:t>Commit: feat(data): dates-qc pipeline with audited augmentation policy</a:t>
            </a:r>
            <a:endParaRPr b="0" i="0" sz="1150" u="none" cap="none" strike="noStrike">
              <a:solidFill>
                <a:schemeClr val="dk1"/>
              </a:solidFill>
              <a:latin typeface="Calibri"/>
              <a:ea typeface="Calibri"/>
              <a:cs typeface="Calibri"/>
              <a:sym typeface="Calibri"/>
            </a:endParaRPr>
          </a:p>
        </p:txBody>
      </p:sp>
      <p:sp>
        <p:nvSpPr>
          <p:cNvPr id="757" name="Google Shape;757;p24"/>
          <p:cNvSpPr/>
          <p:nvPr/>
        </p:nvSpPr>
        <p:spPr>
          <a:xfrm>
            <a:off x="7635240" y="2505456"/>
            <a:ext cx="4050792" cy="3849624"/>
          </a:xfrm>
          <a:prstGeom prst="roundRect">
            <a:avLst>
              <a:gd fmla="val 2375" name="adj"/>
            </a:avLst>
          </a:prstGeom>
          <a:solidFill>
            <a:srgbClr val="0F172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8" name="Google Shape;758;p24"/>
          <p:cNvSpPr/>
          <p:nvPr/>
        </p:nvSpPr>
        <p:spPr>
          <a:xfrm>
            <a:off x="7818120" y="2615184"/>
            <a:ext cx="3685032" cy="2377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EEAD4"/>
              </a:buClr>
              <a:buSzPts val="900"/>
              <a:buFont typeface="Calibri"/>
              <a:buNone/>
            </a:pPr>
            <a:r>
              <a:rPr b="1" i="0" lang="en-US" sz="900" u="none" cap="none" strike="noStrike">
                <a:solidFill>
                  <a:srgbClr val="5EEAD4"/>
                </a:solidFill>
                <a:latin typeface="Calibri"/>
                <a:ea typeface="Calibri"/>
                <a:cs typeface="Calibri"/>
                <a:sym typeface="Calibri"/>
              </a:rPr>
              <a:t>EXPECTED OUTPUT</a:t>
            </a:r>
            <a:endParaRPr b="0" i="0" sz="900" u="none" cap="none" strike="noStrike">
              <a:solidFill>
                <a:schemeClr val="dk1"/>
              </a:solidFill>
              <a:latin typeface="Calibri"/>
              <a:ea typeface="Calibri"/>
              <a:cs typeface="Calibri"/>
              <a:sym typeface="Calibri"/>
            </a:endParaRPr>
          </a:p>
        </p:txBody>
      </p:sp>
      <p:sp>
        <p:nvSpPr>
          <p:cNvPr id="759" name="Google Shape;759;p24"/>
          <p:cNvSpPr/>
          <p:nvPr/>
        </p:nvSpPr>
        <p:spPr>
          <a:xfrm>
            <a:off x="7818120" y="2907792"/>
            <a:ext cx="3703320" cy="3300984"/>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DCE6F5"/>
              </a:buClr>
              <a:buSzPts val="900"/>
              <a:buFont typeface="Courier New"/>
              <a:buNone/>
            </a:pPr>
            <a:r>
              <a:rPr b="0" i="0" lang="en-US" sz="900" u="none" cap="none" strike="noStrike">
                <a:solidFill>
                  <a:srgbClr val="DCE6F5"/>
                </a:solidFill>
                <a:latin typeface="Courier New"/>
                <a:ea typeface="Courier New"/>
                <a:cs typeface="Courier New"/>
                <a:sym typeface="Courier New"/>
              </a:rPr>
              <a:t>$ python scripts/dataset_stats.py</a:t>
            </a:r>
            <a:endParaRPr b="0" i="0" sz="900" u="none" cap="none" strike="noStrike">
              <a:solidFill>
                <a:schemeClr val="dk1"/>
              </a:solidFill>
              <a:latin typeface="Calibri"/>
              <a:ea typeface="Calibri"/>
              <a:cs typeface="Calibri"/>
              <a:sym typeface="Calibri"/>
            </a:endParaRPr>
          </a:p>
          <a:p>
            <a:pPr indent="0" lvl="0" marL="0" marR="0" rtl="0" algn="l">
              <a:lnSpc>
                <a:spcPct val="130000"/>
              </a:lnSpc>
              <a:spcBef>
                <a:spcPts val="0"/>
              </a:spcBef>
              <a:spcAft>
                <a:spcPts val="0"/>
              </a:spcAft>
              <a:buClr>
                <a:srgbClr val="DCE6F5"/>
              </a:buClr>
              <a:buSzPts val="900"/>
              <a:buFont typeface="Courier New"/>
              <a:buNone/>
            </a:pPr>
            <a:r>
              <a:rPr b="0" i="0" lang="en-US" sz="900" u="none" cap="none" strike="noStrike">
                <a:solidFill>
                  <a:srgbClr val="DCE6F5"/>
                </a:solidFill>
                <a:latin typeface="Courier New"/>
                <a:ea typeface="Courier New"/>
                <a:cs typeface="Courier New"/>
                <a:sym typeface="Courier New"/>
              </a:rPr>
              <a:t>mean=[0.412, 0.331, 0.247]</a:t>
            </a:r>
            <a:endParaRPr b="0" i="0" sz="900" u="none" cap="none" strike="noStrike">
              <a:solidFill>
                <a:schemeClr val="dk1"/>
              </a:solidFill>
              <a:latin typeface="Calibri"/>
              <a:ea typeface="Calibri"/>
              <a:cs typeface="Calibri"/>
              <a:sym typeface="Calibri"/>
            </a:endParaRPr>
          </a:p>
          <a:p>
            <a:pPr indent="0" lvl="0" marL="0" marR="0" rtl="0" algn="l">
              <a:lnSpc>
                <a:spcPct val="130000"/>
              </a:lnSpc>
              <a:spcBef>
                <a:spcPts val="0"/>
              </a:spcBef>
              <a:spcAft>
                <a:spcPts val="0"/>
              </a:spcAft>
              <a:buClr>
                <a:srgbClr val="DCE6F5"/>
              </a:buClr>
              <a:buSzPts val="900"/>
              <a:buFont typeface="Courier New"/>
              <a:buNone/>
            </a:pPr>
            <a:r>
              <a:rPr b="0" i="0" lang="en-US" sz="900" u="none" cap="none" strike="noStrike">
                <a:solidFill>
                  <a:srgbClr val="DCE6F5"/>
                </a:solidFill>
                <a:latin typeface="Courier New"/>
                <a:ea typeface="Courier New"/>
                <a:cs typeface="Courier New"/>
                <a:sym typeface="Courier New"/>
              </a:rPr>
              <a:t>std=[0.201, 0.178, 0.154]</a:t>
            </a:r>
            <a:endParaRPr b="0" i="0" sz="900" u="none" cap="none" strike="noStrike">
              <a:solidFill>
                <a:schemeClr val="dk1"/>
              </a:solidFill>
              <a:latin typeface="Calibri"/>
              <a:ea typeface="Calibri"/>
              <a:cs typeface="Calibri"/>
              <a:sym typeface="Calibri"/>
            </a:endParaRPr>
          </a:p>
          <a:p>
            <a:pPr indent="0" lvl="0" marL="0" marR="0" rtl="0" algn="l">
              <a:lnSpc>
                <a:spcPct val="130000"/>
              </a:lnSpc>
              <a:spcBef>
                <a:spcPts val="0"/>
              </a:spcBef>
              <a:spcAft>
                <a:spcPts val="0"/>
              </a:spcAft>
              <a:buClr>
                <a:srgbClr val="DCE6F5"/>
              </a:buClr>
              <a:buSzPts val="900"/>
              <a:buFont typeface="Courier New"/>
              <a:buNone/>
            </a:pPr>
            <a:r>
              <a:rPr b="0" i="0" lang="en-US" sz="900" u="none" cap="none" strike="noStrike">
                <a:solidFill>
                  <a:srgbClr val="DCE6F5"/>
                </a:solidFill>
                <a:latin typeface="Courier New"/>
                <a:ea typeface="Courier New"/>
                <a:cs typeface="Courier New"/>
                <a:sym typeface="Courier New"/>
              </a:rPr>
              <a:t>throughput: 118 img/s (workers=0)</a:t>
            </a:r>
            <a:endParaRPr b="0" i="0" sz="900" u="none" cap="none" strike="noStrike">
              <a:solidFill>
                <a:schemeClr val="dk1"/>
              </a:solidFill>
              <a:latin typeface="Calibri"/>
              <a:ea typeface="Calibri"/>
              <a:cs typeface="Calibri"/>
              <a:sym typeface="Calibri"/>
            </a:endParaRPr>
          </a:p>
          <a:p>
            <a:pPr indent="0" lvl="0" marL="0" marR="0" rtl="0" algn="l">
              <a:lnSpc>
                <a:spcPct val="130000"/>
              </a:lnSpc>
              <a:spcBef>
                <a:spcPts val="0"/>
              </a:spcBef>
              <a:spcAft>
                <a:spcPts val="0"/>
              </a:spcAft>
              <a:buClr>
                <a:srgbClr val="DCE6F5"/>
              </a:buClr>
              <a:buSzPts val="900"/>
              <a:buFont typeface="Courier New"/>
              <a:buNone/>
            </a:pPr>
            <a:r>
              <a:rPr b="0" i="0" lang="en-US" sz="900" u="none" cap="none" strike="noStrike">
                <a:solidFill>
                  <a:srgbClr val="DCE6F5"/>
                </a:solidFill>
                <a:latin typeface="Courier New"/>
                <a:ea typeface="Courier New"/>
                <a:cs typeface="Courier New"/>
                <a:sym typeface="Courier New"/>
              </a:rPr>
              <a:t>         -&gt; 465 img/s (workers=8)</a:t>
            </a:r>
            <a:endParaRPr b="0" i="0" sz="900" u="none" cap="none" strike="noStrike">
              <a:solidFill>
                <a:schemeClr val="dk1"/>
              </a:solidFill>
              <a:latin typeface="Calibri"/>
              <a:ea typeface="Calibri"/>
              <a:cs typeface="Calibri"/>
              <a:sym typeface="Calibri"/>
            </a:endParaRPr>
          </a:p>
          <a:p>
            <a:pPr indent="0" lvl="0" marL="0" marR="0" rtl="0" algn="l">
              <a:lnSpc>
                <a:spcPct val="130000"/>
              </a:lnSpc>
              <a:spcBef>
                <a:spcPts val="0"/>
              </a:spcBef>
              <a:spcAft>
                <a:spcPts val="0"/>
              </a:spcAft>
              <a:buClr>
                <a:srgbClr val="DCE6F5"/>
              </a:buClr>
              <a:buSzPts val="900"/>
              <a:buFont typeface="Courier New"/>
              <a:buNone/>
            </a:pPr>
            <a:r>
              <a:rPr b="0" i="0" lang="en-US" sz="900" u="none" cap="none" strike="noStrike">
                <a:solidFill>
                  <a:srgbClr val="DCE6F5"/>
                </a:solidFill>
                <a:latin typeface="Courier New"/>
                <a:ea typeface="Courier New"/>
                <a:cs typeface="Courier New"/>
                <a:sym typeface="Courier New"/>
              </a:rPr>
              <a:t>reports/aug_audit.png written</a:t>
            </a:r>
            <a:endParaRPr b="0" i="0" sz="900" u="none" cap="none" strike="noStrike">
              <a:solidFill>
                <a:schemeClr val="dk1"/>
              </a:solidFill>
              <a:latin typeface="Calibri"/>
              <a:ea typeface="Calibri"/>
              <a:cs typeface="Calibri"/>
              <a:sym typeface="Calibri"/>
            </a:endParaRPr>
          </a:p>
          <a:p>
            <a:pPr indent="0" lvl="0" marL="0" marR="0" rtl="0" algn="l">
              <a:lnSpc>
                <a:spcPct val="130000"/>
              </a:lnSpc>
              <a:spcBef>
                <a:spcPts val="0"/>
              </a:spcBef>
              <a:spcAft>
                <a:spcPts val="0"/>
              </a:spcAft>
              <a:buClr>
                <a:srgbClr val="DCE6F5"/>
              </a:buClr>
              <a:buSzPts val="900"/>
              <a:buFont typeface="Courier New"/>
              <a:buNone/>
            </a:pPr>
            <a:r>
              <a:rPr b="0" i="0" lang="en-US" sz="900" u="none" cap="none" strike="noStrike">
                <a:solidFill>
                  <a:srgbClr val="DCE6F5"/>
                </a:solidFill>
                <a:latin typeface="Courier New"/>
                <a:ea typeface="Courier New"/>
                <a:cs typeface="Courier New"/>
                <a:sym typeface="Courier New"/>
              </a:rPr>
              <a:t>(32 samples, labels legible)</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764" name="Shape 764"/>
        <p:cNvGrpSpPr/>
        <p:nvPr/>
      </p:nvGrpSpPr>
      <p:grpSpPr>
        <a:xfrm>
          <a:off x="0" y="0"/>
          <a:ext cx="0" cy="0"/>
          <a:chOff x="0" y="0"/>
          <a:chExt cx="0" cy="0"/>
        </a:xfrm>
      </p:grpSpPr>
      <p:sp>
        <p:nvSpPr>
          <p:cNvPr id="765" name="Google Shape;765;p25"/>
          <p:cNvSpPr/>
          <p:nvPr/>
        </p:nvSpPr>
        <p:spPr>
          <a:xfrm>
            <a:off x="502920" y="274320"/>
            <a:ext cx="9646920" cy="56692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D2A5C"/>
              </a:buClr>
              <a:buSzPts val="2700"/>
              <a:buFont typeface="Calibri"/>
              <a:buNone/>
            </a:pPr>
            <a:r>
              <a:rPr b="1" i="0" lang="en-US" sz="2700" u="none" cap="none" strike="noStrike">
                <a:solidFill>
                  <a:srgbClr val="1D2A5C"/>
                </a:solidFill>
                <a:latin typeface="Calibri"/>
                <a:ea typeface="Calibri"/>
                <a:cs typeface="Calibri"/>
                <a:sym typeface="Calibri"/>
              </a:rPr>
              <a:t>Lab 1 troubleshooting</a:t>
            </a:r>
            <a:endParaRPr b="0" i="0" sz="2700" u="none" cap="none" strike="noStrike">
              <a:solidFill>
                <a:schemeClr val="dk1"/>
              </a:solidFill>
              <a:latin typeface="Calibri"/>
              <a:ea typeface="Calibri"/>
              <a:cs typeface="Calibri"/>
              <a:sym typeface="Calibri"/>
            </a:endParaRPr>
          </a:p>
        </p:txBody>
      </p:sp>
      <p:sp>
        <p:nvSpPr>
          <p:cNvPr id="766" name="Google Shape;766;p25"/>
          <p:cNvSpPr/>
          <p:nvPr/>
        </p:nvSpPr>
        <p:spPr>
          <a:xfrm>
            <a:off x="502920" y="859536"/>
            <a:ext cx="9646920" cy="31089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F6B7A"/>
              </a:buClr>
              <a:buSzPts val="1250"/>
              <a:buFont typeface="Arial"/>
              <a:buNone/>
            </a:pPr>
            <a:r>
              <a:rPr b="0" i="0" lang="en-US" sz="1250" u="none" cap="none" strike="noStrike">
                <a:solidFill>
                  <a:srgbClr val="5F6B7A"/>
                </a:solidFill>
                <a:latin typeface="Arial"/>
                <a:ea typeface="Arial"/>
                <a:cs typeface="Arial"/>
                <a:sym typeface="Arial"/>
              </a:rPr>
              <a:t>استكشاف أخطاء المختبر 1</a:t>
            </a:r>
            <a:endParaRPr b="0" i="0" sz="1250" u="none" cap="none" strike="noStrike">
              <a:solidFill>
                <a:schemeClr val="dk1"/>
              </a:solidFill>
              <a:latin typeface="Calibri"/>
              <a:ea typeface="Calibri"/>
              <a:cs typeface="Calibri"/>
              <a:sym typeface="Calibri"/>
            </a:endParaRPr>
          </a:p>
        </p:txBody>
      </p:sp>
      <p:pic>
        <p:nvPicPr>
          <p:cNvPr descr="/sessions/blissful-determined-ritchie/build/assets/sdaia_logo.png" id="767" name="Google Shape;767;p25"/>
          <p:cNvPicPr preferRelativeResize="0"/>
          <p:nvPr/>
        </p:nvPicPr>
        <p:blipFill rotWithShape="1">
          <a:blip r:embed="rId3">
            <a:alphaModFix/>
          </a:blip>
          <a:srcRect b="0" l="0" r="0" t="0"/>
          <a:stretch/>
        </p:blipFill>
        <p:spPr>
          <a:xfrm>
            <a:off x="10625328" y="310896"/>
            <a:ext cx="1078992" cy="264111"/>
          </a:xfrm>
          <a:prstGeom prst="rect">
            <a:avLst/>
          </a:prstGeom>
          <a:noFill/>
          <a:ln>
            <a:noFill/>
          </a:ln>
        </p:spPr>
      </p:pic>
      <p:sp>
        <p:nvSpPr>
          <p:cNvPr id="768" name="Google Shape;768;p25"/>
          <p:cNvSpPr/>
          <p:nvPr/>
        </p:nvSpPr>
        <p:spPr>
          <a:xfrm>
            <a:off x="502920" y="6528816"/>
            <a:ext cx="8686800"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A79D"/>
              </a:buClr>
              <a:buSzPts val="800"/>
              <a:buFont typeface="Calibri"/>
              <a:buNone/>
            </a:pPr>
            <a:r>
              <a:rPr b="1" i="0" lang="en-US" sz="800" u="none" cap="none" strike="noStrike">
                <a:solidFill>
                  <a:srgbClr val="00A79D"/>
                </a:solidFill>
                <a:latin typeface="Calibri"/>
                <a:ea typeface="Calibri"/>
                <a:cs typeface="Calibri"/>
                <a:sym typeface="Calibri"/>
              </a:rPr>
              <a:t>MODULE 1 · LAB   </a:t>
            </a:r>
            <a:r>
              <a:rPr b="0" i="0" lang="en-US" sz="800" u="none" cap="none" strike="noStrike">
                <a:solidFill>
                  <a:srgbClr val="8A96A6"/>
                </a:solidFill>
                <a:latin typeface="Calibri"/>
                <a:ea typeface="Calibri"/>
                <a:cs typeface="Calibri"/>
                <a:sym typeface="Calibri"/>
              </a:rPr>
              <a:t>SDA-AIE-212 · Computer Vision Systems Development</a:t>
            </a:r>
            <a:endParaRPr b="0" i="0" sz="800" u="none" cap="none" strike="noStrike">
              <a:solidFill>
                <a:schemeClr val="dk1"/>
              </a:solidFill>
              <a:latin typeface="Calibri"/>
              <a:ea typeface="Calibri"/>
              <a:cs typeface="Calibri"/>
              <a:sym typeface="Calibri"/>
            </a:endParaRPr>
          </a:p>
        </p:txBody>
      </p:sp>
      <p:sp>
        <p:nvSpPr>
          <p:cNvPr id="769" name="Google Shape;769;p25"/>
          <p:cNvSpPr/>
          <p:nvPr/>
        </p:nvSpPr>
        <p:spPr>
          <a:xfrm>
            <a:off x="11292840" y="6528816"/>
            <a:ext cx="411480" cy="219456"/>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8A96A6"/>
              </a:buClr>
              <a:buSzPts val="900"/>
              <a:buFont typeface="Calibri"/>
              <a:buNone/>
            </a:pPr>
            <a:r>
              <a:rPr b="0" i="0" lang="en-US" sz="900" u="none" cap="none" strike="noStrike">
                <a:solidFill>
                  <a:srgbClr val="8A96A6"/>
                </a:solidFill>
                <a:latin typeface="Calibri"/>
                <a:ea typeface="Calibri"/>
                <a:cs typeface="Calibri"/>
                <a:sym typeface="Calibri"/>
              </a:rPr>
              <a:t>25</a:t>
            </a:r>
            <a:endParaRPr b="0" i="0" sz="900" u="none" cap="none" strike="noStrike">
              <a:solidFill>
                <a:schemeClr val="dk1"/>
              </a:solidFill>
              <a:latin typeface="Calibri"/>
              <a:ea typeface="Calibri"/>
              <a:cs typeface="Calibri"/>
              <a:sym typeface="Calibri"/>
            </a:endParaRPr>
          </a:p>
        </p:txBody>
      </p:sp>
      <p:graphicFrame>
        <p:nvGraphicFramePr>
          <p:cNvPr id="770" name="Google Shape;770;p25"/>
          <p:cNvGraphicFramePr/>
          <p:nvPr/>
        </p:nvGraphicFramePr>
        <p:xfrm>
          <a:off x="502920" y="1389888"/>
          <a:ext cx="3000000" cy="3000000"/>
        </p:xfrm>
        <a:graphic>
          <a:graphicData uri="http://schemas.openxmlformats.org/drawingml/2006/table">
            <a:tbl>
              <a:tblPr>
                <a:noFill/>
                <a:tableStyleId>{F80342BA-3033-44D6-9F91-622DC7A4C435}</a:tableStyleId>
              </a:tblPr>
              <a:tblGrid>
                <a:gridCol w="3541425"/>
                <a:gridCol w="3425275"/>
                <a:gridCol w="4219150"/>
              </a:tblGrid>
              <a:tr h="713225">
                <a:tc>
                  <a:txBody>
                    <a:bodyPr/>
                    <a:lstStyle/>
                    <a:p>
                      <a:pPr indent="0" lvl="0" marL="0" marR="0" rtl="0" algn="l">
                        <a:spcBef>
                          <a:spcPts val="0"/>
                        </a:spcBef>
                        <a:spcAft>
                          <a:spcPts val="0"/>
                        </a:spcAft>
                        <a:buClr>
                          <a:srgbClr val="FFFFFF"/>
                        </a:buClr>
                        <a:buSzPts val="1150"/>
                        <a:buFont typeface="Calibri"/>
                        <a:buNone/>
                      </a:pPr>
                      <a:r>
                        <a:rPr b="1" lang="en-US" sz="1150" u="none" cap="none" strike="noStrike">
                          <a:solidFill>
                            <a:srgbClr val="FFFFFF"/>
                          </a:solidFill>
                          <a:latin typeface="Calibri"/>
                          <a:ea typeface="Calibri"/>
                          <a:cs typeface="Calibri"/>
                          <a:sym typeface="Calibri"/>
                        </a:rPr>
                        <a:t>Symptom</a:t>
                      </a:r>
                      <a:endParaRPr sz="1150" u="none" cap="none" strike="noStrike">
                        <a:latin typeface="Calibri"/>
                        <a:ea typeface="Calibri"/>
                        <a:cs typeface="Calibri"/>
                        <a:sym typeface="Calibri"/>
                      </a:endParaRPr>
                    </a:p>
                  </a:txBody>
                  <a:tcPr marT="64000" marB="64000" marR="64000" marL="64000" anchor="ctr">
                    <a:lnL cap="flat" cmpd="sng" w="9525">
                      <a:solidFill>
                        <a:srgbClr val="D9E2EA"/>
                      </a:solidFill>
                      <a:prstDash val="solid"/>
                      <a:round/>
                      <a:headEnd len="sm" w="sm" type="none"/>
                      <a:tailEnd len="sm" w="sm" type="none"/>
                    </a:lnL>
                    <a:lnR cap="flat" cmpd="sng" w="9525">
                      <a:solidFill>
                        <a:srgbClr val="D9E2EA"/>
                      </a:solidFill>
                      <a:prstDash val="solid"/>
                      <a:round/>
                      <a:headEnd len="sm" w="sm" type="none"/>
                      <a:tailEnd len="sm" w="sm" type="none"/>
                    </a:lnR>
                    <a:lnT cap="flat" cmpd="sng" w="9525">
                      <a:solidFill>
                        <a:srgbClr val="D9E2EA"/>
                      </a:solidFill>
                      <a:prstDash val="solid"/>
                      <a:round/>
                      <a:headEnd len="sm" w="sm" type="none"/>
                      <a:tailEnd len="sm" w="sm" type="none"/>
                    </a:lnT>
                    <a:lnB cap="flat" cmpd="sng" w="9525">
                      <a:solidFill>
                        <a:srgbClr val="D9E2EA"/>
                      </a:solidFill>
                      <a:prstDash val="solid"/>
                      <a:round/>
                      <a:headEnd len="sm" w="sm" type="none"/>
                      <a:tailEnd len="sm" w="sm" type="none"/>
                    </a:lnB>
                    <a:solidFill>
                      <a:srgbClr val="1D2A5C"/>
                    </a:solidFill>
                  </a:tcPr>
                </a:tc>
                <a:tc>
                  <a:txBody>
                    <a:bodyPr/>
                    <a:lstStyle/>
                    <a:p>
                      <a:pPr indent="0" lvl="0" marL="0" marR="0" rtl="0" algn="l">
                        <a:spcBef>
                          <a:spcPts val="0"/>
                        </a:spcBef>
                        <a:spcAft>
                          <a:spcPts val="0"/>
                        </a:spcAft>
                        <a:buClr>
                          <a:srgbClr val="FFFFFF"/>
                        </a:buClr>
                        <a:buSzPts val="1150"/>
                        <a:buFont typeface="Calibri"/>
                        <a:buNone/>
                      </a:pPr>
                      <a:r>
                        <a:rPr b="1" lang="en-US" sz="1150" u="none" cap="none" strike="noStrike">
                          <a:solidFill>
                            <a:srgbClr val="FFFFFF"/>
                          </a:solidFill>
                          <a:latin typeface="Calibri"/>
                          <a:ea typeface="Calibri"/>
                          <a:cs typeface="Calibri"/>
                          <a:sym typeface="Calibri"/>
                        </a:rPr>
                        <a:t>Cause</a:t>
                      </a:r>
                      <a:endParaRPr sz="1150" u="none" cap="none" strike="noStrike">
                        <a:latin typeface="Calibri"/>
                        <a:ea typeface="Calibri"/>
                        <a:cs typeface="Calibri"/>
                        <a:sym typeface="Calibri"/>
                      </a:endParaRPr>
                    </a:p>
                  </a:txBody>
                  <a:tcPr marT="64000" marB="64000" marR="64000" marL="64000" anchor="ctr">
                    <a:lnL cap="flat" cmpd="sng" w="9525">
                      <a:solidFill>
                        <a:srgbClr val="D9E2EA"/>
                      </a:solidFill>
                      <a:prstDash val="solid"/>
                      <a:round/>
                      <a:headEnd len="sm" w="sm" type="none"/>
                      <a:tailEnd len="sm" w="sm" type="none"/>
                    </a:lnL>
                    <a:lnR cap="flat" cmpd="sng" w="9525">
                      <a:solidFill>
                        <a:srgbClr val="D9E2EA"/>
                      </a:solidFill>
                      <a:prstDash val="solid"/>
                      <a:round/>
                      <a:headEnd len="sm" w="sm" type="none"/>
                      <a:tailEnd len="sm" w="sm" type="none"/>
                    </a:lnR>
                    <a:lnT cap="flat" cmpd="sng" w="9525">
                      <a:solidFill>
                        <a:srgbClr val="D9E2EA"/>
                      </a:solidFill>
                      <a:prstDash val="solid"/>
                      <a:round/>
                      <a:headEnd len="sm" w="sm" type="none"/>
                      <a:tailEnd len="sm" w="sm" type="none"/>
                    </a:lnT>
                    <a:lnB cap="flat" cmpd="sng" w="9525">
                      <a:solidFill>
                        <a:srgbClr val="D9E2EA"/>
                      </a:solidFill>
                      <a:prstDash val="solid"/>
                      <a:round/>
                      <a:headEnd len="sm" w="sm" type="none"/>
                      <a:tailEnd len="sm" w="sm" type="none"/>
                    </a:lnB>
                    <a:solidFill>
                      <a:srgbClr val="1D2A5C"/>
                    </a:solidFill>
                  </a:tcPr>
                </a:tc>
                <a:tc>
                  <a:txBody>
                    <a:bodyPr/>
                    <a:lstStyle/>
                    <a:p>
                      <a:pPr indent="0" lvl="0" marL="0" marR="0" rtl="0" algn="l">
                        <a:spcBef>
                          <a:spcPts val="0"/>
                        </a:spcBef>
                        <a:spcAft>
                          <a:spcPts val="0"/>
                        </a:spcAft>
                        <a:buClr>
                          <a:srgbClr val="FFFFFF"/>
                        </a:buClr>
                        <a:buSzPts val="1150"/>
                        <a:buFont typeface="Calibri"/>
                        <a:buNone/>
                      </a:pPr>
                      <a:r>
                        <a:rPr b="1" lang="en-US" sz="1150" u="none" cap="none" strike="noStrike">
                          <a:solidFill>
                            <a:srgbClr val="FFFFFF"/>
                          </a:solidFill>
                          <a:latin typeface="Calibri"/>
                          <a:ea typeface="Calibri"/>
                          <a:cs typeface="Calibri"/>
                          <a:sym typeface="Calibri"/>
                        </a:rPr>
                        <a:t>Fix</a:t>
                      </a:r>
                      <a:endParaRPr sz="1150" u="none" cap="none" strike="noStrike">
                        <a:latin typeface="Calibri"/>
                        <a:ea typeface="Calibri"/>
                        <a:cs typeface="Calibri"/>
                        <a:sym typeface="Calibri"/>
                      </a:endParaRPr>
                    </a:p>
                  </a:txBody>
                  <a:tcPr marT="64000" marB="64000" marR="64000" marL="64000" anchor="ctr">
                    <a:lnL cap="flat" cmpd="sng" w="9525">
                      <a:solidFill>
                        <a:srgbClr val="D9E2EA"/>
                      </a:solidFill>
                      <a:prstDash val="solid"/>
                      <a:round/>
                      <a:headEnd len="sm" w="sm" type="none"/>
                      <a:tailEnd len="sm" w="sm" type="none"/>
                    </a:lnL>
                    <a:lnR cap="flat" cmpd="sng" w="9525">
                      <a:solidFill>
                        <a:srgbClr val="D9E2EA"/>
                      </a:solidFill>
                      <a:prstDash val="solid"/>
                      <a:round/>
                      <a:headEnd len="sm" w="sm" type="none"/>
                      <a:tailEnd len="sm" w="sm" type="none"/>
                    </a:lnR>
                    <a:lnT cap="flat" cmpd="sng" w="9525">
                      <a:solidFill>
                        <a:srgbClr val="D9E2EA"/>
                      </a:solidFill>
                      <a:prstDash val="solid"/>
                      <a:round/>
                      <a:headEnd len="sm" w="sm" type="none"/>
                      <a:tailEnd len="sm" w="sm" type="none"/>
                    </a:lnT>
                    <a:lnB cap="flat" cmpd="sng" w="9525">
                      <a:solidFill>
                        <a:srgbClr val="D9E2EA"/>
                      </a:solidFill>
                      <a:prstDash val="solid"/>
                      <a:round/>
                      <a:headEnd len="sm" w="sm" type="none"/>
                      <a:tailEnd len="sm" w="sm" type="none"/>
                    </a:lnB>
                    <a:solidFill>
                      <a:srgbClr val="1D2A5C"/>
                    </a:solidFill>
                  </a:tcPr>
                </a:tc>
              </a:tr>
              <a:tr h="713225">
                <a:tc>
                  <a:txBody>
                    <a:bodyPr/>
                    <a:lstStyle/>
                    <a:p>
                      <a:pPr indent="0" lvl="0" marL="0" marR="0" rtl="0" algn="l">
                        <a:spcBef>
                          <a:spcPts val="0"/>
                        </a:spcBef>
                        <a:spcAft>
                          <a:spcPts val="0"/>
                        </a:spcAft>
                        <a:buClr>
                          <a:srgbClr val="1D2A5C"/>
                        </a:buClr>
                        <a:buSzPts val="1150"/>
                        <a:buFont typeface="Calibri"/>
                        <a:buNone/>
                      </a:pPr>
                      <a:r>
                        <a:rPr b="1" lang="en-US" sz="1150" u="none" cap="none" strike="noStrike">
                          <a:solidFill>
                            <a:srgbClr val="1D2A5C"/>
                          </a:solidFill>
                          <a:latin typeface="Calibri"/>
                          <a:ea typeface="Calibri"/>
                          <a:cs typeface="Calibri"/>
                          <a:sym typeface="Calibri"/>
                        </a:rPr>
                        <a:t>Grid images look blue/orange</a:t>
                      </a:r>
                      <a:endParaRPr sz="1150" u="none" cap="none" strike="noStrike">
                        <a:latin typeface="Calibri"/>
                        <a:ea typeface="Calibri"/>
                        <a:cs typeface="Calibri"/>
                        <a:sym typeface="Calibri"/>
                      </a:endParaRPr>
                    </a:p>
                  </a:txBody>
                  <a:tcPr marT="64000" marB="64000" marR="64000" marL="64000" anchor="ctr">
                    <a:lnL cap="flat" cmpd="sng" w="9525">
                      <a:solidFill>
                        <a:srgbClr val="D9E2EA"/>
                      </a:solidFill>
                      <a:prstDash val="solid"/>
                      <a:round/>
                      <a:headEnd len="sm" w="sm" type="none"/>
                      <a:tailEnd len="sm" w="sm" type="none"/>
                    </a:lnL>
                    <a:lnR cap="flat" cmpd="sng" w="9525">
                      <a:solidFill>
                        <a:srgbClr val="D9E2EA"/>
                      </a:solidFill>
                      <a:prstDash val="solid"/>
                      <a:round/>
                      <a:headEnd len="sm" w="sm" type="none"/>
                      <a:tailEnd len="sm" w="sm" type="none"/>
                    </a:lnR>
                    <a:lnT cap="flat" cmpd="sng" w="9525">
                      <a:solidFill>
                        <a:srgbClr val="D9E2EA"/>
                      </a:solidFill>
                      <a:prstDash val="solid"/>
                      <a:round/>
                      <a:headEnd len="sm" w="sm" type="none"/>
                      <a:tailEnd len="sm" w="sm" type="none"/>
                    </a:lnT>
                    <a:lnB cap="flat" cmpd="sng" w="9525">
                      <a:solidFill>
                        <a:srgbClr val="D9E2EA"/>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23293B"/>
                        </a:buClr>
                        <a:buSzPts val="1150"/>
                        <a:buFont typeface="Calibri"/>
                        <a:buNone/>
                      </a:pPr>
                      <a:r>
                        <a:rPr lang="en-US" sz="1150" u="none" cap="none" strike="noStrike">
                          <a:solidFill>
                            <a:srgbClr val="23293B"/>
                          </a:solidFill>
                          <a:latin typeface="Calibri"/>
                          <a:ea typeface="Calibri"/>
                          <a:cs typeface="Calibri"/>
                          <a:sym typeface="Calibri"/>
                        </a:rPr>
                        <a:t>BGR not converted</a:t>
                      </a:r>
                      <a:endParaRPr sz="1150" u="none" cap="none" strike="noStrike">
                        <a:latin typeface="Calibri"/>
                        <a:ea typeface="Calibri"/>
                        <a:cs typeface="Calibri"/>
                        <a:sym typeface="Calibri"/>
                      </a:endParaRPr>
                    </a:p>
                  </a:txBody>
                  <a:tcPr marT="64000" marB="64000" marR="64000" marL="64000" anchor="ctr">
                    <a:lnL cap="flat" cmpd="sng" w="9525">
                      <a:solidFill>
                        <a:srgbClr val="D9E2EA"/>
                      </a:solidFill>
                      <a:prstDash val="solid"/>
                      <a:round/>
                      <a:headEnd len="sm" w="sm" type="none"/>
                      <a:tailEnd len="sm" w="sm" type="none"/>
                    </a:lnL>
                    <a:lnR cap="flat" cmpd="sng" w="9525">
                      <a:solidFill>
                        <a:srgbClr val="D9E2EA"/>
                      </a:solidFill>
                      <a:prstDash val="solid"/>
                      <a:round/>
                      <a:headEnd len="sm" w="sm" type="none"/>
                      <a:tailEnd len="sm" w="sm" type="none"/>
                    </a:lnR>
                    <a:lnT cap="flat" cmpd="sng" w="9525">
                      <a:solidFill>
                        <a:srgbClr val="D9E2EA"/>
                      </a:solidFill>
                      <a:prstDash val="solid"/>
                      <a:round/>
                      <a:headEnd len="sm" w="sm" type="none"/>
                      <a:tailEnd len="sm" w="sm" type="none"/>
                    </a:lnT>
                    <a:lnB cap="flat" cmpd="sng" w="9525">
                      <a:solidFill>
                        <a:srgbClr val="D9E2EA"/>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23293B"/>
                        </a:buClr>
                        <a:buSzPts val="1150"/>
                        <a:buFont typeface="Calibri"/>
                        <a:buNone/>
                      </a:pPr>
                      <a:r>
                        <a:rPr lang="en-US" sz="1150" u="none" cap="none" strike="noStrike">
                          <a:solidFill>
                            <a:srgbClr val="23293B"/>
                          </a:solidFill>
                          <a:latin typeface="Calibri"/>
                          <a:ea typeface="Calibri"/>
                          <a:cs typeface="Calibri"/>
                          <a:sym typeface="Calibri"/>
                        </a:rPr>
                        <a:t>cvtColor(..., COLOR_BGR2RGB) at I/O boundary</a:t>
                      </a:r>
                      <a:endParaRPr sz="1150" u="none" cap="none" strike="noStrike">
                        <a:latin typeface="Calibri"/>
                        <a:ea typeface="Calibri"/>
                        <a:cs typeface="Calibri"/>
                        <a:sym typeface="Calibri"/>
                      </a:endParaRPr>
                    </a:p>
                  </a:txBody>
                  <a:tcPr marT="64000" marB="64000" marR="64000" marL="64000" anchor="ctr">
                    <a:lnL cap="flat" cmpd="sng" w="9525">
                      <a:solidFill>
                        <a:srgbClr val="D9E2EA"/>
                      </a:solidFill>
                      <a:prstDash val="solid"/>
                      <a:round/>
                      <a:headEnd len="sm" w="sm" type="none"/>
                      <a:tailEnd len="sm" w="sm" type="none"/>
                    </a:lnL>
                    <a:lnR cap="flat" cmpd="sng" w="9525">
                      <a:solidFill>
                        <a:srgbClr val="D9E2EA"/>
                      </a:solidFill>
                      <a:prstDash val="solid"/>
                      <a:round/>
                      <a:headEnd len="sm" w="sm" type="none"/>
                      <a:tailEnd len="sm" w="sm" type="none"/>
                    </a:lnR>
                    <a:lnT cap="flat" cmpd="sng" w="9525">
                      <a:solidFill>
                        <a:srgbClr val="D9E2EA"/>
                      </a:solidFill>
                      <a:prstDash val="solid"/>
                      <a:round/>
                      <a:headEnd len="sm" w="sm" type="none"/>
                      <a:tailEnd len="sm" w="sm" type="none"/>
                    </a:lnT>
                    <a:lnB cap="flat" cmpd="sng" w="9525">
                      <a:solidFill>
                        <a:srgbClr val="D9E2EA"/>
                      </a:solidFill>
                      <a:prstDash val="solid"/>
                      <a:round/>
                      <a:headEnd len="sm" w="sm" type="none"/>
                      <a:tailEnd len="sm" w="sm" type="none"/>
                    </a:lnB>
                    <a:solidFill>
                      <a:srgbClr val="FFFFFF"/>
                    </a:solidFill>
                  </a:tcPr>
                </a:tc>
              </a:tr>
              <a:tr h="713225">
                <a:tc>
                  <a:txBody>
                    <a:bodyPr/>
                    <a:lstStyle/>
                    <a:p>
                      <a:pPr indent="0" lvl="0" marL="0" marR="0" rtl="0" algn="l">
                        <a:spcBef>
                          <a:spcPts val="0"/>
                        </a:spcBef>
                        <a:spcAft>
                          <a:spcPts val="0"/>
                        </a:spcAft>
                        <a:buClr>
                          <a:srgbClr val="1D2A5C"/>
                        </a:buClr>
                        <a:buSzPts val="1150"/>
                        <a:buFont typeface="Calibri"/>
                        <a:buNone/>
                      </a:pPr>
                      <a:r>
                        <a:rPr b="1" lang="en-US" sz="1150" u="none" cap="none" strike="noStrike">
                          <a:solidFill>
                            <a:srgbClr val="1D2A5C"/>
                          </a:solidFill>
                          <a:latin typeface="Calibri"/>
                          <a:ea typeface="Calibri"/>
                          <a:cs typeface="Calibri"/>
                          <a:sym typeface="Calibri"/>
                        </a:rPr>
                        <a:t>Throughput stuck at ~120 img/s</a:t>
                      </a:r>
                      <a:endParaRPr sz="1150" u="none" cap="none" strike="noStrike">
                        <a:latin typeface="Calibri"/>
                        <a:ea typeface="Calibri"/>
                        <a:cs typeface="Calibri"/>
                        <a:sym typeface="Calibri"/>
                      </a:endParaRPr>
                    </a:p>
                  </a:txBody>
                  <a:tcPr marT="64000" marB="64000" marR="64000" marL="64000" anchor="ctr">
                    <a:lnL cap="flat" cmpd="sng" w="9525">
                      <a:solidFill>
                        <a:srgbClr val="D9E2EA"/>
                      </a:solidFill>
                      <a:prstDash val="solid"/>
                      <a:round/>
                      <a:headEnd len="sm" w="sm" type="none"/>
                      <a:tailEnd len="sm" w="sm" type="none"/>
                    </a:lnL>
                    <a:lnR cap="flat" cmpd="sng" w="9525">
                      <a:solidFill>
                        <a:srgbClr val="D9E2EA"/>
                      </a:solidFill>
                      <a:prstDash val="solid"/>
                      <a:round/>
                      <a:headEnd len="sm" w="sm" type="none"/>
                      <a:tailEnd len="sm" w="sm" type="none"/>
                    </a:lnR>
                    <a:lnT cap="flat" cmpd="sng" w="9525">
                      <a:solidFill>
                        <a:srgbClr val="D9E2EA"/>
                      </a:solidFill>
                      <a:prstDash val="solid"/>
                      <a:round/>
                      <a:headEnd len="sm" w="sm" type="none"/>
                      <a:tailEnd len="sm" w="sm" type="none"/>
                    </a:lnT>
                    <a:lnB cap="flat" cmpd="sng" w="9525">
                      <a:solidFill>
                        <a:srgbClr val="D9E2EA"/>
                      </a:solidFill>
                      <a:prstDash val="solid"/>
                      <a:round/>
                      <a:headEnd len="sm" w="sm" type="none"/>
                      <a:tailEnd len="sm" w="sm" type="none"/>
                    </a:lnB>
                    <a:solidFill>
                      <a:srgbClr val="F2F6F9"/>
                    </a:solidFill>
                  </a:tcPr>
                </a:tc>
                <a:tc>
                  <a:txBody>
                    <a:bodyPr/>
                    <a:lstStyle/>
                    <a:p>
                      <a:pPr indent="0" lvl="0" marL="0" marR="0" rtl="0" algn="l">
                        <a:spcBef>
                          <a:spcPts val="0"/>
                        </a:spcBef>
                        <a:spcAft>
                          <a:spcPts val="0"/>
                        </a:spcAft>
                        <a:buClr>
                          <a:srgbClr val="23293B"/>
                        </a:buClr>
                        <a:buSzPts val="1150"/>
                        <a:buFont typeface="Calibri"/>
                        <a:buNone/>
                      </a:pPr>
                      <a:r>
                        <a:rPr lang="en-US" sz="1150" u="none" cap="none" strike="noStrike">
                          <a:solidFill>
                            <a:srgbClr val="23293B"/>
                          </a:solidFill>
                          <a:latin typeface="Calibri"/>
                          <a:ea typeface="Calibri"/>
                          <a:cs typeface="Calibri"/>
                          <a:sym typeface="Calibri"/>
                        </a:rPr>
                        <a:t>num_workers=0 (the default)</a:t>
                      </a:r>
                      <a:endParaRPr sz="1150" u="none" cap="none" strike="noStrike">
                        <a:latin typeface="Calibri"/>
                        <a:ea typeface="Calibri"/>
                        <a:cs typeface="Calibri"/>
                        <a:sym typeface="Calibri"/>
                      </a:endParaRPr>
                    </a:p>
                  </a:txBody>
                  <a:tcPr marT="64000" marB="64000" marR="64000" marL="64000" anchor="ctr">
                    <a:lnL cap="flat" cmpd="sng" w="9525">
                      <a:solidFill>
                        <a:srgbClr val="D9E2EA"/>
                      </a:solidFill>
                      <a:prstDash val="solid"/>
                      <a:round/>
                      <a:headEnd len="sm" w="sm" type="none"/>
                      <a:tailEnd len="sm" w="sm" type="none"/>
                    </a:lnL>
                    <a:lnR cap="flat" cmpd="sng" w="9525">
                      <a:solidFill>
                        <a:srgbClr val="D9E2EA"/>
                      </a:solidFill>
                      <a:prstDash val="solid"/>
                      <a:round/>
                      <a:headEnd len="sm" w="sm" type="none"/>
                      <a:tailEnd len="sm" w="sm" type="none"/>
                    </a:lnR>
                    <a:lnT cap="flat" cmpd="sng" w="9525">
                      <a:solidFill>
                        <a:srgbClr val="D9E2EA"/>
                      </a:solidFill>
                      <a:prstDash val="solid"/>
                      <a:round/>
                      <a:headEnd len="sm" w="sm" type="none"/>
                      <a:tailEnd len="sm" w="sm" type="none"/>
                    </a:lnT>
                    <a:lnB cap="flat" cmpd="sng" w="9525">
                      <a:solidFill>
                        <a:srgbClr val="D9E2EA"/>
                      </a:solidFill>
                      <a:prstDash val="solid"/>
                      <a:round/>
                      <a:headEnd len="sm" w="sm" type="none"/>
                      <a:tailEnd len="sm" w="sm" type="none"/>
                    </a:lnB>
                    <a:solidFill>
                      <a:srgbClr val="F2F6F9"/>
                    </a:solidFill>
                  </a:tcPr>
                </a:tc>
                <a:tc>
                  <a:txBody>
                    <a:bodyPr/>
                    <a:lstStyle/>
                    <a:p>
                      <a:pPr indent="0" lvl="0" marL="0" marR="0" rtl="0" algn="l">
                        <a:spcBef>
                          <a:spcPts val="0"/>
                        </a:spcBef>
                        <a:spcAft>
                          <a:spcPts val="0"/>
                        </a:spcAft>
                        <a:buClr>
                          <a:srgbClr val="23293B"/>
                        </a:buClr>
                        <a:buSzPts val="1150"/>
                        <a:buFont typeface="Calibri"/>
                        <a:buNone/>
                      </a:pPr>
                      <a:r>
                        <a:rPr lang="en-US" sz="1150" u="none" cap="none" strike="noStrike">
                          <a:solidFill>
                            <a:srgbClr val="23293B"/>
                          </a:solidFill>
                          <a:latin typeface="Calibri"/>
                          <a:ea typeface="Calibri"/>
                          <a:cs typeface="Calibri"/>
                          <a:sym typeface="Calibri"/>
                        </a:rPr>
                        <a:t>Raise workers; Windows: __main__ guard</a:t>
                      </a:r>
                      <a:endParaRPr sz="1150" u="none" cap="none" strike="noStrike">
                        <a:latin typeface="Calibri"/>
                        <a:ea typeface="Calibri"/>
                        <a:cs typeface="Calibri"/>
                        <a:sym typeface="Calibri"/>
                      </a:endParaRPr>
                    </a:p>
                  </a:txBody>
                  <a:tcPr marT="64000" marB="64000" marR="64000" marL="64000" anchor="ctr">
                    <a:lnL cap="flat" cmpd="sng" w="9525">
                      <a:solidFill>
                        <a:srgbClr val="D9E2EA"/>
                      </a:solidFill>
                      <a:prstDash val="solid"/>
                      <a:round/>
                      <a:headEnd len="sm" w="sm" type="none"/>
                      <a:tailEnd len="sm" w="sm" type="none"/>
                    </a:lnL>
                    <a:lnR cap="flat" cmpd="sng" w="9525">
                      <a:solidFill>
                        <a:srgbClr val="D9E2EA"/>
                      </a:solidFill>
                      <a:prstDash val="solid"/>
                      <a:round/>
                      <a:headEnd len="sm" w="sm" type="none"/>
                      <a:tailEnd len="sm" w="sm" type="none"/>
                    </a:lnR>
                    <a:lnT cap="flat" cmpd="sng" w="9525">
                      <a:solidFill>
                        <a:srgbClr val="D9E2EA"/>
                      </a:solidFill>
                      <a:prstDash val="solid"/>
                      <a:round/>
                      <a:headEnd len="sm" w="sm" type="none"/>
                      <a:tailEnd len="sm" w="sm" type="none"/>
                    </a:lnT>
                    <a:lnB cap="flat" cmpd="sng" w="9525">
                      <a:solidFill>
                        <a:srgbClr val="D9E2EA"/>
                      </a:solidFill>
                      <a:prstDash val="solid"/>
                      <a:round/>
                      <a:headEnd len="sm" w="sm" type="none"/>
                      <a:tailEnd len="sm" w="sm" type="none"/>
                    </a:lnB>
                    <a:solidFill>
                      <a:srgbClr val="F2F6F9"/>
                    </a:solidFill>
                  </a:tcPr>
                </a:tc>
              </a:tr>
              <a:tr h="713225">
                <a:tc>
                  <a:txBody>
                    <a:bodyPr/>
                    <a:lstStyle/>
                    <a:p>
                      <a:pPr indent="0" lvl="0" marL="0" marR="0" rtl="0" algn="l">
                        <a:spcBef>
                          <a:spcPts val="0"/>
                        </a:spcBef>
                        <a:spcAft>
                          <a:spcPts val="0"/>
                        </a:spcAft>
                        <a:buClr>
                          <a:srgbClr val="1D2A5C"/>
                        </a:buClr>
                        <a:buSzPts val="1150"/>
                        <a:buFont typeface="Calibri"/>
                        <a:buNone/>
                      </a:pPr>
                      <a:r>
                        <a:rPr b="1" lang="en-US" sz="1150" u="none" cap="none" strike="noStrike">
                          <a:solidFill>
                            <a:srgbClr val="1D2A5C"/>
                          </a:solidFill>
                          <a:latin typeface="Calibri"/>
                          <a:ea typeface="Calibri"/>
                          <a:cs typeface="Calibri"/>
                          <a:sym typeface="Calibri"/>
                        </a:rPr>
                        <a:t>Normalize error: expected float</a:t>
                      </a:r>
                      <a:endParaRPr sz="1150" u="none" cap="none" strike="noStrike">
                        <a:latin typeface="Calibri"/>
                        <a:ea typeface="Calibri"/>
                        <a:cs typeface="Calibri"/>
                        <a:sym typeface="Calibri"/>
                      </a:endParaRPr>
                    </a:p>
                  </a:txBody>
                  <a:tcPr marT="64000" marB="64000" marR="64000" marL="64000" anchor="ctr">
                    <a:lnL cap="flat" cmpd="sng" w="9525">
                      <a:solidFill>
                        <a:srgbClr val="D9E2EA"/>
                      </a:solidFill>
                      <a:prstDash val="solid"/>
                      <a:round/>
                      <a:headEnd len="sm" w="sm" type="none"/>
                      <a:tailEnd len="sm" w="sm" type="none"/>
                    </a:lnL>
                    <a:lnR cap="flat" cmpd="sng" w="9525">
                      <a:solidFill>
                        <a:srgbClr val="D9E2EA"/>
                      </a:solidFill>
                      <a:prstDash val="solid"/>
                      <a:round/>
                      <a:headEnd len="sm" w="sm" type="none"/>
                      <a:tailEnd len="sm" w="sm" type="none"/>
                    </a:lnR>
                    <a:lnT cap="flat" cmpd="sng" w="9525">
                      <a:solidFill>
                        <a:srgbClr val="D9E2EA"/>
                      </a:solidFill>
                      <a:prstDash val="solid"/>
                      <a:round/>
                      <a:headEnd len="sm" w="sm" type="none"/>
                      <a:tailEnd len="sm" w="sm" type="none"/>
                    </a:lnT>
                    <a:lnB cap="flat" cmpd="sng" w="9525">
                      <a:solidFill>
                        <a:srgbClr val="D9E2EA"/>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23293B"/>
                        </a:buClr>
                        <a:buSzPts val="1150"/>
                        <a:buFont typeface="Calibri"/>
                        <a:buNone/>
                      </a:pPr>
                      <a:r>
                        <a:rPr lang="en-US" sz="1150" u="none" cap="none" strike="noStrike">
                          <a:solidFill>
                            <a:srgbClr val="23293B"/>
                          </a:solidFill>
                          <a:latin typeface="Calibri"/>
                          <a:ea typeface="Calibri"/>
                          <a:cs typeface="Calibri"/>
                          <a:sym typeface="Calibri"/>
                        </a:rPr>
                        <a:t>ToDtype missing / order wrong</a:t>
                      </a:r>
                      <a:endParaRPr sz="1150" u="none" cap="none" strike="noStrike">
                        <a:latin typeface="Calibri"/>
                        <a:ea typeface="Calibri"/>
                        <a:cs typeface="Calibri"/>
                        <a:sym typeface="Calibri"/>
                      </a:endParaRPr>
                    </a:p>
                  </a:txBody>
                  <a:tcPr marT="64000" marB="64000" marR="64000" marL="64000" anchor="ctr">
                    <a:lnL cap="flat" cmpd="sng" w="9525">
                      <a:solidFill>
                        <a:srgbClr val="D9E2EA"/>
                      </a:solidFill>
                      <a:prstDash val="solid"/>
                      <a:round/>
                      <a:headEnd len="sm" w="sm" type="none"/>
                      <a:tailEnd len="sm" w="sm" type="none"/>
                    </a:lnL>
                    <a:lnR cap="flat" cmpd="sng" w="9525">
                      <a:solidFill>
                        <a:srgbClr val="D9E2EA"/>
                      </a:solidFill>
                      <a:prstDash val="solid"/>
                      <a:round/>
                      <a:headEnd len="sm" w="sm" type="none"/>
                      <a:tailEnd len="sm" w="sm" type="none"/>
                    </a:lnR>
                    <a:lnT cap="flat" cmpd="sng" w="9525">
                      <a:solidFill>
                        <a:srgbClr val="D9E2EA"/>
                      </a:solidFill>
                      <a:prstDash val="solid"/>
                      <a:round/>
                      <a:headEnd len="sm" w="sm" type="none"/>
                      <a:tailEnd len="sm" w="sm" type="none"/>
                    </a:lnT>
                    <a:lnB cap="flat" cmpd="sng" w="9525">
                      <a:solidFill>
                        <a:srgbClr val="D9E2EA"/>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23293B"/>
                        </a:buClr>
                        <a:buSzPts val="1150"/>
                        <a:buFont typeface="Calibri"/>
                        <a:buNone/>
                      </a:pPr>
                      <a:r>
                        <a:rPr lang="en-US" sz="1150" u="none" cap="none" strike="noStrike">
                          <a:solidFill>
                            <a:srgbClr val="23293B"/>
                          </a:solidFill>
                          <a:latin typeface="Calibri"/>
                          <a:ea typeface="Calibri"/>
                          <a:cs typeface="Calibri"/>
                          <a:sym typeface="Calibri"/>
                        </a:rPr>
                        <a:t>Convert dtype before Normalize</a:t>
                      </a:r>
                      <a:endParaRPr sz="1150" u="none" cap="none" strike="noStrike">
                        <a:latin typeface="Calibri"/>
                        <a:ea typeface="Calibri"/>
                        <a:cs typeface="Calibri"/>
                        <a:sym typeface="Calibri"/>
                      </a:endParaRPr>
                    </a:p>
                  </a:txBody>
                  <a:tcPr marT="64000" marB="64000" marR="64000" marL="64000" anchor="ctr">
                    <a:lnL cap="flat" cmpd="sng" w="9525">
                      <a:solidFill>
                        <a:srgbClr val="D9E2EA"/>
                      </a:solidFill>
                      <a:prstDash val="solid"/>
                      <a:round/>
                      <a:headEnd len="sm" w="sm" type="none"/>
                      <a:tailEnd len="sm" w="sm" type="none"/>
                    </a:lnL>
                    <a:lnR cap="flat" cmpd="sng" w="9525">
                      <a:solidFill>
                        <a:srgbClr val="D9E2EA"/>
                      </a:solidFill>
                      <a:prstDash val="solid"/>
                      <a:round/>
                      <a:headEnd len="sm" w="sm" type="none"/>
                      <a:tailEnd len="sm" w="sm" type="none"/>
                    </a:lnR>
                    <a:lnT cap="flat" cmpd="sng" w="9525">
                      <a:solidFill>
                        <a:srgbClr val="D9E2EA"/>
                      </a:solidFill>
                      <a:prstDash val="solid"/>
                      <a:round/>
                      <a:headEnd len="sm" w="sm" type="none"/>
                      <a:tailEnd len="sm" w="sm" type="none"/>
                    </a:lnT>
                    <a:lnB cap="flat" cmpd="sng" w="9525">
                      <a:solidFill>
                        <a:srgbClr val="D9E2EA"/>
                      </a:solidFill>
                      <a:prstDash val="solid"/>
                      <a:round/>
                      <a:headEnd len="sm" w="sm" type="none"/>
                      <a:tailEnd len="sm" w="sm" type="none"/>
                    </a:lnB>
                    <a:solidFill>
                      <a:srgbClr val="FFFFFF"/>
                    </a:solidFill>
                  </a:tcPr>
                </a:tc>
              </a:tr>
              <a:tr h="713225">
                <a:tc>
                  <a:txBody>
                    <a:bodyPr/>
                    <a:lstStyle/>
                    <a:p>
                      <a:pPr indent="0" lvl="0" marL="0" marR="0" rtl="0" algn="l">
                        <a:spcBef>
                          <a:spcPts val="0"/>
                        </a:spcBef>
                        <a:spcAft>
                          <a:spcPts val="0"/>
                        </a:spcAft>
                        <a:buClr>
                          <a:srgbClr val="1D2A5C"/>
                        </a:buClr>
                        <a:buSzPts val="1150"/>
                        <a:buFont typeface="Calibri"/>
                        <a:buNone/>
                      </a:pPr>
                      <a:r>
                        <a:rPr b="1" lang="en-US" sz="1150" u="none" cap="none" strike="noStrike">
                          <a:solidFill>
                            <a:srgbClr val="1D2A5C"/>
                          </a:solidFill>
                          <a:latin typeface="Calibri"/>
                          <a:ea typeface="Calibri"/>
                          <a:cs typeface="Calibri"/>
                          <a:sym typeface="Calibri"/>
                        </a:rPr>
                        <a:t>Val metrics change run-to-run</a:t>
                      </a:r>
                      <a:endParaRPr sz="1150" u="none" cap="none" strike="noStrike">
                        <a:latin typeface="Calibri"/>
                        <a:ea typeface="Calibri"/>
                        <a:cs typeface="Calibri"/>
                        <a:sym typeface="Calibri"/>
                      </a:endParaRPr>
                    </a:p>
                  </a:txBody>
                  <a:tcPr marT="64000" marB="64000" marR="64000" marL="64000" anchor="ctr">
                    <a:lnL cap="flat" cmpd="sng" w="9525">
                      <a:solidFill>
                        <a:srgbClr val="D9E2EA"/>
                      </a:solidFill>
                      <a:prstDash val="solid"/>
                      <a:round/>
                      <a:headEnd len="sm" w="sm" type="none"/>
                      <a:tailEnd len="sm" w="sm" type="none"/>
                    </a:lnL>
                    <a:lnR cap="flat" cmpd="sng" w="9525">
                      <a:solidFill>
                        <a:srgbClr val="D9E2EA"/>
                      </a:solidFill>
                      <a:prstDash val="solid"/>
                      <a:round/>
                      <a:headEnd len="sm" w="sm" type="none"/>
                      <a:tailEnd len="sm" w="sm" type="none"/>
                    </a:lnR>
                    <a:lnT cap="flat" cmpd="sng" w="9525">
                      <a:solidFill>
                        <a:srgbClr val="D9E2EA"/>
                      </a:solidFill>
                      <a:prstDash val="solid"/>
                      <a:round/>
                      <a:headEnd len="sm" w="sm" type="none"/>
                      <a:tailEnd len="sm" w="sm" type="none"/>
                    </a:lnT>
                    <a:lnB cap="flat" cmpd="sng" w="9525">
                      <a:solidFill>
                        <a:srgbClr val="D9E2EA"/>
                      </a:solidFill>
                      <a:prstDash val="solid"/>
                      <a:round/>
                      <a:headEnd len="sm" w="sm" type="none"/>
                      <a:tailEnd len="sm" w="sm" type="none"/>
                    </a:lnB>
                    <a:solidFill>
                      <a:srgbClr val="F2F6F9"/>
                    </a:solidFill>
                  </a:tcPr>
                </a:tc>
                <a:tc>
                  <a:txBody>
                    <a:bodyPr/>
                    <a:lstStyle/>
                    <a:p>
                      <a:pPr indent="0" lvl="0" marL="0" marR="0" rtl="0" algn="l">
                        <a:spcBef>
                          <a:spcPts val="0"/>
                        </a:spcBef>
                        <a:spcAft>
                          <a:spcPts val="0"/>
                        </a:spcAft>
                        <a:buClr>
                          <a:srgbClr val="23293B"/>
                        </a:buClr>
                        <a:buSzPts val="1150"/>
                        <a:buFont typeface="Calibri"/>
                        <a:buNone/>
                      </a:pPr>
                      <a:r>
                        <a:rPr lang="en-US" sz="1150" u="none" cap="none" strike="noStrike">
                          <a:solidFill>
                            <a:srgbClr val="23293B"/>
                          </a:solidFill>
                          <a:latin typeface="Calibri"/>
                          <a:ea typeface="Calibri"/>
                          <a:cs typeface="Calibri"/>
                          <a:sym typeface="Calibri"/>
                        </a:rPr>
                        <a:t>Augmentation applied to val</a:t>
                      </a:r>
                      <a:endParaRPr sz="1150" u="none" cap="none" strike="noStrike">
                        <a:latin typeface="Calibri"/>
                        <a:ea typeface="Calibri"/>
                        <a:cs typeface="Calibri"/>
                        <a:sym typeface="Calibri"/>
                      </a:endParaRPr>
                    </a:p>
                  </a:txBody>
                  <a:tcPr marT="64000" marB="64000" marR="64000" marL="64000" anchor="ctr">
                    <a:lnL cap="flat" cmpd="sng" w="9525">
                      <a:solidFill>
                        <a:srgbClr val="D9E2EA"/>
                      </a:solidFill>
                      <a:prstDash val="solid"/>
                      <a:round/>
                      <a:headEnd len="sm" w="sm" type="none"/>
                      <a:tailEnd len="sm" w="sm" type="none"/>
                    </a:lnL>
                    <a:lnR cap="flat" cmpd="sng" w="9525">
                      <a:solidFill>
                        <a:srgbClr val="D9E2EA"/>
                      </a:solidFill>
                      <a:prstDash val="solid"/>
                      <a:round/>
                      <a:headEnd len="sm" w="sm" type="none"/>
                      <a:tailEnd len="sm" w="sm" type="none"/>
                    </a:lnR>
                    <a:lnT cap="flat" cmpd="sng" w="9525">
                      <a:solidFill>
                        <a:srgbClr val="D9E2EA"/>
                      </a:solidFill>
                      <a:prstDash val="solid"/>
                      <a:round/>
                      <a:headEnd len="sm" w="sm" type="none"/>
                      <a:tailEnd len="sm" w="sm" type="none"/>
                    </a:lnT>
                    <a:lnB cap="flat" cmpd="sng" w="9525">
                      <a:solidFill>
                        <a:srgbClr val="D9E2EA"/>
                      </a:solidFill>
                      <a:prstDash val="solid"/>
                      <a:round/>
                      <a:headEnd len="sm" w="sm" type="none"/>
                      <a:tailEnd len="sm" w="sm" type="none"/>
                    </a:lnB>
                    <a:solidFill>
                      <a:srgbClr val="F2F6F9"/>
                    </a:solidFill>
                  </a:tcPr>
                </a:tc>
                <a:tc>
                  <a:txBody>
                    <a:bodyPr/>
                    <a:lstStyle/>
                    <a:p>
                      <a:pPr indent="0" lvl="0" marL="0" marR="0" rtl="0" algn="l">
                        <a:spcBef>
                          <a:spcPts val="0"/>
                        </a:spcBef>
                        <a:spcAft>
                          <a:spcPts val="0"/>
                        </a:spcAft>
                        <a:buClr>
                          <a:srgbClr val="23293B"/>
                        </a:buClr>
                        <a:buSzPts val="1150"/>
                        <a:buFont typeface="Calibri"/>
                        <a:buNone/>
                      </a:pPr>
                      <a:r>
                        <a:rPr lang="en-US" sz="1150" u="none" cap="none" strike="noStrike">
                          <a:solidFill>
                            <a:srgbClr val="23293B"/>
                          </a:solidFill>
                          <a:latin typeface="Calibri"/>
                          <a:ea typeface="Calibri"/>
                          <a:cs typeface="Calibri"/>
                          <a:sym typeface="Calibri"/>
                        </a:rPr>
                        <a:t>Use eval_tf() for val/test loaders</a:t>
                      </a:r>
                      <a:endParaRPr sz="1150" u="none" cap="none" strike="noStrike">
                        <a:latin typeface="Calibri"/>
                        <a:ea typeface="Calibri"/>
                        <a:cs typeface="Calibri"/>
                        <a:sym typeface="Calibri"/>
                      </a:endParaRPr>
                    </a:p>
                  </a:txBody>
                  <a:tcPr marT="64000" marB="64000" marR="64000" marL="64000" anchor="ctr">
                    <a:lnL cap="flat" cmpd="sng" w="9525">
                      <a:solidFill>
                        <a:srgbClr val="D9E2EA"/>
                      </a:solidFill>
                      <a:prstDash val="solid"/>
                      <a:round/>
                      <a:headEnd len="sm" w="sm" type="none"/>
                      <a:tailEnd len="sm" w="sm" type="none"/>
                    </a:lnL>
                    <a:lnR cap="flat" cmpd="sng" w="9525">
                      <a:solidFill>
                        <a:srgbClr val="D9E2EA"/>
                      </a:solidFill>
                      <a:prstDash val="solid"/>
                      <a:round/>
                      <a:headEnd len="sm" w="sm" type="none"/>
                      <a:tailEnd len="sm" w="sm" type="none"/>
                    </a:lnR>
                    <a:lnT cap="flat" cmpd="sng" w="9525">
                      <a:solidFill>
                        <a:srgbClr val="D9E2EA"/>
                      </a:solidFill>
                      <a:prstDash val="solid"/>
                      <a:round/>
                      <a:headEnd len="sm" w="sm" type="none"/>
                      <a:tailEnd len="sm" w="sm" type="none"/>
                    </a:lnT>
                    <a:lnB cap="flat" cmpd="sng" w="9525">
                      <a:solidFill>
                        <a:srgbClr val="D9E2EA"/>
                      </a:solidFill>
                      <a:prstDash val="solid"/>
                      <a:round/>
                      <a:headEnd len="sm" w="sm" type="none"/>
                      <a:tailEnd len="sm" w="sm" type="none"/>
                    </a:lnB>
                    <a:solidFill>
                      <a:srgbClr val="F2F6F9"/>
                    </a:solidFill>
                  </a:tcPr>
                </a:tc>
              </a:tr>
            </a:tbl>
          </a:graphicData>
        </a:graphic>
      </p:graphicFrame>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775" name="Shape 775"/>
        <p:cNvGrpSpPr/>
        <p:nvPr/>
      </p:nvGrpSpPr>
      <p:grpSpPr>
        <a:xfrm>
          <a:off x="0" y="0"/>
          <a:ext cx="0" cy="0"/>
          <a:chOff x="0" y="0"/>
          <a:chExt cx="0" cy="0"/>
        </a:xfrm>
      </p:grpSpPr>
      <p:sp>
        <p:nvSpPr>
          <p:cNvPr id="776" name="Google Shape;776;p26"/>
          <p:cNvSpPr/>
          <p:nvPr/>
        </p:nvSpPr>
        <p:spPr>
          <a:xfrm>
            <a:off x="502920" y="274320"/>
            <a:ext cx="9646920" cy="56692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D2A5C"/>
              </a:buClr>
              <a:buSzPts val="2700"/>
              <a:buFont typeface="Calibri"/>
              <a:buNone/>
            </a:pPr>
            <a:r>
              <a:rPr b="1" i="0" lang="en-US" sz="2700" u="none" cap="none" strike="noStrike">
                <a:solidFill>
                  <a:srgbClr val="1D2A5C"/>
                </a:solidFill>
                <a:latin typeface="Calibri"/>
                <a:ea typeface="Calibri"/>
                <a:cs typeface="Calibri"/>
                <a:sym typeface="Calibri"/>
              </a:rPr>
              <a:t>Module 1 quiz</a:t>
            </a:r>
            <a:endParaRPr b="0" i="0" sz="2700" u="none" cap="none" strike="noStrike">
              <a:solidFill>
                <a:schemeClr val="dk1"/>
              </a:solidFill>
              <a:latin typeface="Calibri"/>
              <a:ea typeface="Calibri"/>
              <a:cs typeface="Calibri"/>
              <a:sym typeface="Calibri"/>
            </a:endParaRPr>
          </a:p>
        </p:txBody>
      </p:sp>
      <p:sp>
        <p:nvSpPr>
          <p:cNvPr id="777" name="Google Shape;777;p26"/>
          <p:cNvSpPr/>
          <p:nvPr/>
        </p:nvSpPr>
        <p:spPr>
          <a:xfrm>
            <a:off x="502920" y="859536"/>
            <a:ext cx="9646920" cy="31089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F6B7A"/>
              </a:buClr>
              <a:buSzPts val="1250"/>
              <a:buFont typeface="Arial"/>
              <a:buNone/>
            </a:pPr>
            <a:r>
              <a:rPr b="0" i="0" lang="en-US" sz="1250" u="none" cap="none" strike="noStrike">
                <a:solidFill>
                  <a:srgbClr val="5F6B7A"/>
                </a:solidFill>
                <a:latin typeface="Arial"/>
                <a:ea typeface="Arial"/>
                <a:cs typeface="Arial"/>
                <a:sym typeface="Arial"/>
              </a:rPr>
              <a:t>اختبار الوحدة الأولى</a:t>
            </a:r>
            <a:endParaRPr b="0" i="0" sz="1250" u="none" cap="none" strike="noStrike">
              <a:solidFill>
                <a:schemeClr val="dk1"/>
              </a:solidFill>
              <a:latin typeface="Calibri"/>
              <a:ea typeface="Calibri"/>
              <a:cs typeface="Calibri"/>
              <a:sym typeface="Calibri"/>
            </a:endParaRPr>
          </a:p>
        </p:txBody>
      </p:sp>
      <p:pic>
        <p:nvPicPr>
          <p:cNvPr descr="/sessions/blissful-determined-ritchie/build/assets/sdaia_logo.png" id="778" name="Google Shape;778;p26"/>
          <p:cNvPicPr preferRelativeResize="0"/>
          <p:nvPr/>
        </p:nvPicPr>
        <p:blipFill rotWithShape="1">
          <a:blip r:embed="rId3">
            <a:alphaModFix/>
          </a:blip>
          <a:srcRect b="0" l="0" r="0" t="0"/>
          <a:stretch/>
        </p:blipFill>
        <p:spPr>
          <a:xfrm>
            <a:off x="10625328" y="310896"/>
            <a:ext cx="1078992" cy="264111"/>
          </a:xfrm>
          <a:prstGeom prst="rect">
            <a:avLst/>
          </a:prstGeom>
          <a:noFill/>
          <a:ln>
            <a:noFill/>
          </a:ln>
        </p:spPr>
      </p:pic>
      <p:sp>
        <p:nvSpPr>
          <p:cNvPr id="779" name="Google Shape;779;p26"/>
          <p:cNvSpPr/>
          <p:nvPr/>
        </p:nvSpPr>
        <p:spPr>
          <a:xfrm>
            <a:off x="502920" y="6528816"/>
            <a:ext cx="8686800"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A79D"/>
              </a:buClr>
              <a:buSzPts val="800"/>
              <a:buFont typeface="Calibri"/>
              <a:buNone/>
            </a:pPr>
            <a:r>
              <a:rPr b="1" i="0" lang="en-US" sz="800" u="none" cap="none" strike="noStrike">
                <a:solidFill>
                  <a:srgbClr val="00A79D"/>
                </a:solidFill>
                <a:latin typeface="Calibri"/>
                <a:ea typeface="Calibri"/>
                <a:cs typeface="Calibri"/>
                <a:sym typeface="Calibri"/>
              </a:rPr>
              <a:t>MODULE 1 · QUIZ   </a:t>
            </a:r>
            <a:r>
              <a:rPr b="0" i="0" lang="en-US" sz="800" u="none" cap="none" strike="noStrike">
                <a:solidFill>
                  <a:srgbClr val="8A96A6"/>
                </a:solidFill>
                <a:latin typeface="Calibri"/>
                <a:ea typeface="Calibri"/>
                <a:cs typeface="Calibri"/>
                <a:sym typeface="Calibri"/>
              </a:rPr>
              <a:t>SDA-AIE-212 · Computer Vision Systems Development</a:t>
            </a:r>
            <a:endParaRPr b="0" i="0" sz="800" u="none" cap="none" strike="noStrike">
              <a:solidFill>
                <a:schemeClr val="dk1"/>
              </a:solidFill>
              <a:latin typeface="Calibri"/>
              <a:ea typeface="Calibri"/>
              <a:cs typeface="Calibri"/>
              <a:sym typeface="Calibri"/>
            </a:endParaRPr>
          </a:p>
        </p:txBody>
      </p:sp>
      <p:sp>
        <p:nvSpPr>
          <p:cNvPr id="780" name="Google Shape;780;p26"/>
          <p:cNvSpPr/>
          <p:nvPr/>
        </p:nvSpPr>
        <p:spPr>
          <a:xfrm>
            <a:off x="11292840" y="6528816"/>
            <a:ext cx="411480" cy="219456"/>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8A96A6"/>
              </a:buClr>
              <a:buSzPts val="900"/>
              <a:buFont typeface="Calibri"/>
              <a:buNone/>
            </a:pPr>
            <a:r>
              <a:rPr b="0" i="0" lang="en-US" sz="900" u="none" cap="none" strike="noStrike">
                <a:solidFill>
                  <a:srgbClr val="8A96A6"/>
                </a:solidFill>
                <a:latin typeface="Calibri"/>
                <a:ea typeface="Calibri"/>
                <a:cs typeface="Calibri"/>
                <a:sym typeface="Calibri"/>
              </a:rPr>
              <a:t>26</a:t>
            </a:r>
            <a:endParaRPr b="0" i="0" sz="900" u="none" cap="none" strike="noStrike">
              <a:solidFill>
                <a:schemeClr val="dk1"/>
              </a:solidFill>
              <a:latin typeface="Calibri"/>
              <a:ea typeface="Calibri"/>
              <a:cs typeface="Calibri"/>
              <a:sym typeface="Calibri"/>
            </a:endParaRPr>
          </a:p>
        </p:txBody>
      </p:sp>
      <p:sp>
        <p:nvSpPr>
          <p:cNvPr id="781" name="Google Shape;781;p26"/>
          <p:cNvSpPr/>
          <p:nvPr/>
        </p:nvSpPr>
        <p:spPr>
          <a:xfrm>
            <a:off x="502920" y="1417320"/>
            <a:ext cx="11183112" cy="801014"/>
          </a:xfrm>
          <a:prstGeom prst="roundRect">
            <a:avLst>
              <a:gd fmla="val 9132" name="adj"/>
            </a:avLst>
          </a:prstGeom>
          <a:solidFill>
            <a:srgbClr val="F2F6F9"/>
          </a:solidFill>
          <a:ln cap="flat" cmpd="sng" w="9525">
            <a:solidFill>
              <a:srgbClr val="D9E2E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2" name="Google Shape;782;p26"/>
          <p:cNvSpPr/>
          <p:nvPr/>
        </p:nvSpPr>
        <p:spPr>
          <a:xfrm>
            <a:off x="649224" y="1644091"/>
            <a:ext cx="347472" cy="347472"/>
          </a:xfrm>
          <a:prstGeom prst="ellipse">
            <a:avLst/>
          </a:prstGeom>
          <a:solidFill>
            <a:srgbClr val="F5822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3" name="Google Shape;783;p26"/>
          <p:cNvSpPr/>
          <p:nvPr/>
        </p:nvSpPr>
        <p:spPr>
          <a:xfrm>
            <a:off x="649224" y="1644091"/>
            <a:ext cx="347472" cy="34747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050"/>
              <a:buFont typeface="Calibri"/>
              <a:buNone/>
            </a:pPr>
            <a:r>
              <a:rPr b="1" i="0" lang="en-US" sz="1050" u="none" cap="none" strike="noStrike">
                <a:solidFill>
                  <a:srgbClr val="FFFFFF"/>
                </a:solidFill>
                <a:latin typeface="Calibri"/>
                <a:ea typeface="Calibri"/>
                <a:cs typeface="Calibri"/>
                <a:sym typeface="Calibri"/>
              </a:rPr>
              <a:t>Q1</a:t>
            </a:r>
            <a:endParaRPr b="0" i="0" sz="1050" u="none" cap="none" strike="noStrike">
              <a:solidFill>
                <a:schemeClr val="dk1"/>
              </a:solidFill>
              <a:latin typeface="Calibri"/>
              <a:ea typeface="Calibri"/>
              <a:cs typeface="Calibri"/>
              <a:sym typeface="Calibri"/>
            </a:endParaRPr>
          </a:p>
        </p:txBody>
      </p:sp>
      <p:sp>
        <p:nvSpPr>
          <p:cNvPr id="784" name="Google Shape;784;p26"/>
          <p:cNvSpPr/>
          <p:nvPr/>
        </p:nvSpPr>
        <p:spPr>
          <a:xfrm>
            <a:off x="1161288" y="1417320"/>
            <a:ext cx="10332720" cy="80101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3293B"/>
              </a:buClr>
              <a:buSzPts val="1250"/>
              <a:buFont typeface="Calibri"/>
              <a:buNone/>
            </a:pPr>
            <a:r>
              <a:rPr b="0" i="0" lang="en-US" sz="1250" u="none" cap="none" strike="noStrike">
                <a:solidFill>
                  <a:srgbClr val="23293B"/>
                </a:solidFill>
                <a:latin typeface="Calibri"/>
                <a:ea typeface="Calibri"/>
                <a:cs typeface="Calibri"/>
                <a:sym typeface="Calibri"/>
              </a:rPr>
              <a:t>OpenCV loads channel order ___ ; torchvision models expect ___</a:t>
            </a:r>
            <a:endParaRPr b="0" i="0" sz="1250" u="none" cap="none" strike="noStrike">
              <a:solidFill>
                <a:schemeClr val="dk1"/>
              </a:solidFill>
              <a:latin typeface="Calibri"/>
              <a:ea typeface="Calibri"/>
              <a:cs typeface="Calibri"/>
              <a:sym typeface="Calibri"/>
            </a:endParaRPr>
          </a:p>
        </p:txBody>
      </p:sp>
      <p:sp>
        <p:nvSpPr>
          <p:cNvPr id="785" name="Google Shape;785;p26"/>
          <p:cNvSpPr/>
          <p:nvPr/>
        </p:nvSpPr>
        <p:spPr>
          <a:xfrm>
            <a:off x="502920" y="2346350"/>
            <a:ext cx="11183112" cy="801014"/>
          </a:xfrm>
          <a:prstGeom prst="roundRect">
            <a:avLst>
              <a:gd fmla="val 9132" name="adj"/>
            </a:avLst>
          </a:prstGeom>
          <a:solidFill>
            <a:srgbClr val="F2F6F9"/>
          </a:solidFill>
          <a:ln cap="flat" cmpd="sng" w="9525">
            <a:solidFill>
              <a:srgbClr val="D9E2E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6" name="Google Shape;786;p26"/>
          <p:cNvSpPr/>
          <p:nvPr/>
        </p:nvSpPr>
        <p:spPr>
          <a:xfrm>
            <a:off x="649224" y="2573122"/>
            <a:ext cx="347472" cy="347472"/>
          </a:xfrm>
          <a:prstGeom prst="ellipse">
            <a:avLst/>
          </a:prstGeom>
          <a:solidFill>
            <a:srgbClr val="F5822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7" name="Google Shape;787;p26"/>
          <p:cNvSpPr/>
          <p:nvPr/>
        </p:nvSpPr>
        <p:spPr>
          <a:xfrm>
            <a:off x="649224" y="2573122"/>
            <a:ext cx="347472" cy="34747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050"/>
              <a:buFont typeface="Calibri"/>
              <a:buNone/>
            </a:pPr>
            <a:r>
              <a:rPr b="1" i="0" lang="en-US" sz="1050" u="none" cap="none" strike="noStrike">
                <a:solidFill>
                  <a:srgbClr val="FFFFFF"/>
                </a:solidFill>
                <a:latin typeface="Calibri"/>
                <a:ea typeface="Calibri"/>
                <a:cs typeface="Calibri"/>
                <a:sym typeface="Calibri"/>
              </a:rPr>
              <a:t>Q2</a:t>
            </a:r>
            <a:endParaRPr b="0" i="0" sz="1050" u="none" cap="none" strike="noStrike">
              <a:solidFill>
                <a:schemeClr val="dk1"/>
              </a:solidFill>
              <a:latin typeface="Calibri"/>
              <a:ea typeface="Calibri"/>
              <a:cs typeface="Calibri"/>
              <a:sym typeface="Calibri"/>
            </a:endParaRPr>
          </a:p>
        </p:txBody>
      </p:sp>
      <p:sp>
        <p:nvSpPr>
          <p:cNvPr id="788" name="Google Shape;788;p26"/>
          <p:cNvSpPr/>
          <p:nvPr/>
        </p:nvSpPr>
        <p:spPr>
          <a:xfrm>
            <a:off x="1161288" y="2346350"/>
            <a:ext cx="10332720" cy="80101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3293B"/>
              </a:buClr>
              <a:buSzPts val="1250"/>
              <a:buFont typeface="Calibri"/>
              <a:buNone/>
            </a:pPr>
            <a:r>
              <a:rPr b="0" i="0" lang="en-US" sz="1250" u="none" cap="none" strike="noStrike">
                <a:solidFill>
                  <a:srgbClr val="23293B"/>
                </a:solidFill>
                <a:latin typeface="Calibri"/>
                <a:ea typeface="Calibri"/>
                <a:cs typeface="Calibri"/>
                <a:sym typeface="Calibri"/>
              </a:rPr>
              <a:t>Why must train and eval transforms be different objects?</a:t>
            </a:r>
            <a:endParaRPr b="0" i="0" sz="1250" u="none" cap="none" strike="noStrike">
              <a:solidFill>
                <a:schemeClr val="dk1"/>
              </a:solidFill>
              <a:latin typeface="Calibri"/>
              <a:ea typeface="Calibri"/>
              <a:cs typeface="Calibri"/>
              <a:sym typeface="Calibri"/>
            </a:endParaRPr>
          </a:p>
        </p:txBody>
      </p:sp>
      <p:sp>
        <p:nvSpPr>
          <p:cNvPr id="789" name="Google Shape;789;p26"/>
          <p:cNvSpPr/>
          <p:nvPr/>
        </p:nvSpPr>
        <p:spPr>
          <a:xfrm>
            <a:off x="502920" y="3275381"/>
            <a:ext cx="11183112" cy="801014"/>
          </a:xfrm>
          <a:prstGeom prst="roundRect">
            <a:avLst>
              <a:gd fmla="val 9132" name="adj"/>
            </a:avLst>
          </a:prstGeom>
          <a:solidFill>
            <a:srgbClr val="F2F6F9"/>
          </a:solidFill>
          <a:ln cap="flat" cmpd="sng" w="9525">
            <a:solidFill>
              <a:srgbClr val="D9E2E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0" name="Google Shape;790;p26"/>
          <p:cNvSpPr/>
          <p:nvPr/>
        </p:nvSpPr>
        <p:spPr>
          <a:xfrm>
            <a:off x="649224" y="3502152"/>
            <a:ext cx="347472" cy="347472"/>
          </a:xfrm>
          <a:prstGeom prst="ellipse">
            <a:avLst/>
          </a:prstGeom>
          <a:solidFill>
            <a:srgbClr val="F5822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1" name="Google Shape;791;p26"/>
          <p:cNvSpPr/>
          <p:nvPr/>
        </p:nvSpPr>
        <p:spPr>
          <a:xfrm>
            <a:off x="649224" y="3502152"/>
            <a:ext cx="347472" cy="34747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050"/>
              <a:buFont typeface="Calibri"/>
              <a:buNone/>
            </a:pPr>
            <a:r>
              <a:rPr b="1" i="0" lang="en-US" sz="1050" u="none" cap="none" strike="noStrike">
                <a:solidFill>
                  <a:srgbClr val="FFFFFF"/>
                </a:solidFill>
                <a:latin typeface="Calibri"/>
                <a:ea typeface="Calibri"/>
                <a:cs typeface="Calibri"/>
                <a:sym typeface="Calibri"/>
              </a:rPr>
              <a:t>Q3</a:t>
            </a:r>
            <a:endParaRPr b="0" i="0" sz="1050" u="none" cap="none" strike="noStrike">
              <a:solidFill>
                <a:schemeClr val="dk1"/>
              </a:solidFill>
              <a:latin typeface="Calibri"/>
              <a:ea typeface="Calibri"/>
              <a:cs typeface="Calibri"/>
              <a:sym typeface="Calibri"/>
            </a:endParaRPr>
          </a:p>
        </p:txBody>
      </p:sp>
      <p:sp>
        <p:nvSpPr>
          <p:cNvPr id="792" name="Google Shape;792;p26"/>
          <p:cNvSpPr/>
          <p:nvPr/>
        </p:nvSpPr>
        <p:spPr>
          <a:xfrm>
            <a:off x="1161288" y="3275381"/>
            <a:ext cx="10332720" cy="80101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3293B"/>
              </a:buClr>
              <a:buSzPts val="1250"/>
              <a:buFont typeface="Calibri"/>
              <a:buNone/>
            </a:pPr>
            <a:r>
              <a:rPr b="0" i="0" lang="en-US" sz="1250" u="none" cap="none" strike="noStrike">
                <a:solidFill>
                  <a:srgbClr val="23293B"/>
                </a:solidFill>
                <a:latin typeface="Calibri"/>
                <a:ea typeface="Calibri"/>
                <a:cs typeface="Calibri"/>
                <a:sym typeface="Calibri"/>
              </a:rPr>
              <a:t>Splitting conveyor frames randomly inflates metrics because ___</a:t>
            </a:r>
            <a:endParaRPr b="0" i="0" sz="1250" u="none" cap="none" strike="noStrike">
              <a:solidFill>
                <a:schemeClr val="dk1"/>
              </a:solidFill>
              <a:latin typeface="Calibri"/>
              <a:ea typeface="Calibri"/>
              <a:cs typeface="Calibri"/>
              <a:sym typeface="Calibri"/>
            </a:endParaRPr>
          </a:p>
        </p:txBody>
      </p:sp>
      <p:sp>
        <p:nvSpPr>
          <p:cNvPr id="793" name="Google Shape;793;p26"/>
          <p:cNvSpPr/>
          <p:nvPr/>
        </p:nvSpPr>
        <p:spPr>
          <a:xfrm>
            <a:off x="502920" y="4204411"/>
            <a:ext cx="11183112" cy="801014"/>
          </a:xfrm>
          <a:prstGeom prst="roundRect">
            <a:avLst>
              <a:gd fmla="val 9132" name="adj"/>
            </a:avLst>
          </a:prstGeom>
          <a:solidFill>
            <a:srgbClr val="F2F6F9"/>
          </a:solidFill>
          <a:ln cap="flat" cmpd="sng" w="9525">
            <a:solidFill>
              <a:srgbClr val="D9E2E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4" name="Google Shape;794;p26"/>
          <p:cNvSpPr/>
          <p:nvPr/>
        </p:nvSpPr>
        <p:spPr>
          <a:xfrm>
            <a:off x="649224" y="4431182"/>
            <a:ext cx="347472" cy="347472"/>
          </a:xfrm>
          <a:prstGeom prst="ellipse">
            <a:avLst/>
          </a:prstGeom>
          <a:solidFill>
            <a:srgbClr val="F5822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5" name="Google Shape;795;p26"/>
          <p:cNvSpPr/>
          <p:nvPr/>
        </p:nvSpPr>
        <p:spPr>
          <a:xfrm>
            <a:off x="649224" y="4431182"/>
            <a:ext cx="347472" cy="34747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050"/>
              <a:buFont typeface="Calibri"/>
              <a:buNone/>
            </a:pPr>
            <a:r>
              <a:rPr b="1" i="0" lang="en-US" sz="1050" u="none" cap="none" strike="noStrike">
                <a:solidFill>
                  <a:srgbClr val="FFFFFF"/>
                </a:solidFill>
                <a:latin typeface="Calibri"/>
                <a:ea typeface="Calibri"/>
                <a:cs typeface="Calibri"/>
                <a:sym typeface="Calibri"/>
              </a:rPr>
              <a:t>Q4</a:t>
            </a:r>
            <a:endParaRPr b="0" i="0" sz="1050" u="none" cap="none" strike="noStrike">
              <a:solidFill>
                <a:schemeClr val="dk1"/>
              </a:solidFill>
              <a:latin typeface="Calibri"/>
              <a:ea typeface="Calibri"/>
              <a:cs typeface="Calibri"/>
              <a:sym typeface="Calibri"/>
            </a:endParaRPr>
          </a:p>
        </p:txBody>
      </p:sp>
      <p:sp>
        <p:nvSpPr>
          <p:cNvPr id="796" name="Google Shape;796;p26"/>
          <p:cNvSpPr/>
          <p:nvPr/>
        </p:nvSpPr>
        <p:spPr>
          <a:xfrm>
            <a:off x="1161288" y="4204411"/>
            <a:ext cx="10332720" cy="80101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3293B"/>
              </a:buClr>
              <a:buSzPts val="1250"/>
              <a:buFont typeface="Calibri"/>
              <a:buNone/>
            </a:pPr>
            <a:r>
              <a:rPr b="0" i="0" lang="en-US" sz="1250" u="none" cap="none" strike="noStrike">
                <a:solidFill>
                  <a:srgbClr val="23293B"/>
                </a:solidFill>
                <a:latin typeface="Calibri"/>
                <a:ea typeface="Calibri"/>
                <a:cs typeface="Calibri"/>
                <a:sym typeface="Calibri"/>
              </a:rPr>
              <a:t>Which normalisation statistics when fine-tuning from ImageNet weights?</a:t>
            </a:r>
            <a:endParaRPr b="0" i="0" sz="1250" u="none" cap="none" strike="noStrike">
              <a:solidFill>
                <a:schemeClr val="dk1"/>
              </a:solidFill>
              <a:latin typeface="Calibri"/>
              <a:ea typeface="Calibri"/>
              <a:cs typeface="Calibri"/>
              <a:sym typeface="Calibri"/>
            </a:endParaRPr>
          </a:p>
        </p:txBody>
      </p:sp>
      <p:sp>
        <p:nvSpPr>
          <p:cNvPr id="797" name="Google Shape;797;p26"/>
          <p:cNvSpPr/>
          <p:nvPr/>
        </p:nvSpPr>
        <p:spPr>
          <a:xfrm>
            <a:off x="502920" y="5133442"/>
            <a:ext cx="11183112" cy="801014"/>
          </a:xfrm>
          <a:prstGeom prst="roundRect">
            <a:avLst>
              <a:gd fmla="val 9132" name="adj"/>
            </a:avLst>
          </a:prstGeom>
          <a:solidFill>
            <a:srgbClr val="F2F6F9"/>
          </a:solidFill>
          <a:ln cap="flat" cmpd="sng" w="9525">
            <a:solidFill>
              <a:srgbClr val="D9E2E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8" name="Google Shape;798;p26"/>
          <p:cNvSpPr/>
          <p:nvPr/>
        </p:nvSpPr>
        <p:spPr>
          <a:xfrm>
            <a:off x="649224" y="5360213"/>
            <a:ext cx="347472" cy="347472"/>
          </a:xfrm>
          <a:prstGeom prst="ellipse">
            <a:avLst/>
          </a:prstGeom>
          <a:solidFill>
            <a:srgbClr val="F5822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9" name="Google Shape;799;p26"/>
          <p:cNvSpPr/>
          <p:nvPr/>
        </p:nvSpPr>
        <p:spPr>
          <a:xfrm>
            <a:off x="649224" y="5360213"/>
            <a:ext cx="347472" cy="34747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050"/>
              <a:buFont typeface="Calibri"/>
              <a:buNone/>
            </a:pPr>
            <a:r>
              <a:rPr b="1" i="0" lang="en-US" sz="1050" u="none" cap="none" strike="noStrike">
                <a:solidFill>
                  <a:srgbClr val="FFFFFF"/>
                </a:solidFill>
                <a:latin typeface="Calibri"/>
                <a:ea typeface="Calibri"/>
                <a:cs typeface="Calibri"/>
                <a:sym typeface="Calibri"/>
              </a:rPr>
              <a:t>Q5</a:t>
            </a:r>
            <a:endParaRPr b="0" i="0" sz="1050" u="none" cap="none" strike="noStrike">
              <a:solidFill>
                <a:schemeClr val="dk1"/>
              </a:solidFill>
              <a:latin typeface="Calibri"/>
              <a:ea typeface="Calibri"/>
              <a:cs typeface="Calibri"/>
              <a:sym typeface="Calibri"/>
            </a:endParaRPr>
          </a:p>
        </p:txBody>
      </p:sp>
      <p:sp>
        <p:nvSpPr>
          <p:cNvPr id="800" name="Google Shape;800;p26"/>
          <p:cNvSpPr/>
          <p:nvPr/>
        </p:nvSpPr>
        <p:spPr>
          <a:xfrm>
            <a:off x="1161288" y="5133442"/>
            <a:ext cx="10332720" cy="80101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3293B"/>
              </a:buClr>
              <a:buSzPts val="1250"/>
              <a:buFont typeface="Calibri"/>
              <a:buNone/>
            </a:pPr>
            <a:r>
              <a:rPr b="0" i="0" lang="en-US" sz="1250" u="none" cap="none" strike="noStrike">
                <a:solidFill>
                  <a:srgbClr val="23293B"/>
                </a:solidFill>
                <a:latin typeface="Calibri"/>
                <a:ea typeface="Calibri"/>
                <a:cs typeface="Calibri"/>
                <a:sym typeface="Calibri"/>
              </a:rPr>
              <a:t>True/False: rotating a chest X-ray 180 deg is valid because rotation is geometric</a:t>
            </a:r>
            <a:endParaRPr b="0" i="0" sz="1250" u="none" cap="none" strike="noStrike">
              <a:solidFill>
                <a:schemeClr val="dk1"/>
              </a:solidFill>
              <a:latin typeface="Calibri"/>
              <a:ea typeface="Calibri"/>
              <a:cs typeface="Calibri"/>
              <a:sym typeface="Calibri"/>
            </a:endParaRPr>
          </a:p>
        </p:txBody>
      </p:sp>
      <p:sp>
        <p:nvSpPr>
          <p:cNvPr id="801" name="Google Shape;801;p26"/>
          <p:cNvSpPr/>
          <p:nvPr/>
        </p:nvSpPr>
        <p:spPr>
          <a:xfrm>
            <a:off x="502920" y="6099048"/>
            <a:ext cx="11183112"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8A96A6"/>
              </a:buClr>
              <a:buSzPts val="1000"/>
              <a:buFont typeface="Calibri"/>
              <a:buNone/>
            </a:pPr>
            <a:r>
              <a:rPr b="0" i="1" lang="en-US" sz="1000" u="none" cap="none" strike="noStrike">
                <a:solidFill>
                  <a:srgbClr val="8A96A6"/>
                </a:solidFill>
                <a:latin typeface="Calibri"/>
                <a:ea typeface="Calibri"/>
                <a:cs typeface="Calibri"/>
                <a:sym typeface="Calibri"/>
              </a:rPr>
              <a:t>Answers and marking guidance: speaker notes below ▼</a:t>
            </a:r>
            <a:endParaRPr b="0" i="0" sz="1000" u="none" cap="none" strike="noStrike">
              <a:solidFill>
                <a:schemeClr val="dk1"/>
              </a:solidFill>
              <a:latin typeface="Calibri"/>
              <a:ea typeface="Calibri"/>
              <a:cs typeface="Calibri"/>
              <a:sym typeface="Calibri"/>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806" name="Shape 806"/>
        <p:cNvGrpSpPr/>
        <p:nvPr/>
      </p:nvGrpSpPr>
      <p:grpSpPr>
        <a:xfrm>
          <a:off x="0" y="0"/>
          <a:ext cx="0" cy="0"/>
          <a:chOff x="0" y="0"/>
          <a:chExt cx="0" cy="0"/>
        </a:xfrm>
      </p:grpSpPr>
      <p:sp>
        <p:nvSpPr>
          <p:cNvPr id="807" name="Google Shape;807;p27"/>
          <p:cNvSpPr/>
          <p:nvPr/>
        </p:nvSpPr>
        <p:spPr>
          <a:xfrm>
            <a:off x="502920" y="274320"/>
            <a:ext cx="9646920" cy="56692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D2A5C"/>
              </a:buClr>
              <a:buSzPts val="2700"/>
              <a:buFont typeface="Calibri"/>
              <a:buNone/>
            </a:pPr>
            <a:r>
              <a:rPr b="1" i="0" lang="en-US" sz="2700" u="none" cap="none" strike="noStrike">
                <a:solidFill>
                  <a:srgbClr val="1D2A5C"/>
                </a:solidFill>
                <a:latin typeface="Calibri"/>
                <a:ea typeface="Calibri"/>
                <a:cs typeface="Calibri"/>
                <a:sym typeface="Calibri"/>
              </a:rPr>
              <a:t>Beyond the lab: exercises</a:t>
            </a:r>
            <a:endParaRPr b="0" i="0" sz="2700" u="none" cap="none" strike="noStrike">
              <a:solidFill>
                <a:schemeClr val="dk1"/>
              </a:solidFill>
              <a:latin typeface="Calibri"/>
              <a:ea typeface="Calibri"/>
              <a:cs typeface="Calibri"/>
              <a:sym typeface="Calibri"/>
            </a:endParaRPr>
          </a:p>
        </p:txBody>
      </p:sp>
      <p:sp>
        <p:nvSpPr>
          <p:cNvPr id="808" name="Google Shape;808;p27"/>
          <p:cNvSpPr/>
          <p:nvPr/>
        </p:nvSpPr>
        <p:spPr>
          <a:xfrm>
            <a:off x="502920" y="859536"/>
            <a:ext cx="9646920" cy="31089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F6B7A"/>
              </a:buClr>
              <a:buSzPts val="1250"/>
              <a:buFont typeface="Arial"/>
              <a:buNone/>
            </a:pPr>
            <a:r>
              <a:rPr b="0" i="0" lang="en-US" sz="1250" u="none" cap="none" strike="noStrike">
                <a:solidFill>
                  <a:srgbClr val="5F6B7A"/>
                </a:solidFill>
                <a:latin typeface="Arial"/>
                <a:ea typeface="Arial"/>
                <a:cs typeface="Arial"/>
                <a:sym typeface="Arial"/>
              </a:rPr>
              <a:t>تمارين إضافية</a:t>
            </a:r>
            <a:endParaRPr b="0" i="0" sz="1250" u="none" cap="none" strike="noStrike">
              <a:solidFill>
                <a:schemeClr val="dk1"/>
              </a:solidFill>
              <a:latin typeface="Calibri"/>
              <a:ea typeface="Calibri"/>
              <a:cs typeface="Calibri"/>
              <a:sym typeface="Calibri"/>
            </a:endParaRPr>
          </a:p>
        </p:txBody>
      </p:sp>
      <p:pic>
        <p:nvPicPr>
          <p:cNvPr descr="/sessions/blissful-determined-ritchie/build/assets/sdaia_logo.png" id="809" name="Google Shape;809;p27"/>
          <p:cNvPicPr preferRelativeResize="0"/>
          <p:nvPr/>
        </p:nvPicPr>
        <p:blipFill rotWithShape="1">
          <a:blip r:embed="rId3">
            <a:alphaModFix/>
          </a:blip>
          <a:srcRect b="0" l="0" r="0" t="0"/>
          <a:stretch/>
        </p:blipFill>
        <p:spPr>
          <a:xfrm>
            <a:off x="10625328" y="310896"/>
            <a:ext cx="1078992" cy="264111"/>
          </a:xfrm>
          <a:prstGeom prst="rect">
            <a:avLst/>
          </a:prstGeom>
          <a:noFill/>
          <a:ln>
            <a:noFill/>
          </a:ln>
        </p:spPr>
      </p:pic>
      <p:sp>
        <p:nvSpPr>
          <p:cNvPr id="810" name="Google Shape;810;p27"/>
          <p:cNvSpPr/>
          <p:nvPr/>
        </p:nvSpPr>
        <p:spPr>
          <a:xfrm>
            <a:off x="502920" y="6528816"/>
            <a:ext cx="8686800"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A79D"/>
              </a:buClr>
              <a:buSzPts val="800"/>
              <a:buFont typeface="Calibri"/>
              <a:buNone/>
            </a:pPr>
            <a:r>
              <a:rPr b="1" i="0" lang="en-US" sz="800" u="none" cap="none" strike="noStrike">
                <a:solidFill>
                  <a:srgbClr val="00A79D"/>
                </a:solidFill>
                <a:latin typeface="Calibri"/>
                <a:ea typeface="Calibri"/>
                <a:cs typeface="Calibri"/>
                <a:sym typeface="Calibri"/>
              </a:rPr>
              <a:t>MODULE 1   </a:t>
            </a:r>
            <a:r>
              <a:rPr b="0" i="0" lang="en-US" sz="800" u="none" cap="none" strike="noStrike">
                <a:solidFill>
                  <a:srgbClr val="8A96A6"/>
                </a:solidFill>
                <a:latin typeface="Calibri"/>
                <a:ea typeface="Calibri"/>
                <a:cs typeface="Calibri"/>
                <a:sym typeface="Calibri"/>
              </a:rPr>
              <a:t>SDA-AIE-212 · Computer Vision Systems Development</a:t>
            </a:r>
            <a:endParaRPr b="0" i="0" sz="800" u="none" cap="none" strike="noStrike">
              <a:solidFill>
                <a:schemeClr val="dk1"/>
              </a:solidFill>
              <a:latin typeface="Calibri"/>
              <a:ea typeface="Calibri"/>
              <a:cs typeface="Calibri"/>
              <a:sym typeface="Calibri"/>
            </a:endParaRPr>
          </a:p>
        </p:txBody>
      </p:sp>
      <p:sp>
        <p:nvSpPr>
          <p:cNvPr id="811" name="Google Shape;811;p27"/>
          <p:cNvSpPr/>
          <p:nvPr/>
        </p:nvSpPr>
        <p:spPr>
          <a:xfrm>
            <a:off x="11292840" y="6528816"/>
            <a:ext cx="411480" cy="219456"/>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8A96A6"/>
              </a:buClr>
              <a:buSzPts val="900"/>
              <a:buFont typeface="Calibri"/>
              <a:buNone/>
            </a:pPr>
            <a:r>
              <a:rPr b="0" i="0" lang="en-US" sz="900" u="none" cap="none" strike="noStrike">
                <a:solidFill>
                  <a:srgbClr val="8A96A6"/>
                </a:solidFill>
                <a:latin typeface="Calibri"/>
                <a:ea typeface="Calibri"/>
                <a:cs typeface="Calibri"/>
                <a:sym typeface="Calibri"/>
              </a:rPr>
              <a:t>27</a:t>
            </a:r>
            <a:endParaRPr b="0" i="0" sz="900" u="none" cap="none" strike="noStrike">
              <a:solidFill>
                <a:schemeClr val="dk1"/>
              </a:solidFill>
              <a:latin typeface="Calibri"/>
              <a:ea typeface="Calibri"/>
              <a:cs typeface="Calibri"/>
              <a:sym typeface="Calibri"/>
            </a:endParaRPr>
          </a:p>
        </p:txBody>
      </p:sp>
      <p:sp>
        <p:nvSpPr>
          <p:cNvPr id="812" name="Google Shape;812;p27"/>
          <p:cNvSpPr/>
          <p:nvPr/>
        </p:nvSpPr>
        <p:spPr>
          <a:xfrm>
            <a:off x="502920" y="1559052"/>
            <a:ext cx="329184" cy="329184"/>
          </a:xfrm>
          <a:prstGeom prst="ellipse">
            <a:avLst/>
          </a:prstGeom>
          <a:solidFill>
            <a:srgbClr val="00A79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3" name="Google Shape;813;p27"/>
          <p:cNvSpPr/>
          <p:nvPr/>
        </p:nvSpPr>
        <p:spPr>
          <a:xfrm>
            <a:off x="502920" y="1559052"/>
            <a:ext cx="329184" cy="32918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300"/>
              <a:buFont typeface="Calibri"/>
              <a:buNone/>
            </a:pPr>
            <a:r>
              <a:rPr b="1" i="0" lang="en-US" sz="1300" u="none" cap="none" strike="noStrike">
                <a:solidFill>
                  <a:srgbClr val="FFFFFF"/>
                </a:solidFill>
                <a:latin typeface="Calibri"/>
                <a:ea typeface="Calibri"/>
                <a:cs typeface="Calibri"/>
                <a:sym typeface="Calibri"/>
              </a:rPr>
              <a:t>1</a:t>
            </a:r>
            <a:endParaRPr b="0" i="0" sz="1300" u="none" cap="none" strike="noStrike">
              <a:solidFill>
                <a:schemeClr val="dk1"/>
              </a:solidFill>
              <a:latin typeface="Calibri"/>
              <a:ea typeface="Calibri"/>
              <a:cs typeface="Calibri"/>
              <a:sym typeface="Calibri"/>
            </a:endParaRPr>
          </a:p>
        </p:txBody>
      </p:sp>
      <p:sp>
        <p:nvSpPr>
          <p:cNvPr id="814" name="Google Shape;814;p27"/>
          <p:cNvSpPr/>
          <p:nvPr/>
        </p:nvSpPr>
        <p:spPr>
          <a:xfrm>
            <a:off x="1005840" y="1495044"/>
            <a:ext cx="10682935"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D2A5C"/>
              </a:buClr>
              <a:buSzPts val="1400"/>
              <a:buFont typeface="Calibri"/>
              <a:buNone/>
            </a:pPr>
            <a:r>
              <a:rPr b="1" i="0" lang="en-US" sz="1400" u="none" cap="none" strike="noStrike">
                <a:solidFill>
                  <a:srgbClr val="1D2A5C"/>
                </a:solidFill>
                <a:latin typeface="Calibri"/>
                <a:ea typeface="Calibri"/>
                <a:cs typeface="Calibri"/>
                <a:sym typeface="Calibri"/>
              </a:rPr>
              <a:t>Debugging: sim-interp-skew</a:t>
            </a:r>
            <a:endParaRPr b="0" i="0" sz="1400" u="none" cap="none" strike="noStrike">
              <a:solidFill>
                <a:schemeClr val="dk1"/>
              </a:solidFill>
              <a:latin typeface="Calibri"/>
              <a:ea typeface="Calibri"/>
              <a:cs typeface="Calibri"/>
              <a:sym typeface="Calibri"/>
            </a:endParaRPr>
          </a:p>
        </p:txBody>
      </p:sp>
      <p:sp>
        <p:nvSpPr>
          <p:cNvPr id="815" name="Google Shape;815;p27"/>
          <p:cNvSpPr/>
          <p:nvPr/>
        </p:nvSpPr>
        <p:spPr>
          <a:xfrm>
            <a:off x="1005840" y="1796796"/>
            <a:ext cx="10682935" cy="841248"/>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5F6B7A"/>
              </a:buClr>
              <a:buSzPts val="1150"/>
              <a:buFont typeface="Calibri"/>
              <a:buNone/>
            </a:pPr>
            <a:r>
              <a:rPr b="0" i="0" lang="en-US" sz="1150" u="none" cap="none" strike="noStrike">
                <a:solidFill>
                  <a:srgbClr val="5F6B7A"/>
                </a:solidFill>
                <a:latin typeface="Calibri"/>
                <a:ea typeface="Calibri"/>
                <a:cs typeface="Calibri"/>
                <a:sym typeface="Calibri"/>
              </a:rPr>
              <a:t>Training resized bicubic (PIL), deployment nearest (OpenCV): 3.1-pt accuracy gap. Diff tensors from both paths on one image; unify via the contract module</a:t>
            </a:r>
            <a:endParaRPr b="0" i="0" sz="1150" u="none" cap="none" strike="noStrike">
              <a:solidFill>
                <a:schemeClr val="dk1"/>
              </a:solidFill>
              <a:latin typeface="Calibri"/>
              <a:ea typeface="Calibri"/>
              <a:cs typeface="Calibri"/>
              <a:sym typeface="Calibri"/>
            </a:endParaRPr>
          </a:p>
        </p:txBody>
      </p:sp>
      <p:sp>
        <p:nvSpPr>
          <p:cNvPr id="816" name="Google Shape;816;p27"/>
          <p:cNvSpPr/>
          <p:nvPr/>
        </p:nvSpPr>
        <p:spPr>
          <a:xfrm>
            <a:off x="502920" y="2747772"/>
            <a:ext cx="329184" cy="329184"/>
          </a:xfrm>
          <a:prstGeom prst="ellipse">
            <a:avLst/>
          </a:prstGeom>
          <a:solidFill>
            <a:srgbClr val="29ABE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7" name="Google Shape;817;p27"/>
          <p:cNvSpPr/>
          <p:nvPr/>
        </p:nvSpPr>
        <p:spPr>
          <a:xfrm>
            <a:off x="502920" y="2747772"/>
            <a:ext cx="329184" cy="32918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300"/>
              <a:buFont typeface="Calibri"/>
              <a:buNone/>
            </a:pPr>
            <a:r>
              <a:rPr b="1" i="0" lang="en-US" sz="1300" u="none" cap="none" strike="noStrike">
                <a:solidFill>
                  <a:srgbClr val="FFFFFF"/>
                </a:solidFill>
                <a:latin typeface="Calibri"/>
                <a:ea typeface="Calibri"/>
                <a:cs typeface="Calibri"/>
                <a:sym typeface="Calibri"/>
              </a:rPr>
              <a:t>2</a:t>
            </a:r>
            <a:endParaRPr b="0" i="0" sz="1300" u="none" cap="none" strike="noStrike">
              <a:solidFill>
                <a:schemeClr val="dk1"/>
              </a:solidFill>
              <a:latin typeface="Calibri"/>
              <a:ea typeface="Calibri"/>
              <a:cs typeface="Calibri"/>
              <a:sym typeface="Calibri"/>
            </a:endParaRPr>
          </a:p>
        </p:txBody>
      </p:sp>
      <p:sp>
        <p:nvSpPr>
          <p:cNvPr id="818" name="Google Shape;818;p27"/>
          <p:cNvSpPr/>
          <p:nvPr/>
        </p:nvSpPr>
        <p:spPr>
          <a:xfrm>
            <a:off x="1005840" y="2683764"/>
            <a:ext cx="10682935"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D2A5C"/>
              </a:buClr>
              <a:buSzPts val="1400"/>
              <a:buFont typeface="Calibri"/>
              <a:buNone/>
            </a:pPr>
            <a:r>
              <a:rPr b="1" i="0" lang="en-US" sz="1400" u="none" cap="none" strike="noStrike">
                <a:solidFill>
                  <a:srgbClr val="1D2A5C"/>
                </a:solidFill>
                <a:latin typeface="Calibri"/>
                <a:ea typeface="Calibri"/>
                <a:cs typeface="Calibri"/>
                <a:sym typeface="Calibri"/>
              </a:rPr>
              <a:t>Code review</a:t>
            </a:r>
            <a:endParaRPr b="0" i="0" sz="1400" u="none" cap="none" strike="noStrike">
              <a:solidFill>
                <a:schemeClr val="dk1"/>
              </a:solidFill>
              <a:latin typeface="Calibri"/>
              <a:ea typeface="Calibri"/>
              <a:cs typeface="Calibri"/>
              <a:sym typeface="Calibri"/>
            </a:endParaRPr>
          </a:p>
        </p:txBody>
      </p:sp>
      <p:sp>
        <p:nvSpPr>
          <p:cNvPr id="819" name="Google Shape;819;p27"/>
          <p:cNvSpPr/>
          <p:nvPr/>
        </p:nvSpPr>
        <p:spPr>
          <a:xfrm>
            <a:off x="1005840" y="2985516"/>
            <a:ext cx="10682935" cy="841248"/>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5F6B7A"/>
              </a:buClr>
              <a:buSzPts val="1150"/>
              <a:buFont typeface="Calibri"/>
              <a:buNone/>
            </a:pPr>
            <a:r>
              <a:rPr b="0" i="0" lang="en-US" sz="1150" u="none" cap="none" strike="noStrike">
                <a:solidFill>
                  <a:srgbClr val="5F6B7A"/>
                </a:solidFill>
                <a:latin typeface="Calibri"/>
                <a:ea typeface="Calibri"/>
                <a:cs typeface="Calibri"/>
                <a:sym typeface="Calibri"/>
              </a:rPr>
              <a:t>PR normalises inside __getitem__ with hard-coded stats, ColorJitters the val loader, random_splits by frame. Three findings + production consequence of each</a:t>
            </a:r>
            <a:endParaRPr b="0" i="0" sz="1150" u="none" cap="none" strike="noStrike">
              <a:solidFill>
                <a:schemeClr val="dk1"/>
              </a:solidFill>
              <a:latin typeface="Calibri"/>
              <a:ea typeface="Calibri"/>
              <a:cs typeface="Calibri"/>
              <a:sym typeface="Calibri"/>
            </a:endParaRPr>
          </a:p>
        </p:txBody>
      </p:sp>
      <p:sp>
        <p:nvSpPr>
          <p:cNvPr id="820" name="Google Shape;820;p27"/>
          <p:cNvSpPr/>
          <p:nvPr/>
        </p:nvSpPr>
        <p:spPr>
          <a:xfrm>
            <a:off x="502920" y="3936492"/>
            <a:ext cx="329184" cy="329184"/>
          </a:xfrm>
          <a:prstGeom prst="ellipse">
            <a:avLst/>
          </a:prstGeom>
          <a:solidFill>
            <a:srgbClr val="F5822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1" name="Google Shape;821;p27"/>
          <p:cNvSpPr/>
          <p:nvPr/>
        </p:nvSpPr>
        <p:spPr>
          <a:xfrm>
            <a:off x="502920" y="3936492"/>
            <a:ext cx="329184" cy="32918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300"/>
              <a:buFont typeface="Calibri"/>
              <a:buNone/>
            </a:pPr>
            <a:r>
              <a:rPr b="1" i="0" lang="en-US" sz="1300" u="none" cap="none" strike="noStrike">
                <a:solidFill>
                  <a:srgbClr val="FFFFFF"/>
                </a:solidFill>
                <a:latin typeface="Calibri"/>
                <a:ea typeface="Calibri"/>
                <a:cs typeface="Calibri"/>
                <a:sym typeface="Calibri"/>
              </a:rPr>
              <a:t>3</a:t>
            </a:r>
            <a:endParaRPr b="0" i="0" sz="1300" u="none" cap="none" strike="noStrike">
              <a:solidFill>
                <a:schemeClr val="dk1"/>
              </a:solidFill>
              <a:latin typeface="Calibri"/>
              <a:ea typeface="Calibri"/>
              <a:cs typeface="Calibri"/>
              <a:sym typeface="Calibri"/>
            </a:endParaRPr>
          </a:p>
        </p:txBody>
      </p:sp>
      <p:sp>
        <p:nvSpPr>
          <p:cNvPr id="822" name="Google Shape;822;p27"/>
          <p:cNvSpPr/>
          <p:nvPr/>
        </p:nvSpPr>
        <p:spPr>
          <a:xfrm>
            <a:off x="1005840" y="3872484"/>
            <a:ext cx="10682935"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D2A5C"/>
              </a:buClr>
              <a:buSzPts val="1400"/>
              <a:buFont typeface="Calibri"/>
              <a:buNone/>
            </a:pPr>
            <a:r>
              <a:rPr b="1" i="0" lang="en-US" sz="1400" u="none" cap="none" strike="noStrike">
                <a:solidFill>
                  <a:srgbClr val="1D2A5C"/>
                </a:solidFill>
                <a:latin typeface="Calibri"/>
                <a:ea typeface="Calibri"/>
                <a:cs typeface="Calibri"/>
                <a:sym typeface="Calibri"/>
              </a:rPr>
              <a:t>Discussion: hardware vs software</a:t>
            </a:r>
            <a:endParaRPr b="0" i="0" sz="1400" u="none" cap="none" strike="noStrike">
              <a:solidFill>
                <a:schemeClr val="dk1"/>
              </a:solidFill>
              <a:latin typeface="Calibri"/>
              <a:ea typeface="Calibri"/>
              <a:cs typeface="Calibri"/>
              <a:sym typeface="Calibri"/>
            </a:endParaRPr>
          </a:p>
        </p:txBody>
      </p:sp>
      <p:sp>
        <p:nvSpPr>
          <p:cNvPr id="823" name="Google Shape;823;p27"/>
          <p:cNvSpPr/>
          <p:nvPr/>
        </p:nvSpPr>
        <p:spPr>
          <a:xfrm>
            <a:off x="1005840" y="4174236"/>
            <a:ext cx="10682935" cy="841248"/>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5F6B7A"/>
              </a:buClr>
              <a:buSzPts val="1150"/>
              <a:buFont typeface="Calibri"/>
              <a:buNone/>
            </a:pPr>
            <a:r>
              <a:rPr b="0" i="0" lang="en-US" sz="1150" u="none" cap="none" strike="noStrike">
                <a:solidFill>
                  <a:srgbClr val="5F6B7A"/>
                </a:solidFill>
                <a:latin typeface="Calibri"/>
                <a:ea typeface="Calibri"/>
                <a:cs typeface="Calibri"/>
                <a:sym typeface="Calibri"/>
              </a:rPr>
              <a:t>The line manager offers diffuse lighting + locked exposure. Which augmentations can you remove, and why is removing them good?</a:t>
            </a:r>
            <a:endParaRPr b="0" i="0" sz="1150" u="none" cap="none" strike="noStrike">
              <a:solidFill>
                <a:schemeClr val="dk1"/>
              </a:solidFill>
              <a:latin typeface="Calibri"/>
              <a:ea typeface="Calibri"/>
              <a:cs typeface="Calibri"/>
              <a:sym typeface="Calibri"/>
            </a:endParaRPr>
          </a:p>
        </p:txBody>
      </p:sp>
      <p:sp>
        <p:nvSpPr>
          <p:cNvPr id="824" name="Google Shape;824;p27"/>
          <p:cNvSpPr/>
          <p:nvPr/>
        </p:nvSpPr>
        <p:spPr>
          <a:xfrm>
            <a:off x="502920" y="5125212"/>
            <a:ext cx="329184" cy="329184"/>
          </a:xfrm>
          <a:prstGeom prst="ellipse">
            <a:avLst/>
          </a:prstGeom>
          <a:solidFill>
            <a:srgbClr val="8DC63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5" name="Google Shape;825;p27"/>
          <p:cNvSpPr/>
          <p:nvPr/>
        </p:nvSpPr>
        <p:spPr>
          <a:xfrm>
            <a:off x="502920" y="5125212"/>
            <a:ext cx="329184" cy="32918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300"/>
              <a:buFont typeface="Calibri"/>
              <a:buNone/>
            </a:pPr>
            <a:r>
              <a:rPr b="1" i="0" lang="en-US" sz="1300" u="none" cap="none" strike="noStrike">
                <a:solidFill>
                  <a:srgbClr val="FFFFFF"/>
                </a:solidFill>
                <a:latin typeface="Calibri"/>
                <a:ea typeface="Calibri"/>
                <a:cs typeface="Calibri"/>
                <a:sym typeface="Calibri"/>
              </a:rPr>
              <a:t>4</a:t>
            </a:r>
            <a:endParaRPr b="0" i="0" sz="1300" u="none" cap="none" strike="noStrike">
              <a:solidFill>
                <a:schemeClr val="dk1"/>
              </a:solidFill>
              <a:latin typeface="Calibri"/>
              <a:ea typeface="Calibri"/>
              <a:cs typeface="Calibri"/>
              <a:sym typeface="Calibri"/>
            </a:endParaRPr>
          </a:p>
        </p:txBody>
      </p:sp>
      <p:sp>
        <p:nvSpPr>
          <p:cNvPr id="826" name="Google Shape;826;p27"/>
          <p:cNvSpPr/>
          <p:nvPr/>
        </p:nvSpPr>
        <p:spPr>
          <a:xfrm>
            <a:off x="1005840" y="5061204"/>
            <a:ext cx="10682935"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D2A5C"/>
              </a:buClr>
              <a:buSzPts val="1400"/>
              <a:buFont typeface="Calibri"/>
              <a:buNone/>
            </a:pPr>
            <a:r>
              <a:rPr b="1" i="0" lang="en-US" sz="1400" u="none" cap="none" strike="noStrike">
                <a:solidFill>
                  <a:srgbClr val="1D2A5C"/>
                </a:solidFill>
                <a:latin typeface="Calibri"/>
                <a:ea typeface="Calibri"/>
                <a:cs typeface="Calibri"/>
                <a:sym typeface="Calibri"/>
              </a:rPr>
              <a:t>Discussion: PDPL</a:t>
            </a:r>
            <a:endParaRPr b="0" i="0" sz="1400" u="none" cap="none" strike="noStrike">
              <a:solidFill>
                <a:schemeClr val="dk1"/>
              </a:solidFill>
              <a:latin typeface="Calibri"/>
              <a:ea typeface="Calibri"/>
              <a:cs typeface="Calibri"/>
              <a:sym typeface="Calibri"/>
            </a:endParaRPr>
          </a:p>
        </p:txBody>
      </p:sp>
      <p:sp>
        <p:nvSpPr>
          <p:cNvPr id="827" name="Google Shape;827;p27"/>
          <p:cNvSpPr/>
          <p:nvPr/>
        </p:nvSpPr>
        <p:spPr>
          <a:xfrm>
            <a:off x="1005840" y="5362956"/>
            <a:ext cx="10682935" cy="841248"/>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5F6B7A"/>
              </a:buClr>
              <a:buSzPts val="1150"/>
              <a:buFont typeface="Calibri"/>
              <a:buNone/>
            </a:pPr>
            <a:r>
              <a:rPr b="0" i="0" lang="en-US" sz="1150" u="none" cap="none" strike="noStrike">
                <a:solidFill>
                  <a:srgbClr val="5F6B7A"/>
                </a:solidFill>
                <a:latin typeface="Calibri"/>
                <a:ea typeface="Calibri"/>
                <a:cs typeface="Calibri"/>
                <a:sym typeface="Calibri"/>
              </a:rPr>
              <a:t>Workers' hands appear in frame. Implications for storage, annotation-vendor access, and augmentation of personal data?</a:t>
            </a:r>
            <a:endParaRPr b="0" i="0" sz="1150" u="none" cap="none" strike="noStrike">
              <a:solidFill>
                <a:schemeClr val="dk1"/>
              </a:solidFill>
              <a:latin typeface="Calibri"/>
              <a:ea typeface="Calibri"/>
              <a:cs typeface="Calibri"/>
              <a:sym typeface="Calibri"/>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832" name="Shape 832"/>
        <p:cNvGrpSpPr/>
        <p:nvPr/>
      </p:nvGrpSpPr>
      <p:grpSpPr>
        <a:xfrm>
          <a:off x="0" y="0"/>
          <a:ext cx="0" cy="0"/>
          <a:chOff x="0" y="0"/>
          <a:chExt cx="0" cy="0"/>
        </a:xfrm>
      </p:grpSpPr>
      <p:sp>
        <p:nvSpPr>
          <p:cNvPr id="833" name="Google Shape;833;p28"/>
          <p:cNvSpPr/>
          <p:nvPr/>
        </p:nvSpPr>
        <p:spPr>
          <a:xfrm>
            <a:off x="502920" y="274320"/>
            <a:ext cx="9646920" cy="56692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D2A5C"/>
              </a:buClr>
              <a:buSzPts val="2700"/>
              <a:buFont typeface="Calibri"/>
              <a:buNone/>
            </a:pPr>
            <a:r>
              <a:rPr b="1" i="0" lang="en-US" sz="2700" u="none" cap="none" strike="noStrike">
                <a:solidFill>
                  <a:srgbClr val="1D2A5C"/>
                </a:solidFill>
                <a:latin typeface="Calibri"/>
                <a:ea typeface="Calibri"/>
                <a:cs typeface="Calibri"/>
                <a:sym typeface="Calibri"/>
              </a:rPr>
              <a:t>Case: chest X-rays at a Riyadh hospital group</a:t>
            </a:r>
            <a:endParaRPr b="0" i="0" sz="2700" u="none" cap="none" strike="noStrike">
              <a:solidFill>
                <a:schemeClr val="dk1"/>
              </a:solidFill>
              <a:latin typeface="Calibri"/>
              <a:ea typeface="Calibri"/>
              <a:cs typeface="Calibri"/>
              <a:sym typeface="Calibri"/>
            </a:endParaRPr>
          </a:p>
        </p:txBody>
      </p:sp>
      <p:sp>
        <p:nvSpPr>
          <p:cNvPr id="834" name="Google Shape;834;p28"/>
          <p:cNvSpPr/>
          <p:nvPr/>
        </p:nvSpPr>
        <p:spPr>
          <a:xfrm>
            <a:off x="502920" y="859536"/>
            <a:ext cx="9646920" cy="31089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F6B7A"/>
              </a:buClr>
              <a:buSzPts val="1250"/>
              <a:buFont typeface="Arial"/>
              <a:buNone/>
            </a:pPr>
            <a:r>
              <a:rPr b="0" i="0" lang="en-US" sz="1250" u="none" cap="none" strike="noStrike">
                <a:solidFill>
                  <a:srgbClr val="5F6B7A"/>
                </a:solidFill>
                <a:latin typeface="Arial"/>
                <a:ea typeface="Arial"/>
                <a:cs typeface="Arial"/>
                <a:sym typeface="Arial"/>
              </a:rPr>
              <a:t>دراسة حالة: الأشعة السينية في الرياض</a:t>
            </a:r>
            <a:endParaRPr b="0" i="0" sz="1250" u="none" cap="none" strike="noStrike">
              <a:solidFill>
                <a:schemeClr val="dk1"/>
              </a:solidFill>
              <a:latin typeface="Calibri"/>
              <a:ea typeface="Calibri"/>
              <a:cs typeface="Calibri"/>
              <a:sym typeface="Calibri"/>
            </a:endParaRPr>
          </a:p>
        </p:txBody>
      </p:sp>
      <p:pic>
        <p:nvPicPr>
          <p:cNvPr descr="/sessions/blissful-determined-ritchie/build/assets/sdaia_logo.png" id="835" name="Google Shape;835;p28"/>
          <p:cNvPicPr preferRelativeResize="0"/>
          <p:nvPr/>
        </p:nvPicPr>
        <p:blipFill rotWithShape="1">
          <a:blip r:embed="rId3">
            <a:alphaModFix/>
          </a:blip>
          <a:srcRect b="0" l="0" r="0" t="0"/>
          <a:stretch/>
        </p:blipFill>
        <p:spPr>
          <a:xfrm>
            <a:off x="10625328" y="310896"/>
            <a:ext cx="1078992" cy="264111"/>
          </a:xfrm>
          <a:prstGeom prst="rect">
            <a:avLst/>
          </a:prstGeom>
          <a:noFill/>
          <a:ln>
            <a:noFill/>
          </a:ln>
        </p:spPr>
      </p:pic>
      <p:sp>
        <p:nvSpPr>
          <p:cNvPr id="836" name="Google Shape;836;p28"/>
          <p:cNvSpPr/>
          <p:nvPr/>
        </p:nvSpPr>
        <p:spPr>
          <a:xfrm>
            <a:off x="502920" y="6528816"/>
            <a:ext cx="8686800"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A79D"/>
              </a:buClr>
              <a:buSzPts val="800"/>
              <a:buFont typeface="Calibri"/>
              <a:buNone/>
            </a:pPr>
            <a:r>
              <a:rPr b="1" i="0" lang="en-US" sz="800" u="none" cap="none" strike="noStrike">
                <a:solidFill>
                  <a:srgbClr val="00A79D"/>
                </a:solidFill>
                <a:latin typeface="Calibri"/>
                <a:ea typeface="Calibri"/>
                <a:cs typeface="Calibri"/>
                <a:sym typeface="Calibri"/>
              </a:rPr>
              <a:t>MODULE 1 · CASE   </a:t>
            </a:r>
            <a:r>
              <a:rPr b="0" i="0" lang="en-US" sz="800" u="none" cap="none" strike="noStrike">
                <a:solidFill>
                  <a:srgbClr val="8A96A6"/>
                </a:solidFill>
                <a:latin typeface="Calibri"/>
                <a:ea typeface="Calibri"/>
                <a:cs typeface="Calibri"/>
                <a:sym typeface="Calibri"/>
              </a:rPr>
              <a:t>SDA-AIE-212 · Computer Vision Systems Development</a:t>
            </a:r>
            <a:endParaRPr b="0" i="0" sz="800" u="none" cap="none" strike="noStrike">
              <a:solidFill>
                <a:schemeClr val="dk1"/>
              </a:solidFill>
              <a:latin typeface="Calibri"/>
              <a:ea typeface="Calibri"/>
              <a:cs typeface="Calibri"/>
              <a:sym typeface="Calibri"/>
            </a:endParaRPr>
          </a:p>
        </p:txBody>
      </p:sp>
      <p:sp>
        <p:nvSpPr>
          <p:cNvPr id="837" name="Google Shape;837;p28"/>
          <p:cNvSpPr/>
          <p:nvPr/>
        </p:nvSpPr>
        <p:spPr>
          <a:xfrm>
            <a:off x="11292840" y="6528816"/>
            <a:ext cx="411480" cy="219456"/>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8A96A6"/>
              </a:buClr>
              <a:buSzPts val="900"/>
              <a:buFont typeface="Calibri"/>
              <a:buNone/>
            </a:pPr>
            <a:r>
              <a:rPr b="0" i="0" lang="en-US" sz="900" u="none" cap="none" strike="noStrike">
                <a:solidFill>
                  <a:srgbClr val="8A96A6"/>
                </a:solidFill>
                <a:latin typeface="Calibri"/>
                <a:ea typeface="Calibri"/>
                <a:cs typeface="Calibri"/>
                <a:sym typeface="Calibri"/>
              </a:rPr>
              <a:t>28</a:t>
            </a:r>
            <a:endParaRPr b="0" i="0" sz="900" u="none" cap="none" strike="noStrike">
              <a:solidFill>
                <a:schemeClr val="dk1"/>
              </a:solidFill>
              <a:latin typeface="Calibri"/>
              <a:ea typeface="Calibri"/>
              <a:cs typeface="Calibri"/>
              <a:sym typeface="Calibri"/>
            </a:endParaRPr>
          </a:p>
        </p:txBody>
      </p:sp>
      <p:sp>
        <p:nvSpPr>
          <p:cNvPr id="838" name="Google Shape;838;p28"/>
          <p:cNvSpPr/>
          <p:nvPr/>
        </p:nvSpPr>
        <p:spPr>
          <a:xfrm>
            <a:off x="502920" y="1389888"/>
            <a:ext cx="6035040" cy="2377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A79D"/>
              </a:buClr>
              <a:buSzPts val="1000"/>
              <a:buFont typeface="Calibri"/>
              <a:buNone/>
            </a:pPr>
            <a:r>
              <a:rPr b="1" i="0" lang="en-US" sz="1000" u="none" cap="none" strike="noStrike">
                <a:solidFill>
                  <a:srgbClr val="00A79D"/>
                </a:solidFill>
                <a:latin typeface="Calibri"/>
                <a:ea typeface="Calibri"/>
                <a:cs typeface="Calibri"/>
                <a:sym typeface="Calibri"/>
              </a:rPr>
              <a:t>SCENARIO</a:t>
            </a:r>
            <a:endParaRPr b="0" i="0" sz="1000" u="none" cap="none" strike="noStrike">
              <a:solidFill>
                <a:schemeClr val="dk1"/>
              </a:solidFill>
              <a:latin typeface="Calibri"/>
              <a:ea typeface="Calibri"/>
              <a:cs typeface="Calibri"/>
              <a:sym typeface="Calibri"/>
            </a:endParaRPr>
          </a:p>
        </p:txBody>
      </p:sp>
      <p:sp>
        <p:nvSpPr>
          <p:cNvPr id="839" name="Google Shape;839;p28"/>
          <p:cNvSpPr/>
          <p:nvPr/>
        </p:nvSpPr>
        <p:spPr>
          <a:xfrm>
            <a:off x="502920" y="1645920"/>
            <a:ext cx="6035040" cy="896112"/>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23293B"/>
              </a:buClr>
              <a:buSzPts val="1150"/>
              <a:buFont typeface="Calibri"/>
              <a:buNone/>
            </a:pPr>
            <a:r>
              <a:rPr b="0" i="0" lang="en-US" sz="1150" u="none" cap="none" strike="noStrike">
                <a:solidFill>
                  <a:srgbClr val="23293B"/>
                </a:solidFill>
                <a:latin typeface="Calibri"/>
                <a:ea typeface="Calibri"/>
                <a:cs typeface="Calibri"/>
                <a:sym typeface="Calibri"/>
              </a:rPr>
              <a:t>A three-hospital group deploys a pneumonia-triage classifier trained on public datasets plus local scans. After a scanner fleet upgrade at one site, sensitivity drops from 0.91 to 0.74 — only at that site — and nobody notices for five weeks because aggregate metrics stay acceptable.</a:t>
            </a:r>
            <a:endParaRPr b="0" i="0" sz="1150" u="none" cap="none" strike="noStrike">
              <a:solidFill>
                <a:schemeClr val="dk1"/>
              </a:solidFill>
              <a:latin typeface="Calibri"/>
              <a:ea typeface="Calibri"/>
              <a:cs typeface="Calibri"/>
              <a:sym typeface="Calibri"/>
            </a:endParaRPr>
          </a:p>
        </p:txBody>
      </p:sp>
      <p:sp>
        <p:nvSpPr>
          <p:cNvPr id="840" name="Google Shape;840;p28"/>
          <p:cNvSpPr/>
          <p:nvPr/>
        </p:nvSpPr>
        <p:spPr>
          <a:xfrm>
            <a:off x="502920" y="2706624"/>
            <a:ext cx="6035040" cy="2377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A79D"/>
              </a:buClr>
              <a:buSzPts val="1000"/>
              <a:buFont typeface="Calibri"/>
              <a:buNone/>
            </a:pPr>
            <a:r>
              <a:rPr b="1" i="0" lang="en-US" sz="1000" u="none" cap="none" strike="noStrike">
                <a:solidFill>
                  <a:srgbClr val="00A79D"/>
                </a:solidFill>
                <a:latin typeface="Calibri"/>
                <a:ea typeface="Calibri"/>
                <a:cs typeface="Calibri"/>
                <a:sym typeface="Calibri"/>
              </a:rPr>
              <a:t>BUSINESS CONTEXT</a:t>
            </a:r>
            <a:endParaRPr b="0" i="0" sz="1000" u="none" cap="none" strike="noStrike">
              <a:solidFill>
                <a:schemeClr val="dk1"/>
              </a:solidFill>
              <a:latin typeface="Calibri"/>
              <a:ea typeface="Calibri"/>
              <a:cs typeface="Calibri"/>
              <a:sym typeface="Calibri"/>
            </a:endParaRPr>
          </a:p>
        </p:txBody>
      </p:sp>
      <p:sp>
        <p:nvSpPr>
          <p:cNvPr id="841" name="Google Shape;841;p28"/>
          <p:cNvSpPr/>
          <p:nvPr/>
        </p:nvSpPr>
        <p:spPr>
          <a:xfrm>
            <a:off x="502920" y="2962656"/>
            <a:ext cx="6035040" cy="6858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5F6B7A"/>
              </a:buClr>
              <a:buSzPts val="1150"/>
              <a:buFont typeface="Calibri"/>
              <a:buNone/>
            </a:pPr>
            <a:r>
              <a:rPr b="0" i="0" lang="en-US" sz="1150" u="none" cap="none" strike="noStrike">
                <a:solidFill>
                  <a:srgbClr val="5F6B7A"/>
                </a:solidFill>
                <a:latin typeface="Calibri"/>
                <a:ea typeface="Calibri"/>
                <a:cs typeface="Calibri"/>
                <a:sym typeface="Calibri"/>
              </a:rPr>
              <a:t>Radiology backlog is why the model exists; a silent per-site failure re-creates the backlog behind green dashboards. The health regulator's AI guidance requires documented input-processing controls and monitoring evidence.</a:t>
            </a:r>
            <a:endParaRPr b="0" i="0" sz="1150" u="none" cap="none" strike="noStrike">
              <a:solidFill>
                <a:schemeClr val="dk1"/>
              </a:solidFill>
              <a:latin typeface="Calibri"/>
              <a:ea typeface="Calibri"/>
              <a:cs typeface="Calibri"/>
              <a:sym typeface="Calibri"/>
            </a:endParaRPr>
          </a:p>
        </p:txBody>
      </p:sp>
      <p:sp>
        <p:nvSpPr>
          <p:cNvPr id="842" name="Google Shape;842;p28"/>
          <p:cNvSpPr/>
          <p:nvPr/>
        </p:nvSpPr>
        <p:spPr>
          <a:xfrm>
            <a:off x="502920" y="3813048"/>
            <a:ext cx="6035040" cy="2377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A79D"/>
              </a:buClr>
              <a:buSzPts val="1000"/>
              <a:buFont typeface="Calibri"/>
              <a:buNone/>
            </a:pPr>
            <a:r>
              <a:rPr b="1" i="0" lang="en-US" sz="1000" u="none" cap="none" strike="noStrike">
                <a:solidFill>
                  <a:srgbClr val="00A79D"/>
                </a:solidFill>
                <a:latin typeface="Calibri"/>
                <a:ea typeface="Calibri"/>
                <a:cs typeface="Calibri"/>
                <a:sym typeface="Calibri"/>
              </a:rPr>
              <a:t>TECHNICAL CHALLENGE</a:t>
            </a:r>
            <a:endParaRPr b="0" i="0" sz="1000" u="none" cap="none" strike="noStrike">
              <a:solidFill>
                <a:schemeClr val="dk1"/>
              </a:solidFill>
              <a:latin typeface="Calibri"/>
              <a:ea typeface="Calibri"/>
              <a:cs typeface="Calibri"/>
              <a:sym typeface="Calibri"/>
            </a:endParaRPr>
          </a:p>
        </p:txBody>
      </p:sp>
      <p:sp>
        <p:nvSpPr>
          <p:cNvPr id="843" name="Google Shape;843;p28"/>
          <p:cNvSpPr/>
          <p:nvPr/>
        </p:nvSpPr>
        <p:spPr>
          <a:xfrm>
            <a:off x="502920" y="4069080"/>
            <a:ext cx="6035040" cy="475488"/>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5F6B7A"/>
              </a:buClr>
              <a:buSzPts val="1150"/>
              <a:buFont typeface="Calibri"/>
              <a:buNone/>
            </a:pPr>
            <a:r>
              <a:rPr b="0" i="0" lang="en-US" sz="1150" u="none" cap="none" strike="noStrike">
                <a:solidFill>
                  <a:srgbClr val="5F6B7A"/>
                </a:solidFill>
                <a:latin typeface="Calibri"/>
                <a:ea typeface="Calibri"/>
                <a:cs typeface="Calibri"/>
                <a:sym typeface="Calibri"/>
              </a:rPr>
              <a:t>Diagnose the site-specific degradation and design a preprocessing contract plus monitoring scheme that catches the next drift within a day, not five weeks.</a:t>
            </a:r>
            <a:endParaRPr b="0" i="0" sz="1150" u="none" cap="none" strike="noStrike">
              <a:solidFill>
                <a:schemeClr val="dk1"/>
              </a:solidFill>
              <a:latin typeface="Calibri"/>
              <a:ea typeface="Calibri"/>
              <a:cs typeface="Calibri"/>
              <a:sym typeface="Calibri"/>
            </a:endParaRPr>
          </a:p>
        </p:txBody>
      </p:sp>
      <p:sp>
        <p:nvSpPr>
          <p:cNvPr id="844" name="Google Shape;844;p28"/>
          <p:cNvSpPr/>
          <p:nvPr/>
        </p:nvSpPr>
        <p:spPr>
          <a:xfrm>
            <a:off x="6858000" y="1389888"/>
            <a:ext cx="4828032" cy="2184684"/>
          </a:xfrm>
          <a:prstGeom prst="roundRect">
            <a:avLst>
              <a:gd fmla="val 3767" name="adj"/>
            </a:avLst>
          </a:prstGeom>
          <a:solidFill>
            <a:srgbClr val="F2F6F9"/>
          </a:solidFill>
          <a:ln cap="flat" cmpd="sng" w="12700">
            <a:solidFill>
              <a:srgbClr val="D9E2E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5" name="Google Shape;845;p28"/>
          <p:cNvSpPr/>
          <p:nvPr/>
        </p:nvSpPr>
        <p:spPr>
          <a:xfrm>
            <a:off x="7040880" y="1481328"/>
            <a:ext cx="4462272" cy="2377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58220"/>
              </a:buClr>
              <a:buSzPts val="950"/>
              <a:buFont typeface="Calibri"/>
              <a:buNone/>
            </a:pPr>
            <a:r>
              <a:rPr b="1" i="0" lang="en-US" sz="950" u="none" cap="none" strike="noStrike">
                <a:solidFill>
                  <a:srgbClr val="F58220"/>
                </a:solidFill>
                <a:latin typeface="Calibri"/>
                <a:ea typeface="Calibri"/>
                <a:cs typeface="Calibri"/>
                <a:sym typeface="Calibri"/>
              </a:rPr>
              <a:t>CONSTRAINTS</a:t>
            </a:r>
            <a:endParaRPr b="0" i="0" sz="950" u="none" cap="none" strike="noStrike">
              <a:solidFill>
                <a:schemeClr val="dk1"/>
              </a:solidFill>
              <a:latin typeface="Calibri"/>
              <a:ea typeface="Calibri"/>
              <a:cs typeface="Calibri"/>
              <a:sym typeface="Calibri"/>
            </a:endParaRPr>
          </a:p>
        </p:txBody>
      </p:sp>
      <p:sp>
        <p:nvSpPr>
          <p:cNvPr id="846" name="Google Shape;846;p28"/>
          <p:cNvSpPr/>
          <p:nvPr/>
        </p:nvSpPr>
        <p:spPr>
          <a:xfrm>
            <a:off x="7095744" y="1755648"/>
            <a:ext cx="4370832" cy="1681764"/>
          </a:xfrm>
          <a:prstGeom prst="rect">
            <a:avLst/>
          </a:prstGeom>
          <a:noFill/>
          <a:ln>
            <a:noFill/>
          </a:ln>
        </p:spPr>
        <p:txBody>
          <a:bodyPr anchorCtr="0" anchor="t" bIns="0" lIns="0" spcFirstLastPara="1" rIns="0" wrap="square" tIns="0">
            <a:noAutofit/>
          </a:bodyPr>
          <a:lstStyle/>
          <a:p>
            <a:pPr indent="-127000" lvl="0" marL="127000" marR="0" rtl="0" algn="l">
              <a:spcBef>
                <a:spcPts val="0"/>
              </a:spcBef>
              <a:spcAft>
                <a:spcPts val="0"/>
              </a:spcAft>
              <a:buClr>
                <a:srgbClr val="23293B"/>
              </a:buClr>
              <a:buSzPts val="1050"/>
              <a:buFont typeface="Calibri"/>
              <a:buChar char="•"/>
            </a:pPr>
            <a:r>
              <a:rPr b="0" i="0" lang="en-US" sz="1050" u="none" cap="none" strike="noStrike">
                <a:solidFill>
                  <a:srgbClr val="23293B"/>
                </a:solidFill>
                <a:latin typeface="Calibri"/>
                <a:ea typeface="Calibri"/>
                <a:cs typeface="Calibri"/>
                <a:sym typeface="Calibri"/>
              </a:rPr>
              <a:t>Three DICOM vendors, differing bit depths</a:t>
            </a:r>
            <a:endParaRPr b="0" i="0" sz="1050" u="none" cap="none" strike="noStrike">
              <a:solidFill>
                <a:schemeClr val="dk1"/>
              </a:solidFill>
              <a:latin typeface="Calibri"/>
              <a:ea typeface="Calibri"/>
              <a:cs typeface="Calibri"/>
              <a:sym typeface="Calibri"/>
            </a:endParaRPr>
          </a:p>
          <a:p>
            <a:pPr indent="-127000" lvl="0" marL="127000" marR="0" rtl="0" algn="l">
              <a:spcBef>
                <a:spcPts val="500"/>
              </a:spcBef>
              <a:spcAft>
                <a:spcPts val="0"/>
              </a:spcAft>
              <a:buClr>
                <a:srgbClr val="23293B"/>
              </a:buClr>
              <a:buSzPts val="1050"/>
              <a:buFont typeface="Calibri"/>
              <a:buChar char="•"/>
            </a:pPr>
            <a:r>
              <a:rPr b="0" i="0" lang="en-US" sz="1050" u="none" cap="none" strike="noStrike">
                <a:solidFill>
                  <a:srgbClr val="23293B"/>
                </a:solidFill>
                <a:latin typeface="Calibri"/>
                <a:ea typeface="Calibri"/>
                <a:cs typeface="Calibri"/>
                <a:sym typeface="Calibri"/>
              </a:rPr>
              <a:t>No patient images leave the premises</a:t>
            </a:r>
            <a:endParaRPr b="0" i="0" sz="1050" u="none" cap="none" strike="noStrike">
              <a:solidFill>
                <a:schemeClr val="dk1"/>
              </a:solidFill>
              <a:latin typeface="Calibri"/>
              <a:ea typeface="Calibri"/>
              <a:cs typeface="Calibri"/>
              <a:sym typeface="Calibri"/>
            </a:endParaRPr>
          </a:p>
          <a:p>
            <a:pPr indent="-127000" lvl="0" marL="127000" marR="0" rtl="0" algn="l">
              <a:spcBef>
                <a:spcPts val="500"/>
              </a:spcBef>
              <a:spcAft>
                <a:spcPts val="0"/>
              </a:spcAft>
              <a:buClr>
                <a:srgbClr val="23293B"/>
              </a:buClr>
              <a:buSzPts val="1050"/>
              <a:buFont typeface="Calibri"/>
              <a:buChar char="•"/>
            </a:pPr>
            <a:r>
              <a:rPr b="0" i="0" lang="en-US" sz="1050" u="none" cap="none" strike="noStrike">
                <a:solidFill>
                  <a:srgbClr val="23293B"/>
                </a:solidFill>
                <a:latin typeface="Calibri"/>
                <a:ea typeface="Calibri"/>
                <a:cs typeface="Calibri"/>
                <a:sym typeface="Calibri"/>
              </a:rPr>
              <a:t>Flip / strong intensity aug invalid</a:t>
            </a:r>
            <a:endParaRPr b="0" i="0" sz="1050" u="none" cap="none" strike="noStrike">
              <a:solidFill>
                <a:schemeClr val="dk1"/>
              </a:solidFill>
              <a:latin typeface="Calibri"/>
              <a:ea typeface="Calibri"/>
              <a:cs typeface="Calibri"/>
              <a:sym typeface="Calibri"/>
            </a:endParaRPr>
          </a:p>
          <a:p>
            <a:pPr indent="-127000" lvl="0" marL="127000" marR="0" rtl="0" algn="l">
              <a:spcBef>
                <a:spcPts val="500"/>
              </a:spcBef>
              <a:spcAft>
                <a:spcPts val="0"/>
              </a:spcAft>
              <a:buClr>
                <a:srgbClr val="23293B"/>
              </a:buClr>
              <a:buSzPts val="1050"/>
              <a:buFont typeface="Calibri"/>
              <a:buChar char="•"/>
            </a:pPr>
            <a:r>
              <a:rPr b="0" i="0" lang="en-US" sz="1050" u="none" cap="none" strike="noStrike">
                <a:solidFill>
                  <a:srgbClr val="23293B"/>
                </a:solidFill>
                <a:latin typeface="Calibri"/>
                <a:ea typeface="Calibri"/>
                <a:cs typeface="Calibri"/>
                <a:sym typeface="Calibri"/>
              </a:rPr>
              <a:t>Fix must not require full retraining</a:t>
            </a:r>
            <a:endParaRPr b="0" i="0" sz="1050" u="none" cap="none" strike="noStrike">
              <a:solidFill>
                <a:schemeClr val="dk1"/>
              </a:solidFill>
              <a:latin typeface="Calibri"/>
              <a:ea typeface="Calibri"/>
              <a:cs typeface="Calibri"/>
              <a:sym typeface="Calibri"/>
            </a:endParaRPr>
          </a:p>
        </p:txBody>
      </p:sp>
      <p:sp>
        <p:nvSpPr>
          <p:cNvPr id="847" name="Google Shape;847;p28"/>
          <p:cNvSpPr/>
          <p:nvPr/>
        </p:nvSpPr>
        <p:spPr>
          <a:xfrm>
            <a:off x="6858000" y="3803172"/>
            <a:ext cx="4828032" cy="2551908"/>
          </a:xfrm>
          <a:prstGeom prst="roundRect">
            <a:avLst>
              <a:gd fmla="val 3225" name="adj"/>
            </a:avLst>
          </a:prstGeom>
          <a:solidFill>
            <a:srgbClr val="E9F6F5"/>
          </a:solidFill>
          <a:ln cap="flat" cmpd="sng" w="12700">
            <a:solidFill>
              <a:srgbClr val="00A79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8" name="Google Shape;848;p28"/>
          <p:cNvSpPr/>
          <p:nvPr/>
        </p:nvSpPr>
        <p:spPr>
          <a:xfrm>
            <a:off x="7040880" y="3894612"/>
            <a:ext cx="4462272" cy="2377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A79D"/>
              </a:buClr>
              <a:buSzPts val="950"/>
              <a:buFont typeface="Calibri"/>
              <a:buNone/>
            </a:pPr>
            <a:r>
              <a:rPr b="1" i="0" lang="en-US" sz="950" u="none" cap="none" strike="noStrike">
                <a:solidFill>
                  <a:srgbClr val="00A79D"/>
                </a:solidFill>
                <a:latin typeface="Calibri"/>
                <a:ea typeface="Calibri"/>
                <a:cs typeface="Calibri"/>
                <a:sym typeface="Calibri"/>
              </a:rPr>
              <a:t>DISCUSSION QUESTIONS</a:t>
            </a:r>
            <a:endParaRPr b="0" i="0" sz="950" u="none" cap="none" strike="noStrike">
              <a:solidFill>
                <a:schemeClr val="dk1"/>
              </a:solidFill>
              <a:latin typeface="Calibri"/>
              <a:ea typeface="Calibri"/>
              <a:cs typeface="Calibri"/>
              <a:sym typeface="Calibri"/>
            </a:endParaRPr>
          </a:p>
        </p:txBody>
      </p:sp>
      <p:sp>
        <p:nvSpPr>
          <p:cNvPr id="849" name="Google Shape;849;p28"/>
          <p:cNvSpPr/>
          <p:nvPr/>
        </p:nvSpPr>
        <p:spPr>
          <a:xfrm>
            <a:off x="7095744" y="4168932"/>
            <a:ext cx="4370832" cy="2048988"/>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23293B"/>
              </a:buClr>
              <a:buSzPts val="1050"/>
              <a:buFont typeface="Calibri"/>
              <a:buNone/>
            </a:pPr>
            <a:r>
              <a:rPr b="0" i="0" lang="en-US" sz="1050" u="none" cap="none" strike="noStrike">
                <a:solidFill>
                  <a:srgbClr val="23293B"/>
                </a:solidFill>
                <a:latin typeface="Calibri"/>
                <a:ea typeface="Calibri"/>
                <a:cs typeface="Calibri"/>
                <a:sym typeface="Calibri"/>
              </a:rPr>
              <a:t>1.  Why did aggregate metrics hide a 17-point per-site drop?</a:t>
            </a:r>
            <a:endParaRPr b="0" i="0" sz="1050" u="none" cap="none" strike="noStrike">
              <a:solidFill>
                <a:schemeClr val="dk1"/>
              </a:solidFill>
              <a:latin typeface="Calibri"/>
              <a:ea typeface="Calibri"/>
              <a:cs typeface="Calibri"/>
              <a:sym typeface="Calibri"/>
            </a:endParaRPr>
          </a:p>
          <a:p>
            <a:pPr indent="0" lvl="0" marL="0" marR="0" rtl="0" algn="l">
              <a:spcBef>
                <a:spcPts val="600"/>
              </a:spcBef>
              <a:spcAft>
                <a:spcPts val="0"/>
              </a:spcAft>
              <a:buClr>
                <a:srgbClr val="23293B"/>
              </a:buClr>
              <a:buSzPts val="1050"/>
              <a:buFont typeface="Calibri"/>
              <a:buNone/>
            </a:pPr>
            <a:r>
              <a:rPr b="0" i="0" lang="en-US" sz="1050" u="none" cap="none" strike="noStrike">
                <a:solidFill>
                  <a:srgbClr val="23293B"/>
                </a:solidFill>
                <a:latin typeface="Calibri"/>
                <a:ea typeface="Calibri"/>
                <a:cs typeface="Calibri"/>
                <a:sym typeface="Calibri"/>
              </a:rPr>
              <a:t>2.  Which augmentations are valid for chest X-rays — who signs off?</a:t>
            </a:r>
            <a:endParaRPr b="0" i="0" sz="1050" u="none" cap="none" strike="noStrike">
              <a:solidFill>
                <a:schemeClr val="dk1"/>
              </a:solidFill>
              <a:latin typeface="Calibri"/>
              <a:ea typeface="Calibri"/>
              <a:cs typeface="Calibri"/>
              <a:sym typeface="Calibri"/>
            </a:endParaRPr>
          </a:p>
          <a:p>
            <a:pPr indent="0" lvl="0" marL="0" marR="0" rtl="0" algn="l">
              <a:spcBef>
                <a:spcPts val="600"/>
              </a:spcBef>
              <a:spcAft>
                <a:spcPts val="0"/>
              </a:spcAft>
              <a:buClr>
                <a:srgbClr val="23293B"/>
              </a:buClr>
              <a:buSzPts val="1050"/>
              <a:buFont typeface="Calibri"/>
              <a:buNone/>
            </a:pPr>
            <a:r>
              <a:rPr b="0" i="0" lang="en-US" sz="1050" u="none" cap="none" strike="noStrike">
                <a:solidFill>
                  <a:srgbClr val="23293B"/>
                </a:solidFill>
                <a:latin typeface="Calibri"/>
                <a:ea typeface="Calibri"/>
                <a:cs typeface="Calibri"/>
                <a:sym typeface="Calibri"/>
              </a:rPr>
              <a:t>3.  Design the input-fingerprint alert: stats, baseline, threshold</a:t>
            </a:r>
            <a:endParaRPr b="0" i="0" sz="1050" u="none" cap="none" strike="noStrike">
              <a:solidFill>
                <a:schemeClr val="dk1"/>
              </a:solidFill>
              <a:latin typeface="Calibri"/>
              <a:ea typeface="Calibri"/>
              <a:cs typeface="Calibri"/>
              <a:sym typeface="Calibri"/>
            </a:endParaRPr>
          </a:p>
          <a:p>
            <a:pPr indent="0" lvl="0" marL="0" marR="0" rtl="0" algn="l">
              <a:spcBef>
                <a:spcPts val="600"/>
              </a:spcBef>
              <a:spcAft>
                <a:spcPts val="0"/>
              </a:spcAft>
              <a:buClr>
                <a:srgbClr val="23293B"/>
              </a:buClr>
              <a:buSzPts val="1050"/>
              <a:buFont typeface="Calibri"/>
              <a:buNone/>
            </a:pPr>
            <a:r>
              <a:rPr b="0" i="0" lang="en-US" sz="1050" u="none" cap="none" strike="noStrike">
                <a:solidFill>
                  <a:srgbClr val="23293B"/>
                </a:solidFill>
                <a:latin typeface="Calibri"/>
                <a:ea typeface="Calibri"/>
                <a:cs typeface="Calibri"/>
                <a:sym typeface="Calibri"/>
              </a:rPr>
              <a:t>4.  Argue the on-prem position against a cloud preprocessing offer</a:t>
            </a:r>
            <a:endParaRPr b="0" i="0" sz="1050" u="none" cap="none" strike="noStrike">
              <a:solidFill>
                <a:schemeClr val="dk1"/>
              </a:solidFill>
              <a:latin typeface="Calibri"/>
              <a:ea typeface="Calibri"/>
              <a:cs typeface="Calibri"/>
              <a:sym typeface="Calibri"/>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854" name="Shape 854"/>
        <p:cNvGrpSpPr/>
        <p:nvPr/>
      </p:nvGrpSpPr>
      <p:grpSpPr>
        <a:xfrm>
          <a:off x="0" y="0"/>
          <a:ext cx="0" cy="0"/>
          <a:chOff x="0" y="0"/>
          <a:chExt cx="0" cy="0"/>
        </a:xfrm>
      </p:grpSpPr>
      <p:sp>
        <p:nvSpPr>
          <p:cNvPr id="855" name="Google Shape;855;p29"/>
          <p:cNvSpPr/>
          <p:nvPr/>
        </p:nvSpPr>
        <p:spPr>
          <a:xfrm>
            <a:off x="502920" y="274320"/>
            <a:ext cx="9646920" cy="56692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D2A5C"/>
              </a:buClr>
              <a:buSzPts val="2700"/>
              <a:buFont typeface="Calibri"/>
              <a:buNone/>
            </a:pPr>
            <a:r>
              <a:rPr b="1" i="0" lang="en-US" sz="2700" u="none" cap="none" strike="noStrike">
                <a:solidFill>
                  <a:srgbClr val="1D2A5C"/>
                </a:solidFill>
                <a:latin typeface="Calibri"/>
                <a:ea typeface="Calibri"/>
                <a:cs typeface="Calibri"/>
                <a:sym typeface="Calibri"/>
              </a:rPr>
              <a:t>M1 benchmarks &amp; targets</a:t>
            </a:r>
            <a:endParaRPr b="0" i="0" sz="2700" u="none" cap="none" strike="noStrike">
              <a:solidFill>
                <a:schemeClr val="dk1"/>
              </a:solidFill>
              <a:latin typeface="Calibri"/>
              <a:ea typeface="Calibri"/>
              <a:cs typeface="Calibri"/>
              <a:sym typeface="Calibri"/>
            </a:endParaRPr>
          </a:p>
        </p:txBody>
      </p:sp>
      <p:sp>
        <p:nvSpPr>
          <p:cNvPr id="856" name="Google Shape;856;p29"/>
          <p:cNvSpPr/>
          <p:nvPr/>
        </p:nvSpPr>
        <p:spPr>
          <a:xfrm>
            <a:off x="502920" y="859536"/>
            <a:ext cx="9646920" cy="31089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F6B7A"/>
              </a:buClr>
              <a:buSzPts val="1250"/>
              <a:buFont typeface="Arial"/>
              <a:buNone/>
            </a:pPr>
            <a:r>
              <a:rPr b="0" i="0" lang="en-US" sz="1250" u="none" cap="none" strike="noStrike">
                <a:solidFill>
                  <a:srgbClr val="5F6B7A"/>
                </a:solidFill>
                <a:latin typeface="Arial"/>
                <a:ea typeface="Arial"/>
                <a:cs typeface="Arial"/>
                <a:sym typeface="Arial"/>
              </a:rPr>
              <a:t>معايير وأهداف الوحدة 1</a:t>
            </a:r>
            <a:endParaRPr b="0" i="0" sz="1250" u="none" cap="none" strike="noStrike">
              <a:solidFill>
                <a:schemeClr val="dk1"/>
              </a:solidFill>
              <a:latin typeface="Calibri"/>
              <a:ea typeface="Calibri"/>
              <a:cs typeface="Calibri"/>
              <a:sym typeface="Calibri"/>
            </a:endParaRPr>
          </a:p>
        </p:txBody>
      </p:sp>
      <p:pic>
        <p:nvPicPr>
          <p:cNvPr descr="/sessions/blissful-determined-ritchie/build/assets/sdaia_logo.png" id="857" name="Google Shape;857;p29"/>
          <p:cNvPicPr preferRelativeResize="0"/>
          <p:nvPr/>
        </p:nvPicPr>
        <p:blipFill rotWithShape="1">
          <a:blip r:embed="rId3">
            <a:alphaModFix/>
          </a:blip>
          <a:srcRect b="0" l="0" r="0" t="0"/>
          <a:stretch/>
        </p:blipFill>
        <p:spPr>
          <a:xfrm>
            <a:off x="10625328" y="310896"/>
            <a:ext cx="1078992" cy="264111"/>
          </a:xfrm>
          <a:prstGeom prst="rect">
            <a:avLst/>
          </a:prstGeom>
          <a:noFill/>
          <a:ln>
            <a:noFill/>
          </a:ln>
        </p:spPr>
      </p:pic>
      <p:sp>
        <p:nvSpPr>
          <p:cNvPr id="858" name="Google Shape;858;p29"/>
          <p:cNvSpPr/>
          <p:nvPr/>
        </p:nvSpPr>
        <p:spPr>
          <a:xfrm>
            <a:off x="502920" y="6528816"/>
            <a:ext cx="8686800"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A79D"/>
              </a:buClr>
              <a:buSzPts val="800"/>
              <a:buFont typeface="Calibri"/>
              <a:buNone/>
            </a:pPr>
            <a:r>
              <a:rPr b="1" i="0" lang="en-US" sz="800" u="none" cap="none" strike="noStrike">
                <a:solidFill>
                  <a:srgbClr val="00A79D"/>
                </a:solidFill>
                <a:latin typeface="Calibri"/>
                <a:ea typeface="Calibri"/>
                <a:cs typeface="Calibri"/>
                <a:sym typeface="Calibri"/>
              </a:rPr>
              <a:t>MODULE 1   </a:t>
            </a:r>
            <a:r>
              <a:rPr b="0" i="0" lang="en-US" sz="800" u="none" cap="none" strike="noStrike">
                <a:solidFill>
                  <a:srgbClr val="8A96A6"/>
                </a:solidFill>
                <a:latin typeface="Calibri"/>
                <a:ea typeface="Calibri"/>
                <a:cs typeface="Calibri"/>
                <a:sym typeface="Calibri"/>
              </a:rPr>
              <a:t>SDA-AIE-212 · Computer Vision Systems Development</a:t>
            </a:r>
            <a:endParaRPr b="0" i="0" sz="800" u="none" cap="none" strike="noStrike">
              <a:solidFill>
                <a:schemeClr val="dk1"/>
              </a:solidFill>
              <a:latin typeface="Calibri"/>
              <a:ea typeface="Calibri"/>
              <a:cs typeface="Calibri"/>
              <a:sym typeface="Calibri"/>
            </a:endParaRPr>
          </a:p>
        </p:txBody>
      </p:sp>
      <p:sp>
        <p:nvSpPr>
          <p:cNvPr id="859" name="Google Shape;859;p29"/>
          <p:cNvSpPr/>
          <p:nvPr/>
        </p:nvSpPr>
        <p:spPr>
          <a:xfrm>
            <a:off x="11292840" y="6528816"/>
            <a:ext cx="411480" cy="219456"/>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8A96A6"/>
              </a:buClr>
              <a:buSzPts val="900"/>
              <a:buFont typeface="Calibri"/>
              <a:buNone/>
            </a:pPr>
            <a:r>
              <a:rPr b="0" i="0" lang="en-US" sz="900" u="none" cap="none" strike="noStrike">
                <a:solidFill>
                  <a:srgbClr val="8A96A6"/>
                </a:solidFill>
                <a:latin typeface="Calibri"/>
                <a:ea typeface="Calibri"/>
                <a:cs typeface="Calibri"/>
                <a:sym typeface="Calibri"/>
              </a:rPr>
              <a:t>29</a:t>
            </a:r>
            <a:endParaRPr b="0" i="0" sz="900" u="none" cap="none" strike="noStrike">
              <a:solidFill>
                <a:schemeClr val="dk1"/>
              </a:solidFill>
              <a:latin typeface="Calibri"/>
              <a:ea typeface="Calibri"/>
              <a:cs typeface="Calibri"/>
              <a:sym typeface="Calibri"/>
            </a:endParaRPr>
          </a:p>
        </p:txBody>
      </p:sp>
      <p:sp>
        <p:nvSpPr>
          <p:cNvPr id="860" name="Google Shape;860;p29"/>
          <p:cNvSpPr/>
          <p:nvPr/>
        </p:nvSpPr>
        <p:spPr>
          <a:xfrm>
            <a:off x="502920" y="1389888"/>
            <a:ext cx="11185855" cy="3657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5F6B7A"/>
              </a:buClr>
              <a:buSzPts val="1250"/>
              <a:buFont typeface="Calibri"/>
              <a:buNone/>
            </a:pPr>
            <a:r>
              <a:rPr b="0" i="1" lang="en-US" sz="1250" u="none" cap="none" strike="noStrike">
                <a:solidFill>
                  <a:srgbClr val="5F6B7A"/>
                </a:solidFill>
                <a:latin typeface="Calibri"/>
                <a:ea typeface="Calibri"/>
                <a:cs typeface="Calibri"/>
                <a:sym typeface="Calibri"/>
              </a:rPr>
              <a:t>Reference ladder: workers=0 -&gt; 118 img/s (31% GPU); workers=4 -&gt; 361; workers=8 + pin_memory -&gt; 465 img/s (91% GPU).</a:t>
            </a:r>
            <a:endParaRPr b="0" i="0" sz="1250" u="none" cap="none" strike="noStrike">
              <a:solidFill>
                <a:schemeClr val="dk1"/>
              </a:solidFill>
              <a:latin typeface="Calibri"/>
              <a:ea typeface="Calibri"/>
              <a:cs typeface="Calibri"/>
              <a:sym typeface="Calibri"/>
            </a:endParaRPr>
          </a:p>
        </p:txBody>
      </p:sp>
      <p:graphicFrame>
        <p:nvGraphicFramePr>
          <p:cNvPr id="861" name="Google Shape;861;p29"/>
          <p:cNvGraphicFramePr/>
          <p:nvPr/>
        </p:nvGraphicFramePr>
        <p:xfrm>
          <a:off x="502920" y="1865376"/>
          <a:ext cx="3000000" cy="3000000"/>
        </p:xfrm>
        <a:graphic>
          <a:graphicData uri="http://schemas.openxmlformats.org/drawingml/2006/table">
            <a:tbl>
              <a:tblPr>
                <a:noFill/>
                <a:tableStyleId>{F80342BA-3033-44D6-9F91-622DC7A4C435}</a:tableStyleId>
              </a:tblPr>
              <a:tblGrid>
                <a:gridCol w="4007075"/>
                <a:gridCol w="3487725"/>
                <a:gridCol w="3691050"/>
              </a:tblGrid>
              <a:tr h="628325">
                <a:tc>
                  <a:txBody>
                    <a:bodyPr/>
                    <a:lstStyle/>
                    <a:p>
                      <a:pPr indent="0" lvl="0" marL="0" marR="0" rtl="0" algn="l">
                        <a:spcBef>
                          <a:spcPts val="0"/>
                        </a:spcBef>
                        <a:spcAft>
                          <a:spcPts val="0"/>
                        </a:spcAft>
                        <a:buClr>
                          <a:srgbClr val="FFFFFF"/>
                        </a:buClr>
                        <a:buSzPts val="1050"/>
                        <a:buFont typeface="Calibri"/>
                        <a:buNone/>
                      </a:pPr>
                      <a:r>
                        <a:rPr b="1" lang="en-US" sz="1050" u="none" cap="none" strike="noStrike">
                          <a:solidFill>
                            <a:srgbClr val="FFFFFF"/>
                          </a:solidFill>
                          <a:latin typeface="Calibri"/>
                          <a:ea typeface="Calibri"/>
                          <a:cs typeface="Calibri"/>
                          <a:sym typeface="Calibri"/>
                        </a:rPr>
                        <a:t>Metric</a:t>
                      </a:r>
                      <a:endParaRPr sz="1050" u="none" cap="none" strike="noStrike">
                        <a:latin typeface="Calibri"/>
                        <a:ea typeface="Calibri"/>
                        <a:cs typeface="Calibri"/>
                        <a:sym typeface="Calibri"/>
                      </a:endParaRPr>
                    </a:p>
                  </a:txBody>
                  <a:tcPr marT="64000" marB="64000" marR="64000" marL="64000" anchor="ctr">
                    <a:lnL cap="flat" cmpd="sng" w="9525">
                      <a:solidFill>
                        <a:srgbClr val="D9E2EA"/>
                      </a:solidFill>
                      <a:prstDash val="solid"/>
                      <a:round/>
                      <a:headEnd len="sm" w="sm" type="none"/>
                      <a:tailEnd len="sm" w="sm" type="none"/>
                    </a:lnL>
                    <a:lnR cap="flat" cmpd="sng" w="9525">
                      <a:solidFill>
                        <a:srgbClr val="D9E2EA"/>
                      </a:solidFill>
                      <a:prstDash val="solid"/>
                      <a:round/>
                      <a:headEnd len="sm" w="sm" type="none"/>
                      <a:tailEnd len="sm" w="sm" type="none"/>
                    </a:lnR>
                    <a:lnT cap="flat" cmpd="sng" w="9525">
                      <a:solidFill>
                        <a:srgbClr val="D9E2EA"/>
                      </a:solidFill>
                      <a:prstDash val="solid"/>
                      <a:round/>
                      <a:headEnd len="sm" w="sm" type="none"/>
                      <a:tailEnd len="sm" w="sm" type="none"/>
                    </a:lnT>
                    <a:lnB cap="flat" cmpd="sng" w="9525">
                      <a:solidFill>
                        <a:srgbClr val="D9E2EA"/>
                      </a:solidFill>
                      <a:prstDash val="solid"/>
                      <a:round/>
                      <a:headEnd len="sm" w="sm" type="none"/>
                      <a:tailEnd len="sm" w="sm" type="none"/>
                    </a:lnB>
                    <a:solidFill>
                      <a:srgbClr val="1D2A5C"/>
                    </a:solidFill>
                  </a:tcPr>
                </a:tc>
                <a:tc>
                  <a:txBody>
                    <a:bodyPr/>
                    <a:lstStyle/>
                    <a:p>
                      <a:pPr indent="0" lvl="0" marL="0" marR="0" rtl="0" algn="l">
                        <a:spcBef>
                          <a:spcPts val="0"/>
                        </a:spcBef>
                        <a:spcAft>
                          <a:spcPts val="0"/>
                        </a:spcAft>
                        <a:buClr>
                          <a:srgbClr val="FFFFFF"/>
                        </a:buClr>
                        <a:buSzPts val="1050"/>
                        <a:buFont typeface="Calibri"/>
                        <a:buNone/>
                      </a:pPr>
                      <a:r>
                        <a:rPr b="1" lang="en-US" sz="1050" u="none" cap="none" strike="noStrike">
                          <a:solidFill>
                            <a:srgbClr val="FFFFFF"/>
                          </a:solidFill>
                          <a:latin typeface="Calibri"/>
                          <a:ea typeface="Calibri"/>
                          <a:cs typeface="Calibri"/>
                          <a:sym typeface="Calibri"/>
                        </a:rPr>
                        <a:t>Target after M1</a:t>
                      </a:r>
                      <a:endParaRPr sz="1050" u="none" cap="none" strike="noStrike">
                        <a:latin typeface="Calibri"/>
                        <a:ea typeface="Calibri"/>
                        <a:cs typeface="Calibri"/>
                        <a:sym typeface="Calibri"/>
                      </a:endParaRPr>
                    </a:p>
                  </a:txBody>
                  <a:tcPr marT="64000" marB="64000" marR="64000" marL="64000" anchor="ctr">
                    <a:lnL cap="flat" cmpd="sng" w="9525">
                      <a:solidFill>
                        <a:srgbClr val="D9E2EA"/>
                      </a:solidFill>
                      <a:prstDash val="solid"/>
                      <a:round/>
                      <a:headEnd len="sm" w="sm" type="none"/>
                      <a:tailEnd len="sm" w="sm" type="none"/>
                    </a:lnL>
                    <a:lnR cap="flat" cmpd="sng" w="9525">
                      <a:solidFill>
                        <a:srgbClr val="D9E2EA"/>
                      </a:solidFill>
                      <a:prstDash val="solid"/>
                      <a:round/>
                      <a:headEnd len="sm" w="sm" type="none"/>
                      <a:tailEnd len="sm" w="sm" type="none"/>
                    </a:lnR>
                    <a:lnT cap="flat" cmpd="sng" w="9525">
                      <a:solidFill>
                        <a:srgbClr val="D9E2EA"/>
                      </a:solidFill>
                      <a:prstDash val="solid"/>
                      <a:round/>
                      <a:headEnd len="sm" w="sm" type="none"/>
                      <a:tailEnd len="sm" w="sm" type="none"/>
                    </a:lnT>
                    <a:lnB cap="flat" cmpd="sng" w="9525">
                      <a:solidFill>
                        <a:srgbClr val="D9E2EA"/>
                      </a:solidFill>
                      <a:prstDash val="solid"/>
                      <a:round/>
                      <a:headEnd len="sm" w="sm" type="none"/>
                      <a:tailEnd len="sm" w="sm" type="none"/>
                    </a:lnB>
                    <a:solidFill>
                      <a:srgbClr val="1D2A5C"/>
                    </a:solidFill>
                  </a:tcPr>
                </a:tc>
                <a:tc>
                  <a:txBody>
                    <a:bodyPr/>
                    <a:lstStyle/>
                    <a:p>
                      <a:pPr indent="0" lvl="0" marL="0" marR="0" rtl="0" algn="l">
                        <a:spcBef>
                          <a:spcPts val="0"/>
                        </a:spcBef>
                        <a:spcAft>
                          <a:spcPts val="0"/>
                        </a:spcAft>
                        <a:buClr>
                          <a:srgbClr val="FFFFFF"/>
                        </a:buClr>
                        <a:buSzPts val="1050"/>
                        <a:buFont typeface="Calibri"/>
                        <a:buNone/>
                      </a:pPr>
                      <a:r>
                        <a:rPr b="1" lang="en-US" sz="1050" u="none" cap="none" strike="noStrike">
                          <a:solidFill>
                            <a:srgbClr val="FFFFFF"/>
                          </a:solidFill>
                          <a:latin typeface="Calibri"/>
                          <a:ea typeface="Calibri"/>
                          <a:cs typeface="Calibri"/>
                          <a:sym typeface="Calibri"/>
                        </a:rPr>
                        <a:t>How measured</a:t>
                      </a:r>
                      <a:endParaRPr sz="1050" u="none" cap="none" strike="noStrike">
                        <a:latin typeface="Calibri"/>
                        <a:ea typeface="Calibri"/>
                        <a:cs typeface="Calibri"/>
                        <a:sym typeface="Calibri"/>
                      </a:endParaRPr>
                    </a:p>
                  </a:txBody>
                  <a:tcPr marT="64000" marB="64000" marR="64000" marL="64000" anchor="ctr">
                    <a:lnL cap="flat" cmpd="sng" w="9525">
                      <a:solidFill>
                        <a:srgbClr val="D9E2EA"/>
                      </a:solidFill>
                      <a:prstDash val="solid"/>
                      <a:round/>
                      <a:headEnd len="sm" w="sm" type="none"/>
                      <a:tailEnd len="sm" w="sm" type="none"/>
                    </a:lnL>
                    <a:lnR cap="flat" cmpd="sng" w="9525">
                      <a:solidFill>
                        <a:srgbClr val="D9E2EA"/>
                      </a:solidFill>
                      <a:prstDash val="solid"/>
                      <a:round/>
                      <a:headEnd len="sm" w="sm" type="none"/>
                      <a:tailEnd len="sm" w="sm" type="none"/>
                    </a:lnR>
                    <a:lnT cap="flat" cmpd="sng" w="9525">
                      <a:solidFill>
                        <a:srgbClr val="D9E2EA"/>
                      </a:solidFill>
                      <a:prstDash val="solid"/>
                      <a:round/>
                      <a:headEnd len="sm" w="sm" type="none"/>
                      <a:tailEnd len="sm" w="sm" type="none"/>
                    </a:lnT>
                    <a:lnB cap="flat" cmpd="sng" w="9525">
                      <a:solidFill>
                        <a:srgbClr val="D9E2EA"/>
                      </a:solidFill>
                      <a:prstDash val="solid"/>
                      <a:round/>
                      <a:headEnd len="sm" w="sm" type="none"/>
                      <a:tailEnd len="sm" w="sm" type="none"/>
                    </a:lnB>
                    <a:solidFill>
                      <a:srgbClr val="1D2A5C"/>
                    </a:solidFill>
                  </a:tcPr>
                </a:tc>
              </a:tr>
              <a:tr h="628325">
                <a:tc>
                  <a:txBody>
                    <a:bodyPr/>
                    <a:lstStyle/>
                    <a:p>
                      <a:pPr indent="0" lvl="0" marL="0" marR="0" rtl="0" algn="l">
                        <a:spcBef>
                          <a:spcPts val="0"/>
                        </a:spcBef>
                        <a:spcAft>
                          <a:spcPts val="0"/>
                        </a:spcAft>
                        <a:buClr>
                          <a:srgbClr val="1D2A5C"/>
                        </a:buClr>
                        <a:buSzPts val="1050"/>
                        <a:buFont typeface="Calibri"/>
                        <a:buNone/>
                      </a:pPr>
                      <a:r>
                        <a:rPr b="1" lang="en-US" sz="1050" u="none" cap="none" strike="noStrike">
                          <a:solidFill>
                            <a:srgbClr val="1D2A5C"/>
                          </a:solidFill>
                          <a:latin typeface="Calibri"/>
                          <a:ea typeface="Calibri"/>
                          <a:cs typeface="Calibri"/>
                          <a:sym typeface="Calibri"/>
                        </a:rPr>
                        <a:t>Loader throughput (224 px, bs=64)</a:t>
                      </a:r>
                      <a:endParaRPr sz="1050" u="none" cap="none" strike="noStrike">
                        <a:latin typeface="Calibri"/>
                        <a:ea typeface="Calibri"/>
                        <a:cs typeface="Calibri"/>
                        <a:sym typeface="Calibri"/>
                      </a:endParaRPr>
                    </a:p>
                  </a:txBody>
                  <a:tcPr marT="64000" marB="64000" marR="64000" marL="64000" anchor="ctr">
                    <a:lnL cap="flat" cmpd="sng" w="9525">
                      <a:solidFill>
                        <a:srgbClr val="D9E2EA"/>
                      </a:solidFill>
                      <a:prstDash val="solid"/>
                      <a:round/>
                      <a:headEnd len="sm" w="sm" type="none"/>
                      <a:tailEnd len="sm" w="sm" type="none"/>
                    </a:lnL>
                    <a:lnR cap="flat" cmpd="sng" w="9525">
                      <a:solidFill>
                        <a:srgbClr val="D9E2EA"/>
                      </a:solidFill>
                      <a:prstDash val="solid"/>
                      <a:round/>
                      <a:headEnd len="sm" w="sm" type="none"/>
                      <a:tailEnd len="sm" w="sm" type="none"/>
                    </a:lnR>
                    <a:lnT cap="flat" cmpd="sng" w="9525">
                      <a:solidFill>
                        <a:srgbClr val="D9E2EA"/>
                      </a:solidFill>
                      <a:prstDash val="solid"/>
                      <a:round/>
                      <a:headEnd len="sm" w="sm" type="none"/>
                      <a:tailEnd len="sm" w="sm" type="none"/>
                    </a:lnT>
                    <a:lnB cap="flat" cmpd="sng" w="9525">
                      <a:solidFill>
                        <a:srgbClr val="D9E2EA"/>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23293B"/>
                        </a:buClr>
                        <a:buSzPts val="1050"/>
                        <a:buFont typeface="Calibri"/>
                        <a:buNone/>
                      </a:pPr>
                      <a:r>
                        <a:rPr lang="en-US" sz="1050" u="none" cap="none" strike="noStrike">
                          <a:solidFill>
                            <a:srgbClr val="23293B"/>
                          </a:solidFill>
                          <a:latin typeface="Calibri"/>
                          <a:ea typeface="Calibri"/>
                          <a:cs typeface="Calibri"/>
                          <a:sym typeface="Calibri"/>
                        </a:rPr>
                        <a:t>&gt;= 400 img/s</a:t>
                      </a:r>
                      <a:endParaRPr sz="1050" u="none" cap="none" strike="noStrike">
                        <a:latin typeface="Calibri"/>
                        <a:ea typeface="Calibri"/>
                        <a:cs typeface="Calibri"/>
                        <a:sym typeface="Calibri"/>
                      </a:endParaRPr>
                    </a:p>
                  </a:txBody>
                  <a:tcPr marT="64000" marB="64000" marR="64000" marL="64000" anchor="ctr">
                    <a:lnL cap="flat" cmpd="sng" w="9525">
                      <a:solidFill>
                        <a:srgbClr val="D9E2EA"/>
                      </a:solidFill>
                      <a:prstDash val="solid"/>
                      <a:round/>
                      <a:headEnd len="sm" w="sm" type="none"/>
                      <a:tailEnd len="sm" w="sm" type="none"/>
                    </a:lnL>
                    <a:lnR cap="flat" cmpd="sng" w="9525">
                      <a:solidFill>
                        <a:srgbClr val="D9E2EA"/>
                      </a:solidFill>
                      <a:prstDash val="solid"/>
                      <a:round/>
                      <a:headEnd len="sm" w="sm" type="none"/>
                      <a:tailEnd len="sm" w="sm" type="none"/>
                    </a:lnR>
                    <a:lnT cap="flat" cmpd="sng" w="9525">
                      <a:solidFill>
                        <a:srgbClr val="D9E2EA"/>
                      </a:solidFill>
                      <a:prstDash val="solid"/>
                      <a:round/>
                      <a:headEnd len="sm" w="sm" type="none"/>
                      <a:tailEnd len="sm" w="sm" type="none"/>
                    </a:lnT>
                    <a:lnB cap="flat" cmpd="sng" w="9525">
                      <a:solidFill>
                        <a:srgbClr val="D9E2EA"/>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23293B"/>
                        </a:buClr>
                        <a:buSzPts val="1050"/>
                        <a:buFont typeface="Calibri"/>
                        <a:buNone/>
                      </a:pPr>
                      <a:r>
                        <a:rPr lang="en-US" sz="1050" u="none" cap="none" strike="noStrike">
                          <a:solidFill>
                            <a:srgbClr val="23293B"/>
                          </a:solidFill>
                          <a:latin typeface="Calibri"/>
                          <a:ea typeface="Calibri"/>
                          <a:cs typeface="Calibri"/>
                          <a:sym typeface="Calibri"/>
                        </a:rPr>
                        <a:t>dataset_stats.py</a:t>
                      </a:r>
                      <a:endParaRPr sz="1050" u="none" cap="none" strike="noStrike">
                        <a:latin typeface="Calibri"/>
                        <a:ea typeface="Calibri"/>
                        <a:cs typeface="Calibri"/>
                        <a:sym typeface="Calibri"/>
                      </a:endParaRPr>
                    </a:p>
                  </a:txBody>
                  <a:tcPr marT="64000" marB="64000" marR="64000" marL="64000" anchor="ctr">
                    <a:lnL cap="flat" cmpd="sng" w="9525">
                      <a:solidFill>
                        <a:srgbClr val="D9E2EA"/>
                      </a:solidFill>
                      <a:prstDash val="solid"/>
                      <a:round/>
                      <a:headEnd len="sm" w="sm" type="none"/>
                      <a:tailEnd len="sm" w="sm" type="none"/>
                    </a:lnL>
                    <a:lnR cap="flat" cmpd="sng" w="9525">
                      <a:solidFill>
                        <a:srgbClr val="D9E2EA"/>
                      </a:solidFill>
                      <a:prstDash val="solid"/>
                      <a:round/>
                      <a:headEnd len="sm" w="sm" type="none"/>
                      <a:tailEnd len="sm" w="sm" type="none"/>
                    </a:lnR>
                    <a:lnT cap="flat" cmpd="sng" w="9525">
                      <a:solidFill>
                        <a:srgbClr val="D9E2EA"/>
                      </a:solidFill>
                      <a:prstDash val="solid"/>
                      <a:round/>
                      <a:headEnd len="sm" w="sm" type="none"/>
                      <a:tailEnd len="sm" w="sm" type="none"/>
                    </a:lnT>
                    <a:lnB cap="flat" cmpd="sng" w="9525">
                      <a:solidFill>
                        <a:srgbClr val="D9E2EA"/>
                      </a:solidFill>
                      <a:prstDash val="solid"/>
                      <a:round/>
                      <a:headEnd len="sm" w="sm" type="none"/>
                      <a:tailEnd len="sm" w="sm" type="none"/>
                    </a:lnB>
                    <a:solidFill>
                      <a:srgbClr val="FFFFFF"/>
                    </a:solidFill>
                  </a:tcPr>
                </a:tc>
              </a:tr>
              <a:tr h="628325">
                <a:tc>
                  <a:txBody>
                    <a:bodyPr/>
                    <a:lstStyle/>
                    <a:p>
                      <a:pPr indent="0" lvl="0" marL="0" marR="0" rtl="0" algn="l">
                        <a:spcBef>
                          <a:spcPts val="0"/>
                        </a:spcBef>
                        <a:spcAft>
                          <a:spcPts val="0"/>
                        </a:spcAft>
                        <a:buClr>
                          <a:srgbClr val="1D2A5C"/>
                        </a:buClr>
                        <a:buSzPts val="1050"/>
                        <a:buFont typeface="Calibri"/>
                        <a:buNone/>
                      </a:pPr>
                      <a:r>
                        <a:rPr b="1" lang="en-US" sz="1050" u="none" cap="none" strike="noStrike">
                          <a:solidFill>
                            <a:srgbClr val="1D2A5C"/>
                          </a:solidFill>
                          <a:latin typeface="Calibri"/>
                          <a:ea typeface="Calibri"/>
                          <a:cs typeface="Calibri"/>
                          <a:sym typeface="Calibri"/>
                        </a:rPr>
                        <a:t>GPU utilisation, training epoch</a:t>
                      </a:r>
                      <a:endParaRPr sz="1050" u="none" cap="none" strike="noStrike">
                        <a:latin typeface="Calibri"/>
                        <a:ea typeface="Calibri"/>
                        <a:cs typeface="Calibri"/>
                        <a:sym typeface="Calibri"/>
                      </a:endParaRPr>
                    </a:p>
                  </a:txBody>
                  <a:tcPr marT="64000" marB="64000" marR="64000" marL="64000" anchor="ctr">
                    <a:lnL cap="flat" cmpd="sng" w="9525">
                      <a:solidFill>
                        <a:srgbClr val="D9E2EA"/>
                      </a:solidFill>
                      <a:prstDash val="solid"/>
                      <a:round/>
                      <a:headEnd len="sm" w="sm" type="none"/>
                      <a:tailEnd len="sm" w="sm" type="none"/>
                    </a:lnL>
                    <a:lnR cap="flat" cmpd="sng" w="9525">
                      <a:solidFill>
                        <a:srgbClr val="D9E2EA"/>
                      </a:solidFill>
                      <a:prstDash val="solid"/>
                      <a:round/>
                      <a:headEnd len="sm" w="sm" type="none"/>
                      <a:tailEnd len="sm" w="sm" type="none"/>
                    </a:lnR>
                    <a:lnT cap="flat" cmpd="sng" w="9525">
                      <a:solidFill>
                        <a:srgbClr val="D9E2EA"/>
                      </a:solidFill>
                      <a:prstDash val="solid"/>
                      <a:round/>
                      <a:headEnd len="sm" w="sm" type="none"/>
                      <a:tailEnd len="sm" w="sm" type="none"/>
                    </a:lnT>
                    <a:lnB cap="flat" cmpd="sng" w="9525">
                      <a:solidFill>
                        <a:srgbClr val="D9E2EA"/>
                      </a:solidFill>
                      <a:prstDash val="solid"/>
                      <a:round/>
                      <a:headEnd len="sm" w="sm" type="none"/>
                      <a:tailEnd len="sm" w="sm" type="none"/>
                    </a:lnB>
                    <a:solidFill>
                      <a:srgbClr val="F2F6F9"/>
                    </a:solidFill>
                  </a:tcPr>
                </a:tc>
                <a:tc>
                  <a:txBody>
                    <a:bodyPr/>
                    <a:lstStyle/>
                    <a:p>
                      <a:pPr indent="0" lvl="0" marL="0" marR="0" rtl="0" algn="l">
                        <a:spcBef>
                          <a:spcPts val="0"/>
                        </a:spcBef>
                        <a:spcAft>
                          <a:spcPts val="0"/>
                        </a:spcAft>
                        <a:buClr>
                          <a:srgbClr val="23293B"/>
                        </a:buClr>
                        <a:buSzPts val="1050"/>
                        <a:buFont typeface="Calibri"/>
                        <a:buNone/>
                      </a:pPr>
                      <a:r>
                        <a:rPr lang="en-US" sz="1050" u="none" cap="none" strike="noStrike">
                          <a:solidFill>
                            <a:srgbClr val="23293B"/>
                          </a:solidFill>
                          <a:latin typeface="Calibri"/>
                          <a:ea typeface="Calibri"/>
                          <a:cs typeface="Calibri"/>
                          <a:sym typeface="Calibri"/>
                        </a:rPr>
                        <a:t>&gt;= 85% mean</a:t>
                      </a:r>
                      <a:endParaRPr sz="1050" u="none" cap="none" strike="noStrike">
                        <a:latin typeface="Calibri"/>
                        <a:ea typeface="Calibri"/>
                        <a:cs typeface="Calibri"/>
                        <a:sym typeface="Calibri"/>
                      </a:endParaRPr>
                    </a:p>
                  </a:txBody>
                  <a:tcPr marT="64000" marB="64000" marR="64000" marL="64000" anchor="ctr">
                    <a:lnL cap="flat" cmpd="sng" w="9525">
                      <a:solidFill>
                        <a:srgbClr val="D9E2EA"/>
                      </a:solidFill>
                      <a:prstDash val="solid"/>
                      <a:round/>
                      <a:headEnd len="sm" w="sm" type="none"/>
                      <a:tailEnd len="sm" w="sm" type="none"/>
                    </a:lnL>
                    <a:lnR cap="flat" cmpd="sng" w="9525">
                      <a:solidFill>
                        <a:srgbClr val="D9E2EA"/>
                      </a:solidFill>
                      <a:prstDash val="solid"/>
                      <a:round/>
                      <a:headEnd len="sm" w="sm" type="none"/>
                      <a:tailEnd len="sm" w="sm" type="none"/>
                    </a:lnR>
                    <a:lnT cap="flat" cmpd="sng" w="9525">
                      <a:solidFill>
                        <a:srgbClr val="D9E2EA"/>
                      </a:solidFill>
                      <a:prstDash val="solid"/>
                      <a:round/>
                      <a:headEnd len="sm" w="sm" type="none"/>
                      <a:tailEnd len="sm" w="sm" type="none"/>
                    </a:lnT>
                    <a:lnB cap="flat" cmpd="sng" w="9525">
                      <a:solidFill>
                        <a:srgbClr val="D9E2EA"/>
                      </a:solidFill>
                      <a:prstDash val="solid"/>
                      <a:round/>
                      <a:headEnd len="sm" w="sm" type="none"/>
                      <a:tailEnd len="sm" w="sm" type="none"/>
                    </a:lnB>
                    <a:solidFill>
                      <a:srgbClr val="F2F6F9"/>
                    </a:solidFill>
                  </a:tcPr>
                </a:tc>
                <a:tc>
                  <a:txBody>
                    <a:bodyPr/>
                    <a:lstStyle/>
                    <a:p>
                      <a:pPr indent="0" lvl="0" marL="0" marR="0" rtl="0" algn="l">
                        <a:spcBef>
                          <a:spcPts val="0"/>
                        </a:spcBef>
                        <a:spcAft>
                          <a:spcPts val="0"/>
                        </a:spcAft>
                        <a:buClr>
                          <a:srgbClr val="23293B"/>
                        </a:buClr>
                        <a:buSzPts val="1050"/>
                        <a:buFont typeface="Calibri"/>
                        <a:buNone/>
                      </a:pPr>
                      <a:r>
                        <a:rPr lang="en-US" sz="1050" u="none" cap="none" strike="noStrike">
                          <a:solidFill>
                            <a:srgbClr val="23293B"/>
                          </a:solidFill>
                          <a:latin typeface="Calibri"/>
                          <a:ea typeface="Calibri"/>
                          <a:cs typeface="Calibri"/>
                          <a:sym typeface="Calibri"/>
                        </a:rPr>
                        <a:t>nvidia-smi dmon during Lab 2</a:t>
                      </a:r>
                      <a:endParaRPr sz="1050" u="none" cap="none" strike="noStrike">
                        <a:latin typeface="Calibri"/>
                        <a:ea typeface="Calibri"/>
                        <a:cs typeface="Calibri"/>
                        <a:sym typeface="Calibri"/>
                      </a:endParaRPr>
                    </a:p>
                  </a:txBody>
                  <a:tcPr marT="64000" marB="64000" marR="64000" marL="64000" anchor="ctr">
                    <a:lnL cap="flat" cmpd="sng" w="9525">
                      <a:solidFill>
                        <a:srgbClr val="D9E2EA"/>
                      </a:solidFill>
                      <a:prstDash val="solid"/>
                      <a:round/>
                      <a:headEnd len="sm" w="sm" type="none"/>
                      <a:tailEnd len="sm" w="sm" type="none"/>
                    </a:lnL>
                    <a:lnR cap="flat" cmpd="sng" w="9525">
                      <a:solidFill>
                        <a:srgbClr val="D9E2EA"/>
                      </a:solidFill>
                      <a:prstDash val="solid"/>
                      <a:round/>
                      <a:headEnd len="sm" w="sm" type="none"/>
                      <a:tailEnd len="sm" w="sm" type="none"/>
                    </a:lnR>
                    <a:lnT cap="flat" cmpd="sng" w="9525">
                      <a:solidFill>
                        <a:srgbClr val="D9E2EA"/>
                      </a:solidFill>
                      <a:prstDash val="solid"/>
                      <a:round/>
                      <a:headEnd len="sm" w="sm" type="none"/>
                      <a:tailEnd len="sm" w="sm" type="none"/>
                    </a:lnT>
                    <a:lnB cap="flat" cmpd="sng" w="9525">
                      <a:solidFill>
                        <a:srgbClr val="D9E2EA"/>
                      </a:solidFill>
                      <a:prstDash val="solid"/>
                      <a:round/>
                      <a:headEnd len="sm" w="sm" type="none"/>
                      <a:tailEnd len="sm" w="sm" type="none"/>
                    </a:lnB>
                    <a:solidFill>
                      <a:srgbClr val="F2F6F9"/>
                    </a:solidFill>
                  </a:tcPr>
                </a:tc>
              </a:tr>
              <a:tr h="628325">
                <a:tc>
                  <a:txBody>
                    <a:bodyPr/>
                    <a:lstStyle/>
                    <a:p>
                      <a:pPr indent="0" lvl="0" marL="0" marR="0" rtl="0" algn="l">
                        <a:spcBef>
                          <a:spcPts val="0"/>
                        </a:spcBef>
                        <a:spcAft>
                          <a:spcPts val="0"/>
                        </a:spcAft>
                        <a:buClr>
                          <a:srgbClr val="1D2A5C"/>
                        </a:buClr>
                        <a:buSzPts val="1050"/>
                        <a:buFont typeface="Calibri"/>
                        <a:buNone/>
                      </a:pPr>
                      <a:r>
                        <a:rPr b="1" lang="en-US" sz="1050" u="none" cap="none" strike="noStrike">
                          <a:solidFill>
                            <a:srgbClr val="1D2A5C"/>
                          </a:solidFill>
                          <a:latin typeface="Calibri"/>
                          <a:ea typeface="Calibri"/>
                          <a:cs typeface="Calibri"/>
                          <a:sym typeface="Calibri"/>
                        </a:rPr>
                        <a:t>Train/eval transform separation</a:t>
                      </a:r>
                      <a:endParaRPr sz="1050" u="none" cap="none" strike="noStrike">
                        <a:latin typeface="Calibri"/>
                        <a:ea typeface="Calibri"/>
                        <a:cs typeface="Calibri"/>
                        <a:sym typeface="Calibri"/>
                      </a:endParaRPr>
                    </a:p>
                  </a:txBody>
                  <a:tcPr marT="64000" marB="64000" marR="64000" marL="64000" anchor="ctr">
                    <a:lnL cap="flat" cmpd="sng" w="9525">
                      <a:solidFill>
                        <a:srgbClr val="D9E2EA"/>
                      </a:solidFill>
                      <a:prstDash val="solid"/>
                      <a:round/>
                      <a:headEnd len="sm" w="sm" type="none"/>
                      <a:tailEnd len="sm" w="sm" type="none"/>
                    </a:lnL>
                    <a:lnR cap="flat" cmpd="sng" w="9525">
                      <a:solidFill>
                        <a:srgbClr val="D9E2EA"/>
                      </a:solidFill>
                      <a:prstDash val="solid"/>
                      <a:round/>
                      <a:headEnd len="sm" w="sm" type="none"/>
                      <a:tailEnd len="sm" w="sm" type="none"/>
                    </a:lnR>
                    <a:lnT cap="flat" cmpd="sng" w="9525">
                      <a:solidFill>
                        <a:srgbClr val="D9E2EA"/>
                      </a:solidFill>
                      <a:prstDash val="solid"/>
                      <a:round/>
                      <a:headEnd len="sm" w="sm" type="none"/>
                      <a:tailEnd len="sm" w="sm" type="none"/>
                    </a:lnT>
                    <a:lnB cap="flat" cmpd="sng" w="9525">
                      <a:solidFill>
                        <a:srgbClr val="D9E2EA"/>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23293B"/>
                        </a:buClr>
                        <a:buSzPts val="1050"/>
                        <a:buFont typeface="Calibri"/>
                        <a:buNone/>
                      </a:pPr>
                      <a:r>
                        <a:rPr lang="en-US" sz="1050" u="none" cap="none" strike="noStrike">
                          <a:solidFill>
                            <a:srgbClr val="23293B"/>
                          </a:solidFill>
                          <a:latin typeface="Calibri"/>
                          <a:ea typeface="Calibri"/>
                          <a:cs typeface="Calibri"/>
                          <a:sym typeface="Calibri"/>
                        </a:rPr>
                        <a:t>Enforced: two functions</a:t>
                      </a:r>
                      <a:endParaRPr sz="1050" u="none" cap="none" strike="noStrike">
                        <a:latin typeface="Calibri"/>
                        <a:ea typeface="Calibri"/>
                        <a:cs typeface="Calibri"/>
                        <a:sym typeface="Calibri"/>
                      </a:endParaRPr>
                    </a:p>
                  </a:txBody>
                  <a:tcPr marT="64000" marB="64000" marR="64000" marL="64000" anchor="ctr">
                    <a:lnL cap="flat" cmpd="sng" w="9525">
                      <a:solidFill>
                        <a:srgbClr val="D9E2EA"/>
                      </a:solidFill>
                      <a:prstDash val="solid"/>
                      <a:round/>
                      <a:headEnd len="sm" w="sm" type="none"/>
                      <a:tailEnd len="sm" w="sm" type="none"/>
                    </a:lnL>
                    <a:lnR cap="flat" cmpd="sng" w="9525">
                      <a:solidFill>
                        <a:srgbClr val="D9E2EA"/>
                      </a:solidFill>
                      <a:prstDash val="solid"/>
                      <a:round/>
                      <a:headEnd len="sm" w="sm" type="none"/>
                      <a:tailEnd len="sm" w="sm" type="none"/>
                    </a:lnR>
                    <a:lnT cap="flat" cmpd="sng" w="9525">
                      <a:solidFill>
                        <a:srgbClr val="D9E2EA"/>
                      </a:solidFill>
                      <a:prstDash val="solid"/>
                      <a:round/>
                      <a:headEnd len="sm" w="sm" type="none"/>
                      <a:tailEnd len="sm" w="sm" type="none"/>
                    </a:lnT>
                    <a:lnB cap="flat" cmpd="sng" w="9525">
                      <a:solidFill>
                        <a:srgbClr val="D9E2EA"/>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23293B"/>
                        </a:buClr>
                        <a:buSzPts val="1050"/>
                        <a:buFont typeface="Calibri"/>
                        <a:buNone/>
                      </a:pPr>
                      <a:r>
                        <a:rPr lang="en-US" sz="1050" u="none" cap="none" strike="noStrike">
                          <a:solidFill>
                            <a:srgbClr val="23293B"/>
                          </a:solidFill>
                          <a:latin typeface="Calibri"/>
                          <a:ea typeface="Calibri"/>
                          <a:cs typeface="Calibri"/>
                          <a:sym typeface="Calibri"/>
                        </a:rPr>
                        <a:t>code review checklist</a:t>
                      </a:r>
                      <a:endParaRPr sz="1050" u="none" cap="none" strike="noStrike">
                        <a:latin typeface="Calibri"/>
                        <a:ea typeface="Calibri"/>
                        <a:cs typeface="Calibri"/>
                        <a:sym typeface="Calibri"/>
                      </a:endParaRPr>
                    </a:p>
                  </a:txBody>
                  <a:tcPr marT="64000" marB="64000" marR="64000" marL="64000" anchor="ctr">
                    <a:lnL cap="flat" cmpd="sng" w="9525">
                      <a:solidFill>
                        <a:srgbClr val="D9E2EA"/>
                      </a:solidFill>
                      <a:prstDash val="solid"/>
                      <a:round/>
                      <a:headEnd len="sm" w="sm" type="none"/>
                      <a:tailEnd len="sm" w="sm" type="none"/>
                    </a:lnL>
                    <a:lnR cap="flat" cmpd="sng" w="9525">
                      <a:solidFill>
                        <a:srgbClr val="D9E2EA"/>
                      </a:solidFill>
                      <a:prstDash val="solid"/>
                      <a:round/>
                      <a:headEnd len="sm" w="sm" type="none"/>
                      <a:tailEnd len="sm" w="sm" type="none"/>
                    </a:lnR>
                    <a:lnT cap="flat" cmpd="sng" w="9525">
                      <a:solidFill>
                        <a:srgbClr val="D9E2EA"/>
                      </a:solidFill>
                      <a:prstDash val="solid"/>
                      <a:round/>
                      <a:headEnd len="sm" w="sm" type="none"/>
                      <a:tailEnd len="sm" w="sm" type="none"/>
                    </a:lnT>
                    <a:lnB cap="flat" cmpd="sng" w="9525">
                      <a:solidFill>
                        <a:srgbClr val="D9E2EA"/>
                      </a:solidFill>
                      <a:prstDash val="solid"/>
                      <a:round/>
                      <a:headEnd len="sm" w="sm" type="none"/>
                      <a:tailEnd len="sm" w="sm" type="none"/>
                    </a:lnB>
                    <a:solidFill>
                      <a:srgbClr val="FFFFFF"/>
                    </a:solidFill>
                  </a:tcPr>
                </a:tc>
              </a:tr>
              <a:tr h="628325">
                <a:tc>
                  <a:txBody>
                    <a:bodyPr/>
                    <a:lstStyle/>
                    <a:p>
                      <a:pPr indent="0" lvl="0" marL="0" marR="0" rtl="0" algn="l">
                        <a:spcBef>
                          <a:spcPts val="0"/>
                        </a:spcBef>
                        <a:spcAft>
                          <a:spcPts val="0"/>
                        </a:spcAft>
                        <a:buClr>
                          <a:srgbClr val="1D2A5C"/>
                        </a:buClr>
                        <a:buSzPts val="1050"/>
                        <a:buFont typeface="Calibri"/>
                        <a:buNone/>
                      </a:pPr>
                      <a:r>
                        <a:rPr b="1" lang="en-US" sz="1050" u="none" cap="none" strike="noStrike">
                          <a:solidFill>
                            <a:srgbClr val="1D2A5C"/>
                          </a:solidFill>
                          <a:latin typeface="Calibri"/>
                          <a:ea typeface="Calibri"/>
                          <a:cs typeface="Calibri"/>
                          <a:sym typeface="Calibri"/>
                        </a:rPr>
                        <a:t>Session-based split integrity</a:t>
                      </a:r>
                      <a:endParaRPr sz="1050" u="none" cap="none" strike="noStrike">
                        <a:latin typeface="Calibri"/>
                        <a:ea typeface="Calibri"/>
                        <a:cs typeface="Calibri"/>
                        <a:sym typeface="Calibri"/>
                      </a:endParaRPr>
                    </a:p>
                  </a:txBody>
                  <a:tcPr marT="64000" marB="64000" marR="64000" marL="64000" anchor="ctr">
                    <a:lnL cap="flat" cmpd="sng" w="9525">
                      <a:solidFill>
                        <a:srgbClr val="D9E2EA"/>
                      </a:solidFill>
                      <a:prstDash val="solid"/>
                      <a:round/>
                      <a:headEnd len="sm" w="sm" type="none"/>
                      <a:tailEnd len="sm" w="sm" type="none"/>
                    </a:lnL>
                    <a:lnR cap="flat" cmpd="sng" w="9525">
                      <a:solidFill>
                        <a:srgbClr val="D9E2EA"/>
                      </a:solidFill>
                      <a:prstDash val="solid"/>
                      <a:round/>
                      <a:headEnd len="sm" w="sm" type="none"/>
                      <a:tailEnd len="sm" w="sm" type="none"/>
                    </a:lnR>
                    <a:lnT cap="flat" cmpd="sng" w="9525">
                      <a:solidFill>
                        <a:srgbClr val="D9E2EA"/>
                      </a:solidFill>
                      <a:prstDash val="solid"/>
                      <a:round/>
                      <a:headEnd len="sm" w="sm" type="none"/>
                      <a:tailEnd len="sm" w="sm" type="none"/>
                    </a:lnT>
                    <a:lnB cap="flat" cmpd="sng" w="9525">
                      <a:solidFill>
                        <a:srgbClr val="D9E2EA"/>
                      </a:solidFill>
                      <a:prstDash val="solid"/>
                      <a:round/>
                      <a:headEnd len="sm" w="sm" type="none"/>
                      <a:tailEnd len="sm" w="sm" type="none"/>
                    </a:lnB>
                    <a:solidFill>
                      <a:srgbClr val="F2F6F9"/>
                    </a:solidFill>
                  </a:tcPr>
                </a:tc>
                <a:tc>
                  <a:txBody>
                    <a:bodyPr/>
                    <a:lstStyle/>
                    <a:p>
                      <a:pPr indent="0" lvl="0" marL="0" marR="0" rtl="0" algn="l">
                        <a:spcBef>
                          <a:spcPts val="0"/>
                        </a:spcBef>
                        <a:spcAft>
                          <a:spcPts val="0"/>
                        </a:spcAft>
                        <a:buClr>
                          <a:srgbClr val="23293B"/>
                        </a:buClr>
                        <a:buSzPts val="1050"/>
                        <a:buFont typeface="Calibri"/>
                        <a:buNone/>
                      </a:pPr>
                      <a:r>
                        <a:rPr lang="en-US" sz="1050" u="none" cap="none" strike="noStrike">
                          <a:solidFill>
                            <a:srgbClr val="23293B"/>
                          </a:solidFill>
                          <a:latin typeface="Calibri"/>
                          <a:ea typeface="Calibri"/>
                          <a:cs typeface="Calibri"/>
                          <a:sym typeface="Calibri"/>
                        </a:rPr>
                        <a:t>0 sessions span splits</a:t>
                      </a:r>
                      <a:endParaRPr sz="1050" u="none" cap="none" strike="noStrike">
                        <a:latin typeface="Calibri"/>
                        <a:ea typeface="Calibri"/>
                        <a:cs typeface="Calibri"/>
                        <a:sym typeface="Calibri"/>
                      </a:endParaRPr>
                    </a:p>
                  </a:txBody>
                  <a:tcPr marT="64000" marB="64000" marR="64000" marL="64000" anchor="ctr">
                    <a:lnL cap="flat" cmpd="sng" w="9525">
                      <a:solidFill>
                        <a:srgbClr val="D9E2EA"/>
                      </a:solidFill>
                      <a:prstDash val="solid"/>
                      <a:round/>
                      <a:headEnd len="sm" w="sm" type="none"/>
                      <a:tailEnd len="sm" w="sm" type="none"/>
                    </a:lnL>
                    <a:lnR cap="flat" cmpd="sng" w="9525">
                      <a:solidFill>
                        <a:srgbClr val="D9E2EA"/>
                      </a:solidFill>
                      <a:prstDash val="solid"/>
                      <a:round/>
                      <a:headEnd len="sm" w="sm" type="none"/>
                      <a:tailEnd len="sm" w="sm" type="none"/>
                    </a:lnR>
                    <a:lnT cap="flat" cmpd="sng" w="9525">
                      <a:solidFill>
                        <a:srgbClr val="D9E2EA"/>
                      </a:solidFill>
                      <a:prstDash val="solid"/>
                      <a:round/>
                      <a:headEnd len="sm" w="sm" type="none"/>
                      <a:tailEnd len="sm" w="sm" type="none"/>
                    </a:lnT>
                    <a:lnB cap="flat" cmpd="sng" w="9525">
                      <a:solidFill>
                        <a:srgbClr val="D9E2EA"/>
                      </a:solidFill>
                      <a:prstDash val="solid"/>
                      <a:round/>
                      <a:headEnd len="sm" w="sm" type="none"/>
                      <a:tailEnd len="sm" w="sm" type="none"/>
                    </a:lnB>
                    <a:solidFill>
                      <a:srgbClr val="F2F6F9"/>
                    </a:solidFill>
                  </a:tcPr>
                </a:tc>
                <a:tc>
                  <a:txBody>
                    <a:bodyPr/>
                    <a:lstStyle/>
                    <a:p>
                      <a:pPr indent="0" lvl="0" marL="0" marR="0" rtl="0" algn="l">
                        <a:spcBef>
                          <a:spcPts val="0"/>
                        </a:spcBef>
                        <a:spcAft>
                          <a:spcPts val="0"/>
                        </a:spcAft>
                        <a:buClr>
                          <a:srgbClr val="23293B"/>
                        </a:buClr>
                        <a:buSzPts val="1050"/>
                        <a:buFont typeface="Calibri"/>
                        <a:buNone/>
                      </a:pPr>
                      <a:r>
                        <a:rPr lang="en-US" sz="1050" u="none" cap="none" strike="noStrike">
                          <a:solidFill>
                            <a:srgbClr val="23293B"/>
                          </a:solidFill>
                          <a:latin typeface="Calibri"/>
                          <a:ea typeface="Calibri"/>
                          <a:cs typeface="Calibri"/>
                          <a:sym typeface="Calibri"/>
                        </a:rPr>
                        <a:t>manifest audit script</a:t>
                      </a:r>
                      <a:endParaRPr sz="1050" u="none" cap="none" strike="noStrike">
                        <a:latin typeface="Calibri"/>
                        <a:ea typeface="Calibri"/>
                        <a:cs typeface="Calibri"/>
                        <a:sym typeface="Calibri"/>
                      </a:endParaRPr>
                    </a:p>
                  </a:txBody>
                  <a:tcPr marT="64000" marB="64000" marR="64000" marL="64000" anchor="ctr">
                    <a:lnL cap="flat" cmpd="sng" w="9525">
                      <a:solidFill>
                        <a:srgbClr val="D9E2EA"/>
                      </a:solidFill>
                      <a:prstDash val="solid"/>
                      <a:round/>
                      <a:headEnd len="sm" w="sm" type="none"/>
                      <a:tailEnd len="sm" w="sm" type="none"/>
                    </a:lnL>
                    <a:lnR cap="flat" cmpd="sng" w="9525">
                      <a:solidFill>
                        <a:srgbClr val="D9E2EA"/>
                      </a:solidFill>
                      <a:prstDash val="solid"/>
                      <a:round/>
                      <a:headEnd len="sm" w="sm" type="none"/>
                      <a:tailEnd len="sm" w="sm" type="none"/>
                    </a:lnR>
                    <a:lnT cap="flat" cmpd="sng" w="9525">
                      <a:solidFill>
                        <a:srgbClr val="D9E2EA"/>
                      </a:solidFill>
                      <a:prstDash val="solid"/>
                      <a:round/>
                      <a:headEnd len="sm" w="sm" type="none"/>
                      <a:tailEnd len="sm" w="sm" type="none"/>
                    </a:lnT>
                    <a:lnB cap="flat" cmpd="sng" w="9525">
                      <a:solidFill>
                        <a:srgbClr val="D9E2EA"/>
                      </a:solidFill>
                      <a:prstDash val="solid"/>
                      <a:round/>
                      <a:headEnd len="sm" w="sm" type="none"/>
                      <a:tailEnd len="sm" w="sm" type="none"/>
                    </a:lnB>
                    <a:solidFill>
                      <a:srgbClr val="F2F6F9"/>
                    </a:solidFill>
                  </a:tcPr>
                </a:tc>
              </a:tr>
              <a:tr h="628325">
                <a:tc>
                  <a:txBody>
                    <a:bodyPr/>
                    <a:lstStyle/>
                    <a:p>
                      <a:pPr indent="0" lvl="0" marL="0" marR="0" rtl="0" algn="l">
                        <a:spcBef>
                          <a:spcPts val="0"/>
                        </a:spcBef>
                        <a:spcAft>
                          <a:spcPts val="0"/>
                        </a:spcAft>
                        <a:buClr>
                          <a:srgbClr val="1D2A5C"/>
                        </a:buClr>
                        <a:buSzPts val="1050"/>
                        <a:buFont typeface="Calibri"/>
                        <a:buNone/>
                      </a:pPr>
                      <a:r>
                        <a:rPr b="1" lang="en-US" sz="1050" u="none" cap="none" strike="noStrike">
                          <a:solidFill>
                            <a:srgbClr val="1D2A5C"/>
                          </a:solidFill>
                          <a:latin typeface="Calibri"/>
                          <a:ea typeface="Calibri"/>
                          <a:cs typeface="Calibri"/>
                          <a:sym typeface="Calibri"/>
                        </a:rPr>
                        <a:t>Augmentation justification</a:t>
                      </a:r>
                      <a:endParaRPr sz="1050" u="none" cap="none" strike="noStrike">
                        <a:latin typeface="Calibri"/>
                        <a:ea typeface="Calibri"/>
                        <a:cs typeface="Calibri"/>
                        <a:sym typeface="Calibri"/>
                      </a:endParaRPr>
                    </a:p>
                  </a:txBody>
                  <a:tcPr marT="64000" marB="64000" marR="64000" marL="64000" anchor="ctr">
                    <a:lnL cap="flat" cmpd="sng" w="9525">
                      <a:solidFill>
                        <a:srgbClr val="D9E2EA"/>
                      </a:solidFill>
                      <a:prstDash val="solid"/>
                      <a:round/>
                      <a:headEnd len="sm" w="sm" type="none"/>
                      <a:tailEnd len="sm" w="sm" type="none"/>
                    </a:lnL>
                    <a:lnR cap="flat" cmpd="sng" w="9525">
                      <a:solidFill>
                        <a:srgbClr val="D9E2EA"/>
                      </a:solidFill>
                      <a:prstDash val="solid"/>
                      <a:round/>
                      <a:headEnd len="sm" w="sm" type="none"/>
                      <a:tailEnd len="sm" w="sm" type="none"/>
                    </a:lnR>
                    <a:lnT cap="flat" cmpd="sng" w="9525">
                      <a:solidFill>
                        <a:srgbClr val="D9E2EA"/>
                      </a:solidFill>
                      <a:prstDash val="solid"/>
                      <a:round/>
                      <a:headEnd len="sm" w="sm" type="none"/>
                      <a:tailEnd len="sm" w="sm" type="none"/>
                    </a:lnT>
                    <a:lnB cap="flat" cmpd="sng" w="9525">
                      <a:solidFill>
                        <a:srgbClr val="D9E2EA"/>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23293B"/>
                        </a:buClr>
                        <a:buSzPts val="1050"/>
                        <a:buFont typeface="Calibri"/>
                        <a:buNone/>
                      </a:pPr>
                      <a:r>
                        <a:rPr lang="en-US" sz="1050" u="none" cap="none" strike="noStrike">
                          <a:solidFill>
                            <a:srgbClr val="23293B"/>
                          </a:solidFill>
                          <a:latin typeface="Calibri"/>
                          <a:ea typeface="Calibri"/>
                          <a:cs typeface="Calibri"/>
                          <a:sym typeface="Calibri"/>
                        </a:rPr>
                        <a:t>100% transforms commented</a:t>
                      </a:r>
                      <a:endParaRPr sz="1050" u="none" cap="none" strike="noStrike">
                        <a:latin typeface="Calibri"/>
                        <a:ea typeface="Calibri"/>
                        <a:cs typeface="Calibri"/>
                        <a:sym typeface="Calibri"/>
                      </a:endParaRPr>
                    </a:p>
                  </a:txBody>
                  <a:tcPr marT="64000" marB="64000" marR="64000" marL="64000" anchor="ctr">
                    <a:lnL cap="flat" cmpd="sng" w="9525">
                      <a:solidFill>
                        <a:srgbClr val="D9E2EA"/>
                      </a:solidFill>
                      <a:prstDash val="solid"/>
                      <a:round/>
                      <a:headEnd len="sm" w="sm" type="none"/>
                      <a:tailEnd len="sm" w="sm" type="none"/>
                    </a:lnL>
                    <a:lnR cap="flat" cmpd="sng" w="9525">
                      <a:solidFill>
                        <a:srgbClr val="D9E2EA"/>
                      </a:solidFill>
                      <a:prstDash val="solid"/>
                      <a:round/>
                      <a:headEnd len="sm" w="sm" type="none"/>
                      <a:tailEnd len="sm" w="sm" type="none"/>
                    </a:lnR>
                    <a:lnT cap="flat" cmpd="sng" w="9525">
                      <a:solidFill>
                        <a:srgbClr val="D9E2EA"/>
                      </a:solidFill>
                      <a:prstDash val="solid"/>
                      <a:round/>
                      <a:headEnd len="sm" w="sm" type="none"/>
                      <a:tailEnd len="sm" w="sm" type="none"/>
                    </a:lnT>
                    <a:lnB cap="flat" cmpd="sng" w="9525">
                      <a:solidFill>
                        <a:srgbClr val="D9E2EA"/>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23293B"/>
                        </a:buClr>
                        <a:buSzPts val="1050"/>
                        <a:buFont typeface="Calibri"/>
                        <a:buNone/>
                      </a:pPr>
                      <a:r>
                        <a:rPr lang="en-US" sz="1050" u="none" cap="none" strike="noStrike">
                          <a:solidFill>
                            <a:srgbClr val="23293B"/>
                          </a:solidFill>
                          <a:latin typeface="Calibri"/>
                          <a:ea typeface="Calibri"/>
                          <a:cs typeface="Calibri"/>
                          <a:sym typeface="Calibri"/>
                        </a:rPr>
                        <a:t>review</a:t>
                      </a:r>
                      <a:endParaRPr sz="1050" u="none" cap="none" strike="noStrike">
                        <a:latin typeface="Calibri"/>
                        <a:ea typeface="Calibri"/>
                        <a:cs typeface="Calibri"/>
                        <a:sym typeface="Calibri"/>
                      </a:endParaRPr>
                    </a:p>
                  </a:txBody>
                  <a:tcPr marT="64000" marB="64000" marR="64000" marL="64000" anchor="ctr">
                    <a:lnL cap="flat" cmpd="sng" w="9525">
                      <a:solidFill>
                        <a:srgbClr val="D9E2EA"/>
                      </a:solidFill>
                      <a:prstDash val="solid"/>
                      <a:round/>
                      <a:headEnd len="sm" w="sm" type="none"/>
                      <a:tailEnd len="sm" w="sm" type="none"/>
                    </a:lnL>
                    <a:lnR cap="flat" cmpd="sng" w="9525">
                      <a:solidFill>
                        <a:srgbClr val="D9E2EA"/>
                      </a:solidFill>
                      <a:prstDash val="solid"/>
                      <a:round/>
                      <a:headEnd len="sm" w="sm" type="none"/>
                      <a:tailEnd len="sm" w="sm" type="none"/>
                    </a:lnR>
                    <a:lnT cap="flat" cmpd="sng" w="9525">
                      <a:solidFill>
                        <a:srgbClr val="D9E2EA"/>
                      </a:solidFill>
                      <a:prstDash val="solid"/>
                      <a:round/>
                      <a:headEnd len="sm" w="sm" type="none"/>
                      <a:tailEnd len="sm" w="sm" type="none"/>
                    </a:lnT>
                    <a:lnB cap="flat" cmpd="sng" w="9525">
                      <a:solidFill>
                        <a:srgbClr val="D9E2EA"/>
                      </a:solidFill>
                      <a:prstDash val="solid"/>
                      <a:round/>
                      <a:headEnd len="sm" w="sm" type="none"/>
                      <a:tailEnd len="sm" w="sm" type="none"/>
                    </a:lnB>
                    <a:solidFill>
                      <a:srgbClr val="FFFFFF"/>
                    </a:solidFill>
                  </a:tcPr>
                </a:tc>
              </a:tr>
              <a:tr h="628325">
                <a:tc>
                  <a:txBody>
                    <a:bodyPr/>
                    <a:lstStyle/>
                    <a:p>
                      <a:pPr indent="0" lvl="0" marL="0" marR="0" rtl="0" algn="l">
                        <a:spcBef>
                          <a:spcPts val="0"/>
                        </a:spcBef>
                        <a:spcAft>
                          <a:spcPts val="0"/>
                        </a:spcAft>
                        <a:buClr>
                          <a:srgbClr val="1D2A5C"/>
                        </a:buClr>
                        <a:buSzPts val="1050"/>
                        <a:buFont typeface="Calibri"/>
                        <a:buNone/>
                      </a:pPr>
                      <a:r>
                        <a:rPr b="1" lang="en-US" sz="1050" u="none" cap="none" strike="noStrike">
                          <a:solidFill>
                            <a:srgbClr val="1D2A5C"/>
                          </a:solidFill>
                          <a:latin typeface="Calibri"/>
                          <a:ea typeface="Calibri"/>
                          <a:cs typeface="Calibri"/>
                          <a:sym typeface="Calibri"/>
                        </a:rPr>
                        <a:t>Duplicate leakage across splits</a:t>
                      </a:r>
                      <a:endParaRPr sz="1050" u="none" cap="none" strike="noStrike">
                        <a:latin typeface="Calibri"/>
                        <a:ea typeface="Calibri"/>
                        <a:cs typeface="Calibri"/>
                        <a:sym typeface="Calibri"/>
                      </a:endParaRPr>
                    </a:p>
                  </a:txBody>
                  <a:tcPr marT="64000" marB="64000" marR="64000" marL="64000" anchor="ctr">
                    <a:lnL cap="flat" cmpd="sng" w="9525">
                      <a:solidFill>
                        <a:srgbClr val="D9E2EA"/>
                      </a:solidFill>
                      <a:prstDash val="solid"/>
                      <a:round/>
                      <a:headEnd len="sm" w="sm" type="none"/>
                      <a:tailEnd len="sm" w="sm" type="none"/>
                    </a:lnL>
                    <a:lnR cap="flat" cmpd="sng" w="9525">
                      <a:solidFill>
                        <a:srgbClr val="D9E2EA"/>
                      </a:solidFill>
                      <a:prstDash val="solid"/>
                      <a:round/>
                      <a:headEnd len="sm" w="sm" type="none"/>
                      <a:tailEnd len="sm" w="sm" type="none"/>
                    </a:lnR>
                    <a:lnT cap="flat" cmpd="sng" w="9525">
                      <a:solidFill>
                        <a:srgbClr val="D9E2EA"/>
                      </a:solidFill>
                      <a:prstDash val="solid"/>
                      <a:round/>
                      <a:headEnd len="sm" w="sm" type="none"/>
                      <a:tailEnd len="sm" w="sm" type="none"/>
                    </a:lnT>
                    <a:lnB cap="flat" cmpd="sng" w="9525">
                      <a:solidFill>
                        <a:srgbClr val="D9E2EA"/>
                      </a:solidFill>
                      <a:prstDash val="solid"/>
                      <a:round/>
                      <a:headEnd len="sm" w="sm" type="none"/>
                      <a:tailEnd len="sm" w="sm" type="none"/>
                    </a:lnB>
                    <a:solidFill>
                      <a:srgbClr val="F2F6F9"/>
                    </a:solidFill>
                  </a:tcPr>
                </a:tc>
                <a:tc>
                  <a:txBody>
                    <a:bodyPr/>
                    <a:lstStyle/>
                    <a:p>
                      <a:pPr indent="0" lvl="0" marL="0" marR="0" rtl="0" algn="l">
                        <a:spcBef>
                          <a:spcPts val="0"/>
                        </a:spcBef>
                        <a:spcAft>
                          <a:spcPts val="0"/>
                        </a:spcAft>
                        <a:buClr>
                          <a:srgbClr val="23293B"/>
                        </a:buClr>
                        <a:buSzPts val="1050"/>
                        <a:buFont typeface="Calibri"/>
                        <a:buNone/>
                      </a:pPr>
                      <a:r>
                        <a:rPr lang="en-US" sz="1050" u="none" cap="none" strike="noStrike">
                          <a:solidFill>
                            <a:srgbClr val="23293B"/>
                          </a:solidFill>
                          <a:latin typeface="Calibri"/>
                          <a:ea typeface="Calibri"/>
                          <a:cs typeface="Calibri"/>
                          <a:sym typeface="Calibri"/>
                        </a:rPr>
                        <a:t>0 pairs (pHash dist &lt; 8)</a:t>
                      </a:r>
                      <a:endParaRPr sz="1050" u="none" cap="none" strike="noStrike">
                        <a:latin typeface="Calibri"/>
                        <a:ea typeface="Calibri"/>
                        <a:cs typeface="Calibri"/>
                        <a:sym typeface="Calibri"/>
                      </a:endParaRPr>
                    </a:p>
                  </a:txBody>
                  <a:tcPr marT="64000" marB="64000" marR="64000" marL="64000" anchor="ctr">
                    <a:lnL cap="flat" cmpd="sng" w="9525">
                      <a:solidFill>
                        <a:srgbClr val="D9E2EA"/>
                      </a:solidFill>
                      <a:prstDash val="solid"/>
                      <a:round/>
                      <a:headEnd len="sm" w="sm" type="none"/>
                      <a:tailEnd len="sm" w="sm" type="none"/>
                    </a:lnL>
                    <a:lnR cap="flat" cmpd="sng" w="9525">
                      <a:solidFill>
                        <a:srgbClr val="D9E2EA"/>
                      </a:solidFill>
                      <a:prstDash val="solid"/>
                      <a:round/>
                      <a:headEnd len="sm" w="sm" type="none"/>
                      <a:tailEnd len="sm" w="sm" type="none"/>
                    </a:lnR>
                    <a:lnT cap="flat" cmpd="sng" w="9525">
                      <a:solidFill>
                        <a:srgbClr val="D9E2EA"/>
                      </a:solidFill>
                      <a:prstDash val="solid"/>
                      <a:round/>
                      <a:headEnd len="sm" w="sm" type="none"/>
                      <a:tailEnd len="sm" w="sm" type="none"/>
                    </a:lnT>
                    <a:lnB cap="flat" cmpd="sng" w="9525">
                      <a:solidFill>
                        <a:srgbClr val="D9E2EA"/>
                      </a:solidFill>
                      <a:prstDash val="solid"/>
                      <a:round/>
                      <a:headEnd len="sm" w="sm" type="none"/>
                      <a:tailEnd len="sm" w="sm" type="none"/>
                    </a:lnB>
                    <a:solidFill>
                      <a:srgbClr val="F2F6F9"/>
                    </a:solidFill>
                  </a:tcPr>
                </a:tc>
                <a:tc>
                  <a:txBody>
                    <a:bodyPr/>
                    <a:lstStyle/>
                    <a:p>
                      <a:pPr indent="0" lvl="0" marL="0" marR="0" rtl="0" algn="l">
                        <a:spcBef>
                          <a:spcPts val="0"/>
                        </a:spcBef>
                        <a:spcAft>
                          <a:spcPts val="0"/>
                        </a:spcAft>
                        <a:buClr>
                          <a:srgbClr val="23293B"/>
                        </a:buClr>
                        <a:buSzPts val="1050"/>
                        <a:buFont typeface="Calibri"/>
                        <a:buNone/>
                      </a:pPr>
                      <a:r>
                        <a:rPr lang="en-US" sz="1050" u="none" cap="none" strike="noStrike">
                          <a:solidFill>
                            <a:srgbClr val="23293B"/>
                          </a:solidFill>
                          <a:latin typeface="Calibri"/>
                          <a:ea typeface="Calibri"/>
                          <a:cs typeface="Calibri"/>
                          <a:sym typeface="Calibri"/>
                        </a:rPr>
                        <a:t>provided audit script</a:t>
                      </a:r>
                      <a:endParaRPr sz="1050" u="none" cap="none" strike="noStrike">
                        <a:latin typeface="Calibri"/>
                        <a:ea typeface="Calibri"/>
                        <a:cs typeface="Calibri"/>
                        <a:sym typeface="Calibri"/>
                      </a:endParaRPr>
                    </a:p>
                  </a:txBody>
                  <a:tcPr marT="64000" marB="64000" marR="64000" marL="64000" anchor="ctr">
                    <a:lnL cap="flat" cmpd="sng" w="9525">
                      <a:solidFill>
                        <a:srgbClr val="D9E2EA"/>
                      </a:solidFill>
                      <a:prstDash val="solid"/>
                      <a:round/>
                      <a:headEnd len="sm" w="sm" type="none"/>
                      <a:tailEnd len="sm" w="sm" type="none"/>
                    </a:lnL>
                    <a:lnR cap="flat" cmpd="sng" w="9525">
                      <a:solidFill>
                        <a:srgbClr val="D9E2EA"/>
                      </a:solidFill>
                      <a:prstDash val="solid"/>
                      <a:round/>
                      <a:headEnd len="sm" w="sm" type="none"/>
                      <a:tailEnd len="sm" w="sm" type="none"/>
                    </a:lnR>
                    <a:lnT cap="flat" cmpd="sng" w="9525">
                      <a:solidFill>
                        <a:srgbClr val="D9E2EA"/>
                      </a:solidFill>
                      <a:prstDash val="solid"/>
                      <a:round/>
                      <a:headEnd len="sm" w="sm" type="none"/>
                      <a:tailEnd len="sm" w="sm" type="none"/>
                    </a:lnT>
                    <a:lnB cap="flat" cmpd="sng" w="9525">
                      <a:solidFill>
                        <a:srgbClr val="D9E2EA"/>
                      </a:solidFill>
                      <a:prstDash val="solid"/>
                      <a:round/>
                      <a:headEnd len="sm" w="sm" type="none"/>
                      <a:tailEnd len="sm" w="sm" type="none"/>
                    </a:lnB>
                    <a:solidFill>
                      <a:srgbClr val="F2F6F9"/>
                    </a:solidFill>
                  </a:tcPr>
                </a:tc>
              </a:tr>
            </a:tbl>
          </a:graphicData>
        </a:graphic>
      </p:graphicFrame>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41F49"/>
        </a:solidFill>
      </p:bgPr>
    </p:bg>
    <p:spTree>
      <p:nvGrpSpPr>
        <p:cNvPr id="866" name="Shape 866"/>
        <p:cNvGrpSpPr/>
        <p:nvPr/>
      </p:nvGrpSpPr>
      <p:grpSpPr>
        <a:xfrm>
          <a:off x="0" y="0"/>
          <a:ext cx="0" cy="0"/>
          <a:chOff x="0" y="0"/>
          <a:chExt cx="0" cy="0"/>
        </a:xfrm>
      </p:grpSpPr>
      <p:sp>
        <p:nvSpPr>
          <p:cNvPr id="867" name="Google Shape;867;p30"/>
          <p:cNvSpPr/>
          <p:nvPr/>
        </p:nvSpPr>
        <p:spPr>
          <a:xfrm>
            <a:off x="9418320" y="6149340"/>
            <a:ext cx="411480" cy="356616"/>
          </a:xfrm>
          <a:prstGeom prst="triangle">
            <a:avLst>
              <a:gd fmla="val 50000" name="adj"/>
            </a:avLst>
          </a:prstGeom>
          <a:solidFill>
            <a:srgbClr val="00A79D">
              <a:alpha val="18039"/>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8" name="Google Shape;868;p30"/>
          <p:cNvSpPr/>
          <p:nvPr/>
        </p:nvSpPr>
        <p:spPr>
          <a:xfrm rot="10800000">
            <a:off x="9857232" y="5806440"/>
            <a:ext cx="411480" cy="356616"/>
          </a:xfrm>
          <a:prstGeom prst="triangle">
            <a:avLst>
              <a:gd fmla="val 50000" name="adj"/>
            </a:avLst>
          </a:prstGeom>
          <a:solidFill>
            <a:srgbClr val="29ABE2">
              <a:alpha val="18039"/>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9" name="Google Shape;869;p30"/>
          <p:cNvSpPr/>
          <p:nvPr/>
        </p:nvSpPr>
        <p:spPr>
          <a:xfrm rot="10800000">
            <a:off x="9857232" y="6492240"/>
            <a:ext cx="411480" cy="356616"/>
          </a:xfrm>
          <a:prstGeom prst="triangle">
            <a:avLst>
              <a:gd fmla="val 50000" name="adj"/>
            </a:avLst>
          </a:prstGeom>
          <a:solidFill>
            <a:srgbClr val="F58220">
              <a:alpha val="18039"/>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0" name="Google Shape;870;p30"/>
          <p:cNvSpPr/>
          <p:nvPr/>
        </p:nvSpPr>
        <p:spPr>
          <a:xfrm>
            <a:off x="10296144" y="6149340"/>
            <a:ext cx="411480" cy="356616"/>
          </a:xfrm>
          <a:prstGeom prst="triangle">
            <a:avLst>
              <a:gd fmla="val 50000" name="adj"/>
            </a:avLst>
          </a:prstGeom>
          <a:solidFill>
            <a:srgbClr val="8DC63F">
              <a:alpha val="18039"/>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1" name="Google Shape;871;p30"/>
          <p:cNvSpPr/>
          <p:nvPr/>
        </p:nvSpPr>
        <p:spPr>
          <a:xfrm>
            <a:off x="10296144" y="5463540"/>
            <a:ext cx="411480" cy="356616"/>
          </a:xfrm>
          <a:prstGeom prst="triangle">
            <a:avLst>
              <a:gd fmla="val 50000" name="adj"/>
            </a:avLst>
          </a:prstGeom>
          <a:solidFill>
            <a:srgbClr val="1D2A5C">
              <a:alpha val="18039"/>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2" name="Google Shape;872;p30"/>
          <p:cNvSpPr/>
          <p:nvPr/>
        </p:nvSpPr>
        <p:spPr>
          <a:xfrm rot="10800000">
            <a:off x="10735056" y="5806440"/>
            <a:ext cx="411480" cy="356616"/>
          </a:xfrm>
          <a:prstGeom prst="triangle">
            <a:avLst>
              <a:gd fmla="val 50000" name="adj"/>
            </a:avLst>
          </a:prstGeom>
          <a:solidFill>
            <a:srgbClr val="29ABE2">
              <a:alpha val="18039"/>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3" name="Google Shape;873;p30"/>
          <p:cNvSpPr/>
          <p:nvPr/>
        </p:nvSpPr>
        <p:spPr>
          <a:xfrm>
            <a:off x="10735056" y="6492240"/>
            <a:ext cx="411480" cy="356616"/>
          </a:xfrm>
          <a:prstGeom prst="triangle">
            <a:avLst>
              <a:gd fmla="val 50000" name="adj"/>
            </a:avLst>
          </a:prstGeom>
          <a:solidFill>
            <a:srgbClr val="00A79D">
              <a:alpha val="18039"/>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4" name="Google Shape;874;p30"/>
          <p:cNvSpPr/>
          <p:nvPr/>
        </p:nvSpPr>
        <p:spPr>
          <a:xfrm rot="10800000">
            <a:off x="11173968" y="6149340"/>
            <a:ext cx="411480" cy="356616"/>
          </a:xfrm>
          <a:prstGeom prst="triangle">
            <a:avLst>
              <a:gd fmla="val 50000" name="adj"/>
            </a:avLst>
          </a:prstGeom>
          <a:solidFill>
            <a:srgbClr val="F58220">
              <a:alpha val="18039"/>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5" name="Google Shape;875;p30"/>
          <p:cNvSpPr/>
          <p:nvPr/>
        </p:nvSpPr>
        <p:spPr>
          <a:xfrm>
            <a:off x="365760" y="747522"/>
            <a:ext cx="233172" cy="202082"/>
          </a:xfrm>
          <a:prstGeom prst="triangle">
            <a:avLst>
              <a:gd fmla="val 50000" name="adj"/>
            </a:avLst>
          </a:prstGeom>
          <a:solidFill>
            <a:srgbClr val="00A79D">
              <a:alpha val="18039"/>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6" name="Google Shape;876;p30"/>
          <p:cNvSpPr/>
          <p:nvPr/>
        </p:nvSpPr>
        <p:spPr>
          <a:xfrm rot="10800000">
            <a:off x="614477" y="553212"/>
            <a:ext cx="233172" cy="202082"/>
          </a:xfrm>
          <a:prstGeom prst="triangle">
            <a:avLst>
              <a:gd fmla="val 50000" name="adj"/>
            </a:avLst>
          </a:prstGeom>
          <a:solidFill>
            <a:srgbClr val="29ABE2">
              <a:alpha val="18039"/>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7" name="Google Shape;877;p30"/>
          <p:cNvSpPr/>
          <p:nvPr/>
        </p:nvSpPr>
        <p:spPr>
          <a:xfrm rot="10800000">
            <a:off x="614477" y="941832"/>
            <a:ext cx="233172" cy="202082"/>
          </a:xfrm>
          <a:prstGeom prst="triangle">
            <a:avLst>
              <a:gd fmla="val 50000" name="adj"/>
            </a:avLst>
          </a:prstGeom>
          <a:solidFill>
            <a:srgbClr val="F58220">
              <a:alpha val="18039"/>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8" name="Google Shape;878;p30"/>
          <p:cNvSpPr/>
          <p:nvPr/>
        </p:nvSpPr>
        <p:spPr>
          <a:xfrm>
            <a:off x="863194" y="747522"/>
            <a:ext cx="233172" cy="202082"/>
          </a:xfrm>
          <a:prstGeom prst="triangle">
            <a:avLst>
              <a:gd fmla="val 50000" name="adj"/>
            </a:avLst>
          </a:prstGeom>
          <a:solidFill>
            <a:srgbClr val="8DC63F">
              <a:alpha val="18039"/>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9" name="Google Shape;879;p30"/>
          <p:cNvSpPr/>
          <p:nvPr/>
        </p:nvSpPr>
        <p:spPr>
          <a:xfrm>
            <a:off x="863194" y="358902"/>
            <a:ext cx="233172" cy="202082"/>
          </a:xfrm>
          <a:prstGeom prst="triangle">
            <a:avLst>
              <a:gd fmla="val 50000" name="adj"/>
            </a:avLst>
          </a:prstGeom>
          <a:solidFill>
            <a:srgbClr val="1D2A5C">
              <a:alpha val="18039"/>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0" name="Google Shape;880;p30"/>
          <p:cNvSpPr/>
          <p:nvPr/>
        </p:nvSpPr>
        <p:spPr>
          <a:xfrm rot="10800000">
            <a:off x="1111910" y="553212"/>
            <a:ext cx="233172" cy="202082"/>
          </a:xfrm>
          <a:prstGeom prst="triangle">
            <a:avLst>
              <a:gd fmla="val 50000" name="adj"/>
            </a:avLst>
          </a:prstGeom>
          <a:solidFill>
            <a:srgbClr val="29ABE2">
              <a:alpha val="18039"/>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1" name="Google Shape;881;p30"/>
          <p:cNvSpPr/>
          <p:nvPr/>
        </p:nvSpPr>
        <p:spPr>
          <a:xfrm>
            <a:off x="1111910" y="941832"/>
            <a:ext cx="233172" cy="202082"/>
          </a:xfrm>
          <a:prstGeom prst="triangle">
            <a:avLst>
              <a:gd fmla="val 50000" name="adj"/>
            </a:avLst>
          </a:prstGeom>
          <a:solidFill>
            <a:srgbClr val="00A79D">
              <a:alpha val="18039"/>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2" name="Google Shape;882;p30"/>
          <p:cNvSpPr/>
          <p:nvPr/>
        </p:nvSpPr>
        <p:spPr>
          <a:xfrm rot="10800000">
            <a:off x="1360627" y="747522"/>
            <a:ext cx="233172" cy="202082"/>
          </a:xfrm>
          <a:prstGeom prst="triangle">
            <a:avLst>
              <a:gd fmla="val 50000" name="adj"/>
            </a:avLst>
          </a:prstGeom>
          <a:solidFill>
            <a:srgbClr val="F58220">
              <a:alpha val="18039"/>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3" name="Google Shape;883;p30"/>
          <p:cNvSpPr/>
          <p:nvPr/>
        </p:nvSpPr>
        <p:spPr>
          <a:xfrm>
            <a:off x="10332720" y="347472"/>
            <a:ext cx="1481328" cy="566928"/>
          </a:xfrm>
          <a:prstGeom prst="roundRect">
            <a:avLst>
              <a:gd fmla="val 14516" name="adj"/>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sessions/blissful-determined-ritchie/build/assets/sdaia_logo.png" id="884" name="Google Shape;884;p30"/>
          <p:cNvPicPr preferRelativeResize="0"/>
          <p:nvPr/>
        </p:nvPicPr>
        <p:blipFill rotWithShape="1">
          <a:blip r:embed="rId3">
            <a:alphaModFix/>
          </a:blip>
          <a:srcRect b="0" l="0" r="0" t="0"/>
          <a:stretch/>
        </p:blipFill>
        <p:spPr>
          <a:xfrm>
            <a:off x="10442448" y="438912"/>
            <a:ext cx="1261872" cy="308876"/>
          </a:xfrm>
          <a:prstGeom prst="rect">
            <a:avLst/>
          </a:prstGeom>
          <a:noFill/>
          <a:ln>
            <a:noFill/>
          </a:ln>
        </p:spPr>
      </p:pic>
      <p:sp>
        <p:nvSpPr>
          <p:cNvPr id="885" name="Google Shape;885;p30"/>
          <p:cNvSpPr/>
          <p:nvPr/>
        </p:nvSpPr>
        <p:spPr>
          <a:xfrm>
            <a:off x="777240" y="1325880"/>
            <a:ext cx="548640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A79D"/>
              </a:buClr>
              <a:buSzPts val="2000"/>
              <a:buFont typeface="Calibri"/>
              <a:buNone/>
            </a:pPr>
            <a:r>
              <a:rPr b="1" i="0" lang="en-US" sz="2000" u="none" cap="none" strike="noStrike">
                <a:solidFill>
                  <a:srgbClr val="00A79D"/>
                </a:solidFill>
                <a:latin typeface="Calibri"/>
                <a:ea typeface="Calibri"/>
                <a:cs typeface="Calibri"/>
                <a:sym typeface="Calibri"/>
              </a:rPr>
              <a:t>MODULE 2</a:t>
            </a:r>
            <a:endParaRPr b="0" i="0" sz="2000" u="none" cap="none" strike="noStrike">
              <a:solidFill>
                <a:schemeClr val="dk1"/>
              </a:solidFill>
              <a:latin typeface="Calibri"/>
              <a:ea typeface="Calibri"/>
              <a:cs typeface="Calibri"/>
              <a:sym typeface="Calibri"/>
            </a:endParaRPr>
          </a:p>
        </p:txBody>
      </p:sp>
      <p:sp>
        <p:nvSpPr>
          <p:cNvPr id="886" name="Google Shape;886;p30"/>
          <p:cNvSpPr/>
          <p:nvPr/>
        </p:nvSpPr>
        <p:spPr>
          <a:xfrm>
            <a:off x="749808" y="1828800"/>
            <a:ext cx="7589520" cy="13716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FFFFFF"/>
              </a:buClr>
              <a:buSzPts val="3600"/>
              <a:buFont typeface="Calibri"/>
              <a:buNone/>
            </a:pPr>
            <a:r>
              <a:rPr b="1" i="0" lang="en-US" sz="3600" u="none" cap="none" strike="noStrike">
                <a:solidFill>
                  <a:srgbClr val="FFFFFF"/>
                </a:solidFill>
                <a:latin typeface="Calibri"/>
                <a:ea typeface="Calibri"/>
                <a:cs typeface="Calibri"/>
                <a:sym typeface="Calibri"/>
              </a:rPr>
              <a:t>CNN Architectures &amp; Vision Transformers</a:t>
            </a:r>
            <a:endParaRPr b="0" i="0" sz="3600" u="none" cap="none" strike="noStrike">
              <a:solidFill>
                <a:schemeClr val="dk1"/>
              </a:solidFill>
              <a:latin typeface="Calibri"/>
              <a:ea typeface="Calibri"/>
              <a:cs typeface="Calibri"/>
              <a:sym typeface="Calibri"/>
            </a:endParaRPr>
          </a:p>
        </p:txBody>
      </p:sp>
      <p:sp>
        <p:nvSpPr>
          <p:cNvPr id="887" name="Google Shape;887;p30"/>
          <p:cNvSpPr/>
          <p:nvPr/>
        </p:nvSpPr>
        <p:spPr>
          <a:xfrm>
            <a:off x="777240" y="3127248"/>
            <a:ext cx="758952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B9C8E8"/>
              </a:buClr>
              <a:buSzPts val="1700"/>
              <a:buFont typeface="Arial"/>
              <a:buNone/>
            </a:pPr>
            <a:r>
              <a:rPr b="0" i="0" lang="en-US" sz="1700" u="none" cap="none" strike="noStrike">
                <a:solidFill>
                  <a:srgbClr val="B9C8E8"/>
                </a:solidFill>
                <a:latin typeface="Arial"/>
                <a:ea typeface="Arial"/>
                <a:cs typeface="Arial"/>
                <a:sym typeface="Arial"/>
              </a:rPr>
              <a:t>بنى الشبكات الالتفافية ومحوّلات الرؤية</a:t>
            </a:r>
            <a:endParaRPr b="0" i="0" sz="1700" u="none" cap="none" strike="noStrike">
              <a:solidFill>
                <a:schemeClr val="dk1"/>
              </a:solidFill>
              <a:latin typeface="Calibri"/>
              <a:ea typeface="Calibri"/>
              <a:cs typeface="Calibri"/>
              <a:sym typeface="Calibri"/>
            </a:endParaRPr>
          </a:p>
        </p:txBody>
      </p:sp>
      <p:sp>
        <p:nvSpPr>
          <p:cNvPr id="888" name="Google Shape;888;p30"/>
          <p:cNvSpPr/>
          <p:nvPr/>
        </p:nvSpPr>
        <p:spPr>
          <a:xfrm>
            <a:off x="804672" y="3703320"/>
            <a:ext cx="6949440" cy="2560320"/>
          </a:xfrm>
          <a:prstGeom prst="rect">
            <a:avLst/>
          </a:prstGeom>
          <a:noFill/>
          <a:ln>
            <a:noFill/>
          </a:ln>
        </p:spPr>
        <p:txBody>
          <a:bodyPr anchorCtr="0" anchor="t" bIns="0" lIns="0" spcFirstLastPara="1" rIns="0" wrap="square" tIns="0">
            <a:noAutofit/>
          </a:bodyPr>
          <a:lstStyle/>
          <a:p>
            <a:pPr indent="-177800" lvl="0" marL="177800" marR="0" rtl="0" algn="l">
              <a:spcBef>
                <a:spcPts val="0"/>
              </a:spcBef>
              <a:spcAft>
                <a:spcPts val="0"/>
              </a:spcAft>
              <a:buClr>
                <a:srgbClr val="DCE6F8"/>
              </a:buClr>
              <a:buSzPts val="1300"/>
              <a:buFont typeface="Calibri"/>
              <a:buChar char="▪"/>
            </a:pPr>
            <a:r>
              <a:rPr b="0" i="0" lang="en-US" sz="1300" u="none" cap="none" strike="noStrike">
                <a:solidFill>
                  <a:srgbClr val="DCE6F8"/>
                </a:solidFill>
                <a:latin typeface="Calibri"/>
                <a:ea typeface="Calibri"/>
                <a:cs typeface="Calibri"/>
                <a:sym typeface="Calibri"/>
              </a:rPr>
              <a:t>Convolutional inductive bias &amp; landmark CNNs</a:t>
            </a:r>
            <a:endParaRPr b="0" i="0" sz="1300" u="none" cap="none" strike="noStrike">
              <a:solidFill>
                <a:schemeClr val="dk1"/>
              </a:solidFill>
              <a:latin typeface="Calibri"/>
              <a:ea typeface="Calibri"/>
              <a:cs typeface="Calibri"/>
              <a:sym typeface="Calibri"/>
            </a:endParaRPr>
          </a:p>
          <a:p>
            <a:pPr indent="-177800" lvl="0" marL="177800" marR="0" rtl="0" algn="l">
              <a:spcBef>
                <a:spcPts val="800"/>
              </a:spcBef>
              <a:spcAft>
                <a:spcPts val="0"/>
              </a:spcAft>
              <a:buClr>
                <a:srgbClr val="DCE6F8"/>
              </a:buClr>
              <a:buSzPts val="1300"/>
              <a:buFont typeface="Calibri"/>
              <a:buChar char="▪"/>
            </a:pPr>
            <a:r>
              <a:rPr b="0" i="0" lang="en-US" sz="1300" u="none" cap="none" strike="noStrike">
                <a:solidFill>
                  <a:srgbClr val="DCE6F8"/>
                </a:solidFill>
                <a:latin typeface="Calibri"/>
                <a:ea typeface="Calibri"/>
                <a:cs typeface="Calibri"/>
                <a:sym typeface="Calibri"/>
              </a:rPr>
              <a:t>Vision transformers: patches, attention, trade-offs</a:t>
            </a:r>
            <a:endParaRPr b="0" i="0" sz="1300" u="none" cap="none" strike="noStrike">
              <a:solidFill>
                <a:schemeClr val="dk1"/>
              </a:solidFill>
              <a:latin typeface="Calibri"/>
              <a:ea typeface="Calibri"/>
              <a:cs typeface="Calibri"/>
              <a:sym typeface="Calibri"/>
            </a:endParaRPr>
          </a:p>
          <a:p>
            <a:pPr indent="-177800" lvl="0" marL="177800" marR="0" rtl="0" algn="l">
              <a:spcBef>
                <a:spcPts val="800"/>
              </a:spcBef>
              <a:spcAft>
                <a:spcPts val="0"/>
              </a:spcAft>
              <a:buClr>
                <a:srgbClr val="DCE6F8"/>
              </a:buClr>
              <a:buSzPts val="1300"/>
              <a:buFont typeface="Calibri"/>
              <a:buChar char="▪"/>
            </a:pPr>
            <a:r>
              <a:rPr b="0" i="0" lang="en-US" sz="1300" u="none" cap="none" strike="noStrike">
                <a:solidFill>
                  <a:srgbClr val="DCE6F8"/>
                </a:solidFill>
                <a:latin typeface="Calibri"/>
                <a:ea typeface="Calibri"/>
                <a:cs typeface="Calibri"/>
                <a:sym typeface="Calibri"/>
              </a:rPr>
              <a:t>Transfer learning: the staged fine-tuning recipe</a:t>
            </a:r>
            <a:endParaRPr b="0" i="0" sz="1300" u="none" cap="none" strike="noStrike">
              <a:solidFill>
                <a:schemeClr val="dk1"/>
              </a:solidFill>
              <a:latin typeface="Calibri"/>
              <a:ea typeface="Calibri"/>
              <a:cs typeface="Calibri"/>
              <a:sym typeface="Calibri"/>
            </a:endParaRPr>
          </a:p>
          <a:p>
            <a:pPr indent="-177800" lvl="0" marL="177800" marR="0" rtl="0" algn="l">
              <a:spcBef>
                <a:spcPts val="800"/>
              </a:spcBef>
              <a:spcAft>
                <a:spcPts val="0"/>
              </a:spcAft>
              <a:buClr>
                <a:srgbClr val="DCE6F8"/>
              </a:buClr>
              <a:buSzPts val="1300"/>
              <a:buFont typeface="Calibri"/>
              <a:buChar char="▪"/>
            </a:pPr>
            <a:r>
              <a:rPr b="0" i="0" lang="en-US" sz="1300" u="none" cap="none" strike="noStrike">
                <a:solidFill>
                  <a:srgbClr val="DCE6F8"/>
                </a:solidFill>
                <a:latin typeface="Calibri"/>
                <a:ea typeface="Calibri"/>
                <a:cs typeface="Calibri"/>
                <a:sym typeface="Calibri"/>
              </a:rPr>
              <a:t>Training loops &amp; reading the curves</a:t>
            </a:r>
            <a:endParaRPr b="0" i="0" sz="1300" u="none" cap="none" strike="noStrike">
              <a:solidFill>
                <a:schemeClr val="dk1"/>
              </a:solidFill>
              <a:latin typeface="Calibri"/>
              <a:ea typeface="Calibri"/>
              <a:cs typeface="Calibri"/>
              <a:sym typeface="Calibri"/>
            </a:endParaRPr>
          </a:p>
        </p:txBody>
      </p:sp>
      <p:sp>
        <p:nvSpPr>
          <p:cNvPr id="889" name="Google Shape;889;p30"/>
          <p:cNvSpPr/>
          <p:nvPr/>
        </p:nvSpPr>
        <p:spPr>
          <a:xfrm>
            <a:off x="8366760" y="3520440"/>
            <a:ext cx="3383280" cy="2286000"/>
          </a:xfrm>
          <a:prstGeom prst="roundRect">
            <a:avLst>
              <a:gd fmla="val 4000" name="adj"/>
            </a:avLst>
          </a:prstGeom>
          <a:solidFill>
            <a:srgbClr val="1C2C63"/>
          </a:solidFill>
          <a:ln cap="flat" cmpd="sng" w="15875">
            <a:solidFill>
              <a:srgbClr val="00A79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0" name="Google Shape;890;p30"/>
          <p:cNvSpPr/>
          <p:nvPr/>
        </p:nvSpPr>
        <p:spPr>
          <a:xfrm>
            <a:off x="8595360" y="3703320"/>
            <a:ext cx="292608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A79D"/>
              </a:buClr>
              <a:buSzPts val="1000"/>
              <a:buFont typeface="Calibri"/>
              <a:buNone/>
            </a:pPr>
            <a:r>
              <a:rPr b="1" i="0" lang="en-US" sz="1000" u="none" cap="none" strike="noStrike">
                <a:solidFill>
                  <a:srgbClr val="00A79D"/>
                </a:solidFill>
                <a:latin typeface="Calibri"/>
                <a:ea typeface="Calibri"/>
                <a:cs typeface="Calibri"/>
                <a:sym typeface="Calibri"/>
              </a:rPr>
              <a:t>MODULE OUTCOME</a:t>
            </a:r>
            <a:endParaRPr b="0" i="0" sz="1000" u="none" cap="none" strike="noStrike">
              <a:solidFill>
                <a:schemeClr val="dk1"/>
              </a:solidFill>
              <a:latin typeface="Calibri"/>
              <a:ea typeface="Calibri"/>
              <a:cs typeface="Calibri"/>
              <a:sym typeface="Calibri"/>
            </a:endParaRPr>
          </a:p>
        </p:txBody>
      </p:sp>
      <p:sp>
        <p:nvSpPr>
          <p:cNvPr id="891" name="Google Shape;891;p30"/>
          <p:cNvSpPr/>
          <p:nvPr/>
        </p:nvSpPr>
        <p:spPr>
          <a:xfrm>
            <a:off x="8595360" y="4041648"/>
            <a:ext cx="2971800" cy="16002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FFFFFF"/>
              </a:buClr>
              <a:buSzPts val="1250"/>
              <a:buFont typeface="Calibri"/>
              <a:buNone/>
            </a:pPr>
            <a:r>
              <a:rPr b="0" i="0" lang="en-US" sz="1250" u="none" cap="none" strike="noStrike">
                <a:solidFill>
                  <a:srgbClr val="FFFFFF"/>
                </a:solidFill>
                <a:latin typeface="Calibri"/>
                <a:ea typeface="Calibri"/>
                <a:cs typeface="Calibri"/>
                <a:sym typeface="Calibri"/>
              </a:rPr>
              <a:t>A staged fine-tuned ResNet-50 beating the frozen baseline (macro-F1 0.86) plus a measured ResNet-vs-ViT row in BENCHMARKS.md</a:t>
            </a:r>
            <a:endParaRPr b="0" i="0" sz="1250" u="none" cap="none" strike="noStrike">
              <a:solidFill>
                <a:schemeClr val="dk1"/>
              </a:solidFill>
              <a:latin typeface="Calibri"/>
              <a:ea typeface="Calibri"/>
              <a:cs typeface="Calibri"/>
              <a:sym typeface="Calibri"/>
            </a:endParaRPr>
          </a:p>
        </p:txBody>
      </p:sp>
      <p:sp>
        <p:nvSpPr>
          <p:cNvPr id="892" name="Google Shape;892;p30"/>
          <p:cNvSpPr/>
          <p:nvPr/>
        </p:nvSpPr>
        <p:spPr>
          <a:xfrm>
            <a:off x="11292840" y="6528816"/>
            <a:ext cx="411480" cy="219456"/>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5A6A96"/>
              </a:buClr>
              <a:buSzPts val="900"/>
              <a:buFont typeface="Calibri"/>
              <a:buNone/>
            </a:pPr>
            <a:r>
              <a:rPr b="0" i="0" lang="en-US" sz="900" u="none" cap="none" strike="noStrike">
                <a:solidFill>
                  <a:srgbClr val="5A6A96"/>
                </a:solidFill>
                <a:latin typeface="Calibri"/>
                <a:ea typeface="Calibri"/>
                <a:cs typeface="Calibri"/>
                <a:sym typeface="Calibri"/>
              </a:rPr>
              <a:t>30</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897" name="Shape 897"/>
        <p:cNvGrpSpPr/>
        <p:nvPr/>
      </p:nvGrpSpPr>
      <p:grpSpPr>
        <a:xfrm>
          <a:off x="0" y="0"/>
          <a:ext cx="0" cy="0"/>
          <a:chOff x="0" y="0"/>
          <a:chExt cx="0" cy="0"/>
        </a:xfrm>
      </p:grpSpPr>
      <p:sp>
        <p:nvSpPr>
          <p:cNvPr id="898" name="Google Shape;898;p31"/>
          <p:cNvSpPr/>
          <p:nvPr/>
        </p:nvSpPr>
        <p:spPr>
          <a:xfrm>
            <a:off x="502920" y="274320"/>
            <a:ext cx="9646920" cy="56692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D2A5C"/>
              </a:buClr>
              <a:buSzPts val="2700"/>
              <a:buFont typeface="Calibri"/>
              <a:buNone/>
            </a:pPr>
            <a:r>
              <a:rPr b="1" i="0" lang="en-US" sz="2700" u="none" cap="none" strike="noStrike">
                <a:solidFill>
                  <a:srgbClr val="1D2A5C"/>
                </a:solidFill>
                <a:latin typeface="Calibri"/>
                <a:ea typeface="Calibri"/>
                <a:cs typeface="Calibri"/>
                <a:sym typeface="Calibri"/>
              </a:rPr>
              <a:t>Why transfer learning pays</a:t>
            </a:r>
            <a:endParaRPr b="0" i="0" sz="2700" u="none" cap="none" strike="noStrike">
              <a:solidFill>
                <a:schemeClr val="dk1"/>
              </a:solidFill>
              <a:latin typeface="Calibri"/>
              <a:ea typeface="Calibri"/>
              <a:cs typeface="Calibri"/>
              <a:sym typeface="Calibri"/>
            </a:endParaRPr>
          </a:p>
        </p:txBody>
      </p:sp>
      <p:sp>
        <p:nvSpPr>
          <p:cNvPr id="899" name="Google Shape;899;p31"/>
          <p:cNvSpPr/>
          <p:nvPr/>
        </p:nvSpPr>
        <p:spPr>
          <a:xfrm>
            <a:off x="502920" y="859536"/>
            <a:ext cx="9646920" cy="31089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F6B7A"/>
              </a:buClr>
              <a:buSzPts val="1250"/>
              <a:buFont typeface="Arial"/>
              <a:buNone/>
            </a:pPr>
            <a:r>
              <a:rPr b="0" i="0" lang="en-US" sz="1250" u="none" cap="none" strike="noStrike">
                <a:solidFill>
                  <a:srgbClr val="5F6B7A"/>
                </a:solidFill>
                <a:latin typeface="Arial"/>
                <a:ea typeface="Arial"/>
                <a:cs typeface="Arial"/>
                <a:sym typeface="Arial"/>
              </a:rPr>
              <a:t>لماذا يجدي التعلم بالنقل</a:t>
            </a:r>
            <a:endParaRPr b="0" i="0" sz="1250" u="none" cap="none" strike="noStrike">
              <a:solidFill>
                <a:schemeClr val="dk1"/>
              </a:solidFill>
              <a:latin typeface="Calibri"/>
              <a:ea typeface="Calibri"/>
              <a:cs typeface="Calibri"/>
              <a:sym typeface="Calibri"/>
            </a:endParaRPr>
          </a:p>
        </p:txBody>
      </p:sp>
      <p:pic>
        <p:nvPicPr>
          <p:cNvPr descr="/sessions/blissful-determined-ritchie/build/assets/sdaia_logo.png" id="900" name="Google Shape;900;p31"/>
          <p:cNvPicPr preferRelativeResize="0"/>
          <p:nvPr/>
        </p:nvPicPr>
        <p:blipFill rotWithShape="1">
          <a:blip r:embed="rId3">
            <a:alphaModFix/>
          </a:blip>
          <a:srcRect b="0" l="0" r="0" t="0"/>
          <a:stretch/>
        </p:blipFill>
        <p:spPr>
          <a:xfrm>
            <a:off x="10625328" y="310896"/>
            <a:ext cx="1078992" cy="264111"/>
          </a:xfrm>
          <a:prstGeom prst="rect">
            <a:avLst/>
          </a:prstGeom>
          <a:noFill/>
          <a:ln>
            <a:noFill/>
          </a:ln>
        </p:spPr>
      </p:pic>
      <p:sp>
        <p:nvSpPr>
          <p:cNvPr id="901" name="Google Shape;901;p31"/>
          <p:cNvSpPr/>
          <p:nvPr/>
        </p:nvSpPr>
        <p:spPr>
          <a:xfrm>
            <a:off x="502920" y="6528816"/>
            <a:ext cx="8686800"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A79D"/>
              </a:buClr>
              <a:buSzPts val="800"/>
              <a:buFont typeface="Calibri"/>
              <a:buNone/>
            </a:pPr>
            <a:r>
              <a:rPr b="1" i="0" lang="en-US" sz="800" u="none" cap="none" strike="noStrike">
                <a:solidFill>
                  <a:srgbClr val="00A79D"/>
                </a:solidFill>
                <a:latin typeface="Calibri"/>
                <a:ea typeface="Calibri"/>
                <a:cs typeface="Calibri"/>
                <a:sym typeface="Calibri"/>
              </a:rPr>
              <a:t>MODULE 2   </a:t>
            </a:r>
            <a:r>
              <a:rPr b="0" i="0" lang="en-US" sz="800" u="none" cap="none" strike="noStrike">
                <a:solidFill>
                  <a:srgbClr val="8A96A6"/>
                </a:solidFill>
                <a:latin typeface="Calibri"/>
                <a:ea typeface="Calibri"/>
                <a:cs typeface="Calibri"/>
                <a:sym typeface="Calibri"/>
              </a:rPr>
              <a:t>SDA-AIE-212 · Computer Vision Systems Development</a:t>
            </a:r>
            <a:endParaRPr b="0" i="0" sz="800" u="none" cap="none" strike="noStrike">
              <a:solidFill>
                <a:schemeClr val="dk1"/>
              </a:solidFill>
              <a:latin typeface="Calibri"/>
              <a:ea typeface="Calibri"/>
              <a:cs typeface="Calibri"/>
              <a:sym typeface="Calibri"/>
            </a:endParaRPr>
          </a:p>
        </p:txBody>
      </p:sp>
      <p:sp>
        <p:nvSpPr>
          <p:cNvPr id="902" name="Google Shape;902;p31"/>
          <p:cNvSpPr/>
          <p:nvPr/>
        </p:nvSpPr>
        <p:spPr>
          <a:xfrm>
            <a:off x="11292840" y="6528816"/>
            <a:ext cx="411480" cy="219456"/>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8A96A6"/>
              </a:buClr>
              <a:buSzPts val="900"/>
              <a:buFont typeface="Calibri"/>
              <a:buNone/>
            </a:pPr>
            <a:r>
              <a:rPr b="0" i="0" lang="en-US" sz="900" u="none" cap="none" strike="noStrike">
                <a:solidFill>
                  <a:srgbClr val="8A96A6"/>
                </a:solidFill>
                <a:latin typeface="Calibri"/>
                <a:ea typeface="Calibri"/>
                <a:cs typeface="Calibri"/>
                <a:sym typeface="Calibri"/>
              </a:rPr>
              <a:t>31</a:t>
            </a:r>
            <a:endParaRPr b="0" i="0" sz="900" u="none" cap="none" strike="noStrike">
              <a:solidFill>
                <a:schemeClr val="dk1"/>
              </a:solidFill>
              <a:latin typeface="Calibri"/>
              <a:ea typeface="Calibri"/>
              <a:cs typeface="Calibri"/>
              <a:sym typeface="Calibri"/>
            </a:endParaRPr>
          </a:p>
        </p:txBody>
      </p:sp>
      <p:sp>
        <p:nvSpPr>
          <p:cNvPr id="903" name="Google Shape;903;p31"/>
          <p:cNvSpPr/>
          <p:nvPr/>
        </p:nvSpPr>
        <p:spPr>
          <a:xfrm>
            <a:off x="502920" y="1389888"/>
            <a:ext cx="11185855" cy="384048"/>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5F6B7A"/>
              </a:buClr>
              <a:buSzPts val="1250"/>
              <a:buFont typeface="Calibri"/>
              <a:buNone/>
            </a:pPr>
            <a:r>
              <a:rPr b="0" i="1" lang="en-US" sz="1250" u="none" cap="none" strike="noStrike">
                <a:solidFill>
                  <a:srgbClr val="5F6B7A"/>
                </a:solidFill>
                <a:latin typeface="Calibri"/>
                <a:ea typeface="Calibri"/>
                <a:cs typeface="Calibri"/>
                <a:sym typeface="Calibri"/>
              </a:rPr>
              <a:t>Pre-train once (someone else), fine-tune everywhere (you). Almost no Saudi enterprise trains vision models from scratch.</a:t>
            </a:r>
            <a:endParaRPr b="0" i="0" sz="1250" u="none" cap="none" strike="noStrike">
              <a:solidFill>
                <a:schemeClr val="dk1"/>
              </a:solidFill>
              <a:latin typeface="Calibri"/>
              <a:ea typeface="Calibri"/>
              <a:cs typeface="Calibri"/>
              <a:sym typeface="Calibri"/>
            </a:endParaRPr>
          </a:p>
        </p:txBody>
      </p:sp>
      <p:sp>
        <p:nvSpPr>
          <p:cNvPr id="904" name="Google Shape;904;p31"/>
          <p:cNvSpPr/>
          <p:nvPr/>
        </p:nvSpPr>
        <p:spPr>
          <a:xfrm>
            <a:off x="502920" y="3026664"/>
            <a:ext cx="2556434" cy="2194560"/>
          </a:xfrm>
          <a:prstGeom prst="roundRect">
            <a:avLst>
              <a:gd fmla="val 3750" name="adj"/>
            </a:avLst>
          </a:prstGeom>
          <a:solidFill>
            <a:srgbClr val="E9F6F5"/>
          </a:solidFill>
          <a:ln cap="flat" cmpd="sng" w="12700">
            <a:solidFill>
              <a:srgbClr val="D9E2E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5" name="Google Shape;905;p31"/>
          <p:cNvSpPr/>
          <p:nvPr/>
        </p:nvSpPr>
        <p:spPr>
          <a:xfrm>
            <a:off x="594360" y="3136392"/>
            <a:ext cx="2373554" cy="96560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0A79D"/>
              </a:buClr>
              <a:buSzPts val="3800"/>
              <a:buFont typeface="Calibri"/>
              <a:buNone/>
            </a:pPr>
            <a:r>
              <a:rPr b="1" i="0" lang="en-US" sz="3800" u="none" cap="none" strike="noStrike">
                <a:solidFill>
                  <a:srgbClr val="00A79D"/>
                </a:solidFill>
                <a:latin typeface="Calibri"/>
                <a:ea typeface="Calibri"/>
                <a:cs typeface="Calibri"/>
                <a:sym typeface="Calibri"/>
              </a:rPr>
              <a:t>0.91</a:t>
            </a:r>
            <a:endParaRPr b="0" i="0" sz="3800" u="none" cap="none" strike="noStrike">
              <a:solidFill>
                <a:schemeClr val="dk1"/>
              </a:solidFill>
              <a:latin typeface="Calibri"/>
              <a:ea typeface="Calibri"/>
              <a:cs typeface="Calibri"/>
              <a:sym typeface="Calibri"/>
            </a:endParaRPr>
          </a:p>
        </p:txBody>
      </p:sp>
      <p:sp>
        <p:nvSpPr>
          <p:cNvPr id="906" name="Google Shape;906;p31"/>
          <p:cNvSpPr/>
          <p:nvPr/>
        </p:nvSpPr>
        <p:spPr>
          <a:xfrm>
            <a:off x="640080" y="4167835"/>
            <a:ext cx="2282114" cy="32004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D2A5C"/>
              </a:buClr>
              <a:buSzPts val="1250"/>
              <a:buFont typeface="Calibri"/>
              <a:buNone/>
            </a:pPr>
            <a:r>
              <a:rPr b="1" i="0" lang="en-US" sz="1250" u="none" cap="none" strike="noStrike">
                <a:solidFill>
                  <a:srgbClr val="1D2A5C"/>
                </a:solidFill>
                <a:latin typeface="Calibri"/>
                <a:ea typeface="Calibri"/>
                <a:cs typeface="Calibri"/>
                <a:sym typeface="Calibri"/>
              </a:rPr>
              <a:t>macro-F1 fine-tuned</a:t>
            </a:r>
            <a:endParaRPr b="0" i="0" sz="1250" u="none" cap="none" strike="noStrike">
              <a:solidFill>
                <a:schemeClr val="dk1"/>
              </a:solidFill>
              <a:latin typeface="Calibri"/>
              <a:ea typeface="Calibri"/>
              <a:cs typeface="Calibri"/>
              <a:sym typeface="Calibri"/>
            </a:endParaRPr>
          </a:p>
        </p:txBody>
      </p:sp>
      <p:sp>
        <p:nvSpPr>
          <p:cNvPr id="907" name="Google Shape;907;p31"/>
          <p:cNvSpPr/>
          <p:nvPr/>
        </p:nvSpPr>
        <p:spPr>
          <a:xfrm>
            <a:off x="640080" y="4515307"/>
            <a:ext cx="2282114" cy="658368"/>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rgbClr val="5F6B7A"/>
              </a:buClr>
              <a:buSzPts val="1000"/>
              <a:buFont typeface="Calibri"/>
              <a:buNone/>
            </a:pPr>
            <a:r>
              <a:rPr b="0" i="0" lang="en-US" sz="1000" u="none" cap="none" strike="noStrike">
                <a:solidFill>
                  <a:srgbClr val="5F6B7A"/>
                </a:solidFill>
                <a:latin typeface="Calibri"/>
                <a:ea typeface="Calibri"/>
                <a:cs typeface="Calibri"/>
                <a:sym typeface="Calibri"/>
              </a:rPr>
              <a:t>ResNet-50 on 9,000 dates, 12 min</a:t>
            </a:r>
            <a:endParaRPr b="0" i="0" sz="1000" u="none" cap="none" strike="noStrike">
              <a:solidFill>
                <a:schemeClr val="dk1"/>
              </a:solidFill>
              <a:latin typeface="Calibri"/>
              <a:ea typeface="Calibri"/>
              <a:cs typeface="Calibri"/>
              <a:sym typeface="Calibri"/>
            </a:endParaRPr>
          </a:p>
        </p:txBody>
      </p:sp>
      <p:sp>
        <p:nvSpPr>
          <p:cNvPr id="908" name="Google Shape;908;p31"/>
          <p:cNvSpPr/>
          <p:nvPr/>
        </p:nvSpPr>
        <p:spPr>
          <a:xfrm>
            <a:off x="3379394" y="3026664"/>
            <a:ext cx="2556434" cy="2194560"/>
          </a:xfrm>
          <a:prstGeom prst="roundRect">
            <a:avLst>
              <a:gd fmla="val 3750" name="adj"/>
            </a:avLst>
          </a:prstGeom>
          <a:solidFill>
            <a:srgbClr val="F2F6F9"/>
          </a:solidFill>
          <a:ln cap="flat" cmpd="sng" w="12700">
            <a:solidFill>
              <a:srgbClr val="D9E2E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9" name="Google Shape;909;p31"/>
          <p:cNvSpPr/>
          <p:nvPr/>
        </p:nvSpPr>
        <p:spPr>
          <a:xfrm>
            <a:off x="3470834" y="3136392"/>
            <a:ext cx="2373554" cy="96560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E8503A"/>
              </a:buClr>
              <a:buSzPts val="3800"/>
              <a:buFont typeface="Calibri"/>
              <a:buNone/>
            </a:pPr>
            <a:r>
              <a:rPr b="1" i="0" lang="en-US" sz="3800" u="none" cap="none" strike="noStrike">
                <a:solidFill>
                  <a:srgbClr val="E8503A"/>
                </a:solidFill>
                <a:latin typeface="Calibri"/>
                <a:ea typeface="Calibri"/>
                <a:cs typeface="Calibri"/>
                <a:sym typeface="Calibri"/>
              </a:rPr>
              <a:t>0.72</a:t>
            </a:r>
            <a:endParaRPr b="0" i="0" sz="3800" u="none" cap="none" strike="noStrike">
              <a:solidFill>
                <a:schemeClr val="dk1"/>
              </a:solidFill>
              <a:latin typeface="Calibri"/>
              <a:ea typeface="Calibri"/>
              <a:cs typeface="Calibri"/>
              <a:sym typeface="Calibri"/>
            </a:endParaRPr>
          </a:p>
        </p:txBody>
      </p:sp>
      <p:sp>
        <p:nvSpPr>
          <p:cNvPr id="910" name="Google Shape;910;p31"/>
          <p:cNvSpPr/>
          <p:nvPr/>
        </p:nvSpPr>
        <p:spPr>
          <a:xfrm>
            <a:off x="3516554" y="4167835"/>
            <a:ext cx="2282114" cy="32004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D2A5C"/>
              </a:buClr>
              <a:buSzPts val="1250"/>
              <a:buFont typeface="Calibri"/>
              <a:buNone/>
            </a:pPr>
            <a:r>
              <a:rPr b="1" i="0" lang="en-US" sz="1250" u="none" cap="none" strike="noStrike">
                <a:solidFill>
                  <a:srgbClr val="1D2A5C"/>
                </a:solidFill>
                <a:latin typeface="Calibri"/>
                <a:ea typeface="Calibri"/>
                <a:cs typeface="Calibri"/>
                <a:sym typeface="Calibri"/>
              </a:rPr>
              <a:t>from-scratch plateau</a:t>
            </a:r>
            <a:endParaRPr b="0" i="0" sz="1250" u="none" cap="none" strike="noStrike">
              <a:solidFill>
                <a:schemeClr val="dk1"/>
              </a:solidFill>
              <a:latin typeface="Calibri"/>
              <a:ea typeface="Calibri"/>
              <a:cs typeface="Calibri"/>
              <a:sym typeface="Calibri"/>
            </a:endParaRPr>
          </a:p>
        </p:txBody>
      </p:sp>
      <p:sp>
        <p:nvSpPr>
          <p:cNvPr id="911" name="Google Shape;911;p31"/>
          <p:cNvSpPr/>
          <p:nvPr/>
        </p:nvSpPr>
        <p:spPr>
          <a:xfrm>
            <a:off x="3516554" y="4515307"/>
            <a:ext cx="2282114" cy="658368"/>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rgbClr val="5F6B7A"/>
              </a:buClr>
              <a:buSzPts val="1000"/>
              <a:buFont typeface="Calibri"/>
              <a:buNone/>
            </a:pPr>
            <a:r>
              <a:rPr b="0" i="0" lang="en-US" sz="1000" u="none" cap="none" strike="noStrike">
                <a:solidFill>
                  <a:srgbClr val="5F6B7A"/>
                </a:solidFill>
                <a:latin typeface="Calibri"/>
                <a:ea typeface="Calibri"/>
                <a:cs typeface="Calibri"/>
                <a:sym typeface="Calibri"/>
              </a:rPr>
              <a:t>same data - transfer wins decisively</a:t>
            </a:r>
            <a:endParaRPr b="0" i="0" sz="1000" u="none" cap="none" strike="noStrike">
              <a:solidFill>
                <a:schemeClr val="dk1"/>
              </a:solidFill>
              <a:latin typeface="Calibri"/>
              <a:ea typeface="Calibri"/>
              <a:cs typeface="Calibri"/>
              <a:sym typeface="Calibri"/>
            </a:endParaRPr>
          </a:p>
        </p:txBody>
      </p:sp>
      <p:sp>
        <p:nvSpPr>
          <p:cNvPr id="912" name="Google Shape;912;p31"/>
          <p:cNvSpPr/>
          <p:nvPr/>
        </p:nvSpPr>
        <p:spPr>
          <a:xfrm>
            <a:off x="6255868" y="3026664"/>
            <a:ext cx="2556434" cy="2194560"/>
          </a:xfrm>
          <a:prstGeom prst="roundRect">
            <a:avLst>
              <a:gd fmla="val 3750" name="adj"/>
            </a:avLst>
          </a:prstGeom>
          <a:solidFill>
            <a:srgbClr val="F2F6F9"/>
          </a:solidFill>
          <a:ln cap="flat" cmpd="sng" w="12700">
            <a:solidFill>
              <a:srgbClr val="D9E2E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3" name="Google Shape;913;p31"/>
          <p:cNvSpPr/>
          <p:nvPr/>
        </p:nvSpPr>
        <p:spPr>
          <a:xfrm>
            <a:off x="6347308" y="3136392"/>
            <a:ext cx="2373554" cy="96560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58220"/>
              </a:buClr>
              <a:buSzPts val="3800"/>
              <a:buFont typeface="Calibri"/>
              <a:buNone/>
            </a:pPr>
            <a:r>
              <a:rPr b="1" i="0" lang="en-US" sz="3800" u="none" cap="none" strike="noStrike">
                <a:solidFill>
                  <a:srgbClr val="F58220"/>
                </a:solidFill>
                <a:latin typeface="Calibri"/>
                <a:ea typeface="Calibri"/>
                <a:cs typeface="Calibri"/>
                <a:sym typeface="Calibri"/>
              </a:rPr>
              <a:t>15k</a:t>
            </a:r>
            <a:endParaRPr b="0" i="0" sz="3800" u="none" cap="none" strike="noStrike">
              <a:solidFill>
                <a:schemeClr val="dk1"/>
              </a:solidFill>
              <a:latin typeface="Calibri"/>
              <a:ea typeface="Calibri"/>
              <a:cs typeface="Calibri"/>
              <a:sym typeface="Calibri"/>
            </a:endParaRPr>
          </a:p>
        </p:txBody>
      </p:sp>
      <p:sp>
        <p:nvSpPr>
          <p:cNvPr id="914" name="Google Shape;914;p31"/>
          <p:cNvSpPr/>
          <p:nvPr/>
        </p:nvSpPr>
        <p:spPr>
          <a:xfrm>
            <a:off x="6393028" y="4167835"/>
            <a:ext cx="2282114" cy="32004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D2A5C"/>
              </a:buClr>
              <a:buSzPts val="1250"/>
              <a:buFont typeface="Calibri"/>
              <a:buNone/>
            </a:pPr>
            <a:r>
              <a:rPr b="1" i="0" lang="en-US" sz="1250" u="none" cap="none" strike="noStrike">
                <a:solidFill>
                  <a:srgbClr val="1D2A5C"/>
                </a:solidFill>
                <a:latin typeface="Calibri"/>
                <a:ea typeface="Calibri"/>
                <a:cs typeface="Calibri"/>
                <a:sym typeface="Calibri"/>
              </a:rPr>
              <a:t>tiles fine-tune a ViT</a:t>
            </a:r>
            <a:endParaRPr b="0" i="0" sz="1250" u="none" cap="none" strike="noStrike">
              <a:solidFill>
                <a:schemeClr val="dk1"/>
              </a:solidFill>
              <a:latin typeface="Calibri"/>
              <a:ea typeface="Calibri"/>
              <a:cs typeface="Calibri"/>
              <a:sym typeface="Calibri"/>
            </a:endParaRPr>
          </a:p>
        </p:txBody>
      </p:sp>
      <p:sp>
        <p:nvSpPr>
          <p:cNvPr id="915" name="Google Shape;915;p31"/>
          <p:cNvSpPr/>
          <p:nvPr/>
        </p:nvSpPr>
        <p:spPr>
          <a:xfrm>
            <a:off x="6393028" y="4515307"/>
            <a:ext cx="2282114" cy="658368"/>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rgbClr val="5F6B7A"/>
              </a:buClr>
              <a:buSzPts val="1000"/>
              <a:buFont typeface="Calibri"/>
              <a:buNone/>
            </a:pPr>
            <a:r>
              <a:rPr b="0" i="0" lang="en-US" sz="1000" u="none" cap="none" strike="noStrike">
                <a:solidFill>
                  <a:srgbClr val="5F6B7A"/>
                </a:solidFill>
                <a:latin typeface="Calibri"/>
                <a:ea typeface="Calibri"/>
                <a:cs typeface="Calibri"/>
                <a:sym typeface="Calibri"/>
              </a:rPr>
              <a:t>attention maps double as audit trail</a:t>
            </a:r>
            <a:endParaRPr b="0" i="0" sz="1000" u="none" cap="none" strike="noStrike">
              <a:solidFill>
                <a:schemeClr val="dk1"/>
              </a:solidFill>
              <a:latin typeface="Calibri"/>
              <a:ea typeface="Calibri"/>
              <a:cs typeface="Calibri"/>
              <a:sym typeface="Calibri"/>
            </a:endParaRPr>
          </a:p>
        </p:txBody>
      </p:sp>
      <p:sp>
        <p:nvSpPr>
          <p:cNvPr id="916" name="Google Shape;916;p31"/>
          <p:cNvSpPr/>
          <p:nvPr/>
        </p:nvSpPr>
        <p:spPr>
          <a:xfrm>
            <a:off x="9132341" y="3026664"/>
            <a:ext cx="2556434" cy="2194560"/>
          </a:xfrm>
          <a:prstGeom prst="roundRect">
            <a:avLst>
              <a:gd fmla="val 3750" name="adj"/>
            </a:avLst>
          </a:prstGeom>
          <a:solidFill>
            <a:srgbClr val="F2F6F9"/>
          </a:solidFill>
          <a:ln cap="flat" cmpd="sng" w="12700">
            <a:solidFill>
              <a:srgbClr val="D9E2E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7" name="Google Shape;917;p31"/>
          <p:cNvSpPr/>
          <p:nvPr/>
        </p:nvSpPr>
        <p:spPr>
          <a:xfrm>
            <a:off x="9223781" y="3136392"/>
            <a:ext cx="2373554" cy="96560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8DC63F"/>
              </a:buClr>
              <a:buSzPts val="3800"/>
              <a:buFont typeface="Calibri"/>
              <a:buNone/>
            </a:pPr>
            <a:r>
              <a:rPr b="1" i="0" lang="en-US" sz="3800" u="none" cap="none" strike="noStrike">
                <a:solidFill>
                  <a:srgbClr val="8DC63F"/>
                </a:solidFill>
                <a:latin typeface="Calibri"/>
                <a:ea typeface="Calibri"/>
                <a:cs typeface="Calibri"/>
                <a:sym typeface="Calibri"/>
              </a:rPr>
              <a:t>60 ms</a:t>
            </a:r>
            <a:endParaRPr b="0" i="0" sz="3800" u="none" cap="none" strike="noStrike">
              <a:solidFill>
                <a:schemeClr val="dk1"/>
              </a:solidFill>
              <a:latin typeface="Calibri"/>
              <a:ea typeface="Calibri"/>
              <a:cs typeface="Calibri"/>
              <a:sym typeface="Calibri"/>
            </a:endParaRPr>
          </a:p>
        </p:txBody>
      </p:sp>
      <p:sp>
        <p:nvSpPr>
          <p:cNvPr id="918" name="Google Shape;918;p31"/>
          <p:cNvSpPr/>
          <p:nvPr/>
        </p:nvSpPr>
        <p:spPr>
          <a:xfrm>
            <a:off x="9269501" y="4167835"/>
            <a:ext cx="2282114" cy="32004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D2A5C"/>
              </a:buClr>
              <a:buSzPts val="1250"/>
              <a:buFont typeface="Calibri"/>
              <a:buNone/>
            </a:pPr>
            <a:r>
              <a:rPr b="1" i="0" lang="en-US" sz="1250" u="none" cap="none" strike="noStrike">
                <a:solidFill>
                  <a:srgbClr val="1D2A5C"/>
                </a:solidFill>
                <a:latin typeface="Calibri"/>
                <a:ea typeface="Calibri"/>
                <a:cs typeface="Calibri"/>
                <a:sym typeface="Calibri"/>
              </a:rPr>
              <a:t>latency budget veto</a:t>
            </a:r>
            <a:endParaRPr b="0" i="0" sz="1250" u="none" cap="none" strike="noStrike">
              <a:solidFill>
                <a:schemeClr val="dk1"/>
              </a:solidFill>
              <a:latin typeface="Calibri"/>
              <a:ea typeface="Calibri"/>
              <a:cs typeface="Calibri"/>
              <a:sym typeface="Calibri"/>
            </a:endParaRPr>
          </a:p>
        </p:txBody>
      </p:sp>
      <p:sp>
        <p:nvSpPr>
          <p:cNvPr id="919" name="Google Shape;919;p31"/>
          <p:cNvSpPr/>
          <p:nvPr/>
        </p:nvSpPr>
        <p:spPr>
          <a:xfrm>
            <a:off x="9269501" y="4515307"/>
            <a:ext cx="2282114" cy="658368"/>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rgbClr val="5F6B7A"/>
              </a:buClr>
              <a:buSzPts val="1000"/>
              <a:buFont typeface="Calibri"/>
              <a:buNone/>
            </a:pPr>
            <a:r>
              <a:rPr b="0" i="0" lang="en-US" sz="1000" u="none" cap="none" strike="noStrike">
                <a:solidFill>
                  <a:srgbClr val="5F6B7A"/>
                </a:solidFill>
                <a:latin typeface="Calibri"/>
                <a:ea typeface="Calibri"/>
                <a:cs typeface="Calibri"/>
                <a:sym typeface="Calibri"/>
              </a:rPr>
              <a:t>EfficientNet-B0 beat ViT-L on mobile</a:t>
            </a:r>
            <a:endParaRPr b="0" i="0" sz="1000" u="none" cap="none" strike="noStrike">
              <a:solidFill>
                <a:schemeClr val="dk1"/>
              </a:solidFill>
              <a:latin typeface="Calibri"/>
              <a:ea typeface="Calibri"/>
              <a:cs typeface="Calibri"/>
              <a:sym typeface="Calibri"/>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924" name="Shape 924"/>
        <p:cNvGrpSpPr/>
        <p:nvPr/>
      </p:nvGrpSpPr>
      <p:grpSpPr>
        <a:xfrm>
          <a:off x="0" y="0"/>
          <a:ext cx="0" cy="0"/>
          <a:chOff x="0" y="0"/>
          <a:chExt cx="0" cy="0"/>
        </a:xfrm>
      </p:grpSpPr>
      <p:sp>
        <p:nvSpPr>
          <p:cNvPr id="925" name="Google Shape;925;p32"/>
          <p:cNvSpPr/>
          <p:nvPr/>
        </p:nvSpPr>
        <p:spPr>
          <a:xfrm>
            <a:off x="502920" y="274320"/>
            <a:ext cx="9646920" cy="56692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D2A5C"/>
              </a:buClr>
              <a:buSzPts val="2700"/>
              <a:buFont typeface="Calibri"/>
              <a:buNone/>
            </a:pPr>
            <a:r>
              <a:rPr b="1" i="0" lang="en-US" sz="2700" u="none" cap="none" strike="noStrike">
                <a:solidFill>
                  <a:srgbClr val="1D2A5C"/>
                </a:solidFill>
                <a:latin typeface="Calibri"/>
                <a:ea typeface="Calibri"/>
                <a:cs typeface="Calibri"/>
                <a:sym typeface="Calibri"/>
              </a:rPr>
              <a:t>Industry use cases</a:t>
            </a:r>
            <a:endParaRPr b="0" i="0" sz="2700" u="none" cap="none" strike="noStrike">
              <a:solidFill>
                <a:schemeClr val="dk1"/>
              </a:solidFill>
              <a:latin typeface="Calibri"/>
              <a:ea typeface="Calibri"/>
              <a:cs typeface="Calibri"/>
              <a:sym typeface="Calibri"/>
            </a:endParaRPr>
          </a:p>
        </p:txBody>
      </p:sp>
      <p:sp>
        <p:nvSpPr>
          <p:cNvPr id="926" name="Google Shape;926;p32"/>
          <p:cNvSpPr/>
          <p:nvPr/>
        </p:nvSpPr>
        <p:spPr>
          <a:xfrm>
            <a:off x="502920" y="859536"/>
            <a:ext cx="9646920" cy="31089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F6B7A"/>
              </a:buClr>
              <a:buSzPts val="1250"/>
              <a:buFont typeface="Arial"/>
              <a:buNone/>
            </a:pPr>
            <a:r>
              <a:rPr b="0" i="0" lang="en-US" sz="1250" u="none" cap="none" strike="noStrike">
                <a:solidFill>
                  <a:srgbClr val="5F6B7A"/>
                </a:solidFill>
                <a:latin typeface="Arial"/>
                <a:ea typeface="Arial"/>
                <a:cs typeface="Arial"/>
                <a:sym typeface="Arial"/>
              </a:rPr>
              <a:t>حالات استخدام صناعية</a:t>
            </a:r>
            <a:endParaRPr b="0" i="0" sz="1250" u="none" cap="none" strike="noStrike">
              <a:solidFill>
                <a:schemeClr val="dk1"/>
              </a:solidFill>
              <a:latin typeface="Calibri"/>
              <a:ea typeface="Calibri"/>
              <a:cs typeface="Calibri"/>
              <a:sym typeface="Calibri"/>
            </a:endParaRPr>
          </a:p>
        </p:txBody>
      </p:sp>
      <p:pic>
        <p:nvPicPr>
          <p:cNvPr descr="/sessions/blissful-determined-ritchie/build/assets/sdaia_logo.png" id="927" name="Google Shape;927;p32"/>
          <p:cNvPicPr preferRelativeResize="0"/>
          <p:nvPr/>
        </p:nvPicPr>
        <p:blipFill rotWithShape="1">
          <a:blip r:embed="rId3">
            <a:alphaModFix/>
          </a:blip>
          <a:srcRect b="0" l="0" r="0" t="0"/>
          <a:stretch/>
        </p:blipFill>
        <p:spPr>
          <a:xfrm>
            <a:off x="10625328" y="310896"/>
            <a:ext cx="1078992" cy="264111"/>
          </a:xfrm>
          <a:prstGeom prst="rect">
            <a:avLst/>
          </a:prstGeom>
          <a:noFill/>
          <a:ln>
            <a:noFill/>
          </a:ln>
        </p:spPr>
      </p:pic>
      <p:sp>
        <p:nvSpPr>
          <p:cNvPr id="928" name="Google Shape;928;p32"/>
          <p:cNvSpPr/>
          <p:nvPr/>
        </p:nvSpPr>
        <p:spPr>
          <a:xfrm>
            <a:off x="502920" y="6528816"/>
            <a:ext cx="8686800"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A79D"/>
              </a:buClr>
              <a:buSzPts val="800"/>
              <a:buFont typeface="Calibri"/>
              <a:buNone/>
            </a:pPr>
            <a:r>
              <a:rPr b="1" i="0" lang="en-US" sz="800" u="none" cap="none" strike="noStrike">
                <a:solidFill>
                  <a:srgbClr val="00A79D"/>
                </a:solidFill>
                <a:latin typeface="Calibri"/>
                <a:ea typeface="Calibri"/>
                <a:cs typeface="Calibri"/>
                <a:sym typeface="Calibri"/>
              </a:rPr>
              <a:t>MODULE 2   </a:t>
            </a:r>
            <a:r>
              <a:rPr b="0" i="0" lang="en-US" sz="800" u="none" cap="none" strike="noStrike">
                <a:solidFill>
                  <a:srgbClr val="8A96A6"/>
                </a:solidFill>
                <a:latin typeface="Calibri"/>
                <a:ea typeface="Calibri"/>
                <a:cs typeface="Calibri"/>
                <a:sym typeface="Calibri"/>
              </a:rPr>
              <a:t>SDA-AIE-212 · Computer Vision Systems Development</a:t>
            </a:r>
            <a:endParaRPr b="0" i="0" sz="800" u="none" cap="none" strike="noStrike">
              <a:solidFill>
                <a:schemeClr val="dk1"/>
              </a:solidFill>
              <a:latin typeface="Calibri"/>
              <a:ea typeface="Calibri"/>
              <a:cs typeface="Calibri"/>
              <a:sym typeface="Calibri"/>
            </a:endParaRPr>
          </a:p>
        </p:txBody>
      </p:sp>
      <p:sp>
        <p:nvSpPr>
          <p:cNvPr id="929" name="Google Shape;929;p32"/>
          <p:cNvSpPr/>
          <p:nvPr/>
        </p:nvSpPr>
        <p:spPr>
          <a:xfrm>
            <a:off x="11292840" y="6528816"/>
            <a:ext cx="411480" cy="219456"/>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8A96A6"/>
              </a:buClr>
              <a:buSzPts val="900"/>
              <a:buFont typeface="Calibri"/>
              <a:buNone/>
            </a:pPr>
            <a:r>
              <a:rPr b="0" i="0" lang="en-US" sz="900" u="none" cap="none" strike="noStrike">
                <a:solidFill>
                  <a:srgbClr val="8A96A6"/>
                </a:solidFill>
                <a:latin typeface="Calibri"/>
                <a:ea typeface="Calibri"/>
                <a:cs typeface="Calibri"/>
                <a:sym typeface="Calibri"/>
              </a:rPr>
              <a:t>32</a:t>
            </a:r>
            <a:endParaRPr b="0" i="0" sz="900" u="none" cap="none" strike="noStrike">
              <a:solidFill>
                <a:schemeClr val="dk1"/>
              </a:solidFill>
              <a:latin typeface="Calibri"/>
              <a:ea typeface="Calibri"/>
              <a:cs typeface="Calibri"/>
              <a:sym typeface="Calibri"/>
            </a:endParaRPr>
          </a:p>
        </p:txBody>
      </p:sp>
      <p:sp>
        <p:nvSpPr>
          <p:cNvPr id="930" name="Google Shape;930;p32"/>
          <p:cNvSpPr/>
          <p:nvPr/>
        </p:nvSpPr>
        <p:spPr>
          <a:xfrm>
            <a:off x="502920" y="1389888"/>
            <a:ext cx="5455768" cy="2354580"/>
          </a:xfrm>
          <a:prstGeom prst="roundRect">
            <a:avLst>
              <a:gd fmla="val 3107" name="adj"/>
            </a:avLst>
          </a:prstGeom>
          <a:solidFill>
            <a:srgbClr val="F2F6F9"/>
          </a:solidFill>
          <a:ln cap="flat" cmpd="sng" w="12700">
            <a:solidFill>
              <a:srgbClr val="D9E2E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1" name="Google Shape;931;p32"/>
          <p:cNvSpPr/>
          <p:nvPr/>
        </p:nvSpPr>
        <p:spPr>
          <a:xfrm>
            <a:off x="667512" y="1536192"/>
            <a:ext cx="310896" cy="310896"/>
          </a:xfrm>
          <a:prstGeom prst="ellipse">
            <a:avLst/>
          </a:prstGeom>
          <a:solidFill>
            <a:srgbClr val="00A79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2" name="Google Shape;932;p32"/>
          <p:cNvSpPr/>
          <p:nvPr/>
        </p:nvSpPr>
        <p:spPr>
          <a:xfrm>
            <a:off x="667512" y="1536192"/>
            <a:ext cx="310896" cy="31089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200"/>
              <a:buFont typeface="Calibri"/>
              <a:buNone/>
            </a:pPr>
            <a:r>
              <a:rPr b="1" i="0" lang="en-US" sz="1200" u="none" cap="none" strike="noStrike">
                <a:solidFill>
                  <a:srgbClr val="FFFFFF"/>
                </a:solidFill>
                <a:latin typeface="Calibri"/>
                <a:ea typeface="Calibri"/>
                <a:cs typeface="Calibri"/>
                <a:sym typeface="Calibri"/>
              </a:rPr>
              <a:t>1</a:t>
            </a:r>
            <a:endParaRPr b="0" i="0" sz="1200" u="none" cap="none" strike="noStrike">
              <a:solidFill>
                <a:schemeClr val="dk1"/>
              </a:solidFill>
              <a:latin typeface="Calibri"/>
              <a:ea typeface="Calibri"/>
              <a:cs typeface="Calibri"/>
              <a:sym typeface="Calibri"/>
            </a:endParaRPr>
          </a:p>
        </p:txBody>
      </p:sp>
      <p:sp>
        <p:nvSpPr>
          <p:cNvPr id="933" name="Google Shape;933;p32"/>
          <p:cNvSpPr/>
          <p:nvPr/>
        </p:nvSpPr>
        <p:spPr>
          <a:xfrm>
            <a:off x="1088136" y="1499616"/>
            <a:ext cx="4724248" cy="38404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D2A5C"/>
              </a:buClr>
              <a:buSzPts val="1250"/>
              <a:buFont typeface="Calibri"/>
              <a:buNone/>
            </a:pPr>
            <a:r>
              <a:rPr b="1" i="0" lang="en-US" sz="1250" u="none" cap="none" strike="noStrike">
                <a:solidFill>
                  <a:srgbClr val="1D2A5C"/>
                </a:solidFill>
                <a:latin typeface="Calibri"/>
                <a:ea typeface="Calibri"/>
                <a:cs typeface="Calibri"/>
                <a:sym typeface="Calibri"/>
              </a:rPr>
              <a:t>Tamr Vision grade classifier</a:t>
            </a:r>
            <a:endParaRPr b="0" i="0" sz="1250" u="none" cap="none" strike="noStrike">
              <a:solidFill>
                <a:schemeClr val="dk1"/>
              </a:solidFill>
              <a:latin typeface="Calibri"/>
              <a:ea typeface="Calibri"/>
              <a:cs typeface="Calibri"/>
              <a:sym typeface="Calibri"/>
            </a:endParaRPr>
          </a:p>
        </p:txBody>
      </p:sp>
      <p:sp>
        <p:nvSpPr>
          <p:cNvPr id="934" name="Google Shape;934;p32"/>
          <p:cNvSpPr/>
          <p:nvPr/>
        </p:nvSpPr>
        <p:spPr>
          <a:xfrm>
            <a:off x="685800" y="1920240"/>
            <a:ext cx="5090008" cy="17145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5F6B7A"/>
              </a:buClr>
              <a:buSzPts val="1100"/>
              <a:buFont typeface="Calibri"/>
              <a:buNone/>
            </a:pPr>
            <a:r>
              <a:rPr b="0" i="0" lang="en-US" sz="1100" u="none" cap="none" strike="noStrike">
                <a:solidFill>
                  <a:srgbClr val="5F6B7A"/>
                </a:solidFill>
                <a:latin typeface="Calibri"/>
                <a:ea typeface="Calibri"/>
                <a:cs typeface="Calibri"/>
                <a:sym typeface="Calibri"/>
              </a:rPr>
              <a:t>ResNet-50 fine-tuned on 9,000 labelled dates reaches macro-F1 0.91 in 12 minutes; from-scratch plateaus at 0.72.</a:t>
            </a:r>
            <a:endParaRPr b="0" i="0" sz="1100" u="none" cap="none" strike="noStrike">
              <a:solidFill>
                <a:schemeClr val="dk1"/>
              </a:solidFill>
              <a:latin typeface="Calibri"/>
              <a:ea typeface="Calibri"/>
              <a:cs typeface="Calibri"/>
              <a:sym typeface="Calibri"/>
            </a:endParaRPr>
          </a:p>
        </p:txBody>
      </p:sp>
      <p:sp>
        <p:nvSpPr>
          <p:cNvPr id="935" name="Google Shape;935;p32"/>
          <p:cNvSpPr/>
          <p:nvPr/>
        </p:nvSpPr>
        <p:spPr>
          <a:xfrm>
            <a:off x="6233008" y="1389888"/>
            <a:ext cx="5455768" cy="2354580"/>
          </a:xfrm>
          <a:prstGeom prst="roundRect">
            <a:avLst>
              <a:gd fmla="val 3107" name="adj"/>
            </a:avLst>
          </a:prstGeom>
          <a:solidFill>
            <a:srgbClr val="F2F6F9"/>
          </a:solidFill>
          <a:ln cap="flat" cmpd="sng" w="12700">
            <a:solidFill>
              <a:srgbClr val="D9E2E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6" name="Google Shape;936;p32"/>
          <p:cNvSpPr/>
          <p:nvPr/>
        </p:nvSpPr>
        <p:spPr>
          <a:xfrm>
            <a:off x="6397600" y="1536192"/>
            <a:ext cx="310896" cy="310896"/>
          </a:xfrm>
          <a:prstGeom prst="ellipse">
            <a:avLst/>
          </a:prstGeom>
          <a:solidFill>
            <a:srgbClr val="29ABE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7" name="Google Shape;937;p32"/>
          <p:cNvSpPr/>
          <p:nvPr/>
        </p:nvSpPr>
        <p:spPr>
          <a:xfrm>
            <a:off x="6397600" y="1536192"/>
            <a:ext cx="310896" cy="31089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200"/>
              <a:buFont typeface="Calibri"/>
              <a:buNone/>
            </a:pPr>
            <a:r>
              <a:rPr b="1" i="0" lang="en-US" sz="1200" u="none" cap="none" strike="noStrike">
                <a:solidFill>
                  <a:srgbClr val="FFFFFF"/>
                </a:solidFill>
                <a:latin typeface="Calibri"/>
                <a:ea typeface="Calibri"/>
                <a:cs typeface="Calibri"/>
                <a:sym typeface="Calibri"/>
              </a:rPr>
              <a:t>2</a:t>
            </a:r>
            <a:endParaRPr b="0" i="0" sz="1200" u="none" cap="none" strike="noStrike">
              <a:solidFill>
                <a:schemeClr val="dk1"/>
              </a:solidFill>
              <a:latin typeface="Calibri"/>
              <a:ea typeface="Calibri"/>
              <a:cs typeface="Calibri"/>
              <a:sym typeface="Calibri"/>
            </a:endParaRPr>
          </a:p>
        </p:txBody>
      </p:sp>
      <p:sp>
        <p:nvSpPr>
          <p:cNvPr id="938" name="Google Shape;938;p32"/>
          <p:cNvSpPr/>
          <p:nvPr/>
        </p:nvSpPr>
        <p:spPr>
          <a:xfrm>
            <a:off x="6818224" y="1499616"/>
            <a:ext cx="4724248" cy="38404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D2A5C"/>
              </a:buClr>
              <a:buSzPts val="1250"/>
              <a:buFont typeface="Calibri"/>
              <a:buNone/>
            </a:pPr>
            <a:r>
              <a:rPr b="1" i="0" lang="en-US" sz="1250" u="none" cap="none" strike="noStrike">
                <a:solidFill>
                  <a:srgbClr val="1D2A5C"/>
                </a:solidFill>
                <a:latin typeface="Calibri"/>
                <a:ea typeface="Calibri"/>
                <a:cs typeface="Calibri"/>
                <a:sym typeface="Calibri"/>
              </a:rPr>
              <a:t>Land-registry satellite tiles</a:t>
            </a:r>
            <a:endParaRPr b="0" i="0" sz="1250" u="none" cap="none" strike="noStrike">
              <a:solidFill>
                <a:schemeClr val="dk1"/>
              </a:solidFill>
              <a:latin typeface="Calibri"/>
              <a:ea typeface="Calibri"/>
              <a:cs typeface="Calibri"/>
              <a:sym typeface="Calibri"/>
            </a:endParaRPr>
          </a:p>
        </p:txBody>
      </p:sp>
      <p:sp>
        <p:nvSpPr>
          <p:cNvPr id="939" name="Google Shape;939;p32"/>
          <p:cNvSpPr/>
          <p:nvPr/>
        </p:nvSpPr>
        <p:spPr>
          <a:xfrm>
            <a:off x="6415888" y="1920240"/>
            <a:ext cx="5090008" cy="17145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5F6B7A"/>
              </a:buClr>
              <a:buSzPts val="1100"/>
              <a:buFont typeface="Calibri"/>
              <a:buNone/>
            </a:pPr>
            <a:r>
              <a:rPr b="0" i="0" lang="en-US" sz="1100" u="none" cap="none" strike="noStrike">
                <a:solidFill>
                  <a:srgbClr val="5F6B7A"/>
                </a:solidFill>
                <a:latin typeface="Calibri"/>
                <a:ea typeface="Calibri"/>
                <a:cs typeface="Calibri"/>
                <a:sym typeface="Calibri"/>
              </a:rPr>
              <a:t>ViT fine-tuned on 15k tiles labels built-up / agricultural / desert; attention maps double as audit evidence.</a:t>
            </a:r>
            <a:endParaRPr b="0" i="0" sz="1100" u="none" cap="none" strike="noStrike">
              <a:solidFill>
                <a:schemeClr val="dk1"/>
              </a:solidFill>
              <a:latin typeface="Calibri"/>
              <a:ea typeface="Calibri"/>
              <a:cs typeface="Calibri"/>
              <a:sym typeface="Calibri"/>
            </a:endParaRPr>
          </a:p>
        </p:txBody>
      </p:sp>
      <p:sp>
        <p:nvSpPr>
          <p:cNvPr id="940" name="Google Shape;940;p32"/>
          <p:cNvSpPr/>
          <p:nvPr/>
        </p:nvSpPr>
        <p:spPr>
          <a:xfrm>
            <a:off x="502920" y="4000500"/>
            <a:ext cx="5455768" cy="2354580"/>
          </a:xfrm>
          <a:prstGeom prst="roundRect">
            <a:avLst>
              <a:gd fmla="val 3107" name="adj"/>
            </a:avLst>
          </a:prstGeom>
          <a:solidFill>
            <a:srgbClr val="F2F6F9"/>
          </a:solidFill>
          <a:ln cap="flat" cmpd="sng" w="12700">
            <a:solidFill>
              <a:srgbClr val="D9E2E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1" name="Google Shape;941;p32"/>
          <p:cNvSpPr/>
          <p:nvPr/>
        </p:nvSpPr>
        <p:spPr>
          <a:xfrm>
            <a:off x="667512" y="4146804"/>
            <a:ext cx="310896" cy="310896"/>
          </a:xfrm>
          <a:prstGeom prst="ellipse">
            <a:avLst/>
          </a:prstGeom>
          <a:solidFill>
            <a:srgbClr val="F5822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2" name="Google Shape;942;p32"/>
          <p:cNvSpPr/>
          <p:nvPr/>
        </p:nvSpPr>
        <p:spPr>
          <a:xfrm>
            <a:off x="667512" y="4146804"/>
            <a:ext cx="310896" cy="31089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200"/>
              <a:buFont typeface="Calibri"/>
              <a:buNone/>
            </a:pPr>
            <a:r>
              <a:rPr b="1" i="0" lang="en-US" sz="1200" u="none" cap="none" strike="noStrike">
                <a:solidFill>
                  <a:srgbClr val="FFFFFF"/>
                </a:solidFill>
                <a:latin typeface="Calibri"/>
                <a:ea typeface="Calibri"/>
                <a:cs typeface="Calibri"/>
                <a:sym typeface="Calibri"/>
              </a:rPr>
              <a:t>3</a:t>
            </a:r>
            <a:endParaRPr b="0" i="0" sz="1200" u="none" cap="none" strike="noStrike">
              <a:solidFill>
                <a:schemeClr val="dk1"/>
              </a:solidFill>
              <a:latin typeface="Calibri"/>
              <a:ea typeface="Calibri"/>
              <a:cs typeface="Calibri"/>
              <a:sym typeface="Calibri"/>
            </a:endParaRPr>
          </a:p>
        </p:txBody>
      </p:sp>
      <p:sp>
        <p:nvSpPr>
          <p:cNvPr id="943" name="Google Shape;943;p32"/>
          <p:cNvSpPr/>
          <p:nvPr/>
        </p:nvSpPr>
        <p:spPr>
          <a:xfrm>
            <a:off x="1088136" y="4110228"/>
            <a:ext cx="4724248" cy="38404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D2A5C"/>
              </a:buClr>
              <a:buSzPts val="1250"/>
              <a:buFont typeface="Calibri"/>
              <a:buNone/>
            </a:pPr>
            <a:r>
              <a:rPr b="1" i="0" lang="en-US" sz="1250" u="none" cap="none" strike="noStrike">
                <a:solidFill>
                  <a:srgbClr val="1D2A5C"/>
                </a:solidFill>
                <a:latin typeface="Calibri"/>
                <a:ea typeface="Calibri"/>
                <a:cs typeface="Calibri"/>
                <a:sym typeface="Calibri"/>
              </a:rPr>
              <a:t>Vehicle-damage triage</a:t>
            </a:r>
            <a:endParaRPr b="0" i="0" sz="1250" u="none" cap="none" strike="noStrike">
              <a:solidFill>
                <a:schemeClr val="dk1"/>
              </a:solidFill>
              <a:latin typeface="Calibri"/>
              <a:ea typeface="Calibri"/>
              <a:cs typeface="Calibri"/>
              <a:sym typeface="Calibri"/>
            </a:endParaRPr>
          </a:p>
        </p:txBody>
      </p:sp>
      <p:sp>
        <p:nvSpPr>
          <p:cNvPr id="944" name="Google Shape;944;p32"/>
          <p:cNvSpPr/>
          <p:nvPr/>
        </p:nvSpPr>
        <p:spPr>
          <a:xfrm>
            <a:off x="685800" y="4530852"/>
            <a:ext cx="5090008" cy="17145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5F6B7A"/>
              </a:buClr>
              <a:buSzPts val="1100"/>
              <a:buFont typeface="Calibri"/>
              <a:buNone/>
            </a:pPr>
            <a:r>
              <a:rPr b="0" i="0" lang="en-US" sz="1100" u="none" cap="none" strike="noStrike">
                <a:solidFill>
                  <a:srgbClr val="5F6B7A"/>
                </a:solidFill>
                <a:latin typeface="Calibri"/>
                <a:ea typeface="Calibri"/>
                <a:cs typeface="Calibri"/>
                <a:sym typeface="Calibri"/>
              </a:rPr>
              <a:t>An insurer chose EfficientNet-B0 over ViT-L purely on the 60 ms mobile latency budget: deployment vetoes architecture.</a:t>
            </a:r>
            <a:endParaRPr b="0" i="0" sz="1100" u="none" cap="none" strike="noStrike">
              <a:solidFill>
                <a:schemeClr val="dk1"/>
              </a:solidFill>
              <a:latin typeface="Calibri"/>
              <a:ea typeface="Calibri"/>
              <a:cs typeface="Calibri"/>
              <a:sym typeface="Calibri"/>
            </a:endParaRPr>
          </a:p>
        </p:txBody>
      </p:sp>
      <p:sp>
        <p:nvSpPr>
          <p:cNvPr id="945" name="Google Shape;945;p32"/>
          <p:cNvSpPr/>
          <p:nvPr/>
        </p:nvSpPr>
        <p:spPr>
          <a:xfrm>
            <a:off x="6233008" y="4000500"/>
            <a:ext cx="5455768" cy="2354580"/>
          </a:xfrm>
          <a:prstGeom prst="roundRect">
            <a:avLst>
              <a:gd fmla="val 3107" name="adj"/>
            </a:avLst>
          </a:prstGeom>
          <a:solidFill>
            <a:srgbClr val="F2F6F9"/>
          </a:solidFill>
          <a:ln cap="flat" cmpd="sng" w="12700">
            <a:solidFill>
              <a:srgbClr val="D9E2E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6" name="Google Shape;946;p32"/>
          <p:cNvSpPr/>
          <p:nvPr/>
        </p:nvSpPr>
        <p:spPr>
          <a:xfrm>
            <a:off x="6397600" y="4146804"/>
            <a:ext cx="310896" cy="310896"/>
          </a:xfrm>
          <a:prstGeom prst="ellipse">
            <a:avLst/>
          </a:prstGeom>
          <a:solidFill>
            <a:srgbClr val="8DC63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7" name="Google Shape;947;p32"/>
          <p:cNvSpPr/>
          <p:nvPr/>
        </p:nvSpPr>
        <p:spPr>
          <a:xfrm>
            <a:off x="6397600" y="4146804"/>
            <a:ext cx="310896" cy="31089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200"/>
              <a:buFont typeface="Calibri"/>
              <a:buNone/>
            </a:pPr>
            <a:r>
              <a:rPr b="1" i="0" lang="en-US" sz="1200" u="none" cap="none" strike="noStrike">
                <a:solidFill>
                  <a:srgbClr val="FFFFFF"/>
                </a:solidFill>
                <a:latin typeface="Calibri"/>
                <a:ea typeface="Calibri"/>
                <a:cs typeface="Calibri"/>
                <a:sym typeface="Calibri"/>
              </a:rPr>
              <a:t>4</a:t>
            </a:r>
            <a:endParaRPr b="0" i="0" sz="1200" u="none" cap="none" strike="noStrike">
              <a:solidFill>
                <a:schemeClr val="dk1"/>
              </a:solidFill>
              <a:latin typeface="Calibri"/>
              <a:ea typeface="Calibri"/>
              <a:cs typeface="Calibri"/>
              <a:sym typeface="Calibri"/>
            </a:endParaRPr>
          </a:p>
        </p:txBody>
      </p:sp>
      <p:sp>
        <p:nvSpPr>
          <p:cNvPr id="948" name="Google Shape;948;p32"/>
          <p:cNvSpPr/>
          <p:nvPr/>
        </p:nvSpPr>
        <p:spPr>
          <a:xfrm>
            <a:off x="6818224" y="4110228"/>
            <a:ext cx="4724248" cy="38404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D2A5C"/>
              </a:buClr>
              <a:buSzPts val="1250"/>
              <a:buFont typeface="Calibri"/>
              <a:buNone/>
            </a:pPr>
            <a:r>
              <a:rPr b="1" i="0" lang="en-US" sz="1250" u="none" cap="none" strike="noStrike">
                <a:solidFill>
                  <a:srgbClr val="1D2A5C"/>
                </a:solidFill>
                <a:latin typeface="Calibri"/>
                <a:ea typeface="Calibri"/>
                <a:cs typeface="Calibri"/>
                <a:sym typeface="Calibri"/>
              </a:rPr>
              <a:t>The afternoon classifier</a:t>
            </a:r>
            <a:endParaRPr b="0" i="0" sz="1250" u="none" cap="none" strike="noStrike">
              <a:solidFill>
                <a:schemeClr val="dk1"/>
              </a:solidFill>
              <a:latin typeface="Calibri"/>
              <a:ea typeface="Calibri"/>
              <a:cs typeface="Calibri"/>
              <a:sym typeface="Calibri"/>
            </a:endParaRPr>
          </a:p>
        </p:txBody>
      </p:sp>
      <p:sp>
        <p:nvSpPr>
          <p:cNvPr id="949" name="Google Shape;949;p32"/>
          <p:cNvSpPr/>
          <p:nvPr/>
        </p:nvSpPr>
        <p:spPr>
          <a:xfrm>
            <a:off x="6415888" y="4530852"/>
            <a:ext cx="5090008" cy="17145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5F6B7A"/>
              </a:buClr>
              <a:buSzPts val="1100"/>
              <a:buFont typeface="Calibri"/>
              <a:buNone/>
            </a:pPr>
            <a:r>
              <a:rPr b="0" i="0" lang="en-US" sz="1100" u="none" cap="none" strike="noStrike">
                <a:solidFill>
                  <a:srgbClr val="5F6B7A"/>
                </a:solidFill>
                <a:latin typeface="Calibri"/>
                <a:ea typeface="Calibri"/>
                <a:cs typeface="Calibri"/>
                <a:sym typeface="Calibri"/>
              </a:rPr>
              <a:t>Right backbone + right freezing + right LR schedule = a production-grade classifier on a few thousand images.</a:t>
            </a:r>
            <a:endParaRPr b="0" i="0" sz="1100" u="none" cap="none" strike="noStrike">
              <a:solidFill>
                <a:schemeClr val="dk1"/>
              </a:solidFill>
              <a:latin typeface="Calibri"/>
              <a:ea typeface="Calibri"/>
              <a:cs typeface="Calibri"/>
              <a:sym typeface="Calibri"/>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954" name="Shape 954"/>
        <p:cNvGrpSpPr/>
        <p:nvPr/>
      </p:nvGrpSpPr>
      <p:grpSpPr>
        <a:xfrm>
          <a:off x="0" y="0"/>
          <a:ext cx="0" cy="0"/>
          <a:chOff x="0" y="0"/>
          <a:chExt cx="0" cy="0"/>
        </a:xfrm>
      </p:grpSpPr>
      <p:sp>
        <p:nvSpPr>
          <p:cNvPr id="955" name="Google Shape;955;p33"/>
          <p:cNvSpPr/>
          <p:nvPr/>
        </p:nvSpPr>
        <p:spPr>
          <a:xfrm>
            <a:off x="502920" y="274320"/>
            <a:ext cx="9646920" cy="56692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D2A5C"/>
              </a:buClr>
              <a:buSzPts val="2700"/>
              <a:buFont typeface="Calibri"/>
              <a:buNone/>
            </a:pPr>
            <a:r>
              <a:rPr b="1" i="0" lang="en-US" sz="2700" u="none" cap="none" strike="noStrike">
                <a:solidFill>
                  <a:srgbClr val="1D2A5C"/>
                </a:solidFill>
                <a:latin typeface="Calibri"/>
                <a:ea typeface="Calibri"/>
                <a:cs typeface="Calibri"/>
                <a:sym typeface="Calibri"/>
              </a:rPr>
              <a:t>Module 2 objectives</a:t>
            </a:r>
            <a:endParaRPr b="0" i="0" sz="2700" u="none" cap="none" strike="noStrike">
              <a:solidFill>
                <a:schemeClr val="dk1"/>
              </a:solidFill>
              <a:latin typeface="Calibri"/>
              <a:ea typeface="Calibri"/>
              <a:cs typeface="Calibri"/>
              <a:sym typeface="Calibri"/>
            </a:endParaRPr>
          </a:p>
        </p:txBody>
      </p:sp>
      <p:sp>
        <p:nvSpPr>
          <p:cNvPr id="956" name="Google Shape;956;p33"/>
          <p:cNvSpPr/>
          <p:nvPr/>
        </p:nvSpPr>
        <p:spPr>
          <a:xfrm>
            <a:off x="502920" y="859536"/>
            <a:ext cx="9646920" cy="31089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F6B7A"/>
              </a:buClr>
              <a:buSzPts val="1250"/>
              <a:buFont typeface="Arial"/>
              <a:buNone/>
            </a:pPr>
            <a:r>
              <a:rPr b="0" i="0" lang="en-US" sz="1250" u="none" cap="none" strike="noStrike">
                <a:solidFill>
                  <a:srgbClr val="5F6B7A"/>
                </a:solidFill>
                <a:latin typeface="Arial"/>
                <a:ea typeface="Arial"/>
                <a:cs typeface="Arial"/>
                <a:sym typeface="Arial"/>
              </a:rPr>
              <a:t>أهداف الوحدة الثانية</a:t>
            </a:r>
            <a:endParaRPr b="0" i="0" sz="1250" u="none" cap="none" strike="noStrike">
              <a:solidFill>
                <a:schemeClr val="dk1"/>
              </a:solidFill>
              <a:latin typeface="Calibri"/>
              <a:ea typeface="Calibri"/>
              <a:cs typeface="Calibri"/>
              <a:sym typeface="Calibri"/>
            </a:endParaRPr>
          </a:p>
        </p:txBody>
      </p:sp>
      <p:pic>
        <p:nvPicPr>
          <p:cNvPr descr="/sessions/blissful-determined-ritchie/build/assets/sdaia_logo.png" id="957" name="Google Shape;957;p33"/>
          <p:cNvPicPr preferRelativeResize="0"/>
          <p:nvPr/>
        </p:nvPicPr>
        <p:blipFill rotWithShape="1">
          <a:blip r:embed="rId3">
            <a:alphaModFix/>
          </a:blip>
          <a:srcRect b="0" l="0" r="0" t="0"/>
          <a:stretch/>
        </p:blipFill>
        <p:spPr>
          <a:xfrm>
            <a:off x="10625328" y="310896"/>
            <a:ext cx="1078992" cy="264111"/>
          </a:xfrm>
          <a:prstGeom prst="rect">
            <a:avLst/>
          </a:prstGeom>
          <a:noFill/>
          <a:ln>
            <a:noFill/>
          </a:ln>
        </p:spPr>
      </p:pic>
      <p:sp>
        <p:nvSpPr>
          <p:cNvPr id="958" name="Google Shape;958;p33"/>
          <p:cNvSpPr/>
          <p:nvPr/>
        </p:nvSpPr>
        <p:spPr>
          <a:xfrm>
            <a:off x="502920" y="6528816"/>
            <a:ext cx="8686800"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A79D"/>
              </a:buClr>
              <a:buSzPts val="800"/>
              <a:buFont typeface="Calibri"/>
              <a:buNone/>
            </a:pPr>
            <a:r>
              <a:rPr b="1" i="0" lang="en-US" sz="800" u="none" cap="none" strike="noStrike">
                <a:solidFill>
                  <a:srgbClr val="00A79D"/>
                </a:solidFill>
                <a:latin typeface="Calibri"/>
                <a:ea typeface="Calibri"/>
                <a:cs typeface="Calibri"/>
                <a:sym typeface="Calibri"/>
              </a:rPr>
              <a:t>MODULE 2   </a:t>
            </a:r>
            <a:r>
              <a:rPr b="0" i="0" lang="en-US" sz="800" u="none" cap="none" strike="noStrike">
                <a:solidFill>
                  <a:srgbClr val="8A96A6"/>
                </a:solidFill>
                <a:latin typeface="Calibri"/>
                <a:ea typeface="Calibri"/>
                <a:cs typeface="Calibri"/>
                <a:sym typeface="Calibri"/>
              </a:rPr>
              <a:t>SDA-AIE-212 · Computer Vision Systems Development</a:t>
            </a:r>
            <a:endParaRPr b="0" i="0" sz="800" u="none" cap="none" strike="noStrike">
              <a:solidFill>
                <a:schemeClr val="dk1"/>
              </a:solidFill>
              <a:latin typeface="Calibri"/>
              <a:ea typeface="Calibri"/>
              <a:cs typeface="Calibri"/>
              <a:sym typeface="Calibri"/>
            </a:endParaRPr>
          </a:p>
        </p:txBody>
      </p:sp>
      <p:sp>
        <p:nvSpPr>
          <p:cNvPr id="959" name="Google Shape;959;p33"/>
          <p:cNvSpPr/>
          <p:nvPr/>
        </p:nvSpPr>
        <p:spPr>
          <a:xfrm>
            <a:off x="11292840" y="6528816"/>
            <a:ext cx="411480" cy="219456"/>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8A96A6"/>
              </a:buClr>
              <a:buSzPts val="900"/>
              <a:buFont typeface="Calibri"/>
              <a:buNone/>
            </a:pPr>
            <a:r>
              <a:rPr b="0" i="0" lang="en-US" sz="900" u="none" cap="none" strike="noStrike">
                <a:solidFill>
                  <a:srgbClr val="8A96A6"/>
                </a:solidFill>
                <a:latin typeface="Calibri"/>
                <a:ea typeface="Calibri"/>
                <a:cs typeface="Calibri"/>
                <a:sym typeface="Calibri"/>
              </a:rPr>
              <a:t>33</a:t>
            </a:r>
            <a:endParaRPr b="0" i="0" sz="900" u="none" cap="none" strike="noStrike">
              <a:solidFill>
                <a:schemeClr val="dk1"/>
              </a:solidFill>
              <a:latin typeface="Calibri"/>
              <a:ea typeface="Calibri"/>
              <a:cs typeface="Calibri"/>
              <a:sym typeface="Calibri"/>
            </a:endParaRPr>
          </a:p>
        </p:txBody>
      </p:sp>
      <p:sp>
        <p:nvSpPr>
          <p:cNvPr id="960" name="Google Shape;960;p33"/>
          <p:cNvSpPr/>
          <p:nvPr/>
        </p:nvSpPr>
        <p:spPr>
          <a:xfrm>
            <a:off x="502920" y="1499616"/>
            <a:ext cx="11183112" cy="832104"/>
          </a:xfrm>
          <a:prstGeom prst="roundRect">
            <a:avLst>
              <a:gd fmla="val 7692" name="adj"/>
            </a:avLst>
          </a:prstGeom>
          <a:solidFill>
            <a:srgbClr val="FAFCFE"/>
          </a:solidFill>
          <a:ln cap="flat" cmpd="sng" w="9525">
            <a:solidFill>
              <a:srgbClr val="D9E2E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1" name="Google Shape;961;p33"/>
          <p:cNvSpPr/>
          <p:nvPr/>
        </p:nvSpPr>
        <p:spPr>
          <a:xfrm>
            <a:off x="649224" y="1751076"/>
            <a:ext cx="329184" cy="329184"/>
          </a:xfrm>
          <a:prstGeom prst="ellipse">
            <a:avLst/>
          </a:prstGeom>
          <a:solidFill>
            <a:srgbClr val="00A79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2" name="Google Shape;962;p33"/>
          <p:cNvSpPr/>
          <p:nvPr/>
        </p:nvSpPr>
        <p:spPr>
          <a:xfrm>
            <a:off x="649224" y="1751076"/>
            <a:ext cx="329184" cy="32918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150"/>
              <a:buFont typeface="Calibri"/>
              <a:buNone/>
            </a:pPr>
            <a:r>
              <a:rPr b="1" i="0" lang="en-US" sz="1150" u="none" cap="none" strike="noStrike">
                <a:solidFill>
                  <a:srgbClr val="FFFFFF"/>
                </a:solidFill>
                <a:latin typeface="Calibri"/>
                <a:ea typeface="Calibri"/>
                <a:cs typeface="Calibri"/>
                <a:sym typeface="Calibri"/>
              </a:rPr>
              <a:t>2.1</a:t>
            </a:r>
            <a:endParaRPr b="0" i="0" sz="1150" u="none" cap="none" strike="noStrike">
              <a:solidFill>
                <a:schemeClr val="dk1"/>
              </a:solidFill>
              <a:latin typeface="Calibri"/>
              <a:ea typeface="Calibri"/>
              <a:cs typeface="Calibri"/>
              <a:sym typeface="Calibri"/>
            </a:endParaRPr>
          </a:p>
        </p:txBody>
      </p:sp>
      <p:sp>
        <p:nvSpPr>
          <p:cNvPr id="963" name="Google Shape;963;p33"/>
          <p:cNvSpPr/>
          <p:nvPr/>
        </p:nvSpPr>
        <p:spPr>
          <a:xfrm>
            <a:off x="1143000" y="1499616"/>
            <a:ext cx="8321040" cy="83210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3293B"/>
              </a:buClr>
              <a:buSzPts val="1250"/>
              <a:buFont typeface="Calibri"/>
              <a:buNone/>
            </a:pPr>
            <a:r>
              <a:rPr b="0" i="0" lang="en-US" sz="1250" u="none" cap="none" strike="noStrike">
                <a:solidFill>
                  <a:srgbClr val="23293B"/>
                </a:solidFill>
                <a:latin typeface="Calibri"/>
                <a:ea typeface="Calibri"/>
                <a:cs typeface="Calibri"/>
                <a:sym typeface="Calibri"/>
              </a:rPr>
              <a:t>Explain convolutional inductive bias (locality, weight sharing, hierarchy) and ViT global attention</a:t>
            </a:r>
            <a:endParaRPr b="0" i="0" sz="1250" u="none" cap="none" strike="noStrike">
              <a:solidFill>
                <a:schemeClr val="dk1"/>
              </a:solidFill>
              <a:latin typeface="Calibri"/>
              <a:ea typeface="Calibri"/>
              <a:cs typeface="Calibri"/>
              <a:sym typeface="Calibri"/>
            </a:endParaRPr>
          </a:p>
        </p:txBody>
      </p:sp>
      <p:sp>
        <p:nvSpPr>
          <p:cNvPr id="964" name="Google Shape;964;p33"/>
          <p:cNvSpPr/>
          <p:nvPr/>
        </p:nvSpPr>
        <p:spPr>
          <a:xfrm>
            <a:off x="9646920" y="1741932"/>
            <a:ext cx="658368" cy="310896"/>
          </a:xfrm>
          <a:prstGeom prst="roundRect">
            <a:avLst>
              <a:gd fmla="val 50000" name="adj"/>
            </a:avLst>
          </a:prstGeom>
          <a:solidFill>
            <a:srgbClr val="E9F6F5"/>
          </a:solidFill>
          <a:ln cap="flat" cmpd="sng" w="9525">
            <a:solidFill>
              <a:srgbClr val="00A79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5" name="Google Shape;965;p33"/>
          <p:cNvSpPr/>
          <p:nvPr/>
        </p:nvSpPr>
        <p:spPr>
          <a:xfrm>
            <a:off x="9646920" y="1741932"/>
            <a:ext cx="658368" cy="31089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56A63"/>
              </a:buClr>
              <a:buSzPts val="950"/>
              <a:buFont typeface="Calibri"/>
              <a:buNone/>
            </a:pPr>
            <a:r>
              <a:rPr b="1" i="0" lang="en-US" sz="950" u="none" cap="none" strike="noStrike">
                <a:solidFill>
                  <a:srgbClr val="056A63"/>
                </a:solidFill>
                <a:latin typeface="Calibri"/>
                <a:ea typeface="Calibri"/>
                <a:cs typeface="Calibri"/>
                <a:sym typeface="Calibri"/>
              </a:rPr>
              <a:t>LO1</a:t>
            </a:r>
            <a:endParaRPr b="0" i="0" sz="950" u="none" cap="none" strike="noStrike">
              <a:solidFill>
                <a:schemeClr val="dk1"/>
              </a:solidFill>
              <a:latin typeface="Calibri"/>
              <a:ea typeface="Calibri"/>
              <a:cs typeface="Calibri"/>
              <a:sym typeface="Calibri"/>
            </a:endParaRPr>
          </a:p>
        </p:txBody>
      </p:sp>
      <p:sp>
        <p:nvSpPr>
          <p:cNvPr id="966" name="Google Shape;966;p33"/>
          <p:cNvSpPr/>
          <p:nvPr/>
        </p:nvSpPr>
        <p:spPr>
          <a:xfrm>
            <a:off x="502920" y="2459736"/>
            <a:ext cx="11183112" cy="832104"/>
          </a:xfrm>
          <a:prstGeom prst="roundRect">
            <a:avLst>
              <a:gd fmla="val 7692" name="adj"/>
            </a:avLst>
          </a:prstGeom>
          <a:solidFill>
            <a:srgbClr val="F2F6F9"/>
          </a:solidFill>
          <a:ln cap="flat" cmpd="sng" w="9525">
            <a:solidFill>
              <a:srgbClr val="D9E2E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7" name="Google Shape;967;p33"/>
          <p:cNvSpPr/>
          <p:nvPr/>
        </p:nvSpPr>
        <p:spPr>
          <a:xfrm>
            <a:off x="649224" y="2711196"/>
            <a:ext cx="329184" cy="329184"/>
          </a:xfrm>
          <a:prstGeom prst="ellipse">
            <a:avLst/>
          </a:prstGeom>
          <a:solidFill>
            <a:srgbClr val="00A79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8" name="Google Shape;968;p33"/>
          <p:cNvSpPr/>
          <p:nvPr/>
        </p:nvSpPr>
        <p:spPr>
          <a:xfrm>
            <a:off x="649224" y="2711196"/>
            <a:ext cx="329184" cy="32918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150"/>
              <a:buFont typeface="Calibri"/>
              <a:buNone/>
            </a:pPr>
            <a:r>
              <a:rPr b="1" i="0" lang="en-US" sz="1150" u="none" cap="none" strike="noStrike">
                <a:solidFill>
                  <a:srgbClr val="FFFFFF"/>
                </a:solidFill>
                <a:latin typeface="Calibri"/>
                <a:ea typeface="Calibri"/>
                <a:cs typeface="Calibri"/>
                <a:sym typeface="Calibri"/>
              </a:rPr>
              <a:t>2.2</a:t>
            </a:r>
            <a:endParaRPr b="0" i="0" sz="1150" u="none" cap="none" strike="noStrike">
              <a:solidFill>
                <a:schemeClr val="dk1"/>
              </a:solidFill>
              <a:latin typeface="Calibri"/>
              <a:ea typeface="Calibri"/>
              <a:cs typeface="Calibri"/>
              <a:sym typeface="Calibri"/>
            </a:endParaRPr>
          </a:p>
        </p:txBody>
      </p:sp>
      <p:sp>
        <p:nvSpPr>
          <p:cNvPr id="969" name="Google Shape;969;p33"/>
          <p:cNvSpPr/>
          <p:nvPr/>
        </p:nvSpPr>
        <p:spPr>
          <a:xfrm>
            <a:off x="1143000" y="2459736"/>
            <a:ext cx="8321040" cy="83210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3293B"/>
              </a:buClr>
              <a:buSzPts val="1250"/>
              <a:buFont typeface="Calibri"/>
              <a:buNone/>
            </a:pPr>
            <a:r>
              <a:rPr b="0" i="0" lang="en-US" sz="1250" u="none" cap="none" strike="noStrike">
                <a:solidFill>
                  <a:srgbClr val="23293B"/>
                </a:solidFill>
                <a:latin typeface="Calibri"/>
                <a:ea typeface="Calibri"/>
                <a:cs typeface="Calibri"/>
                <a:sym typeface="Calibri"/>
              </a:rPr>
              <a:t>Select a backbone for a task using accuracy/params/latency trade-off data</a:t>
            </a:r>
            <a:endParaRPr b="0" i="0" sz="1250" u="none" cap="none" strike="noStrike">
              <a:solidFill>
                <a:schemeClr val="dk1"/>
              </a:solidFill>
              <a:latin typeface="Calibri"/>
              <a:ea typeface="Calibri"/>
              <a:cs typeface="Calibri"/>
              <a:sym typeface="Calibri"/>
            </a:endParaRPr>
          </a:p>
        </p:txBody>
      </p:sp>
      <p:sp>
        <p:nvSpPr>
          <p:cNvPr id="970" name="Google Shape;970;p33"/>
          <p:cNvSpPr/>
          <p:nvPr/>
        </p:nvSpPr>
        <p:spPr>
          <a:xfrm>
            <a:off x="9646920" y="2702052"/>
            <a:ext cx="658368" cy="310896"/>
          </a:xfrm>
          <a:prstGeom prst="roundRect">
            <a:avLst>
              <a:gd fmla="val 50000" name="adj"/>
            </a:avLst>
          </a:prstGeom>
          <a:solidFill>
            <a:srgbClr val="E9F6F5"/>
          </a:solidFill>
          <a:ln cap="flat" cmpd="sng" w="9525">
            <a:solidFill>
              <a:srgbClr val="00A79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1" name="Google Shape;971;p33"/>
          <p:cNvSpPr/>
          <p:nvPr/>
        </p:nvSpPr>
        <p:spPr>
          <a:xfrm>
            <a:off x="9646920" y="2702052"/>
            <a:ext cx="658368" cy="31089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56A63"/>
              </a:buClr>
              <a:buSzPts val="950"/>
              <a:buFont typeface="Calibri"/>
              <a:buNone/>
            </a:pPr>
            <a:r>
              <a:rPr b="1" i="0" lang="en-US" sz="950" u="none" cap="none" strike="noStrike">
                <a:solidFill>
                  <a:srgbClr val="056A63"/>
                </a:solidFill>
                <a:latin typeface="Calibri"/>
                <a:ea typeface="Calibri"/>
                <a:cs typeface="Calibri"/>
                <a:sym typeface="Calibri"/>
              </a:rPr>
              <a:t>LO1</a:t>
            </a:r>
            <a:endParaRPr b="0" i="0" sz="950" u="none" cap="none" strike="noStrike">
              <a:solidFill>
                <a:schemeClr val="dk1"/>
              </a:solidFill>
              <a:latin typeface="Calibri"/>
              <a:ea typeface="Calibri"/>
              <a:cs typeface="Calibri"/>
              <a:sym typeface="Calibri"/>
            </a:endParaRPr>
          </a:p>
        </p:txBody>
      </p:sp>
      <p:sp>
        <p:nvSpPr>
          <p:cNvPr id="972" name="Google Shape;972;p33"/>
          <p:cNvSpPr/>
          <p:nvPr/>
        </p:nvSpPr>
        <p:spPr>
          <a:xfrm>
            <a:off x="10360152" y="2702052"/>
            <a:ext cx="658368" cy="310896"/>
          </a:xfrm>
          <a:prstGeom prst="roundRect">
            <a:avLst>
              <a:gd fmla="val 50000" name="adj"/>
            </a:avLst>
          </a:prstGeom>
          <a:solidFill>
            <a:srgbClr val="E9F6F5"/>
          </a:solidFill>
          <a:ln cap="flat" cmpd="sng" w="9525">
            <a:solidFill>
              <a:srgbClr val="00A79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3" name="Google Shape;973;p33"/>
          <p:cNvSpPr/>
          <p:nvPr/>
        </p:nvSpPr>
        <p:spPr>
          <a:xfrm>
            <a:off x="10360152" y="2702052"/>
            <a:ext cx="658368" cy="31089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56A63"/>
              </a:buClr>
              <a:buSzPts val="950"/>
              <a:buFont typeface="Calibri"/>
              <a:buNone/>
            </a:pPr>
            <a:r>
              <a:rPr b="1" i="0" lang="en-US" sz="950" u="none" cap="none" strike="noStrike">
                <a:solidFill>
                  <a:srgbClr val="056A63"/>
                </a:solidFill>
                <a:latin typeface="Calibri"/>
                <a:ea typeface="Calibri"/>
                <a:cs typeface="Calibri"/>
                <a:sym typeface="Calibri"/>
              </a:rPr>
              <a:t>LO6</a:t>
            </a:r>
            <a:endParaRPr b="0" i="0" sz="950" u="none" cap="none" strike="noStrike">
              <a:solidFill>
                <a:schemeClr val="dk1"/>
              </a:solidFill>
              <a:latin typeface="Calibri"/>
              <a:ea typeface="Calibri"/>
              <a:cs typeface="Calibri"/>
              <a:sym typeface="Calibri"/>
            </a:endParaRPr>
          </a:p>
        </p:txBody>
      </p:sp>
      <p:sp>
        <p:nvSpPr>
          <p:cNvPr id="974" name="Google Shape;974;p33"/>
          <p:cNvSpPr/>
          <p:nvPr/>
        </p:nvSpPr>
        <p:spPr>
          <a:xfrm>
            <a:off x="502920" y="3419856"/>
            <a:ext cx="11183112" cy="832104"/>
          </a:xfrm>
          <a:prstGeom prst="roundRect">
            <a:avLst>
              <a:gd fmla="val 7692" name="adj"/>
            </a:avLst>
          </a:prstGeom>
          <a:solidFill>
            <a:srgbClr val="FAFCFE"/>
          </a:solidFill>
          <a:ln cap="flat" cmpd="sng" w="9525">
            <a:solidFill>
              <a:srgbClr val="D9E2E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5" name="Google Shape;975;p33"/>
          <p:cNvSpPr/>
          <p:nvPr/>
        </p:nvSpPr>
        <p:spPr>
          <a:xfrm>
            <a:off x="649224" y="3671316"/>
            <a:ext cx="329184" cy="329184"/>
          </a:xfrm>
          <a:prstGeom prst="ellipse">
            <a:avLst/>
          </a:prstGeom>
          <a:solidFill>
            <a:srgbClr val="00A79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6" name="Google Shape;976;p33"/>
          <p:cNvSpPr/>
          <p:nvPr/>
        </p:nvSpPr>
        <p:spPr>
          <a:xfrm>
            <a:off x="649224" y="3671316"/>
            <a:ext cx="329184" cy="32918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150"/>
              <a:buFont typeface="Calibri"/>
              <a:buNone/>
            </a:pPr>
            <a:r>
              <a:rPr b="1" i="0" lang="en-US" sz="1150" u="none" cap="none" strike="noStrike">
                <a:solidFill>
                  <a:srgbClr val="FFFFFF"/>
                </a:solidFill>
                <a:latin typeface="Calibri"/>
                <a:ea typeface="Calibri"/>
                <a:cs typeface="Calibri"/>
                <a:sym typeface="Calibri"/>
              </a:rPr>
              <a:t>2.3</a:t>
            </a:r>
            <a:endParaRPr b="0" i="0" sz="1150" u="none" cap="none" strike="noStrike">
              <a:solidFill>
                <a:schemeClr val="dk1"/>
              </a:solidFill>
              <a:latin typeface="Calibri"/>
              <a:ea typeface="Calibri"/>
              <a:cs typeface="Calibri"/>
              <a:sym typeface="Calibri"/>
            </a:endParaRPr>
          </a:p>
        </p:txBody>
      </p:sp>
      <p:sp>
        <p:nvSpPr>
          <p:cNvPr id="977" name="Google Shape;977;p33"/>
          <p:cNvSpPr/>
          <p:nvPr/>
        </p:nvSpPr>
        <p:spPr>
          <a:xfrm>
            <a:off x="1143000" y="3419856"/>
            <a:ext cx="8321040" cy="83210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3293B"/>
              </a:buClr>
              <a:buSzPts val="1250"/>
              <a:buFont typeface="Calibri"/>
              <a:buNone/>
            </a:pPr>
            <a:r>
              <a:rPr b="0" i="0" lang="en-US" sz="1250" u="none" cap="none" strike="noStrike">
                <a:solidFill>
                  <a:srgbClr val="23293B"/>
                </a:solidFill>
                <a:latin typeface="Calibri"/>
                <a:ea typeface="Calibri"/>
                <a:cs typeface="Calibri"/>
                <a:sym typeface="Calibri"/>
              </a:rPr>
              <a:t>Implement transfer learning: head replacement, layer freezing, discriminative learning rates</a:t>
            </a:r>
            <a:endParaRPr b="0" i="0" sz="1250" u="none" cap="none" strike="noStrike">
              <a:solidFill>
                <a:schemeClr val="dk1"/>
              </a:solidFill>
              <a:latin typeface="Calibri"/>
              <a:ea typeface="Calibri"/>
              <a:cs typeface="Calibri"/>
              <a:sym typeface="Calibri"/>
            </a:endParaRPr>
          </a:p>
        </p:txBody>
      </p:sp>
      <p:sp>
        <p:nvSpPr>
          <p:cNvPr id="978" name="Google Shape;978;p33"/>
          <p:cNvSpPr/>
          <p:nvPr/>
        </p:nvSpPr>
        <p:spPr>
          <a:xfrm>
            <a:off x="9646920" y="3662172"/>
            <a:ext cx="658368" cy="310896"/>
          </a:xfrm>
          <a:prstGeom prst="roundRect">
            <a:avLst>
              <a:gd fmla="val 50000" name="adj"/>
            </a:avLst>
          </a:prstGeom>
          <a:solidFill>
            <a:srgbClr val="E9F6F5"/>
          </a:solidFill>
          <a:ln cap="flat" cmpd="sng" w="9525">
            <a:solidFill>
              <a:srgbClr val="00A79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9" name="Google Shape;979;p33"/>
          <p:cNvSpPr/>
          <p:nvPr/>
        </p:nvSpPr>
        <p:spPr>
          <a:xfrm>
            <a:off x="9646920" y="3662172"/>
            <a:ext cx="658368" cy="31089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56A63"/>
              </a:buClr>
              <a:buSzPts val="950"/>
              <a:buFont typeface="Calibri"/>
              <a:buNone/>
            </a:pPr>
            <a:r>
              <a:rPr b="1" i="0" lang="en-US" sz="950" u="none" cap="none" strike="noStrike">
                <a:solidFill>
                  <a:srgbClr val="056A63"/>
                </a:solidFill>
                <a:latin typeface="Calibri"/>
                <a:ea typeface="Calibri"/>
                <a:cs typeface="Calibri"/>
                <a:sym typeface="Calibri"/>
              </a:rPr>
              <a:t>LO4</a:t>
            </a:r>
            <a:endParaRPr b="0" i="0" sz="950" u="none" cap="none" strike="noStrike">
              <a:solidFill>
                <a:schemeClr val="dk1"/>
              </a:solidFill>
              <a:latin typeface="Calibri"/>
              <a:ea typeface="Calibri"/>
              <a:cs typeface="Calibri"/>
              <a:sym typeface="Calibri"/>
            </a:endParaRPr>
          </a:p>
        </p:txBody>
      </p:sp>
      <p:sp>
        <p:nvSpPr>
          <p:cNvPr id="980" name="Google Shape;980;p33"/>
          <p:cNvSpPr/>
          <p:nvPr/>
        </p:nvSpPr>
        <p:spPr>
          <a:xfrm>
            <a:off x="502920" y="4379976"/>
            <a:ext cx="11183112" cy="832104"/>
          </a:xfrm>
          <a:prstGeom prst="roundRect">
            <a:avLst>
              <a:gd fmla="val 7692" name="adj"/>
            </a:avLst>
          </a:prstGeom>
          <a:solidFill>
            <a:srgbClr val="F2F6F9"/>
          </a:solidFill>
          <a:ln cap="flat" cmpd="sng" w="9525">
            <a:solidFill>
              <a:srgbClr val="D9E2E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1" name="Google Shape;981;p33"/>
          <p:cNvSpPr/>
          <p:nvPr/>
        </p:nvSpPr>
        <p:spPr>
          <a:xfrm>
            <a:off x="649224" y="4631436"/>
            <a:ext cx="329184" cy="329184"/>
          </a:xfrm>
          <a:prstGeom prst="ellipse">
            <a:avLst/>
          </a:prstGeom>
          <a:solidFill>
            <a:srgbClr val="00A79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2" name="Google Shape;982;p33"/>
          <p:cNvSpPr/>
          <p:nvPr/>
        </p:nvSpPr>
        <p:spPr>
          <a:xfrm>
            <a:off x="649224" y="4631436"/>
            <a:ext cx="329184" cy="32918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150"/>
              <a:buFont typeface="Calibri"/>
              <a:buNone/>
            </a:pPr>
            <a:r>
              <a:rPr b="1" i="0" lang="en-US" sz="1150" u="none" cap="none" strike="noStrike">
                <a:solidFill>
                  <a:srgbClr val="FFFFFF"/>
                </a:solidFill>
                <a:latin typeface="Calibri"/>
                <a:ea typeface="Calibri"/>
                <a:cs typeface="Calibri"/>
                <a:sym typeface="Calibri"/>
              </a:rPr>
              <a:t>2.4</a:t>
            </a:r>
            <a:endParaRPr b="0" i="0" sz="1150" u="none" cap="none" strike="noStrike">
              <a:solidFill>
                <a:schemeClr val="dk1"/>
              </a:solidFill>
              <a:latin typeface="Calibri"/>
              <a:ea typeface="Calibri"/>
              <a:cs typeface="Calibri"/>
              <a:sym typeface="Calibri"/>
            </a:endParaRPr>
          </a:p>
        </p:txBody>
      </p:sp>
      <p:sp>
        <p:nvSpPr>
          <p:cNvPr id="983" name="Google Shape;983;p33"/>
          <p:cNvSpPr/>
          <p:nvPr/>
        </p:nvSpPr>
        <p:spPr>
          <a:xfrm>
            <a:off x="1143000" y="4379976"/>
            <a:ext cx="8321040" cy="83210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3293B"/>
              </a:buClr>
              <a:buSzPts val="1250"/>
              <a:buFont typeface="Calibri"/>
              <a:buNone/>
            </a:pPr>
            <a:r>
              <a:rPr b="0" i="0" lang="en-US" sz="1250" u="none" cap="none" strike="noStrike">
                <a:solidFill>
                  <a:srgbClr val="23293B"/>
                </a:solidFill>
                <a:latin typeface="Calibri"/>
                <a:ea typeface="Calibri"/>
                <a:cs typeface="Calibri"/>
                <a:sym typeface="Calibri"/>
              </a:rPr>
              <a:t>Run a reproducible training loop with checkpointing, early stopping, and metric logging</a:t>
            </a:r>
            <a:endParaRPr b="0" i="0" sz="1250" u="none" cap="none" strike="noStrike">
              <a:solidFill>
                <a:schemeClr val="dk1"/>
              </a:solidFill>
              <a:latin typeface="Calibri"/>
              <a:ea typeface="Calibri"/>
              <a:cs typeface="Calibri"/>
              <a:sym typeface="Calibri"/>
            </a:endParaRPr>
          </a:p>
        </p:txBody>
      </p:sp>
      <p:sp>
        <p:nvSpPr>
          <p:cNvPr id="984" name="Google Shape;984;p33"/>
          <p:cNvSpPr/>
          <p:nvPr/>
        </p:nvSpPr>
        <p:spPr>
          <a:xfrm>
            <a:off x="9646920" y="4622292"/>
            <a:ext cx="658368" cy="310896"/>
          </a:xfrm>
          <a:prstGeom prst="roundRect">
            <a:avLst>
              <a:gd fmla="val 50000" name="adj"/>
            </a:avLst>
          </a:prstGeom>
          <a:solidFill>
            <a:srgbClr val="E9F6F5"/>
          </a:solidFill>
          <a:ln cap="flat" cmpd="sng" w="9525">
            <a:solidFill>
              <a:srgbClr val="00A79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5" name="Google Shape;985;p33"/>
          <p:cNvSpPr/>
          <p:nvPr/>
        </p:nvSpPr>
        <p:spPr>
          <a:xfrm>
            <a:off x="9646920" y="4622292"/>
            <a:ext cx="658368" cy="31089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56A63"/>
              </a:buClr>
              <a:buSzPts val="950"/>
              <a:buFont typeface="Calibri"/>
              <a:buNone/>
            </a:pPr>
            <a:r>
              <a:rPr b="1" i="0" lang="en-US" sz="950" u="none" cap="none" strike="noStrike">
                <a:solidFill>
                  <a:srgbClr val="056A63"/>
                </a:solidFill>
                <a:latin typeface="Calibri"/>
                <a:ea typeface="Calibri"/>
                <a:cs typeface="Calibri"/>
                <a:sym typeface="Calibri"/>
              </a:rPr>
              <a:t>LO1</a:t>
            </a:r>
            <a:endParaRPr b="0" i="0" sz="950" u="none" cap="none" strike="noStrike">
              <a:solidFill>
                <a:schemeClr val="dk1"/>
              </a:solidFill>
              <a:latin typeface="Calibri"/>
              <a:ea typeface="Calibri"/>
              <a:cs typeface="Calibri"/>
              <a:sym typeface="Calibri"/>
            </a:endParaRPr>
          </a:p>
        </p:txBody>
      </p:sp>
      <p:sp>
        <p:nvSpPr>
          <p:cNvPr id="986" name="Google Shape;986;p33"/>
          <p:cNvSpPr/>
          <p:nvPr/>
        </p:nvSpPr>
        <p:spPr>
          <a:xfrm>
            <a:off x="10360152" y="4622292"/>
            <a:ext cx="658368" cy="310896"/>
          </a:xfrm>
          <a:prstGeom prst="roundRect">
            <a:avLst>
              <a:gd fmla="val 50000" name="adj"/>
            </a:avLst>
          </a:prstGeom>
          <a:solidFill>
            <a:srgbClr val="E9F6F5"/>
          </a:solidFill>
          <a:ln cap="flat" cmpd="sng" w="9525">
            <a:solidFill>
              <a:srgbClr val="00A79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7" name="Google Shape;987;p33"/>
          <p:cNvSpPr/>
          <p:nvPr/>
        </p:nvSpPr>
        <p:spPr>
          <a:xfrm>
            <a:off x="10360152" y="4622292"/>
            <a:ext cx="658368" cy="31089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56A63"/>
              </a:buClr>
              <a:buSzPts val="950"/>
              <a:buFont typeface="Calibri"/>
              <a:buNone/>
            </a:pPr>
            <a:r>
              <a:rPr b="1" i="0" lang="en-US" sz="950" u="none" cap="none" strike="noStrike">
                <a:solidFill>
                  <a:srgbClr val="056A63"/>
                </a:solidFill>
                <a:latin typeface="Calibri"/>
                <a:ea typeface="Calibri"/>
                <a:cs typeface="Calibri"/>
                <a:sym typeface="Calibri"/>
              </a:rPr>
              <a:t>LO4</a:t>
            </a:r>
            <a:endParaRPr b="0" i="0" sz="950" u="none" cap="none" strike="noStrike">
              <a:solidFill>
                <a:schemeClr val="dk1"/>
              </a:solidFill>
              <a:latin typeface="Calibri"/>
              <a:ea typeface="Calibri"/>
              <a:cs typeface="Calibri"/>
              <a:sym typeface="Calibri"/>
            </a:endParaRPr>
          </a:p>
        </p:txBody>
      </p:sp>
      <p:sp>
        <p:nvSpPr>
          <p:cNvPr id="988" name="Google Shape;988;p33"/>
          <p:cNvSpPr/>
          <p:nvPr/>
        </p:nvSpPr>
        <p:spPr>
          <a:xfrm>
            <a:off x="502920" y="5340096"/>
            <a:ext cx="11183112" cy="832104"/>
          </a:xfrm>
          <a:prstGeom prst="roundRect">
            <a:avLst>
              <a:gd fmla="val 7692" name="adj"/>
            </a:avLst>
          </a:prstGeom>
          <a:solidFill>
            <a:srgbClr val="FAFCFE"/>
          </a:solidFill>
          <a:ln cap="flat" cmpd="sng" w="9525">
            <a:solidFill>
              <a:srgbClr val="D9E2E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9" name="Google Shape;989;p33"/>
          <p:cNvSpPr/>
          <p:nvPr/>
        </p:nvSpPr>
        <p:spPr>
          <a:xfrm>
            <a:off x="649224" y="5591556"/>
            <a:ext cx="329184" cy="329184"/>
          </a:xfrm>
          <a:prstGeom prst="ellipse">
            <a:avLst/>
          </a:prstGeom>
          <a:solidFill>
            <a:srgbClr val="00A79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0" name="Google Shape;990;p33"/>
          <p:cNvSpPr/>
          <p:nvPr/>
        </p:nvSpPr>
        <p:spPr>
          <a:xfrm>
            <a:off x="649224" y="5591556"/>
            <a:ext cx="329184" cy="32918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150"/>
              <a:buFont typeface="Calibri"/>
              <a:buNone/>
            </a:pPr>
            <a:r>
              <a:rPr b="1" i="0" lang="en-US" sz="1150" u="none" cap="none" strike="noStrike">
                <a:solidFill>
                  <a:srgbClr val="FFFFFF"/>
                </a:solidFill>
                <a:latin typeface="Calibri"/>
                <a:ea typeface="Calibri"/>
                <a:cs typeface="Calibri"/>
                <a:sym typeface="Calibri"/>
              </a:rPr>
              <a:t>2.5</a:t>
            </a:r>
            <a:endParaRPr b="0" i="0" sz="1150" u="none" cap="none" strike="noStrike">
              <a:solidFill>
                <a:schemeClr val="dk1"/>
              </a:solidFill>
              <a:latin typeface="Calibri"/>
              <a:ea typeface="Calibri"/>
              <a:cs typeface="Calibri"/>
              <a:sym typeface="Calibri"/>
            </a:endParaRPr>
          </a:p>
        </p:txBody>
      </p:sp>
      <p:sp>
        <p:nvSpPr>
          <p:cNvPr id="991" name="Google Shape;991;p33"/>
          <p:cNvSpPr/>
          <p:nvPr/>
        </p:nvSpPr>
        <p:spPr>
          <a:xfrm>
            <a:off x="1143000" y="5340096"/>
            <a:ext cx="8321040" cy="83210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3293B"/>
              </a:buClr>
              <a:buSzPts val="1250"/>
              <a:buFont typeface="Calibri"/>
              <a:buNone/>
            </a:pPr>
            <a:r>
              <a:rPr b="0" i="0" lang="en-US" sz="1250" u="none" cap="none" strike="noStrike">
                <a:solidFill>
                  <a:srgbClr val="23293B"/>
                </a:solidFill>
                <a:latin typeface="Calibri"/>
                <a:ea typeface="Calibri"/>
                <a:cs typeface="Calibri"/>
                <a:sym typeface="Calibri"/>
              </a:rPr>
              <a:t>Diagnose training pathologies (overfitting, LR too high, frozen-too-much) from curves</a:t>
            </a:r>
            <a:endParaRPr b="0" i="0" sz="1250" u="none" cap="none" strike="noStrike">
              <a:solidFill>
                <a:schemeClr val="dk1"/>
              </a:solidFill>
              <a:latin typeface="Calibri"/>
              <a:ea typeface="Calibri"/>
              <a:cs typeface="Calibri"/>
              <a:sym typeface="Calibri"/>
            </a:endParaRPr>
          </a:p>
        </p:txBody>
      </p:sp>
      <p:sp>
        <p:nvSpPr>
          <p:cNvPr id="992" name="Google Shape;992;p33"/>
          <p:cNvSpPr/>
          <p:nvPr/>
        </p:nvSpPr>
        <p:spPr>
          <a:xfrm>
            <a:off x="9646920" y="5582412"/>
            <a:ext cx="658368" cy="310896"/>
          </a:xfrm>
          <a:prstGeom prst="roundRect">
            <a:avLst>
              <a:gd fmla="val 50000" name="adj"/>
            </a:avLst>
          </a:prstGeom>
          <a:solidFill>
            <a:srgbClr val="E9F6F5"/>
          </a:solidFill>
          <a:ln cap="flat" cmpd="sng" w="9525">
            <a:solidFill>
              <a:srgbClr val="00A79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3" name="Google Shape;993;p33"/>
          <p:cNvSpPr/>
          <p:nvPr/>
        </p:nvSpPr>
        <p:spPr>
          <a:xfrm>
            <a:off x="9646920" y="5582412"/>
            <a:ext cx="658368" cy="31089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56A63"/>
              </a:buClr>
              <a:buSzPts val="950"/>
              <a:buFont typeface="Calibri"/>
              <a:buNone/>
            </a:pPr>
            <a:r>
              <a:rPr b="1" i="0" lang="en-US" sz="950" u="none" cap="none" strike="noStrike">
                <a:solidFill>
                  <a:srgbClr val="056A63"/>
                </a:solidFill>
                <a:latin typeface="Calibri"/>
                <a:ea typeface="Calibri"/>
                <a:cs typeface="Calibri"/>
                <a:sym typeface="Calibri"/>
              </a:rPr>
              <a:t>LO1</a:t>
            </a:r>
            <a:endParaRPr b="0" i="0" sz="950" u="none" cap="none" strike="noStrike">
              <a:solidFill>
                <a:schemeClr val="dk1"/>
              </a:solidFill>
              <a:latin typeface="Calibri"/>
              <a:ea typeface="Calibri"/>
              <a:cs typeface="Calibri"/>
              <a:sym typeface="Calibri"/>
            </a:endParaRPr>
          </a:p>
        </p:txBody>
      </p:sp>
      <p:sp>
        <p:nvSpPr>
          <p:cNvPr id="994" name="Google Shape;994;p33"/>
          <p:cNvSpPr/>
          <p:nvPr/>
        </p:nvSpPr>
        <p:spPr>
          <a:xfrm>
            <a:off x="10360152" y="5582412"/>
            <a:ext cx="658368" cy="310896"/>
          </a:xfrm>
          <a:prstGeom prst="roundRect">
            <a:avLst>
              <a:gd fmla="val 50000" name="adj"/>
            </a:avLst>
          </a:prstGeom>
          <a:solidFill>
            <a:srgbClr val="E9F6F5"/>
          </a:solidFill>
          <a:ln cap="flat" cmpd="sng" w="9525">
            <a:solidFill>
              <a:srgbClr val="00A79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5" name="Google Shape;995;p33"/>
          <p:cNvSpPr/>
          <p:nvPr/>
        </p:nvSpPr>
        <p:spPr>
          <a:xfrm>
            <a:off x="10360152" y="5582412"/>
            <a:ext cx="658368" cy="31089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56A63"/>
              </a:buClr>
              <a:buSzPts val="950"/>
              <a:buFont typeface="Calibri"/>
              <a:buNone/>
            </a:pPr>
            <a:r>
              <a:rPr b="1" i="0" lang="en-US" sz="950" u="none" cap="none" strike="noStrike">
                <a:solidFill>
                  <a:srgbClr val="056A63"/>
                </a:solidFill>
                <a:latin typeface="Calibri"/>
                <a:ea typeface="Calibri"/>
                <a:cs typeface="Calibri"/>
                <a:sym typeface="Calibri"/>
              </a:rPr>
              <a:t>LO5</a:t>
            </a:r>
            <a:endParaRPr b="0" i="0" sz="950" u="none" cap="none" strike="noStrike">
              <a:solidFill>
                <a:schemeClr val="dk1"/>
              </a:solidFill>
              <a:latin typeface="Calibri"/>
              <a:ea typeface="Calibri"/>
              <a:cs typeface="Calibri"/>
              <a:sym typeface="Calibri"/>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000" name="Shape 1000"/>
        <p:cNvGrpSpPr/>
        <p:nvPr/>
      </p:nvGrpSpPr>
      <p:grpSpPr>
        <a:xfrm>
          <a:off x="0" y="0"/>
          <a:ext cx="0" cy="0"/>
          <a:chOff x="0" y="0"/>
          <a:chExt cx="0" cy="0"/>
        </a:xfrm>
      </p:grpSpPr>
      <p:sp>
        <p:nvSpPr>
          <p:cNvPr id="1001" name="Google Shape;1001;p34"/>
          <p:cNvSpPr/>
          <p:nvPr/>
        </p:nvSpPr>
        <p:spPr>
          <a:xfrm>
            <a:off x="502920" y="274320"/>
            <a:ext cx="9646920" cy="56692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D2A5C"/>
              </a:buClr>
              <a:buSzPts val="2700"/>
              <a:buFont typeface="Calibri"/>
              <a:buNone/>
            </a:pPr>
            <a:r>
              <a:rPr b="1" i="0" lang="en-US" sz="2700" u="none" cap="none" strike="noStrike">
                <a:solidFill>
                  <a:srgbClr val="1D2A5C"/>
                </a:solidFill>
                <a:latin typeface="Calibri"/>
                <a:ea typeface="Calibri"/>
                <a:cs typeface="Calibri"/>
                <a:sym typeface="Calibri"/>
              </a:rPr>
              <a:t>Convolutional inductive bias</a:t>
            </a:r>
            <a:endParaRPr b="0" i="0" sz="2700" u="none" cap="none" strike="noStrike">
              <a:solidFill>
                <a:schemeClr val="dk1"/>
              </a:solidFill>
              <a:latin typeface="Calibri"/>
              <a:ea typeface="Calibri"/>
              <a:cs typeface="Calibri"/>
              <a:sym typeface="Calibri"/>
            </a:endParaRPr>
          </a:p>
        </p:txBody>
      </p:sp>
      <p:sp>
        <p:nvSpPr>
          <p:cNvPr id="1002" name="Google Shape;1002;p34"/>
          <p:cNvSpPr/>
          <p:nvPr/>
        </p:nvSpPr>
        <p:spPr>
          <a:xfrm>
            <a:off x="502920" y="859536"/>
            <a:ext cx="9646920" cy="31089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F6B7A"/>
              </a:buClr>
              <a:buSzPts val="1250"/>
              <a:buFont typeface="Arial"/>
              <a:buNone/>
            </a:pPr>
            <a:r>
              <a:rPr b="0" i="0" lang="en-US" sz="1250" u="none" cap="none" strike="noStrike">
                <a:solidFill>
                  <a:srgbClr val="5F6B7A"/>
                </a:solidFill>
                <a:latin typeface="Arial"/>
                <a:ea typeface="Arial"/>
                <a:cs typeface="Arial"/>
                <a:sym typeface="Arial"/>
              </a:rPr>
              <a:t>الانحياز الاستقرائي الالتفافي</a:t>
            </a:r>
            <a:endParaRPr b="0" i="0" sz="1250" u="none" cap="none" strike="noStrike">
              <a:solidFill>
                <a:schemeClr val="dk1"/>
              </a:solidFill>
              <a:latin typeface="Calibri"/>
              <a:ea typeface="Calibri"/>
              <a:cs typeface="Calibri"/>
              <a:sym typeface="Calibri"/>
            </a:endParaRPr>
          </a:p>
        </p:txBody>
      </p:sp>
      <p:pic>
        <p:nvPicPr>
          <p:cNvPr descr="/sessions/blissful-determined-ritchie/build/assets/sdaia_logo.png" id="1003" name="Google Shape;1003;p34"/>
          <p:cNvPicPr preferRelativeResize="0"/>
          <p:nvPr/>
        </p:nvPicPr>
        <p:blipFill rotWithShape="1">
          <a:blip r:embed="rId3">
            <a:alphaModFix/>
          </a:blip>
          <a:srcRect b="0" l="0" r="0" t="0"/>
          <a:stretch/>
        </p:blipFill>
        <p:spPr>
          <a:xfrm>
            <a:off x="10625328" y="310896"/>
            <a:ext cx="1078992" cy="264111"/>
          </a:xfrm>
          <a:prstGeom prst="rect">
            <a:avLst/>
          </a:prstGeom>
          <a:noFill/>
          <a:ln>
            <a:noFill/>
          </a:ln>
        </p:spPr>
      </p:pic>
      <p:sp>
        <p:nvSpPr>
          <p:cNvPr id="1004" name="Google Shape;1004;p34"/>
          <p:cNvSpPr/>
          <p:nvPr/>
        </p:nvSpPr>
        <p:spPr>
          <a:xfrm>
            <a:off x="502920" y="6528816"/>
            <a:ext cx="8686800"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A79D"/>
              </a:buClr>
              <a:buSzPts val="800"/>
              <a:buFont typeface="Calibri"/>
              <a:buNone/>
            </a:pPr>
            <a:r>
              <a:rPr b="1" i="0" lang="en-US" sz="800" u="none" cap="none" strike="noStrike">
                <a:solidFill>
                  <a:srgbClr val="00A79D"/>
                </a:solidFill>
                <a:latin typeface="Calibri"/>
                <a:ea typeface="Calibri"/>
                <a:cs typeface="Calibri"/>
                <a:sym typeface="Calibri"/>
              </a:rPr>
              <a:t>MODULE 2   </a:t>
            </a:r>
            <a:r>
              <a:rPr b="0" i="0" lang="en-US" sz="800" u="none" cap="none" strike="noStrike">
                <a:solidFill>
                  <a:srgbClr val="8A96A6"/>
                </a:solidFill>
                <a:latin typeface="Calibri"/>
                <a:ea typeface="Calibri"/>
                <a:cs typeface="Calibri"/>
                <a:sym typeface="Calibri"/>
              </a:rPr>
              <a:t>SDA-AIE-212 · Computer Vision Systems Development</a:t>
            </a:r>
            <a:endParaRPr b="0" i="0" sz="800" u="none" cap="none" strike="noStrike">
              <a:solidFill>
                <a:schemeClr val="dk1"/>
              </a:solidFill>
              <a:latin typeface="Calibri"/>
              <a:ea typeface="Calibri"/>
              <a:cs typeface="Calibri"/>
              <a:sym typeface="Calibri"/>
            </a:endParaRPr>
          </a:p>
        </p:txBody>
      </p:sp>
      <p:sp>
        <p:nvSpPr>
          <p:cNvPr id="1005" name="Google Shape;1005;p34"/>
          <p:cNvSpPr/>
          <p:nvPr/>
        </p:nvSpPr>
        <p:spPr>
          <a:xfrm>
            <a:off x="11292840" y="6528816"/>
            <a:ext cx="411480" cy="219456"/>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8A96A6"/>
              </a:buClr>
              <a:buSzPts val="900"/>
              <a:buFont typeface="Calibri"/>
              <a:buNone/>
            </a:pPr>
            <a:r>
              <a:rPr b="0" i="0" lang="en-US" sz="900" u="none" cap="none" strike="noStrike">
                <a:solidFill>
                  <a:srgbClr val="8A96A6"/>
                </a:solidFill>
                <a:latin typeface="Calibri"/>
                <a:ea typeface="Calibri"/>
                <a:cs typeface="Calibri"/>
                <a:sym typeface="Calibri"/>
              </a:rPr>
              <a:t>34</a:t>
            </a:r>
            <a:endParaRPr b="0" i="0" sz="900" u="none" cap="none" strike="noStrike">
              <a:solidFill>
                <a:schemeClr val="dk1"/>
              </a:solidFill>
              <a:latin typeface="Calibri"/>
              <a:ea typeface="Calibri"/>
              <a:cs typeface="Calibri"/>
              <a:sym typeface="Calibri"/>
            </a:endParaRPr>
          </a:p>
        </p:txBody>
      </p:sp>
      <p:sp>
        <p:nvSpPr>
          <p:cNvPr id="1006" name="Google Shape;1006;p34"/>
          <p:cNvSpPr/>
          <p:nvPr/>
        </p:nvSpPr>
        <p:spPr>
          <a:xfrm>
            <a:off x="502920" y="1559052"/>
            <a:ext cx="329184" cy="329184"/>
          </a:xfrm>
          <a:prstGeom prst="ellipse">
            <a:avLst/>
          </a:prstGeom>
          <a:solidFill>
            <a:srgbClr val="00A79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7" name="Google Shape;1007;p34"/>
          <p:cNvSpPr/>
          <p:nvPr/>
        </p:nvSpPr>
        <p:spPr>
          <a:xfrm>
            <a:off x="502920" y="1559052"/>
            <a:ext cx="329184" cy="32918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300"/>
              <a:buFont typeface="Calibri"/>
              <a:buNone/>
            </a:pPr>
            <a:r>
              <a:rPr b="1" i="0" lang="en-US" sz="1300" u="none" cap="none" strike="noStrike">
                <a:solidFill>
                  <a:srgbClr val="FFFFFF"/>
                </a:solidFill>
                <a:latin typeface="Calibri"/>
                <a:ea typeface="Calibri"/>
                <a:cs typeface="Calibri"/>
                <a:sym typeface="Calibri"/>
              </a:rPr>
              <a:t>1</a:t>
            </a:r>
            <a:endParaRPr b="0" i="0" sz="1300" u="none" cap="none" strike="noStrike">
              <a:solidFill>
                <a:schemeClr val="dk1"/>
              </a:solidFill>
              <a:latin typeface="Calibri"/>
              <a:ea typeface="Calibri"/>
              <a:cs typeface="Calibri"/>
              <a:sym typeface="Calibri"/>
            </a:endParaRPr>
          </a:p>
        </p:txBody>
      </p:sp>
      <p:sp>
        <p:nvSpPr>
          <p:cNvPr id="1008" name="Google Shape;1008;p34"/>
          <p:cNvSpPr/>
          <p:nvPr/>
        </p:nvSpPr>
        <p:spPr>
          <a:xfrm>
            <a:off x="1005840" y="1495044"/>
            <a:ext cx="493776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D2A5C"/>
              </a:buClr>
              <a:buSzPts val="1400"/>
              <a:buFont typeface="Calibri"/>
              <a:buNone/>
            </a:pPr>
            <a:r>
              <a:rPr b="1" i="0" lang="en-US" sz="1400" u="none" cap="none" strike="noStrike">
                <a:solidFill>
                  <a:srgbClr val="1D2A5C"/>
                </a:solidFill>
                <a:latin typeface="Calibri"/>
                <a:ea typeface="Calibri"/>
                <a:cs typeface="Calibri"/>
                <a:sym typeface="Calibri"/>
              </a:rPr>
              <a:t>Locality</a:t>
            </a:r>
            <a:endParaRPr b="0" i="0" sz="1400" u="none" cap="none" strike="noStrike">
              <a:solidFill>
                <a:schemeClr val="dk1"/>
              </a:solidFill>
              <a:latin typeface="Calibri"/>
              <a:ea typeface="Calibri"/>
              <a:cs typeface="Calibri"/>
              <a:sym typeface="Calibri"/>
            </a:endParaRPr>
          </a:p>
        </p:txBody>
      </p:sp>
      <p:sp>
        <p:nvSpPr>
          <p:cNvPr id="1009" name="Google Shape;1009;p34"/>
          <p:cNvSpPr/>
          <p:nvPr/>
        </p:nvSpPr>
        <p:spPr>
          <a:xfrm>
            <a:off x="1005840" y="1796796"/>
            <a:ext cx="4937760" cy="841248"/>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5F6B7A"/>
              </a:buClr>
              <a:buSzPts val="1150"/>
              <a:buFont typeface="Calibri"/>
              <a:buNone/>
            </a:pPr>
            <a:r>
              <a:rPr b="0" i="0" lang="en-US" sz="1150" u="none" cap="none" strike="noStrike">
                <a:solidFill>
                  <a:srgbClr val="5F6B7A"/>
                </a:solidFill>
                <a:latin typeface="Calibri"/>
                <a:ea typeface="Calibri"/>
                <a:cs typeface="Calibri"/>
                <a:sym typeface="Calibri"/>
              </a:rPr>
              <a:t>Nearby pixels relate; a small kernel slides across the image reusing its weights everywhere.</a:t>
            </a:r>
            <a:endParaRPr b="0" i="0" sz="1150" u="none" cap="none" strike="noStrike">
              <a:solidFill>
                <a:schemeClr val="dk1"/>
              </a:solidFill>
              <a:latin typeface="Calibri"/>
              <a:ea typeface="Calibri"/>
              <a:cs typeface="Calibri"/>
              <a:sym typeface="Calibri"/>
            </a:endParaRPr>
          </a:p>
        </p:txBody>
      </p:sp>
      <p:sp>
        <p:nvSpPr>
          <p:cNvPr id="1010" name="Google Shape;1010;p34"/>
          <p:cNvSpPr/>
          <p:nvPr/>
        </p:nvSpPr>
        <p:spPr>
          <a:xfrm>
            <a:off x="502920" y="2747772"/>
            <a:ext cx="329184" cy="329184"/>
          </a:xfrm>
          <a:prstGeom prst="ellipse">
            <a:avLst/>
          </a:prstGeom>
          <a:solidFill>
            <a:srgbClr val="29ABE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1" name="Google Shape;1011;p34"/>
          <p:cNvSpPr/>
          <p:nvPr/>
        </p:nvSpPr>
        <p:spPr>
          <a:xfrm>
            <a:off x="502920" y="2747772"/>
            <a:ext cx="329184" cy="32918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300"/>
              <a:buFont typeface="Calibri"/>
              <a:buNone/>
            </a:pPr>
            <a:r>
              <a:rPr b="1" i="0" lang="en-US" sz="1300" u="none" cap="none" strike="noStrike">
                <a:solidFill>
                  <a:srgbClr val="FFFFFF"/>
                </a:solidFill>
                <a:latin typeface="Calibri"/>
                <a:ea typeface="Calibri"/>
                <a:cs typeface="Calibri"/>
                <a:sym typeface="Calibri"/>
              </a:rPr>
              <a:t>2</a:t>
            </a:r>
            <a:endParaRPr b="0" i="0" sz="1300" u="none" cap="none" strike="noStrike">
              <a:solidFill>
                <a:schemeClr val="dk1"/>
              </a:solidFill>
              <a:latin typeface="Calibri"/>
              <a:ea typeface="Calibri"/>
              <a:cs typeface="Calibri"/>
              <a:sym typeface="Calibri"/>
            </a:endParaRPr>
          </a:p>
        </p:txBody>
      </p:sp>
      <p:sp>
        <p:nvSpPr>
          <p:cNvPr id="1012" name="Google Shape;1012;p34"/>
          <p:cNvSpPr/>
          <p:nvPr/>
        </p:nvSpPr>
        <p:spPr>
          <a:xfrm>
            <a:off x="1005840" y="2683764"/>
            <a:ext cx="493776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D2A5C"/>
              </a:buClr>
              <a:buSzPts val="1400"/>
              <a:buFont typeface="Calibri"/>
              <a:buNone/>
            </a:pPr>
            <a:r>
              <a:rPr b="1" i="0" lang="en-US" sz="1400" u="none" cap="none" strike="noStrike">
                <a:solidFill>
                  <a:srgbClr val="1D2A5C"/>
                </a:solidFill>
                <a:latin typeface="Calibri"/>
                <a:ea typeface="Calibri"/>
                <a:cs typeface="Calibri"/>
                <a:sym typeface="Calibri"/>
              </a:rPr>
              <a:t>Translation equivariance</a:t>
            </a:r>
            <a:endParaRPr b="0" i="0" sz="1400" u="none" cap="none" strike="noStrike">
              <a:solidFill>
                <a:schemeClr val="dk1"/>
              </a:solidFill>
              <a:latin typeface="Calibri"/>
              <a:ea typeface="Calibri"/>
              <a:cs typeface="Calibri"/>
              <a:sym typeface="Calibri"/>
            </a:endParaRPr>
          </a:p>
        </p:txBody>
      </p:sp>
      <p:sp>
        <p:nvSpPr>
          <p:cNvPr id="1013" name="Google Shape;1013;p34"/>
          <p:cNvSpPr/>
          <p:nvPr/>
        </p:nvSpPr>
        <p:spPr>
          <a:xfrm>
            <a:off x="1005840" y="2985516"/>
            <a:ext cx="4937760" cy="841248"/>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5F6B7A"/>
              </a:buClr>
              <a:buSzPts val="1150"/>
              <a:buFont typeface="Calibri"/>
              <a:buNone/>
            </a:pPr>
            <a:r>
              <a:rPr b="0" i="0" lang="en-US" sz="1150" u="none" cap="none" strike="noStrike">
                <a:solidFill>
                  <a:srgbClr val="5F6B7A"/>
                </a:solidFill>
                <a:latin typeface="Calibri"/>
                <a:ea typeface="Calibri"/>
                <a:cs typeface="Calibri"/>
                <a:sym typeface="Calibri"/>
              </a:rPr>
              <a:t>A defect is a defect anywhere in the frame - weight sharing encodes this for free.</a:t>
            </a:r>
            <a:endParaRPr b="0" i="0" sz="1150" u="none" cap="none" strike="noStrike">
              <a:solidFill>
                <a:schemeClr val="dk1"/>
              </a:solidFill>
              <a:latin typeface="Calibri"/>
              <a:ea typeface="Calibri"/>
              <a:cs typeface="Calibri"/>
              <a:sym typeface="Calibri"/>
            </a:endParaRPr>
          </a:p>
        </p:txBody>
      </p:sp>
      <p:sp>
        <p:nvSpPr>
          <p:cNvPr id="1014" name="Google Shape;1014;p34"/>
          <p:cNvSpPr/>
          <p:nvPr/>
        </p:nvSpPr>
        <p:spPr>
          <a:xfrm>
            <a:off x="502920" y="3936492"/>
            <a:ext cx="329184" cy="329184"/>
          </a:xfrm>
          <a:prstGeom prst="ellipse">
            <a:avLst/>
          </a:prstGeom>
          <a:solidFill>
            <a:srgbClr val="F5822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5" name="Google Shape;1015;p34"/>
          <p:cNvSpPr/>
          <p:nvPr/>
        </p:nvSpPr>
        <p:spPr>
          <a:xfrm>
            <a:off x="502920" y="3936492"/>
            <a:ext cx="329184" cy="32918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300"/>
              <a:buFont typeface="Calibri"/>
              <a:buNone/>
            </a:pPr>
            <a:r>
              <a:rPr b="1" i="0" lang="en-US" sz="1300" u="none" cap="none" strike="noStrike">
                <a:solidFill>
                  <a:srgbClr val="FFFFFF"/>
                </a:solidFill>
                <a:latin typeface="Calibri"/>
                <a:ea typeface="Calibri"/>
                <a:cs typeface="Calibri"/>
                <a:sym typeface="Calibri"/>
              </a:rPr>
              <a:t>3</a:t>
            </a:r>
            <a:endParaRPr b="0" i="0" sz="1300" u="none" cap="none" strike="noStrike">
              <a:solidFill>
                <a:schemeClr val="dk1"/>
              </a:solidFill>
              <a:latin typeface="Calibri"/>
              <a:ea typeface="Calibri"/>
              <a:cs typeface="Calibri"/>
              <a:sym typeface="Calibri"/>
            </a:endParaRPr>
          </a:p>
        </p:txBody>
      </p:sp>
      <p:sp>
        <p:nvSpPr>
          <p:cNvPr id="1016" name="Google Shape;1016;p34"/>
          <p:cNvSpPr/>
          <p:nvPr/>
        </p:nvSpPr>
        <p:spPr>
          <a:xfrm>
            <a:off x="1005840" y="3872484"/>
            <a:ext cx="493776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D2A5C"/>
              </a:buClr>
              <a:buSzPts val="1400"/>
              <a:buFont typeface="Calibri"/>
              <a:buNone/>
            </a:pPr>
            <a:r>
              <a:rPr b="1" i="0" lang="en-US" sz="1400" u="none" cap="none" strike="noStrike">
                <a:solidFill>
                  <a:srgbClr val="1D2A5C"/>
                </a:solidFill>
                <a:latin typeface="Calibri"/>
                <a:ea typeface="Calibri"/>
                <a:cs typeface="Calibri"/>
                <a:sym typeface="Calibri"/>
              </a:rPr>
              <a:t>Hierarchy</a:t>
            </a:r>
            <a:endParaRPr b="0" i="0" sz="1400" u="none" cap="none" strike="noStrike">
              <a:solidFill>
                <a:schemeClr val="dk1"/>
              </a:solidFill>
              <a:latin typeface="Calibri"/>
              <a:ea typeface="Calibri"/>
              <a:cs typeface="Calibri"/>
              <a:sym typeface="Calibri"/>
            </a:endParaRPr>
          </a:p>
        </p:txBody>
      </p:sp>
      <p:sp>
        <p:nvSpPr>
          <p:cNvPr id="1017" name="Google Shape;1017;p34"/>
          <p:cNvSpPr/>
          <p:nvPr/>
        </p:nvSpPr>
        <p:spPr>
          <a:xfrm>
            <a:off x="1005840" y="4174236"/>
            <a:ext cx="4937760" cy="841248"/>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5F6B7A"/>
              </a:buClr>
              <a:buSzPts val="1150"/>
              <a:buFont typeface="Calibri"/>
              <a:buNone/>
            </a:pPr>
            <a:r>
              <a:rPr b="0" i="0" lang="en-US" sz="1150" u="none" cap="none" strike="noStrike">
                <a:solidFill>
                  <a:srgbClr val="5F6B7A"/>
                </a:solidFill>
                <a:latin typeface="Calibri"/>
                <a:ea typeface="Calibri"/>
                <a:cs typeface="Calibri"/>
                <a:sym typeface="Calibri"/>
              </a:rPr>
              <a:t>Edges to textures to parts to objects as depth grows; structure is built into the architecture.</a:t>
            </a:r>
            <a:endParaRPr b="0" i="0" sz="1150" u="none" cap="none" strike="noStrike">
              <a:solidFill>
                <a:schemeClr val="dk1"/>
              </a:solidFill>
              <a:latin typeface="Calibri"/>
              <a:ea typeface="Calibri"/>
              <a:cs typeface="Calibri"/>
              <a:sym typeface="Calibri"/>
            </a:endParaRPr>
          </a:p>
        </p:txBody>
      </p:sp>
      <p:sp>
        <p:nvSpPr>
          <p:cNvPr id="1018" name="Google Shape;1018;p34"/>
          <p:cNvSpPr/>
          <p:nvPr/>
        </p:nvSpPr>
        <p:spPr>
          <a:xfrm>
            <a:off x="502920" y="5125212"/>
            <a:ext cx="329184" cy="329184"/>
          </a:xfrm>
          <a:prstGeom prst="ellipse">
            <a:avLst/>
          </a:prstGeom>
          <a:solidFill>
            <a:srgbClr val="8DC63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9" name="Google Shape;1019;p34"/>
          <p:cNvSpPr/>
          <p:nvPr/>
        </p:nvSpPr>
        <p:spPr>
          <a:xfrm>
            <a:off x="502920" y="5125212"/>
            <a:ext cx="329184" cy="32918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300"/>
              <a:buFont typeface="Calibri"/>
              <a:buNone/>
            </a:pPr>
            <a:r>
              <a:rPr b="1" i="0" lang="en-US" sz="1300" u="none" cap="none" strike="noStrike">
                <a:solidFill>
                  <a:srgbClr val="FFFFFF"/>
                </a:solidFill>
                <a:latin typeface="Calibri"/>
                <a:ea typeface="Calibri"/>
                <a:cs typeface="Calibri"/>
                <a:sym typeface="Calibri"/>
              </a:rPr>
              <a:t>4</a:t>
            </a:r>
            <a:endParaRPr b="0" i="0" sz="1300" u="none" cap="none" strike="noStrike">
              <a:solidFill>
                <a:schemeClr val="dk1"/>
              </a:solidFill>
              <a:latin typeface="Calibri"/>
              <a:ea typeface="Calibri"/>
              <a:cs typeface="Calibri"/>
              <a:sym typeface="Calibri"/>
            </a:endParaRPr>
          </a:p>
        </p:txBody>
      </p:sp>
      <p:sp>
        <p:nvSpPr>
          <p:cNvPr id="1020" name="Google Shape;1020;p34"/>
          <p:cNvSpPr/>
          <p:nvPr/>
        </p:nvSpPr>
        <p:spPr>
          <a:xfrm>
            <a:off x="1005840" y="5061204"/>
            <a:ext cx="493776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D2A5C"/>
              </a:buClr>
              <a:buSzPts val="1400"/>
              <a:buFont typeface="Calibri"/>
              <a:buNone/>
            </a:pPr>
            <a:r>
              <a:rPr b="1" i="0" lang="en-US" sz="1400" u="none" cap="none" strike="noStrike">
                <a:solidFill>
                  <a:srgbClr val="1D2A5C"/>
                </a:solidFill>
                <a:latin typeface="Calibri"/>
                <a:ea typeface="Calibri"/>
                <a:cs typeface="Calibri"/>
                <a:sym typeface="Calibri"/>
              </a:rPr>
              <a:t>Why small datasets work</a:t>
            </a:r>
            <a:endParaRPr b="0" i="0" sz="1400" u="none" cap="none" strike="noStrike">
              <a:solidFill>
                <a:schemeClr val="dk1"/>
              </a:solidFill>
              <a:latin typeface="Calibri"/>
              <a:ea typeface="Calibri"/>
              <a:cs typeface="Calibri"/>
              <a:sym typeface="Calibri"/>
            </a:endParaRPr>
          </a:p>
        </p:txBody>
      </p:sp>
      <p:sp>
        <p:nvSpPr>
          <p:cNvPr id="1021" name="Google Shape;1021;p34"/>
          <p:cNvSpPr/>
          <p:nvPr/>
        </p:nvSpPr>
        <p:spPr>
          <a:xfrm>
            <a:off x="1005840" y="5362956"/>
            <a:ext cx="4937760" cy="841248"/>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5F6B7A"/>
              </a:buClr>
              <a:buSzPts val="1150"/>
              <a:buFont typeface="Calibri"/>
              <a:buNone/>
            </a:pPr>
            <a:r>
              <a:rPr b="0" i="0" lang="en-US" sz="1150" u="none" cap="none" strike="noStrike">
                <a:solidFill>
                  <a:srgbClr val="5F6B7A"/>
                </a:solidFill>
                <a:latin typeface="Calibri"/>
                <a:ea typeface="Calibri"/>
                <a:cs typeface="Calibri"/>
                <a:sym typeface="Calibri"/>
              </a:rPr>
              <a:t>The CNN already knows image structure the way a transformer must learn it from data.</a:t>
            </a:r>
            <a:endParaRPr b="0" i="0" sz="1150" u="none" cap="none" strike="noStrike">
              <a:solidFill>
                <a:schemeClr val="dk1"/>
              </a:solidFill>
              <a:latin typeface="Calibri"/>
              <a:ea typeface="Calibri"/>
              <a:cs typeface="Calibri"/>
              <a:sym typeface="Calibri"/>
            </a:endParaRPr>
          </a:p>
        </p:txBody>
      </p:sp>
      <p:sp>
        <p:nvSpPr>
          <p:cNvPr id="1022" name="Google Shape;1022;p34"/>
          <p:cNvSpPr/>
          <p:nvPr/>
        </p:nvSpPr>
        <p:spPr>
          <a:xfrm>
            <a:off x="6355080" y="2441448"/>
            <a:ext cx="5330952" cy="868680"/>
          </a:xfrm>
          <a:prstGeom prst="roundRect">
            <a:avLst>
              <a:gd fmla="val 6316" name="adj"/>
            </a:avLst>
          </a:prstGeom>
          <a:solidFill>
            <a:srgbClr val="1D2A5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3" name="Google Shape;1023;p34"/>
          <p:cNvSpPr/>
          <p:nvPr/>
        </p:nvSpPr>
        <p:spPr>
          <a:xfrm>
            <a:off x="6537960" y="2441448"/>
            <a:ext cx="2239000" cy="8686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300"/>
              <a:buFont typeface="Calibri"/>
              <a:buNone/>
            </a:pPr>
            <a:r>
              <a:rPr b="1" i="0" lang="en-US" sz="1300" u="none" cap="none" strike="noStrike">
                <a:solidFill>
                  <a:srgbClr val="FFFFFF"/>
                </a:solidFill>
                <a:latin typeface="Calibri"/>
                <a:ea typeface="Calibri"/>
                <a:cs typeface="Calibri"/>
                <a:sym typeface="Calibri"/>
              </a:rPr>
              <a:t>ConvNeXt (2022)</a:t>
            </a:r>
            <a:endParaRPr b="0" i="0" sz="1300" u="none" cap="none" strike="noStrike">
              <a:solidFill>
                <a:schemeClr val="dk1"/>
              </a:solidFill>
              <a:latin typeface="Calibri"/>
              <a:ea typeface="Calibri"/>
              <a:cs typeface="Calibri"/>
              <a:sym typeface="Calibri"/>
            </a:endParaRPr>
          </a:p>
        </p:txBody>
      </p:sp>
      <p:sp>
        <p:nvSpPr>
          <p:cNvPr id="1024" name="Google Shape;1024;p34"/>
          <p:cNvSpPr/>
          <p:nvPr/>
        </p:nvSpPr>
        <p:spPr>
          <a:xfrm>
            <a:off x="8700699" y="2441448"/>
            <a:ext cx="2825405" cy="8686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D9E4F5"/>
              </a:buClr>
              <a:buSzPts val="1050"/>
              <a:buFont typeface="Calibri"/>
              <a:buNone/>
            </a:pPr>
            <a:r>
              <a:rPr b="0" i="0" lang="en-US" sz="1050" u="none" cap="none" strike="noStrike">
                <a:solidFill>
                  <a:srgbClr val="D9E4F5"/>
                </a:solidFill>
                <a:latin typeface="Calibri"/>
                <a:ea typeface="Calibri"/>
                <a:cs typeface="Calibri"/>
                <a:sym typeface="Calibri"/>
              </a:rPr>
              <a:t>CNN + transformer-era recipes</a:t>
            </a:r>
            <a:endParaRPr b="0" i="0" sz="1050" u="none" cap="none" strike="noStrike">
              <a:solidFill>
                <a:schemeClr val="dk1"/>
              </a:solidFill>
              <a:latin typeface="Calibri"/>
              <a:ea typeface="Calibri"/>
              <a:cs typeface="Calibri"/>
              <a:sym typeface="Calibri"/>
            </a:endParaRPr>
          </a:p>
        </p:txBody>
      </p:sp>
      <p:sp>
        <p:nvSpPr>
          <p:cNvPr id="1025" name="Google Shape;1025;p34"/>
          <p:cNvSpPr/>
          <p:nvPr/>
        </p:nvSpPr>
        <p:spPr>
          <a:xfrm>
            <a:off x="6611112" y="3438144"/>
            <a:ext cx="4818888" cy="868680"/>
          </a:xfrm>
          <a:prstGeom prst="roundRect">
            <a:avLst>
              <a:gd fmla="val 6316" name="adj"/>
            </a:avLst>
          </a:prstGeom>
          <a:solidFill>
            <a:srgbClr val="24437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6" name="Google Shape;1026;p34"/>
          <p:cNvSpPr/>
          <p:nvPr/>
        </p:nvSpPr>
        <p:spPr>
          <a:xfrm>
            <a:off x="6793992" y="3438144"/>
            <a:ext cx="2023933" cy="8686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300"/>
              <a:buFont typeface="Calibri"/>
              <a:buNone/>
            </a:pPr>
            <a:r>
              <a:rPr b="1" i="0" lang="en-US" sz="1300" u="none" cap="none" strike="noStrike">
                <a:solidFill>
                  <a:srgbClr val="FFFFFF"/>
                </a:solidFill>
                <a:latin typeface="Calibri"/>
                <a:ea typeface="Calibri"/>
                <a:cs typeface="Calibri"/>
                <a:sym typeface="Calibri"/>
              </a:rPr>
              <a:t>EfficientNet (2019)</a:t>
            </a:r>
            <a:endParaRPr b="0" i="0" sz="1300" u="none" cap="none" strike="noStrike">
              <a:solidFill>
                <a:schemeClr val="dk1"/>
              </a:solidFill>
              <a:latin typeface="Calibri"/>
              <a:ea typeface="Calibri"/>
              <a:cs typeface="Calibri"/>
              <a:sym typeface="Calibri"/>
            </a:endParaRPr>
          </a:p>
        </p:txBody>
      </p:sp>
      <p:sp>
        <p:nvSpPr>
          <p:cNvPr id="1027" name="Google Shape;1027;p34"/>
          <p:cNvSpPr/>
          <p:nvPr/>
        </p:nvSpPr>
        <p:spPr>
          <a:xfrm>
            <a:off x="8731423" y="3438144"/>
            <a:ext cx="2554011" cy="8686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D9E4F5"/>
              </a:buClr>
              <a:buSzPts val="1050"/>
              <a:buFont typeface="Calibri"/>
              <a:buNone/>
            </a:pPr>
            <a:r>
              <a:rPr b="0" i="0" lang="en-US" sz="1050" u="none" cap="none" strike="noStrike">
                <a:solidFill>
                  <a:srgbClr val="D9E4F5"/>
                </a:solidFill>
                <a:latin typeface="Calibri"/>
                <a:ea typeface="Calibri"/>
                <a:cs typeface="Calibri"/>
                <a:sym typeface="Calibri"/>
              </a:rPr>
              <a:t>compound scaling, B0-B7</a:t>
            </a:r>
            <a:endParaRPr b="0" i="0" sz="1050" u="none" cap="none" strike="noStrike">
              <a:solidFill>
                <a:schemeClr val="dk1"/>
              </a:solidFill>
              <a:latin typeface="Calibri"/>
              <a:ea typeface="Calibri"/>
              <a:cs typeface="Calibri"/>
              <a:sym typeface="Calibri"/>
            </a:endParaRPr>
          </a:p>
        </p:txBody>
      </p:sp>
      <p:sp>
        <p:nvSpPr>
          <p:cNvPr id="1028" name="Google Shape;1028;p34"/>
          <p:cNvSpPr/>
          <p:nvPr/>
        </p:nvSpPr>
        <p:spPr>
          <a:xfrm>
            <a:off x="6867144" y="4434840"/>
            <a:ext cx="4306824" cy="868680"/>
          </a:xfrm>
          <a:prstGeom prst="roundRect">
            <a:avLst>
              <a:gd fmla="val 6316" name="adj"/>
            </a:avLst>
          </a:prstGeom>
          <a:solidFill>
            <a:srgbClr val="2A5CA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9" name="Google Shape;1029;p34"/>
          <p:cNvSpPr/>
          <p:nvPr/>
        </p:nvSpPr>
        <p:spPr>
          <a:xfrm>
            <a:off x="7050024" y="4434840"/>
            <a:ext cx="1808866" cy="8686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300"/>
              <a:buFont typeface="Calibri"/>
              <a:buNone/>
            </a:pPr>
            <a:r>
              <a:rPr b="1" i="0" lang="en-US" sz="1300" u="none" cap="none" strike="noStrike">
                <a:solidFill>
                  <a:srgbClr val="FFFFFF"/>
                </a:solidFill>
                <a:latin typeface="Calibri"/>
                <a:ea typeface="Calibri"/>
                <a:cs typeface="Calibri"/>
                <a:sym typeface="Calibri"/>
              </a:rPr>
              <a:t>ResNet (2015)</a:t>
            </a:r>
            <a:endParaRPr b="0" i="0" sz="1300" u="none" cap="none" strike="noStrike">
              <a:solidFill>
                <a:schemeClr val="dk1"/>
              </a:solidFill>
              <a:latin typeface="Calibri"/>
              <a:ea typeface="Calibri"/>
              <a:cs typeface="Calibri"/>
              <a:sym typeface="Calibri"/>
            </a:endParaRPr>
          </a:p>
        </p:txBody>
      </p:sp>
      <p:sp>
        <p:nvSpPr>
          <p:cNvPr id="1030" name="Google Shape;1030;p34"/>
          <p:cNvSpPr/>
          <p:nvPr/>
        </p:nvSpPr>
        <p:spPr>
          <a:xfrm>
            <a:off x="8762147" y="4434840"/>
            <a:ext cx="2282617" cy="8686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D9E4F5"/>
              </a:buClr>
              <a:buSzPts val="1050"/>
              <a:buFont typeface="Calibri"/>
              <a:buNone/>
            </a:pPr>
            <a:r>
              <a:rPr b="0" i="0" lang="en-US" sz="1050" u="none" cap="none" strike="noStrike">
                <a:solidFill>
                  <a:srgbClr val="D9E4F5"/>
                </a:solidFill>
                <a:latin typeface="Calibri"/>
                <a:ea typeface="Calibri"/>
                <a:cs typeface="Calibri"/>
                <a:sym typeface="Calibri"/>
              </a:rPr>
              <a:t>skip connections; the workhorse</a:t>
            </a:r>
            <a:endParaRPr b="0" i="0" sz="1050" u="none" cap="none" strike="noStrike">
              <a:solidFill>
                <a:schemeClr val="dk1"/>
              </a:solidFill>
              <a:latin typeface="Calibri"/>
              <a:ea typeface="Calibri"/>
              <a:cs typeface="Calibri"/>
              <a:sym typeface="Calibri"/>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035" name="Shape 1035"/>
        <p:cNvGrpSpPr/>
        <p:nvPr/>
      </p:nvGrpSpPr>
      <p:grpSpPr>
        <a:xfrm>
          <a:off x="0" y="0"/>
          <a:ext cx="0" cy="0"/>
          <a:chOff x="0" y="0"/>
          <a:chExt cx="0" cy="0"/>
        </a:xfrm>
      </p:grpSpPr>
      <p:sp>
        <p:nvSpPr>
          <p:cNvPr id="1036" name="Google Shape;1036;p35"/>
          <p:cNvSpPr/>
          <p:nvPr/>
        </p:nvSpPr>
        <p:spPr>
          <a:xfrm>
            <a:off x="502920" y="274320"/>
            <a:ext cx="9646920" cy="56692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D2A5C"/>
              </a:buClr>
              <a:buSzPts val="2700"/>
              <a:buFont typeface="Calibri"/>
              <a:buNone/>
            </a:pPr>
            <a:r>
              <a:rPr b="1" i="0" lang="en-US" sz="2700" u="none" cap="none" strike="noStrike">
                <a:solidFill>
                  <a:srgbClr val="1D2A5C"/>
                </a:solidFill>
                <a:latin typeface="Calibri"/>
                <a:ea typeface="Calibri"/>
                <a:cs typeface="Calibri"/>
                <a:sym typeface="Calibri"/>
              </a:rPr>
              <a:t>CNN vs ViT: two ways to see</a:t>
            </a:r>
            <a:endParaRPr b="0" i="0" sz="2700" u="none" cap="none" strike="noStrike">
              <a:solidFill>
                <a:schemeClr val="dk1"/>
              </a:solidFill>
              <a:latin typeface="Calibri"/>
              <a:ea typeface="Calibri"/>
              <a:cs typeface="Calibri"/>
              <a:sym typeface="Calibri"/>
            </a:endParaRPr>
          </a:p>
        </p:txBody>
      </p:sp>
      <p:sp>
        <p:nvSpPr>
          <p:cNvPr id="1037" name="Google Shape;1037;p35"/>
          <p:cNvSpPr/>
          <p:nvPr/>
        </p:nvSpPr>
        <p:spPr>
          <a:xfrm>
            <a:off x="502920" y="859536"/>
            <a:ext cx="9646920" cy="31089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F6B7A"/>
              </a:buClr>
              <a:buSzPts val="1250"/>
              <a:buFont typeface="Arial"/>
              <a:buNone/>
            </a:pPr>
            <a:r>
              <a:rPr b="0" i="0" lang="en-US" sz="1250" u="none" cap="none" strike="noStrike">
                <a:solidFill>
                  <a:srgbClr val="5F6B7A"/>
                </a:solidFill>
                <a:latin typeface="Arial"/>
                <a:ea typeface="Arial"/>
                <a:cs typeface="Arial"/>
                <a:sym typeface="Arial"/>
              </a:rPr>
              <a:t>الالتفافية مقابل محولات الرؤية</a:t>
            </a:r>
            <a:endParaRPr b="0" i="0" sz="1250" u="none" cap="none" strike="noStrike">
              <a:solidFill>
                <a:schemeClr val="dk1"/>
              </a:solidFill>
              <a:latin typeface="Calibri"/>
              <a:ea typeface="Calibri"/>
              <a:cs typeface="Calibri"/>
              <a:sym typeface="Calibri"/>
            </a:endParaRPr>
          </a:p>
        </p:txBody>
      </p:sp>
      <p:pic>
        <p:nvPicPr>
          <p:cNvPr descr="/sessions/blissful-determined-ritchie/build/assets/sdaia_logo.png" id="1038" name="Google Shape;1038;p35"/>
          <p:cNvPicPr preferRelativeResize="0"/>
          <p:nvPr/>
        </p:nvPicPr>
        <p:blipFill rotWithShape="1">
          <a:blip r:embed="rId3">
            <a:alphaModFix/>
          </a:blip>
          <a:srcRect b="0" l="0" r="0" t="0"/>
          <a:stretch/>
        </p:blipFill>
        <p:spPr>
          <a:xfrm>
            <a:off x="10625328" y="310896"/>
            <a:ext cx="1078992" cy="264111"/>
          </a:xfrm>
          <a:prstGeom prst="rect">
            <a:avLst/>
          </a:prstGeom>
          <a:noFill/>
          <a:ln>
            <a:noFill/>
          </a:ln>
        </p:spPr>
      </p:pic>
      <p:sp>
        <p:nvSpPr>
          <p:cNvPr id="1039" name="Google Shape;1039;p35"/>
          <p:cNvSpPr/>
          <p:nvPr/>
        </p:nvSpPr>
        <p:spPr>
          <a:xfrm>
            <a:off x="502920" y="6528816"/>
            <a:ext cx="8686800"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A79D"/>
              </a:buClr>
              <a:buSzPts val="800"/>
              <a:buFont typeface="Calibri"/>
              <a:buNone/>
            </a:pPr>
            <a:r>
              <a:rPr b="1" i="0" lang="en-US" sz="800" u="none" cap="none" strike="noStrike">
                <a:solidFill>
                  <a:srgbClr val="00A79D"/>
                </a:solidFill>
                <a:latin typeface="Calibri"/>
                <a:ea typeface="Calibri"/>
                <a:cs typeface="Calibri"/>
                <a:sym typeface="Calibri"/>
              </a:rPr>
              <a:t>MODULE 2   </a:t>
            </a:r>
            <a:r>
              <a:rPr b="0" i="0" lang="en-US" sz="800" u="none" cap="none" strike="noStrike">
                <a:solidFill>
                  <a:srgbClr val="8A96A6"/>
                </a:solidFill>
                <a:latin typeface="Calibri"/>
                <a:ea typeface="Calibri"/>
                <a:cs typeface="Calibri"/>
                <a:sym typeface="Calibri"/>
              </a:rPr>
              <a:t>SDA-AIE-212 · Computer Vision Systems Development</a:t>
            </a:r>
            <a:endParaRPr b="0" i="0" sz="800" u="none" cap="none" strike="noStrike">
              <a:solidFill>
                <a:schemeClr val="dk1"/>
              </a:solidFill>
              <a:latin typeface="Calibri"/>
              <a:ea typeface="Calibri"/>
              <a:cs typeface="Calibri"/>
              <a:sym typeface="Calibri"/>
            </a:endParaRPr>
          </a:p>
        </p:txBody>
      </p:sp>
      <p:sp>
        <p:nvSpPr>
          <p:cNvPr id="1040" name="Google Shape;1040;p35"/>
          <p:cNvSpPr/>
          <p:nvPr/>
        </p:nvSpPr>
        <p:spPr>
          <a:xfrm>
            <a:off x="11292840" y="6528816"/>
            <a:ext cx="411480" cy="219456"/>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8A96A6"/>
              </a:buClr>
              <a:buSzPts val="900"/>
              <a:buFont typeface="Calibri"/>
              <a:buNone/>
            </a:pPr>
            <a:r>
              <a:rPr b="0" i="0" lang="en-US" sz="900" u="none" cap="none" strike="noStrike">
                <a:solidFill>
                  <a:srgbClr val="8A96A6"/>
                </a:solidFill>
                <a:latin typeface="Calibri"/>
                <a:ea typeface="Calibri"/>
                <a:cs typeface="Calibri"/>
                <a:sym typeface="Calibri"/>
              </a:rPr>
              <a:t>35</a:t>
            </a:r>
            <a:endParaRPr b="0" i="0" sz="900" u="none" cap="none" strike="noStrike">
              <a:solidFill>
                <a:schemeClr val="dk1"/>
              </a:solidFill>
              <a:latin typeface="Calibri"/>
              <a:ea typeface="Calibri"/>
              <a:cs typeface="Calibri"/>
              <a:sym typeface="Calibri"/>
            </a:endParaRPr>
          </a:p>
        </p:txBody>
      </p:sp>
      <p:sp>
        <p:nvSpPr>
          <p:cNvPr id="1041" name="Google Shape;1041;p35"/>
          <p:cNvSpPr/>
          <p:nvPr/>
        </p:nvSpPr>
        <p:spPr>
          <a:xfrm>
            <a:off x="502920" y="1389888"/>
            <a:ext cx="11185855" cy="384048"/>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5F6B7A"/>
              </a:buClr>
              <a:buSzPts val="1250"/>
              <a:buFont typeface="Calibri"/>
              <a:buNone/>
            </a:pPr>
            <a:r>
              <a:rPr b="0" i="1" lang="en-US" sz="1250" u="none" cap="none" strike="noStrike">
                <a:solidFill>
                  <a:srgbClr val="5F6B7A"/>
                </a:solidFill>
                <a:latin typeface="Calibri"/>
                <a:ea typeface="Calibri"/>
                <a:cs typeface="Calibri"/>
                <a:sym typeface="Calibri"/>
              </a:rPr>
              <a:t>CNNs learn structure through depth; ViTs see everything from layer 1 and must learn structure from data.</a:t>
            </a:r>
            <a:endParaRPr b="0" i="0" sz="1250" u="none" cap="none" strike="noStrike">
              <a:solidFill>
                <a:schemeClr val="dk1"/>
              </a:solidFill>
              <a:latin typeface="Calibri"/>
              <a:ea typeface="Calibri"/>
              <a:cs typeface="Calibri"/>
              <a:sym typeface="Calibri"/>
            </a:endParaRPr>
          </a:p>
        </p:txBody>
      </p:sp>
      <p:sp>
        <p:nvSpPr>
          <p:cNvPr id="1042" name="Google Shape;1042;p35"/>
          <p:cNvSpPr/>
          <p:nvPr/>
        </p:nvSpPr>
        <p:spPr>
          <a:xfrm>
            <a:off x="502920" y="1892808"/>
            <a:ext cx="5432908" cy="3611880"/>
          </a:xfrm>
          <a:prstGeom prst="roundRect">
            <a:avLst>
              <a:gd fmla="val 2278" name="adj"/>
            </a:avLst>
          </a:prstGeom>
          <a:solidFill>
            <a:srgbClr val="F2F6F9"/>
          </a:solidFill>
          <a:ln cap="flat" cmpd="sng" w="12700">
            <a:solidFill>
              <a:srgbClr val="D9E2E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3" name="Google Shape;1043;p35"/>
          <p:cNvSpPr/>
          <p:nvPr/>
        </p:nvSpPr>
        <p:spPr>
          <a:xfrm>
            <a:off x="704088" y="2084832"/>
            <a:ext cx="146304" cy="146304"/>
          </a:xfrm>
          <a:prstGeom prst="ellipse">
            <a:avLst/>
          </a:prstGeom>
          <a:solidFill>
            <a:srgbClr val="00A79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4" name="Google Shape;1044;p35"/>
          <p:cNvSpPr/>
          <p:nvPr/>
        </p:nvSpPr>
        <p:spPr>
          <a:xfrm>
            <a:off x="960120" y="1984248"/>
            <a:ext cx="4838548"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D2A5C"/>
              </a:buClr>
              <a:buSzPts val="1400"/>
              <a:buFont typeface="Calibri"/>
              <a:buNone/>
            </a:pPr>
            <a:r>
              <a:rPr b="1" i="0" lang="en-US" sz="1400" u="none" cap="none" strike="noStrike">
                <a:solidFill>
                  <a:srgbClr val="1D2A5C"/>
                </a:solidFill>
                <a:latin typeface="Calibri"/>
                <a:ea typeface="Calibri"/>
                <a:cs typeface="Calibri"/>
                <a:sym typeface="Calibri"/>
              </a:rPr>
              <a:t>CNN (ResNet / EfficientNet)</a:t>
            </a:r>
            <a:endParaRPr b="0" i="0" sz="1400" u="none" cap="none" strike="noStrike">
              <a:solidFill>
                <a:schemeClr val="dk1"/>
              </a:solidFill>
              <a:latin typeface="Calibri"/>
              <a:ea typeface="Calibri"/>
              <a:cs typeface="Calibri"/>
              <a:sym typeface="Calibri"/>
            </a:endParaRPr>
          </a:p>
        </p:txBody>
      </p:sp>
      <p:sp>
        <p:nvSpPr>
          <p:cNvPr id="1045" name="Google Shape;1045;p35"/>
          <p:cNvSpPr/>
          <p:nvPr/>
        </p:nvSpPr>
        <p:spPr>
          <a:xfrm>
            <a:off x="758952" y="2423160"/>
            <a:ext cx="4975708" cy="2953512"/>
          </a:xfrm>
          <a:prstGeom prst="rect">
            <a:avLst/>
          </a:prstGeom>
          <a:noFill/>
          <a:ln>
            <a:noFill/>
          </a:ln>
        </p:spPr>
        <p:txBody>
          <a:bodyPr anchorCtr="0" anchor="t" bIns="0" lIns="0" spcFirstLastPara="1" rIns="0" wrap="square" tIns="0">
            <a:noAutofit/>
          </a:bodyPr>
          <a:lstStyle/>
          <a:p>
            <a:pPr indent="-152400" lvl="0" marL="152400" marR="0" rtl="0" algn="l">
              <a:spcBef>
                <a:spcPts val="0"/>
              </a:spcBef>
              <a:spcAft>
                <a:spcPts val="0"/>
              </a:spcAft>
              <a:buClr>
                <a:srgbClr val="23293B"/>
              </a:buClr>
              <a:buSzPts val="1150"/>
              <a:buFont typeface="Calibri"/>
              <a:buChar char="•"/>
            </a:pPr>
            <a:r>
              <a:rPr b="0" i="0" lang="en-US" sz="1150" u="none" cap="none" strike="noStrike">
                <a:solidFill>
                  <a:srgbClr val="23293B"/>
                </a:solidFill>
                <a:latin typeface="Calibri"/>
                <a:ea typeface="Calibri"/>
                <a:cs typeface="Calibri"/>
                <a:sym typeface="Calibri"/>
              </a:rPr>
              <a:t>Strong inductive bias: locality, equivariance, hierarchy</a:t>
            </a:r>
            <a:endParaRPr b="0" i="0" sz="1150" u="none" cap="none" strike="noStrike">
              <a:solidFill>
                <a:schemeClr val="dk1"/>
              </a:solidFill>
              <a:latin typeface="Calibri"/>
              <a:ea typeface="Calibri"/>
              <a:cs typeface="Calibri"/>
              <a:sym typeface="Calibri"/>
            </a:endParaRPr>
          </a:p>
          <a:p>
            <a:pPr indent="-152400" lvl="0" marL="152400" marR="0" rtl="0" algn="l">
              <a:spcBef>
                <a:spcPts val="700"/>
              </a:spcBef>
              <a:spcAft>
                <a:spcPts val="0"/>
              </a:spcAft>
              <a:buClr>
                <a:srgbClr val="23293B"/>
              </a:buClr>
              <a:buSzPts val="1150"/>
              <a:buFont typeface="Calibri"/>
              <a:buChar char="•"/>
            </a:pPr>
            <a:r>
              <a:rPr b="0" i="0" lang="en-US" sz="1150" u="none" cap="none" strike="noStrike">
                <a:solidFill>
                  <a:srgbClr val="23293B"/>
                </a:solidFill>
                <a:latin typeface="Calibri"/>
                <a:ea typeface="Calibri"/>
                <a:cs typeface="Calibri"/>
                <a:sym typeface="Calibri"/>
              </a:rPr>
              <a:t>Learns from small datasets; receptive field grows with depth</a:t>
            </a:r>
            <a:endParaRPr b="0" i="0" sz="1150" u="none" cap="none" strike="noStrike">
              <a:solidFill>
                <a:schemeClr val="dk1"/>
              </a:solidFill>
              <a:latin typeface="Calibri"/>
              <a:ea typeface="Calibri"/>
              <a:cs typeface="Calibri"/>
              <a:sym typeface="Calibri"/>
            </a:endParaRPr>
          </a:p>
          <a:p>
            <a:pPr indent="-152400" lvl="0" marL="152400" marR="0" rtl="0" algn="l">
              <a:spcBef>
                <a:spcPts val="700"/>
              </a:spcBef>
              <a:spcAft>
                <a:spcPts val="0"/>
              </a:spcAft>
              <a:buClr>
                <a:srgbClr val="23293B"/>
              </a:buClr>
              <a:buSzPts val="1150"/>
              <a:buFont typeface="Calibri"/>
              <a:buChar char="•"/>
            </a:pPr>
            <a:r>
              <a:rPr b="0" i="0" lang="en-US" sz="1150" u="none" cap="none" strike="noStrike">
                <a:solidFill>
                  <a:srgbClr val="23293B"/>
                </a:solidFill>
                <a:latin typeface="Calibri"/>
                <a:ea typeface="Calibri"/>
                <a:cs typeface="Calibri"/>
                <a:sym typeface="Calibri"/>
              </a:rPr>
              <a:t>Cheaper at high resolution; simple deployment</a:t>
            </a:r>
            <a:endParaRPr b="0" i="0" sz="1150" u="none" cap="none" strike="noStrike">
              <a:solidFill>
                <a:schemeClr val="dk1"/>
              </a:solidFill>
              <a:latin typeface="Calibri"/>
              <a:ea typeface="Calibri"/>
              <a:cs typeface="Calibri"/>
              <a:sym typeface="Calibri"/>
            </a:endParaRPr>
          </a:p>
          <a:p>
            <a:pPr indent="-152400" lvl="0" marL="152400" marR="0" rtl="0" algn="l">
              <a:spcBef>
                <a:spcPts val="700"/>
              </a:spcBef>
              <a:spcAft>
                <a:spcPts val="0"/>
              </a:spcAft>
              <a:buClr>
                <a:srgbClr val="23293B"/>
              </a:buClr>
              <a:buSzPts val="1150"/>
              <a:buFont typeface="Calibri"/>
              <a:buChar char="•"/>
            </a:pPr>
            <a:r>
              <a:rPr b="0" i="0" lang="en-US" sz="1150" u="none" cap="none" strike="noStrike">
                <a:solidFill>
                  <a:srgbClr val="23293B"/>
                </a:solidFill>
                <a:latin typeface="Calibri"/>
                <a:ea typeface="Calibri"/>
                <a:cs typeface="Calibri"/>
                <a:sym typeface="Calibri"/>
              </a:rPr>
              <a:t>From scratch on 10k images: beats ViT decisively (Lab 2b)</a:t>
            </a:r>
            <a:endParaRPr b="0" i="0" sz="1150" u="none" cap="none" strike="noStrike">
              <a:solidFill>
                <a:schemeClr val="dk1"/>
              </a:solidFill>
              <a:latin typeface="Calibri"/>
              <a:ea typeface="Calibri"/>
              <a:cs typeface="Calibri"/>
              <a:sym typeface="Calibri"/>
            </a:endParaRPr>
          </a:p>
        </p:txBody>
      </p:sp>
      <p:sp>
        <p:nvSpPr>
          <p:cNvPr id="1046" name="Google Shape;1046;p35"/>
          <p:cNvSpPr/>
          <p:nvPr/>
        </p:nvSpPr>
        <p:spPr>
          <a:xfrm>
            <a:off x="6255868" y="1892808"/>
            <a:ext cx="5432908" cy="3611880"/>
          </a:xfrm>
          <a:prstGeom prst="roundRect">
            <a:avLst>
              <a:gd fmla="val 2278" name="adj"/>
            </a:avLst>
          </a:prstGeom>
          <a:solidFill>
            <a:srgbClr val="F2F6F9"/>
          </a:solidFill>
          <a:ln cap="flat" cmpd="sng" w="12700">
            <a:solidFill>
              <a:srgbClr val="D9E2E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7" name="Google Shape;1047;p35"/>
          <p:cNvSpPr/>
          <p:nvPr/>
        </p:nvSpPr>
        <p:spPr>
          <a:xfrm>
            <a:off x="6457036" y="2084832"/>
            <a:ext cx="146304" cy="146304"/>
          </a:xfrm>
          <a:prstGeom prst="ellipse">
            <a:avLst/>
          </a:prstGeom>
          <a:solidFill>
            <a:srgbClr val="29ABE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8" name="Google Shape;1048;p35"/>
          <p:cNvSpPr/>
          <p:nvPr/>
        </p:nvSpPr>
        <p:spPr>
          <a:xfrm>
            <a:off x="6713068" y="1984248"/>
            <a:ext cx="4838548"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D2A5C"/>
              </a:buClr>
              <a:buSzPts val="1400"/>
              <a:buFont typeface="Calibri"/>
              <a:buNone/>
            </a:pPr>
            <a:r>
              <a:rPr b="1" i="0" lang="en-US" sz="1400" u="none" cap="none" strike="noStrike">
                <a:solidFill>
                  <a:srgbClr val="1D2A5C"/>
                </a:solidFill>
                <a:latin typeface="Calibri"/>
                <a:ea typeface="Calibri"/>
                <a:cs typeface="Calibri"/>
                <a:sym typeface="Calibri"/>
              </a:rPr>
              <a:t>ViT (patches + attention)</a:t>
            </a:r>
            <a:endParaRPr b="0" i="0" sz="1400" u="none" cap="none" strike="noStrike">
              <a:solidFill>
                <a:schemeClr val="dk1"/>
              </a:solidFill>
              <a:latin typeface="Calibri"/>
              <a:ea typeface="Calibri"/>
              <a:cs typeface="Calibri"/>
              <a:sym typeface="Calibri"/>
            </a:endParaRPr>
          </a:p>
        </p:txBody>
      </p:sp>
      <p:sp>
        <p:nvSpPr>
          <p:cNvPr id="1049" name="Google Shape;1049;p35"/>
          <p:cNvSpPr/>
          <p:nvPr/>
        </p:nvSpPr>
        <p:spPr>
          <a:xfrm>
            <a:off x="6511900" y="2423160"/>
            <a:ext cx="4975708" cy="2953512"/>
          </a:xfrm>
          <a:prstGeom prst="rect">
            <a:avLst/>
          </a:prstGeom>
          <a:noFill/>
          <a:ln>
            <a:noFill/>
          </a:ln>
        </p:spPr>
        <p:txBody>
          <a:bodyPr anchorCtr="0" anchor="t" bIns="0" lIns="0" spcFirstLastPara="1" rIns="0" wrap="square" tIns="0">
            <a:noAutofit/>
          </a:bodyPr>
          <a:lstStyle/>
          <a:p>
            <a:pPr indent="-152400" lvl="0" marL="152400" marR="0" rtl="0" algn="l">
              <a:spcBef>
                <a:spcPts val="0"/>
              </a:spcBef>
              <a:spcAft>
                <a:spcPts val="0"/>
              </a:spcAft>
              <a:buClr>
                <a:srgbClr val="23293B"/>
              </a:buClr>
              <a:buSzPts val="1150"/>
              <a:buFont typeface="Calibri"/>
              <a:buChar char="•"/>
            </a:pPr>
            <a:r>
              <a:rPr b="0" i="0" lang="en-US" sz="1150" u="none" cap="none" strike="noStrike">
                <a:solidFill>
                  <a:srgbClr val="23293B"/>
                </a:solidFill>
                <a:latin typeface="Calibri"/>
                <a:ea typeface="Calibri"/>
                <a:cs typeface="Calibri"/>
                <a:sym typeface="Calibri"/>
              </a:rPr>
              <a:t>16x16 patches as tokens; every patch attends to every patch</a:t>
            </a:r>
            <a:endParaRPr b="0" i="0" sz="1150" u="none" cap="none" strike="noStrike">
              <a:solidFill>
                <a:schemeClr val="dk1"/>
              </a:solidFill>
              <a:latin typeface="Calibri"/>
              <a:ea typeface="Calibri"/>
              <a:cs typeface="Calibri"/>
              <a:sym typeface="Calibri"/>
            </a:endParaRPr>
          </a:p>
          <a:p>
            <a:pPr indent="-152400" lvl="0" marL="152400" marR="0" rtl="0" algn="l">
              <a:spcBef>
                <a:spcPts val="700"/>
              </a:spcBef>
              <a:spcAft>
                <a:spcPts val="0"/>
              </a:spcAft>
              <a:buClr>
                <a:srgbClr val="23293B"/>
              </a:buClr>
              <a:buSzPts val="1150"/>
              <a:buFont typeface="Calibri"/>
              <a:buChar char="•"/>
            </a:pPr>
            <a:r>
              <a:rPr b="0" i="0" lang="en-US" sz="1150" u="none" cap="none" strike="noStrike">
                <a:solidFill>
                  <a:srgbClr val="23293B"/>
                </a:solidFill>
                <a:latin typeface="Calibri"/>
                <a:ea typeface="Calibri"/>
                <a:cs typeface="Calibri"/>
                <a:sym typeface="Calibri"/>
              </a:rPr>
              <a:t>Global receptive field from layer 1 - long-range relations</a:t>
            </a:r>
            <a:endParaRPr b="0" i="0" sz="1150" u="none" cap="none" strike="noStrike">
              <a:solidFill>
                <a:schemeClr val="dk1"/>
              </a:solidFill>
              <a:latin typeface="Calibri"/>
              <a:ea typeface="Calibri"/>
              <a:cs typeface="Calibri"/>
              <a:sym typeface="Calibri"/>
            </a:endParaRPr>
          </a:p>
          <a:p>
            <a:pPr indent="-152400" lvl="0" marL="152400" marR="0" rtl="0" algn="l">
              <a:spcBef>
                <a:spcPts val="700"/>
              </a:spcBef>
              <a:spcAft>
                <a:spcPts val="0"/>
              </a:spcAft>
              <a:buClr>
                <a:srgbClr val="23293B"/>
              </a:buClr>
              <a:buSzPts val="1150"/>
              <a:buFont typeface="Calibri"/>
              <a:buChar char="•"/>
            </a:pPr>
            <a:r>
              <a:rPr b="0" i="0" lang="en-US" sz="1150" u="none" cap="none" strike="noStrike">
                <a:solidFill>
                  <a:srgbClr val="23293B"/>
                </a:solidFill>
                <a:latin typeface="Calibri"/>
                <a:ea typeface="Calibri"/>
                <a:cs typeface="Calibri"/>
                <a:sym typeface="Calibri"/>
              </a:rPr>
              <a:t>Weak bias: needs large pre-training (ImageNet-21k, LAION)</a:t>
            </a:r>
            <a:endParaRPr b="0" i="0" sz="1150" u="none" cap="none" strike="noStrike">
              <a:solidFill>
                <a:schemeClr val="dk1"/>
              </a:solidFill>
              <a:latin typeface="Calibri"/>
              <a:ea typeface="Calibri"/>
              <a:cs typeface="Calibri"/>
              <a:sym typeface="Calibri"/>
            </a:endParaRPr>
          </a:p>
          <a:p>
            <a:pPr indent="-152400" lvl="0" marL="152400" marR="0" rtl="0" algn="l">
              <a:spcBef>
                <a:spcPts val="700"/>
              </a:spcBef>
              <a:spcAft>
                <a:spcPts val="0"/>
              </a:spcAft>
              <a:buClr>
                <a:srgbClr val="23293B"/>
              </a:buClr>
              <a:buSzPts val="1150"/>
              <a:buFont typeface="Calibri"/>
              <a:buChar char="•"/>
            </a:pPr>
            <a:r>
              <a:rPr b="0" i="0" lang="en-US" sz="1150" u="none" cap="none" strike="noStrike">
                <a:solidFill>
                  <a:srgbClr val="23293B"/>
                </a:solidFill>
                <a:latin typeface="Calibri"/>
                <a:ea typeface="Calibri"/>
                <a:cs typeface="Calibri"/>
                <a:sym typeface="Calibri"/>
              </a:rPr>
              <a:t>Quadratic cost in tokens; Swin windows restore hierarchy</a:t>
            </a:r>
            <a:endParaRPr b="0" i="0" sz="1150" u="none" cap="none" strike="noStrike">
              <a:solidFill>
                <a:schemeClr val="dk1"/>
              </a:solidFill>
              <a:latin typeface="Calibri"/>
              <a:ea typeface="Calibri"/>
              <a:cs typeface="Calibri"/>
              <a:sym typeface="Calibri"/>
            </a:endParaRPr>
          </a:p>
          <a:p>
            <a:pPr indent="-152400" lvl="0" marL="152400" marR="0" rtl="0" algn="l">
              <a:spcBef>
                <a:spcPts val="700"/>
              </a:spcBef>
              <a:spcAft>
                <a:spcPts val="0"/>
              </a:spcAft>
              <a:buClr>
                <a:srgbClr val="23293B"/>
              </a:buClr>
              <a:buSzPts val="1150"/>
              <a:buFont typeface="Calibri"/>
              <a:buChar char="•"/>
            </a:pPr>
            <a:r>
              <a:rPr b="0" i="0" lang="en-US" sz="1150" u="none" cap="none" strike="noStrike">
                <a:solidFill>
                  <a:srgbClr val="23293B"/>
                </a:solidFill>
                <a:latin typeface="Calibri"/>
                <a:ea typeface="Calibri"/>
                <a:cs typeface="Calibri"/>
                <a:sym typeface="Calibri"/>
              </a:rPr>
              <a:t>Attention maps double as audit evidence</a:t>
            </a:r>
            <a:endParaRPr b="0" i="0" sz="1150" u="none" cap="none" strike="noStrike">
              <a:solidFill>
                <a:schemeClr val="dk1"/>
              </a:solidFill>
              <a:latin typeface="Calibri"/>
              <a:ea typeface="Calibri"/>
              <a:cs typeface="Calibri"/>
              <a:sym typeface="Calibri"/>
            </a:endParaRPr>
          </a:p>
        </p:txBody>
      </p:sp>
      <p:sp>
        <p:nvSpPr>
          <p:cNvPr id="1050" name="Google Shape;1050;p35"/>
          <p:cNvSpPr/>
          <p:nvPr/>
        </p:nvSpPr>
        <p:spPr>
          <a:xfrm>
            <a:off x="2639416" y="5669280"/>
            <a:ext cx="6912864" cy="457200"/>
          </a:xfrm>
          <a:prstGeom prst="roundRect">
            <a:avLst>
              <a:gd fmla="val 50000" name="adj"/>
            </a:avLst>
          </a:prstGeom>
          <a:solidFill>
            <a:srgbClr val="FEF3E7"/>
          </a:solidFill>
          <a:ln cap="flat" cmpd="sng" w="15875">
            <a:solidFill>
              <a:srgbClr val="F5822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1" name="Google Shape;1051;p35"/>
          <p:cNvSpPr/>
          <p:nvPr/>
        </p:nvSpPr>
        <p:spPr>
          <a:xfrm>
            <a:off x="2730856" y="5669280"/>
            <a:ext cx="6729984"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B35A0F"/>
              </a:buClr>
              <a:buSzPts val="1200"/>
              <a:buFont typeface="Calibri"/>
              <a:buNone/>
            </a:pPr>
            <a:r>
              <a:rPr b="1" i="0" lang="en-US" sz="1200" u="none" cap="none" strike="noStrike">
                <a:solidFill>
                  <a:srgbClr val="B35A0F"/>
                </a:solidFill>
                <a:latin typeface="Calibri"/>
                <a:ea typeface="Calibri"/>
                <a:cs typeface="Calibri"/>
                <a:sym typeface="Calibri"/>
              </a:rPr>
              <a:t>&lt;10k images + tight latency: CNN. Global context or multimodal roadmap: ViT.</a:t>
            </a:r>
            <a:endParaRPr b="0" i="0" sz="1200" u="none" cap="none" strike="noStrike">
              <a:solidFill>
                <a:schemeClr val="dk1"/>
              </a:solidFill>
              <a:latin typeface="Calibri"/>
              <a:ea typeface="Calibri"/>
              <a:cs typeface="Calibri"/>
              <a:sym typeface="Calibri"/>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056" name="Shape 1056"/>
        <p:cNvGrpSpPr/>
        <p:nvPr/>
      </p:nvGrpSpPr>
      <p:grpSpPr>
        <a:xfrm>
          <a:off x="0" y="0"/>
          <a:ext cx="0" cy="0"/>
          <a:chOff x="0" y="0"/>
          <a:chExt cx="0" cy="0"/>
        </a:xfrm>
      </p:grpSpPr>
      <p:sp>
        <p:nvSpPr>
          <p:cNvPr id="1057" name="Google Shape;1057;p36"/>
          <p:cNvSpPr/>
          <p:nvPr/>
        </p:nvSpPr>
        <p:spPr>
          <a:xfrm>
            <a:off x="502920" y="274320"/>
            <a:ext cx="9646920" cy="56692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D2A5C"/>
              </a:buClr>
              <a:buSzPts val="2700"/>
              <a:buFont typeface="Calibri"/>
              <a:buNone/>
            </a:pPr>
            <a:r>
              <a:rPr b="1" i="0" lang="en-US" sz="2700" u="none" cap="none" strike="noStrike">
                <a:solidFill>
                  <a:srgbClr val="1D2A5C"/>
                </a:solidFill>
                <a:latin typeface="Calibri"/>
                <a:ea typeface="Calibri"/>
                <a:cs typeface="Calibri"/>
                <a:sym typeface="Calibri"/>
              </a:rPr>
              <a:t>The staged fine-tuning recipe</a:t>
            </a:r>
            <a:endParaRPr b="0" i="0" sz="2700" u="none" cap="none" strike="noStrike">
              <a:solidFill>
                <a:schemeClr val="dk1"/>
              </a:solidFill>
              <a:latin typeface="Calibri"/>
              <a:ea typeface="Calibri"/>
              <a:cs typeface="Calibri"/>
              <a:sym typeface="Calibri"/>
            </a:endParaRPr>
          </a:p>
        </p:txBody>
      </p:sp>
      <p:sp>
        <p:nvSpPr>
          <p:cNvPr id="1058" name="Google Shape;1058;p36"/>
          <p:cNvSpPr/>
          <p:nvPr/>
        </p:nvSpPr>
        <p:spPr>
          <a:xfrm>
            <a:off x="502920" y="859536"/>
            <a:ext cx="9646920" cy="31089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F6B7A"/>
              </a:buClr>
              <a:buSzPts val="1250"/>
              <a:buFont typeface="Arial"/>
              <a:buNone/>
            </a:pPr>
            <a:r>
              <a:rPr b="0" i="0" lang="en-US" sz="1250" u="none" cap="none" strike="noStrike">
                <a:solidFill>
                  <a:srgbClr val="5F6B7A"/>
                </a:solidFill>
                <a:latin typeface="Arial"/>
                <a:ea typeface="Arial"/>
                <a:cs typeface="Arial"/>
                <a:sym typeface="Arial"/>
              </a:rPr>
              <a:t>وصفة الضبط الدقيق المرحلي</a:t>
            </a:r>
            <a:endParaRPr b="0" i="0" sz="1250" u="none" cap="none" strike="noStrike">
              <a:solidFill>
                <a:schemeClr val="dk1"/>
              </a:solidFill>
              <a:latin typeface="Calibri"/>
              <a:ea typeface="Calibri"/>
              <a:cs typeface="Calibri"/>
              <a:sym typeface="Calibri"/>
            </a:endParaRPr>
          </a:p>
        </p:txBody>
      </p:sp>
      <p:pic>
        <p:nvPicPr>
          <p:cNvPr descr="/sessions/blissful-determined-ritchie/build/assets/sdaia_logo.png" id="1059" name="Google Shape;1059;p36"/>
          <p:cNvPicPr preferRelativeResize="0"/>
          <p:nvPr/>
        </p:nvPicPr>
        <p:blipFill rotWithShape="1">
          <a:blip r:embed="rId3">
            <a:alphaModFix/>
          </a:blip>
          <a:srcRect b="0" l="0" r="0" t="0"/>
          <a:stretch/>
        </p:blipFill>
        <p:spPr>
          <a:xfrm>
            <a:off x="10625328" y="310896"/>
            <a:ext cx="1078992" cy="264111"/>
          </a:xfrm>
          <a:prstGeom prst="rect">
            <a:avLst/>
          </a:prstGeom>
          <a:noFill/>
          <a:ln>
            <a:noFill/>
          </a:ln>
        </p:spPr>
      </p:pic>
      <p:sp>
        <p:nvSpPr>
          <p:cNvPr id="1060" name="Google Shape;1060;p36"/>
          <p:cNvSpPr/>
          <p:nvPr/>
        </p:nvSpPr>
        <p:spPr>
          <a:xfrm>
            <a:off x="502920" y="6528816"/>
            <a:ext cx="8686800"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A79D"/>
              </a:buClr>
              <a:buSzPts val="800"/>
              <a:buFont typeface="Calibri"/>
              <a:buNone/>
            </a:pPr>
            <a:r>
              <a:rPr b="1" i="0" lang="en-US" sz="800" u="none" cap="none" strike="noStrike">
                <a:solidFill>
                  <a:srgbClr val="00A79D"/>
                </a:solidFill>
                <a:latin typeface="Calibri"/>
                <a:ea typeface="Calibri"/>
                <a:cs typeface="Calibri"/>
                <a:sym typeface="Calibri"/>
              </a:rPr>
              <a:t>MODULE 2   </a:t>
            </a:r>
            <a:r>
              <a:rPr b="0" i="0" lang="en-US" sz="800" u="none" cap="none" strike="noStrike">
                <a:solidFill>
                  <a:srgbClr val="8A96A6"/>
                </a:solidFill>
                <a:latin typeface="Calibri"/>
                <a:ea typeface="Calibri"/>
                <a:cs typeface="Calibri"/>
                <a:sym typeface="Calibri"/>
              </a:rPr>
              <a:t>SDA-AIE-212 · Computer Vision Systems Development</a:t>
            </a:r>
            <a:endParaRPr b="0" i="0" sz="800" u="none" cap="none" strike="noStrike">
              <a:solidFill>
                <a:schemeClr val="dk1"/>
              </a:solidFill>
              <a:latin typeface="Calibri"/>
              <a:ea typeface="Calibri"/>
              <a:cs typeface="Calibri"/>
              <a:sym typeface="Calibri"/>
            </a:endParaRPr>
          </a:p>
        </p:txBody>
      </p:sp>
      <p:sp>
        <p:nvSpPr>
          <p:cNvPr id="1061" name="Google Shape;1061;p36"/>
          <p:cNvSpPr/>
          <p:nvPr/>
        </p:nvSpPr>
        <p:spPr>
          <a:xfrm>
            <a:off x="11292840" y="6528816"/>
            <a:ext cx="411480" cy="219456"/>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8A96A6"/>
              </a:buClr>
              <a:buSzPts val="900"/>
              <a:buFont typeface="Calibri"/>
              <a:buNone/>
            </a:pPr>
            <a:r>
              <a:rPr b="0" i="0" lang="en-US" sz="900" u="none" cap="none" strike="noStrike">
                <a:solidFill>
                  <a:srgbClr val="8A96A6"/>
                </a:solidFill>
                <a:latin typeface="Calibri"/>
                <a:ea typeface="Calibri"/>
                <a:cs typeface="Calibri"/>
                <a:sym typeface="Calibri"/>
              </a:rPr>
              <a:t>36</a:t>
            </a:r>
            <a:endParaRPr b="0" i="0" sz="900" u="none" cap="none" strike="noStrike">
              <a:solidFill>
                <a:schemeClr val="dk1"/>
              </a:solidFill>
              <a:latin typeface="Calibri"/>
              <a:ea typeface="Calibri"/>
              <a:cs typeface="Calibri"/>
              <a:sym typeface="Calibri"/>
            </a:endParaRPr>
          </a:p>
        </p:txBody>
      </p:sp>
      <p:sp>
        <p:nvSpPr>
          <p:cNvPr id="1062" name="Google Shape;1062;p36"/>
          <p:cNvSpPr/>
          <p:nvPr/>
        </p:nvSpPr>
        <p:spPr>
          <a:xfrm>
            <a:off x="502920" y="1389888"/>
            <a:ext cx="11185855" cy="384048"/>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5F6B7A"/>
              </a:buClr>
              <a:buSzPts val="1250"/>
              <a:buFont typeface="Calibri"/>
              <a:buNone/>
            </a:pPr>
            <a:r>
              <a:rPr b="0" i="1" lang="en-US" sz="1250" u="none" cap="none" strike="noStrike">
                <a:solidFill>
                  <a:srgbClr val="5F6B7A"/>
                </a:solidFill>
                <a:latin typeface="Calibri"/>
                <a:ea typeface="Calibri"/>
                <a:cs typeface="Calibri"/>
                <a:sym typeface="Calibri"/>
              </a:rPr>
              <a:t>Lab 2 implements this verbatim. Cosine decay + 1-2 warmup epochs; early layers keep generic features, later layers adapt.</a:t>
            </a:r>
            <a:endParaRPr b="0" i="0" sz="1250" u="none" cap="none" strike="noStrike">
              <a:solidFill>
                <a:schemeClr val="dk1"/>
              </a:solidFill>
              <a:latin typeface="Calibri"/>
              <a:ea typeface="Calibri"/>
              <a:cs typeface="Calibri"/>
              <a:sym typeface="Calibri"/>
            </a:endParaRPr>
          </a:p>
        </p:txBody>
      </p:sp>
      <p:sp>
        <p:nvSpPr>
          <p:cNvPr id="1063" name="Google Shape;1063;p36"/>
          <p:cNvSpPr/>
          <p:nvPr/>
        </p:nvSpPr>
        <p:spPr>
          <a:xfrm>
            <a:off x="502920" y="3118104"/>
            <a:ext cx="2508428" cy="1371600"/>
          </a:xfrm>
          <a:prstGeom prst="roundRect">
            <a:avLst>
              <a:gd fmla="val 4667" name="adj"/>
            </a:avLst>
          </a:prstGeom>
          <a:solidFill>
            <a:srgbClr val="F2F6F9"/>
          </a:solidFill>
          <a:ln cap="flat" cmpd="sng" w="15875">
            <a:solidFill>
              <a:srgbClr val="00A79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4" name="Google Shape;1064;p36"/>
          <p:cNvSpPr/>
          <p:nvPr/>
        </p:nvSpPr>
        <p:spPr>
          <a:xfrm>
            <a:off x="576072" y="3172968"/>
            <a:ext cx="2362124" cy="6172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D2A5C"/>
              </a:buClr>
              <a:buSzPts val="1250"/>
              <a:buFont typeface="Calibri"/>
              <a:buNone/>
            </a:pPr>
            <a:r>
              <a:rPr b="1" i="0" lang="en-US" sz="1250" u="none" cap="none" strike="noStrike">
                <a:solidFill>
                  <a:srgbClr val="1D2A5C"/>
                </a:solidFill>
                <a:latin typeface="Calibri"/>
                <a:ea typeface="Calibri"/>
                <a:cs typeface="Calibri"/>
                <a:sym typeface="Calibri"/>
              </a:rPr>
              <a:t>Replace the head</a:t>
            </a:r>
            <a:endParaRPr b="0" i="0" sz="1250" u="none" cap="none" strike="noStrike">
              <a:solidFill>
                <a:schemeClr val="dk1"/>
              </a:solidFill>
              <a:latin typeface="Calibri"/>
              <a:ea typeface="Calibri"/>
              <a:cs typeface="Calibri"/>
              <a:sym typeface="Calibri"/>
            </a:endParaRPr>
          </a:p>
        </p:txBody>
      </p:sp>
      <p:sp>
        <p:nvSpPr>
          <p:cNvPr id="1065" name="Google Shape;1065;p36"/>
          <p:cNvSpPr/>
          <p:nvPr/>
        </p:nvSpPr>
        <p:spPr>
          <a:xfrm>
            <a:off x="576072" y="3776472"/>
            <a:ext cx="2362124" cy="658368"/>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rgbClr val="5F6B7A"/>
              </a:buClr>
              <a:buSzPts val="950"/>
              <a:buFont typeface="Calibri"/>
              <a:buNone/>
            </a:pPr>
            <a:r>
              <a:rPr b="0" i="0" lang="en-US" sz="950" u="none" cap="none" strike="noStrike">
                <a:solidFill>
                  <a:srgbClr val="5F6B7A"/>
                </a:solidFill>
                <a:latin typeface="Calibri"/>
                <a:ea typeface="Calibri"/>
                <a:cs typeface="Calibri"/>
                <a:sym typeface="Calibri"/>
              </a:rPr>
              <a:t>Linear(2048, 4); keep pre-trained body</a:t>
            </a:r>
            <a:endParaRPr b="0" i="0" sz="950" u="none" cap="none" strike="noStrike">
              <a:solidFill>
                <a:schemeClr val="dk1"/>
              </a:solidFill>
              <a:latin typeface="Calibri"/>
              <a:ea typeface="Calibri"/>
              <a:cs typeface="Calibri"/>
              <a:sym typeface="Calibri"/>
            </a:endParaRPr>
          </a:p>
        </p:txBody>
      </p:sp>
      <p:cxnSp>
        <p:nvCxnSpPr>
          <p:cNvPr id="1066" name="Google Shape;1066;p36"/>
          <p:cNvCxnSpPr/>
          <p:nvPr/>
        </p:nvCxnSpPr>
        <p:spPr>
          <a:xfrm>
            <a:off x="3066212" y="3803904"/>
            <a:ext cx="274320" cy="0"/>
          </a:xfrm>
          <a:prstGeom prst="straightConnector1">
            <a:avLst/>
          </a:prstGeom>
          <a:noFill/>
          <a:ln cap="flat" cmpd="sng" w="19050">
            <a:solidFill>
              <a:srgbClr val="8A96A6"/>
            </a:solidFill>
            <a:prstDash val="solid"/>
            <a:round/>
            <a:headEnd len="sm" w="sm" type="none"/>
            <a:tailEnd len="med" w="med" type="triangle"/>
          </a:ln>
        </p:spPr>
      </p:cxnSp>
      <p:sp>
        <p:nvSpPr>
          <p:cNvPr id="1067" name="Google Shape;1067;p36"/>
          <p:cNvSpPr/>
          <p:nvPr/>
        </p:nvSpPr>
        <p:spPr>
          <a:xfrm>
            <a:off x="3395396" y="3118104"/>
            <a:ext cx="2508428" cy="1371600"/>
          </a:xfrm>
          <a:prstGeom prst="roundRect">
            <a:avLst>
              <a:gd fmla="val 4667" name="adj"/>
            </a:avLst>
          </a:prstGeom>
          <a:solidFill>
            <a:srgbClr val="F2F6F9"/>
          </a:solidFill>
          <a:ln cap="flat" cmpd="sng" w="15875">
            <a:solidFill>
              <a:srgbClr val="00A79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8" name="Google Shape;1068;p36"/>
          <p:cNvSpPr/>
          <p:nvPr/>
        </p:nvSpPr>
        <p:spPr>
          <a:xfrm>
            <a:off x="3468548" y="3172968"/>
            <a:ext cx="2362124" cy="6172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D2A5C"/>
              </a:buClr>
              <a:buSzPts val="1250"/>
              <a:buFont typeface="Calibri"/>
              <a:buNone/>
            </a:pPr>
            <a:r>
              <a:rPr b="1" i="0" lang="en-US" sz="1250" u="none" cap="none" strike="noStrike">
                <a:solidFill>
                  <a:srgbClr val="1D2A5C"/>
                </a:solidFill>
                <a:latin typeface="Calibri"/>
                <a:ea typeface="Calibri"/>
                <a:cs typeface="Calibri"/>
                <a:sym typeface="Calibri"/>
              </a:rPr>
              <a:t>Stage 1: head-only</a:t>
            </a:r>
            <a:endParaRPr b="0" i="0" sz="1250" u="none" cap="none" strike="noStrike">
              <a:solidFill>
                <a:schemeClr val="dk1"/>
              </a:solidFill>
              <a:latin typeface="Calibri"/>
              <a:ea typeface="Calibri"/>
              <a:cs typeface="Calibri"/>
              <a:sym typeface="Calibri"/>
            </a:endParaRPr>
          </a:p>
        </p:txBody>
      </p:sp>
      <p:sp>
        <p:nvSpPr>
          <p:cNvPr id="1069" name="Google Shape;1069;p36"/>
          <p:cNvSpPr/>
          <p:nvPr/>
        </p:nvSpPr>
        <p:spPr>
          <a:xfrm>
            <a:off x="3468548" y="3776472"/>
            <a:ext cx="2362124" cy="658368"/>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rgbClr val="5F6B7A"/>
              </a:buClr>
              <a:buSzPts val="950"/>
              <a:buFont typeface="Calibri"/>
              <a:buNone/>
            </a:pPr>
            <a:r>
              <a:rPr b="0" i="0" lang="en-US" sz="950" u="none" cap="none" strike="noStrike">
                <a:solidFill>
                  <a:srgbClr val="5F6B7A"/>
                </a:solidFill>
                <a:latin typeface="Calibri"/>
                <a:ea typeface="Calibri"/>
                <a:cs typeface="Calibri"/>
                <a:sym typeface="Calibri"/>
              </a:rPr>
              <a:t>freeze backbone; 2-3 epochs at lr=1e-3</a:t>
            </a:r>
            <a:endParaRPr b="0" i="0" sz="950" u="none" cap="none" strike="noStrike">
              <a:solidFill>
                <a:schemeClr val="dk1"/>
              </a:solidFill>
              <a:latin typeface="Calibri"/>
              <a:ea typeface="Calibri"/>
              <a:cs typeface="Calibri"/>
              <a:sym typeface="Calibri"/>
            </a:endParaRPr>
          </a:p>
        </p:txBody>
      </p:sp>
      <p:cxnSp>
        <p:nvCxnSpPr>
          <p:cNvPr id="1070" name="Google Shape;1070;p36"/>
          <p:cNvCxnSpPr/>
          <p:nvPr/>
        </p:nvCxnSpPr>
        <p:spPr>
          <a:xfrm>
            <a:off x="5958688" y="3803904"/>
            <a:ext cx="274320" cy="0"/>
          </a:xfrm>
          <a:prstGeom prst="straightConnector1">
            <a:avLst/>
          </a:prstGeom>
          <a:noFill/>
          <a:ln cap="flat" cmpd="sng" w="19050">
            <a:solidFill>
              <a:srgbClr val="8A96A6"/>
            </a:solidFill>
            <a:prstDash val="solid"/>
            <a:round/>
            <a:headEnd len="sm" w="sm" type="none"/>
            <a:tailEnd len="med" w="med" type="triangle"/>
          </a:ln>
        </p:spPr>
      </p:cxnSp>
      <p:sp>
        <p:nvSpPr>
          <p:cNvPr id="1071" name="Google Shape;1071;p36"/>
          <p:cNvSpPr/>
          <p:nvPr/>
        </p:nvSpPr>
        <p:spPr>
          <a:xfrm>
            <a:off x="6287872" y="3118104"/>
            <a:ext cx="2508428" cy="1371600"/>
          </a:xfrm>
          <a:prstGeom prst="roundRect">
            <a:avLst>
              <a:gd fmla="val 4667" name="adj"/>
            </a:avLst>
          </a:prstGeom>
          <a:solidFill>
            <a:srgbClr val="F2F6F9"/>
          </a:solidFill>
          <a:ln cap="flat" cmpd="sng" w="15875">
            <a:solidFill>
              <a:srgbClr val="00A79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2" name="Google Shape;1072;p36"/>
          <p:cNvSpPr/>
          <p:nvPr/>
        </p:nvSpPr>
        <p:spPr>
          <a:xfrm>
            <a:off x="6361024" y="3172968"/>
            <a:ext cx="2362124" cy="6172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D2A5C"/>
              </a:buClr>
              <a:buSzPts val="1250"/>
              <a:buFont typeface="Calibri"/>
              <a:buNone/>
            </a:pPr>
            <a:r>
              <a:rPr b="1" i="0" lang="en-US" sz="1250" u="none" cap="none" strike="noStrike">
                <a:solidFill>
                  <a:srgbClr val="1D2A5C"/>
                </a:solidFill>
                <a:latin typeface="Calibri"/>
                <a:ea typeface="Calibri"/>
                <a:cs typeface="Calibri"/>
                <a:sym typeface="Calibri"/>
              </a:rPr>
              <a:t>Stage 2: unfreeze</a:t>
            </a:r>
            <a:endParaRPr b="0" i="0" sz="1250" u="none" cap="none" strike="noStrike">
              <a:solidFill>
                <a:schemeClr val="dk1"/>
              </a:solidFill>
              <a:latin typeface="Calibri"/>
              <a:ea typeface="Calibri"/>
              <a:cs typeface="Calibri"/>
              <a:sym typeface="Calibri"/>
            </a:endParaRPr>
          </a:p>
        </p:txBody>
      </p:sp>
      <p:sp>
        <p:nvSpPr>
          <p:cNvPr id="1073" name="Google Shape;1073;p36"/>
          <p:cNvSpPr/>
          <p:nvPr/>
        </p:nvSpPr>
        <p:spPr>
          <a:xfrm>
            <a:off x="6361024" y="3776472"/>
            <a:ext cx="2362124" cy="658368"/>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rgbClr val="5F6B7A"/>
              </a:buClr>
              <a:buSzPts val="950"/>
              <a:buFont typeface="Calibri"/>
              <a:buNone/>
            </a:pPr>
            <a:r>
              <a:rPr b="0" i="0" lang="en-US" sz="950" u="none" cap="none" strike="noStrike">
                <a:solidFill>
                  <a:srgbClr val="5F6B7A"/>
                </a:solidFill>
                <a:latin typeface="Calibri"/>
                <a:ea typeface="Calibri"/>
                <a:cs typeface="Calibri"/>
                <a:sym typeface="Calibri"/>
              </a:rPr>
              <a:t>backbone 1e-5 to 1e-4, head 1e-3</a:t>
            </a:r>
            <a:endParaRPr b="0" i="0" sz="950" u="none" cap="none" strike="noStrike">
              <a:solidFill>
                <a:schemeClr val="dk1"/>
              </a:solidFill>
              <a:latin typeface="Calibri"/>
              <a:ea typeface="Calibri"/>
              <a:cs typeface="Calibri"/>
              <a:sym typeface="Calibri"/>
            </a:endParaRPr>
          </a:p>
        </p:txBody>
      </p:sp>
      <p:cxnSp>
        <p:nvCxnSpPr>
          <p:cNvPr id="1074" name="Google Shape;1074;p36"/>
          <p:cNvCxnSpPr/>
          <p:nvPr/>
        </p:nvCxnSpPr>
        <p:spPr>
          <a:xfrm>
            <a:off x="8851163" y="3803904"/>
            <a:ext cx="274320" cy="0"/>
          </a:xfrm>
          <a:prstGeom prst="straightConnector1">
            <a:avLst/>
          </a:prstGeom>
          <a:noFill/>
          <a:ln cap="flat" cmpd="sng" w="19050">
            <a:solidFill>
              <a:srgbClr val="8A96A6"/>
            </a:solidFill>
            <a:prstDash val="solid"/>
            <a:round/>
            <a:headEnd len="sm" w="sm" type="none"/>
            <a:tailEnd len="med" w="med" type="triangle"/>
          </a:ln>
        </p:spPr>
      </p:cxnSp>
      <p:cxnSp>
        <p:nvCxnSpPr>
          <p:cNvPr id="1075" name="Google Shape;1075;p36"/>
          <p:cNvCxnSpPr/>
          <p:nvPr/>
        </p:nvCxnSpPr>
        <p:spPr>
          <a:xfrm>
            <a:off x="7542086" y="4489704"/>
            <a:ext cx="0" cy="274320"/>
          </a:xfrm>
          <a:prstGeom prst="straightConnector1">
            <a:avLst/>
          </a:prstGeom>
          <a:noFill/>
          <a:ln cap="flat" cmpd="sng" w="15875">
            <a:solidFill>
              <a:srgbClr val="E8503A"/>
            </a:solidFill>
            <a:prstDash val="dash"/>
            <a:round/>
            <a:headEnd len="sm" w="sm" type="none"/>
            <a:tailEnd len="sm" w="sm" type="none"/>
          </a:ln>
        </p:spPr>
      </p:cxnSp>
      <p:sp>
        <p:nvSpPr>
          <p:cNvPr id="1076" name="Google Shape;1076;p36"/>
          <p:cNvSpPr/>
          <p:nvPr/>
        </p:nvSpPr>
        <p:spPr>
          <a:xfrm>
            <a:off x="6242152" y="4764024"/>
            <a:ext cx="2599868" cy="475488"/>
          </a:xfrm>
          <a:prstGeom prst="roundRect">
            <a:avLst>
              <a:gd fmla="val 11538" name="adj"/>
            </a:avLst>
          </a:prstGeom>
          <a:solidFill>
            <a:srgbClr val="FDEDEA"/>
          </a:solidFill>
          <a:ln cap="flat" cmpd="sng" w="12700">
            <a:solidFill>
              <a:srgbClr val="E8503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7" name="Google Shape;1077;p36"/>
          <p:cNvSpPr/>
          <p:nvPr/>
        </p:nvSpPr>
        <p:spPr>
          <a:xfrm>
            <a:off x="6287872" y="4764024"/>
            <a:ext cx="2508428" cy="47548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E8503A"/>
              </a:buClr>
              <a:buSzPts val="950"/>
              <a:buFont typeface="Calibri"/>
              <a:buNone/>
            </a:pPr>
            <a:r>
              <a:rPr b="1" i="0" lang="en-US" sz="950" u="none" cap="none" strike="noStrike">
                <a:solidFill>
                  <a:srgbClr val="E8503A"/>
                </a:solidFill>
                <a:latin typeface="Calibri"/>
                <a:ea typeface="Calibri"/>
                <a:cs typeface="Calibri"/>
                <a:sym typeface="Calibri"/>
              </a:rPr>
              <a:t>Uniform lr=1e-3 wipes pre-trained features in one epoch</a:t>
            </a:r>
            <a:endParaRPr b="0" i="0" sz="950" u="none" cap="none" strike="noStrike">
              <a:solidFill>
                <a:schemeClr val="dk1"/>
              </a:solidFill>
              <a:latin typeface="Calibri"/>
              <a:ea typeface="Calibri"/>
              <a:cs typeface="Calibri"/>
              <a:sym typeface="Calibri"/>
            </a:endParaRPr>
          </a:p>
        </p:txBody>
      </p:sp>
      <p:sp>
        <p:nvSpPr>
          <p:cNvPr id="1078" name="Google Shape;1078;p36"/>
          <p:cNvSpPr/>
          <p:nvPr/>
        </p:nvSpPr>
        <p:spPr>
          <a:xfrm>
            <a:off x="9180347" y="3118104"/>
            <a:ext cx="2508428" cy="1371600"/>
          </a:xfrm>
          <a:prstGeom prst="roundRect">
            <a:avLst>
              <a:gd fmla="val 4667" name="adj"/>
            </a:avLst>
          </a:prstGeom>
          <a:solidFill>
            <a:srgbClr val="1D2A5C"/>
          </a:solidFill>
          <a:ln cap="flat" cmpd="sng" w="15875">
            <a:solidFill>
              <a:srgbClr val="00A79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9" name="Google Shape;1079;p36"/>
          <p:cNvSpPr/>
          <p:nvPr/>
        </p:nvSpPr>
        <p:spPr>
          <a:xfrm>
            <a:off x="9253499" y="3172968"/>
            <a:ext cx="2362124" cy="6172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250"/>
              <a:buFont typeface="Calibri"/>
              <a:buNone/>
            </a:pPr>
            <a:r>
              <a:rPr b="1" i="0" lang="en-US" sz="1250" u="none" cap="none" strike="noStrike">
                <a:solidFill>
                  <a:srgbClr val="FFFFFF"/>
                </a:solidFill>
                <a:latin typeface="Calibri"/>
                <a:ea typeface="Calibri"/>
                <a:cs typeface="Calibri"/>
                <a:sym typeface="Calibri"/>
              </a:rPr>
              <a:t>Stop on macro-F1</a:t>
            </a:r>
            <a:endParaRPr b="0" i="0" sz="1250" u="none" cap="none" strike="noStrike">
              <a:solidFill>
                <a:schemeClr val="dk1"/>
              </a:solidFill>
              <a:latin typeface="Calibri"/>
              <a:ea typeface="Calibri"/>
              <a:cs typeface="Calibri"/>
              <a:sym typeface="Calibri"/>
            </a:endParaRPr>
          </a:p>
        </p:txBody>
      </p:sp>
      <p:sp>
        <p:nvSpPr>
          <p:cNvPr id="1080" name="Google Shape;1080;p36"/>
          <p:cNvSpPr/>
          <p:nvPr/>
        </p:nvSpPr>
        <p:spPr>
          <a:xfrm>
            <a:off x="9253499" y="3776472"/>
            <a:ext cx="2362124" cy="658368"/>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rgbClr val="B9C8E8"/>
              </a:buClr>
              <a:buSzPts val="950"/>
              <a:buFont typeface="Calibri"/>
              <a:buNone/>
            </a:pPr>
            <a:r>
              <a:rPr b="0" i="0" lang="en-US" sz="950" u="none" cap="none" strike="noStrike">
                <a:solidFill>
                  <a:srgbClr val="B9C8E8"/>
                </a:solidFill>
                <a:latin typeface="Calibri"/>
                <a:ea typeface="Calibri"/>
                <a:cs typeface="Calibri"/>
                <a:sym typeface="Calibri"/>
              </a:rPr>
              <a:t>patience 3; restore best checkpoint</a:t>
            </a:r>
            <a:endParaRPr b="0" i="0" sz="950" u="none" cap="none" strike="noStrike">
              <a:solidFill>
                <a:schemeClr val="dk1"/>
              </a:solidFill>
              <a:latin typeface="Calibri"/>
              <a:ea typeface="Calibri"/>
              <a:cs typeface="Calibri"/>
              <a:sym typeface="Calibri"/>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085" name="Shape 1085"/>
        <p:cNvGrpSpPr/>
        <p:nvPr/>
      </p:nvGrpSpPr>
      <p:grpSpPr>
        <a:xfrm>
          <a:off x="0" y="0"/>
          <a:ext cx="0" cy="0"/>
          <a:chOff x="0" y="0"/>
          <a:chExt cx="0" cy="0"/>
        </a:xfrm>
      </p:grpSpPr>
      <p:sp>
        <p:nvSpPr>
          <p:cNvPr id="1086" name="Google Shape;1086;p37"/>
          <p:cNvSpPr/>
          <p:nvPr/>
        </p:nvSpPr>
        <p:spPr>
          <a:xfrm>
            <a:off x="502920" y="274320"/>
            <a:ext cx="9646920" cy="56692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D2A5C"/>
              </a:buClr>
              <a:buSzPts val="2700"/>
              <a:buFont typeface="Calibri"/>
              <a:buNone/>
            </a:pPr>
            <a:r>
              <a:rPr b="1" i="0" lang="en-US" sz="2700" u="none" cap="none" strike="noStrike">
                <a:solidFill>
                  <a:srgbClr val="1D2A5C"/>
                </a:solidFill>
                <a:latin typeface="Calibri"/>
                <a:ea typeface="Calibri"/>
                <a:cs typeface="Calibri"/>
                <a:sym typeface="Calibri"/>
              </a:rPr>
              <a:t>The training loop as an artefact</a:t>
            </a:r>
            <a:endParaRPr b="0" i="0" sz="2700" u="none" cap="none" strike="noStrike">
              <a:solidFill>
                <a:schemeClr val="dk1"/>
              </a:solidFill>
              <a:latin typeface="Calibri"/>
              <a:ea typeface="Calibri"/>
              <a:cs typeface="Calibri"/>
              <a:sym typeface="Calibri"/>
            </a:endParaRPr>
          </a:p>
        </p:txBody>
      </p:sp>
      <p:sp>
        <p:nvSpPr>
          <p:cNvPr id="1087" name="Google Shape;1087;p37"/>
          <p:cNvSpPr/>
          <p:nvPr/>
        </p:nvSpPr>
        <p:spPr>
          <a:xfrm>
            <a:off x="502920" y="859536"/>
            <a:ext cx="9646920" cy="31089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F6B7A"/>
              </a:buClr>
              <a:buSzPts val="1250"/>
              <a:buFont typeface="Arial"/>
              <a:buNone/>
            </a:pPr>
            <a:r>
              <a:rPr b="0" i="0" lang="en-US" sz="1250" u="none" cap="none" strike="noStrike">
                <a:solidFill>
                  <a:srgbClr val="5F6B7A"/>
                </a:solidFill>
                <a:latin typeface="Arial"/>
                <a:ea typeface="Arial"/>
                <a:cs typeface="Arial"/>
                <a:sym typeface="Arial"/>
              </a:rPr>
              <a:t>حلقة التدريب كمنتج هندسي</a:t>
            </a:r>
            <a:endParaRPr b="0" i="0" sz="1250" u="none" cap="none" strike="noStrike">
              <a:solidFill>
                <a:schemeClr val="dk1"/>
              </a:solidFill>
              <a:latin typeface="Calibri"/>
              <a:ea typeface="Calibri"/>
              <a:cs typeface="Calibri"/>
              <a:sym typeface="Calibri"/>
            </a:endParaRPr>
          </a:p>
        </p:txBody>
      </p:sp>
      <p:pic>
        <p:nvPicPr>
          <p:cNvPr descr="/sessions/blissful-determined-ritchie/build/assets/sdaia_logo.png" id="1088" name="Google Shape;1088;p37"/>
          <p:cNvPicPr preferRelativeResize="0"/>
          <p:nvPr/>
        </p:nvPicPr>
        <p:blipFill rotWithShape="1">
          <a:blip r:embed="rId3">
            <a:alphaModFix/>
          </a:blip>
          <a:srcRect b="0" l="0" r="0" t="0"/>
          <a:stretch/>
        </p:blipFill>
        <p:spPr>
          <a:xfrm>
            <a:off x="10625328" y="310896"/>
            <a:ext cx="1078992" cy="264111"/>
          </a:xfrm>
          <a:prstGeom prst="rect">
            <a:avLst/>
          </a:prstGeom>
          <a:noFill/>
          <a:ln>
            <a:noFill/>
          </a:ln>
        </p:spPr>
      </p:pic>
      <p:sp>
        <p:nvSpPr>
          <p:cNvPr id="1089" name="Google Shape;1089;p37"/>
          <p:cNvSpPr/>
          <p:nvPr/>
        </p:nvSpPr>
        <p:spPr>
          <a:xfrm>
            <a:off x="502920" y="6528816"/>
            <a:ext cx="8686800"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A79D"/>
              </a:buClr>
              <a:buSzPts val="800"/>
              <a:buFont typeface="Calibri"/>
              <a:buNone/>
            </a:pPr>
            <a:r>
              <a:rPr b="1" i="0" lang="en-US" sz="800" u="none" cap="none" strike="noStrike">
                <a:solidFill>
                  <a:srgbClr val="00A79D"/>
                </a:solidFill>
                <a:latin typeface="Calibri"/>
                <a:ea typeface="Calibri"/>
                <a:cs typeface="Calibri"/>
                <a:sym typeface="Calibri"/>
              </a:rPr>
              <a:t>MODULE 2   </a:t>
            </a:r>
            <a:r>
              <a:rPr b="0" i="0" lang="en-US" sz="800" u="none" cap="none" strike="noStrike">
                <a:solidFill>
                  <a:srgbClr val="8A96A6"/>
                </a:solidFill>
                <a:latin typeface="Calibri"/>
                <a:ea typeface="Calibri"/>
                <a:cs typeface="Calibri"/>
                <a:sym typeface="Calibri"/>
              </a:rPr>
              <a:t>SDA-AIE-212 · Computer Vision Systems Development</a:t>
            </a:r>
            <a:endParaRPr b="0" i="0" sz="800" u="none" cap="none" strike="noStrike">
              <a:solidFill>
                <a:schemeClr val="dk1"/>
              </a:solidFill>
              <a:latin typeface="Calibri"/>
              <a:ea typeface="Calibri"/>
              <a:cs typeface="Calibri"/>
              <a:sym typeface="Calibri"/>
            </a:endParaRPr>
          </a:p>
        </p:txBody>
      </p:sp>
      <p:sp>
        <p:nvSpPr>
          <p:cNvPr id="1090" name="Google Shape;1090;p37"/>
          <p:cNvSpPr/>
          <p:nvPr/>
        </p:nvSpPr>
        <p:spPr>
          <a:xfrm>
            <a:off x="11292840" y="6528816"/>
            <a:ext cx="411480" cy="219456"/>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8A96A6"/>
              </a:buClr>
              <a:buSzPts val="900"/>
              <a:buFont typeface="Calibri"/>
              <a:buNone/>
            </a:pPr>
            <a:r>
              <a:rPr b="0" i="0" lang="en-US" sz="900" u="none" cap="none" strike="noStrike">
                <a:solidFill>
                  <a:srgbClr val="8A96A6"/>
                </a:solidFill>
                <a:latin typeface="Calibri"/>
                <a:ea typeface="Calibri"/>
                <a:cs typeface="Calibri"/>
                <a:sym typeface="Calibri"/>
              </a:rPr>
              <a:t>37</a:t>
            </a:r>
            <a:endParaRPr b="0" i="0" sz="900" u="none" cap="none" strike="noStrike">
              <a:solidFill>
                <a:schemeClr val="dk1"/>
              </a:solidFill>
              <a:latin typeface="Calibri"/>
              <a:ea typeface="Calibri"/>
              <a:cs typeface="Calibri"/>
              <a:sym typeface="Calibri"/>
            </a:endParaRPr>
          </a:p>
        </p:txBody>
      </p:sp>
      <p:sp>
        <p:nvSpPr>
          <p:cNvPr id="1091" name="Google Shape;1091;p37"/>
          <p:cNvSpPr/>
          <p:nvPr/>
        </p:nvSpPr>
        <p:spPr>
          <a:xfrm>
            <a:off x="502920" y="1559052"/>
            <a:ext cx="329184" cy="329184"/>
          </a:xfrm>
          <a:prstGeom prst="ellipse">
            <a:avLst/>
          </a:prstGeom>
          <a:solidFill>
            <a:srgbClr val="00A79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2" name="Google Shape;1092;p37"/>
          <p:cNvSpPr/>
          <p:nvPr/>
        </p:nvSpPr>
        <p:spPr>
          <a:xfrm>
            <a:off x="502920" y="1559052"/>
            <a:ext cx="329184" cy="32918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300"/>
              <a:buFont typeface="Calibri"/>
              <a:buNone/>
            </a:pPr>
            <a:r>
              <a:rPr b="1" i="0" lang="en-US" sz="1300" u="none" cap="none" strike="noStrike">
                <a:solidFill>
                  <a:srgbClr val="FFFFFF"/>
                </a:solidFill>
                <a:latin typeface="Calibri"/>
                <a:ea typeface="Calibri"/>
                <a:cs typeface="Calibri"/>
                <a:sym typeface="Calibri"/>
              </a:rPr>
              <a:t>1</a:t>
            </a:r>
            <a:endParaRPr b="0" i="0" sz="1300" u="none" cap="none" strike="noStrike">
              <a:solidFill>
                <a:schemeClr val="dk1"/>
              </a:solidFill>
              <a:latin typeface="Calibri"/>
              <a:ea typeface="Calibri"/>
              <a:cs typeface="Calibri"/>
              <a:sym typeface="Calibri"/>
            </a:endParaRPr>
          </a:p>
        </p:txBody>
      </p:sp>
      <p:sp>
        <p:nvSpPr>
          <p:cNvPr id="1093" name="Google Shape;1093;p37"/>
          <p:cNvSpPr/>
          <p:nvPr/>
        </p:nvSpPr>
        <p:spPr>
          <a:xfrm>
            <a:off x="1005840" y="1495044"/>
            <a:ext cx="493776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D2A5C"/>
              </a:buClr>
              <a:buSzPts val="1400"/>
              <a:buFont typeface="Calibri"/>
              <a:buNone/>
            </a:pPr>
            <a:r>
              <a:rPr b="1" i="0" lang="en-US" sz="1400" u="none" cap="none" strike="noStrike">
                <a:solidFill>
                  <a:srgbClr val="1D2A5C"/>
                </a:solidFill>
                <a:latin typeface="Calibri"/>
                <a:ea typeface="Calibri"/>
                <a:cs typeface="Calibri"/>
                <a:sym typeface="Calibri"/>
              </a:rPr>
              <a:t>Seed everything, log the seed</a:t>
            </a:r>
            <a:endParaRPr b="0" i="0" sz="1400" u="none" cap="none" strike="noStrike">
              <a:solidFill>
                <a:schemeClr val="dk1"/>
              </a:solidFill>
              <a:latin typeface="Calibri"/>
              <a:ea typeface="Calibri"/>
              <a:cs typeface="Calibri"/>
              <a:sym typeface="Calibri"/>
            </a:endParaRPr>
          </a:p>
        </p:txBody>
      </p:sp>
      <p:sp>
        <p:nvSpPr>
          <p:cNvPr id="1094" name="Google Shape;1094;p37"/>
          <p:cNvSpPr/>
          <p:nvPr/>
        </p:nvSpPr>
        <p:spPr>
          <a:xfrm>
            <a:off x="1005840" y="1796796"/>
            <a:ext cx="4937760" cy="841248"/>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5F6B7A"/>
              </a:buClr>
              <a:buSzPts val="1150"/>
              <a:buFont typeface="Calibri"/>
              <a:buNone/>
            </a:pPr>
            <a:r>
              <a:rPr b="0" i="0" lang="en-US" sz="1150" u="none" cap="none" strike="noStrike">
                <a:solidFill>
                  <a:srgbClr val="5F6B7A"/>
                </a:solidFill>
                <a:latin typeface="Calibri"/>
                <a:ea typeface="Calibri"/>
                <a:cs typeface="Calibri"/>
                <a:sym typeface="Calibri"/>
              </a:rPr>
              <a:t>torch.manual_seed, loader workers, cudnn determinism for eval - reruns must match.</a:t>
            </a:r>
            <a:endParaRPr b="0" i="0" sz="1150" u="none" cap="none" strike="noStrike">
              <a:solidFill>
                <a:schemeClr val="dk1"/>
              </a:solidFill>
              <a:latin typeface="Calibri"/>
              <a:ea typeface="Calibri"/>
              <a:cs typeface="Calibri"/>
              <a:sym typeface="Calibri"/>
            </a:endParaRPr>
          </a:p>
        </p:txBody>
      </p:sp>
      <p:sp>
        <p:nvSpPr>
          <p:cNvPr id="1095" name="Google Shape;1095;p37"/>
          <p:cNvSpPr/>
          <p:nvPr/>
        </p:nvSpPr>
        <p:spPr>
          <a:xfrm>
            <a:off x="502920" y="2747772"/>
            <a:ext cx="329184" cy="329184"/>
          </a:xfrm>
          <a:prstGeom prst="ellipse">
            <a:avLst/>
          </a:prstGeom>
          <a:solidFill>
            <a:srgbClr val="29ABE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6" name="Google Shape;1096;p37"/>
          <p:cNvSpPr/>
          <p:nvPr/>
        </p:nvSpPr>
        <p:spPr>
          <a:xfrm>
            <a:off x="502920" y="2747772"/>
            <a:ext cx="329184" cy="32918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300"/>
              <a:buFont typeface="Calibri"/>
              <a:buNone/>
            </a:pPr>
            <a:r>
              <a:rPr b="1" i="0" lang="en-US" sz="1300" u="none" cap="none" strike="noStrike">
                <a:solidFill>
                  <a:srgbClr val="FFFFFF"/>
                </a:solidFill>
                <a:latin typeface="Calibri"/>
                <a:ea typeface="Calibri"/>
                <a:cs typeface="Calibri"/>
                <a:sym typeface="Calibri"/>
              </a:rPr>
              <a:t>2</a:t>
            </a:r>
            <a:endParaRPr b="0" i="0" sz="1300" u="none" cap="none" strike="noStrike">
              <a:solidFill>
                <a:schemeClr val="dk1"/>
              </a:solidFill>
              <a:latin typeface="Calibri"/>
              <a:ea typeface="Calibri"/>
              <a:cs typeface="Calibri"/>
              <a:sym typeface="Calibri"/>
            </a:endParaRPr>
          </a:p>
        </p:txBody>
      </p:sp>
      <p:sp>
        <p:nvSpPr>
          <p:cNvPr id="1097" name="Google Shape;1097;p37"/>
          <p:cNvSpPr/>
          <p:nvPr/>
        </p:nvSpPr>
        <p:spPr>
          <a:xfrm>
            <a:off x="1005840" y="2683764"/>
            <a:ext cx="493776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D2A5C"/>
              </a:buClr>
              <a:buSzPts val="1400"/>
              <a:buFont typeface="Calibri"/>
              <a:buNone/>
            </a:pPr>
            <a:r>
              <a:rPr b="1" i="0" lang="en-US" sz="1400" u="none" cap="none" strike="noStrike">
                <a:solidFill>
                  <a:srgbClr val="1D2A5C"/>
                </a:solidFill>
                <a:latin typeface="Calibri"/>
                <a:ea typeface="Calibri"/>
                <a:cs typeface="Calibri"/>
                <a:sym typeface="Calibri"/>
              </a:rPr>
              <a:t>Every run writes artefacts</a:t>
            </a:r>
            <a:endParaRPr b="0" i="0" sz="1400" u="none" cap="none" strike="noStrike">
              <a:solidFill>
                <a:schemeClr val="dk1"/>
              </a:solidFill>
              <a:latin typeface="Calibri"/>
              <a:ea typeface="Calibri"/>
              <a:cs typeface="Calibri"/>
              <a:sym typeface="Calibri"/>
            </a:endParaRPr>
          </a:p>
        </p:txBody>
      </p:sp>
      <p:sp>
        <p:nvSpPr>
          <p:cNvPr id="1098" name="Google Shape;1098;p37"/>
          <p:cNvSpPr/>
          <p:nvPr/>
        </p:nvSpPr>
        <p:spPr>
          <a:xfrm>
            <a:off x="1005840" y="2985516"/>
            <a:ext cx="4937760" cy="841248"/>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5F6B7A"/>
              </a:buClr>
              <a:buSzPts val="1150"/>
              <a:buFont typeface="Calibri"/>
              <a:buNone/>
            </a:pPr>
            <a:r>
              <a:rPr b="0" i="0" lang="en-US" sz="1150" u="none" cap="none" strike="noStrike">
                <a:solidFill>
                  <a:srgbClr val="5F6B7A"/>
                </a:solidFill>
                <a:latin typeface="Calibri"/>
                <a:ea typeface="Calibri"/>
                <a:cs typeface="Calibri"/>
                <a:sym typeface="Calibri"/>
              </a:rPr>
              <a:t>Config snapshot, per-epoch metrics CSV, best checkpoint - runs/&lt;name&gt;/ is the record.</a:t>
            </a:r>
            <a:endParaRPr b="0" i="0" sz="1150" u="none" cap="none" strike="noStrike">
              <a:solidFill>
                <a:schemeClr val="dk1"/>
              </a:solidFill>
              <a:latin typeface="Calibri"/>
              <a:ea typeface="Calibri"/>
              <a:cs typeface="Calibri"/>
              <a:sym typeface="Calibri"/>
            </a:endParaRPr>
          </a:p>
        </p:txBody>
      </p:sp>
      <p:sp>
        <p:nvSpPr>
          <p:cNvPr id="1099" name="Google Shape;1099;p37"/>
          <p:cNvSpPr/>
          <p:nvPr/>
        </p:nvSpPr>
        <p:spPr>
          <a:xfrm>
            <a:off x="502920" y="3936492"/>
            <a:ext cx="329184" cy="329184"/>
          </a:xfrm>
          <a:prstGeom prst="ellipse">
            <a:avLst/>
          </a:prstGeom>
          <a:solidFill>
            <a:srgbClr val="F5822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0" name="Google Shape;1100;p37"/>
          <p:cNvSpPr/>
          <p:nvPr/>
        </p:nvSpPr>
        <p:spPr>
          <a:xfrm>
            <a:off x="502920" y="3936492"/>
            <a:ext cx="329184" cy="32918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300"/>
              <a:buFont typeface="Calibri"/>
              <a:buNone/>
            </a:pPr>
            <a:r>
              <a:rPr b="1" i="0" lang="en-US" sz="1300" u="none" cap="none" strike="noStrike">
                <a:solidFill>
                  <a:srgbClr val="FFFFFF"/>
                </a:solidFill>
                <a:latin typeface="Calibri"/>
                <a:ea typeface="Calibri"/>
                <a:cs typeface="Calibri"/>
                <a:sym typeface="Calibri"/>
              </a:rPr>
              <a:t>3</a:t>
            </a:r>
            <a:endParaRPr b="0" i="0" sz="1300" u="none" cap="none" strike="noStrike">
              <a:solidFill>
                <a:schemeClr val="dk1"/>
              </a:solidFill>
              <a:latin typeface="Calibri"/>
              <a:ea typeface="Calibri"/>
              <a:cs typeface="Calibri"/>
              <a:sym typeface="Calibri"/>
            </a:endParaRPr>
          </a:p>
        </p:txBody>
      </p:sp>
      <p:sp>
        <p:nvSpPr>
          <p:cNvPr id="1101" name="Google Shape;1101;p37"/>
          <p:cNvSpPr/>
          <p:nvPr/>
        </p:nvSpPr>
        <p:spPr>
          <a:xfrm>
            <a:off x="1005840" y="3872484"/>
            <a:ext cx="493776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D2A5C"/>
              </a:buClr>
              <a:buSzPts val="1400"/>
              <a:buFont typeface="Calibri"/>
              <a:buNone/>
            </a:pPr>
            <a:r>
              <a:rPr b="1" i="0" lang="en-US" sz="1400" u="none" cap="none" strike="noStrike">
                <a:solidFill>
                  <a:srgbClr val="1D2A5C"/>
                </a:solidFill>
                <a:latin typeface="Calibri"/>
                <a:ea typeface="Calibri"/>
                <a:cs typeface="Calibri"/>
                <a:sym typeface="Calibri"/>
              </a:rPr>
              <a:t>Mixed precision by default</a:t>
            </a:r>
            <a:endParaRPr b="0" i="0" sz="1400" u="none" cap="none" strike="noStrike">
              <a:solidFill>
                <a:schemeClr val="dk1"/>
              </a:solidFill>
              <a:latin typeface="Calibri"/>
              <a:ea typeface="Calibri"/>
              <a:cs typeface="Calibri"/>
              <a:sym typeface="Calibri"/>
            </a:endParaRPr>
          </a:p>
        </p:txBody>
      </p:sp>
      <p:sp>
        <p:nvSpPr>
          <p:cNvPr id="1102" name="Google Shape;1102;p37"/>
          <p:cNvSpPr/>
          <p:nvPr/>
        </p:nvSpPr>
        <p:spPr>
          <a:xfrm>
            <a:off x="1005840" y="4174236"/>
            <a:ext cx="4937760" cy="841248"/>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5F6B7A"/>
              </a:buClr>
              <a:buSzPts val="1150"/>
              <a:buFont typeface="Calibri"/>
              <a:buNone/>
            </a:pPr>
            <a:r>
              <a:rPr b="0" i="0" lang="en-US" sz="1150" u="none" cap="none" strike="noStrike">
                <a:solidFill>
                  <a:srgbClr val="5F6B7A"/>
                </a:solidFill>
                <a:latin typeface="Calibri"/>
                <a:ea typeface="Calibri"/>
                <a:cs typeface="Calibri"/>
                <a:sym typeface="Calibri"/>
              </a:rPr>
              <a:t>autocast + GradScaler halves memory, speeds training ~1.7x on classroom GPUs.</a:t>
            </a:r>
            <a:endParaRPr b="0" i="0" sz="1150" u="none" cap="none" strike="noStrike">
              <a:solidFill>
                <a:schemeClr val="dk1"/>
              </a:solidFill>
              <a:latin typeface="Calibri"/>
              <a:ea typeface="Calibri"/>
              <a:cs typeface="Calibri"/>
              <a:sym typeface="Calibri"/>
            </a:endParaRPr>
          </a:p>
        </p:txBody>
      </p:sp>
      <p:sp>
        <p:nvSpPr>
          <p:cNvPr id="1103" name="Google Shape;1103;p37"/>
          <p:cNvSpPr/>
          <p:nvPr/>
        </p:nvSpPr>
        <p:spPr>
          <a:xfrm>
            <a:off x="502920" y="5125212"/>
            <a:ext cx="329184" cy="329184"/>
          </a:xfrm>
          <a:prstGeom prst="ellipse">
            <a:avLst/>
          </a:prstGeom>
          <a:solidFill>
            <a:srgbClr val="8DC63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4" name="Google Shape;1104;p37"/>
          <p:cNvSpPr/>
          <p:nvPr/>
        </p:nvSpPr>
        <p:spPr>
          <a:xfrm>
            <a:off x="502920" y="5125212"/>
            <a:ext cx="329184" cy="32918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300"/>
              <a:buFont typeface="Calibri"/>
              <a:buNone/>
            </a:pPr>
            <a:r>
              <a:rPr b="1" i="0" lang="en-US" sz="1300" u="none" cap="none" strike="noStrike">
                <a:solidFill>
                  <a:srgbClr val="FFFFFF"/>
                </a:solidFill>
                <a:latin typeface="Calibri"/>
                <a:ea typeface="Calibri"/>
                <a:cs typeface="Calibri"/>
                <a:sym typeface="Calibri"/>
              </a:rPr>
              <a:t>4</a:t>
            </a:r>
            <a:endParaRPr b="0" i="0" sz="1300" u="none" cap="none" strike="noStrike">
              <a:solidFill>
                <a:schemeClr val="dk1"/>
              </a:solidFill>
              <a:latin typeface="Calibri"/>
              <a:ea typeface="Calibri"/>
              <a:cs typeface="Calibri"/>
              <a:sym typeface="Calibri"/>
            </a:endParaRPr>
          </a:p>
        </p:txBody>
      </p:sp>
      <p:sp>
        <p:nvSpPr>
          <p:cNvPr id="1105" name="Google Shape;1105;p37"/>
          <p:cNvSpPr/>
          <p:nvPr/>
        </p:nvSpPr>
        <p:spPr>
          <a:xfrm>
            <a:off x="1005840" y="5061204"/>
            <a:ext cx="493776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D2A5C"/>
              </a:buClr>
              <a:buSzPts val="1400"/>
              <a:buFont typeface="Calibri"/>
              <a:buNone/>
            </a:pPr>
            <a:r>
              <a:rPr b="1" i="0" lang="en-US" sz="1400" u="none" cap="none" strike="noStrike">
                <a:solidFill>
                  <a:srgbClr val="1D2A5C"/>
                </a:solidFill>
                <a:latin typeface="Calibri"/>
                <a:ea typeface="Calibri"/>
                <a:cs typeface="Calibri"/>
                <a:sym typeface="Calibri"/>
              </a:rPr>
              <a:t>Per-class metrics, day one</a:t>
            </a:r>
            <a:endParaRPr b="0" i="0" sz="1400" u="none" cap="none" strike="noStrike">
              <a:solidFill>
                <a:schemeClr val="dk1"/>
              </a:solidFill>
              <a:latin typeface="Calibri"/>
              <a:ea typeface="Calibri"/>
              <a:cs typeface="Calibri"/>
              <a:sym typeface="Calibri"/>
            </a:endParaRPr>
          </a:p>
        </p:txBody>
      </p:sp>
      <p:sp>
        <p:nvSpPr>
          <p:cNvPr id="1106" name="Google Shape;1106;p37"/>
          <p:cNvSpPr/>
          <p:nvPr/>
        </p:nvSpPr>
        <p:spPr>
          <a:xfrm>
            <a:off x="1005840" y="5362956"/>
            <a:ext cx="4937760" cy="841248"/>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5F6B7A"/>
              </a:buClr>
              <a:buSzPts val="1150"/>
              <a:buFont typeface="Calibri"/>
              <a:buNone/>
            </a:pPr>
            <a:r>
              <a:rPr b="0" i="0" lang="en-US" sz="1150" u="none" cap="none" strike="noStrike">
                <a:solidFill>
                  <a:srgbClr val="5F6B7A"/>
                </a:solidFill>
                <a:latin typeface="Calibri"/>
                <a:ea typeface="Calibri"/>
                <a:cs typeface="Calibri"/>
                <a:sym typeface="Calibri"/>
              </a:rPr>
              <a:t>Aggregate accuracy hides the reject class: 2-4% of data, 90% of business value.</a:t>
            </a:r>
            <a:endParaRPr b="0" i="0" sz="1150" u="none" cap="none" strike="noStrike">
              <a:solidFill>
                <a:schemeClr val="dk1"/>
              </a:solidFill>
              <a:latin typeface="Calibri"/>
              <a:ea typeface="Calibri"/>
              <a:cs typeface="Calibri"/>
              <a:sym typeface="Calibri"/>
            </a:endParaRPr>
          </a:p>
        </p:txBody>
      </p:sp>
      <p:cxnSp>
        <p:nvCxnSpPr>
          <p:cNvPr id="1107" name="Google Shape;1107;p37"/>
          <p:cNvCxnSpPr/>
          <p:nvPr/>
        </p:nvCxnSpPr>
        <p:spPr>
          <a:xfrm>
            <a:off x="7573975" y="2514417"/>
            <a:ext cx="867948" cy="950647"/>
          </a:xfrm>
          <a:prstGeom prst="straightConnector1">
            <a:avLst/>
          </a:prstGeom>
          <a:noFill/>
          <a:ln cap="flat" cmpd="sng" w="15875">
            <a:solidFill>
              <a:srgbClr val="D9E2EA"/>
            </a:solidFill>
            <a:prstDash val="solid"/>
            <a:round/>
            <a:headEnd len="sm" w="sm" type="none"/>
            <a:tailEnd len="sm" w="sm" type="none"/>
          </a:ln>
        </p:spPr>
      </p:cxnSp>
      <p:sp>
        <p:nvSpPr>
          <p:cNvPr id="1108" name="Google Shape;1108;p37"/>
          <p:cNvSpPr/>
          <p:nvPr/>
        </p:nvSpPr>
        <p:spPr>
          <a:xfrm>
            <a:off x="6888175" y="1728033"/>
            <a:ext cx="1371600" cy="786384"/>
          </a:xfrm>
          <a:prstGeom prst="roundRect">
            <a:avLst>
              <a:gd fmla="val 8140" name="adj"/>
            </a:avLst>
          </a:prstGeom>
          <a:solidFill>
            <a:srgbClr val="F2F6F9"/>
          </a:solidFill>
          <a:ln cap="flat" cmpd="sng" w="15875">
            <a:solidFill>
              <a:srgbClr val="00A79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9" name="Google Shape;1109;p37"/>
          <p:cNvSpPr/>
          <p:nvPr/>
        </p:nvSpPr>
        <p:spPr>
          <a:xfrm>
            <a:off x="6952183" y="1764609"/>
            <a:ext cx="1243584" cy="39319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D2A5C"/>
              </a:buClr>
              <a:buSzPts val="1150"/>
              <a:buFont typeface="Calibri"/>
              <a:buNone/>
            </a:pPr>
            <a:r>
              <a:rPr b="1" i="0" lang="en-US" sz="1150" u="none" cap="none" strike="noStrike">
                <a:solidFill>
                  <a:srgbClr val="1D2A5C"/>
                </a:solidFill>
                <a:latin typeface="Calibri"/>
                <a:ea typeface="Calibri"/>
                <a:cs typeface="Calibri"/>
                <a:sym typeface="Calibri"/>
              </a:rPr>
              <a:t>state_dict</a:t>
            </a:r>
            <a:endParaRPr b="0" i="0" sz="1150" u="none" cap="none" strike="noStrike">
              <a:solidFill>
                <a:schemeClr val="dk1"/>
              </a:solidFill>
              <a:latin typeface="Calibri"/>
              <a:ea typeface="Calibri"/>
              <a:cs typeface="Calibri"/>
              <a:sym typeface="Calibri"/>
            </a:endParaRPr>
          </a:p>
        </p:txBody>
      </p:sp>
      <p:sp>
        <p:nvSpPr>
          <p:cNvPr id="1110" name="Google Shape;1110;p37"/>
          <p:cNvSpPr/>
          <p:nvPr/>
        </p:nvSpPr>
        <p:spPr>
          <a:xfrm>
            <a:off x="6952183" y="2121225"/>
            <a:ext cx="1243584" cy="353873"/>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rgbClr val="5F6B7A"/>
              </a:buClr>
              <a:buSzPts val="900"/>
              <a:buFont typeface="Calibri"/>
              <a:buNone/>
            </a:pPr>
            <a:r>
              <a:rPr b="0" i="0" lang="en-US" sz="900" u="none" cap="none" strike="noStrike">
                <a:solidFill>
                  <a:srgbClr val="5F6B7A"/>
                </a:solidFill>
                <a:latin typeface="Calibri"/>
                <a:ea typeface="Calibri"/>
                <a:cs typeface="Calibri"/>
                <a:sym typeface="Calibri"/>
              </a:rPr>
              <a:t>weights</a:t>
            </a:r>
            <a:endParaRPr b="0" i="0" sz="900" u="none" cap="none" strike="noStrike">
              <a:solidFill>
                <a:schemeClr val="dk1"/>
              </a:solidFill>
              <a:latin typeface="Calibri"/>
              <a:ea typeface="Calibri"/>
              <a:cs typeface="Calibri"/>
              <a:sym typeface="Calibri"/>
            </a:endParaRPr>
          </a:p>
        </p:txBody>
      </p:sp>
      <p:cxnSp>
        <p:nvCxnSpPr>
          <p:cNvPr id="1111" name="Google Shape;1111;p37"/>
          <p:cNvCxnSpPr/>
          <p:nvPr/>
        </p:nvCxnSpPr>
        <p:spPr>
          <a:xfrm flipH="1">
            <a:off x="9752076" y="2514417"/>
            <a:ext cx="867948" cy="950647"/>
          </a:xfrm>
          <a:prstGeom prst="straightConnector1">
            <a:avLst/>
          </a:prstGeom>
          <a:noFill/>
          <a:ln cap="flat" cmpd="sng" w="15875">
            <a:solidFill>
              <a:srgbClr val="D9E2EA"/>
            </a:solidFill>
            <a:prstDash val="solid"/>
            <a:round/>
            <a:headEnd len="sm" w="sm" type="none"/>
            <a:tailEnd len="sm" w="sm" type="none"/>
          </a:ln>
        </p:spPr>
      </p:cxnSp>
      <p:sp>
        <p:nvSpPr>
          <p:cNvPr id="1112" name="Google Shape;1112;p37"/>
          <p:cNvSpPr/>
          <p:nvPr/>
        </p:nvSpPr>
        <p:spPr>
          <a:xfrm>
            <a:off x="9781337" y="1728033"/>
            <a:ext cx="1371600" cy="786384"/>
          </a:xfrm>
          <a:prstGeom prst="roundRect">
            <a:avLst>
              <a:gd fmla="val 8140" name="adj"/>
            </a:avLst>
          </a:prstGeom>
          <a:solidFill>
            <a:srgbClr val="F2F6F9"/>
          </a:solidFill>
          <a:ln cap="flat" cmpd="sng" w="15875">
            <a:solidFill>
              <a:srgbClr val="29ABE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3" name="Google Shape;1113;p37"/>
          <p:cNvSpPr/>
          <p:nvPr/>
        </p:nvSpPr>
        <p:spPr>
          <a:xfrm>
            <a:off x="9845345" y="1764609"/>
            <a:ext cx="1243584" cy="39319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D2A5C"/>
              </a:buClr>
              <a:buSzPts val="1150"/>
              <a:buFont typeface="Calibri"/>
              <a:buNone/>
            </a:pPr>
            <a:r>
              <a:rPr b="1" i="0" lang="en-US" sz="1150" u="none" cap="none" strike="noStrike">
                <a:solidFill>
                  <a:srgbClr val="1D2A5C"/>
                </a:solidFill>
                <a:latin typeface="Calibri"/>
                <a:ea typeface="Calibri"/>
                <a:cs typeface="Calibri"/>
                <a:sym typeface="Calibri"/>
              </a:rPr>
              <a:t>classes</a:t>
            </a:r>
            <a:endParaRPr b="0" i="0" sz="1150" u="none" cap="none" strike="noStrike">
              <a:solidFill>
                <a:schemeClr val="dk1"/>
              </a:solidFill>
              <a:latin typeface="Calibri"/>
              <a:ea typeface="Calibri"/>
              <a:cs typeface="Calibri"/>
              <a:sym typeface="Calibri"/>
            </a:endParaRPr>
          </a:p>
        </p:txBody>
      </p:sp>
      <p:sp>
        <p:nvSpPr>
          <p:cNvPr id="1114" name="Google Shape;1114;p37"/>
          <p:cNvSpPr/>
          <p:nvPr/>
        </p:nvSpPr>
        <p:spPr>
          <a:xfrm>
            <a:off x="9845345" y="2121225"/>
            <a:ext cx="1243584" cy="353873"/>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rgbClr val="5F6B7A"/>
              </a:buClr>
              <a:buSzPts val="900"/>
              <a:buFont typeface="Calibri"/>
              <a:buNone/>
            </a:pPr>
            <a:r>
              <a:rPr b="0" i="0" lang="en-US" sz="900" u="none" cap="none" strike="noStrike">
                <a:solidFill>
                  <a:srgbClr val="5F6B7A"/>
                </a:solidFill>
                <a:latin typeface="Calibri"/>
                <a:ea typeface="Calibri"/>
                <a:cs typeface="Calibri"/>
                <a:sym typeface="Calibri"/>
              </a:rPr>
              <a:t>GRADES order</a:t>
            </a:r>
            <a:endParaRPr b="0" i="0" sz="900" u="none" cap="none" strike="noStrike">
              <a:solidFill>
                <a:schemeClr val="dk1"/>
              </a:solidFill>
              <a:latin typeface="Calibri"/>
              <a:ea typeface="Calibri"/>
              <a:cs typeface="Calibri"/>
              <a:sym typeface="Calibri"/>
            </a:endParaRPr>
          </a:p>
        </p:txBody>
      </p:sp>
      <p:cxnSp>
        <p:nvCxnSpPr>
          <p:cNvPr id="1115" name="Google Shape;1115;p37"/>
          <p:cNvCxnSpPr/>
          <p:nvPr/>
        </p:nvCxnSpPr>
        <p:spPr>
          <a:xfrm flipH="1" rot="10800000">
            <a:off x="7573975" y="3872484"/>
            <a:ext cx="867948" cy="950647"/>
          </a:xfrm>
          <a:prstGeom prst="straightConnector1">
            <a:avLst/>
          </a:prstGeom>
          <a:noFill/>
          <a:ln cap="flat" cmpd="sng" w="15875">
            <a:solidFill>
              <a:srgbClr val="D9E2EA"/>
            </a:solidFill>
            <a:prstDash val="solid"/>
            <a:round/>
            <a:headEnd len="sm" w="sm" type="none"/>
            <a:tailEnd len="sm" w="sm" type="none"/>
          </a:ln>
        </p:spPr>
      </p:cxnSp>
      <p:sp>
        <p:nvSpPr>
          <p:cNvPr id="1116" name="Google Shape;1116;p37"/>
          <p:cNvSpPr/>
          <p:nvPr/>
        </p:nvSpPr>
        <p:spPr>
          <a:xfrm>
            <a:off x="6888175" y="5230551"/>
            <a:ext cx="1371600" cy="786384"/>
          </a:xfrm>
          <a:prstGeom prst="roundRect">
            <a:avLst>
              <a:gd fmla="val 8140" name="adj"/>
            </a:avLst>
          </a:prstGeom>
          <a:solidFill>
            <a:srgbClr val="F2F6F9"/>
          </a:solidFill>
          <a:ln cap="flat" cmpd="sng" w="15875">
            <a:solidFill>
              <a:srgbClr val="F5822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7" name="Google Shape;1117;p37"/>
          <p:cNvSpPr/>
          <p:nvPr/>
        </p:nvSpPr>
        <p:spPr>
          <a:xfrm>
            <a:off x="6952183" y="5267127"/>
            <a:ext cx="1243584" cy="39319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D2A5C"/>
              </a:buClr>
              <a:buSzPts val="1150"/>
              <a:buFont typeface="Calibri"/>
              <a:buNone/>
            </a:pPr>
            <a:r>
              <a:rPr b="1" i="0" lang="en-US" sz="1150" u="none" cap="none" strike="noStrike">
                <a:solidFill>
                  <a:srgbClr val="1D2A5C"/>
                </a:solidFill>
                <a:latin typeface="Calibri"/>
                <a:ea typeface="Calibri"/>
                <a:cs typeface="Calibri"/>
                <a:sym typeface="Calibri"/>
              </a:rPr>
              <a:t>contract</a:t>
            </a:r>
            <a:endParaRPr b="0" i="0" sz="1150" u="none" cap="none" strike="noStrike">
              <a:solidFill>
                <a:schemeClr val="dk1"/>
              </a:solidFill>
              <a:latin typeface="Calibri"/>
              <a:ea typeface="Calibri"/>
              <a:cs typeface="Calibri"/>
              <a:sym typeface="Calibri"/>
            </a:endParaRPr>
          </a:p>
        </p:txBody>
      </p:sp>
      <p:sp>
        <p:nvSpPr>
          <p:cNvPr id="1118" name="Google Shape;1118;p37"/>
          <p:cNvSpPr/>
          <p:nvPr/>
        </p:nvSpPr>
        <p:spPr>
          <a:xfrm>
            <a:off x="6952183" y="5623743"/>
            <a:ext cx="1243584" cy="353873"/>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rgbClr val="5F6B7A"/>
              </a:buClr>
              <a:buSzPts val="900"/>
              <a:buFont typeface="Calibri"/>
              <a:buNone/>
            </a:pPr>
            <a:r>
              <a:rPr b="0" i="0" lang="en-US" sz="900" u="none" cap="none" strike="noStrike">
                <a:solidFill>
                  <a:srgbClr val="5F6B7A"/>
                </a:solidFill>
                <a:latin typeface="Calibri"/>
                <a:ea typeface="Calibri"/>
                <a:cs typeface="Calibri"/>
                <a:sym typeface="Calibri"/>
              </a:rPr>
              <a:t>transforms.py@v1</a:t>
            </a:r>
            <a:endParaRPr b="0" i="0" sz="900" u="none" cap="none" strike="noStrike">
              <a:solidFill>
                <a:schemeClr val="dk1"/>
              </a:solidFill>
              <a:latin typeface="Calibri"/>
              <a:ea typeface="Calibri"/>
              <a:cs typeface="Calibri"/>
              <a:sym typeface="Calibri"/>
            </a:endParaRPr>
          </a:p>
        </p:txBody>
      </p:sp>
      <p:cxnSp>
        <p:nvCxnSpPr>
          <p:cNvPr id="1119" name="Google Shape;1119;p37"/>
          <p:cNvCxnSpPr/>
          <p:nvPr/>
        </p:nvCxnSpPr>
        <p:spPr>
          <a:xfrm rot="10800000">
            <a:off x="9752076" y="3872484"/>
            <a:ext cx="867948" cy="950647"/>
          </a:xfrm>
          <a:prstGeom prst="straightConnector1">
            <a:avLst/>
          </a:prstGeom>
          <a:noFill/>
          <a:ln cap="flat" cmpd="sng" w="15875">
            <a:solidFill>
              <a:srgbClr val="D9E2EA"/>
            </a:solidFill>
            <a:prstDash val="solid"/>
            <a:round/>
            <a:headEnd len="sm" w="sm" type="none"/>
            <a:tailEnd len="sm" w="sm" type="none"/>
          </a:ln>
        </p:spPr>
      </p:cxnSp>
      <p:sp>
        <p:nvSpPr>
          <p:cNvPr id="1120" name="Google Shape;1120;p37"/>
          <p:cNvSpPr/>
          <p:nvPr/>
        </p:nvSpPr>
        <p:spPr>
          <a:xfrm>
            <a:off x="9781337" y="5230551"/>
            <a:ext cx="1371600" cy="786384"/>
          </a:xfrm>
          <a:prstGeom prst="roundRect">
            <a:avLst>
              <a:gd fmla="val 8140" name="adj"/>
            </a:avLst>
          </a:prstGeom>
          <a:solidFill>
            <a:srgbClr val="F2F6F9"/>
          </a:solidFill>
          <a:ln cap="flat" cmpd="sng" w="15875">
            <a:solidFill>
              <a:srgbClr val="8DC63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1" name="Google Shape;1121;p37"/>
          <p:cNvSpPr/>
          <p:nvPr/>
        </p:nvSpPr>
        <p:spPr>
          <a:xfrm>
            <a:off x="9845345" y="5267127"/>
            <a:ext cx="1243584" cy="39319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D2A5C"/>
              </a:buClr>
              <a:buSzPts val="1150"/>
              <a:buFont typeface="Calibri"/>
              <a:buNone/>
            </a:pPr>
            <a:r>
              <a:rPr b="1" i="0" lang="en-US" sz="1150" u="none" cap="none" strike="noStrike">
                <a:solidFill>
                  <a:srgbClr val="1D2A5C"/>
                </a:solidFill>
                <a:latin typeface="Calibri"/>
                <a:ea typeface="Calibri"/>
                <a:cs typeface="Calibri"/>
                <a:sym typeface="Calibri"/>
              </a:rPr>
              <a:t>val_metrics</a:t>
            </a:r>
            <a:endParaRPr b="0" i="0" sz="1150" u="none" cap="none" strike="noStrike">
              <a:solidFill>
                <a:schemeClr val="dk1"/>
              </a:solidFill>
              <a:latin typeface="Calibri"/>
              <a:ea typeface="Calibri"/>
              <a:cs typeface="Calibri"/>
              <a:sym typeface="Calibri"/>
            </a:endParaRPr>
          </a:p>
        </p:txBody>
      </p:sp>
      <p:sp>
        <p:nvSpPr>
          <p:cNvPr id="1122" name="Google Shape;1122;p37"/>
          <p:cNvSpPr/>
          <p:nvPr/>
        </p:nvSpPr>
        <p:spPr>
          <a:xfrm>
            <a:off x="9845345" y="5623743"/>
            <a:ext cx="1243584" cy="353873"/>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rgbClr val="5F6B7A"/>
              </a:buClr>
              <a:buSzPts val="900"/>
              <a:buFont typeface="Calibri"/>
              <a:buNone/>
            </a:pPr>
            <a:r>
              <a:rPr b="0" i="0" lang="en-US" sz="900" u="none" cap="none" strike="noStrike">
                <a:solidFill>
                  <a:srgbClr val="5F6B7A"/>
                </a:solidFill>
                <a:latin typeface="Calibri"/>
                <a:ea typeface="Calibri"/>
                <a:cs typeface="Calibri"/>
                <a:sym typeface="Calibri"/>
              </a:rPr>
              <a:t>per-class</a:t>
            </a:r>
            <a:endParaRPr b="0" i="0" sz="900" u="none" cap="none" strike="noStrike">
              <a:solidFill>
                <a:schemeClr val="dk1"/>
              </a:solidFill>
              <a:latin typeface="Calibri"/>
              <a:ea typeface="Calibri"/>
              <a:cs typeface="Calibri"/>
              <a:sym typeface="Calibri"/>
            </a:endParaRPr>
          </a:p>
        </p:txBody>
      </p:sp>
      <p:sp>
        <p:nvSpPr>
          <p:cNvPr id="1123" name="Google Shape;1123;p37"/>
          <p:cNvSpPr/>
          <p:nvPr/>
        </p:nvSpPr>
        <p:spPr>
          <a:xfrm>
            <a:off x="8289036" y="3415284"/>
            <a:ext cx="1463040" cy="914400"/>
          </a:xfrm>
          <a:prstGeom prst="roundRect">
            <a:avLst>
              <a:gd fmla="val 9000" name="adj"/>
            </a:avLst>
          </a:prstGeom>
          <a:solidFill>
            <a:srgbClr val="00A79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4" name="Google Shape;1124;p37"/>
          <p:cNvSpPr/>
          <p:nvPr/>
        </p:nvSpPr>
        <p:spPr>
          <a:xfrm>
            <a:off x="8353044" y="3451860"/>
            <a:ext cx="1335024" cy="5029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300"/>
              <a:buFont typeface="Calibri"/>
              <a:buNone/>
            </a:pPr>
            <a:r>
              <a:rPr b="1" i="0" lang="en-US" sz="1300" u="none" cap="none" strike="noStrike">
                <a:solidFill>
                  <a:srgbClr val="FFFFFF"/>
                </a:solidFill>
                <a:latin typeface="Calibri"/>
                <a:ea typeface="Calibri"/>
                <a:cs typeface="Calibri"/>
                <a:sym typeface="Calibri"/>
              </a:rPr>
              <a:t>best.pt</a:t>
            </a:r>
            <a:endParaRPr b="0" i="0" sz="1300" u="none" cap="none" strike="noStrike">
              <a:solidFill>
                <a:schemeClr val="dk1"/>
              </a:solidFill>
              <a:latin typeface="Calibri"/>
              <a:ea typeface="Calibri"/>
              <a:cs typeface="Calibri"/>
              <a:sym typeface="Calibri"/>
            </a:endParaRPr>
          </a:p>
        </p:txBody>
      </p:sp>
      <p:sp>
        <p:nvSpPr>
          <p:cNvPr id="1125" name="Google Shape;1125;p37"/>
          <p:cNvSpPr/>
          <p:nvPr/>
        </p:nvSpPr>
        <p:spPr>
          <a:xfrm>
            <a:off x="8353044" y="3890772"/>
            <a:ext cx="1335024" cy="384048"/>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rgbClr val="D4F1EE"/>
              </a:buClr>
              <a:buSzPts val="900"/>
              <a:buFont typeface="Calibri"/>
              <a:buNone/>
            </a:pPr>
            <a:r>
              <a:rPr b="0" i="0" lang="en-US" sz="900" u="none" cap="none" strike="noStrike">
                <a:solidFill>
                  <a:srgbClr val="D4F1EE"/>
                </a:solidFill>
                <a:latin typeface="Calibri"/>
                <a:ea typeface="Calibri"/>
                <a:cs typeface="Calibri"/>
                <a:sym typeface="Calibri"/>
              </a:rPr>
              <a:t>servable ckpt</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130" name="Shape 1130"/>
        <p:cNvGrpSpPr/>
        <p:nvPr/>
      </p:nvGrpSpPr>
      <p:grpSpPr>
        <a:xfrm>
          <a:off x="0" y="0"/>
          <a:ext cx="0" cy="0"/>
          <a:chOff x="0" y="0"/>
          <a:chExt cx="0" cy="0"/>
        </a:xfrm>
      </p:grpSpPr>
      <p:sp>
        <p:nvSpPr>
          <p:cNvPr id="1131" name="Google Shape;1131;p38"/>
          <p:cNvSpPr/>
          <p:nvPr/>
        </p:nvSpPr>
        <p:spPr>
          <a:xfrm>
            <a:off x="502920" y="274320"/>
            <a:ext cx="9646920" cy="56692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D2A5C"/>
              </a:buClr>
              <a:buSzPts val="2700"/>
              <a:buFont typeface="Calibri"/>
              <a:buNone/>
            </a:pPr>
            <a:r>
              <a:rPr b="1" i="0" lang="en-US" sz="2700" u="none" cap="none" strike="noStrike">
                <a:solidFill>
                  <a:srgbClr val="1D2A5C"/>
                </a:solidFill>
                <a:latin typeface="Calibri"/>
                <a:ea typeface="Calibri"/>
                <a:cs typeface="Calibri"/>
                <a:sym typeface="Calibri"/>
              </a:rPr>
              <a:t>Reading training curves</a:t>
            </a:r>
            <a:endParaRPr b="0" i="0" sz="2700" u="none" cap="none" strike="noStrike">
              <a:solidFill>
                <a:schemeClr val="dk1"/>
              </a:solidFill>
              <a:latin typeface="Calibri"/>
              <a:ea typeface="Calibri"/>
              <a:cs typeface="Calibri"/>
              <a:sym typeface="Calibri"/>
            </a:endParaRPr>
          </a:p>
        </p:txBody>
      </p:sp>
      <p:sp>
        <p:nvSpPr>
          <p:cNvPr id="1132" name="Google Shape;1132;p38"/>
          <p:cNvSpPr/>
          <p:nvPr/>
        </p:nvSpPr>
        <p:spPr>
          <a:xfrm>
            <a:off x="502920" y="859536"/>
            <a:ext cx="9646920" cy="31089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F6B7A"/>
              </a:buClr>
              <a:buSzPts val="1250"/>
              <a:buFont typeface="Arial"/>
              <a:buNone/>
            </a:pPr>
            <a:r>
              <a:rPr b="0" i="0" lang="en-US" sz="1250" u="none" cap="none" strike="noStrike">
                <a:solidFill>
                  <a:srgbClr val="5F6B7A"/>
                </a:solidFill>
                <a:latin typeface="Arial"/>
                <a:ea typeface="Arial"/>
                <a:cs typeface="Arial"/>
                <a:sym typeface="Arial"/>
              </a:rPr>
              <a:t>قراءة منحنيات التدريب</a:t>
            </a:r>
            <a:endParaRPr b="0" i="0" sz="1250" u="none" cap="none" strike="noStrike">
              <a:solidFill>
                <a:schemeClr val="dk1"/>
              </a:solidFill>
              <a:latin typeface="Calibri"/>
              <a:ea typeface="Calibri"/>
              <a:cs typeface="Calibri"/>
              <a:sym typeface="Calibri"/>
            </a:endParaRPr>
          </a:p>
        </p:txBody>
      </p:sp>
      <p:pic>
        <p:nvPicPr>
          <p:cNvPr descr="/sessions/blissful-determined-ritchie/build/assets/sdaia_logo.png" id="1133" name="Google Shape;1133;p38"/>
          <p:cNvPicPr preferRelativeResize="0"/>
          <p:nvPr/>
        </p:nvPicPr>
        <p:blipFill rotWithShape="1">
          <a:blip r:embed="rId3">
            <a:alphaModFix/>
          </a:blip>
          <a:srcRect b="0" l="0" r="0" t="0"/>
          <a:stretch/>
        </p:blipFill>
        <p:spPr>
          <a:xfrm>
            <a:off x="10625328" y="310896"/>
            <a:ext cx="1078992" cy="264111"/>
          </a:xfrm>
          <a:prstGeom prst="rect">
            <a:avLst/>
          </a:prstGeom>
          <a:noFill/>
          <a:ln>
            <a:noFill/>
          </a:ln>
        </p:spPr>
      </p:pic>
      <p:sp>
        <p:nvSpPr>
          <p:cNvPr id="1134" name="Google Shape;1134;p38"/>
          <p:cNvSpPr/>
          <p:nvPr/>
        </p:nvSpPr>
        <p:spPr>
          <a:xfrm>
            <a:off x="502920" y="6528816"/>
            <a:ext cx="8686800"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A79D"/>
              </a:buClr>
              <a:buSzPts val="800"/>
              <a:buFont typeface="Calibri"/>
              <a:buNone/>
            </a:pPr>
            <a:r>
              <a:rPr b="1" i="0" lang="en-US" sz="800" u="none" cap="none" strike="noStrike">
                <a:solidFill>
                  <a:srgbClr val="00A79D"/>
                </a:solidFill>
                <a:latin typeface="Calibri"/>
                <a:ea typeface="Calibri"/>
                <a:cs typeface="Calibri"/>
                <a:sym typeface="Calibri"/>
              </a:rPr>
              <a:t>MODULE 2   </a:t>
            </a:r>
            <a:r>
              <a:rPr b="0" i="0" lang="en-US" sz="800" u="none" cap="none" strike="noStrike">
                <a:solidFill>
                  <a:srgbClr val="8A96A6"/>
                </a:solidFill>
                <a:latin typeface="Calibri"/>
                <a:ea typeface="Calibri"/>
                <a:cs typeface="Calibri"/>
                <a:sym typeface="Calibri"/>
              </a:rPr>
              <a:t>SDA-AIE-212 · Computer Vision Systems Development</a:t>
            </a:r>
            <a:endParaRPr b="0" i="0" sz="800" u="none" cap="none" strike="noStrike">
              <a:solidFill>
                <a:schemeClr val="dk1"/>
              </a:solidFill>
              <a:latin typeface="Calibri"/>
              <a:ea typeface="Calibri"/>
              <a:cs typeface="Calibri"/>
              <a:sym typeface="Calibri"/>
            </a:endParaRPr>
          </a:p>
        </p:txBody>
      </p:sp>
      <p:sp>
        <p:nvSpPr>
          <p:cNvPr id="1135" name="Google Shape;1135;p38"/>
          <p:cNvSpPr/>
          <p:nvPr/>
        </p:nvSpPr>
        <p:spPr>
          <a:xfrm>
            <a:off x="11292840" y="6528816"/>
            <a:ext cx="411480" cy="219456"/>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8A96A6"/>
              </a:buClr>
              <a:buSzPts val="900"/>
              <a:buFont typeface="Calibri"/>
              <a:buNone/>
            </a:pPr>
            <a:r>
              <a:rPr b="0" i="0" lang="en-US" sz="900" u="none" cap="none" strike="noStrike">
                <a:solidFill>
                  <a:srgbClr val="8A96A6"/>
                </a:solidFill>
                <a:latin typeface="Calibri"/>
                <a:ea typeface="Calibri"/>
                <a:cs typeface="Calibri"/>
                <a:sym typeface="Calibri"/>
              </a:rPr>
              <a:t>38</a:t>
            </a:r>
            <a:endParaRPr b="0" i="0" sz="900" u="none" cap="none" strike="noStrike">
              <a:solidFill>
                <a:schemeClr val="dk1"/>
              </a:solidFill>
              <a:latin typeface="Calibri"/>
              <a:ea typeface="Calibri"/>
              <a:cs typeface="Calibri"/>
              <a:sym typeface="Calibri"/>
            </a:endParaRPr>
          </a:p>
        </p:txBody>
      </p:sp>
      <p:sp>
        <p:nvSpPr>
          <p:cNvPr id="1136" name="Google Shape;1136;p38"/>
          <p:cNvSpPr/>
          <p:nvPr/>
        </p:nvSpPr>
        <p:spPr>
          <a:xfrm>
            <a:off x="502920" y="1389888"/>
            <a:ext cx="11185855" cy="3657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5F6B7A"/>
              </a:buClr>
              <a:buSzPts val="1250"/>
              <a:buFont typeface="Calibri"/>
              <a:buNone/>
            </a:pPr>
            <a:r>
              <a:rPr b="0" i="1" lang="en-US" sz="1250" u="none" cap="none" strike="noStrike">
                <a:solidFill>
                  <a:srgbClr val="5F6B7A"/>
                </a:solidFill>
                <a:latin typeface="Calibri"/>
                <a:ea typeface="Calibri"/>
                <a:cs typeface="Calibri"/>
                <a:sym typeface="Calibri"/>
              </a:rPr>
              <a:t>The diagnostic table participants memorise - used live in the curve clinic and the Lab 2 debrief.</a:t>
            </a:r>
            <a:endParaRPr b="0" i="0" sz="1250" u="none" cap="none" strike="noStrike">
              <a:solidFill>
                <a:schemeClr val="dk1"/>
              </a:solidFill>
              <a:latin typeface="Calibri"/>
              <a:ea typeface="Calibri"/>
              <a:cs typeface="Calibri"/>
              <a:sym typeface="Calibri"/>
            </a:endParaRPr>
          </a:p>
        </p:txBody>
      </p:sp>
      <p:graphicFrame>
        <p:nvGraphicFramePr>
          <p:cNvPr id="1137" name="Google Shape;1137;p38"/>
          <p:cNvGraphicFramePr/>
          <p:nvPr/>
        </p:nvGraphicFramePr>
        <p:xfrm>
          <a:off x="502920" y="1865376"/>
          <a:ext cx="3000000" cy="3000000"/>
        </p:xfrm>
        <a:graphic>
          <a:graphicData uri="http://schemas.openxmlformats.org/drawingml/2006/table">
            <a:tbl>
              <a:tblPr>
                <a:noFill/>
                <a:tableStyleId>{F80342BA-3033-44D6-9F91-622DC7A4C435}</a:tableStyleId>
              </a:tblPr>
              <a:tblGrid>
                <a:gridCol w="3686200"/>
                <a:gridCol w="3595175"/>
                <a:gridCol w="3904500"/>
              </a:tblGrid>
              <a:tr h="713225">
                <a:tc>
                  <a:txBody>
                    <a:bodyPr/>
                    <a:lstStyle/>
                    <a:p>
                      <a:pPr indent="0" lvl="0" marL="0" marR="0" rtl="0" algn="l">
                        <a:spcBef>
                          <a:spcPts val="0"/>
                        </a:spcBef>
                        <a:spcAft>
                          <a:spcPts val="0"/>
                        </a:spcAft>
                        <a:buClr>
                          <a:srgbClr val="FFFFFF"/>
                        </a:buClr>
                        <a:buSzPts val="1150"/>
                        <a:buFont typeface="Calibri"/>
                        <a:buNone/>
                      </a:pPr>
                      <a:r>
                        <a:rPr b="1" lang="en-US" sz="1150" u="none" cap="none" strike="noStrike">
                          <a:solidFill>
                            <a:srgbClr val="FFFFFF"/>
                          </a:solidFill>
                          <a:latin typeface="Calibri"/>
                          <a:ea typeface="Calibri"/>
                          <a:cs typeface="Calibri"/>
                          <a:sym typeface="Calibri"/>
                        </a:rPr>
                        <a:t>Symptom</a:t>
                      </a:r>
                      <a:endParaRPr sz="1150" u="none" cap="none" strike="noStrike">
                        <a:latin typeface="Calibri"/>
                        <a:ea typeface="Calibri"/>
                        <a:cs typeface="Calibri"/>
                        <a:sym typeface="Calibri"/>
                      </a:endParaRPr>
                    </a:p>
                  </a:txBody>
                  <a:tcPr marT="64000" marB="64000" marR="64000" marL="64000" anchor="ctr">
                    <a:lnL cap="flat" cmpd="sng" w="9525">
                      <a:solidFill>
                        <a:srgbClr val="D9E2EA"/>
                      </a:solidFill>
                      <a:prstDash val="solid"/>
                      <a:round/>
                      <a:headEnd len="sm" w="sm" type="none"/>
                      <a:tailEnd len="sm" w="sm" type="none"/>
                    </a:lnL>
                    <a:lnR cap="flat" cmpd="sng" w="9525">
                      <a:solidFill>
                        <a:srgbClr val="D9E2EA"/>
                      </a:solidFill>
                      <a:prstDash val="solid"/>
                      <a:round/>
                      <a:headEnd len="sm" w="sm" type="none"/>
                      <a:tailEnd len="sm" w="sm" type="none"/>
                    </a:lnR>
                    <a:lnT cap="flat" cmpd="sng" w="9525">
                      <a:solidFill>
                        <a:srgbClr val="D9E2EA"/>
                      </a:solidFill>
                      <a:prstDash val="solid"/>
                      <a:round/>
                      <a:headEnd len="sm" w="sm" type="none"/>
                      <a:tailEnd len="sm" w="sm" type="none"/>
                    </a:lnT>
                    <a:lnB cap="flat" cmpd="sng" w="9525">
                      <a:solidFill>
                        <a:srgbClr val="D9E2EA"/>
                      </a:solidFill>
                      <a:prstDash val="solid"/>
                      <a:round/>
                      <a:headEnd len="sm" w="sm" type="none"/>
                      <a:tailEnd len="sm" w="sm" type="none"/>
                    </a:lnB>
                    <a:solidFill>
                      <a:srgbClr val="1D2A5C"/>
                    </a:solidFill>
                  </a:tcPr>
                </a:tc>
                <a:tc>
                  <a:txBody>
                    <a:bodyPr/>
                    <a:lstStyle/>
                    <a:p>
                      <a:pPr indent="0" lvl="0" marL="0" marR="0" rtl="0" algn="l">
                        <a:spcBef>
                          <a:spcPts val="0"/>
                        </a:spcBef>
                        <a:spcAft>
                          <a:spcPts val="0"/>
                        </a:spcAft>
                        <a:buClr>
                          <a:srgbClr val="FFFFFF"/>
                        </a:buClr>
                        <a:buSzPts val="1150"/>
                        <a:buFont typeface="Calibri"/>
                        <a:buNone/>
                      </a:pPr>
                      <a:r>
                        <a:rPr b="1" lang="en-US" sz="1150" u="none" cap="none" strike="noStrike">
                          <a:solidFill>
                            <a:srgbClr val="FFFFFF"/>
                          </a:solidFill>
                          <a:latin typeface="Calibri"/>
                          <a:ea typeface="Calibri"/>
                          <a:cs typeface="Calibri"/>
                          <a:sym typeface="Calibri"/>
                        </a:rPr>
                        <a:t>Likely cause</a:t>
                      </a:r>
                      <a:endParaRPr sz="1150" u="none" cap="none" strike="noStrike">
                        <a:latin typeface="Calibri"/>
                        <a:ea typeface="Calibri"/>
                        <a:cs typeface="Calibri"/>
                        <a:sym typeface="Calibri"/>
                      </a:endParaRPr>
                    </a:p>
                  </a:txBody>
                  <a:tcPr marT="64000" marB="64000" marR="64000" marL="64000" anchor="ctr">
                    <a:lnL cap="flat" cmpd="sng" w="9525">
                      <a:solidFill>
                        <a:srgbClr val="D9E2EA"/>
                      </a:solidFill>
                      <a:prstDash val="solid"/>
                      <a:round/>
                      <a:headEnd len="sm" w="sm" type="none"/>
                      <a:tailEnd len="sm" w="sm" type="none"/>
                    </a:lnL>
                    <a:lnR cap="flat" cmpd="sng" w="9525">
                      <a:solidFill>
                        <a:srgbClr val="D9E2EA"/>
                      </a:solidFill>
                      <a:prstDash val="solid"/>
                      <a:round/>
                      <a:headEnd len="sm" w="sm" type="none"/>
                      <a:tailEnd len="sm" w="sm" type="none"/>
                    </a:lnR>
                    <a:lnT cap="flat" cmpd="sng" w="9525">
                      <a:solidFill>
                        <a:srgbClr val="D9E2EA"/>
                      </a:solidFill>
                      <a:prstDash val="solid"/>
                      <a:round/>
                      <a:headEnd len="sm" w="sm" type="none"/>
                      <a:tailEnd len="sm" w="sm" type="none"/>
                    </a:lnT>
                    <a:lnB cap="flat" cmpd="sng" w="9525">
                      <a:solidFill>
                        <a:srgbClr val="D9E2EA"/>
                      </a:solidFill>
                      <a:prstDash val="solid"/>
                      <a:round/>
                      <a:headEnd len="sm" w="sm" type="none"/>
                      <a:tailEnd len="sm" w="sm" type="none"/>
                    </a:lnB>
                    <a:solidFill>
                      <a:srgbClr val="1D2A5C"/>
                    </a:solidFill>
                  </a:tcPr>
                </a:tc>
                <a:tc>
                  <a:txBody>
                    <a:bodyPr/>
                    <a:lstStyle/>
                    <a:p>
                      <a:pPr indent="0" lvl="0" marL="0" marR="0" rtl="0" algn="l">
                        <a:spcBef>
                          <a:spcPts val="0"/>
                        </a:spcBef>
                        <a:spcAft>
                          <a:spcPts val="0"/>
                        </a:spcAft>
                        <a:buClr>
                          <a:srgbClr val="FFFFFF"/>
                        </a:buClr>
                        <a:buSzPts val="1150"/>
                        <a:buFont typeface="Calibri"/>
                        <a:buNone/>
                      </a:pPr>
                      <a:r>
                        <a:rPr b="1" lang="en-US" sz="1150" u="none" cap="none" strike="noStrike">
                          <a:solidFill>
                            <a:srgbClr val="FFFFFF"/>
                          </a:solidFill>
                          <a:latin typeface="Calibri"/>
                          <a:ea typeface="Calibri"/>
                          <a:cs typeface="Calibri"/>
                          <a:sym typeface="Calibri"/>
                        </a:rPr>
                        <a:t>First fix</a:t>
                      </a:r>
                      <a:endParaRPr sz="1150" u="none" cap="none" strike="noStrike">
                        <a:latin typeface="Calibri"/>
                        <a:ea typeface="Calibri"/>
                        <a:cs typeface="Calibri"/>
                        <a:sym typeface="Calibri"/>
                      </a:endParaRPr>
                    </a:p>
                  </a:txBody>
                  <a:tcPr marT="64000" marB="64000" marR="64000" marL="64000" anchor="ctr">
                    <a:lnL cap="flat" cmpd="sng" w="9525">
                      <a:solidFill>
                        <a:srgbClr val="D9E2EA"/>
                      </a:solidFill>
                      <a:prstDash val="solid"/>
                      <a:round/>
                      <a:headEnd len="sm" w="sm" type="none"/>
                      <a:tailEnd len="sm" w="sm" type="none"/>
                    </a:lnL>
                    <a:lnR cap="flat" cmpd="sng" w="9525">
                      <a:solidFill>
                        <a:srgbClr val="D9E2EA"/>
                      </a:solidFill>
                      <a:prstDash val="solid"/>
                      <a:round/>
                      <a:headEnd len="sm" w="sm" type="none"/>
                      <a:tailEnd len="sm" w="sm" type="none"/>
                    </a:lnR>
                    <a:lnT cap="flat" cmpd="sng" w="9525">
                      <a:solidFill>
                        <a:srgbClr val="D9E2EA"/>
                      </a:solidFill>
                      <a:prstDash val="solid"/>
                      <a:round/>
                      <a:headEnd len="sm" w="sm" type="none"/>
                      <a:tailEnd len="sm" w="sm" type="none"/>
                    </a:lnT>
                    <a:lnB cap="flat" cmpd="sng" w="9525">
                      <a:solidFill>
                        <a:srgbClr val="D9E2EA"/>
                      </a:solidFill>
                      <a:prstDash val="solid"/>
                      <a:round/>
                      <a:headEnd len="sm" w="sm" type="none"/>
                      <a:tailEnd len="sm" w="sm" type="none"/>
                    </a:lnB>
                    <a:solidFill>
                      <a:srgbClr val="1D2A5C"/>
                    </a:solidFill>
                  </a:tcPr>
                </a:tc>
              </a:tr>
              <a:tr h="713225">
                <a:tc>
                  <a:txBody>
                    <a:bodyPr/>
                    <a:lstStyle/>
                    <a:p>
                      <a:pPr indent="0" lvl="0" marL="0" marR="0" rtl="0" algn="l">
                        <a:spcBef>
                          <a:spcPts val="0"/>
                        </a:spcBef>
                        <a:spcAft>
                          <a:spcPts val="0"/>
                        </a:spcAft>
                        <a:buClr>
                          <a:srgbClr val="1D2A5C"/>
                        </a:buClr>
                        <a:buSzPts val="1150"/>
                        <a:buFont typeface="Calibri"/>
                        <a:buNone/>
                      </a:pPr>
                      <a:r>
                        <a:rPr b="1" lang="en-US" sz="1150" u="none" cap="none" strike="noStrike">
                          <a:solidFill>
                            <a:srgbClr val="1D2A5C"/>
                          </a:solidFill>
                          <a:latin typeface="Calibri"/>
                          <a:ea typeface="Calibri"/>
                          <a:cs typeface="Calibri"/>
                          <a:sym typeface="Calibri"/>
                        </a:rPr>
                        <a:t>Train loss falls, val F1 falls at epoch k</a:t>
                      </a:r>
                      <a:endParaRPr sz="1150" u="none" cap="none" strike="noStrike">
                        <a:latin typeface="Calibri"/>
                        <a:ea typeface="Calibri"/>
                        <a:cs typeface="Calibri"/>
                        <a:sym typeface="Calibri"/>
                      </a:endParaRPr>
                    </a:p>
                  </a:txBody>
                  <a:tcPr marT="64000" marB="64000" marR="64000" marL="64000" anchor="ctr">
                    <a:lnL cap="flat" cmpd="sng" w="9525">
                      <a:solidFill>
                        <a:srgbClr val="D9E2EA"/>
                      </a:solidFill>
                      <a:prstDash val="solid"/>
                      <a:round/>
                      <a:headEnd len="sm" w="sm" type="none"/>
                      <a:tailEnd len="sm" w="sm" type="none"/>
                    </a:lnL>
                    <a:lnR cap="flat" cmpd="sng" w="9525">
                      <a:solidFill>
                        <a:srgbClr val="D9E2EA"/>
                      </a:solidFill>
                      <a:prstDash val="solid"/>
                      <a:round/>
                      <a:headEnd len="sm" w="sm" type="none"/>
                      <a:tailEnd len="sm" w="sm" type="none"/>
                    </a:lnR>
                    <a:lnT cap="flat" cmpd="sng" w="9525">
                      <a:solidFill>
                        <a:srgbClr val="D9E2EA"/>
                      </a:solidFill>
                      <a:prstDash val="solid"/>
                      <a:round/>
                      <a:headEnd len="sm" w="sm" type="none"/>
                      <a:tailEnd len="sm" w="sm" type="none"/>
                    </a:lnT>
                    <a:lnB cap="flat" cmpd="sng" w="9525">
                      <a:solidFill>
                        <a:srgbClr val="D9E2EA"/>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23293B"/>
                        </a:buClr>
                        <a:buSzPts val="1150"/>
                        <a:buFont typeface="Calibri"/>
                        <a:buNone/>
                      </a:pPr>
                      <a:r>
                        <a:rPr lang="en-US" sz="1150" u="none" cap="none" strike="noStrike">
                          <a:solidFill>
                            <a:srgbClr val="23293B"/>
                          </a:solidFill>
                          <a:latin typeface="Calibri"/>
                          <a:ea typeface="Calibri"/>
                          <a:cs typeface="Calibri"/>
                          <a:sym typeface="Calibri"/>
                        </a:rPr>
                        <a:t>Overfitting</a:t>
                      </a:r>
                      <a:endParaRPr sz="1150" u="none" cap="none" strike="noStrike">
                        <a:latin typeface="Calibri"/>
                        <a:ea typeface="Calibri"/>
                        <a:cs typeface="Calibri"/>
                        <a:sym typeface="Calibri"/>
                      </a:endParaRPr>
                    </a:p>
                  </a:txBody>
                  <a:tcPr marT="64000" marB="64000" marR="64000" marL="64000" anchor="ctr">
                    <a:lnL cap="flat" cmpd="sng" w="9525">
                      <a:solidFill>
                        <a:srgbClr val="D9E2EA"/>
                      </a:solidFill>
                      <a:prstDash val="solid"/>
                      <a:round/>
                      <a:headEnd len="sm" w="sm" type="none"/>
                      <a:tailEnd len="sm" w="sm" type="none"/>
                    </a:lnL>
                    <a:lnR cap="flat" cmpd="sng" w="9525">
                      <a:solidFill>
                        <a:srgbClr val="D9E2EA"/>
                      </a:solidFill>
                      <a:prstDash val="solid"/>
                      <a:round/>
                      <a:headEnd len="sm" w="sm" type="none"/>
                      <a:tailEnd len="sm" w="sm" type="none"/>
                    </a:lnR>
                    <a:lnT cap="flat" cmpd="sng" w="9525">
                      <a:solidFill>
                        <a:srgbClr val="D9E2EA"/>
                      </a:solidFill>
                      <a:prstDash val="solid"/>
                      <a:round/>
                      <a:headEnd len="sm" w="sm" type="none"/>
                      <a:tailEnd len="sm" w="sm" type="none"/>
                    </a:lnT>
                    <a:lnB cap="flat" cmpd="sng" w="9525">
                      <a:solidFill>
                        <a:srgbClr val="D9E2EA"/>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23293B"/>
                        </a:buClr>
                        <a:buSzPts val="1150"/>
                        <a:buFont typeface="Calibri"/>
                        <a:buNone/>
                      </a:pPr>
                      <a:r>
                        <a:rPr lang="en-US" sz="1150" u="none" cap="none" strike="noStrike">
                          <a:solidFill>
                            <a:srgbClr val="23293B"/>
                          </a:solidFill>
                          <a:latin typeface="Calibri"/>
                          <a:ea typeface="Calibri"/>
                          <a:cs typeface="Calibri"/>
                          <a:sym typeface="Calibri"/>
                        </a:rPr>
                        <a:t>More augmentation, earlier stop, more freezing</a:t>
                      </a:r>
                      <a:endParaRPr sz="1150" u="none" cap="none" strike="noStrike">
                        <a:latin typeface="Calibri"/>
                        <a:ea typeface="Calibri"/>
                        <a:cs typeface="Calibri"/>
                        <a:sym typeface="Calibri"/>
                      </a:endParaRPr>
                    </a:p>
                  </a:txBody>
                  <a:tcPr marT="64000" marB="64000" marR="64000" marL="64000" anchor="ctr">
                    <a:lnL cap="flat" cmpd="sng" w="9525">
                      <a:solidFill>
                        <a:srgbClr val="D9E2EA"/>
                      </a:solidFill>
                      <a:prstDash val="solid"/>
                      <a:round/>
                      <a:headEnd len="sm" w="sm" type="none"/>
                      <a:tailEnd len="sm" w="sm" type="none"/>
                    </a:lnL>
                    <a:lnR cap="flat" cmpd="sng" w="9525">
                      <a:solidFill>
                        <a:srgbClr val="D9E2EA"/>
                      </a:solidFill>
                      <a:prstDash val="solid"/>
                      <a:round/>
                      <a:headEnd len="sm" w="sm" type="none"/>
                      <a:tailEnd len="sm" w="sm" type="none"/>
                    </a:lnR>
                    <a:lnT cap="flat" cmpd="sng" w="9525">
                      <a:solidFill>
                        <a:srgbClr val="D9E2EA"/>
                      </a:solidFill>
                      <a:prstDash val="solid"/>
                      <a:round/>
                      <a:headEnd len="sm" w="sm" type="none"/>
                      <a:tailEnd len="sm" w="sm" type="none"/>
                    </a:lnT>
                    <a:lnB cap="flat" cmpd="sng" w="9525">
                      <a:solidFill>
                        <a:srgbClr val="D9E2EA"/>
                      </a:solidFill>
                      <a:prstDash val="solid"/>
                      <a:round/>
                      <a:headEnd len="sm" w="sm" type="none"/>
                      <a:tailEnd len="sm" w="sm" type="none"/>
                    </a:lnB>
                    <a:solidFill>
                      <a:srgbClr val="FFFFFF"/>
                    </a:solidFill>
                  </a:tcPr>
                </a:tc>
              </a:tr>
              <a:tr h="713225">
                <a:tc>
                  <a:txBody>
                    <a:bodyPr/>
                    <a:lstStyle/>
                    <a:p>
                      <a:pPr indent="0" lvl="0" marL="0" marR="0" rtl="0" algn="l">
                        <a:spcBef>
                          <a:spcPts val="0"/>
                        </a:spcBef>
                        <a:spcAft>
                          <a:spcPts val="0"/>
                        </a:spcAft>
                        <a:buClr>
                          <a:srgbClr val="1D2A5C"/>
                        </a:buClr>
                        <a:buSzPts val="1150"/>
                        <a:buFont typeface="Calibri"/>
                        <a:buNone/>
                      </a:pPr>
                      <a:r>
                        <a:rPr b="1" lang="en-US" sz="1150" u="none" cap="none" strike="noStrike">
                          <a:solidFill>
                            <a:srgbClr val="1D2A5C"/>
                          </a:solidFill>
                          <a:latin typeface="Calibri"/>
                          <a:ea typeface="Calibri"/>
                          <a:cs typeface="Calibri"/>
                          <a:sym typeface="Calibri"/>
                        </a:rPr>
                        <a:t>Both losses plateau high</a:t>
                      </a:r>
                      <a:endParaRPr sz="1150" u="none" cap="none" strike="noStrike">
                        <a:latin typeface="Calibri"/>
                        <a:ea typeface="Calibri"/>
                        <a:cs typeface="Calibri"/>
                        <a:sym typeface="Calibri"/>
                      </a:endParaRPr>
                    </a:p>
                  </a:txBody>
                  <a:tcPr marT="64000" marB="64000" marR="64000" marL="64000" anchor="ctr">
                    <a:lnL cap="flat" cmpd="sng" w="9525">
                      <a:solidFill>
                        <a:srgbClr val="D9E2EA"/>
                      </a:solidFill>
                      <a:prstDash val="solid"/>
                      <a:round/>
                      <a:headEnd len="sm" w="sm" type="none"/>
                      <a:tailEnd len="sm" w="sm" type="none"/>
                    </a:lnL>
                    <a:lnR cap="flat" cmpd="sng" w="9525">
                      <a:solidFill>
                        <a:srgbClr val="D9E2EA"/>
                      </a:solidFill>
                      <a:prstDash val="solid"/>
                      <a:round/>
                      <a:headEnd len="sm" w="sm" type="none"/>
                      <a:tailEnd len="sm" w="sm" type="none"/>
                    </a:lnR>
                    <a:lnT cap="flat" cmpd="sng" w="9525">
                      <a:solidFill>
                        <a:srgbClr val="D9E2EA"/>
                      </a:solidFill>
                      <a:prstDash val="solid"/>
                      <a:round/>
                      <a:headEnd len="sm" w="sm" type="none"/>
                      <a:tailEnd len="sm" w="sm" type="none"/>
                    </a:lnT>
                    <a:lnB cap="flat" cmpd="sng" w="9525">
                      <a:solidFill>
                        <a:srgbClr val="D9E2EA"/>
                      </a:solidFill>
                      <a:prstDash val="solid"/>
                      <a:round/>
                      <a:headEnd len="sm" w="sm" type="none"/>
                      <a:tailEnd len="sm" w="sm" type="none"/>
                    </a:lnB>
                    <a:solidFill>
                      <a:srgbClr val="F2F6F9"/>
                    </a:solidFill>
                  </a:tcPr>
                </a:tc>
                <a:tc>
                  <a:txBody>
                    <a:bodyPr/>
                    <a:lstStyle/>
                    <a:p>
                      <a:pPr indent="0" lvl="0" marL="0" marR="0" rtl="0" algn="l">
                        <a:spcBef>
                          <a:spcPts val="0"/>
                        </a:spcBef>
                        <a:spcAft>
                          <a:spcPts val="0"/>
                        </a:spcAft>
                        <a:buClr>
                          <a:srgbClr val="23293B"/>
                        </a:buClr>
                        <a:buSzPts val="1150"/>
                        <a:buFont typeface="Calibri"/>
                        <a:buNone/>
                      </a:pPr>
                      <a:r>
                        <a:rPr lang="en-US" sz="1150" u="none" cap="none" strike="noStrike">
                          <a:solidFill>
                            <a:srgbClr val="23293B"/>
                          </a:solidFill>
                          <a:latin typeface="Calibri"/>
                          <a:ea typeface="Calibri"/>
                          <a:cs typeface="Calibri"/>
                          <a:sym typeface="Calibri"/>
                        </a:rPr>
                        <a:t>Underfitting / LR too low / over-frozen</a:t>
                      </a:r>
                      <a:endParaRPr sz="1150" u="none" cap="none" strike="noStrike">
                        <a:latin typeface="Calibri"/>
                        <a:ea typeface="Calibri"/>
                        <a:cs typeface="Calibri"/>
                        <a:sym typeface="Calibri"/>
                      </a:endParaRPr>
                    </a:p>
                  </a:txBody>
                  <a:tcPr marT="64000" marB="64000" marR="64000" marL="64000" anchor="ctr">
                    <a:lnL cap="flat" cmpd="sng" w="9525">
                      <a:solidFill>
                        <a:srgbClr val="D9E2EA"/>
                      </a:solidFill>
                      <a:prstDash val="solid"/>
                      <a:round/>
                      <a:headEnd len="sm" w="sm" type="none"/>
                      <a:tailEnd len="sm" w="sm" type="none"/>
                    </a:lnL>
                    <a:lnR cap="flat" cmpd="sng" w="9525">
                      <a:solidFill>
                        <a:srgbClr val="D9E2EA"/>
                      </a:solidFill>
                      <a:prstDash val="solid"/>
                      <a:round/>
                      <a:headEnd len="sm" w="sm" type="none"/>
                      <a:tailEnd len="sm" w="sm" type="none"/>
                    </a:lnR>
                    <a:lnT cap="flat" cmpd="sng" w="9525">
                      <a:solidFill>
                        <a:srgbClr val="D9E2EA"/>
                      </a:solidFill>
                      <a:prstDash val="solid"/>
                      <a:round/>
                      <a:headEnd len="sm" w="sm" type="none"/>
                      <a:tailEnd len="sm" w="sm" type="none"/>
                    </a:lnT>
                    <a:lnB cap="flat" cmpd="sng" w="9525">
                      <a:solidFill>
                        <a:srgbClr val="D9E2EA"/>
                      </a:solidFill>
                      <a:prstDash val="solid"/>
                      <a:round/>
                      <a:headEnd len="sm" w="sm" type="none"/>
                      <a:tailEnd len="sm" w="sm" type="none"/>
                    </a:lnB>
                    <a:solidFill>
                      <a:srgbClr val="F2F6F9"/>
                    </a:solidFill>
                  </a:tcPr>
                </a:tc>
                <a:tc>
                  <a:txBody>
                    <a:bodyPr/>
                    <a:lstStyle/>
                    <a:p>
                      <a:pPr indent="0" lvl="0" marL="0" marR="0" rtl="0" algn="l">
                        <a:spcBef>
                          <a:spcPts val="0"/>
                        </a:spcBef>
                        <a:spcAft>
                          <a:spcPts val="0"/>
                        </a:spcAft>
                        <a:buClr>
                          <a:srgbClr val="23293B"/>
                        </a:buClr>
                        <a:buSzPts val="1150"/>
                        <a:buFont typeface="Calibri"/>
                        <a:buNone/>
                      </a:pPr>
                      <a:r>
                        <a:rPr lang="en-US" sz="1150" u="none" cap="none" strike="noStrike">
                          <a:solidFill>
                            <a:srgbClr val="23293B"/>
                          </a:solidFill>
                          <a:latin typeface="Calibri"/>
                          <a:ea typeface="Calibri"/>
                          <a:cs typeface="Calibri"/>
                          <a:sym typeface="Calibri"/>
                        </a:rPr>
                        <a:t>Unfreeze stage 2, raise head LR</a:t>
                      </a:r>
                      <a:endParaRPr sz="1150" u="none" cap="none" strike="noStrike">
                        <a:latin typeface="Calibri"/>
                        <a:ea typeface="Calibri"/>
                        <a:cs typeface="Calibri"/>
                        <a:sym typeface="Calibri"/>
                      </a:endParaRPr>
                    </a:p>
                  </a:txBody>
                  <a:tcPr marT="64000" marB="64000" marR="64000" marL="64000" anchor="ctr">
                    <a:lnL cap="flat" cmpd="sng" w="9525">
                      <a:solidFill>
                        <a:srgbClr val="D9E2EA"/>
                      </a:solidFill>
                      <a:prstDash val="solid"/>
                      <a:round/>
                      <a:headEnd len="sm" w="sm" type="none"/>
                      <a:tailEnd len="sm" w="sm" type="none"/>
                    </a:lnL>
                    <a:lnR cap="flat" cmpd="sng" w="9525">
                      <a:solidFill>
                        <a:srgbClr val="D9E2EA"/>
                      </a:solidFill>
                      <a:prstDash val="solid"/>
                      <a:round/>
                      <a:headEnd len="sm" w="sm" type="none"/>
                      <a:tailEnd len="sm" w="sm" type="none"/>
                    </a:lnR>
                    <a:lnT cap="flat" cmpd="sng" w="9525">
                      <a:solidFill>
                        <a:srgbClr val="D9E2EA"/>
                      </a:solidFill>
                      <a:prstDash val="solid"/>
                      <a:round/>
                      <a:headEnd len="sm" w="sm" type="none"/>
                      <a:tailEnd len="sm" w="sm" type="none"/>
                    </a:lnT>
                    <a:lnB cap="flat" cmpd="sng" w="9525">
                      <a:solidFill>
                        <a:srgbClr val="D9E2EA"/>
                      </a:solidFill>
                      <a:prstDash val="solid"/>
                      <a:round/>
                      <a:headEnd len="sm" w="sm" type="none"/>
                      <a:tailEnd len="sm" w="sm" type="none"/>
                    </a:lnB>
                    <a:solidFill>
                      <a:srgbClr val="F2F6F9"/>
                    </a:solidFill>
                  </a:tcPr>
                </a:tc>
              </a:tr>
              <a:tr h="713225">
                <a:tc>
                  <a:txBody>
                    <a:bodyPr/>
                    <a:lstStyle/>
                    <a:p>
                      <a:pPr indent="0" lvl="0" marL="0" marR="0" rtl="0" algn="l">
                        <a:spcBef>
                          <a:spcPts val="0"/>
                        </a:spcBef>
                        <a:spcAft>
                          <a:spcPts val="0"/>
                        </a:spcAft>
                        <a:buClr>
                          <a:srgbClr val="1D2A5C"/>
                        </a:buClr>
                        <a:buSzPts val="1150"/>
                        <a:buFont typeface="Calibri"/>
                        <a:buNone/>
                      </a:pPr>
                      <a:r>
                        <a:rPr b="1" lang="en-US" sz="1150" u="none" cap="none" strike="noStrike">
                          <a:solidFill>
                            <a:srgbClr val="1D2A5C"/>
                          </a:solidFill>
                          <a:latin typeface="Calibri"/>
                          <a:ea typeface="Calibri"/>
                          <a:cs typeface="Calibri"/>
                          <a:sym typeface="Calibri"/>
                        </a:rPr>
                        <a:t>Loss spikes to NaN or oscillates</a:t>
                      </a:r>
                      <a:endParaRPr sz="1150" u="none" cap="none" strike="noStrike">
                        <a:latin typeface="Calibri"/>
                        <a:ea typeface="Calibri"/>
                        <a:cs typeface="Calibri"/>
                        <a:sym typeface="Calibri"/>
                      </a:endParaRPr>
                    </a:p>
                  </a:txBody>
                  <a:tcPr marT="64000" marB="64000" marR="64000" marL="64000" anchor="ctr">
                    <a:lnL cap="flat" cmpd="sng" w="9525">
                      <a:solidFill>
                        <a:srgbClr val="D9E2EA"/>
                      </a:solidFill>
                      <a:prstDash val="solid"/>
                      <a:round/>
                      <a:headEnd len="sm" w="sm" type="none"/>
                      <a:tailEnd len="sm" w="sm" type="none"/>
                    </a:lnL>
                    <a:lnR cap="flat" cmpd="sng" w="9525">
                      <a:solidFill>
                        <a:srgbClr val="D9E2EA"/>
                      </a:solidFill>
                      <a:prstDash val="solid"/>
                      <a:round/>
                      <a:headEnd len="sm" w="sm" type="none"/>
                      <a:tailEnd len="sm" w="sm" type="none"/>
                    </a:lnR>
                    <a:lnT cap="flat" cmpd="sng" w="9525">
                      <a:solidFill>
                        <a:srgbClr val="D9E2EA"/>
                      </a:solidFill>
                      <a:prstDash val="solid"/>
                      <a:round/>
                      <a:headEnd len="sm" w="sm" type="none"/>
                      <a:tailEnd len="sm" w="sm" type="none"/>
                    </a:lnT>
                    <a:lnB cap="flat" cmpd="sng" w="9525">
                      <a:solidFill>
                        <a:srgbClr val="D9E2EA"/>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23293B"/>
                        </a:buClr>
                        <a:buSzPts val="1150"/>
                        <a:buFont typeface="Calibri"/>
                        <a:buNone/>
                      </a:pPr>
                      <a:r>
                        <a:rPr lang="en-US" sz="1150" u="none" cap="none" strike="noStrike">
                          <a:solidFill>
                            <a:srgbClr val="23293B"/>
                          </a:solidFill>
                          <a:latin typeface="Calibri"/>
                          <a:ea typeface="Calibri"/>
                          <a:cs typeface="Calibri"/>
                          <a:sym typeface="Calibri"/>
                        </a:rPr>
                        <a:t>LR too high (esp. unfrozen backbone)</a:t>
                      </a:r>
                      <a:endParaRPr sz="1150" u="none" cap="none" strike="noStrike">
                        <a:latin typeface="Calibri"/>
                        <a:ea typeface="Calibri"/>
                        <a:cs typeface="Calibri"/>
                        <a:sym typeface="Calibri"/>
                      </a:endParaRPr>
                    </a:p>
                  </a:txBody>
                  <a:tcPr marT="64000" marB="64000" marR="64000" marL="64000" anchor="ctr">
                    <a:lnL cap="flat" cmpd="sng" w="9525">
                      <a:solidFill>
                        <a:srgbClr val="D9E2EA"/>
                      </a:solidFill>
                      <a:prstDash val="solid"/>
                      <a:round/>
                      <a:headEnd len="sm" w="sm" type="none"/>
                      <a:tailEnd len="sm" w="sm" type="none"/>
                    </a:lnL>
                    <a:lnR cap="flat" cmpd="sng" w="9525">
                      <a:solidFill>
                        <a:srgbClr val="D9E2EA"/>
                      </a:solidFill>
                      <a:prstDash val="solid"/>
                      <a:round/>
                      <a:headEnd len="sm" w="sm" type="none"/>
                      <a:tailEnd len="sm" w="sm" type="none"/>
                    </a:lnR>
                    <a:lnT cap="flat" cmpd="sng" w="9525">
                      <a:solidFill>
                        <a:srgbClr val="D9E2EA"/>
                      </a:solidFill>
                      <a:prstDash val="solid"/>
                      <a:round/>
                      <a:headEnd len="sm" w="sm" type="none"/>
                      <a:tailEnd len="sm" w="sm" type="none"/>
                    </a:lnT>
                    <a:lnB cap="flat" cmpd="sng" w="9525">
                      <a:solidFill>
                        <a:srgbClr val="D9E2EA"/>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23293B"/>
                        </a:buClr>
                        <a:buSzPts val="1150"/>
                        <a:buFont typeface="Calibri"/>
                        <a:buNone/>
                      </a:pPr>
                      <a:r>
                        <a:rPr lang="en-US" sz="1150" u="none" cap="none" strike="noStrike">
                          <a:solidFill>
                            <a:srgbClr val="23293B"/>
                          </a:solidFill>
                          <a:latin typeface="Calibri"/>
                          <a:ea typeface="Calibri"/>
                          <a:cs typeface="Calibri"/>
                          <a:sym typeface="Calibri"/>
                        </a:rPr>
                        <a:t>10x lower backbone LR, add warmup</a:t>
                      </a:r>
                      <a:endParaRPr sz="1150" u="none" cap="none" strike="noStrike">
                        <a:latin typeface="Calibri"/>
                        <a:ea typeface="Calibri"/>
                        <a:cs typeface="Calibri"/>
                        <a:sym typeface="Calibri"/>
                      </a:endParaRPr>
                    </a:p>
                  </a:txBody>
                  <a:tcPr marT="64000" marB="64000" marR="64000" marL="64000" anchor="ctr">
                    <a:lnL cap="flat" cmpd="sng" w="9525">
                      <a:solidFill>
                        <a:srgbClr val="D9E2EA"/>
                      </a:solidFill>
                      <a:prstDash val="solid"/>
                      <a:round/>
                      <a:headEnd len="sm" w="sm" type="none"/>
                      <a:tailEnd len="sm" w="sm" type="none"/>
                    </a:lnL>
                    <a:lnR cap="flat" cmpd="sng" w="9525">
                      <a:solidFill>
                        <a:srgbClr val="D9E2EA"/>
                      </a:solidFill>
                      <a:prstDash val="solid"/>
                      <a:round/>
                      <a:headEnd len="sm" w="sm" type="none"/>
                      <a:tailEnd len="sm" w="sm" type="none"/>
                    </a:lnR>
                    <a:lnT cap="flat" cmpd="sng" w="9525">
                      <a:solidFill>
                        <a:srgbClr val="D9E2EA"/>
                      </a:solidFill>
                      <a:prstDash val="solid"/>
                      <a:round/>
                      <a:headEnd len="sm" w="sm" type="none"/>
                      <a:tailEnd len="sm" w="sm" type="none"/>
                    </a:lnT>
                    <a:lnB cap="flat" cmpd="sng" w="9525">
                      <a:solidFill>
                        <a:srgbClr val="D9E2EA"/>
                      </a:solidFill>
                      <a:prstDash val="solid"/>
                      <a:round/>
                      <a:headEnd len="sm" w="sm" type="none"/>
                      <a:tailEnd len="sm" w="sm" type="none"/>
                    </a:lnB>
                    <a:solidFill>
                      <a:srgbClr val="FFFFFF"/>
                    </a:solidFill>
                  </a:tcPr>
                </a:tc>
              </a:tr>
              <a:tr h="713225">
                <a:tc>
                  <a:txBody>
                    <a:bodyPr/>
                    <a:lstStyle/>
                    <a:p>
                      <a:pPr indent="0" lvl="0" marL="0" marR="0" rtl="0" algn="l">
                        <a:spcBef>
                          <a:spcPts val="0"/>
                        </a:spcBef>
                        <a:spcAft>
                          <a:spcPts val="0"/>
                        </a:spcAft>
                        <a:buClr>
                          <a:srgbClr val="1D2A5C"/>
                        </a:buClr>
                        <a:buSzPts val="1150"/>
                        <a:buFont typeface="Calibri"/>
                        <a:buNone/>
                      </a:pPr>
                      <a:r>
                        <a:rPr b="1" lang="en-US" sz="1150" u="none" cap="none" strike="noStrike">
                          <a:solidFill>
                            <a:srgbClr val="1D2A5C"/>
                          </a:solidFill>
                          <a:latin typeface="Calibri"/>
                          <a:ea typeface="Calibri"/>
                          <a:cs typeface="Calibri"/>
                          <a:sym typeface="Calibri"/>
                        </a:rPr>
                        <a:t>Val F1 noisy run-to-run &gt; 2 pts</a:t>
                      </a:r>
                      <a:endParaRPr sz="1150" u="none" cap="none" strike="noStrike">
                        <a:latin typeface="Calibri"/>
                        <a:ea typeface="Calibri"/>
                        <a:cs typeface="Calibri"/>
                        <a:sym typeface="Calibri"/>
                      </a:endParaRPr>
                    </a:p>
                  </a:txBody>
                  <a:tcPr marT="64000" marB="64000" marR="64000" marL="64000" anchor="ctr">
                    <a:lnL cap="flat" cmpd="sng" w="9525">
                      <a:solidFill>
                        <a:srgbClr val="D9E2EA"/>
                      </a:solidFill>
                      <a:prstDash val="solid"/>
                      <a:round/>
                      <a:headEnd len="sm" w="sm" type="none"/>
                      <a:tailEnd len="sm" w="sm" type="none"/>
                    </a:lnL>
                    <a:lnR cap="flat" cmpd="sng" w="9525">
                      <a:solidFill>
                        <a:srgbClr val="D9E2EA"/>
                      </a:solidFill>
                      <a:prstDash val="solid"/>
                      <a:round/>
                      <a:headEnd len="sm" w="sm" type="none"/>
                      <a:tailEnd len="sm" w="sm" type="none"/>
                    </a:lnR>
                    <a:lnT cap="flat" cmpd="sng" w="9525">
                      <a:solidFill>
                        <a:srgbClr val="D9E2EA"/>
                      </a:solidFill>
                      <a:prstDash val="solid"/>
                      <a:round/>
                      <a:headEnd len="sm" w="sm" type="none"/>
                      <a:tailEnd len="sm" w="sm" type="none"/>
                    </a:lnT>
                    <a:lnB cap="flat" cmpd="sng" w="9525">
                      <a:solidFill>
                        <a:srgbClr val="D9E2EA"/>
                      </a:solidFill>
                      <a:prstDash val="solid"/>
                      <a:round/>
                      <a:headEnd len="sm" w="sm" type="none"/>
                      <a:tailEnd len="sm" w="sm" type="none"/>
                    </a:lnB>
                    <a:solidFill>
                      <a:srgbClr val="F2F6F9"/>
                    </a:solidFill>
                  </a:tcPr>
                </a:tc>
                <a:tc>
                  <a:txBody>
                    <a:bodyPr/>
                    <a:lstStyle/>
                    <a:p>
                      <a:pPr indent="0" lvl="0" marL="0" marR="0" rtl="0" algn="l">
                        <a:spcBef>
                          <a:spcPts val="0"/>
                        </a:spcBef>
                        <a:spcAft>
                          <a:spcPts val="0"/>
                        </a:spcAft>
                        <a:buClr>
                          <a:srgbClr val="23293B"/>
                        </a:buClr>
                        <a:buSzPts val="1150"/>
                        <a:buFont typeface="Calibri"/>
                        <a:buNone/>
                      </a:pPr>
                      <a:r>
                        <a:rPr lang="en-US" sz="1150" u="none" cap="none" strike="noStrike">
                          <a:solidFill>
                            <a:srgbClr val="23293B"/>
                          </a:solidFill>
                          <a:latin typeface="Calibri"/>
                          <a:ea typeface="Calibri"/>
                          <a:cs typeface="Calibri"/>
                          <a:sym typeface="Calibri"/>
                        </a:rPr>
                        <a:t>Tiny val set / augmented val / unseeded</a:t>
                      </a:r>
                      <a:endParaRPr sz="1150" u="none" cap="none" strike="noStrike">
                        <a:latin typeface="Calibri"/>
                        <a:ea typeface="Calibri"/>
                        <a:cs typeface="Calibri"/>
                        <a:sym typeface="Calibri"/>
                      </a:endParaRPr>
                    </a:p>
                  </a:txBody>
                  <a:tcPr marT="64000" marB="64000" marR="64000" marL="64000" anchor="ctr">
                    <a:lnL cap="flat" cmpd="sng" w="9525">
                      <a:solidFill>
                        <a:srgbClr val="D9E2EA"/>
                      </a:solidFill>
                      <a:prstDash val="solid"/>
                      <a:round/>
                      <a:headEnd len="sm" w="sm" type="none"/>
                      <a:tailEnd len="sm" w="sm" type="none"/>
                    </a:lnL>
                    <a:lnR cap="flat" cmpd="sng" w="9525">
                      <a:solidFill>
                        <a:srgbClr val="D9E2EA"/>
                      </a:solidFill>
                      <a:prstDash val="solid"/>
                      <a:round/>
                      <a:headEnd len="sm" w="sm" type="none"/>
                      <a:tailEnd len="sm" w="sm" type="none"/>
                    </a:lnR>
                    <a:lnT cap="flat" cmpd="sng" w="9525">
                      <a:solidFill>
                        <a:srgbClr val="D9E2EA"/>
                      </a:solidFill>
                      <a:prstDash val="solid"/>
                      <a:round/>
                      <a:headEnd len="sm" w="sm" type="none"/>
                      <a:tailEnd len="sm" w="sm" type="none"/>
                    </a:lnT>
                    <a:lnB cap="flat" cmpd="sng" w="9525">
                      <a:solidFill>
                        <a:srgbClr val="D9E2EA"/>
                      </a:solidFill>
                      <a:prstDash val="solid"/>
                      <a:round/>
                      <a:headEnd len="sm" w="sm" type="none"/>
                      <a:tailEnd len="sm" w="sm" type="none"/>
                    </a:lnB>
                    <a:solidFill>
                      <a:srgbClr val="F2F6F9"/>
                    </a:solidFill>
                  </a:tcPr>
                </a:tc>
                <a:tc>
                  <a:txBody>
                    <a:bodyPr/>
                    <a:lstStyle/>
                    <a:p>
                      <a:pPr indent="0" lvl="0" marL="0" marR="0" rtl="0" algn="l">
                        <a:spcBef>
                          <a:spcPts val="0"/>
                        </a:spcBef>
                        <a:spcAft>
                          <a:spcPts val="0"/>
                        </a:spcAft>
                        <a:buClr>
                          <a:srgbClr val="23293B"/>
                        </a:buClr>
                        <a:buSzPts val="1150"/>
                        <a:buFont typeface="Calibri"/>
                        <a:buNone/>
                      </a:pPr>
                      <a:r>
                        <a:rPr lang="en-US" sz="1150" u="none" cap="none" strike="noStrike">
                          <a:solidFill>
                            <a:srgbClr val="23293B"/>
                          </a:solidFill>
                          <a:latin typeface="Calibri"/>
                          <a:ea typeface="Calibri"/>
                          <a:cs typeface="Calibri"/>
                          <a:sym typeface="Calibri"/>
                        </a:rPr>
                        <a:t>Fix eval determinism (M1 rules)</a:t>
                      </a:r>
                      <a:endParaRPr sz="1150" u="none" cap="none" strike="noStrike">
                        <a:latin typeface="Calibri"/>
                        <a:ea typeface="Calibri"/>
                        <a:cs typeface="Calibri"/>
                        <a:sym typeface="Calibri"/>
                      </a:endParaRPr>
                    </a:p>
                  </a:txBody>
                  <a:tcPr marT="64000" marB="64000" marR="64000" marL="64000" anchor="ctr">
                    <a:lnL cap="flat" cmpd="sng" w="9525">
                      <a:solidFill>
                        <a:srgbClr val="D9E2EA"/>
                      </a:solidFill>
                      <a:prstDash val="solid"/>
                      <a:round/>
                      <a:headEnd len="sm" w="sm" type="none"/>
                      <a:tailEnd len="sm" w="sm" type="none"/>
                    </a:lnL>
                    <a:lnR cap="flat" cmpd="sng" w="9525">
                      <a:solidFill>
                        <a:srgbClr val="D9E2EA"/>
                      </a:solidFill>
                      <a:prstDash val="solid"/>
                      <a:round/>
                      <a:headEnd len="sm" w="sm" type="none"/>
                      <a:tailEnd len="sm" w="sm" type="none"/>
                    </a:lnR>
                    <a:lnT cap="flat" cmpd="sng" w="9525">
                      <a:solidFill>
                        <a:srgbClr val="D9E2EA"/>
                      </a:solidFill>
                      <a:prstDash val="solid"/>
                      <a:round/>
                      <a:headEnd len="sm" w="sm" type="none"/>
                      <a:tailEnd len="sm" w="sm" type="none"/>
                    </a:lnT>
                    <a:lnB cap="flat" cmpd="sng" w="9525">
                      <a:solidFill>
                        <a:srgbClr val="D9E2EA"/>
                      </a:solidFill>
                      <a:prstDash val="solid"/>
                      <a:round/>
                      <a:headEnd len="sm" w="sm" type="none"/>
                      <a:tailEnd len="sm" w="sm" type="none"/>
                    </a:lnB>
                    <a:solidFill>
                      <a:srgbClr val="F2F6F9"/>
                    </a:solidFill>
                  </a:tcPr>
                </a:tc>
              </a:tr>
              <a:tr h="713225">
                <a:tc>
                  <a:txBody>
                    <a:bodyPr/>
                    <a:lstStyle/>
                    <a:p>
                      <a:pPr indent="0" lvl="0" marL="0" marR="0" rtl="0" algn="l">
                        <a:spcBef>
                          <a:spcPts val="0"/>
                        </a:spcBef>
                        <a:spcAft>
                          <a:spcPts val="0"/>
                        </a:spcAft>
                        <a:buClr>
                          <a:srgbClr val="1D2A5C"/>
                        </a:buClr>
                        <a:buSzPts val="1150"/>
                        <a:buFont typeface="Calibri"/>
                        <a:buNone/>
                      </a:pPr>
                      <a:r>
                        <a:rPr b="1" lang="en-US" sz="1150" u="none" cap="none" strike="noStrike">
                          <a:solidFill>
                            <a:srgbClr val="1D2A5C"/>
                          </a:solidFill>
                          <a:latin typeface="Calibri"/>
                          <a:ea typeface="Calibri"/>
                          <a:cs typeface="Calibri"/>
                          <a:sym typeface="Calibri"/>
                        </a:rPr>
                        <a:t>Great val, poor line performance</a:t>
                      </a:r>
                      <a:endParaRPr sz="1150" u="none" cap="none" strike="noStrike">
                        <a:latin typeface="Calibri"/>
                        <a:ea typeface="Calibri"/>
                        <a:cs typeface="Calibri"/>
                        <a:sym typeface="Calibri"/>
                      </a:endParaRPr>
                    </a:p>
                  </a:txBody>
                  <a:tcPr marT="64000" marB="64000" marR="64000" marL="64000" anchor="ctr">
                    <a:lnL cap="flat" cmpd="sng" w="9525">
                      <a:solidFill>
                        <a:srgbClr val="D9E2EA"/>
                      </a:solidFill>
                      <a:prstDash val="solid"/>
                      <a:round/>
                      <a:headEnd len="sm" w="sm" type="none"/>
                      <a:tailEnd len="sm" w="sm" type="none"/>
                    </a:lnL>
                    <a:lnR cap="flat" cmpd="sng" w="9525">
                      <a:solidFill>
                        <a:srgbClr val="D9E2EA"/>
                      </a:solidFill>
                      <a:prstDash val="solid"/>
                      <a:round/>
                      <a:headEnd len="sm" w="sm" type="none"/>
                      <a:tailEnd len="sm" w="sm" type="none"/>
                    </a:lnR>
                    <a:lnT cap="flat" cmpd="sng" w="9525">
                      <a:solidFill>
                        <a:srgbClr val="D9E2EA"/>
                      </a:solidFill>
                      <a:prstDash val="solid"/>
                      <a:round/>
                      <a:headEnd len="sm" w="sm" type="none"/>
                      <a:tailEnd len="sm" w="sm" type="none"/>
                    </a:lnT>
                    <a:lnB cap="flat" cmpd="sng" w="9525">
                      <a:solidFill>
                        <a:srgbClr val="D9E2EA"/>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23293B"/>
                        </a:buClr>
                        <a:buSzPts val="1150"/>
                        <a:buFont typeface="Calibri"/>
                        <a:buNone/>
                      </a:pPr>
                      <a:r>
                        <a:rPr lang="en-US" sz="1150" u="none" cap="none" strike="noStrike">
                          <a:solidFill>
                            <a:srgbClr val="23293B"/>
                          </a:solidFill>
                          <a:latin typeface="Calibri"/>
                          <a:ea typeface="Calibri"/>
                          <a:cs typeface="Calibri"/>
                          <a:sym typeface="Calibri"/>
                        </a:rPr>
                        <a:t>Distribution shift or leakage</a:t>
                      </a:r>
                      <a:endParaRPr sz="1150" u="none" cap="none" strike="noStrike">
                        <a:latin typeface="Calibri"/>
                        <a:ea typeface="Calibri"/>
                        <a:cs typeface="Calibri"/>
                        <a:sym typeface="Calibri"/>
                      </a:endParaRPr>
                    </a:p>
                  </a:txBody>
                  <a:tcPr marT="64000" marB="64000" marR="64000" marL="64000" anchor="ctr">
                    <a:lnL cap="flat" cmpd="sng" w="9525">
                      <a:solidFill>
                        <a:srgbClr val="D9E2EA"/>
                      </a:solidFill>
                      <a:prstDash val="solid"/>
                      <a:round/>
                      <a:headEnd len="sm" w="sm" type="none"/>
                      <a:tailEnd len="sm" w="sm" type="none"/>
                    </a:lnL>
                    <a:lnR cap="flat" cmpd="sng" w="9525">
                      <a:solidFill>
                        <a:srgbClr val="D9E2EA"/>
                      </a:solidFill>
                      <a:prstDash val="solid"/>
                      <a:round/>
                      <a:headEnd len="sm" w="sm" type="none"/>
                      <a:tailEnd len="sm" w="sm" type="none"/>
                    </a:lnR>
                    <a:lnT cap="flat" cmpd="sng" w="9525">
                      <a:solidFill>
                        <a:srgbClr val="D9E2EA"/>
                      </a:solidFill>
                      <a:prstDash val="solid"/>
                      <a:round/>
                      <a:headEnd len="sm" w="sm" type="none"/>
                      <a:tailEnd len="sm" w="sm" type="none"/>
                    </a:lnT>
                    <a:lnB cap="flat" cmpd="sng" w="9525">
                      <a:solidFill>
                        <a:srgbClr val="D9E2EA"/>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23293B"/>
                        </a:buClr>
                        <a:buSzPts val="1150"/>
                        <a:buFont typeface="Calibri"/>
                        <a:buNone/>
                      </a:pPr>
                      <a:r>
                        <a:rPr lang="en-US" sz="1150" u="none" cap="none" strike="noStrike">
                          <a:solidFill>
                            <a:srgbClr val="23293B"/>
                          </a:solidFill>
                          <a:latin typeface="Calibri"/>
                          <a:ea typeface="Calibri"/>
                          <a:cs typeface="Calibri"/>
                          <a:sym typeface="Calibri"/>
                        </a:rPr>
                        <a:t>Slice evaluation (M6), audit splits</a:t>
                      </a:r>
                      <a:endParaRPr sz="1150" u="none" cap="none" strike="noStrike">
                        <a:latin typeface="Calibri"/>
                        <a:ea typeface="Calibri"/>
                        <a:cs typeface="Calibri"/>
                        <a:sym typeface="Calibri"/>
                      </a:endParaRPr>
                    </a:p>
                  </a:txBody>
                  <a:tcPr marT="64000" marB="64000" marR="64000" marL="64000" anchor="ctr">
                    <a:lnL cap="flat" cmpd="sng" w="9525">
                      <a:solidFill>
                        <a:srgbClr val="D9E2EA"/>
                      </a:solidFill>
                      <a:prstDash val="solid"/>
                      <a:round/>
                      <a:headEnd len="sm" w="sm" type="none"/>
                      <a:tailEnd len="sm" w="sm" type="none"/>
                    </a:lnL>
                    <a:lnR cap="flat" cmpd="sng" w="9525">
                      <a:solidFill>
                        <a:srgbClr val="D9E2EA"/>
                      </a:solidFill>
                      <a:prstDash val="solid"/>
                      <a:round/>
                      <a:headEnd len="sm" w="sm" type="none"/>
                      <a:tailEnd len="sm" w="sm" type="none"/>
                    </a:lnR>
                    <a:lnT cap="flat" cmpd="sng" w="9525">
                      <a:solidFill>
                        <a:srgbClr val="D9E2EA"/>
                      </a:solidFill>
                      <a:prstDash val="solid"/>
                      <a:round/>
                      <a:headEnd len="sm" w="sm" type="none"/>
                      <a:tailEnd len="sm" w="sm" type="none"/>
                    </a:lnT>
                    <a:lnB cap="flat" cmpd="sng" w="9525">
                      <a:solidFill>
                        <a:srgbClr val="D9E2EA"/>
                      </a:solidFill>
                      <a:prstDash val="solid"/>
                      <a:round/>
                      <a:headEnd len="sm" w="sm" type="none"/>
                      <a:tailEnd len="sm" w="sm" type="none"/>
                    </a:lnB>
                    <a:solidFill>
                      <a:srgbClr val="FFFFFF"/>
                    </a:solidFill>
                  </a:tcPr>
                </a:tc>
              </a:tr>
            </a:tbl>
          </a:graphicData>
        </a:graphic>
      </p:graphicFrame>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142" name="Shape 1142"/>
        <p:cNvGrpSpPr/>
        <p:nvPr/>
      </p:nvGrpSpPr>
      <p:grpSpPr>
        <a:xfrm>
          <a:off x="0" y="0"/>
          <a:ext cx="0" cy="0"/>
          <a:chOff x="0" y="0"/>
          <a:chExt cx="0" cy="0"/>
        </a:xfrm>
      </p:grpSpPr>
      <p:sp>
        <p:nvSpPr>
          <p:cNvPr id="1143" name="Google Shape;1143;p39"/>
          <p:cNvSpPr/>
          <p:nvPr/>
        </p:nvSpPr>
        <p:spPr>
          <a:xfrm>
            <a:off x="502920" y="274320"/>
            <a:ext cx="9646920" cy="56692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D2A5C"/>
              </a:buClr>
              <a:buSzPts val="2700"/>
              <a:buFont typeface="Calibri"/>
              <a:buNone/>
            </a:pPr>
            <a:r>
              <a:rPr b="1" i="0" lang="en-US" sz="2700" u="none" cap="none" strike="noStrike">
                <a:solidFill>
                  <a:srgbClr val="1D2A5C"/>
                </a:solidFill>
                <a:latin typeface="Calibri"/>
                <a:ea typeface="Calibri"/>
                <a:cs typeface="Calibri"/>
                <a:sym typeface="Calibri"/>
              </a:rPr>
              <a:t>Common mistakes</a:t>
            </a:r>
            <a:endParaRPr b="0" i="0" sz="2700" u="none" cap="none" strike="noStrike">
              <a:solidFill>
                <a:schemeClr val="dk1"/>
              </a:solidFill>
              <a:latin typeface="Calibri"/>
              <a:ea typeface="Calibri"/>
              <a:cs typeface="Calibri"/>
              <a:sym typeface="Calibri"/>
            </a:endParaRPr>
          </a:p>
        </p:txBody>
      </p:sp>
      <p:sp>
        <p:nvSpPr>
          <p:cNvPr id="1144" name="Google Shape;1144;p39"/>
          <p:cNvSpPr/>
          <p:nvPr/>
        </p:nvSpPr>
        <p:spPr>
          <a:xfrm>
            <a:off x="502920" y="859536"/>
            <a:ext cx="9646920" cy="31089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F6B7A"/>
              </a:buClr>
              <a:buSzPts val="1250"/>
              <a:buFont typeface="Arial"/>
              <a:buNone/>
            </a:pPr>
            <a:r>
              <a:rPr b="0" i="0" lang="en-US" sz="1250" u="none" cap="none" strike="noStrike">
                <a:solidFill>
                  <a:srgbClr val="5F6B7A"/>
                </a:solidFill>
                <a:latin typeface="Arial"/>
                <a:ea typeface="Arial"/>
                <a:cs typeface="Arial"/>
                <a:sym typeface="Arial"/>
              </a:rPr>
              <a:t>أخطاء شائعة</a:t>
            </a:r>
            <a:endParaRPr b="0" i="0" sz="1250" u="none" cap="none" strike="noStrike">
              <a:solidFill>
                <a:schemeClr val="dk1"/>
              </a:solidFill>
              <a:latin typeface="Calibri"/>
              <a:ea typeface="Calibri"/>
              <a:cs typeface="Calibri"/>
              <a:sym typeface="Calibri"/>
            </a:endParaRPr>
          </a:p>
        </p:txBody>
      </p:sp>
      <p:pic>
        <p:nvPicPr>
          <p:cNvPr descr="/sessions/blissful-determined-ritchie/build/assets/sdaia_logo.png" id="1145" name="Google Shape;1145;p39"/>
          <p:cNvPicPr preferRelativeResize="0"/>
          <p:nvPr/>
        </p:nvPicPr>
        <p:blipFill rotWithShape="1">
          <a:blip r:embed="rId3">
            <a:alphaModFix/>
          </a:blip>
          <a:srcRect b="0" l="0" r="0" t="0"/>
          <a:stretch/>
        </p:blipFill>
        <p:spPr>
          <a:xfrm>
            <a:off x="10625328" y="310896"/>
            <a:ext cx="1078992" cy="264111"/>
          </a:xfrm>
          <a:prstGeom prst="rect">
            <a:avLst/>
          </a:prstGeom>
          <a:noFill/>
          <a:ln>
            <a:noFill/>
          </a:ln>
        </p:spPr>
      </p:pic>
      <p:sp>
        <p:nvSpPr>
          <p:cNvPr id="1146" name="Google Shape;1146;p39"/>
          <p:cNvSpPr/>
          <p:nvPr/>
        </p:nvSpPr>
        <p:spPr>
          <a:xfrm>
            <a:off x="502920" y="6528816"/>
            <a:ext cx="8686800"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A79D"/>
              </a:buClr>
              <a:buSzPts val="800"/>
              <a:buFont typeface="Calibri"/>
              <a:buNone/>
            </a:pPr>
            <a:r>
              <a:rPr b="1" i="0" lang="en-US" sz="800" u="none" cap="none" strike="noStrike">
                <a:solidFill>
                  <a:srgbClr val="00A79D"/>
                </a:solidFill>
                <a:latin typeface="Calibri"/>
                <a:ea typeface="Calibri"/>
                <a:cs typeface="Calibri"/>
                <a:sym typeface="Calibri"/>
              </a:rPr>
              <a:t>MODULE 2   </a:t>
            </a:r>
            <a:r>
              <a:rPr b="0" i="0" lang="en-US" sz="800" u="none" cap="none" strike="noStrike">
                <a:solidFill>
                  <a:srgbClr val="8A96A6"/>
                </a:solidFill>
                <a:latin typeface="Calibri"/>
                <a:ea typeface="Calibri"/>
                <a:cs typeface="Calibri"/>
                <a:sym typeface="Calibri"/>
              </a:rPr>
              <a:t>SDA-AIE-212 · Computer Vision Systems Development</a:t>
            </a:r>
            <a:endParaRPr b="0" i="0" sz="800" u="none" cap="none" strike="noStrike">
              <a:solidFill>
                <a:schemeClr val="dk1"/>
              </a:solidFill>
              <a:latin typeface="Calibri"/>
              <a:ea typeface="Calibri"/>
              <a:cs typeface="Calibri"/>
              <a:sym typeface="Calibri"/>
            </a:endParaRPr>
          </a:p>
        </p:txBody>
      </p:sp>
      <p:sp>
        <p:nvSpPr>
          <p:cNvPr id="1147" name="Google Shape;1147;p39"/>
          <p:cNvSpPr/>
          <p:nvPr/>
        </p:nvSpPr>
        <p:spPr>
          <a:xfrm>
            <a:off x="11292840" y="6528816"/>
            <a:ext cx="411480" cy="219456"/>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8A96A6"/>
              </a:buClr>
              <a:buSzPts val="900"/>
              <a:buFont typeface="Calibri"/>
              <a:buNone/>
            </a:pPr>
            <a:r>
              <a:rPr b="0" i="0" lang="en-US" sz="900" u="none" cap="none" strike="noStrike">
                <a:solidFill>
                  <a:srgbClr val="8A96A6"/>
                </a:solidFill>
                <a:latin typeface="Calibri"/>
                <a:ea typeface="Calibri"/>
                <a:cs typeface="Calibri"/>
                <a:sym typeface="Calibri"/>
              </a:rPr>
              <a:t>39</a:t>
            </a:r>
            <a:endParaRPr b="0" i="0" sz="900" u="none" cap="none" strike="noStrike">
              <a:solidFill>
                <a:schemeClr val="dk1"/>
              </a:solidFill>
              <a:latin typeface="Calibri"/>
              <a:ea typeface="Calibri"/>
              <a:cs typeface="Calibri"/>
              <a:sym typeface="Calibri"/>
            </a:endParaRPr>
          </a:p>
        </p:txBody>
      </p:sp>
      <p:sp>
        <p:nvSpPr>
          <p:cNvPr id="1148" name="Google Shape;1148;p39"/>
          <p:cNvSpPr/>
          <p:nvPr/>
        </p:nvSpPr>
        <p:spPr>
          <a:xfrm>
            <a:off x="502920" y="1389888"/>
            <a:ext cx="11185855" cy="3657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5F6B7A"/>
              </a:buClr>
              <a:buSzPts val="1250"/>
              <a:buFont typeface="Calibri"/>
              <a:buNone/>
            </a:pPr>
            <a:r>
              <a:rPr b="0" i="1" lang="en-US" sz="1250" u="none" cap="none" strike="noStrike">
                <a:solidFill>
                  <a:srgbClr val="5F6B7A"/>
                </a:solidFill>
                <a:latin typeface="Calibri"/>
                <a:ea typeface="Calibri"/>
                <a:cs typeface="Calibri"/>
                <a:sym typeface="Calibri"/>
              </a:rPr>
              <a:t>Production habit: keep a model card per checkpoint - data version, contract version, per-class metrics, operating point.</a:t>
            </a:r>
            <a:endParaRPr b="0" i="0" sz="1250" u="none" cap="none" strike="noStrike">
              <a:solidFill>
                <a:schemeClr val="dk1"/>
              </a:solidFill>
              <a:latin typeface="Calibri"/>
              <a:ea typeface="Calibri"/>
              <a:cs typeface="Calibri"/>
              <a:sym typeface="Calibri"/>
            </a:endParaRPr>
          </a:p>
        </p:txBody>
      </p:sp>
      <p:graphicFrame>
        <p:nvGraphicFramePr>
          <p:cNvPr id="1149" name="Google Shape;1149;p39"/>
          <p:cNvGraphicFramePr/>
          <p:nvPr/>
        </p:nvGraphicFramePr>
        <p:xfrm>
          <a:off x="502920" y="1865376"/>
          <a:ext cx="3000000" cy="3000000"/>
        </p:xfrm>
        <a:graphic>
          <a:graphicData uri="http://schemas.openxmlformats.org/drawingml/2006/table">
            <a:tbl>
              <a:tblPr>
                <a:noFill/>
                <a:tableStyleId>{F80342BA-3033-44D6-9F91-622DC7A4C435}</a:tableStyleId>
              </a:tblPr>
              <a:tblGrid>
                <a:gridCol w="3547025"/>
                <a:gridCol w="3988950"/>
                <a:gridCol w="3649875"/>
              </a:tblGrid>
              <a:tr h="628325">
                <a:tc>
                  <a:txBody>
                    <a:bodyPr/>
                    <a:lstStyle/>
                    <a:p>
                      <a:pPr indent="0" lvl="0" marL="0" marR="0" rtl="0" algn="l">
                        <a:spcBef>
                          <a:spcPts val="0"/>
                        </a:spcBef>
                        <a:spcAft>
                          <a:spcPts val="0"/>
                        </a:spcAft>
                        <a:buClr>
                          <a:srgbClr val="FFFFFF"/>
                        </a:buClr>
                        <a:buSzPts val="1050"/>
                        <a:buFont typeface="Calibri"/>
                        <a:buNone/>
                      </a:pPr>
                      <a:r>
                        <a:rPr b="1" lang="en-US" sz="1050" u="none" cap="none" strike="noStrike">
                          <a:solidFill>
                            <a:srgbClr val="FFFFFF"/>
                          </a:solidFill>
                          <a:latin typeface="Calibri"/>
                          <a:ea typeface="Calibri"/>
                          <a:cs typeface="Calibri"/>
                          <a:sym typeface="Calibri"/>
                        </a:rPr>
                        <a:t>Mistake</a:t>
                      </a:r>
                      <a:endParaRPr sz="1050" u="none" cap="none" strike="noStrike">
                        <a:latin typeface="Calibri"/>
                        <a:ea typeface="Calibri"/>
                        <a:cs typeface="Calibri"/>
                        <a:sym typeface="Calibri"/>
                      </a:endParaRPr>
                    </a:p>
                  </a:txBody>
                  <a:tcPr marT="64000" marB="64000" marR="64000" marL="64000" anchor="ctr">
                    <a:lnL cap="flat" cmpd="sng" w="9525">
                      <a:solidFill>
                        <a:srgbClr val="D9E2EA"/>
                      </a:solidFill>
                      <a:prstDash val="solid"/>
                      <a:round/>
                      <a:headEnd len="sm" w="sm" type="none"/>
                      <a:tailEnd len="sm" w="sm" type="none"/>
                    </a:lnL>
                    <a:lnR cap="flat" cmpd="sng" w="9525">
                      <a:solidFill>
                        <a:srgbClr val="D9E2EA"/>
                      </a:solidFill>
                      <a:prstDash val="solid"/>
                      <a:round/>
                      <a:headEnd len="sm" w="sm" type="none"/>
                      <a:tailEnd len="sm" w="sm" type="none"/>
                    </a:lnR>
                    <a:lnT cap="flat" cmpd="sng" w="9525">
                      <a:solidFill>
                        <a:srgbClr val="D9E2EA"/>
                      </a:solidFill>
                      <a:prstDash val="solid"/>
                      <a:round/>
                      <a:headEnd len="sm" w="sm" type="none"/>
                      <a:tailEnd len="sm" w="sm" type="none"/>
                    </a:lnT>
                    <a:lnB cap="flat" cmpd="sng" w="9525">
                      <a:solidFill>
                        <a:srgbClr val="D9E2EA"/>
                      </a:solidFill>
                      <a:prstDash val="solid"/>
                      <a:round/>
                      <a:headEnd len="sm" w="sm" type="none"/>
                      <a:tailEnd len="sm" w="sm" type="none"/>
                    </a:lnB>
                    <a:solidFill>
                      <a:srgbClr val="1D2A5C"/>
                    </a:solidFill>
                  </a:tcPr>
                </a:tc>
                <a:tc>
                  <a:txBody>
                    <a:bodyPr/>
                    <a:lstStyle/>
                    <a:p>
                      <a:pPr indent="0" lvl="0" marL="0" marR="0" rtl="0" algn="l">
                        <a:spcBef>
                          <a:spcPts val="0"/>
                        </a:spcBef>
                        <a:spcAft>
                          <a:spcPts val="0"/>
                        </a:spcAft>
                        <a:buClr>
                          <a:srgbClr val="FFFFFF"/>
                        </a:buClr>
                        <a:buSzPts val="1050"/>
                        <a:buFont typeface="Calibri"/>
                        <a:buNone/>
                      </a:pPr>
                      <a:r>
                        <a:rPr b="1" lang="en-US" sz="1050" u="none" cap="none" strike="noStrike">
                          <a:solidFill>
                            <a:srgbClr val="FFFFFF"/>
                          </a:solidFill>
                          <a:latin typeface="Calibri"/>
                          <a:ea typeface="Calibri"/>
                          <a:cs typeface="Calibri"/>
                          <a:sym typeface="Calibri"/>
                        </a:rPr>
                        <a:t>Consequence</a:t>
                      </a:r>
                      <a:endParaRPr sz="1050" u="none" cap="none" strike="noStrike">
                        <a:latin typeface="Calibri"/>
                        <a:ea typeface="Calibri"/>
                        <a:cs typeface="Calibri"/>
                        <a:sym typeface="Calibri"/>
                      </a:endParaRPr>
                    </a:p>
                  </a:txBody>
                  <a:tcPr marT="64000" marB="64000" marR="64000" marL="64000" anchor="ctr">
                    <a:lnL cap="flat" cmpd="sng" w="9525">
                      <a:solidFill>
                        <a:srgbClr val="D9E2EA"/>
                      </a:solidFill>
                      <a:prstDash val="solid"/>
                      <a:round/>
                      <a:headEnd len="sm" w="sm" type="none"/>
                      <a:tailEnd len="sm" w="sm" type="none"/>
                    </a:lnL>
                    <a:lnR cap="flat" cmpd="sng" w="9525">
                      <a:solidFill>
                        <a:srgbClr val="D9E2EA"/>
                      </a:solidFill>
                      <a:prstDash val="solid"/>
                      <a:round/>
                      <a:headEnd len="sm" w="sm" type="none"/>
                      <a:tailEnd len="sm" w="sm" type="none"/>
                    </a:lnR>
                    <a:lnT cap="flat" cmpd="sng" w="9525">
                      <a:solidFill>
                        <a:srgbClr val="D9E2EA"/>
                      </a:solidFill>
                      <a:prstDash val="solid"/>
                      <a:round/>
                      <a:headEnd len="sm" w="sm" type="none"/>
                      <a:tailEnd len="sm" w="sm" type="none"/>
                    </a:lnT>
                    <a:lnB cap="flat" cmpd="sng" w="9525">
                      <a:solidFill>
                        <a:srgbClr val="D9E2EA"/>
                      </a:solidFill>
                      <a:prstDash val="solid"/>
                      <a:round/>
                      <a:headEnd len="sm" w="sm" type="none"/>
                      <a:tailEnd len="sm" w="sm" type="none"/>
                    </a:lnB>
                    <a:solidFill>
                      <a:srgbClr val="1D2A5C"/>
                    </a:solidFill>
                  </a:tcPr>
                </a:tc>
                <a:tc>
                  <a:txBody>
                    <a:bodyPr/>
                    <a:lstStyle/>
                    <a:p>
                      <a:pPr indent="0" lvl="0" marL="0" marR="0" rtl="0" algn="l">
                        <a:spcBef>
                          <a:spcPts val="0"/>
                        </a:spcBef>
                        <a:spcAft>
                          <a:spcPts val="0"/>
                        </a:spcAft>
                        <a:buClr>
                          <a:srgbClr val="FFFFFF"/>
                        </a:buClr>
                        <a:buSzPts val="1050"/>
                        <a:buFont typeface="Calibri"/>
                        <a:buNone/>
                      </a:pPr>
                      <a:r>
                        <a:rPr b="1" lang="en-US" sz="1050" u="none" cap="none" strike="noStrike">
                          <a:solidFill>
                            <a:srgbClr val="FFFFFF"/>
                          </a:solidFill>
                          <a:latin typeface="Calibri"/>
                          <a:ea typeface="Calibri"/>
                          <a:cs typeface="Calibri"/>
                          <a:sym typeface="Calibri"/>
                        </a:rPr>
                        <a:t>Defence</a:t>
                      </a:r>
                      <a:endParaRPr sz="1050" u="none" cap="none" strike="noStrike">
                        <a:latin typeface="Calibri"/>
                        <a:ea typeface="Calibri"/>
                        <a:cs typeface="Calibri"/>
                        <a:sym typeface="Calibri"/>
                      </a:endParaRPr>
                    </a:p>
                  </a:txBody>
                  <a:tcPr marT="64000" marB="64000" marR="64000" marL="64000" anchor="ctr">
                    <a:lnL cap="flat" cmpd="sng" w="9525">
                      <a:solidFill>
                        <a:srgbClr val="D9E2EA"/>
                      </a:solidFill>
                      <a:prstDash val="solid"/>
                      <a:round/>
                      <a:headEnd len="sm" w="sm" type="none"/>
                      <a:tailEnd len="sm" w="sm" type="none"/>
                    </a:lnL>
                    <a:lnR cap="flat" cmpd="sng" w="9525">
                      <a:solidFill>
                        <a:srgbClr val="D9E2EA"/>
                      </a:solidFill>
                      <a:prstDash val="solid"/>
                      <a:round/>
                      <a:headEnd len="sm" w="sm" type="none"/>
                      <a:tailEnd len="sm" w="sm" type="none"/>
                    </a:lnR>
                    <a:lnT cap="flat" cmpd="sng" w="9525">
                      <a:solidFill>
                        <a:srgbClr val="D9E2EA"/>
                      </a:solidFill>
                      <a:prstDash val="solid"/>
                      <a:round/>
                      <a:headEnd len="sm" w="sm" type="none"/>
                      <a:tailEnd len="sm" w="sm" type="none"/>
                    </a:lnT>
                    <a:lnB cap="flat" cmpd="sng" w="9525">
                      <a:solidFill>
                        <a:srgbClr val="D9E2EA"/>
                      </a:solidFill>
                      <a:prstDash val="solid"/>
                      <a:round/>
                      <a:headEnd len="sm" w="sm" type="none"/>
                      <a:tailEnd len="sm" w="sm" type="none"/>
                    </a:lnB>
                    <a:solidFill>
                      <a:srgbClr val="1D2A5C"/>
                    </a:solidFill>
                  </a:tcPr>
                </a:tc>
              </a:tr>
              <a:tr h="628325">
                <a:tc>
                  <a:txBody>
                    <a:bodyPr/>
                    <a:lstStyle/>
                    <a:p>
                      <a:pPr indent="0" lvl="0" marL="0" marR="0" rtl="0" algn="l">
                        <a:spcBef>
                          <a:spcPts val="0"/>
                        </a:spcBef>
                        <a:spcAft>
                          <a:spcPts val="0"/>
                        </a:spcAft>
                        <a:buClr>
                          <a:srgbClr val="1D2A5C"/>
                        </a:buClr>
                        <a:buSzPts val="1050"/>
                        <a:buFont typeface="Calibri"/>
                        <a:buNone/>
                      </a:pPr>
                      <a:r>
                        <a:rPr b="1" lang="en-US" sz="1050" u="none" cap="none" strike="noStrike">
                          <a:solidFill>
                            <a:srgbClr val="1D2A5C"/>
                          </a:solidFill>
                          <a:latin typeface="Calibri"/>
                          <a:ea typeface="Calibri"/>
                          <a:cs typeface="Calibri"/>
                          <a:sym typeface="Calibri"/>
                        </a:rPr>
                        <a:t>Fine-tune everything at lr=1e-3</a:t>
                      </a:r>
                      <a:endParaRPr sz="1050" u="none" cap="none" strike="noStrike">
                        <a:latin typeface="Calibri"/>
                        <a:ea typeface="Calibri"/>
                        <a:cs typeface="Calibri"/>
                        <a:sym typeface="Calibri"/>
                      </a:endParaRPr>
                    </a:p>
                  </a:txBody>
                  <a:tcPr marT="64000" marB="64000" marR="64000" marL="64000" anchor="ctr">
                    <a:lnL cap="flat" cmpd="sng" w="9525">
                      <a:solidFill>
                        <a:srgbClr val="D9E2EA"/>
                      </a:solidFill>
                      <a:prstDash val="solid"/>
                      <a:round/>
                      <a:headEnd len="sm" w="sm" type="none"/>
                      <a:tailEnd len="sm" w="sm" type="none"/>
                    </a:lnL>
                    <a:lnR cap="flat" cmpd="sng" w="9525">
                      <a:solidFill>
                        <a:srgbClr val="D9E2EA"/>
                      </a:solidFill>
                      <a:prstDash val="solid"/>
                      <a:round/>
                      <a:headEnd len="sm" w="sm" type="none"/>
                      <a:tailEnd len="sm" w="sm" type="none"/>
                    </a:lnR>
                    <a:lnT cap="flat" cmpd="sng" w="9525">
                      <a:solidFill>
                        <a:srgbClr val="D9E2EA"/>
                      </a:solidFill>
                      <a:prstDash val="solid"/>
                      <a:round/>
                      <a:headEnd len="sm" w="sm" type="none"/>
                      <a:tailEnd len="sm" w="sm" type="none"/>
                    </a:lnT>
                    <a:lnB cap="flat" cmpd="sng" w="9525">
                      <a:solidFill>
                        <a:srgbClr val="D9E2EA"/>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23293B"/>
                        </a:buClr>
                        <a:buSzPts val="1050"/>
                        <a:buFont typeface="Calibri"/>
                        <a:buNone/>
                      </a:pPr>
                      <a:r>
                        <a:rPr lang="en-US" sz="1050" u="none" cap="none" strike="noStrike">
                          <a:solidFill>
                            <a:srgbClr val="23293B"/>
                          </a:solidFill>
                          <a:latin typeface="Calibri"/>
                          <a:ea typeface="Calibri"/>
                          <a:cs typeface="Calibri"/>
                          <a:sym typeface="Calibri"/>
                        </a:rPr>
                        <a:t>Pre-trained features destroyed in one epoch</a:t>
                      </a:r>
                      <a:endParaRPr sz="1050" u="none" cap="none" strike="noStrike">
                        <a:latin typeface="Calibri"/>
                        <a:ea typeface="Calibri"/>
                        <a:cs typeface="Calibri"/>
                        <a:sym typeface="Calibri"/>
                      </a:endParaRPr>
                    </a:p>
                  </a:txBody>
                  <a:tcPr marT="64000" marB="64000" marR="64000" marL="64000" anchor="ctr">
                    <a:lnL cap="flat" cmpd="sng" w="9525">
                      <a:solidFill>
                        <a:srgbClr val="D9E2EA"/>
                      </a:solidFill>
                      <a:prstDash val="solid"/>
                      <a:round/>
                      <a:headEnd len="sm" w="sm" type="none"/>
                      <a:tailEnd len="sm" w="sm" type="none"/>
                    </a:lnL>
                    <a:lnR cap="flat" cmpd="sng" w="9525">
                      <a:solidFill>
                        <a:srgbClr val="D9E2EA"/>
                      </a:solidFill>
                      <a:prstDash val="solid"/>
                      <a:round/>
                      <a:headEnd len="sm" w="sm" type="none"/>
                      <a:tailEnd len="sm" w="sm" type="none"/>
                    </a:lnR>
                    <a:lnT cap="flat" cmpd="sng" w="9525">
                      <a:solidFill>
                        <a:srgbClr val="D9E2EA"/>
                      </a:solidFill>
                      <a:prstDash val="solid"/>
                      <a:round/>
                      <a:headEnd len="sm" w="sm" type="none"/>
                      <a:tailEnd len="sm" w="sm" type="none"/>
                    </a:lnT>
                    <a:lnB cap="flat" cmpd="sng" w="9525">
                      <a:solidFill>
                        <a:srgbClr val="D9E2EA"/>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23293B"/>
                        </a:buClr>
                        <a:buSzPts val="1050"/>
                        <a:buFont typeface="Calibri"/>
                        <a:buNone/>
                      </a:pPr>
                      <a:r>
                        <a:rPr lang="en-US" sz="1050" u="none" cap="none" strike="noStrike">
                          <a:solidFill>
                            <a:srgbClr val="23293B"/>
                          </a:solidFill>
                          <a:latin typeface="Calibri"/>
                          <a:ea typeface="Calibri"/>
                          <a:cs typeface="Calibri"/>
                          <a:sym typeface="Calibri"/>
                        </a:rPr>
                        <a:t>Staged recipe, discriminative LRs</a:t>
                      </a:r>
                      <a:endParaRPr sz="1050" u="none" cap="none" strike="noStrike">
                        <a:latin typeface="Calibri"/>
                        <a:ea typeface="Calibri"/>
                        <a:cs typeface="Calibri"/>
                        <a:sym typeface="Calibri"/>
                      </a:endParaRPr>
                    </a:p>
                  </a:txBody>
                  <a:tcPr marT="64000" marB="64000" marR="64000" marL="64000" anchor="ctr">
                    <a:lnL cap="flat" cmpd="sng" w="9525">
                      <a:solidFill>
                        <a:srgbClr val="D9E2EA"/>
                      </a:solidFill>
                      <a:prstDash val="solid"/>
                      <a:round/>
                      <a:headEnd len="sm" w="sm" type="none"/>
                      <a:tailEnd len="sm" w="sm" type="none"/>
                    </a:lnL>
                    <a:lnR cap="flat" cmpd="sng" w="9525">
                      <a:solidFill>
                        <a:srgbClr val="D9E2EA"/>
                      </a:solidFill>
                      <a:prstDash val="solid"/>
                      <a:round/>
                      <a:headEnd len="sm" w="sm" type="none"/>
                      <a:tailEnd len="sm" w="sm" type="none"/>
                    </a:lnR>
                    <a:lnT cap="flat" cmpd="sng" w="9525">
                      <a:solidFill>
                        <a:srgbClr val="D9E2EA"/>
                      </a:solidFill>
                      <a:prstDash val="solid"/>
                      <a:round/>
                      <a:headEnd len="sm" w="sm" type="none"/>
                      <a:tailEnd len="sm" w="sm" type="none"/>
                    </a:lnT>
                    <a:lnB cap="flat" cmpd="sng" w="9525">
                      <a:solidFill>
                        <a:srgbClr val="D9E2EA"/>
                      </a:solidFill>
                      <a:prstDash val="solid"/>
                      <a:round/>
                      <a:headEnd len="sm" w="sm" type="none"/>
                      <a:tailEnd len="sm" w="sm" type="none"/>
                    </a:lnB>
                    <a:solidFill>
                      <a:srgbClr val="FFFFFF"/>
                    </a:solidFill>
                  </a:tcPr>
                </a:tc>
              </a:tr>
              <a:tr h="628325">
                <a:tc>
                  <a:txBody>
                    <a:bodyPr/>
                    <a:lstStyle/>
                    <a:p>
                      <a:pPr indent="0" lvl="0" marL="0" marR="0" rtl="0" algn="l">
                        <a:spcBef>
                          <a:spcPts val="0"/>
                        </a:spcBef>
                        <a:spcAft>
                          <a:spcPts val="0"/>
                        </a:spcAft>
                        <a:buClr>
                          <a:srgbClr val="1D2A5C"/>
                        </a:buClr>
                        <a:buSzPts val="1050"/>
                        <a:buFont typeface="Calibri"/>
                        <a:buNone/>
                      </a:pPr>
                      <a:r>
                        <a:rPr b="1" lang="en-US" sz="1050" u="none" cap="none" strike="noStrike">
                          <a:solidFill>
                            <a:srgbClr val="1D2A5C"/>
                          </a:solidFill>
                          <a:latin typeface="Calibri"/>
                          <a:ea typeface="Calibri"/>
                          <a:cs typeface="Calibri"/>
                          <a:sym typeface="Calibri"/>
                        </a:rPr>
                        <a:t>model.eval() forgotten</a:t>
                      </a:r>
                      <a:endParaRPr sz="1050" u="none" cap="none" strike="noStrike">
                        <a:latin typeface="Calibri"/>
                        <a:ea typeface="Calibri"/>
                        <a:cs typeface="Calibri"/>
                        <a:sym typeface="Calibri"/>
                      </a:endParaRPr>
                    </a:p>
                  </a:txBody>
                  <a:tcPr marT="64000" marB="64000" marR="64000" marL="64000" anchor="ctr">
                    <a:lnL cap="flat" cmpd="sng" w="9525">
                      <a:solidFill>
                        <a:srgbClr val="D9E2EA"/>
                      </a:solidFill>
                      <a:prstDash val="solid"/>
                      <a:round/>
                      <a:headEnd len="sm" w="sm" type="none"/>
                      <a:tailEnd len="sm" w="sm" type="none"/>
                    </a:lnL>
                    <a:lnR cap="flat" cmpd="sng" w="9525">
                      <a:solidFill>
                        <a:srgbClr val="D9E2EA"/>
                      </a:solidFill>
                      <a:prstDash val="solid"/>
                      <a:round/>
                      <a:headEnd len="sm" w="sm" type="none"/>
                      <a:tailEnd len="sm" w="sm" type="none"/>
                    </a:lnR>
                    <a:lnT cap="flat" cmpd="sng" w="9525">
                      <a:solidFill>
                        <a:srgbClr val="D9E2EA"/>
                      </a:solidFill>
                      <a:prstDash val="solid"/>
                      <a:round/>
                      <a:headEnd len="sm" w="sm" type="none"/>
                      <a:tailEnd len="sm" w="sm" type="none"/>
                    </a:lnT>
                    <a:lnB cap="flat" cmpd="sng" w="9525">
                      <a:solidFill>
                        <a:srgbClr val="D9E2EA"/>
                      </a:solidFill>
                      <a:prstDash val="solid"/>
                      <a:round/>
                      <a:headEnd len="sm" w="sm" type="none"/>
                      <a:tailEnd len="sm" w="sm" type="none"/>
                    </a:lnB>
                    <a:solidFill>
                      <a:srgbClr val="F2F6F9"/>
                    </a:solidFill>
                  </a:tcPr>
                </a:tc>
                <a:tc>
                  <a:txBody>
                    <a:bodyPr/>
                    <a:lstStyle/>
                    <a:p>
                      <a:pPr indent="0" lvl="0" marL="0" marR="0" rtl="0" algn="l">
                        <a:spcBef>
                          <a:spcPts val="0"/>
                        </a:spcBef>
                        <a:spcAft>
                          <a:spcPts val="0"/>
                        </a:spcAft>
                        <a:buClr>
                          <a:srgbClr val="23293B"/>
                        </a:buClr>
                        <a:buSzPts val="1050"/>
                        <a:buFont typeface="Calibri"/>
                        <a:buNone/>
                      </a:pPr>
                      <a:r>
                        <a:rPr lang="en-US" sz="1050" u="none" cap="none" strike="noStrike">
                          <a:solidFill>
                            <a:srgbClr val="23293B"/>
                          </a:solidFill>
                          <a:latin typeface="Calibri"/>
                          <a:ea typeface="Calibri"/>
                          <a:cs typeface="Calibri"/>
                          <a:sym typeface="Calibri"/>
                        </a:rPr>
                        <a:t>Dropout/BN corrupt every downstream number</a:t>
                      </a:r>
                      <a:endParaRPr sz="1050" u="none" cap="none" strike="noStrike">
                        <a:latin typeface="Calibri"/>
                        <a:ea typeface="Calibri"/>
                        <a:cs typeface="Calibri"/>
                        <a:sym typeface="Calibri"/>
                      </a:endParaRPr>
                    </a:p>
                  </a:txBody>
                  <a:tcPr marT="64000" marB="64000" marR="64000" marL="64000" anchor="ctr">
                    <a:lnL cap="flat" cmpd="sng" w="9525">
                      <a:solidFill>
                        <a:srgbClr val="D9E2EA"/>
                      </a:solidFill>
                      <a:prstDash val="solid"/>
                      <a:round/>
                      <a:headEnd len="sm" w="sm" type="none"/>
                      <a:tailEnd len="sm" w="sm" type="none"/>
                    </a:lnL>
                    <a:lnR cap="flat" cmpd="sng" w="9525">
                      <a:solidFill>
                        <a:srgbClr val="D9E2EA"/>
                      </a:solidFill>
                      <a:prstDash val="solid"/>
                      <a:round/>
                      <a:headEnd len="sm" w="sm" type="none"/>
                      <a:tailEnd len="sm" w="sm" type="none"/>
                    </a:lnR>
                    <a:lnT cap="flat" cmpd="sng" w="9525">
                      <a:solidFill>
                        <a:srgbClr val="D9E2EA"/>
                      </a:solidFill>
                      <a:prstDash val="solid"/>
                      <a:round/>
                      <a:headEnd len="sm" w="sm" type="none"/>
                      <a:tailEnd len="sm" w="sm" type="none"/>
                    </a:lnT>
                    <a:lnB cap="flat" cmpd="sng" w="9525">
                      <a:solidFill>
                        <a:srgbClr val="D9E2EA"/>
                      </a:solidFill>
                      <a:prstDash val="solid"/>
                      <a:round/>
                      <a:headEnd len="sm" w="sm" type="none"/>
                      <a:tailEnd len="sm" w="sm" type="none"/>
                    </a:lnB>
                    <a:solidFill>
                      <a:srgbClr val="F2F6F9"/>
                    </a:solidFill>
                  </a:tcPr>
                </a:tc>
                <a:tc>
                  <a:txBody>
                    <a:bodyPr/>
                    <a:lstStyle/>
                    <a:p>
                      <a:pPr indent="0" lvl="0" marL="0" marR="0" rtl="0" algn="l">
                        <a:spcBef>
                          <a:spcPts val="0"/>
                        </a:spcBef>
                        <a:spcAft>
                          <a:spcPts val="0"/>
                        </a:spcAft>
                        <a:buClr>
                          <a:srgbClr val="23293B"/>
                        </a:buClr>
                        <a:buSzPts val="1050"/>
                        <a:buFont typeface="Calibri"/>
                        <a:buNone/>
                      </a:pPr>
                      <a:r>
                        <a:rPr lang="en-US" sz="1050" u="none" cap="none" strike="noStrike">
                          <a:solidFill>
                            <a:srgbClr val="23293B"/>
                          </a:solidFill>
                          <a:latin typeface="Calibri"/>
                          <a:ea typeface="Calibri"/>
                          <a:cs typeface="Calibri"/>
                          <a:sym typeface="Calibri"/>
                        </a:rPr>
                        <a:t>Deterministic eval path, audited</a:t>
                      </a:r>
                      <a:endParaRPr sz="1050" u="none" cap="none" strike="noStrike">
                        <a:latin typeface="Calibri"/>
                        <a:ea typeface="Calibri"/>
                        <a:cs typeface="Calibri"/>
                        <a:sym typeface="Calibri"/>
                      </a:endParaRPr>
                    </a:p>
                  </a:txBody>
                  <a:tcPr marT="64000" marB="64000" marR="64000" marL="64000" anchor="ctr">
                    <a:lnL cap="flat" cmpd="sng" w="9525">
                      <a:solidFill>
                        <a:srgbClr val="D9E2EA"/>
                      </a:solidFill>
                      <a:prstDash val="solid"/>
                      <a:round/>
                      <a:headEnd len="sm" w="sm" type="none"/>
                      <a:tailEnd len="sm" w="sm" type="none"/>
                    </a:lnL>
                    <a:lnR cap="flat" cmpd="sng" w="9525">
                      <a:solidFill>
                        <a:srgbClr val="D9E2EA"/>
                      </a:solidFill>
                      <a:prstDash val="solid"/>
                      <a:round/>
                      <a:headEnd len="sm" w="sm" type="none"/>
                      <a:tailEnd len="sm" w="sm" type="none"/>
                    </a:lnR>
                    <a:lnT cap="flat" cmpd="sng" w="9525">
                      <a:solidFill>
                        <a:srgbClr val="D9E2EA"/>
                      </a:solidFill>
                      <a:prstDash val="solid"/>
                      <a:round/>
                      <a:headEnd len="sm" w="sm" type="none"/>
                      <a:tailEnd len="sm" w="sm" type="none"/>
                    </a:lnT>
                    <a:lnB cap="flat" cmpd="sng" w="9525">
                      <a:solidFill>
                        <a:srgbClr val="D9E2EA"/>
                      </a:solidFill>
                      <a:prstDash val="solid"/>
                      <a:round/>
                      <a:headEnd len="sm" w="sm" type="none"/>
                      <a:tailEnd len="sm" w="sm" type="none"/>
                    </a:lnB>
                    <a:solidFill>
                      <a:srgbClr val="F2F6F9"/>
                    </a:solidFill>
                  </a:tcPr>
                </a:tc>
              </a:tr>
              <a:tr h="628325">
                <a:tc>
                  <a:txBody>
                    <a:bodyPr/>
                    <a:lstStyle/>
                    <a:p>
                      <a:pPr indent="0" lvl="0" marL="0" marR="0" rtl="0" algn="l">
                        <a:spcBef>
                          <a:spcPts val="0"/>
                        </a:spcBef>
                        <a:spcAft>
                          <a:spcPts val="0"/>
                        </a:spcAft>
                        <a:buClr>
                          <a:srgbClr val="1D2A5C"/>
                        </a:buClr>
                        <a:buSzPts val="1050"/>
                        <a:buFont typeface="Calibri"/>
                        <a:buNone/>
                      </a:pPr>
                      <a:r>
                        <a:rPr b="1" lang="en-US" sz="1050" u="none" cap="none" strike="noStrike">
                          <a:solidFill>
                            <a:srgbClr val="1D2A5C"/>
                          </a:solidFill>
                          <a:latin typeface="Calibri"/>
                          <a:ea typeface="Calibri"/>
                          <a:cs typeface="Calibri"/>
                          <a:sym typeface="Calibri"/>
                        </a:rPr>
                        <a:t>Accuracy on 94%-majority data</a:t>
                      </a:r>
                      <a:endParaRPr sz="1050" u="none" cap="none" strike="noStrike">
                        <a:latin typeface="Calibri"/>
                        <a:ea typeface="Calibri"/>
                        <a:cs typeface="Calibri"/>
                        <a:sym typeface="Calibri"/>
                      </a:endParaRPr>
                    </a:p>
                  </a:txBody>
                  <a:tcPr marT="64000" marB="64000" marR="64000" marL="64000" anchor="ctr">
                    <a:lnL cap="flat" cmpd="sng" w="9525">
                      <a:solidFill>
                        <a:srgbClr val="D9E2EA"/>
                      </a:solidFill>
                      <a:prstDash val="solid"/>
                      <a:round/>
                      <a:headEnd len="sm" w="sm" type="none"/>
                      <a:tailEnd len="sm" w="sm" type="none"/>
                    </a:lnL>
                    <a:lnR cap="flat" cmpd="sng" w="9525">
                      <a:solidFill>
                        <a:srgbClr val="D9E2EA"/>
                      </a:solidFill>
                      <a:prstDash val="solid"/>
                      <a:round/>
                      <a:headEnd len="sm" w="sm" type="none"/>
                      <a:tailEnd len="sm" w="sm" type="none"/>
                    </a:lnR>
                    <a:lnT cap="flat" cmpd="sng" w="9525">
                      <a:solidFill>
                        <a:srgbClr val="D9E2EA"/>
                      </a:solidFill>
                      <a:prstDash val="solid"/>
                      <a:round/>
                      <a:headEnd len="sm" w="sm" type="none"/>
                      <a:tailEnd len="sm" w="sm" type="none"/>
                    </a:lnT>
                    <a:lnB cap="flat" cmpd="sng" w="9525">
                      <a:solidFill>
                        <a:srgbClr val="D9E2EA"/>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23293B"/>
                        </a:buClr>
                        <a:buSzPts val="1050"/>
                        <a:buFont typeface="Calibri"/>
                        <a:buNone/>
                      </a:pPr>
                      <a:r>
                        <a:rPr lang="en-US" sz="1050" u="none" cap="none" strike="noStrike">
                          <a:solidFill>
                            <a:srgbClr val="23293B"/>
                          </a:solidFill>
                          <a:latin typeface="Calibri"/>
                          <a:ea typeface="Calibri"/>
                          <a:cs typeface="Calibri"/>
                          <a:sym typeface="Calibri"/>
                        </a:rPr>
                        <a:t>Do-nothing classifier scores 0.94</a:t>
                      </a:r>
                      <a:endParaRPr sz="1050" u="none" cap="none" strike="noStrike">
                        <a:latin typeface="Calibri"/>
                        <a:ea typeface="Calibri"/>
                        <a:cs typeface="Calibri"/>
                        <a:sym typeface="Calibri"/>
                      </a:endParaRPr>
                    </a:p>
                  </a:txBody>
                  <a:tcPr marT="64000" marB="64000" marR="64000" marL="64000" anchor="ctr">
                    <a:lnL cap="flat" cmpd="sng" w="9525">
                      <a:solidFill>
                        <a:srgbClr val="D9E2EA"/>
                      </a:solidFill>
                      <a:prstDash val="solid"/>
                      <a:round/>
                      <a:headEnd len="sm" w="sm" type="none"/>
                      <a:tailEnd len="sm" w="sm" type="none"/>
                    </a:lnL>
                    <a:lnR cap="flat" cmpd="sng" w="9525">
                      <a:solidFill>
                        <a:srgbClr val="D9E2EA"/>
                      </a:solidFill>
                      <a:prstDash val="solid"/>
                      <a:round/>
                      <a:headEnd len="sm" w="sm" type="none"/>
                      <a:tailEnd len="sm" w="sm" type="none"/>
                    </a:lnR>
                    <a:lnT cap="flat" cmpd="sng" w="9525">
                      <a:solidFill>
                        <a:srgbClr val="D9E2EA"/>
                      </a:solidFill>
                      <a:prstDash val="solid"/>
                      <a:round/>
                      <a:headEnd len="sm" w="sm" type="none"/>
                      <a:tailEnd len="sm" w="sm" type="none"/>
                    </a:lnT>
                    <a:lnB cap="flat" cmpd="sng" w="9525">
                      <a:solidFill>
                        <a:srgbClr val="D9E2EA"/>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23293B"/>
                        </a:buClr>
                        <a:buSzPts val="1050"/>
                        <a:buFont typeface="Calibri"/>
                        <a:buNone/>
                      </a:pPr>
                      <a:r>
                        <a:rPr lang="en-US" sz="1050" u="none" cap="none" strike="noStrike">
                          <a:solidFill>
                            <a:srgbClr val="23293B"/>
                          </a:solidFill>
                          <a:latin typeface="Calibri"/>
                          <a:ea typeface="Calibri"/>
                          <a:cs typeface="Calibri"/>
                          <a:sym typeface="Calibri"/>
                        </a:rPr>
                        <a:t>Macro-F1 / per-class recall headline</a:t>
                      </a:r>
                      <a:endParaRPr sz="1050" u="none" cap="none" strike="noStrike">
                        <a:latin typeface="Calibri"/>
                        <a:ea typeface="Calibri"/>
                        <a:cs typeface="Calibri"/>
                        <a:sym typeface="Calibri"/>
                      </a:endParaRPr>
                    </a:p>
                  </a:txBody>
                  <a:tcPr marT="64000" marB="64000" marR="64000" marL="64000" anchor="ctr">
                    <a:lnL cap="flat" cmpd="sng" w="9525">
                      <a:solidFill>
                        <a:srgbClr val="D9E2EA"/>
                      </a:solidFill>
                      <a:prstDash val="solid"/>
                      <a:round/>
                      <a:headEnd len="sm" w="sm" type="none"/>
                      <a:tailEnd len="sm" w="sm" type="none"/>
                    </a:lnL>
                    <a:lnR cap="flat" cmpd="sng" w="9525">
                      <a:solidFill>
                        <a:srgbClr val="D9E2EA"/>
                      </a:solidFill>
                      <a:prstDash val="solid"/>
                      <a:round/>
                      <a:headEnd len="sm" w="sm" type="none"/>
                      <a:tailEnd len="sm" w="sm" type="none"/>
                    </a:lnR>
                    <a:lnT cap="flat" cmpd="sng" w="9525">
                      <a:solidFill>
                        <a:srgbClr val="D9E2EA"/>
                      </a:solidFill>
                      <a:prstDash val="solid"/>
                      <a:round/>
                      <a:headEnd len="sm" w="sm" type="none"/>
                      <a:tailEnd len="sm" w="sm" type="none"/>
                    </a:lnT>
                    <a:lnB cap="flat" cmpd="sng" w="9525">
                      <a:solidFill>
                        <a:srgbClr val="D9E2EA"/>
                      </a:solidFill>
                      <a:prstDash val="solid"/>
                      <a:round/>
                      <a:headEnd len="sm" w="sm" type="none"/>
                      <a:tailEnd len="sm" w="sm" type="none"/>
                    </a:lnB>
                    <a:solidFill>
                      <a:srgbClr val="FFFFFF"/>
                    </a:solidFill>
                  </a:tcPr>
                </a:tc>
              </a:tr>
              <a:tr h="628325">
                <a:tc>
                  <a:txBody>
                    <a:bodyPr/>
                    <a:lstStyle/>
                    <a:p>
                      <a:pPr indent="0" lvl="0" marL="0" marR="0" rtl="0" algn="l">
                        <a:spcBef>
                          <a:spcPts val="0"/>
                        </a:spcBef>
                        <a:spcAft>
                          <a:spcPts val="0"/>
                        </a:spcAft>
                        <a:buClr>
                          <a:srgbClr val="1D2A5C"/>
                        </a:buClr>
                        <a:buSzPts val="1050"/>
                        <a:buFont typeface="Calibri"/>
                        <a:buNone/>
                      </a:pPr>
                      <a:r>
                        <a:rPr b="1" lang="en-US" sz="1050" u="none" cap="none" strike="noStrike">
                          <a:solidFill>
                            <a:srgbClr val="1D2A5C"/>
                          </a:solidFill>
                          <a:latin typeface="Calibri"/>
                          <a:ea typeface="Calibri"/>
                          <a:cs typeface="Calibri"/>
                          <a:sym typeface="Calibri"/>
                        </a:rPr>
                        <a:t>Leaderboard pick, no latency check</a:t>
                      </a:r>
                      <a:endParaRPr sz="1050" u="none" cap="none" strike="noStrike">
                        <a:latin typeface="Calibri"/>
                        <a:ea typeface="Calibri"/>
                        <a:cs typeface="Calibri"/>
                        <a:sym typeface="Calibri"/>
                      </a:endParaRPr>
                    </a:p>
                  </a:txBody>
                  <a:tcPr marT="64000" marB="64000" marR="64000" marL="64000" anchor="ctr">
                    <a:lnL cap="flat" cmpd="sng" w="9525">
                      <a:solidFill>
                        <a:srgbClr val="D9E2EA"/>
                      </a:solidFill>
                      <a:prstDash val="solid"/>
                      <a:round/>
                      <a:headEnd len="sm" w="sm" type="none"/>
                      <a:tailEnd len="sm" w="sm" type="none"/>
                    </a:lnL>
                    <a:lnR cap="flat" cmpd="sng" w="9525">
                      <a:solidFill>
                        <a:srgbClr val="D9E2EA"/>
                      </a:solidFill>
                      <a:prstDash val="solid"/>
                      <a:round/>
                      <a:headEnd len="sm" w="sm" type="none"/>
                      <a:tailEnd len="sm" w="sm" type="none"/>
                    </a:lnR>
                    <a:lnT cap="flat" cmpd="sng" w="9525">
                      <a:solidFill>
                        <a:srgbClr val="D9E2EA"/>
                      </a:solidFill>
                      <a:prstDash val="solid"/>
                      <a:round/>
                      <a:headEnd len="sm" w="sm" type="none"/>
                      <a:tailEnd len="sm" w="sm" type="none"/>
                    </a:lnT>
                    <a:lnB cap="flat" cmpd="sng" w="9525">
                      <a:solidFill>
                        <a:srgbClr val="D9E2EA"/>
                      </a:solidFill>
                      <a:prstDash val="solid"/>
                      <a:round/>
                      <a:headEnd len="sm" w="sm" type="none"/>
                      <a:tailEnd len="sm" w="sm" type="none"/>
                    </a:lnB>
                    <a:solidFill>
                      <a:srgbClr val="F2F6F9"/>
                    </a:solidFill>
                  </a:tcPr>
                </a:tc>
                <a:tc>
                  <a:txBody>
                    <a:bodyPr/>
                    <a:lstStyle/>
                    <a:p>
                      <a:pPr indent="0" lvl="0" marL="0" marR="0" rtl="0" algn="l">
                        <a:spcBef>
                          <a:spcPts val="0"/>
                        </a:spcBef>
                        <a:spcAft>
                          <a:spcPts val="0"/>
                        </a:spcAft>
                        <a:buClr>
                          <a:srgbClr val="23293B"/>
                        </a:buClr>
                        <a:buSzPts val="1050"/>
                        <a:buFont typeface="Calibri"/>
                        <a:buNone/>
                      </a:pPr>
                      <a:r>
                        <a:rPr lang="en-US" sz="1050" u="none" cap="none" strike="noStrike">
                          <a:solidFill>
                            <a:srgbClr val="23293B"/>
                          </a:solidFill>
                          <a:latin typeface="Calibri"/>
                          <a:ea typeface="Calibri"/>
                          <a:cs typeface="Calibri"/>
                          <a:sym typeface="Calibri"/>
                        </a:rPr>
                        <a:t>Deployment target vetoes the model (M7)</a:t>
                      </a:r>
                      <a:endParaRPr sz="1050" u="none" cap="none" strike="noStrike">
                        <a:latin typeface="Calibri"/>
                        <a:ea typeface="Calibri"/>
                        <a:cs typeface="Calibri"/>
                        <a:sym typeface="Calibri"/>
                      </a:endParaRPr>
                    </a:p>
                  </a:txBody>
                  <a:tcPr marT="64000" marB="64000" marR="64000" marL="64000" anchor="ctr">
                    <a:lnL cap="flat" cmpd="sng" w="9525">
                      <a:solidFill>
                        <a:srgbClr val="D9E2EA"/>
                      </a:solidFill>
                      <a:prstDash val="solid"/>
                      <a:round/>
                      <a:headEnd len="sm" w="sm" type="none"/>
                      <a:tailEnd len="sm" w="sm" type="none"/>
                    </a:lnL>
                    <a:lnR cap="flat" cmpd="sng" w="9525">
                      <a:solidFill>
                        <a:srgbClr val="D9E2EA"/>
                      </a:solidFill>
                      <a:prstDash val="solid"/>
                      <a:round/>
                      <a:headEnd len="sm" w="sm" type="none"/>
                      <a:tailEnd len="sm" w="sm" type="none"/>
                    </a:lnR>
                    <a:lnT cap="flat" cmpd="sng" w="9525">
                      <a:solidFill>
                        <a:srgbClr val="D9E2EA"/>
                      </a:solidFill>
                      <a:prstDash val="solid"/>
                      <a:round/>
                      <a:headEnd len="sm" w="sm" type="none"/>
                      <a:tailEnd len="sm" w="sm" type="none"/>
                    </a:lnT>
                    <a:lnB cap="flat" cmpd="sng" w="9525">
                      <a:solidFill>
                        <a:srgbClr val="D9E2EA"/>
                      </a:solidFill>
                      <a:prstDash val="solid"/>
                      <a:round/>
                      <a:headEnd len="sm" w="sm" type="none"/>
                      <a:tailEnd len="sm" w="sm" type="none"/>
                    </a:lnB>
                    <a:solidFill>
                      <a:srgbClr val="F2F6F9"/>
                    </a:solidFill>
                  </a:tcPr>
                </a:tc>
                <a:tc>
                  <a:txBody>
                    <a:bodyPr/>
                    <a:lstStyle/>
                    <a:p>
                      <a:pPr indent="0" lvl="0" marL="0" marR="0" rtl="0" algn="l">
                        <a:spcBef>
                          <a:spcPts val="0"/>
                        </a:spcBef>
                        <a:spcAft>
                          <a:spcPts val="0"/>
                        </a:spcAft>
                        <a:buClr>
                          <a:srgbClr val="23293B"/>
                        </a:buClr>
                        <a:buSzPts val="1050"/>
                        <a:buFont typeface="Calibri"/>
                        <a:buNone/>
                      </a:pPr>
                      <a:r>
                        <a:rPr lang="en-US" sz="1050" u="none" cap="none" strike="noStrike">
                          <a:solidFill>
                            <a:srgbClr val="23293B"/>
                          </a:solidFill>
                          <a:latin typeface="Calibri"/>
                          <a:ea typeface="Calibri"/>
                          <a:cs typeface="Calibri"/>
                          <a:sym typeface="Calibri"/>
                        </a:rPr>
                        <a:t>Measure latency on target first</a:t>
                      </a:r>
                      <a:endParaRPr sz="1050" u="none" cap="none" strike="noStrike">
                        <a:latin typeface="Calibri"/>
                        <a:ea typeface="Calibri"/>
                        <a:cs typeface="Calibri"/>
                        <a:sym typeface="Calibri"/>
                      </a:endParaRPr>
                    </a:p>
                  </a:txBody>
                  <a:tcPr marT="64000" marB="64000" marR="64000" marL="64000" anchor="ctr">
                    <a:lnL cap="flat" cmpd="sng" w="9525">
                      <a:solidFill>
                        <a:srgbClr val="D9E2EA"/>
                      </a:solidFill>
                      <a:prstDash val="solid"/>
                      <a:round/>
                      <a:headEnd len="sm" w="sm" type="none"/>
                      <a:tailEnd len="sm" w="sm" type="none"/>
                    </a:lnL>
                    <a:lnR cap="flat" cmpd="sng" w="9525">
                      <a:solidFill>
                        <a:srgbClr val="D9E2EA"/>
                      </a:solidFill>
                      <a:prstDash val="solid"/>
                      <a:round/>
                      <a:headEnd len="sm" w="sm" type="none"/>
                      <a:tailEnd len="sm" w="sm" type="none"/>
                    </a:lnR>
                    <a:lnT cap="flat" cmpd="sng" w="9525">
                      <a:solidFill>
                        <a:srgbClr val="D9E2EA"/>
                      </a:solidFill>
                      <a:prstDash val="solid"/>
                      <a:round/>
                      <a:headEnd len="sm" w="sm" type="none"/>
                      <a:tailEnd len="sm" w="sm" type="none"/>
                    </a:lnT>
                    <a:lnB cap="flat" cmpd="sng" w="9525">
                      <a:solidFill>
                        <a:srgbClr val="D9E2EA"/>
                      </a:solidFill>
                      <a:prstDash val="solid"/>
                      <a:round/>
                      <a:headEnd len="sm" w="sm" type="none"/>
                      <a:tailEnd len="sm" w="sm" type="none"/>
                    </a:lnB>
                    <a:solidFill>
                      <a:srgbClr val="F2F6F9"/>
                    </a:solidFill>
                  </a:tcPr>
                </a:tc>
              </a:tr>
              <a:tr h="628325">
                <a:tc>
                  <a:txBody>
                    <a:bodyPr/>
                    <a:lstStyle/>
                    <a:p>
                      <a:pPr indent="0" lvl="0" marL="0" marR="0" rtl="0" algn="l">
                        <a:spcBef>
                          <a:spcPts val="0"/>
                        </a:spcBef>
                        <a:spcAft>
                          <a:spcPts val="0"/>
                        </a:spcAft>
                        <a:buClr>
                          <a:srgbClr val="1D2A5C"/>
                        </a:buClr>
                        <a:buSzPts val="1050"/>
                        <a:buFont typeface="Calibri"/>
                        <a:buNone/>
                      </a:pPr>
                      <a:r>
                        <a:rPr b="1" lang="en-US" sz="1050" u="none" cap="none" strike="noStrike">
                          <a:solidFill>
                            <a:srgbClr val="1D2A5C"/>
                          </a:solidFill>
                          <a:latin typeface="Calibri"/>
                          <a:ea typeface="Calibri"/>
                          <a:cs typeface="Calibri"/>
                          <a:sym typeface="Calibri"/>
                        </a:rPr>
                        <a:t>Tiny batches (&lt;8) with batch norm</a:t>
                      </a:r>
                      <a:endParaRPr sz="1050" u="none" cap="none" strike="noStrike">
                        <a:latin typeface="Calibri"/>
                        <a:ea typeface="Calibri"/>
                        <a:cs typeface="Calibri"/>
                        <a:sym typeface="Calibri"/>
                      </a:endParaRPr>
                    </a:p>
                  </a:txBody>
                  <a:tcPr marT="64000" marB="64000" marR="64000" marL="64000" anchor="ctr">
                    <a:lnL cap="flat" cmpd="sng" w="9525">
                      <a:solidFill>
                        <a:srgbClr val="D9E2EA"/>
                      </a:solidFill>
                      <a:prstDash val="solid"/>
                      <a:round/>
                      <a:headEnd len="sm" w="sm" type="none"/>
                      <a:tailEnd len="sm" w="sm" type="none"/>
                    </a:lnL>
                    <a:lnR cap="flat" cmpd="sng" w="9525">
                      <a:solidFill>
                        <a:srgbClr val="D9E2EA"/>
                      </a:solidFill>
                      <a:prstDash val="solid"/>
                      <a:round/>
                      <a:headEnd len="sm" w="sm" type="none"/>
                      <a:tailEnd len="sm" w="sm" type="none"/>
                    </a:lnR>
                    <a:lnT cap="flat" cmpd="sng" w="9525">
                      <a:solidFill>
                        <a:srgbClr val="D9E2EA"/>
                      </a:solidFill>
                      <a:prstDash val="solid"/>
                      <a:round/>
                      <a:headEnd len="sm" w="sm" type="none"/>
                      <a:tailEnd len="sm" w="sm" type="none"/>
                    </a:lnT>
                    <a:lnB cap="flat" cmpd="sng" w="9525">
                      <a:solidFill>
                        <a:srgbClr val="D9E2EA"/>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23293B"/>
                        </a:buClr>
                        <a:buSzPts val="1050"/>
                        <a:buFont typeface="Calibri"/>
                        <a:buNone/>
                      </a:pPr>
                      <a:r>
                        <a:rPr lang="en-US" sz="1050" u="none" cap="none" strike="noStrike">
                          <a:solidFill>
                            <a:srgbClr val="23293B"/>
                          </a:solidFill>
                          <a:latin typeface="Calibri"/>
                          <a:ea typeface="Calibri"/>
                          <a:cs typeface="Calibri"/>
                          <a:sym typeface="Calibri"/>
                        </a:rPr>
                        <a:t>BN statistics corrupted while fine-tuning</a:t>
                      </a:r>
                      <a:endParaRPr sz="1050" u="none" cap="none" strike="noStrike">
                        <a:latin typeface="Calibri"/>
                        <a:ea typeface="Calibri"/>
                        <a:cs typeface="Calibri"/>
                        <a:sym typeface="Calibri"/>
                      </a:endParaRPr>
                    </a:p>
                  </a:txBody>
                  <a:tcPr marT="64000" marB="64000" marR="64000" marL="64000" anchor="ctr">
                    <a:lnL cap="flat" cmpd="sng" w="9525">
                      <a:solidFill>
                        <a:srgbClr val="D9E2EA"/>
                      </a:solidFill>
                      <a:prstDash val="solid"/>
                      <a:round/>
                      <a:headEnd len="sm" w="sm" type="none"/>
                      <a:tailEnd len="sm" w="sm" type="none"/>
                    </a:lnL>
                    <a:lnR cap="flat" cmpd="sng" w="9525">
                      <a:solidFill>
                        <a:srgbClr val="D9E2EA"/>
                      </a:solidFill>
                      <a:prstDash val="solid"/>
                      <a:round/>
                      <a:headEnd len="sm" w="sm" type="none"/>
                      <a:tailEnd len="sm" w="sm" type="none"/>
                    </a:lnR>
                    <a:lnT cap="flat" cmpd="sng" w="9525">
                      <a:solidFill>
                        <a:srgbClr val="D9E2EA"/>
                      </a:solidFill>
                      <a:prstDash val="solid"/>
                      <a:round/>
                      <a:headEnd len="sm" w="sm" type="none"/>
                      <a:tailEnd len="sm" w="sm" type="none"/>
                    </a:lnT>
                    <a:lnB cap="flat" cmpd="sng" w="9525">
                      <a:solidFill>
                        <a:srgbClr val="D9E2EA"/>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23293B"/>
                        </a:buClr>
                        <a:buSzPts val="1050"/>
                        <a:buFont typeface="Calibri"/>
                        <a:buNone/>
                      </a:pPr>
                      <a:r>
                        <a:rPr lang="en-US" sz="1050" u="none" cap="none" strike="noStrike">
                          <a:solidFill>
                            <a:srgbClr val="23293B"/>
                          </a:solidFill>
                          <a:latin typeface="Calibri"/>
                          <a:ea typeface="Calibri"/>
                          <a:cs typeface="Calibri"/>
                          <a:sym typeface="Calibri"/>
                        </a:rPr>
                        <a:t>Freeze BN layers or enlarge batches</a:t>
                      </a:r>
                      <a:endParaRPr sz="1050" u="none" cap="none" strike="noStrike">
                        <a:latin typeface="Calibri"/>
                        <a:ea typeface="Calibri"/>
                        <a:cs typeface="Calibri"/>
                        <a:sym typeface="Calibri"/>
                      </a:endParaRPr>
                    </a:p>
                  </a:txBody>
                  <a:tcPr marT="64000" marB="64000" marR="64000" marL="64000" anchor="ctr">
                    <a:lnL cap="flat" cmpd="sng" w="9525">
                      <a:solidFill>
                        <a:srgbClr val="D9E2EA"/>
                      </a:solidFill>
                      <a:prstDash val="solid"/>
                      <a:round/>
                      <a:headEnd len="sm" w="sm" type="none"/>
                      <a:tailEnd len="sm" w="sm" type="none"/>
                    </a:lnL>
                    <a:lnR cap="flat" cmpd="sng" w="9525">
                      <a:solidFill>
                        <a:srgbClr val="D9E2EA"/>
                      </a:solidFill>
                      <a:prstDash val="solid"/>
                      <a:round/>
                      <a:headEnd len="sm" w="sm" type="none"/>
                      <a:tailEnd len="sm" w="sm" type="none"/>
                    </a:lnR>
                    <a:lnT cap="flat" cmpd="sng" w="9525">
                      <a:solidFill>
                        <a:srgbClr val="D9E2EA"/>
                      </a:solidFill>
                      <a:prstDash val="solid"/>
                      <a:round/>
                      <a:headEnd len="sm" w="sm" type="none"/>
                      <a:tailEnd len="sm" w="sm" type="none"/>
                    </a:lnT>
                    <a:lnB cap="flat" cmpd="sng" w="9525">
                      <a:solidFill>
                        <a:srgbClr val="D9E2EA"/>
                      </a:solidFill>
                      <a:prstDash val="solid"/>
                      <a:round/>
                      <a:headEnd len="sm" w="sm" type="none"/>
                      <a:tailEnd len="sm" w="sm" type="none"/>
                    </a:lnB>
                    <a:solidFill>
                      <a:srgbClr val="FFFFFF"/>
                    </a:solidFill>
                  </a:tcPr>
                </a:tc>
              </a:tr>
              <a:tr h="628325">
                <a:tc>
                  <a:txBody>
                    <a:bodyPr/>
                    <a:lstStyle/>
                    <a:p>
                      <a:pPr indent="0" lvl="0" marL="0" marR="0" rtl="0" algn="l">
                        <a:spcBef>
                          <a:spcPts val="0"/>
                        </a:spcBef>
                        <a:spcAft>
                          <a:spcPts val="0"/>
                        </a:spcAft>
                        <a:buClr>
                          <a:srgbClr val="1D2A5C"/>
                        </a:buClr>
                        <a:buSzPts val="1050"/>
                        <a:buFont typeface="Calibri"/>
                        <a:buNone/>
                      </a:pPr>
                      <a:r>
                        <a:rPr b="1" lang="en-US" sz="1050" u="none" cap="none" strike="noStrike">
                          <a:solidFill>
                            <a:srgbClr val="1D2A5C"/>
                          </a:solidFill>
                          <a:latin typeface="Calibri"/>
                          <a:ea typeface="Calibri"/>
                          <a:cs typeface="Calibri"/>
                          <a:sym typeface="Calibri"/>
                        </a:rPr>
                        <a:t>state_dict saved alone</a:t>
                      </a:r>
                      <a:endParaRPr sz="1050" u="none" cap="none" strike="noStrike">
                        <a:latin typeface="Calibri"/>
                        <a:ea typeface="Calibri"/>
                        <a:cs typeface="Calibri"/>
                        <a:sym typeface="Calibri"/>
                      </a:endParaRPr>
                    </a:p>
                  </a:txBody>
                  <a:tcPr marT="64000" marB="64000" marR="64000" marL="64000" anchor="ctr">
                    <a:lnL cap="flat" cmpd="sng" w="9525">
                      <a:solidFill>
                        <a:srgbClr val="D9E2EA"/>
                      </a:solidFill>
                      <a:prstDash val="solid"/>
                      <a:round/>
                      <a:headEnd len="sm" w="sm" type="none"/>
                      <a:tailEnd len="sm" w="sm" type="none"/>
                    </a:lnL>
                    <a:lnR cap="flat" cmpd="sng" w="9525">
                      <a:solidFill>
                        <a:srgbClr val="D9E2EA"/>
                      </a:solidFill>
                      <a:prstDash val="solid"/>
                      <a:round/>
                      <a:headEnd len="sm" w="sm" type="none"/>
                      <a:tailEnd len="sm" w="sm" type="none"/>
                    </a:lnR>
                    <a:lnT cap="flat" cmpd="sng" w="9525">
                      <a:solidFill>
                        <a:srgbClr val="D9E2EA"/>
                      </a:solidFill>
                      <a:prstDash val="solid"/>
                      <a:round/>
                      <a:headEnd len="sm" w="sm" type="none"/>
                      <a:tailEnd len="sm" w="sm" type="none"/>
                    </a:lnT>
                    <a:lnB cap="flat" cmpd="sng" w="9525">
                      <a:solidFill>
                        <a:srgbClr val="D9E2EA"/>
                      </a:solidFill>
                      <a:prstDash val="solid"/>
                      <a:round/>
                      <a:headEnd len="sm" w="sm" type="none"/>
                      <a:tailEnd len="sm" w="sm" type="none"/>
                    </a:lnB>
                    <a:solidFill>
                      <a:srgbClr val="F2F6F9"/>
                    </a:solidFill>
                  </a:tcPr>
                </a:tc>
                <a:tc>
                  <a:txBody>
                    <a:bodyPr/>
                    <a:lstStyle/>
                    <a:p>
                      <a:pPr indent="0" lvl="0" marL="0" marR="0" rtl="0" algn="l">
                        <a:spcBef>
                          <a:spcPts val="0"/>
                        </a:spcBef>
                        <a:spcAft>
                          <a:spcPts val="0"/>
                        </a:spcAft>
                        <a:buClr>
                          <a:srgbClr val="23293B"/>
                        </a:buClr>
                        <a:buSzPts val="1050"/>
                        <a:buFont typeface="Calibri"/>
                        <a:buNone/>
                      </a:pPr>
                      <a:r>
                        <a:rPr lang="en-US" sz="1050" u="none" cap="none" strike="noStrike">
                          <a:solidFill>
                            <a:srgbClr val="23293B"/>
                          </a:solidFill>
                          <a:latin typeface="Calibri"/>
                          <a:ea typeface="Calibri"/>
                          <a:cs typeface="Calibri"/>
                          <a:sym typeface="Calibri"/>
                        </a:rPr>
                        <a:t>Checkpoint cannot be served correctly</a:t>
                      </a:r>
                      <a:endParaRPr sz="1050" u="none" cap="none" strike="noStrike">
                        <a:latin typeface="Calibri"/>
                        <a:ea typeface="Calibri"/>
                        <a:cs typeface="Calibri"/>
                        <a:sym typeface="Calibri"/>
                      </a:endParaRPr>
                    </a:p>
                  </a:txBody>
                  <a:tcPr marT="64000" marB="64000" marR="64000" marL="64000" anchor="ctr">
                    <a:lnL cap="flat" cmpd="sng" w="9525">
                      <a:solidFill>
                        <a:srgbClr val="D9E2EA"/>
                      </a:solidFill>
                      <a:prstDash val="solid"/>
                      <a:round/>
                      <a:headEnd len="sm" w="sm" type="none"/>
                      <a:tailEnd len="sm" w="sm" type="none"/>
                    </a:lnL>
                    <a:lnR cap="flat" cmpd="sng" w="9525">
                      <a:solidFill>
                        <a:srgbClr val="D9E2EA"/>
                      </a:solidFill>
                      <a:prstDash val="solid"/>
                      <a:round/>
                      <a:headEnd len="sm" w="sm" type="none"/>
                      <a:tailEnd len="sm" w="sm" type="none"/>
                    </a:lnR>
                    <a:lnT cap="flat" cmpd="sng" w="9525">
                      <a:solidFill>
                        <a:srgbClr val="D9E2EA"/>
                      </a:solidFill>
                      <a:prstDash val="solid"/>
                      <a:round/>
                      <a:headEnd len="sm" w="sm" type="none"/>
                      <a:tailEnd len="sm" w="sm" type="none"/>
                    </a:lnT>
                    <a:lnB cap="flat" cmpd="sng" w="9525">
                      <a:solidFill>
                        <a:srgbClr val="D9E2EA"/>
                      </a:solidFill>
                      <a:prstDash val="solid"/>
                      <a:round/>
                      <a:headEnd len="sm" w="sm" type="none"/>
                      <a:tailEnd len="sm" w="sm" type="none"/>
                    </a:lnB>
                    <a:solidFill>
                      <a:srgbClr val="F2F6F9"/>
                    </a:solidFill>
                  </a:tcPr>
                </a:tc>
                <a:tc>
                  <a:txBody>
                    <a:bodyPr/>
                    <a:lstStyle/>
                    <a:p>
                      <a:pPr indent="0" lvl="0" marL="0" marR="0" rtl="0" algn="l">
                        <a:spcBef>
                          <a:spcPts val="0"/>
                        </a:spcBef>
                        <a:spcAft>
                          <a:spcPts val="0"/>
                        </a:spcAft>
                        <a:buClr>
                          <a:srgbClr val="23293B"/>
                        </a:buClr>
                        <a:buSzPts val="1050"/>
                        <a:buFont typeface="Calibri"/>
                        <a:buNone/>
                      </a:pPr>
                      <a:r>
                        <a:rPr lang="en-US" sz="1050" u="none" cap="none" strike="noStrike">
                          <a:solidFill>
                            <a:srgbClr val="23293B"/>
                          </a:solidFill>
                          <a:latin typeface="Calibri"/>
                          <a:ea typeface="Calibri"/>
                          <a:cs typeface="Calibri"/>
                          <a:sym typeface="Calibri"/>
                        </a:rPr>
                        <a:t>Embed class order + contract ref</a:t>
                      </a:r>
                      <a:endParaRPr sz="1050" u="none" cap="none" strike="noStrike">
                        <a:latin typeface="Calibri"/>
                        <a:ea typeface="Calibri"/>
                        <a:cs typeface="Calibri"/>
                        <a:sym typeface="Calibri"/>
                      </a:endParaRPr>
                    </a:p>
                  </a:txBody>
                  <a:tcPr marT="64000" marB="64000" marR="64000" marL="64000" anchor="ctr">
                    <a:lnL cap="flat" cmpd="sng" w="9525">
                      <a:solidFill>
                        <a:srgbClr val="D9E2EA"/>
                      </a:solidFill>
                      <a:prstDash val="solid"/>
                      <a:round/>
                      <a:headEnd len="sm" w="sm" type="none"/>
                      <a:tailEnd len="sm" w="sm" type="none"/>
                    </a:lnL>
                    <a:lnR cap="flat" cmpd="sng" w="9525">
                      <a:solidFill>
                        <a:srgbClr val="D9E2EA"/>
                      </a:solidFill>
                      <a:prstDash val="solid"/>
                      <a:round/>
                      <a:headEnd len="sm" w="sm" type="none"/>
                      <a:tailEnd len="sm" w="sm" type="none"/>
                    </a:lnR>
                    <a:lnT cap="flat" cmpd="sng" w="9525">
                      <a:solidFill>
                        <a:srgbClr val="D9E2EA"/>
                      </a:solidFill>
                      <a:prstDash val="solid"/>
                      <a:round/>
                      <a:headEnd len="sm" w="sm" type="none"/>
                      <a:tailEnd len="sm" w="sm" type="none"/>
                    </a:lnT>
                    <a:lnB cap="flat" cmpd="sng" w="9525">
                      <a:solidFill>
                        <a:srgbClr val="D9E2EA"/>
                      </a:solidFill>
                      <a:prstDash val="solid"/>
                      <a:round/>
                      <a:headEnd len="sm" w="sm" type="none"/>
                      <a:tailEnd len="sm" w="sm" type="none"/>
                    </a:lnB>
                    <a:solidFill>
                      <a:srgbClr val="F2F6F9"/>
                    </a:solidFill>
                  </a:tcPr>
                </a:tc>
              </a:tr>
            </a:tbl>
          </a:graphicData>
        </a:graphic>
      </p:graphicFrame>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154" name="Shape 1154"/>
        <p:cNvGrpSpPr/>
        <p:nvPr/>
      </p:nvGrpSpPr>
      <p:grpSpPr>
        <a:xfrm>
          <a:off x="0" y="0"/>
          <a:ext cx="0" cy="0"/>
          <a:chOff x="0" y="0"/>
          <a:chExt cx="0" cy="0"/>
        </a:xfrm>
      </p:grpSpPr>
      <p:sp>
        <p:nvSpPr>
          <p:cNvPr id="1155" name="Google Shape;1155;p40"/>
          <p:cNvSpPr/>
          <p:nvPr/>
        </p:nvSpPr>
        <p:spPr>
          <a:xfrm>
            <a:off x="502920" y="274320"/>
            <a:ext cx="9646920" cy="56692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D2A5C"/>
              </a:buClr>
              <a:buSzPts val="2700"/>
              <a:buFont typeface="Calibri"/>
              <a:buNone/>
            </a:pPr>
            <a:r>
              <a:rPr b="1" i="0" lang="en-US" sz="2700" u="none" cap="none" strike="noStrike">
                <a:solidFill>
                  <a:srgbClr val="1D2A5C"/>
                </a:solidFill>
                <a:latin typeface="Calibri"/>
                <a:ea typeface="Calibri"/>
                <a:cs typeface="Calibri"/>
                <a:sym typeface="Calibri"/>
              </a:rPr>
              <a:t>Building the transfer model</a:t>
            </a:r>
            <a:endParaRPr b="0" i="0" sz="2700" u="none" cap="none" strike="noStrike">
              <a:solidFill>
                <a:schemeClr val="dk1"/>
              </a:solidFill>
              <a:latin typeface="Calibri"/>
              <a:ea typeface="Calibri"/>
              <a:cs typeface="Calibri"/>
              <a:sym typeface="Calibri"/>
            </a:endParaRPr>
          </a:p>
        </p:txBody>
      </p:sp>
      <p:sp>
        <p:nvSpPr>
          <p:cNvPr id="1156" name="Google Shape;1156;p40"/>
          <p:cNvSpPr/>
          <p:nvPr/>
        </p:nvSpPr>
        <p:spPr>
          <a:xfrm>
            <a:off x="502920" y="859536"/>
            <a:ext cx="9646920" cy="31089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F6B7A"/>
              </a:buClr>
              <a:buSzPts val="1250"/>
              <a:buFont typeface="Arial"/>
              <a:buNone/>
            </a:pPr>
            <a:r>
              <a:rPr b="0" i="0" lang="en-US" sz="1250" u="none" cap="none" strike="noStrike">
                <a:solidFill>
                  <a:srgbClr val="5F6B7A"/>
                </a:solidFill>
                <a:latin typeface="Arial"/>
                <a:ea typeface="Arial"/>
                <a:cs typeface="Arial"/>
                <a:sym typeface="Arial"/>
              </a:rPr>
              <a:t>بناء نموذج التعلم بالنقل</a:t>
            </a:r>
            <a:endParaRPr b="0" i="0" sz="1250" u="none" cap="none" strike="noStrike">
              <a:solidFill>
                <a:schemeClr val="dk1"/>
              </a:solidFill>
              <a:latin typeface="Calibri"/>
              <a:ea typeface="Calibri"/>
              <a:cs typeface="Calibri"/>
              <a:sym typeface="Calibri"/>
            </a:endParaRPr>
          </a:p>
        </p:txBody>
      </p:sp>
      <p:pic>
        <p:nvPicPr>
          <p:cNvPr descr="/sessions/blissful-determined-ritchie/build/assets/sdaia_logo.png" id="1157" name="Google Shape;1157;p40"/>
          <p:cNvPicPr preferRelativeResize="0"/>
          <p:nvPr/>
        </p:nvPicPr>
        <p:blipFill rotWithShape="1">
          <a:blip r:embed="rId3">
            <a:alphaModFix/>
          </a:blip>
          <a:srcRect b="0" l="0" r="0" t="0"/>
          <a:stretch/>
        </p:blipFill>
        <p:spPr>
          <a:xfrm>
            <a:off x="10625328" y="310896"/>
            <a:ext cx="1078992" cy="264111"/>
          </a:xfrm>
          <a:prstGeom prst="rect">
            <a:avLst/>
          </a:prstGeom>
          <a:noFill/>
          <a:ln>
            <a:noFill/>
          </a:ln>
        </p:spPr>
      </p:pic>
      <p:sp>
        <p:nvSpPr>
          <p:cNvPr id="1158" name="Google Shape;1158;p40"/>
          <p:cNvSpPr/>
          <p:nvPr/>
        </p:nvSpPr>
        <p:spPr>
          <a:xfrm>
            <a:off x="502920" y="6528816"/>
            <a:ext cx="8686800"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A79D"/>
              </a:buClr>
              <a:buSzPts val="800"/>
              <a:buFont typeface="Calibri"/>
              <a:buNone/>
            </a:pPr>
            <a:r>
              <a:rPr b="1" i="0" lang="en-US" sz="800" u="none" cap="none" strike="noStrike">
                <a:solidFill>
                  <a:srgbClr val="00A79D"/>
                </a:solidFill>
                <a:latin typeface="Calibri"/>
                <a:ea typeface="Calibri"/>
                <a:cs typeface="Calibri"/>
                <a:sym typeface="Calibri"/>
              </a:rPr>
              <a:t>MODULE 2   </a:t>
            </a:r>
            <a:r>
              <a:rPr b="0" i="0" lang="en-US" sz="800" u="none" cap="none" strike="noStrike">
                <a:solidFill>
                  <a:srgbClr val="8A96A6"/>
                </a:solidFill>
                <a:latin typeface="Calibri"/>
                <a:ea typeface="Calibri"/>
                <a:cs typeface="Calibri"/>
                <a:sym typeface="Calibri"/>
              </a:rPr>
              <a:t>SDA-AIE-212 · Computer Vision Systems Development</a:t>
            </a:r>
            <a:endParaRPr b="0" i="0" sz="800" u="none" cap="none" strike="noStrike">
              <a:solidFill>
                <a:schemeClr val="dk1"/>
              </a:solidFill>
              <a:latin typeface="Calibri"/>
              <a:ea typeface="Calibri"/>
              <a:cs typeface="Calibri"/>
              <a:sym typeface="Calibri"/>
            </a:endParaRPr>
          </a:p>
        </p:txBody>
      </p:sp>
      <p:sp>
        <p:nvSpPr>
          <p:cNvPr id="1159" name="Google Shape;1159;p40"/>
          <p:cNvSpPr/>
          <p:nvPr/>
        </p:nvSpPr>
        <p:spPr>
          <a:xfrm>
            <a:off x="11292840" y="6528816"/>
            <a:ext cx="411480" cy="219456"/>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8A96A6"/>
              </a:buClr>
              <a:buSzPts val="900"/>
              <a:buFont typeface="Calibri"/>
              <a:buNone/>
            </a:pPr>
            <a:r>
              <a:rPr b="0" i="0" lang="en-US" sz="900" u="none" cap="none" strike="noStrike">
                <a:solidFill>
                  <a:srgbClr val="8A96A6"/>
                </a:solidFill>
                <a:latin typeface="Calibri"/>
                <a:ea typeface="Calibri"/>
                <a:cs typeface="Calibri"/>
                <a:sym typeface="Calibri"/>
              </a:rPr>
              <a:t>40</a:t>
            </a:r>
            <a:endParaRPr b="0" i="0" sz="900" u="none" cap="none" strike="noStrike">
              <a:solidFill>
                <a:schemeClr val="dk1"/>
              </a:solidFill>
              <a:latin typeface="Calibri"/>
              <a:ea typeface="Calibri"/>
              <a:cs typeface="Calibri"/>
              <a:sym typeface="Calibri"/>
            </a:endParaRPr>
          </a:p>
        </p:txBody>
      </p:sp>
      <p:sp>
        <p:nvSpPr>
          <p:cNvPr id="1160" name="Google Shape;1160;p40"/>
          <p:cNvSpPr/>
          <p:nvPr/>
        </p:nvSpPr>
        <p:spPr>
          <a:xfrm>
            <a:off x="502920" y="1389888"/>
            <a:ext cx="7178040" cy="4965192"/>
          </a:xfrm>
          <a:prstGeom prst="roundRect">
            <a:avLst>
              <a:gd fmla="val 1842" name="adj"/>
            </a:avLst>
          </a:prstGeom>
          <a:solidFill>
            <a:srgbClr val="0F172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1" name="Google Shape;1161;p40"/>
          <p:cNvSpPr/>
          <p:nvPr/>
        </p:nvSpPr>
        <p:spPr>
          <a:xfrm>
            <a:off x="704088" y="1536192"/>
            <a:ext cx="2841955" cy="292608"/>
          </a:xfrm>
          <a:prstGeom prst="roundRect">
            <a:avLst>
              <a:gd fmla="val 18750" name="adj"/>
            </a:avLst>
          </a:prstGeom>
          <a:solidFill>
            <a:srgbClr val="1E293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2" name="Google Shape;1162;p40"/>
          <p:cNvSpPr/>
          <p:nvPr/>
        </p:nvSpPr>
        <p:spPr>
          <a:xfrm>
            <a:off x="795528" y="1536192"/>
            <a:ext cx="662940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EEAD4"/>
              </a:buClr>
              <a:buSzPts val="950"/>
              <a:buFont typeface="Courier New"/>
              <a:buNone/>
            </a:pPr>
            <a:r>
              <a:rPr b="0" i="0" lang="en-US" sz="950" u="none" cap="none" strike="noStrike">
                <a:solidFill>
                  <a:srgbClr val="5EEAD4"/>
                </a:solidFill>
                <a:latin typeface="Courier New"/>
                <a:ea typeface="Courier New"/>
                <a:cs typeface="Courier New"/>
                <a:sym typeface="Courier New"/>
              </a:rPr>
              <a:t>src/tamr_vision/models/classifier.py</a:t>
            </a:r>
            <a:endParaRPr b="0" i="0" sz="950" u="none" cap="none" strike="noStrike">
              <a:solidFill>
                <a:schemeClr val="dk1"/>
              </a:solidFill>
              <a:latin typeface="Calibri"/>
              <a:ea typeface="Calibri"/>
              <a:cs typeface="Calibri"/>
              <a:sym typeface="Calibri"/>
            </a:endParaRPr>
          </a:p>
        </p:txBody>
      </p:sp>
      <p:sp>
        <p:nvSpPr>
          <p:cNvPr id="1163" name="Google Shape;1163;p40"/>
          <p:cNvSpPr/>
          <p:nvPr/>
        </p:nvSpPr>
        <p:spPr>
          <a:xfrm>
            <a:off x="758952" y="1920240"/>
            <a:ext cx="6720840" cy="4279392"/>
          </a:xfrm>
          <a:prstGeom prst="rect">
            <a:avLst/>
          </a:prstGeom>
          <a:noFill/>
          <a:ln>
            <a:noFill/>
          </a:ln>
        </p:spPr>
        <p:txBody>
          <a:bodyPr anchorCtr="0" anchor="t" bIns="0" lIns="0" spcFirstLastPara="1" rIns="0" wrap="square" tIns="0">
            <a:noAutofit/>
          </a:bodyPr>
          <a:lstStyle/>
          <a:p>
            <a:pPr indent="0" lvl="0" marL="0" marR="0" rtl="0" algn="l">
              <a:lnSpc>
                <a:spcPct val="128000"/>
              </a:lnSpc>
              <a:spcBef>
                <a:spcPts val="0"/>
              </a:spcBef>
              <a:spcAft>
                <a:spcPts val="0"/>
              </a:spcAft>
              <a:buClr>
                <a:srgbClr val="DCE6F5"/>
              </a:buClr>
              <a:buSzPts val="900"/>
              <a:buFont typeface="Courier New"/>
              <a:buNone/>
            </a:pPr>
            <a:r>
              <a:rPr b="0" i="0" lang="en-US" sz="900" u="none" cap="none" strike="noStrike">
                <a:solidFill>
                  <a:srgbClr val="DCE6F5"/>
                </a:solidFill>
                <a:latin typeface="Courier New"/>
                <a:ea typeface="Courier New"/>
                <a:cs typeface="Courier New"/>
                <a:sym typeface="Courier New"/>
              </a:rPr>
              <a:t>import torch</a:t>
            </a:r>
            <a:endParaRPr b="0" i="0" sz="900" u="none" cap="none" strike="noStrike">
              <a:solidFill>
                <a:schemeClr val="dk1"/>
              </a:solidFill>
              <a:latin typeface="Calibri"/>
              <a:ea typeface="Calibri"/>
              <a:cs typeface="Calibri"/>
              <a:sym typeface="Calibri"/>
            </a:endParaRPr>
          </a:p>
          <a:p>
            <a:pPr indent="0" lvl="0" marL="0" marR="0" rtl="0" algn="l">
              <a:lnSpc>
                <a:spcPct val="128000"/>
              </a:lnSpc>
              <a:spcBef>
                <a:spcPts val="0"/>
              </a:spcBef>
              <a:spcAft>
                <a:spcPts val="0"/>
              </a:spcAft>
              <a:buClr>
                <a:srgbClr val="DCE6F5"/>
              </a:buClr>
              <a:buSzPts val="900"/>
              <a:buFont typeface="Courier New"/>
              <a:buNone/>
            </a:pPr>
            <a:r>
              <a:rPr b="0" i="0" lang="en-US" sz="900" u="none" cap="none" strike="noStrike">
                <a:solidFill>
                  <a:srgbClr val="DCE6F5"/>
                </a:solidFill>
                <a:latin typeface="Courier New"/>
                <a:ea typeface="Courier New"/>
                <a:cs typeface="Courier New"/>
                <a:sym typeface="Courier New"/>
              </a:rPr>
              <a:t>from torch import nn</a:t>
            </a:r>
            <a:endParaRPr b="0" i="0" sz="900" u="none" cap="none" strike="noStrike">
              <a:solidFill>
                <a:schemeClr val="dk1"/>
              </a:solidFill>
              <a:latin typeface="Calibri"/>
              <a:ea typeface="Calibri"/>
              <a:cs typeface="Calibri"/>
              <a:sym typeface="Calibri"/>
            </a:endParaRPr>
          </a:p>
          <a:p>
            <a:pPr indent="0" lvl="0" marL="0" marR="0" rtl="0" algn="l">
              <a:lnSpc>
                <a:spcPct val="128000"/>
              </a:lnSpc>
              <a:spcBef>
                <a:spcPts val="0"/>
              </a:spcBef>
              <a:spcAft>
                <a:spcPts val="0"/>
              </a:spcAft>
              <a:buClr>
                <a:srgbClr val="DCE6F5"/>
              </a:buClr>
              <a:buSzPts val="900"/>
              <a:buFont typeface="Courier New"/>
              <a:buNone/>
            </a:pPr>
            <a:r>
              <a:rPr b="0" i="0" lang="en-US" sz="900" u="none" cap="none" strike="noStrike">
                <a:solidFill>
                  <a:srgbClr val="DCE6F5"/>
                </a:solidFill>
                <a:latin typeface="Courier New"/>
                <a:ea typeface="Courier New"/>
                <a:cs typeface="Courier New"/>
                <a:sym typeface="Courier New"/>
              </a:rPr>
              <a:t>from torchvision.models import ResNet50_Weights, resnet50</a:t>
            </a:r>
            <a:endParaRPr b="0" i="0" sz="900" u="none" cap="none" strike="noStrike">
              <a:solidFill>
                <a:schemeClr val="dk1"/>
              </a:solidFill>
              <a:latin typeface="Calibri"/>
              <a:ea typeface="Calibri"/>
              <a:cs typeface="Calibri"/>
              <a:sym typeface="Calibri"/>
            </a:endParaRPr>
          </a:p>
          <a:p>
            <a:pPr indent="0" lvl="0" marL="0" marR="0" rtl="0" algn="l">
              <a:lnSpc>
                <a:spcPct val="128000"/>
              </a:lnSpc>
              <a:spcBef>
                <a:spcPts val="0"/>
              </a:spcBef>
              <a:spcAft>
                <a:spcPts val="0"/>
              </a:spcAft>
              <a:buClr>
                <a:srgbClr val="DCE6F5"/>
              </a:buClr>
              <a:buSzPts val="900"/>
              <a:buFont typeface="Courier New"/>
              <a:buNone/>
            </a:pPr>
            <a:r>
              <a:rPr b="0" i="0" lang="en-US" sz="900" u="none" cap="none" strike="noStrike">
                <a:solidFill>
                  <a:srgbClr val="DCE6F5"/>
                </a:solidFill>
                <a:latin typeface="Courier New"/>
                <a:ea typeface="Courier New"/>
                <a:cs typeface="Courier New"/>
                <a:sym typeface="Courier New"/>
              </a:rPr>
              <a:t> </a:t>
            </a:r>
            <a:endParaRPr b="0" i="0" sz="900" u="none" cap="none" strike="noStrike">
              <a:solidFill>
                <a:schemeClr val="dk1"/>
              </a:solidFill>
              <a:latin typeface="Calibri"/>
              <a:ea typeface="Calibri"/>
              <a:cs typeface="Calibri"/>
              <a:sym typeface="Calibri"/>
            </a:endParaRPr>
          </a:p>
          <a:p>
            <a:pPr indent="0" lvl="0" marL="0" marR="0" rtl="0" algn="l">
              <a:lnSpc>
                <a:spcPct val="128000"/>
              </a:lnSpc>
              <a:spcBef>
                <a:spcPts val="0"/>
              </a:spcBef>
              <a:spcAft>
                <a:spcPts val="0"/>
              </a:spcAft>
              <a:buClr>
                <a:srgbClr val="DCE6F5"/>
              </a:buClr>
              <a:buSzPts val="900"/>
              <a:buFont typeface="Courier New"/>
              <a:buNone/>
            </a:pPr>
            <a:r>
              <a:rPr b="0" i="0" lang="en-US" sz="900" u="none" cap="none" strike="noStrike">
                <a:solidFill>
                  <a:srgbClr val="DCE6F5"/>
                </a:solidFill>
                <a:latin typeface="Courier New"/>
                <a:ea typeface="Courier New"/>
                <a:cs typeface="Courier New"/>
                <a:sym typeface="Courier New"/>
              </a:rPr>
              <a:t>NUM_CLASSES = 4  # premium/standard/substandard/reject - frozen</a:t>
            </a:r>
            <a:endParaRPr b="0" i="0" sz="900" u="none" cap="none" strike="noStrike">
              <a:solidFill>
                <a:schemeClr val="dk1"/>
              </a:solidFill>
              <a:latin typeface="Calibri"/>
              <a:ea typeface="Calibri"/>
              <a:cs typeface="Calibri"/>
              <a:sym typeface="Calibri"/>
            </a:endParaRPr>
          </a:p>
          <a:p>
            <a:pPr indent="0" lvl="0" marL="0" marR="0" rtl="0" algn="l">
              <a:lnSpc>
                <a:spcPct val="128000"/>
              </a:lnSpc>
              <a:spcBef>
                <a:spcPts val="0"/>
              </a:spcBef>
              <a:spcAft>
                <a:spcPts val="0"/>
              </a:spcAft>
              <a:buClr>
                <a:srgbClr val="DCE6F5"/>
              </a:buClr>
              <a:buSzPts val="900"/>
              <a:buFont typeface="Courier New"/>
              <a:buNone/>
            </a:pPr>
            <a:r>
              <a:rPr b="0" i="0" lang="en-US" sz="900" u="none" cap="none" strike="noStrike">
                <a:solidFill>
                  <a:srgbClr val="DCE6F5"/>
                </a:solidFill>
                <a:latin typeface="Courier New"/>
                <a:ea typeface="Courier New"/>
                <a:cs typeface="Courier New"/>
                <a:sym typeface="Courier New"/>
              </a:rPr>
              <a:t> </a:t>
            </a:r>
            <a:endParaRPr b="0" i="0" sz="900" u="none" cap="none" strike="noStrike">
              <a:solidFill>
                <a:schemeClr val="dk1"/>
              </a:solidFill>
              <a:latin typeface="Calibri"/>
              <a:ea typeface="Calibri"/>
              <a:cs typeface="Calibri"/>
              <a:sym typeface="Calibri"/>
            </a:endParaRPr>
          </a:p>
          <a:p>
            <a:pPr indent="0" lvl="0" marL="0" marR="0" rtl="0" algn="l">
              <a:lnSpc>
                <a:spcPct val="128000"/>
              </a:lnSpc>
              <a:spcBef>
                <a:spcPts val="0"/>
              </a:spcBef>
              <a:spcAft>
                <a:spcPts val="0"/>
              </a:spcAft>
              <a:buClr>
                <a:srgbClr val="DCE6F5"/>
              </a:buClr>
              <a:buSzPts val="900"/>
              <a:buFont typeface="Courier New"/>
              <a:buNone/>
            </a:pPr>
            <a:r>
              <a:rPr b="0" i="0" lang="en-US" sz="900" u="none" cap="none" strike="noStrike">
                <a:solidFill>
                  <a:srgbClr val="DCE6F5"/>
                </a:solidFill>
                <a:latin typeface="Courier New"/>
                <a:ea typeface="Courier New"/>
                <a:cs typeface="Courier New"/>
                <a:sym typeface="Courier New"/>
              </a:rPr>
              <a:t>def build_model(pretrained: bool = True) -&gt; nn.Module:</a:t>
            </a:r>
            <a:endParaRPr b="0" i="0" sz="900" u="none" cap="none" strike="noStrike">
              <a:solidFill>
                <a:schemeClr val="dk1"/>
              </a:solidFill>
              <a:latin typeface="Calibri"/>
              <a:ea typeface="Calibri"/>
              <a:cs typeface="Calibri"/>
              <a:sym typeface="Calibri"/>
            </a:endParaRPr>
          </a:p>
          <a:p>
            <a:pPr indent="0" lvl="0" marL="0" marR="0" rtl="0" algn="l">
              <a:lnSpc>
                <a:spcPct val="128000"/>
              </a:lnSpc>
              <a:spcBef>
                <a:spcPts val="0"/>
              </a:spcBef>
              <a:spcAft>
                <a:spcPts val="0"/>
              </a:spcAft>
              <a:buClr>
                <a:srgbClr val="DCE6F5"/>
              </a:buClr>
              <a:buSzPts val="900"/>
              <a:buFont typeface="Courier New"/>
              <a:buNone/>
            </a:pPr>
            <a:r>
              <a:rPr b="0" i="0" lang="en-US" sz="900" u="none" cap="none" strike="noStrike">
                <a:solidFill>
                  <a:srgbClr val="DCE6F5"/>
                </a:solidFill>
                <a:latin typeface="Courier New"/>
                <a:ea typeface="Courier New"/>
                <a:cs typeface="Courier New"/>
                <a:sym typeface="Courier New"/>
              </a:rPr>
              <a:t>    w = ResNet50_Weights.IMAGENET1K_V2 if pretrained else None</a:t>
            </a:r>
            <a:endParaRPr b="0" i="0" sz="900" u="none" cap="none" strike="noStrike">
              <a:solidFill>
                <a:schemeClr val="dk1"/>
              </a:solidFill>
              <a:latin typeface="Calibri"/>
              <a:ea typeface="Calibri"/>
              <a:cs typeface="Calibri"/>
              <a:sym typeface="Calibri"/>
            </a:endParaRPr>
          </a:p>
          <a:p>
            <a:pPr indent="0" lvl="0" marL="0" marR="0" rtl="0" algn="l">
              <a:lnSpc>
                <a:spcPct val="128000"/>
              </a:lnSpc>
              <a:spcBef>
                <a:spcPts val="0"/>
              </a:spcBef>
              <a:spcAft>
                <a:spcPts val="0"/>
              </a:spcAft>
              <a:buClr>
                <a:srgbClr val="DCE6F5"/>
              </a:buClr>
              <a:buSzPts val="900"/>
              <a:buFont typeface="Courier New"/>
              <a:buNone/>
            </a:pPr>
            <a:r>
              <a:rPr b="0" i="0" lang="en-US" sz="900" u="none" cap="none" strike="noStrike">
                <a:solidFill>
                  <a:srgbClr val="DCE6F5"/>
                </a:solidFill>
                <a:latin typeface="Courier New"/>
                <a:ea typeface="Courier New"/>
                <a:cs typeface="Courier New"/>
                <a:sym typeface="Courier New"/>
              </a:rPr>
              <a:t>    model = resnet50(weights=w)</a:t>
            </a:r>
            <a:endParaRPr b="0" i="0" sz="900" u="none" cap="none" strike="noStrike">
              <a:solidFill>
                <a:schemeClr val="dk1"/>
              </a:solidFill>
              <a:latin typeface="Calibri"/>
              <a:ea typeface="Calibri"/>
              <a:cs typeface="Calibri"/>
              <a:sym typeface="Calibri"/>
            </a:endParaRPr>
          </a:p>
          <a:p>
            <a:pPr indent="0" lvl="0" marL="0" marR="0" rtl="0" algn="l">
              <a:lnSpc>
                <a:spcPct val="128000"/>
              </a:lnSpc>
              <a:spcBef>
                <a:spcPts val="0"/>
              </a:spcBef>
              <a:spcAft>
                <a:spcPts val="0"/>
              </a:spcAft>
              <a:buClr>
                <a:srgbClr val="DCE6F5"/>
              </a:buClr>
              <a:buSzPts val="900"/>
              <a:buFont typeface="Courier New"/>
              <a:buNone/>
            </a:pPr>
            <a:r>
              <a:rPr b="0" i="0" lang="en-US" sz="900" u="none" cap="none" strike="noStrike">
                <a:solidFill>
                  <a:srgbClr val="DCE6F5"/>
                </a:solidFill>
                <a:latin typeface="Courier New"/>
                <a:ea typeface="Courier New"/>
                <a:cs typeface="Courier New"/>
                <a:sym typeface="Courier New"/>
              </a:rPr>
              <a:t>    model.fc = nn.Linear(model.fc.in_features, NUM_CLASSES)</a:t>
            </a:r>
            <a:endParaRPr b="0" i="0" sz="900" u="none" cap="none" strike="noStrike">
              <a:solidFill>
                <a:schemeClr val="dk1"/>
              </a:solidFill>
              <a:latin typeface="Calibri"/>
              <a:ea typeface="Calibri"/>
              <a:cs typeface="Calibri"/>
              <a:sym typeface="Calibri"/>
            </a:endParaRPr>
          </a:p>
          <a:p>
            <a:pPr indent="0" lvl="0" marL="0" marR="0" rtl="0" algn="l">
              <a:lnSpc>
                <a:spcPct val="128000"/>
              </a:lnSpc>
              <a:spcBef>
                <a:spcPts val="0"/>
              </a:spcBef>
              <a:spcAft>
                <a:spcPts val="0"/>
              </a:spcAft>
              <a:buClr>
                <a:srgbClr val="DCE6F5"/>
              </a:buClr>
              <a:buSzPts val="900"/>
              <a:buFont typeface="Courier New"/>
              <a:buNone/>
            </a:pPr>
            <a:r>
              <a:rPr b="0" i="0" lang="en-US" sz="900" u="none" cap="none" strike="noStrike">
                <a:solidFill>
                  <a:srgbClr val="DCE6F5"/>
                </a:solidFill>
                <a:latin typeface="Courier New"/>
                <a:ea typeface="Courier New"/>
                <a:cs typeface="Courier New"/>
                <a:sym typeface="Courier New"/>
              </a:rPr>
              <a:t>    return model</a:t>
            </a:r>
            <a:endParaRPr b="0" i="0" sz="900" u="none" cap="none" strike="noStrike">
              <a:solidFill>
                <a:schemeClr val="dk1"/>
              </a:solidFill>
              <a:latin typeface="Calibri"/>
              <a:ea typeface="Calibri"/>
              <a:cs typeface="Calibri"/>
              <a:sym typeface="Calibri"/>
            </a:endParaRPr>
          </a:p>
          <a:p>
            <a:pPr indent="0" lvl="0" marL="0" marR="0" rtl="0" algn="l">
              <a:lnSpc>
                <a:spcPct val="128000"/>
              </a:lnSpc>
              <a:spcBef>
                <a:spcPts val="0"/>
              </a:spcBef>
              <a:spcAft>
                <a:spcPts val="0"/>
              </a:spcAft>
              <a:buClr>
                <a:srgbClr val="DCE6F5"/>
              </a:buClr>
              <a:buSzPts val="900"/>
              <a:buFont typeface="Courier New"/>
              <a:buNone/>
            </a:pPr>
            <a:r>
              <a:rPr b="0" i="0" lang="en-US" sz="900" u="none" cap="none" strike="noStrike">
                <a:solidFill>
                  <a:srgbClr val="DCE6F5"/>
                </a:solidFill>
                <a:latin typeface="Courier New"/>
                <a:ea typeface="Courier New"/>
                <a:cs typeface="Courier New"/>
                <a:sym typeface="Courier New"/>
              </a:rPr>
              <a:t> </a:t>
            </a:r>
            <a:endParaRPr b="0" i="0" sz="900" u="none" cap="none" strike="noStrike">
              <a:solidFill>
                <a:schemeClr val="dk1"/>
              </a:solidFill>
              <a:latin typeface="Calibri"/>
              <a:ea typeface="Calibri"/>
              <a:cs typeface="Calibri"/>
              <a:sym typeface="Calibri"/>
            </a:endParaRPr>
          </a:p>
          <a:p>
            <a:pPr indent="0" lvl="0" marL="0" marR="0" rtl="0" algn="l">
              <a:lnSpc>
                <a:spcPct val="128000"/>
              </a:lnSpc>
              <a:spcBef>
                <a:spcPts val="0"/>
              </a:spcBef>
              <a:spcAft>
                <a:spcPts val="0"/>
              </a:spcAft>
              <a:buClr>
                <a:srgbClr val="DCE6F5"/>
              </a:buClr>
              <a:buSzPts val="900"/>
              <a:buFont typeface="Courier New"/>
              <a:buNone/>
            </a:pPr>
            <a:r>
              <a:rPr b="0" i="0" lang="en-US" sz="900" u="none" cap="none" strike="noStrike">
                <a:solidFill>
                  <a:srgbClr val="DCE6F5"/>
                </a:solidFill>
                <a:latin typeface="Courier New"/>
                <a:ea typeface="Courier New"/>
                <a:cs typeface="Courier New"/>
                <a:sym typeface="Courier New"/>
              </a:rPr>
              <a:t>def freeze_backbone(model: nn.Module) -&gt; None:</a:t>
            </a:r>
            <a:endParaRPr b="0" i="0" sz="900" u="none" cap="none" strike="noStrike">
              <a:solidFill>
                <a:schemeClr val="dk1"/>
              </a:solidFill>
              <a:latin typeface="Calibri"/>
              <a:ea typeface="Calibri"/>
              <a:cs typeface="Calibri"/>
              <a:sym typeface="Calibri"/>
            </a:endParaRPr>
          </a:p>
          <a:p>
            <a:pPr indent="0" lvl="0" marL="0" marR="0" rtl="0" algn="l">
              <a:lnSpc>
                <a:spcPct val="128000"/>
              </a:lnSpc>
              <a:spcBef>
                <a:spcPts val="0"/>
              </a:spcBef>
              <a:spcAft>
                <a:spcPts val="0"/>
              </a:spcAft>
              <a:buClr>
                <a:srgbClr val="8FBF71"/>
              </a:buClr>
              <a:buSzPts val="900"/>
              <a:buFont typeface="Courier New"/>
              <a:buNone/>
            </a:pPr>
            <a:r>
              <a:rPr b="0" i="0" lang="en-US" sz="900" u="none" cap="none" strike="noStrike">
                <a:solidFill>
                  <a:srgbClr val="8FBF71"/>
                </a:solidFill>
                <a:latin typeface="Courier New"/>
                <a:ea typeface="Courier New"/>
                <a:cs typeface="Courier New"/>
                <a:sym typeface="Courier New"/>
              </a:rPr>
              <a:t>    """Stage 1: only the new head trains."""</a:t>
            </a:r>
            <a:endParaRPr b="0" i="0" sz="900" u="none" cap="none" strike="noStrike">
              <a:solidFill>
                <a:schemeClr val="dk1"/>
              </a:solidFill>
              <a:latin typeface="Calibri"/>
              <a:ea typeface="Calibri"/>
              <a:cs typeface="Calibri"/>
              <a:sym typeface="Calibri"/>
            </a:endParaRPr>
          </a:p>
          <a:p>
            <a:pPr indent="0" lvl="0" marL="0" marR="0" rtl="0" algn="l">
              <a:lnSpc>
                <a:spcPct val="128000"/>
              </a:lnSpc>
              <a:spcBef>
                <a:spcPts val="0"/>
              </a:spcBef>
              <a:spcAft>
                <a:spcPts val="0"/>
              </a:spcAft>
              <a:buClr>
                <a:srgbClr val="DCE6F5"/>
              </a:buClr>
              <a:buSzPts val="900"/>
              <a:buFont typeface="Courier New"/>
              <a:buNone/>
            </a:pPr>
            <a:r>
              <a:rPr b="0" i="0" lang="en-US" sz="900" u="none" cap="none" strike="noStrike">
                <a:solidFill>
                  <a:srgbClr val="DCE6F5"/>
                </a:solidFill>
                <a:latin typeface="Courier New"/>
                <a:ea typeface="Courier New"/>
                <a:cs typeface="Courier New"/>
                <a:sym typeface="Courier New"/>
              </a:rPr>
              <a:t>    for name, p in model.named_parameters():</a:t>
            </a:r>
            <a:endParaRPr b="0" i="0" sz="900" u="none" cap="none" strike="noStrike">
              <a:solidFill>
                <a:schemeClr val="dk1"/>
              </a:solidFill>
              <a:latin typeface="Calibri"/>
              <a:ea typeface="Calibri"/>
              <a:cs typeface="Calibri"/>
              <a:sym typeface="Calibri"/>
            </a:endParaRPr>
          </a:p>
          <a:p>
            <a:pPr indent="0" lvl="0" marL="0" marR="0" rtl="0" algn="l">
              <a:lnSpc>
                <a:spcPct val="128000"/>
              </a:lnSpc>
              <a:spcBef>
                <a:spcPts val="0"/>
              </a:spcBef>
              <a:spcAft>
                <a:spcPts val="0"/>
              </a:spcAft>
              <a:buClr>
                <a:srgbClr val="DCE6F5"/>
              </a:buClr>
              <a:buSzPts val="900"/>
              <a:buFont typeface="Courier New"/>
              <a:buNone/>
            </a:pPr>
            <a:r>
              <a:rPr b="0" i="0" lang="en-US" sz="900" u="none" cap="none" strike="noStrike">
                <a:solidFill>
                  <a:srgbClr val="DCE6F5"/>
                </a:solidFill>
                <a:latin typeface="Courier New"/>
                <a:ea typeface="Courier New"/>
                <a:cs typeface="Courier New"/>
                <a:sym typeface="Courier New"/>
              </a:rPr>
              <a:t>        p.requires_grad = name.startswith("fc.")</a:t>
            </a:r>
            <a:endParaRPr b="0" i="0" sz="900" u="none" cap="none" strike="noStrike">
              <a:solidFill>
                <a:schemeClr val="dk1"/>
              </a:solidFill>
              <a:latin typeface="Calibri"/>
              <a:ea typeface="Calibri"/>
              <a:cs typeface="Calibri"/>
              <a:sym typeface="Calibri"/>
            </a:endParaRPr>
          </a:p>
          <a:p>
            <a:pPr indent="0" lvl="0" marL="0" marR="0" rtl="0" algn="l">
              <a:lnSpc>
                <a:spcPct val="128000"/>
              </a:lnSpc>
              <a:spcBef>
                <a:spcPts val="0"/>
              </a:spcBef>
              <a:spcAft>
                <a:spcPts val="0"/>
              </a:spcAft>
              <a:buClr>
                <a:srgbClr val="DCE6F5"/>
              </a:buClr>
              <a:buSzPts val="900"/>
              <a:buFont typeface="Courier New"/>
              <a:buNone/>
            </a:pPr>
            <a:r>
              <a:rPr b="0" i="0" lang="en-US" sz="900" u="none" cap="none" strike="noStrike">
                <a:solidFill>
                  <a:srgbClr val="DCE6F5"/>
                </a:solidFill>
                <a:latin typeface="Courier New"/>
                <a:ea typeface="Courier New"/>
                <a:cs typeface="Courier New"/>
                <a:sym typeface="Courier New"/>
              </a:rPr>
              <a:t> </a:t>
            </a:r>
            <a:endParaRPr b="0" i="0" sz="900" u="none" cap="none" strike="noStrike">
              <a:solidFill>
                <a:schemeClr val="dk1"/>
              </a:solidFill>
              <a:latin typeface="Calibri"/>
              <a:ea typeface="Calibri"/>
              <a:cs typeface="Calibri"/>
              <a:sym typeface="Calibri"/>
            </a:endParaRPr>
          </a:p>
          <a:p>
            <a:pPr indent="0" lvl="0" marL="0" marR="0" rtl="0" algn="l">
              <a:lnSpc>
                <a:spcPct val="128000"/>
              </a:lnSpc>
              <a:spcBef>
                <a:spcPts val="0"/>
              </a:spcBef>
              <a:spcAft>
                <a:spcPts val="0"/>
              </a:spcAft>
              <a:buClr>
                <a:srgbClr val="DCE6F5"/>
              </a:buClr>
              <a:buSzPts val="900"/>
              <a:buFont typeface="Courier New"/>
              <a:buNone/>
            </a:pPr>
            <a:r>
              <a:rPr b="0" i="0" lang="en-US" sz="900" u="none" cap="none" strike="noStrike">
                <a:solidFill>
                  <a:srgbClr val="DCE6F5"/>
                </a:solidFill>
                <a:latin typeface="Courier New"/>
                <a:ea typeface="Courier New"/>
                <a:cs typeface="Courier New"/>
                <a:sym typeface="Courier New"/>
              </a:rPr>
              <a:t>def param_groups(model, lr_backbone, lr_head):</a:t>
            </a:r>
            <a:endParaRPr b="0" i="0" sz="900" u="none" cap="none" strike="noStrike">
              <a:solidFill>
                <a:schemeClr val="dk1"/>
              </a:solidFill>
              <a:latin typeface="Calibri"/>
              <a:ea typeface="Calibri"/>
              <a:cs typeface="Calibri"/>
              <a:sym typeface="Calibri"/>
            </a:endParaRPr>
          </a:p>
          <a:p>
            <a:pPr indent="0" lvl="0" marL="0" marR="0" rtl="0" algn="l">
              <a:lnSpc>
                <a:spcPct val="128000"/>
              </a:lnSpc>
              <a:spcBef>
                <a:spcPts val="0"/>
              </a:spcBef>
              <a:spcAft>
                <a:spcPts val="0"/>
              </a:spcAft>
              <a:buClr>
                <a:srgbClr val="8FBF71"/>
              </a:buClr>
              <a:buSzPts val="900"/>
              <a:buFont typeface="Courier New"/>
              <a:buNone/>
            </a:pPr>
            <a:r>
              <a:rPr b="0" i="0" lang="en-US" sz="900" u="none" cap="none" strike="noStrike">
                <a:solidFill>
                  <a:srgbClr val="8FBF71"/>
                </a:solidFill>
                <a:latin typeface="Courier New"/>
                <a:ea typeface="Courier New"/>
                <a:cs typeface="Courier New"/>
                <a:sym typeface="Courier New"/>
              </a:rPr>
              <a:t>    """Stage 2: discriminative learning rates."""</a:t>
            </a:r>
            <a:endParaRPr b="0" i="0" sz="900" u="none" cap="none" strike="noStrike">
              <a:solidFill>
                <a:schemeClr val="dk1"/>
              </a:solidFill>
              <a:latin typeface="Calibri"/>
              <a:ea typeface="Calibri"/>
              <a:cs typeface="Calibri"/>
              <a:sym typeface="Calibri"/>
            </a:endParaRPr>
          </a:p>
          <a:p>
            <a:pPr indent="0" lvl="0" marL="0" marR="0" rtl="0" algn="l">
              <a:lnSpc>
                <a:spcPct val="128000"/>
              </a:lnSpc>
              <a:spcBef>
                <a:spcPts val="0"/>
              </a:spcBef>
              <a:spcAft>
                <a:spcPts val="0"/>
              </a:spcAft>
              <a:buClr>
                <a:srgbClr val="DCE6F5"/>
              </a:buClr>
              <a:buSzPts val="900"/>
              <a:buFont typeface="Courier New"/>
              <a:buNone/>
            </a:pPr>
            <a:r>
              <a:rPr b="0" i="0" lang="en-US" sz="900" u="none" cap="none" strike="noStrike">
                <a:solidFill>
                  <a:srgbClr val="DCE6F5"/>
                </a:solidFill>
                <a:latin typeface="Courier New"/>
                <a:ea typeface="Courier New"/>
                <a:cs typeface="Courier New"/>
                <a:sym typeface="Courier New"/>
              </a:rPr>
              <a:t>    backbone = [p for n, p in model.named_parameters()</a:t>
            </a:r>
            <a:endParaRPr b="0" i="0" sz="900" u="none" cap="none" strike="noStrike">
              <a:solidFill>
                <a:schemeClr val="dk1"/>
              </a:solidFill>
              <a:latin typeface="Calibri"/>
              <a:ea typeface="Calibri"/>
              <a:cs typeface="Calibri"/>
              <a:sym typeface="Calibri"/>
            </a:endParaRPr>
          </a:p>
          <a:p>
            <a:pPr indent="0" lvl="0" marL="0" marR="0" rtl="0" algn="l">
              <a:lnSpc>
                <a:spcPct val="128000"/>
              </a:lnSpc>
              <a:spcBef>
                <a:spcPts val="0"/>
              </a:spcBef>
              <a:spcAft>
                <a:spcPts val="0"/>
              </a:spcAft>
              <a:buClr>
                <a:srgbClr val="DCE6F5"/>
              </a:buClr>
              <a:buSzPts val="900"/>
              <a:buFont typeface="Courier New"/>
              <a:buNone/>
            </a:pPr>
            <a:r>
              <a:rPr b="0" i="0" lang="en-US" sz="900" u="none" cap="none" strike="noStrike">
                <a:solidFill>
                  <a:srgbClr val="DCE6F5"/>
                </a:solidFill>
                <a:latin typeface="Courier New"/>
                <a:ea typeface="Courier New"/>
                <a:cs typeface="Courier New"/>
                <a:sym typeface="Courier New"/>
              </a:rPr>
              <a:t>                if not n.startswith("fc.") and p.requires_grad]</a:t>
            </a:r>
            <a:endParaRPr b="0" i="0" sz="900" u="none" cap="none" strike="noStrike">
              <a:solidFill>
                <a:schemeClr val="dk1"/>
              </a:solidFill>
              <a:latin typeface="Calibri"/>
              <a:ea typeface="Calibri"/>
              <a:cs typeface="Calibri"/>
              <a:sym typeface="Calibri"/>
            </a:endParaRPr>
          </a:p>
          <a:p>
            <a:pPr indent="0" lvl="0" marL="0" marR="0" rtl="0" algn="l">
              <a:lnSpc>
                <a:spcPct val="128000"/>
              </a:lnSpc>
              <a:spcBef>
                <a:spcPts val="0"/>
              </a:spcBef>
              <a:spcAft>
                <a:spcPts val="0"/>
              </a:spcAft>
              <a:buClr>
                <a:srgbClr val="DCE6F5"/>
              </a:buClr>
              <a:buSzPts val="900"/>
              <a:buFont typeface="Courier New"/>
              <a:buNone/>
            </a:pPr>
            <a:r>
              <a:rPr b="0" i="0" lang="en-US" sz="900" u="none" cap="none" strike="noStrike">
                <a:solidFill>
                  <a:srgbClr val="DCE6F5"/>
                </a:solidFill>
                <a:latin typeface="Courier New"/>
                <a:ea typeface="Courier New"/>
                <a:cs typeface="Courier New"/>
                <a:sym typeface="Courier New"/>
              </a:rPr>
              <a:t>    head = [p for n, p in model.named_parameters()</a:t>
            </a:r>
            <a:endParaRPr b="0" i="0" sz="900" u="none" cap="none" strike="noStrike">
              <a:solidFill>
                <a:schemeClr val="dk1"/>
              </a:solidFill>
              <a:latin typeface="Calibri"/>
              <a:ea typeface="Calibri"/>
              <a:cs typeface="Calibri"/>
              <a:sym typeface="Calibri"/>
            </a:endParaRPr>
          </a:p>
          <a:p>
            <a:pPr indent="0" lvl="0" marL="0" marR="0" rtl="0" algn="l">
              <a:lnSpc>
                <a:spcPct val="128000"/>
              </a:lnSpc>
              <a:spcBef>
                <a:spcPts val="0"/>
              </a:spcBef>
              <a:spcAft>
                <a:spcPts val="0"/>
              </a:spcAft>
              <a:buClr>
                <a:srgbClr val="DCE6F5"/>
              </a:buClr>
              <a:buSzPts val="900"/>
              <a:buFont typeface="Courier New"/>
              <a:buNone/>
            </a:pPr>
            <a:r>
              <a:rPr b="0" i="0" lang="en-US" sz="900" u="none" cap="none" strike="noStrike">
                <a:solidFill>
                  <a:srgbClr val="DCE6F5"/>
                </a:solidFill>
                <a:latin typeface="Courier New"/>
                <a:ea typeface="Courier New"/>
                <a:cs typeface="Courier New"/>
                <a:sym typeface="Courier New"/>
              </a:rPr>
              <a:t>            if n.startswith("fc.")]</a:t>
            </a:r>
            <a:endParaRPr b="0" i="0" sz="900" u="none" cap="none" strike="noStrike">
              <a:solidFill>
                <a:schemeClr val="dk1"/>
              </a:solidFill>
              <a:latin typeface="Calibri"/>
              <a:ea typeface="Calibri"/>
              <a:cs typeface="Calibri"/>
              <a:sym typeface="Calibri"/>
            </a:endParaRPr>
          </a:p>
          <a:p>
            <a:pPr indent="0" lvl="0" marL="0" marR="0" rtl="0" algn="l">
              <a:lnSpc>
                <a:spcPct val="128000"/>
              </a:lnSpc>
              <a:spcBef>
                <a:spcPts val="0"/>
              </a:spcBef>
              <a:spcAft>
                <a:spcPts val="0"/>
              </a:spcAft>
              <a:buClr>
                <a:srgbClr val="DCE6F5"/>
              </a:buClr>
              <a:buSzPts val="900"/>
              <a:buFont typeface="Courier New"/>
              <a:buNone/>
            </a:pPr>
            <a:r>
              <a:rPr b="0" i="0" lang="en-US" sz="900" u="none" cap="none" strike="noStrike">
                <a:solidFill>
                  <a:srgbClr val="DCE6F5"/>
                </a:solidFill>
                <a:latin typeface="Courier New"/>
                <a:ea typeface="Courier New"/>
                <a:cs typeface="Courier New"/>
                <a:sym typeface="Courier New"/>
              </a:rPr>
              <a:t>    return [{"params": backbone, "lr": lr_backbone},</a:t>
            </a:r>
            <a:endParaRPr b="0" i="0" sz="900" u="none" cap="none" strike="noStrike">
              <a:solidFill>
                <a:schemeClr val="dk1"/>
              </a:solidFill>
              <a:latin typeface="Calibri"/>
              <a:ea typeface="Calibri"/>
              <a:cs typeface="Calibri"/>
              <a:sym typeface="Calibri"/>
            </a:endParaRPr>
          </a:p>
          <a:p>
            <a:pPr indent="0" lvl="0" marL="0" marR="0" rtl="0" algn="l">
              <a:lnSpc>
                <a:spcPct val="128000"/>
              </a:lnSpc>
              <a:spcBef>
                <a:spcPts val="0"/>
              </a:spcBef>
              <a:spcAft>
                <a:spcPts val="0"/>
              </a:spcAft>
              <a:buClr>
                <a:srgbClr val="DCE6F5"/>
              </a:buClr>
              <a:buSzPts val="900"/>
              <a:buFont typeface="Courier New"/>
              <a:buNone/>
            </a:pPr>
            <a:r>
              <a:rPr b="0" i="0" lang="en-US" sz="900" u="none" cap="none" strike="noStrike">
                <a:solidFill>
                  <a:srgbClr val="DCE6F5"/>
                </a:solidFill>
                <a:latin typeface="Courier New"/>
                <a:ea typeface="Courier New"/>
                <a:cs typeface="Courier New"/>
                <a:sym typeface="Courier New"/>
              </a:rPr>
              <a:t>            {"params": head, "lr": lr_head}]</a:t>
            </a:r>
            <a:endParaRPr b="0" i="0" sz="900" u="none" cap="none" strike="noStrike">
              <a:solidFill>
                <a:schemeClr val="dk1"/>
              </a:solidFill>
              <a:latin typeface="Calibri"/>
              <a:ea typeface="Calibri"/>
              <a:cs typeface="Calibri"/>
              <a:sym typeface="Calibri"/>
            </a:endParaRPr>
          </a:p>
        </p:txBody>
      </p:sp>
      <p:sp>
        <p:nvSpPr>
          <p:cNvPr id="1164" name="Google Shape;1164;p40"/>
          <p:cNvSpPr/>
          <p:nvPr/>
        </p:nvSpPr>
        <p:spPr>
          <a:xfrm>
            <a:off x="7973568" y="1389888"/>
            <a:ext cx="3712464" cy="1463040"/>
          </a:xfrm>
          <a:prstGeom prst="roundRect">
            <a:avLst>
              <a:gd fmla="val 4375" name="adj"/>
            </a:avLst>
          </a:prstGeom>
          <a:solidFill>
            <a:srgbClr val="F2F6F9"/>
          </a:solidFill>
          <a:ln cap="flat" cmpd="sng" w="12700">
            <a:solidFill>
              <a:srgbClr val="D9E2E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5" name="Google Shape;1165;p40"/>
          <p:cNvSpPr/>
          <p:nvPr/>
        </p:nvSpPr>
        <p:spPr>
          <a:xfrm>
            <a:off x="8101584" y="1508760"/>
            <a:ext cx="237744" cy="237744"/>
          </a:xfrm>
          <a:prstGeom prst="ellipse">
            <a:avLst/>
          </a:prstGeom>
          <a:solidFill>
            <a:srgbClr val="00A79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6" name="Google Shape;1166;p40"/>
          <p:cNvSpPr/>
          <p:nvPr/>
        </p:nvSpPr>
        <p:spPr>
          <a:xfrm>
            <a:off x="8101584" y="1508760"/>
            <a:ext cx="237744" cy="23774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000"/>
              <a:buFont typeface="Calibri"/>
              <a:buNone/>
            </a:pPr>
            <a:r>
              <a:rPr b="1" i="0" lang="en-US" sz="1000" u="none" cap="none" strike="noStrike">
                <a:solidFill>
                  <a:srgbClr val="FFFFFF"/>
                </a:solidFill>
                <a:latin typeface="Calibri"/>
                <a:ea typeface="Calibri"/>
                <a:cs typeface="Calibri"/>
                <a:sym typeface="Calibri"/>
              </a:rPr>
              <a:t>1</a:t>
            </a:r>
            <a:endParaRPr b="0" i="0" sz="1000" u="none" cap="none" strike="noStrike">
              <a:solidFill>
                <a:schemeClr val="dk1"/>
              </a:solidFill>
              <a:latin typeface="Calibri"/>
              <a:ea typeface="Calibri"/>
              <a:cs typeface="Calibri"/>
              <a:sym typeface="Calibri"/>
            </a:endParaRPr>
          </a:p>
        </p:txBody>
      </p:sp>
      <p:sp>
        <p:nvSpPr>
          <p:cNvPr id="1167" name="Google Shape;1167;p40"/>
          <p:cNvSpPr/>
          <p:nvPr/>
        </p:nvSpPr>
        <p:spPr>
          <a:xfrm>
            <a:off x="8430768" y="1444752"/>
            <a:ext cx="3145536"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D2A5C"/>
              </a:buClr>
              <a:buSzPts val="1150"/>
              <a:buFont typeface="Calibri"/>
              <a:buNone/>
            </a:pPr>
            <a:r>
              <a:rPr b="1" i="0" lang="en-US" sz="1150" u="none" cap="none" strike="noStrike">
                <a:solidFill>
                  <a:srgbClr val="1D2A5C"/>
                </a:solidFill>
                <a:latin typeface="Calibri"/>
                <a:ea typeface="Calibri"/>
                <a:cs typeface="Calibri"/>
                <a:sym typeface="Calibri"/>
              </a:rPr>
              <a:t>New head, pre-trained body</a:t>
            </a:r>
            <a:endParaRPr b="0" i="0" sz="1150" u="none" cap="none" strike="noStrike">
              <a:solidFill>
                <a:schemeClr val="dk1"/>
              </a:solidFill>
              <a:latin typeface="Calibri"/>
              <a:ea typeface="Calibri"/>
              <a:cs typeface="Calibri"/>
              <a:sym typeface="Calibri"/>
            </a:endParaRPr>
          </a:p>
        </p:txBody>
      </p:sp>
      <p:sp>
        <p:nvSpPr>
          <p:cNvPr id="1168" name="Google Shape;1168;p40"/>
          <p:cNvSpPr/>
          <p:nvPr/>
        </p:nvSpPr>
        <p:spPr>
          <a:xfrm>
            <a:off x="8430768" y="1719072"/>
            <a:ext cx="3145536" cy="1060704"/>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5F6B7A"/>
              </a:buClr>
              <a:buSzPts val="1000"/>
              <a:buFont typeface="Calibri"/>
              <a:buNone/>
            </a:pPr>
            <a:r>
              <a:rPr b="0" i="0" lang="en-US" sz="1000" u="none" cap="none" strike="noStrike">
                <a:solidFill>
                  <a:srgbClr val="5F6B7A"/>
                </a:solidFill>
                <a:latin typeface="Calibri"/>
                <a:ea typeface="Calibri"/>
                <a:cs typeface="Calibri"/>
                <a:sym typeface="Calibri"/>
              </a:rPr>
              <a:t>Swap the 1000-class ImageNet classifier for a fresh Linear(2048, 4); keep the rest.</a:t>
            </a:r>
            <a:endParaRPr b="0" i="0" sz="1000" u="none" cap="none" strike="noStrike">
              <a:solidFill>
                <a:schemeClr val="dk1"/>
              </a:solidFill>
              <a:latin typeface="Calibri"/>
              <a:ea typeface="Calibri"/>
              <a:cs typeface="Calibri"/>
              <a:sym typeface="Calibri"/>
            </a:endParaRPr>
          </a:p>
        </p:txBody>
      </p:sp>
      <p:sp>
        <p:nvSpPr>
          <p:cNvPr id="1169" name="Google Shape;1169;p40"/>
          <p:cNvSpPr/>
          <p:nvPr/>
        </p:nvSpPr>
        <p:spPr>
          <a:xfrm>
            <a:off x="7973568" y="3054096"/>
            <a:ext cx="3712464" cy="1463040"/>
          </a:xfrm>
          <a:prstGeom prst="roundRect">
            <a:avLst>
              <a:gd fmla="val 4375" name="adj"/>
            </a:avLst>
          </a:prstGeom>
          <a:solidFill>
            <a:srgbClr val="F2F6F9"/>
          </a:solidFill>
          <a:ln cap="flat" cmpd="sng" w="12700">
            <a:solidFill>
              <a:srgbClr val="D9E2E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0" name="Google Shape;1170;p40"/>
          <p:cNvSpPr/>
          <p:nvPr/>
        </p:nvSpPr>
        <p:spPr>
          <a:xfrm>
            <a:off x="8101584" y="3172968"/>
            <a:ext cx="237744" cy="237744"/>
          </a:xfrm>
          <a:prstGeom prst="ellipse">
            <a:avLst/>
          </a:prstGeom>
          <a:solidFill>
            <a:srgbClr val="29ABE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1" name="Google Shape;1171;p40"/>
          <p:cNvSpPr/>
          <p:nvPr/>
        </p:nvSpPr>
        <p:spPr>
          <a:xfrm>
            <a:off x="8101584" y="3172968"/>
            <a:ext cx="237744" cy="23774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000"/>
              <a:buFont typeface="Calibri"/>
              <a:buNone/>
            </a:pPr>
            <a:r>
              <a:rPr b="1" i="0" lang="en-US" sz="1000" u="none" cap="none" strike="noStrike">
                <a:solidFill>
                  <a:srgbClr val="FFFFFF"/>
                </a:solidFill>
                <a:latin typeface="Calibri"/>
                <a:ea typeface="Calibri"/>
                <a:cs typeface="Calibri"/>
                <a:sym typeface="Calibri"/>
              </a:rPr>
              <a:t>2</a:t>
            </a:r>
            <a:endParaRPr b="0" i="0" sz="1000" u="none" cap="none" strike="noStrike">
              <a:solidFill>
                <a:schemeClr val="dk1"/>
              </a:solidFill>
              <a:latin typeface="Calibri"/>
              <a:ea typeface="Calibri"/>
              <a:cs typeface="Calibri"/>
              <a:sym typeface="Calibri"/>
            </a:endParaRPr>
          </a:p>
        </p:txBody>
      </p:sp>
      <p:sp>
        <p:nvSpPr>
          <p:cNvPr id="1172" name="Google Shape;1172;p40"/>
          <p:cNvSpPr/>
          <p:nvPr/>
        </p:nvSpPr>
        <p:spPr>
          <a:xfrm>
            <a:off x="8430768" y="3108960"/>
            <a:ext cx="3145536"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D2A5C"/>
              </a:buClr>
              <a:buSzPts val="1150"/>
              <a:buFont typeface="Calibri"/>
              <a:buNone/>
            </a:pPr>
            <a:r>
              <a:rPr b="1" i="0" lang="en-US" sz="1150" u="none" cap="none" strike="noStrike">
                <a:solidFill>
                  <a:srgbClr val="1D2A5C"/>
                </a:solidFill>
                <a:latin typeface="Calibri"/>
                <a:ea typeface="Calibri"/>
                <a:cs typeface="Calibri"/>
                <a:sym typeface="Calibri"/>
              </a:rPr>
              <a:t>requires_grad is the freeze</a:t>
            </a:r>
            <a:endParaRPr b="0" i="0" sz="1150" u="none" cap="none" strike="noStrike">
              <a:solidFill>
                <a:schemeClr val="dk1"/>
              </a:solidFill>
              <a:latin typeface="Calibri"/>
              <a:ea typeface="Calibri"/>
              <a:cs typeface="Calibri"/>
              <a:sym typeface="Calibri"/>
            </a:endParaRPr>
          </a:p>
        </p:txBody>
      </p:sp>
      <p:sp>
        <p:nvSpPr>
          <p:cNvPr id="1173" name="Google Shape;1173;p40"/>
          <p:cNvSpPr/>
          <p:nvPr/>
        </p:nvSpPr>
        <p:spPr>
          <a:xfrm>
            <a:off x="8430768" y="3383280"/>
            <a:ext cx="3145536" cy="1060704"/>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5F6B7A"/>
              </a:buClr>
              <a:buSzPts val="1000"/>
              <a:buFont typeface="Calibri"/>
              <a:buNone/>
            </a:pPr>
            <a:r>
              <a:rPr b="0" i="0" lang="en-US" sz="1000" u="none" cap="none" strike="noStrike">
                <a:solidFill>
                  <a:srgbClr val="5F6B7A"/>
                </a:solidFill>
                <a:latin typeface="Calibri"/>
                <a:ea typeface="Calibri"/>
                <a:cs typeface="Calibri"/>
                <a:sym typeface="Calibri"/>
              </a:rPr>
              <a:t>Stage 1 trains only parameters named fc.*; the backbone stays exactly as downloaded.</a:t>
            </a:r>
            <a:endParaRPr b="0" i="0" sz="1000" u="none" cap="none" strike="noStrike">
              <a:solidFill>
                <a:schemeClr val="dk1"/>
              </a:solidFill>
              <a:latin typeface="Calibri"/>
              <a:ea typeface="Calibri"/>
              <a:cs typeface="Calibri"/>
              <a:sym typeface="Calibri"/>
            </a:endParaRPr>
          </a:p>
        </p:txBody>
      </p:sp>
      <p:sp>
        <p:nvSpPr>
          <p:cNvPr id="1174" name="Google Shape;1174;p40"/>
          <p:cNvSpPr/>
          <p:nvPr/>
        </p:nvSpPr>
        <p:spPr>
          <a:xfrm>
            <a:off x="7973568" y="4718304"/>
            <a:ext cx="3712464" cy="1463040"/>
          </a:xfrm>
          <a:prstGeom prst="roundRect">
            <a:avLst>
              <a:gd fmla="val 4375" name="adj"/>
            </a:avLst>
          </a:prstGeom>
          <a:solidFill>
            <a:srgbClr val="F2F6F9"/>
          </a:solidFill>
          <a:ln cap="flat" cmpd="sng" w="12700">
            <a:solidFill>
              <a:srgbClr val="D9E2E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5" name="Google Shape;1175;p40"/>
          <p:cNvSpPr/>
          <p:nvPr/>
        </p:nvSpPr>
        <p:spPr>
          <a:xfrm>
            <a:off x="8101584" y="4837176"/>
            <a:ext cx="237744" cy="237744"/>
          </a:xfrm>
          <a:prstGeom prst="ellipse">
            <a:avLst/>
          </a:prstGeom>
          <a:solidFill>
            <a:srgbClr val="F5822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6" name="Google Shape;1176;p40"/>
          <p:cNvSpPr/>
          <p:nvPr/>
        </p:nvSpPr>
        <p:spPr>
          <a:xfrm>
            <a:off x="8101584" y="4837176"/>
            <a:ext cx="237744" cy="23774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000"/>
              <a:buFont typeface="Calibri"/>
              <a:buNone/>
            </a:pPr>
            <a:r>
              <a:rPr b="1" i="0" lang="en-US" sz="1000" u="none" cap="none" strike="noStrike">
                <a:solidFill>
                  <a:srgbClr val="FFFFFF"/>
                </a:solidFill>
                <a:latin typeface="Calibri"/>
                <a:ea typeface="Calibri"/>
                <a:cs typeface="Calibri"/>
                <a:sym typeface="Calibri"/>
              </a:rPr>
              <a:t>3</a:t>
            </a:r>
            <a:endParaRPr b="0" i="0" sz="1000" u="none" cap="none" strike="noStrike">
              <a:solidFill>
                <a:schemeClr val="dk1"/>
              </a:solidFill>
              <a:latin typeface="Calibri"/>
              <a:ea typeface="Calibri"/>
              <a:cs typeface="Calibri"/>
              <a:sym typeface="Calibri"/>
            </a:endParaRPr>
          </a:p>
        </p:txBody>
      </p:sp>
      <p:sp>
        <p:nvSpPr>
          <p:cNvPr id="1177" name="Google Shape;1177;p40"/>
          <p:cNvSpPr/>
          <p:nvPr/>
        </p:nvSpPr>
        <p:spPr>
          <a:xfrm>
            <a:off x="8430768" y="4773168"/>
            <a:ext cx="3145536"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D2A5C"/>
              </a:buClr>
              <a:buSzPts val="1150"/>
              <a:buFont typeface="Calibri"/>
              <a:buNone/>
            </a:pPr>
            <a:r>
              <a:rPr b="1" i="0" lang="en-US" sz="1150" u="none" cap="none" strike="noStrike">
                <a:solidFill>
                  <a:srgbClr val="1D2A5C"/>
                </a:solidFill>
                <a:latin typeface="Calibri"/>
                <a:ea typeface="Calibri"/>
                <a:cs typeface="Calibri"/>
                <a:sym typeface="Calibri"/>
              </a:rPr>
              <a:t>Two param groups, two LRs</a:t>
            </a:r>
            <a:endParaRPr b="0" i="0" sz="1150" u="none" cap="none" strike="noStrike">
              <a:solidFill>
                <a:schemeClr val="dk1"/>
              </a:solidFill>
              <a:latin typeface="Calibri"/>
              <a:ea typeface="Calibri"/>
              <a:cs typeface="Calibri"/>
              <a:sym typeface="Calibri"/>
            </a:endParaRPr>
          </a:p>
        </p:txBody>
      </p:sp>
      <p:sp>
        <p:nvSpPr>
          <p:cNvPr id="1178" name="Google Shape;1178;p40"/>
          <p:cNvSpPr/>
          <p:nvPr/>
        </p:nvSpPr>
        <p:spPr>
          <a:xfrm>
            <a:off x="8430768" y="5047488"/>
            <a:ext cx="3145536" cy="1060704"/>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5F6B7A"/>
              </a:buClr>
              <a:buSzPts val="1000"/>
              <a:buFont typeface="Calibri"/>
              <a:buNone/>
            </a:pPr>
            <a:r>
              <a:rPr b="0" i="0" lang="en-US" sz="1000" u="none" cap="none" strike="noStrike">
                <a:solidFill>
                  <a:srgbClr val="5F6B7A"/>
                </a:solidFill>
                <a:latin typeface="Calibri"/>
                <a:ea typeface="Calibri"/>
                <a:cs typeface="Calibri"/>
                <a:sym typeface="Calibri"/>
              </a:rPr>
              <a:t>Early layers hold generic edges/textures - protect them with a far smaller LR.</a:t>
            </a:r>
            <a:endParaRPr b="0" i="0" sz="1000" u="none" cap="none" strike="noStrike">
              <a:solidFill>
                <a:schemeClr val="dk1"/>
              </a:solidFill>
              <a:latin typeface="Calibri"/>
              <a:ea typeface="Calibri"/>
              <a:cs typeface="Calibri"/>
              <a:sym typeface="Calibri"/>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183" name="Shape 1183"/>
        <p:cNvGrpSpPr/>
        <p:nvPr/>
      </p:nvGrpSpPr>
      <p:grpSpPr>
        <a:xfrm>
          <a:off x="0" y="0"/>
          <a:ext cx="0" cy="0"/>
          <a:chOff x="0" y="0"/>
          <a:chExt cx="0" cy="0"/>
        </a:xfrm>
      </p:grpSpPr>
      <p:sp>
        <p:nvSpPr>
          <p:cNvPr id="1184" name="Google Shape;1184;p41"/>
          <p:cNvSpPr/>
          <p:nvPr/>
        </p:nvSpPr>
        <p:spPr>
          <a:xfrm>
            <a:off x="502920" y="274320"/>
            <a:ext cx="9646920" cy="56692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D2A5C"/>
              </a:buClr>
              <a:buSzPts val="2700"/>
              <a:buFont typeface="Calibri"/>
              <a:buNone/>
            </a:pPr>
            <a:r>
              <a:rPr b="1" i="0" lang="en-US" sz="2700" u="none" cap="none" strike="noStrike">
                <a:solidFill>
                  <a:srgbClr val="1D2A5C"/>
                </a:solidFill>
                <a:latin typeface="Calibri"/>
                <a:ea typeface="Calibri"/>
                <a:cs typeface="Calibri"/>
                <a:sym typeface="Calibri"/>
              </a:rPr>
              <a:t>Staged fine-tuning driver</a:t>
            </a:r>
            <a:endParaRPr b="0" i="0" sz="2700" u="none" cap="none" strike="noStrike">
              <a:solidFill>
                <a:schemeClr val="dk1"/>
              </a:solidFill>
              <a:latin typeface="Calibri"/>
              <a:ea typeface="Calibri"/>
              <a:cs typeface="Calibri"/>
              <a:sym typeface="Calibri"/>
            </a:endParaRPr>
          </a:p>
        </p:txBody>
      </p:sp>
      <p:sp>
        <p:nvSpPr>
          <p:cNvPr id="1185" name="Google Shape;1185;p41"/>
          <p:cNvSpPr/>
          <p:nvPr/>
        </p:nvSpPr>
        <p:spPr>
          <a:xfrm>
            <a:off x="502920" y="859536"/>
            <a:ext cx="9646920" cy="31089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F6B7A"/>
              </a:buClr>
              <a:buSzPts val="1250"/>
              <a:buFont typeface="Arial"/>
              <a:buNone/>
            </a:pPr>
            <a:r>
              <a:rPr b="0" i="0" lang="en-US" sz="1250" u="none" cap="none" strike="noStrike">
                <a:solidFill>
                  <a:srgbClr val="5F6B7A"/>
                </a:solidFill>
                <a:latin typeface="Arial"/>
                <a:ea typeface="Arial"/>
                <a:cs typeface="Arial"/>
                <a:sym typeface="Arial"/>
              </a:rPr>
              <a:t>مشغل الضبط المرحلي</a:t>
            </a:r>
            <a:endParaRPr b="0" i="0" sz="1250" u="none" cap="none" strike="noStrike">
              <a:solidFill>
                <a:schemeClr val="dk1"/>
              </a:solidFill>
              <a:latin typeface="Calibri"/>
              <a:ea typeface="Calibri"/>
              <a:cs typeface="Calibri"/>
              <a:sym typeface="Calibri"/>
            </a:endParaRPr>
          </a:p>
        </p:txBody>
      </p:sp>
      <p:pic>
        <p:nvPicPr>
          <p:cNvPr descr="/sessions/blissful-determined-ritchie/build/assets/sdaia_logo.png" id="1186" name="Google Shape;1186;p41"/>
          <p:cNvPicPr preferRelativeResize="0"/>
          <p:nvPr/>
        </p:nvPicPr>
        <p:blipFill rotWithShape="1">
          <a:blip r:embed="rId3">
            <a:alphaModFix/>
          </a:blip>
          <a:srcRect b="0" l="0" r="0" t="0"/>
          <a:stretch/>
        </p:blipFill>
        <p:spPr>
          <a:xfrm>
            <a:off x="10625328" y="310896"/>
            <a:ext cx="1078992" cy="264111"/>
          </a:xfrm>
          <a:prstGeom prst="rect">
            <a:avLst/>
          </a:prstGeom>
          <a:noFill/>
          <a:ln>
            <a:noFill/>
          </a:ln>
        </p:spPr>
      </p:pic>
      <p:sp>
        <p:nvSpPr>
          <p:cNvPr id="1187" name="Google Shape;1187;p41"/>
          <p:cNvSpPr/>
          <p:nvPr/>
        </p:nvSpPr>
        <p:spPr>
          <a:xfrm>
            <a:off x="502920" y="6528816"/>
            <a:ext cx="8686800"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A79D"/>
              </a:buClr>
              <a:buSzPts val="800"/>
              <a:buFont typeface="Calibri"/>
              <a:buNone/>
            </a:pPr>
            <a:r>
              <a:rPr b="1" i="0" lang="en-US" sz="800" u="none" cap="none" strike="noStrike">
                <a:solidFill>
                  <a:srgbClr val="00A79D"/>
                </a:solidFill>
                <a:latin typeface="Calibri"/>
                <a:ea typeface="Calibri"/>
                <a:cs typeface="Calibri"/>
                <a:sym typeface="Calibri"/>
              </a:rPr>
              <a:t>MODULE 2   </a:t>
            </a:r>
            <a:r>
              <a:rPr b="0" i="0" lang="en-US" sz="800" u="none" cap="none" strike="noStrike">
                <a:solidFill>
                  <a:srgbClr val="8A96A6"/>
                </a:solidFill>
                <a:latin typeface="Calibri"/>
                <a:ea typeface="Calibri"/>
                <a:cs typeface="Calibri"/>
                <a:sym typeface="Calibri"/>
              </a:rPr>
              <a:t>SDA-AIE-212 · Computer Vision Systems Development</a:t>
            </a:r>
            <a:endParaRPr b="0" i="0" sz="800" u="none" cap="none" strike="noStrike">
              <a:solidFill>
                <a:schemeClr val="dk1"/>
              </a:solidFill>
              <a:latin typeface="Calibri"/>
              <a:ea typeface="Calibri"/>
              <a:cs typeface="Calibri"/>
              <a:sym typeface="Calibri"/>
            </a:endParaRPr>
          </a:p>
        </p:txBody>
      </p:sp>
      <p:sp>
        <p:nvSpPr>
          <p:cNvPr id="1188" name="Google Shape;1188;p41"/>
          <p:cNvSpPr/>
          <p:nvPr/>
        </p:nvSpPr>
        <p:spPr>
          <a:xfrm>
            <a:off x="11292840" y="6528816"/>
            <a:ext cx="411480" cy="219456"/>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8A96A6"/>
              </a:buClr>
              <a:buSzPts val="900"/>
              <a:buFont typeface="Calibri"/>
              <a:buNone/>
            </a:pPr>
            <a:r>
              <a:rPr b="0" i="0" lang="en-US" sz="900" u="none" cap="none" strike="noStrike">
                <a:solidFill>
                  <a:srgbClr val="8A96A6"/>
                </a:solidFill>
                <a:latin typeface="Calibri"/>
                <a:ea typeface="Calibri"/>
                <a:cs typeface="Calibri"/>
                <a:sym typeface="Calibri"/>
              </a:rPr>
              <a:t>41</a:t>
            </a:r>
            <a:endParaRPr b="0" i="0" sz="900" u="none" cap="none" strike="noStrike">
              <a:solidFill>
                <a:schemeClr val="dk1"/>
              </a:solidFill>
              <a:latin typeface="Calibri"/>
              <a:ea typeface="Calibri"/>
              <a:cs typeface="Calibri"/>
              <a:sym typeface="Calibri"/>
            </a:endParaRPr>
          </a:p>
        </p:txBody>
      </p:sp>
      <p:sp>
        <p:nvSpPr>
          <p:cNvPr id="1189" name="Google Shape;1189;p41"/>
          <p:cNvSpPr/>
          <p:nvPr/>
        </p:nvSpPr>
        <p:spPr>
          <a:xfrm>
            <a:off x="502920" y="1389888"/>
            <a:ext cx="7178040" cy="4965192"/>
          </a:xfrm>
          <a:prstGeom prst="roundRect">
            <a:avLst>
              <a:gd fmla="val 1842" name="adj"/>
            </a:avLst>
          </a:prstGeom>
          <a:solidFill>
            <a:srgbClr val="0F172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0" name="Google Shape;1190;p41"/>
          <p:cNvSpPr/>
          <p:nvPr/>
        </p:nvSpPr>
        <p:spPr>
          <a:xfrm>
            <a:off x="704088" y="1536192"/>
            <a:ext cx="2200046" cy="292608"/>
          </a:xfrm>
          <a:prstGeom prst="roundRect">
            <a:avLst>
              <a:gd fmla="val 18750" name="adj"/>
            </a:avLst>
          </a:prstGeom>
          <a:solidFill>
            <a:srgbClr val="1E293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1" name="Google Shape;1191;p41"/>
          <p:cNvSpPr/>
          <p:nvPr/>
        </p:nvSpPr>
        <p:spPr>
          <a:xfrm>
            <a:off x="795528" y="1536192"/>
            <a:ext cx="662940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EEAD4"/>
              </a:buClr>
              <a:buSzPts val="950"/>
              <a:buFont typeface="Courier New"/>
              <a:buNone/>
            </a:pPr>
            <a:r>
              <a:rPr b="0" i="0" lang="en-US" sz="950" u="none" cap="none" strike="noStrike">
                <a:solidFill>
                  <a:srgbClr val="5EEAD4"/>
                </a:solidFill>
                <a:latin typeface="Courier New"/>
                <a:ea typeface="Courier New"/>
                <a:cs typeface="Courier New"/>
                <a:sym typeface="Courier New"/>
              </a:rPr>
              <a:t>scripts/train_classifier.py</a:t>
            </a:r>
            <a:endParaRPr b="0" i="0" sz="950" u="none" cap="none" strike="noStrike">
              <a:solidFill>
                <a:schemeClr val="dk1"/>
              </a:solidFill>
              <a:latin typeface="Calibri"/>
              <a:ea typeface="Calibri"/>
              <a:cs typeface="Calibri"/>
              <a:sym typeface="Calibri"/>
            </a:endParaRPr>
          </a:p>
        </p:txBody>
      </p:sp>
      <p:sp>
        <p:nvSpPr>
          <p:cNvPr id="1192" name="Google Shape;1192;p41"/>
          <p:cNvSpPr/>
          <p:nvPr/>
        </p:nvSpPr>
        <p:spPr>
          <a:xfrm>
            <a:off x="758952" y="1920240"/>
            <a:ext cx="6720840" cy="4279392"/>
          </a:xfrm>
          <a:prstGeom prst="rect">
            <a:avLst/>
          </a:prstGeom>
          <a:noFill/>
          <a:ln>
            <a:noFill/>
          </a:ln>
        </p:spPr>
        <p:txBody>
          <a:bodyPr anchorCtr="0" anchor="t" bIns="0" lIns="0" spcFirstLastPara="1" rIns="0" wrap="square" tIns="0">
            <a:noAutofit/>
          </a:bodyPr>
          <a:lstStyle/>
          <a:p>
            <a:pPr indent="0" lvl="0" marL="0" marR="0" rtl="0" algn="l">
              <a:lnSpc>
                <a:spcPct val="128000"/>
              </a:lnSpc>
              <a:spcBef>
                <a:spcPts val="0"/>
              </a:spcBef>
              <a:spcAft>
                <a:spcPts val="0"/>
              </a:spcAft>
              <a:buClr>
                <a:srgbClr val="DCE6F5"/>
              </a:buClr>
              <a:buSzPts val="900"/>
              <a:buFont typeface="Courier New"/>
              <a:buNone/>
            </a:pPr>
            <a:r>
              <a:rPr b="0" i="0" lang="en-US" sz="900" u="none" cap="none" strike="noStrike">
                <a:solidFill>
                  <a:srgbClr val="DCE6F5"/>
                </a:solidFill>
                <a:latin typeface="Courier New"/>
                <a:ea typeface="Courier New"/>
                <a:cs typeface="Courier New"/>
                <a:sym typeface="Courier New"/>
              </a:rPr>
              <a:t>torch.manual_seed(212)</a:t>
            </a:r>
            <a:endParaRPr b="0" i="0" sz="900" u="none" cap="none" strike="noStrike">
              <a:solidFill>
                <a:schemeClr val="dk1"/>
              </a:solidFill>
              <a:latin typeface="Calibri"/>
              <a:ea typeface="Calibri"/>
              <a:cs typeface="Calibri"/>
              <a:sym typeface="Calibri"/>
            </a:endParaRPr>
          </a:p>
          <a:p>
            <a:pPr indent="0" lvl="0" marL="0" marR="0" rtl="0" algn="l">
              <a:lnSpc>
                <a:spcPct val="128000"/>
              </a:lnSpc>
              <a:spcBef>
                <a:spcPts val="0"/>
              </a:spcBef>
              <a:spcAft>
                <a:spcPts val="0"/>
              </a:spcAft>
              <a:buClr>
                <a:srgbClr val="DCE6F5"/>
              </a:buClr>
              <a:buSzPts val="900"/>
              <a:buFont typeface="Courier New"/>
              <a:buNone/>
            </a:pPr>
            <a:r>
              <a:rPr b="0" i="0" lang="en-US" sz="900" u="none" cap="none" strike="noStrike">
                <a:solidFill>
                  <a:srgbClr val="DCE6F5"/>
                </a:solidFill>
                <a:latin typeface="Courier New"/>
                <a:ea typeface="Courier New"/>
                <a:cs typeface="Courier New"/>
                <a:sym typeface="Courier New"/>
              </a:rPr>
              <a:t>model = build_model().to(device)</a:t>
            </a:r>
            <a:endParaRPr b="0" i="0" sz="900" u="none" cap="none" strike="noStrike">
              <a:solidFill>
                <a:schemeClr val="dk1"/>
              </a:solidFill>
              <a:latin typeface="Calibri"/>
              <a:ea typeface="Calibri"/>
              <a:cs typeface="Calibri"/>
              <a:sym typeface="Calibri"/>
            </a:endParaRPr>
          </a:p>
          <a:p>
            <a:pPr indent="0" lvl="0" marL="0" marR="0" rtl="0" algn="l">
              <a:lnSpc>
                <a:spcPct val="128000"/>
              </a:lnSpc>
              <a:spcBef>
                <a:spcPts val="0"/>
              </a:spcBef>
              <a:spcAft>
                <a:spcPts val="0"/>
              </a:spcAft>
              <a:buClr>
                <a:srgbClr val="DCE6F5"/>
              </a:buClr>
              <a:buSzPts val="900"/>
              <a:buFont typeface="Courier New"/>
              <a:buNone/>
            </a:pPr>
            <a:r>
              <a:rPr b="0" i="0" lang="en-US" sz="900" u="none" cap="none" strike="noStrike">
                <a:solidFill>
                  <a:srgbClr val="DCE6F5"/>
                </a:solidFill>
                <a:latin typeface="Courier New"/>
                <a:ea typeface="Courier New"/>
                <a:cs typeface="Courier New"/>
                <a:sym typeface="Courier New"/>
              </a:rPr>
              <a:t>weights = torch.tensor([0.6, 0.8, 2.4, 18.1])  # reject ~18x</a:t>
            </a:r>
            <a:endParaRPr b="0" i="0" sz="900" u="none" cap="none" strike="noStrike">
              <a:solidFill>
                <a:schemeClr val="dk1"/>
              </a:solidFill>
              <a:latin typeface="Calibri"/>
              <a:ea typeface="Calibri"/>
              <a:cs typeface="Calibri"/>
              <a:sym typeface="Calibri"/>
            </a:endParaRPr>
          </a:p>
          <a:p>
            <a:pPr indent="0" lvl="0" marL="0" marR="0" rtl="0" algn="l">
              <a:lnSpc>
                <a:spcPct val="128000"/>
              </a:lnSpc>
              <a:spcBef>
                <a:spcPts val="0"/>
              </a:spcBef>
              <a:spcAft>
                <a:spcPts val="0"/>
              </a:spcAft>
              <a:buClr>
                <a:srgbClr val="8FBF71"/>
              </a:buClr>
              <a:buSzPts val="900"/>
              <a:buFont typeface="Courier New"/>
              <a:buNone/>
            </a:pPr>
            <a:r>
              <a:rPr b="0" i="0" lang="en-US" sz="900" u="none" cap="none" strike="noStrike">
                <a:solidFill>
                  <a:srgbClr val="8FBF71"/>
                </a:solidFill>
                <a:latin typeface="Courier New"/>
                <a:ea typeface="Courier New"/>
                <a:cs typeface="Courier New"/>
                <a:sym typeface="Courier New"/>
              </a:rPr>
              <a:t># ---- Stage 1: head only, 2 epochs, lr=1e-3 ----</a:t>
            </a:r>
            <a:endParaRPr b="0" i="0" sz="900" u="none" cap="none" strike="noStrike">
              <a:solidFill>
                <a:schemeClr val="dk1"/>
              </a:solidFill>
              <a:latin typeface="Calibri"/>
              <a:ea typeface="Calibri"/>
              <a:cs typeface="Calibri"/>
              <a:sym typeface="Calibri"/>
            </a:endParaRPr>
          </a:p>
          <a:p>
            <a:pPr indent="0" lvl="0" marL="0" marR="0" rtl="0" algn="l">
              <a:lnSpc>
                <a:spcPct val="128000"/>
              </a:lnSpc>
              <a:spcBef>
                <a:spcPts val="0"/>
              </a:spcBef>
              <a:spcAft>
                <a:spcPts val="0"/>
              </a:spcAft>
              <a:buClr>
                <a:srgbClr val="DCE6F5"/>
              </a:buClr>
              <a:buSzPts val="900"/>
              <a:buFont typeface="Courier New"/>
              <a:buNone/>
            </a:pPr>
            <a:r>
              <a:rPr b="0" i="0" lang="en-US" sz="900" u="none" cap="none" strike="noStrike">
                <a:solidFill>
                  <a:srgbClr val="DCE6F5"/>
                </a:solidFill>
                <a:latin typeface="Courier New"/>
                <a:ea typeface="Courier New"/>
                <a:cs typeface="Courier New"/>
                <a:sym typeface="Courier New"/>
              </a:rPr>
              <a:t>freeze_backbone(model)</a:t>
            </a:r>
            <a:endParaRPr b="0" i="0" sz="900" u="none" cap="none" strike="noStrike">
              <a:solidFill>
                <a:schemeClr val="dk1"/>
              </a:solidFill>
              <a:latin typeface="Calibri"/>
              <a:ea typeface="Calibri"/>
              <a:cs typeface="Calibri"/>
              <a:sym typeface="Calibri"/>
            </a:endParaRPr>
          </a:p>
          <a:p>
            <a:pPr indent="0" lvl="0" marL="0" marR="0" rtl="0" algn="l">
              <a:lnSpc>
                <a:spcPct val="128000"/>
              </a:lnSpc>
              <a:spcBef>
                <a:spcPts val="0"/>
              </a:spcBef>
              <a:spcAft>
                <a:spcPts val="0"/>
              </a:spcAft>
              <a:buClr>
                <a:srgbClr val="DCE6F5"/>
              </a:buClr>
              <a:buSzPts val="900"/>
              <a:buFont typeface="Courier New"/>
              <a:buNone/>
            </a:pPr>
            <a:r>
              <a:rPr b="0" i="0" lang="en-US" sz="900" u="none" cap="none" strike="noStrike">
                <a:solidFill>
                  <a:srgbClr val="DCE6F5"/>
                </a:solidFill>
                <a:latin typeface="Courier New"/>
                <a:ea typeface="Courier New"/>
                <a:cs typeface="Courier New"/>
                <a:sym typeface="Courier New"/>
              </a:rPr>
              <a:t>opt = torch.optim.AdamW(</a:t>
            </a:r>
            <a:endParaRPr b="0" i="0" sz="900" u="none" cap="none" strike="noStrike">
              <a:solidFill>
                <a:schemeClr val="dk1"/>
              </a:solidFill>
              <a:latin typeface="Calibri"/>
              <a:ea typeface="Calibri"/>
              <a:cs typeface="Calibri"/>
              <a:sym typeface="Calibri"/>
            </a:endParaRPr>
          </a:p>
          <a:p>
            <a:pPr indent="0" lvl="0" marL="0" marR="0" rtl="0" algn="l">
              <a:lnSpc>
                <a:spcPct val="128000"/>
              </a:lnSpc>
              <a:spcBef>
                <a:spcPts val="0"/>
              </a:spcBef>
              <a:spcAft>
                <a:spcPts val="0"/>
              </a:spcAft>
              <a:buClr>
                <a:srgbClr val="DCE6F5"/>
              </a:buClr>
              <a:buSzPts val="900"/>
              <a:buFont typeface="Courier New"/>
              <a:buNone/>
            </a:pPr>
            <a:r>
              <a:rPr b="0" i="0" lang="en-US" sz="900" u="none" cap="none" strike="noStrike">
                <a:solidFill>
                  <a:srgbClr val="DCE6F5"/>
                </a:solidFill>
                <a:latin typeface="Courier New"/>
                <a:ea typeface="Courier New"/>
                <a:cs typeface="Courier New"/>
                <a:sym typeface="Courier New"/>
              </a:rPr>
              <a:t>    [p for p in model.parameters() if p.requires_grad], lr=1e-3)</a:t>
            </a:r>
            <a:endParaRPr b="0" i="0" sz="900" u="none" cap="none" strike="noStrike">
              <a:solidFill>
                <a:schemeClr val="dk1"/>
              </a:solidFill>
              <a:latin typeface="Calibri"/>
              <a:ea typeface="Calibri"/>
              <a:cs typeface="Calibri"/>
              <a:sym typeface="Calibri"/>
            </a:endParaRPr>
          </a:p>
          <a:p>
            <a:pPr indent="0" lvl="0" marL="0" marR="0" rtl="0" algn="l">
              <a:lnSpc>
                <a:spcPct val="128000"/>
              </a:lnSpc>
              <a:spcBef>
                <a:spcPts val="0"/>
              </a:spcBef>
              <a:spcAft>
                <a:spcPts val="0"/>
              </a:spcAft>
              <a:buClr>
                <a:srgbClr val="DCE6F5"/>
              </a:buClr>
              <a:buSzPts val="900"/>
              <a:buFont typeface="Courier New"/>
              <a:buNone/>
            </a:pPr>
            <a:r>
              <a:rPr b="0" i="0" lang="en-US" sz="900" u="none" cap="none" strike="noStrike">
                <a:solidFill>
                  <a:srgbClr val="DCE6F5"/>
                </a:solidFill>
                <a:latin typeface="Courier New"/>
                <a:ea typeface="Courier New"/>
                <a:cs typeface="Courier New"/>
                <a:sym typeface="Courier New"/>
              </a:rPr>
              <a:t>for _ in range(2):</a:t>
            </a:r>
            <a:endParaRPr b="0" i="0" sz="900" u="none" cap="none" strike="noStrike">
              <a:solidFill>
                <a:schemeClr val="dk1"/>
              </a:solidFill>
              <a:latin typeface="Calibri"/>
              <a:ea typeface="Calibri"/>
              <a:cs typeface="Calibri"/>
              <a:sym typeface="Calibri"/>
            </a:endParaRPr>
          </a:p>
          <a:p>
            <a:pPr indent="0" lvl="0" marL="0" marR="0" rtl="0" algn="l">
              <a:lnSpc>
                <a:spcPct val="128000"/>
              </a:lnSpc>
              <a:spcBef>
                <a:spcPts val="0"/>
              </a:spcBef>
              <a:spcAft>
                <a:spcPts val="0"/>
              </a:spcAft>
              <a:buClr>
                <a:srgbClr val="DCE6F5"/>
              </a:buClr>
              <a:buSzPts val="900"/>
              <a:buFont typeface="Courier New"/>
              <a:buNone/>
            </a:pPr>
            <a:r>
              <a:rPr b="0" i="0" lang="en-US" sz="900" u="none" cap="none" strike="noStrike">
                <a:solidFill>
                  <a:srgbClr val="DCE6F5"/>
                </a:solidFill>
                <a:latin typeface="Courier New"/>
                <a:ea typeface="Courier New"/>
                <a:cs typeface="Courier New"/>
                <a:sym typeface="Courier New"/>
              </a:rPr>
              <a:t>    train_epoch(model, train_dl, opt, scaler, device, weights)</a:t>
            </a:r>
            <a:endParaRPr b="0" i="0" sz="900" u="none" cap="none" strike="noStrike">
              <a:solidFill>
                <a:schemeClr val="dk1"/>
              </a:solidFill>
              <a:latin typeface="Calibri"/>
              <a:ea typeface="Calibri"/>
              <a:cs typeface="Calibri"/>
              <a:sym typeface="Calibri"/>
            </a:endParaRPr>
          </a:p>
          <a:p>
            <a:pPr indent="0" lvl="0" marL="0" marR="0" rtl="0" algn="l">
              <a:lnSpc>
                <a:spcPct val="128000"/>
              </a:lnSpc>
              <a:spcBef>
                <a:spcPts val="0"/>
              </a:spcBef>
              <a:spcAft>
                <a:spcPts val="0"/>
              </a:spcAft>
              <a:buClr>
                <a:srgbClr val="8FBF71"/>
              </a:buClr>
              <a:buSzPts val="900"/>
              <a:buFont typeface="Courier New"/>
              <a:buNone/>
            </a:pPr>
            <a:r>
              <a:rPr b="0" i="0" lang="en-US" sz="900" u="none" cap="none" strike="noStrike">
                <a:solidFill>
                  <a:srgbClr val="8FBF71"/>
                </a:solidFill>
                <a:latin typeface="Courier New"/>
                <a:ea typeface="Courier New"/>
                <a:cs typeface="Courier New"/>
                <a:sym typeface="Courier New"/>
              </a:rPr>
              <a:t># ---- Stage 2: discriminative LRs, early stopping ----</a:t>
            </a:r>
            <a:endParaRPr b="0" i="0" sz="900" u="none" cap="none" strike="noStrike">
              <a:solidFill>
                <a:schemeClr val="dk1"/>
              </a:solidFill>
              <a:latin typeface="Calibri"/>
              <a:ea typeface="Calibri"/>
              <a:cs typeface="Calibri"/>
              <a:sym typeface="Calibri"/>
            </a:endParaRPr>
          </a:p>
          <a:p>
            <a:pPr indent="0" lvl="0" marL="0" marR="0" rtl="0" algn="l">
              <a:lnSpc>
                <a:spcPct val="128000"/>
              </a:lnSpc>
              <a:spcBef>
                <a:spcPts val="0"/>
              </a:spcBef>
              <a:spcAft>
                <a:spcPts val="0"/>
              </a:spcAft>
              <a:buClr>
                <a:srgbClr val="DCE6F5"/>
              </a:buClr>
              <a:buSzPts val="900"/>
              <a:buFont typeface="Courier New"/>
              <a:buNone/>
            </a:pPr>
            <a:r>
              <a:rPr b="0" i="0" lang="en-US" sz="900" u="none" cap="none" strike="noStrike">
                <a:solidFill>
                  <a:srgbClr val="DCE6F5"/>
                </a:solidFill>
                <a:latin typeface="Courier New"/>
                <a:ea typeface="Courier New"/>
                <a:cs typeface="Courier New"/>
                <a:sym typeface="Courier New"/>
              </a:rPr>
              <a:t>for p in model.parameters():</a:t>
            </a:r>
            <a:endParaRPr b="0" i="0" sz="900" u="none" cap="none" strike="noStrike">
              <a:solidFill>
                <a:schemeClr val="dk1"/>
              </a:solidFill>
              <a:latin typeface="Calibri"/>
              <a:ea typeface="Calibri"/>
              <a:cs typeface="Calibri"/>
              <a:sym typeface="Calibri"/>
            </a:endParaRPr>
          </a:p>
          <a:p>
            <a:pPr indent="0" lvl="0" marL="0" marR="0" rtl="0" algn="l">
              <a:lnSpc>
                <a:spcPct val="128000"/>
              </a:lnSpc>
              <a:spcBef>
                <a:spcPts val="0"/>
              </a:spcBef>
              <a:spcAft>
                <a:spcPts val="0"/>
              </a:spcAft>
              <a:buClr>
                <a:srgbClr val="DCE6F5"/>
              </a:buClr>
              <a:buSzPts val="900"/>
              <a:buFont typeface="Courier New"/>
              <a:buNone/>
            </a:pPr>
            <a:r>
              <a:rPr b="0" i="0" lang="en-US" sz="900" u="none" cap="none" strike="noStrike">
                <a:solidFill>
                  <a:srgbClr val="DCE6F5"/>
                </a:solidFill>
                <a:latin typeface="Courier New"/>
                <a:ea typeface="Courier New"/>
                <a:cs typeface="Courier New"/>
                <a:sym typeface="Courier New"/>
              </a:rPr>
              <a:t>    p.requires_grad = True</a:t>
            </a:r>
            <a:endParaRPr b="0" i="0" sz="900" u="none" cap="none" strike="noStrike">
              <a:solidFill>
                <a:schemeClr val="dk1"/>
              </a:solidFill>
              <a:latin typeface="Calibri"/>
              <a:ea typeface="Calibri"/>
              <a:cs typeface="Calibri"/>
              <a:sym typeface="Calibri"/>
            </a:endParaRPr>
          </a:p>
          <a:p>
            <a:pPr indent="0" lvl="0" marL="0" marR="0" rtl="0" algn="l">
              <a:lnSpc>
                <a:spcPct val="128000"/>
              </a:lnSpc>
              <a:spcBef>
                <a:spcPts val="0"/>
              </a:spcBef>
              <a:spcAft>
                <a:spcPts val="0"/>
              </a:spcAft>
              <a:buClr>
                <a:srgbClr val="DCE6F5"/>
              </a:buClr>
              <a:buSzPts val="900"/>
              <a:buFont typeface="Courier New"/>
              <a:buNone/>
            </a:pPr>
            <a:r>
              <a:rPr b="0" i="0" lang="en-US" sz="900" u="none" cap="none" strike="noStrike">
                <a:solidFill>
                  <a:srgbClr val="DCE6F5"/>
                </a:solidFill>
                <a:latin typeface="Courier New"/>
                <a:ea typeface="Courier New"/>
                <a:cs typeface="Courier New"/>
                <a:sym typeface="Courier New"/>
              </a:rPr>
              <a:t>opt = torch.optim.AdamW(param_groups(model, 5e-5, 1e-3))</a:t>
            </a:r>
            <a:endParaRPr b="0" i="0" sz="900" u="none" cap="none" strike="noStrike">
              <a:solidFill>
                <a:schemeClr val="dk1"/>
              </a:solidFill>
              <a:latin typeface="Calibri"/>
              <a:ea typeface="Calibri"/>
              <a:cs typeface="Calibri"/>
              <a:sym typeface="Calibri"/>
            </a:endParaRPr>
          </a:p>
          <a:p>
            <a:pPr indent="0" lvl="0" marL="0" marR="0" rtl="0" algn="l">
              <a:lnSpc>
                <a:spcPct val="128000"/>
              </a:lnSpc>
              <a:spcBef>
                <a:spcPts val="0"/>
              </a:spcBef>
              <a:spcAft>
                <a:spcPts val="0"/>
              </a:spcAft>
              <a:buClr>
                <a:srgbClr val="DCE6F5"/>
              </a:buClr>
              <a:buSzPts val="900"/>
              <a:buFont typeface="Courier New"/>
              <a:buNone/>
            </a:pPr>
            <a:r>
              <a:rPr b="0" i="0" lang="en-US" sz="900" u="none" cap="none" strike="noStrike">
                <a:solidFill>
                  <a:srgbClr val="DCE6F5"/>
                </a:solidFill>
                <a:latin typeface="Courier New"/>
                <a:ea typeface="Courier New"/>
                <a:cs typeface="Courier New"/>
                <a:sym typeface="Courier New"/>
              </a:rPr>
              <a:t>best_f1, patience = 0.0, 0</a:t>
            </a:r>
            <a:endParaRPr b="0" i="0" sz="900" u="none" cap="none" strike="noStrike">
              <a:solidFill>
                <a:schemeClr val="dk1"/>
              </a:solidFill>
              <a:latin typeface="Calibri"/>
              <a:ea typeface="Calibri"/>
              <a:cs typeface="Calibri"/>
              <a:sym typeface="Calibri"/>
            </a:endParaRPr>
          </a:p>
          <a:p>
            <a:pPr indent="0" lvl="0" marL="0" marR="0" rtl="0" algn="l">
              <a:lnSpc>
                <a:spcPct val="128000"/>
              </a:lnSpc>
              <a:spcBef>
                <a:spcPts val="0"/>
              </a:spcBef>
              <a:spcAft>
                <a:spcPts val="0"/>
              </a:spcAft>
              <a:buClr>
                <a:srgbClr val="DCE6F5"/>
              </a:buClr>
              <a:buSzPts val="900"/>
              <a:buFont typeface="Courier New"/>
              <a:buNone/>
            </a:pPr>
            <a:r>
              <a:rPr b="0" i="0" lang="en-US" sz="900" u="none" cap="none" strike="noStrike">
                <a:solidFill>
                  <a:srgbClr val="DCE6F5"/>
                </a:solidFill>
                <a:latin typeface="Courier New"/>
                <a:ea typeface="Courier New"/>
                <a:cs typeface="Courier New"/>
                <a:sym typeface="Courier New"/>
              </a:rPr>
              <a:t>for epoch in range(10):</a:t>
            </a:r>
            <a:endParaRPr b="0" i="0" sz="900" u="none" cap="none" strike="noStrike">
              <a:solidFill>
                <a:schemeClr val="dk1"/>
              </a:solidFill>
              <a:latin typeface="Calibri"/>
              <a:ea typeface="Calibri"/>
              <a:cs typeface="Calibri"/>
              <a:sym typeface="Calibri"/>
            </a:endParaRPr>
          </a:p>
          <a:p>
            <a:pPr indent="0" lvl="0" marL="0" marR="0" rtl="0" algn="l">
              <a:lnSpc>
                <a:spcPct val="128000"/>
              </a:lnSpc>
              <a:spcBef>
                <a:spcPts val="0"/>
              </a:spcBef>
              <a:spcAft>
                <a:spcPts val="0"/>
              </a:spcAft>
              <a:buClr>
                <a:srgbClr val="DCE6F5"/>
              </a:buClr>
              <a:buSzPts val="900"/>
              <a:buFont typeface="Courier New"/>
              <a:buNone/>
            </a:pPr>
            <a:r>
              <a:rPr b="0" i="0" lang="en-US" sz="900" u="none" cap="none" strike="noStrike">
                <a:solidFill>
                  <a:srgbClr val="DCE6F5"/>
                </a:solidFill>
                <a:latin typeface="Courier New"/>
                <a:ea typeface="Courier New"/>
                <a:cs typeface="Courier New"/>
                <a:sym typeface="Courier New"/>
              </a:rPr>
              <a:t>    train_epoch(model, train_dl, opt, scaler, device, weights)</a:t>
            </a:r>
            <a:endParaRPr b="0" i="0" sz="900" u="none" cap="none" strike="noStrike">
              <a:solidFill>
                <a:schemeClr val="dk1"/>
              </a:solidFill>
              <a:latin typeface="Calibri"/>
              <a:ea typeface="Calibri"/>
              <a:cs typeface="Calibri"/>
              <a:sym typeface="Calibri"/>
            </a:endParaRPr>
          </a:p>
          <a:p>
            <a:pPr indent="0" lvl="0" marL="0" marR="0" rtl="0" algn="l">
              <a:lnSpc>
                <a:spcPct val="128000"/>
              </a:lnSpc>
              <a:spcBef>
                <a:spcPts val="0"/>
              </a:spcBef>
              <a:spcAft>
                <a:spcPts val="0"/>
              </a:spcAft>
              <a:buClr>
                <a:srgbClr val="DCE6F5"/>
              </a:buClr>
              <a:buSzPts val="900"/>
              <a:buFont typeface="Courier New"/>
              <a:buNone/>
            </a:pPr>
            <a:r>
              <a:rPr b="0" i="0" lang="en-US" sz="900" u="none" cap="none" strike="noStrike">
                <a:solidFill>
                  <a:srgbClr val="DCE6F5"/>
                </a:solidFill>
                <a:latin typeface="Courier New"/>
                <a:ea typeface="Courier New"/>
                <a:cs typeface="Courier New"/>
                <a:sym typeface="Courier New"/>
              </a:rPr>
              <a:t>    m = evaluate(model, val_dl, device)  # model.eval() inside</a:t>
            </a:r>
            <a:endParaRPr b="0" i="0" sz="900" u="none" cap="none" strike="noStrike">
              <a:solidFill>
                <a:schemeClr val="dk1"/>
              </a:solidFill>
              <a:latin typeface="Calibri"/>
              <a:ea typeface="Calibri"/>
              <a:cs typeface="Calibri"/>
              <a:sym typeface="Calibri"/>
            </a:endParaRPr>
          </a:p>
          <a:p>
            <a:pPr indent="0" lvl="0" marL="0" marR="0" rtl="0" algn="l">
              <a:lnSpc>
                <a:spcPct val="128000"/>
              </a:lnSpc>
              <a:spcBef>
                <a:spcPts val="0"/>
              </a:spcBef>
              <a:spcAft>
                <a:spcPts val="0"/>
              </a:spcAft>
              <a:buClr>
                <a:srgbClr val="DCE6F5"/>
              </a:buClr>
              <a:buSzPts val="900"/>
              <a:buFont typeface="Courier New"/>
              <a:buNone/>
            </a:pPr>
            <a:r>
              <a:rPr b="0" i="0" lang="en-US" sz="900" u="none" cap="none" strike="noStrike">
                <a:solidFill>
                  <a:srgbClr val="DCE6F5"/>
                </a:solidFill>
                <a:latin typeface="Courier New"/>
                <a:ea typeface="Courier New"/>
                <a:cs typeface="Courier New"/>
                <a:sym typeface="Courier New"/>
              </a:rPr>
              <a:t>    if m["macro_f1"] &gt; best_f1:</a:t>
            </a:r>
            <a:endParaRPr b="0" i="0" sz="900" u="none" cap="none" strike="noStrike">
              <a:solidFill>
                <a:schemeClr val="dk1"/>
              </a:solidFill>
              <a:latin typeface="Calibri"/>
              <a:ea typeface="Calibri"/>
              <a:cs typeface="Calibri"/>
              <a:sym typeface="Calibri"/>
            </a:endParaRPr>
          </a:p>
          <a:p>
            <a:pPr indent="0" lvl="0" marL="0" marR="0" rtl="0" algn="l">
              <a:lnSpc>
                <a:spcPct val="128000"/>
              </a:lnSpc>
              <a:spcBef>
                <a:spcPts val="0"/>
              </a:spcBef>
              <a:spcAft>
                <a:spcPts val="0"/>
              </a:spcAft>
              <a:buClr>
                <a:srgbClr val="DCE6F5"/>
              </a:buClr>
              <a:buSzPts val="900"/>
              <a:buFont typeface="Courier New"/>
              <a:buNone/>
            </a:pPr>
            <a:r>
              <a:rPr b="0" i="0" lang="en-US" sz="900" u="none" cap="none" strike="noStrike">
                <a:solidFill>
                  <a:srgbClr val="DCE6F5"/>
                </a:solidFill>
                <a:latin typeface="Courier New"/>
                <a:ea typeface="Courier New"/>
                <a:cs typeface="Courier New"/>
                <a:sym typeface="Courier New"/>
              </a:rPr>
              <a:t>        best_f1, patience = m["macro_f1"], 0</a:t>
            </a:r>
            <a:endParaRPr b="0" i="0" sz="900" u="none" cap="none" strike="noStrike">
              <a:solidFill>
                <a:schemeClr val="dk1"/>
              </a:solidFill>
              <a:latin typeface="Calibri"/>
              <a:ea typeface="Calibri"/>
              <a:cs typeface="Calibri"/>
              <a:sym typeface="Calibri"/>
            </a:endParaRPr>
          </a:p>
          <a:p>
            <a:pPr indent="0" lvl="0" marL="0" marR="0" rtl="0" algn="l">
              <a:lnSpc>
                <a:spcPct val="128000"/>
              </a:lnSpc>
              <a:spcBef>
                <a:spcPts val="0"/>
              </a:spcBef>
              <a:spcAft>
                <a:spcPts val="0"/>
              </a:spcAft>
              <a:buClr>
                <a:srgbClr val="DCE6F5"/>
              </a:buClr>
              <a:buSzPts val="900"/>
              <a:buFont typeface="Courier New"/>
              <a:buNone/>
            </a:pPr>
            <a:r>
              <a:rPr b="0" i="0" lang="en-US" sz="900" u="none" cap="none" strike="noStrike">
                <a:solidFill>
                  <a:srgbClr val="DCE6F5"/>
                </a:solidFill>
                <a:latin typeface="Courier New"/>
                <a:ea typeface="Courier New"/>
                <a:cs typeface="Courier New"/>
                <a:sym typeface="Courier New"/>
              </a:rPr>
              <a:t>        torch.save({"state_dict": model.state_dict(),</a:t>
            </a:r>
            <a:endParaRPr b="0" i="0" sz="900" u="none" cap="none" strike="noStrike">
              <a:solidFill>
                <a:schemeClr val="dk1"/>
              </a:solidFill>
              <a:latin typeface="Calibri"/>
              <a:ea typeface="Calibri"/>
              <a:cs typeface="Calibri"/>
              <a:sym typeface="Calibri"/>
            </a:endParaRPr>
          </a:p>
          <a:p>
            <a:pPr indent="0" lvl="0" marL="0" marR="0" rtl="0" algn="l">
              <a:lnSpc>
                <a:spcPct val="128000"/>
              </a:lnSpc>
              <a:spcBef>
                <a:spcPts val="0"/>
              </a:spcBef>
              <a:spcAft>
                <a:spcPts val="0"/>
              </a:spcAft>
              <a:buClr>
                <a:srgbClr val="DCE6F5"/>
              </a:buClr>
              <a:buSzPts val="900"/>
              <a:buFont typeface="Courier New"/>
              <a:buNone/>
            </a:pPr>
            <a:r>
              <a:rPr b="0" i="0" lang="en-US" sz="900" u="none" cap="none" strike="noStrike">
                <a:solidFill>
                  <a:srgbClr val="DCE6F5"/>
                </a:solidFill>
                <a:latin typeface="Courier New"/>
                <a:ea typeface="Courier New"/>
                <a:cs typeface="Courier New"/>
                <a:sym typeface="Courier New"/>
              </a:rPr>
              <a:t>            "classes": GRADES,  # order travels with weights</a:t>
            </a:r>
            <a:endParaRPr b="0" i="0" sz="900" u="none" cap="none" strike="noStrike">
              <a:solidFill>
                <a:schemeClr val="dk1"/>
              </a:solidFill>
              <a:latin typeface="Calibri"/>
              <a:ea typeface="Calibri"/>
              <a:cs typeface="Calibri"/>
              <a:sym typeface="Calibri"/>
            </a:endParaRPr>
          </a:p>
          <a:p>
            <a:pPr indent="0" lvl="0" marL="0" marR="0" rtl="0" algn="l">
              <a:lnSpc>
                <a:spcPct val="128000"/>
              </a:lnSpc>
              <a:spcBef>
                <a:spcPts val="0"/>
              </a:spcBef>
              <a:spcAft>
                <a:spcPts val="0"/>
              </a:spcAft>
              <a:buClr>
                <a:srgbClr val="DCE6F5"/>
              </a:buClr>
              <a:buSzPts val="900"/>
              <a:buFont typeface="Courier New"/>
              <a:buNone/>
            </a:pPr>
            <a:r>
              <a:rPr b="0" i="0" lang="en-US" sz="900" u="none" cap="none" strike="noStrike">
                <a:solidFill>
                  <a:srgbClr val="DCE6F5"/>
                </a:solidFill>
                <a:latin typeface="Courier New"/>
                <a:ea typeface="Courier New"/>
                <a:cs typeface="Courier New"/>
                <a:sym typeface="Courier New"/>
              </a:rPr>
              <a:t>            "contract": "transforms.py@v1",</a:t>
            </a:r>
            <a:endParaRPr b="0" i="0" sz="900" u="none" cap="none" strike="noStrike">
              <a:solidFill>
                <a:schemeClr val="dk1"/>
              </a:solidFill>
              <a:latin typeface="Calibri"/>
              <a:ea typeface="Calibri"/>
              <a:cs typeface="Calibri"/>
              <a:sym typeface="Calibri"/>
            </a:endParaRPr>
          </a:p>
          <a:p>
            <a:pPr indent="0" lvl="0" marL="0" marR="0" rtl="0" algn="l">
              <a:lnSpc>
                <a:spcPct val="128000"/>
              </a:lnSpc>
              <a:spcBef>
                <a:spcPts val="0"/>
              </a:spcBef>
              <a:spcAft>
                <a:spcPts val="0"/>
              </a:spcAft>
              <a:buClr>
                <a:srgbClr val="DCE6F5"/>
              </a:buClr>
              <a:buSzPts val="900"/>
              <a:buFont typeface="Courier New"/>
              <a:buNone/>
            </a:pPr>
            <a:r>
              <a:rPr b="0" i="0" lang="en-US" sz="900" u="none" cap="none" strike="noStrike">
                <a:solidFill>
                  <a:srgbClr val="DCE6F5"/>
                </a:solidFill>
                <a:latin typeface="Courier New"/>
                <a:ea typeface="Courier New"/>
                <a:cs typeface="Courier New"/>
                <a:sym typeface="Courier New"/>
              </a:rPr>
              <a:t>            "val_metrics": m}, "runs/grade_resnet50/best.pt")</a:t>
            </a:r>
            <a:endParaRPr b="0" i="0" sz="900" u="none" cap="none" strike="noStrike">
              <a:solidFill>
                <a:schemeClr val="dk1"/>
              </a:solidFill>
              <a:latin typeface="Calibri"/>
              <a:ea typeface="Calibri"/>
              <a:cs typeface="Calibri"/>
              <a:sym typeface="Calibri"/>
            </a:endParaRPr>
          </a:p>
          <a:p>
            <a:pPr indent="0" lvl="0" marL="0" marR="0" rtl="0" algn="l">
              <a:lnSpc>
                <a:spcPct val="128000"/>
              </a:lnSpc>
              <a:spcBef>
                <a:spcPts val="0"/>
              </a:spcBef>
              <a:spcAft>
                <a:spcPts val="0"/>
              </a:spcAft>
              <a:buClr>
                <a:srgbClr val="DCE6F5"/>
              </a:buClr>
              <a:buSzPts val="900"/>
              <a:buFont typeface="Courier New"/>
              <a:buNone/>
            </a:pPr>
            <a:r>
              <a:rPr b="0" i="0" lang="en-US" sz="900" u="none" cap="none" strike="noStrike">
                <a:solidFill>
                  <a:srgbClr val="DCE6F5"/>
                </a:solidFill>
                <a:latin typeface="Courier New"/>
                <a:ea typeface="Courier New"/>
                <a:cs typeface="Courier New"/>
                <a:sym typeface="Courier New"/>
              </a:rPr>
              <a:t>    elif (patience := patience + 1) &gt;= 3:</a:t>
            </a:r>
            <a:endParaRPr b="0" i="0" sz="900" u="none" cap="none" strike="noStrike">
              <a:solidFill>
                <a:schemeClr val="dk1"/>
              </a:solidFill>
              <a:latin typeface="Calibri"/>
              <a:ea typeface="Calibri"/>
              <a:cs typeface="Calibri"/>
              <a:sym typeface="Calibri"/>
            </a:endParaRPr>
          </a:p>
          <a:p>
            <a:pPr indent="0" lvl="0" marL="0" marR="0" rtl="0" algn="l">
              <a:lnSpc>
                <a:spcPct val="128000"/>
              </a:lnSpc>
              <a:spcBef>
                <a:spcPts val="0"/>
              </a:spcBef>
              <a:spcAft>
                <a:spcPts val="0"/>
              </a:spcAft>
              <a:buClr>
                <a:srgbClr val="DCE6F5"/>
              </a:buClr>
              <a:buSzPts val="900"/>
              <a:buFont typeface="Courier New"/>
              <a:buNone/>
            </a:pPr>
            <a:r>
              <a:rPr b="0" i="0" lang="en-US" sz="900" u="none" cap="none" strike="noStrike">
                <a:solidFill>
                  <a:srgbClr val="DCE6F5"/>
                </a:solidFill>
                <a:latin typeface="Courier New"/>
                <a:ea typeface="Courier New"/>
                <a:cs typeface="Courier New"/>
                <a:sym typeface="Courier New"/>
              </a:rPr>
              <a:t>        break</a:t>
            </a:r>
            <a:endParaRPr b="0" i="0" sz="900" u="none" cap="none" strike="noStrike">
              <a:solidFill>
                <a:schemeClr val="dk1"/>
              </a:solidFill>
              <a:latin typeface="Calibri"/>
              <a:ea typeface="Calibri"/>
              <a:cs typeface="Calibri"/>
              <a:sym typeface="Calibri"/>
            </a:endParaRPr>
          </a:p>
        </p:txBody>
      </p:sp>
      <p:sp>
        <p:nvSpPr>
          <p:cNvPr id="1193" name="Google Shape;1193;p41"/>
          <p:cNvSpPr/>
          <p:nvPr/>
        </p:nvSpPr>
        <p:spPr>
          <a:xfrm>
            <a:off x="7973568" y="1389888"/>
            <a:ext cx="3712464" cy="1463040"/>
          </a:xfrm>
          <a:prstGeom prst="roundRect">
            <a:avLst>
              <a:gd fmla="val 4375" name="adj"/>
            </a:avLst>
          </a:prstGeom>
          <a:solidFill>
            <a:srgbClr val="F2F6F9"/>
          </a:solidFill>
          <a:ln cap="flat" cmpd="sng" w="12700">
            <a:solidFill>
              <a:srgbClr val="D9E2E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4" name="Google Shape;1194;p41"/>
          <p:cNvSpPr/>
          <p:nvPr/>
        </p:nvSpPr>
        <p:spPr>
          <a:xfrm>
            <a:off x="8101584" y="1508760"/>
            <a:ext cx="237744" cy="237744"/>
          </a:xfrm>
          <a:prstGeom prst="ellipse">
            <a:avLst/>
          </a:prstGeom>
          <a:solidFill>
            <a:srgbClr val="00A79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5" name="Google Shape;1195;p41"/>
          <p:cNvSpPr/>
          <p:nvPr/>
        </p:nvSpPr>
        <p:spPr>
          <a:xfrm>
            <a:off x="8101584" y="1508760"/>
            <a:ext cx="237744" cy="23774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000"/>
              <a:buFont typeface="Calibri"/>
              <a:buNone/>
            </a:pPr>
            <a:r>
              <a:rPr b="1" i="0" lang="en-US" sz="1000" u="none" cap="none" strike="noStrike">
                <a:solidFill>
                  <a:srgbClr val="FFFFFF"/>
                </a:solidFill>
                <a:latin typeface="Calibri"/>
                <a:ea typeface="Calibri"/>
                <a:cs typeface="Calibri"/>
                <a:sym typeface="Calibri"/>
              </a:rPr>
              <a:t>1</a:t>
            </a:r>
            <a:endParaRPr b="0" i="0" sz="1000" u="none" cap="none" strike="noStrike">
              <a:solidFill>
                <a:schemeClr val="dk1"/>
              </a:solidFill>
              <a:latin typeface="Calibri"/>
              <a:ea typeface="Calibri"/>
              <a:cs typeface="Calibri"/>
              <a:sym typeface="Calibri"/>
            </a:endParaRPr>
          </a:p>
        </p:txBody>
      </p:sp>
      <p:sp>
        <p:nvSpPr>
          <p:cNvPr id="1196" name="Google Shape;1196;p41"/>
          <p:cNvSpPr/>
          <p:nvPr/>
        </p:nvSpPr>
        <p:spPr>
          <a:xfrm>
            <a:off x="8430768" y="1444752"/>
            <a:ext cx="3145536"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D2A5C"/>
              </a:buClr>
              <a:buSzPts val="1150"/>
              <a:buFont typeface="Calibri"/>
              <a:buNone/>
            </a:pPr>
            <a:r>
              <a:rPr b="1" i="0" lang="en-US" sz="1150" u="none" cap="none" strike="noStrike">
                <a:solidFill>
                  <a:srgbClr val="1D2A5C"/>
                </a:solidFill>
                <a:latin typeface="Calibri"/>
                <a:ea typeface="Calibri"/>
                <a:cs typeface="Calibri"/>
                <a:sym typeface="Calibri"/>
              </a:rPr>
              <a:t>Seeds + AMP by default</a:t>
            </a:r>
            <a:endParaRPr b="0" i="0" sz="1150" u="none" cap="none" strike="noStrike">
              <a:solidFill>
                <a:schemeClr val="dk1"/>
              </a:solidFill>
              <a:latin typeface="Calibri"/>
              <a:ea typeface="Calibri"/>
              <a:cs typeface="Calibri"/>
              <a:sym typeface="Calibri"/>
            </a:endParaRPr>
          </a:p>
        </p:txBody>
      </p:sp>
      <p:sp>
        <p:nvSpPr>
          <p:cNvPr id="1197" name="Google Shape;1197;p41"/>
          <p:cNvSpPr/>
          <p:nvPr/>
        </p:nvSpPr>
        <p:spPr>
          <a:xfrm>
            <a:off x="8430768" y="1719072"/>
            <a:ext cx="3145536" cy="1060704"/>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5F6B7A"/>
              </a:buClr>
              <a:buSzPts val="1000"/>
              <a:buFont typeface="Calibri"/>
              <a:buNone/>
            </a:pPr>
            <a:r>
              <a:rPr b="0" i="0" lang="en-US" sz="1000" u="none" cap="none" strike="noStrike">
                <a:solidFill>
                  <a:srgbClr val="5F6B7A"/>
                </a:solidFill>
                <a:latin typeface="Calibri"/>
                <a:ea typeface="Calibri"/>
                <a:cs typeface="Calibri"/>
                <a:sym typeface="Calibri"/>
              </a:rPr>
              <a:t>manual_seed logged; train_epoch runs autocast + GradScaler - ~1.7x faster, half memory.</a:t>
            </a:r>
            <a:endParaRPr b="0" i="0" sz="1000" u="none" cap="none" strike="noStrike">
              <a:solidFill>
                <a:schemeClr val="dk1"/>
              </a:solidFill>
              <a:latin typeface="Calibri"/>
              <a:ea typeface="Calibri"/>
              <a:cs typeface="Calibri"/>
              <a:sym typeface="Calibri"/>
            </a:endParaRPr>
          </a:p>
        </p:txBody>
      </p:sp>
      <p:sp>
        <p:nvSpPr>
          <p:cNvPr id="1198" name="Google Shape;1198;p41"/>
          <p:cNvSpPr/>
          <p:nvPr/>
        </p:nvSpPr>
        <p:spPr>
          <a:xfrm>
            <a:off x="7973568" y="3054096"/>
            <a:ext cx="3712464" cy="1463040"/>
          </a:xfrm>
          <a:prstGeom prst="roundRect">
            <a:avLst>
              <a:gd fmla="val 4375" name="adj"/>
            </a:avLst>
          </a:prstGeom>
          <a:solidFill>
            <a:srgbClr val="F2F6F9"/>
          </a:solidFill>
          <a:ln cap="flat" cmpd="sng" w="12700">
            <a:solidFill>
              <a:srgbClr val="D9E2E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9" name="Google Shape;1199;p41"/>
          <p:cNvSpPr/>
          <p:nvPr/>
        </p:nvSpPr>
        <p:spPr>
          <a:xfrm>
            <a:off x="8101584" y="3172968"/>
            <a:ext cx="237744" cy="237744"/>
          </a:xfrm>
          <a:prstGeom prst="ellipse">
            <a:avLst/>
          </a:prstGeom>
          <a:solidFill>
            <a:srgbClr val="29ABE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0" name="Google Shape;1200;p41"/>
          <p:cNvSpPr/>
          <p:nvPr/>
        </p:nvSpPr>
        <p:spPr>
          <a:xfrm>
            <a:off x="8101584" y="3172968"/>
            <a:ext cx="237744" cy="23774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000"/>
              <a:buFont typeface="Calibri"/>
              <a:buNone/>
            </a:pPr>
            <a:r>
              <a:rPr b="1" i="0" lang="en-US" sz="1000" u="none" cap="none" strike="noStrike">
                <a:solidFill>
                  <a:srgbClr val="FFFFFF"/>
                </a:solidFill>
                <a:latin typeface="Calibri"/>
                <a:ea typeface="Calibri"/>
                <a:cs typeface="Calibri"/>
                <a:sym typeface="Calibri"/>
              </a:rPr>
              <a:t>2</a:t>
            </a:r>
            <a:endParaRPr b="0" i="0" sz="1000" u="none" cap="none" strike="noStrike">
              <a:solidFill>
                <a:schemeClr val="dk1"/>
              </a:solidFill>
              <a:latin typeface="Calibri"/>
              <a:ea typeface="Calibri"/>
              <a:cs typeface="Calibri"/>
              <a:sym typeface="Calibri"/>
            </a:endParaRPr>
          </a:p>
        </p:txBody>
      </p:sp>
      <p:sp>
        <p:nvSpPr>
          <p:cNvPr id="1201" name="Google Shape;1201;p41"/>
          <p:cNvSpPr/>
          <p:nvPr/>
        </p:nvSpPr>
        <p:spPr>
          <a:xfrm>
            <a:off x="8430768" y="3108960"/>
            <a:ext cx="3145536"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D2A5C"/>
              </a:buClr>
              <a:buSzPts val="1150"/>
              <a:buFont typeface="Calibri"/>
              <a:buNone/>
            </a:pPr>
            <a:r>
              <a:rPr b="1" i="0" lang="en-US" sz="1150" u="none" cap="none" strike="noStrike">
                <a:solidFill>
                  <a:srgbClr val="1D2A5C"/>
                </a:solidFill>
                <a:latin typeface="Calibri"/>
                <a:ea typeface="Calibri"/>
                <a:cs typeface="Calibri"/>
                <a:sym typeface="Calibri"/>
              </a:rPr>
              <a:t>Stop on macro-F1, not loss</a:t>
            </a:r>
            <a:endParaRPr b="0" i="0" sz="1150" u="none" cap="none" strike="noStrike">
              <a:solidFill>
                <a:schemeClr val="dk1"/>
              </a:solidFill>
              <a:latin typeface="Calibri"/>
              <a:ea typeface="Calibri"/>
              <a:cs typeface="Calibri"/>
              <a:sym typeface="Calibri"/>
            </a:endParaRPr>
          </a:p>
        </p:txBody>
      </p:sp>
      <p:sp>
        <p:nvSpPr>
          <p:cNvPr id="1202" name="Google Shape;1202;p41"/>
          <p:cNvSpPr/>
          <p:nvPr/>
        </p:nvSpPr>
        <p:spPr>
          <a:xfrm>
            <a:off x="8430768" y="3383280"/>
            <a:ext cx="3145536" cy="1060704"/>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5F6B7A"/>
              </a:buClr>
              <a:buSzPts val="1000"/>
              <a:buFont typeface="Calibri"/>
              <a:buNone/>
            </a:pPr>
            <a:r>
              <a:rPr b="0" i="0" lang="en-US" sz="1000" u="none" cap="none" strike="noStrike">
                <a:solidFill>
                  <a:srgbClr val="5F6B7A"/>
                </a:solidFill>
                <a:latin typeface="Calibri"/>
                <a:ea typeface="Calibri"/>
                <a:cs typeface="Calibri"/>
                <a:sym typeface="Calibri"/>
              </a:rPr>
              <a:t>94%-majority imbalance; patience 3 keeps the best checkpoint by the honest metric.</a:t>
            </a:r>
            <a:endParaRPr b="0" i="0" sz="1000" u="none" cap="none" strike="noStrike">
              <a:solidFill>
                <a:schemeClr val="dk1"/>
              </a:solidFill>
              <a:latin typeface="Calibri"/>
              <a:ea typeface="Calibri"/>
              <a:cs typeface="Calibri"/>
              <a:sym typeface="Calibri"/>
            </a:endParaRPr>
          </a:p>
        </p:txBody>
      </p:sp>
      <p:sp>
        <p:nvSpPr>
          <p:cNvPr id="1203" name="Google Shape;1203;p41"/>
          <p:cNvSpPr/>
          <p:nvPr/>
        </p:nvSpPr>
        <p:spPr>
          <a:xfrm>
            <a:off x="7973568" y="4718304"/>
            <a:ext cx="3712464" cy="1463040"/>
          </a:xfrm>
          <a:prstGeom prst="roundRect">
            <a:avLst>
              <a:gd fmla="val 4375" name="adj"/>
            </a:avLst>
          </a:prstGeom>
          <a:solidFill>
            <a:srgbClr val="F2F6F9"/>
          </a:solidFill>
          <a:ln cap="flat" cmpd="sng" w="12700">
            <a:solidFill>
              <a:srgbClr val="D9E2E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4" name="Google Shape;1204;p41"/>
          <p:cNvSpPr/>
          <p:nvPr/>
        </p:nvSpPr>
        <p:spPr>
          <a:xfrm>
            <a:off x="8101584" y="4837176"/>
            <a:ext cx="237744" cy="237744"/>
          </a:xfrm>
          <a:prstGeom prst="ellipse">
            <a:avLst/>
          </a:prstGeom>
          <a:solidFill>
            <a:srgbClr val="F5822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5" name="Google Shape;1205;p41"/>
          <p:cNvSpPr/>
          <p:nvPr/>
        </p:nvSpPr>
        <p:spPr>
          <a:xfrm>
            <a:off x="8101584" y="4837176"/>
            <a:ext cx="237744" cy="23774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000"/>
              <a:buFont typeface="Calibri"/>
              <a:buNone/>
            </a:pPr>
            <a:r>
              <a:rPr b="1" i="0" lang="en-US" sz="1000" u="none" cap="none" strike="noStrike">
                <a:solidFill>
                  <a:srgbClr val="FFFFFF"/>
                </a:solidFill>
                <a:latin typeface="Calibri"/>
                <a:ea typeface="Calibri"/>
                <a:cs typeface="Calibri"/>
                <a:sym typeface="Calibri"/>
              </a:rPr>
              <a:t>3</a:t>
            </a:r>
            <a:endParaRPr b="0" i="0" sz="1000" u="none" cap="none" strike="noStrike">
              <a:solidFill>
                <a:schemeClr val="dk1"/>
              </a:solidFill>
              <a:latin typeface="Calibri"/>
              <a:ea typeface="Calibri"/>
              <a:cs typeface="Calibri"/>
              <a:sym typeface="Calibri"/>
            </a:endParaRPr>
          </a:p>
        </p:txBody>
      </p:sp>
      <p:sp>
        <p:nvSpPr>
          <p:cNvPr id="1206" name="Google Shape;1206;p41"/>
          <p:cNvSpPr/>
          <p:nvPr/>
        </p:nvSpPr>
        <p:spPr>
          <a:xfrm>
            <a:off x="8430768" y="4773168"/>
            <a:ext cx="3145536"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D2A5C"/>
              </a:buClr>
              <a:buSzPts val="1150"/>
              <a:buFont typeface="Calibri"/>
              <a:buNone/>
            </a:pPr>
            <a:r>
              <a:rPr b="1" i="0" lang="en-US" sz="1150" u="none" cap="none" strike="noStrike">
                <a:solidFill>
                  <a:srgbClr val="1D2A5C"/>
                </a:solidFill>
                <a:latin typeface="Calibri"/>
                <a:ea typeface="Calibri"/>
                <a:cs typeface="Calibri"/>
                <a:sym typeface="Calibri"/>
              </a:rPr>
              <a:t>The servable checkpoint</a:t>
            </a:r>
            <a:endParaRPr b="0" i="0" sz="1150" u="none" cap="none" strike="noStrike">
              <a:solidFill>
                <a:schemeClr val="dk1"/>
              </a:solidFill>
              <a:latin typeface="Calibri"/>
              <a:ea typeface="Calibri"/>
              <a:cs typeface="Calibri"/>
              <a:sym typeface="Calibri"/>
            </a:endParaRPr>
          </a:p>
        </p:txBody>
      </p:sp>
      <p:sp>
        <p:nvSpPr>
          <p:cNvPr id="1207" name="Google Shape;1207;p41"/>
          <p:cNvSpPr/>
          <p:nvPr/>
        </p:nvSpPr>
        <p:spPr>
          <a:xfrm>
            <a:off x="8430768" y="5047488"/>
            <a:ext cx="3145536" cy="1060704"/>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5F6B7A"/>
              </a:buClr>
              <a:buSzPts val="1000"/>
              <a:buFont typeface="Calibri"/>
              <a:buNone/>
            </a:pPr>
            <a:r>
              <a:rPr b="0" i="0" lang="en-US" sz="1000" u="none" cap="none" strike="noStrike">
                <a:solidFill>
                  <a:srgbClr val="5F6B7A"/>
                </a:solidFill>
                <a:latin typeface="Calibri"/>
                <a:ea typeface="Calibri"/>
                <a:cs typeface="Calibri"/>
                <a:sym typeface="Calibri"/>
              </a:rPr>
              <a:t>Class order and preprocessing-contract reference travel inside best.pt with the metrics.</a:t>
            </a:r>
            <a:endParaRPr b="0" i="0" sz="1000" u="none" cap="none" strike="noStrike">
              <a:solidFill>
                <a:schemeClr val="dk1"/>
              </a:solidFill>
              <a:latin typeface="Calibri"/>
              <a:ea typeface="Calibri"/>
              <a:cs typeface="Calibri"/>
              <a:sym typeface="Calibri"/>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212" name="Shape 1212"/>
        <p:cNvGrpSpPr/>
        <p:nvPr/>
      </p:nvGrpSpPr>
      <p:grpSpPr>
        <a:xfrm>
          <a:off x="0" y="0"/>
          <a:ext cx="0" cy="0"/>
          <a:chOff x="0" y="0"/>
          <a:chExt cx="0" cy="0"/>
        </a:xfrm>
      </p:grpSpPr>
      <p:sp>
        <p:nvSpPr>
          <p:cNvPr id="1213" name="Google Shape;1213;p42"/>
          <p:cNvSpPr/>
          <p:nvPr/>
        </p:nvSpPr>
        <p:spPr>
          <a:xfrm>
            <a:off x="502920" y="274320"/>
            <a:ext cx="9646920" cy="56692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D2A5C"/>
              </a:buClr>
              <a:buSzPts val="2700"/>
              <a:buFont typeface="Calibri"/>
              <a:buNone/>
            </a:pPr>
            <a:r>
              <a:rPr b="1" i="0" lang="en-US" sz="2700" u="none" cap="none" strike="noStrike">
                <a:solidFill>
                  <a:srgbClr val="1D2A5C"/>
                </a:solidFill>
                <a:latin typeface="Calibri"/>
                <a:ea typeface="Calibri"/>
                <a:cs typeface="Calibri"/>
                <a:sym typeface="Calibri"/>
              </a:rPr>
              <a:t>Lab 2 - fine-tune &amp; harden the grade classifier</a:t>
            </a:r>
            <a:endParaRPr b="0" i="0" sz="2700" u="none" cap="none" strike="noStrike">
              <a:solidFill>
                <a:schemeClr val="dk1"/>
              </a:solidFill>
              <a:latin typeface="Calibri"/>
              <a:ea typeface="Calibri"/>
              <a:cs typeface="Calibri"/>
              <a:sym typeface="Calibri"/>
            </a:endParaRPr>
          </a:p>
        </p:txBody>
      </p:sp>
      <p:sp>
        <p:nvSpPr>
          <p:cNvPr id="1214" name="Google Shape;1214;p42"/>
          <p:cNvSpPr/>
          <p:nvPr/>
        </p:nvSpPr>
        <p:spPr>
          <a:xfrm>
            <a:off x="502920" y="859536"/>
            <a:ext cx="9646920" cy="31089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F6B7A"/>
              </a:buClr>
              <a:buSzPts val="1250"/>
              <a:buFont typeface="Arial"/>
              <a:buNone/>
            </a:pPr>
            <a:r>
              <a:rPr b="0" i="0" lang="en-US" sz="1250" u="none" cap="none" strike="noStrike">
                <a:solidFill>
                  <a:srgbClr val="5F6B7A"/>
                </a:solidFill>
                <a:latin typeface="Arial"/>
                <a:ea typeface="Arial"/>
                <a:cs typeface="Arial"/>
                <a:sym typeface="Arial"/>
              </a:rPr>
              <a:t>المختبر الثاني: الضبط الدقيق</a:t>
            </a:r>
            <a:endParaRPr b="0" i="0" sz="1250" u="none" cap="none" strike="noStrike">
              <a:solidFill>
                <a:schemeClr val="dk1"/>
              </a:solidFill>
              <a:latin typeface="Calibri"/>
              <a:ea typeface="Calibri"/>
              <a:cs typeface="Calibri"/>
              <a:sym typeface="Calibri"/>
            </a:endParaRPr>
          </a:p>
        </p:txBody>
      </p:sp>
      <p:pic>
        <p:nvPicPr>
          <p:cNvPr descr="/sessions/blissful-determined-ritchie/build/assets/sdaia_logo.png" id="1215" name="Google Shape;1215;p42"/>
          <p:cNvPicPr preferRelativeResize="0"/>
          <p:nvPr/>
        </p:nvPicPr>
        <p:blipFill rotWithShape="1">
          <a:blip r:embed="rId3">
            <a:alphaModFix/>
          </a:blip>
          <a:srcRect b="0" l="0" r="0" t="0"/>
          <a:stretch/>
        </p:blipFill>
        <p:spPr>
          <a:xfrm>
            <a:off x="10625328" y="310896"/>
            <a:ext cx="1078992" cy="264111"/>
          </a:xfrm>
          <a:prstGeom prst="rect">
            <a:avLst/>
          </a:prstGeom>
          <a:noFill/>
          <a:ln>
            <a:noFill/>
          </a:ln>
        </p:spPr>
      </p:pic>
      <p:sp>
        <p:nvSpPr>
          <p:cNvPr id="1216" name="Google Shape;1216;p42"/>
          <p:cNvSpPr/>
          <p:nvPr/>
        </p:nvSpPr>
        <p:spPr>
          <a:xfrm>
            <a:off x="502920" y="6528816"/>
            <a:ext cx="8686800"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A79D"/>
              </a:buClr>
              <a:buSzPts val="800"/>
              <a:buFont typeface="Calibri"/>
              <a:buNone/>
            </a:pPr>
            <a:r>
              <a:rPr b="1" i="0" lang="en-US" sz="800" u="none" cap="none" strike="noStrike">
                <a:solidFill>
                  <a:srgbClr val="00A79D"/>
                </a:solidFill>
                <a:latin typeface="Calibri"/>
                <a:ea typeface="Calibri"/>
                <a:cs typeface="Calibri"/>
                <a:sym typeface="Calibri"/>
              </a:rPr>
              <a:t>MODULE 2 · LAB   </a:t>
            </a:r>
            <a:r>
              <a:rPr b="0" i="0" lang="en-US" sz="800" u="none" cap="none" strike="noStrike">
                <a:solidFill>
                  <a:srgbClr val="8A96A6"/>
                </a:solidFill>
                <a:latin typeface="Calibri"/>
                <a:ea typeface="Calibri"/>
                <a:cs typeface="Calibri"/>
                <a:sym typeface="Calibri"/>
              </a:rPr>
              <a:t>SDA-AIE-212 · Computer Vision Systems Development</a:t>
            </a:r>
            <a:endParaRPr b="0" i="0" sz="800" u="none" cap="none" strike="noStrike">
              <a:solidFill>
                <a:schemeClr val="dk1"/>
              </a:solidFill>
              <a:latin typeface="Calibri"/>
              <a:ea typeface="Calibri"/>
              <a:cs typeface="Calibri"/>
              <a:sym typeface="Calibri"/>
            </a:endParaRPr>
          </a:p>
        </p:txBody>
      </p:sp>
      <p:sp>
        <p:nvSpPr>
          <p:cNvPr id="1217" name="Google Shape;1217;p42"/>
          <p:cNvSpPr/>
          <p:nvPr/>
        </p:nvSpPr>
        <p:spPr>
          <a:xfrm>
            <a:off x="11292840" y="6528816"/>
            <a:ext cx="411480" cy="219456"/>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8A96A6"/>
              </a:buClr>
              <a:buSzPts val="900"/>
              <a:buFont typeface="Calibri"/>
              <a:buNone/>
            </a:pPr>
            <a:r>
              <a:rPr b="0" i="0" lang="en-US" sz="900" u="none" cap="none" strike="noStrike">
                <a:solidFill>
                  <a:srgbClr val="8A96A6"/>
                </a:solidFill>
                <a:latin typeface="Calibri"/>
                <a:ea typeface="Calibri"/>
                <a:cs typeface="Calibri"/>
                <a:sym typeface="Calibri"/>
              </a:rPr>
              <a:t>42</a:t>
            </a:r>
            <a:endParaRPr b="0" i="0" sz="900" u="none" cap="none" strike="noStrike">
              <a:solidFill>
                <a:schemeClr val="dk1"/>
              </a:solidFill>
              <a:latin typeface="Calibri"/>
              <a:ea typeface="Calibri"/>
              <a:cs typeface="Calibri"/>
              <a:sym typeface="Calibri"/>
            </a:endParaRPr>
          </a:p>
        </p:txBody>
      </p:sp>
      <p:sp>
        <p:nvSpPr>
          <p:cNvPr id="1218" name="Google Shape;1218;p42"/>
          <p:cNvSpPr/>
          <p:nvPr/>
        </p:nvSpPr>
        <p:spPr>
          <a:xfrm>
            <a:off x="502920" y="1389888"/>
            <a:ext cx="5806440" cy="932688"/>
          </a:xfrm>
          <a:prstGeom prst="roundRect">
            <a:avLst>
              <a:gd fmla="val 7843" name="adj"/>
            </a:avLst>
          </a:prstGeom>
          <a:solidFill>
            <a:srgbClr val="E9F6F5"/>
          </a:solidFill>
          <a:ln cap="flat" cmpd="sng" w="12700">
            <a:solidFill>
              <a:srgbClr val="00A79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9" name="Google Shape;1219;p42"/>
          <p:cNvSpPr/>
          <p:nvPr/>
        </p:nvSpPr>
        <p:spPr>
          <a:xfrm>
            <a:off x="649224" y="1463040"/>
            <a:ext cx="5532120"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A79D"/>
              </a:buClr>
              <a:buSzPts val="900"/>
              <a:buFont typeface="Calibri"/>
              <a:buNone/>
            </a:pPr>
            <a:r>
              <a:rPr b="1" i="0" lang="en-US" sz="900" u="none" cap="none" strike="noStrike">
                <a:solidFill>
                  <a:srgbClr val="00A79D"/>
                </a:solidFill>
                <a:latin typeface="Calibri"/>
                <a:ea typeface="Calibri"/>
                <a:cs typeface="Calibri"/>
                <a:sym typeface="Calibri"/>
              </a:rPr>
              <a:t>OBJECTIVE</a:t>
            </a:r>
            <a:endParaRPr b="0" i="0" sz="900" u="none" cap="none" strike="noStrike">
              <a:solidFill>
                <a:schemeClr val="dk1"/>
              </a:solidFill>
              <a:latin typeface="Calibri"/>
              <a:ea typeface="Calibri"/>
              <a:cs typeface="Calibri"/>
              <a:sym typeface="Calibri"/>
            </a:endParaRPr>
          </a:p>
        </p:txBody>
      </p:sp>
      <p:sp>
        <p:nvSpPr>
          <p:cNvPr id="1220" name="Google Shape;1220;p42"/>
          <p:cNvSpPr/>
          <p:nvPr/>
        </p:nvSpPr>
        <p:spPr>
          <a:xfrm>
            <a:off x="649224" y="1682496"/>
            <a:ext cx="5532120" cy="585216"/>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23293B"/>
              </a:buClr>
              <a:buSzPts val="1050"/>
              <a:buFont typeface="Calibri"/>
              <a:buNone/>
            </a:pPr>
            <a:r>
              <a:rPr b="0" i="0" lang="en-US" sz="1050" u="none" cap="none" strike="noStrike">
                <a:solidFill>
                  <a:srgbClr val="23293B"/>
                </a:solidFill>
                <a:latin typeface="Calibri"/>
                <a:ea typeface="Calibri"/>
                <a:cs typeface="Calibri"/>
                <a:sym typeface="Calibri"/>
              </a:rPr>
              <a:t>Fine-tune ResNet-50 on dates-qc with the staged recipe, beat the frozen baseline (macro-F1 0.86), then compare ViT-B/16.</a:t>
            </a:r>
            <a:endParaRPr b="0" i="0" sz="1050" u="none" cap="none" strike="noStrike">
              <a:solidFill>
                <a:schemeClr val="dk1"/>
              </a:solidFill>
              <a:latin typeface="Calibri"/>
              <a:ea typeface="Calibri"/>
              <a:cs typeface="Calibri"/>
              <a:sym typeface="Calibri"/>
            </a:endParaRPr>
          </a:p>
        </p:txBody>
      </p:sp>
      <p:sp>
        <p:nvSpPr>
          <p:cNvPr id="1221" name="Google Shape;1221;p42"/>
          <p:cNvSpPr/>
          <p:nvPr/>
        </p:nvSpPr>
        <p:spPr>
          <a:xfrm>
            <a:off x="6510528" y="1389888"/>
            <a:ext cx="1600200" cy="932688"/>
          </a:xfrm>
          <a:prstGeom prst="roundRect">
            <a:avLst>
              <a:gd fmla="val 7843" name="adj"/>
            </a:avLst>
          </a:prstGeom>
          <a:solidFill>
            <a:srgbClr val="F2F6F9"/>
          </a:solidFill>
          <a:ln cap="flat" cmpd="sng" w="12700">
            <a:solidFill>
              <a:srgbClr val="D9E2E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2" name="Google Shape;1222;p42"/>
          <p:cNvSpPr/>
          <p:nvPr/>
        </p:nvSpPr>
        <p:spPr>
          <a:xfrm>
            <a:off x="6656832" y="1463040"/>
            <a:ext cx="1325880"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A79D"/>
              </a:buClr>
              <a:buSzPts val="900"/>
              <a:buFont typeface="Calibri"/>
              <a:buNone/>
            </a:pPr>
            <a:r>
              <a:rPr b="1" i="0" lang="en-US" sz="900" u="none" cap="none" strike="noStrike">
                <a:solidFill>
                  <a:srgbClr val="00A79D"/>
                </a:solidFill>
                <a:latin typeface="Calibri"/>
                <a:ea typeface="Calibri"/>
                <a:cs typeface="Calibri"/>
                <a:sym typeface="Calibri"/>
              </a:rPr>
              <a:t>DURATION</a:t>
            </a:r>
            <a:endParaRPr b="0" i="0" sz="900" u="none" cap="none" strike="noStrike">
              <a:solidFill>
                <a:schemeClr val="dk1"/>
              </a:solidFill>
              <a:latin typeface="Calibri"/>
              <a:ea typeface="Calibri"/>
              <a:cs typeface="Calibri"/>
              <a:sym typeface="Calibri"/>
            </a:endParaRPr>
          </a:p>
        </p:txBody>
      </p:sp>
      <p:sp>
        <p:nvSpPr>
          <p:cNvPr id="1223" name="Google Shape;1223;p42"/>
          <p:cNvSpPr/>
          <p:nvPr/>
        </p:nvSpPr>
        <p:spPr>
          <a:xfrm>
            <a:off x="6656832" y="1682496"/>
            <a:ext cx="1325880" cy="585216"/>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23293B"/>
              </a:buClr>
              <a:buSzPts val="1050"/>
              <a:buFont typeface="Calibri"/>
              <a:buNone/>
            </a:pPr>
            <a:r>
              <a:rPr b="0" i="0" lang="en-US" sz="1050" u="none" cap="none" strike="noStrike">
                <a:solidFill>
                  <a:srgbClr val="23293B"/>
                </a:solidFill>
                <a:latin typeface="Calibri"/>
                <a:ea typeface="Calibri"/>
                <a:cs typeface="Calibri"/>
                <a:sym typeface="Calibri"/>
              </a:rPr>
              <a:t>2 x 50 min (Day 1 H5 + Day 2 H1)</a:t>
            </a:r>
            <a:endParaRPr b="0" i="0" sz="1050" u="none" cap="none" strike="noStrike">
              <a:solidFill>
                <a:schemeClr val="dk1"/>
              </a:solidFill>
              <a:latin typeface="Calibri"/>
              <a:ea typeface="Calibri"/>
              <a:cs typeface="Calibri"/>
              <a:sym typeface="Calibri"/>
            </a:endParaRPr>
          </a:p>
        </p:txBody>
      </p:sp>
      <p:sp>
        <p:nvSpPr>
          <p:cNvPr id="1224" name="Google Shape;1224;p42"/>
          <p:cNvSpPr/>
          <p:nvPr/>
        </p:nvSpPr>
        <p:spPr>
          <a:xfrm>
            <a:off x="8311896" y="1389888"/>
            <a:ext cx="3383280" cy="932688"/>
          </a:xfrm>
          <a:prstGeom prst="roundRect">
            <a:avLst>
              <a:gd fmla="val 7843" name="adj"/>
            </a:avLst>
          </a:prstGeom>
          <a:solidFill>
            <a:srgbClr val="F2F6F9"/>
          </a:solidFill>
          <a:ln cap="flat" cmpd="sng" w="12700">
            <a:solidFill>
              <a:srgbClr val="D9E2E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5" name="Google Shape;1225;p42"/>
          <p:cNvSpPr/>
          <p:nvPr/>
        </p:nvSpPr>
        <p:spPr>
          <a:xfrm>
            <a:off x="8458200" y="1463040"/>
            <a:ext cx="3108960"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A79D"/>
              </a:buClr>
              <a:buSzPts val="900"/>
              <a:buFont typeface="Calibri"/>
              <a:buNone/>
            </a:pPr>
            <a:r>
              <a:rPr b="1" i="0" lang="en-US" sz="900" u="none" cap="none" strike="noStrike">
                <a:solidFill>
                  <a:srgbClr val="00A79D"/>
                </a:solidFill>
                <a:latin typeface="Calibri"/>
                <a:ea typeface="Calibri"/>
                <a:cs typeface="Calibri"/>
                <a:sym typeface="Calibri"/>
              </a:rPr>
              <a:t>SETUP</a:t>
            </a:r>
            <a:endParaRPr b="0" i="0" sz="900" u="none" cap="none" strike="noStrike">
              <a:solidFill>
                <a:schemeClr val="dk1"/>
              </a:solidFill>
              <a:latin typeface="Calibri"/>
              <a:ea typeface="Calibri"/>
              <a:cs typeface="Calibri"/>
              <a:sym typeface="Calibri"/>
            </a:endParaRPr>
          </a:p>
        </p:txBody>
      </p:sp>
      <p:sp>
        <p:nvSpPr>
          <p:cNvPr id="1226" name="Google Shape;1226;p42"/>
          <p:cNvSpPr/>
          <p:nvPr/>
        </p:nvSpPr>
        <p:spPr>
          <a:xfrm>
            <a:off x="8458200" y="1682496"/>
            <a:ext cx="3108960" cy="585216"/>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23293B"/>
              </a:buClr>
              <a:buSzPts val="1050"/>
              <a:buFont typeface="Calibri"/>
              <a:buNone/>
            </a:pPr>
            <a:r>
              <a:rPr b="0" i="0" lang="en-US" sz="1050" u="none" cap="none" strike="noStrike">
                <a:solidFill>
                  <a:srgbClr val="23293B"/>
                </a:solidFill>
                <a:latin typeface="Calibri"/>
                <a:ea typeface="Calibri"/>
                <a:cs typeface="Calibri"/>
                <a:sym typeface="Calibri"/>
              </a:rPr>
              <a:t>Lab 1 pipeline; GPU (CPU fallback: 320px + stage-1 ckpt); lab2-start</a:t>
            </a:r>
            <a:endParaRPr b="0" i="0" sz="1050" u="none" cap="none" strike="noStrike">
              <a:solidFill>
                <a:schemeClr val="dk1"/>
              </a:solidFill>
              <a:latin typeface="Calibri"/>
              <a:ea typeface="Calibri"/>
              <a:cs typeface="Calibri"/>
              <a:sym typeface="Calibri"/>
            </a:endParaRPr>
          </a:p>
        </p:txBody>
      </p:sp>
      <p:sp>
        <p:nvSpPr>
          <p:cNvPr id="1227" name="Google Shape;1227;p42"/>
          <p:cNvSpPr/>
          <p:nvPr/>
        </p:nvSpPr>
        <p:spPr>
          <a:xfrm>
            <a:off x="502920" y="2615837"/>
            <a:ext cx="274320" cy="274320"/>
          </a:xfrm>
          <a:prstGeom prst="ellipse">
            <a:avLst/>
          </a:prstGeom>
          <a:solidFill>
            <a:srgbClr val="1D2A5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8" name="Google Shape;1228;p42"/>
          <p:cNvSpPr/>
          <p:nvPr/>
        </p:nvSpPr>
        <p:spPr>
          <a:xfrm>
            <a:off x="502920" y="2615837"/>
            <a:ext cx="274320" cy="2743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100"/>
              <a:buFont typeface="Calibri"/>
              <a:buNone/>
            </a:pPr>
            <a:r>
              <a:rPr b="1" i="0" lang="en-US" sz="1100" u="none" cap="none" strike="noStrike">
                <a:solidFill>
                  <a:srgbClr val="FFFFFF"/>
                </a:solidFill>
                <a:latin typeface="Calibri"/>
                <a:ea typeface="Calibri"/>
                <a:cs typeface="Calibri"/>
                <a:sym typeface="Calibri"/>
              </a:rPr>
              <a:t>1</a:t>
            </a:r>
            <a:endParaRPr b="0" i="0" sz="1100" u="none" cap="none" strike="noStrike">
              <a:solidFill>
                <a:schemeClr val="dk1"/>
              </a:solidFill>
              <a:latin typeface="Calibri"/>
              <a:ea typeface="Calibri"/>
              <a:cs typeface="Calibri"/>
              <a:sym typeface="Calibri"/>
            </a:endParaRPr>
          </a:p>
        </p:txBody>
      </p:sp>
      <p:sp>
        <p:nvSpPr>
          <p:cNvPr id="1229" name="Google Shape;1229;p42"/>
          <p:cNvSpPr/>
          <p:nvPr/>
        </p:nvSpPr>
        <p:spPr>
          <a:xfrm>
            <a:off x="886968" y="2615837"/>
            <a:ext cx="658368" cy="274320"/>
          </a:xfrm>
          <a:prstGeom prst="roundRect">
            <a:avLst>
              <a:gd fmla="val 50000" name="adj"/>
            </a:avLst>
          </a:prstGeom>
          <a:solidFill>
            <a:srgbClr val="E9F6F5"/>
          </a:solidFill>
          <a:ln cap="flat" cmpd="sng" w="9525">
            <a:solidFill>
              <a:srgbClr val="00A79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0" name="Google Shape;1230;p42"/>
          <p:cNvSpPr/>
          <p:nvPr/>
        </p:nvSpPr>
        <p:spPr>
          <a:xfrm>
            <a:off x="886968" y="2615837"/>
            <a:ext cx="658368" cy="2743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56A63"/>
              </a:buClr>
              <a:buSzPts val="900"/>
              <a:buFont typeface="Calibri"/>
              <a:buNone/>
            </a:pPr>
            <a:r>
              <a:rPr b="1" i="0" lang="en-US" sz="900" u="none" cap="none" strike="noStrike">
                <a:solidFill>
                  <a:srgbClr val="056A63"/>
                </a:solidFill>
                <a:latin typeface="Calibri"/>
                <a:ea typeface="Calibri"/>
                <a:cs typeface="Calibri"/>
                <a:sym typeface="Calibri"/>
              </a:rPr>
              <a:t>10 min</a:t>
            </a:r>
            <a:endParaRPr b="0" i="0" sz="900" u="none" cap="none" strike="noStrike">
              <a:solidFill>
                <a:schemeClr val="dk1"/>
              </a:solidFill>
              <a:latin typeface="Calibri"/>
              <a:ea typeface="Calibri"/>
              <a:cs typeface="Calibri"/>
              <a:sym typeface="Calibri"/>
            </a:endParaRPr>
          </a:p>
        </p:txBody>
      </p:sp>
      <p:sp>
        <p:nvSpPr>
          <p:cNvPr id="1231" name="Google Shape;1231;p42"/>
          <p:cNvSpPr/>
          <p:nvPr/>
        </p:nvSpPr>
        <p:spPr>
          <a:xfrm>
            <a:off x="1673352" y="2523744"/>
            <a:ext cx="5733288" cy="49508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3293B"/>
              </a:buClr>
              <a:buSzPts val="1150"/>
              <a:buFont typeface="Calibri"/>
              <a:buNone/>
            </a:pPr>
            <a:r>
              <a:rPr b="0" i="0" lang="en-US" sz="1150" u="none" cap="none" strike="noStrike">
                <a:solidFill>
                  <a:srgbClr val="23293B"/>
                </a:solidFill>
                <a:latin typeface="Calibri"/>
                <a:ea typeface="Calibri"/>
                <a:cs typeface="Calibri"/>
                <a:sym typeface="Calibri"/>
              </a:rPr>
              <a:t>A1 Implement build_model, freeze_backbone, param_groups</a:t>
            </a:r>
            <a:endParaRPr b="0" i="0" sz="1150" u="none" cap="none" strike="noStrike">
              <a:solidFill>
                <a:schemeClr val="dk1"/>
              </a:solidFill>
              <a:latin typeface="Calibri"/>
              <a:ea typeface="Calibri"/>
              <a:cs typeface="Calibri"/>
              <a:sym typeface="Calibri"/>
            </a:endParaRPr>
          </a:p>
        </p:txBody>
      </p:sp>
      <p:sp>
        <p:nvSpPr>
          <p:cNvPr id="1232" name="Google Shape;1232;p42"/>
          <p:cNvSpPr/>
          <p:nvPr/>
        </p:nvSpPr>
        <p:spPr>
          <a:xfrm>
            <a:off x="502920" y="3165783"/>
            <a:ext cx="274320" cy="274320"/>
          </a:xfrm>
          <a:prstGeom prst="ellipse">
            <a:avLst/>
          </a:prstGeom>
          <a:solidFill>
            <a:srgbClr val="1D2A5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3" name="Google Shape;1233;p42"/>
          <p:cNvSpPr/>
          <p:nvPr/>
        </p:nvSpPr>
        <p:spPr>
          <a:xfrm>
            <a:off x="502920" y="3165783"/>
            <a:ext cx="274320" cy="2743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100"/>
              <a:buFont typeface="Calibri"/>
              <a:buNone/>
            </a:pPr>
            <a:r>
              <a:rPr b="1" i="0" lang="en-US" sz="1100" u="none" cap="none" strike="noStrike">
                <a:solidFill>
                  <a:srgbClr val="FFFFFF"/>
                </a:solidFill>
                <a:latin typeface="Calibri"/>
                <a:ea typeface="Calibri"/>
                <a:cs typeface="Calibri"/>
                <a:sym typeface="Calibri"/>
              </a:rPr>
              <a:t>2</a:t>
            </a:r>
            <a:endParaRPr b="0" i="0" sz="1100" u="none" cap="none" strike="noStrike">
              <a:solidFill>
                <a:schemeClr val="dk1"/>
              </a:solidFill>
              <a:latin typeface="Calibri"/>
              <a:ea typeface="Calibri"/>
              <a:cs typeface="Calibri"/>
              <a:sym typeface="Calibri"/>
            </a:endParaRPr>
          </a:p>
        </p:txBody>
      </p:sp>
      <p:sp>
        <p:nvSpPr>
          <p:cNvPr id="1234" name="Google Shape;1234;p42"/>
          <p:cNvSpPr/>
          <p:nvPr/>
        </p:nvSpPr>
        <p:spPr>
          <a:xfrm>
            <a:off x="886968" y="3165783"/>
            <a:ext cx="658368" cy="274320"/>
          </a:xfrm>
          <a:prstGeom prst="roundRect">
            <a:avLst>
              <a:gd fmla="val 50000" name="adj"/>
            </a:avLst>
          </a:prstGeom>
          <a:solidFill>
            <a:srgbClr val="E9F6F5"/>
          </a:solidFill>
          <a:ln cap="flat" cmpd="sng" w="9525">
            <a:solidFill>
              <a:srgbClr val="00A79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5" name="Google Shape;1235;p42"/>
          <p:cNvSpPr/>
          <p:nvPr/>
        </p:nvSpPr>
        <p:spPr>
          <a:xfrm>
            <a:off x="886968" y="3165783"/>
            <a:ext cx="658368" cy="2743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56A63"/>
              </a:buClr>
              <a:buSzPts val="900"/>
              <a:buFont typeface="Calibri"/>
              <a:buNone/>
            </a:pPr>
            <a:r>
              <a:rPr b="1" i="0" lang="en-US" sz="900" u="none" cap="none" strike="noStrike">
                <a:solidFill>
                  <a:srgbClr val="056A63"/>
                </a:solidFill>
                <a:latin typeface="Calibri"/>
                <a:ea typeface="Calibri"/>
                <a:cs typeface="Calibri"/>
                <a:sym typeface="Calibri"/>
              </a:rPr>
              <a:t>10 min</a:t>
            </a:r>
            <a:endParaRPr b="0" i="0" sz="900" u="none" cap="none" strike="noStrike">
              <a:solidFill>
                <a:schemeClr val="dk1"/>
              </a:solidFill>
              <a:latin typeface="Calibri"/>
              <a:ea typeface="Calibri"/>
              <a:cs typeface="Calibri"/>
              <a:sym typeface="Calibri"/>
            </a:endParaRPr>
          </a:p>
        </p:txBody>
      </p:sp>
      <p:sp>
        <p:nvSpPr>
          <p:cNvPr id="1236" name="Google Shape;1236;p42"/>
          <p:cNvSpPr/>
          <p:nvPr/>
        </p:nvSpPr>
        <p:spPr>
          <a:xfrm>
            <a:off x="1673352" y="3073690"/>
            <a:ext cx="5733288" cy="49508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3293B"/>
              </a:buClr>
              <a:buSzPts val="1150"/>
              <a:buFont typeface="Calibri"/>
              <a:buNone/>
            </a:pPr>
            <a:r>
              <a:rPr b="0" i="0" lang="en-US" sz="1150" u="none" cap="none" strike="noStrike">
                <a:solidFill>
                  <a:srgbClr val="23293B"/>
                </a:solidFill>
                <a:latin typeface="Calibri"/>
                <a:ea typeface="Calibri"/>
                <a:cs typeface="Calibri"/>
                <a:sym typeface="Calibri"/>
              </a:rPr>
              <a:t>A2 Run Stage 1 (head-only, 2 epochs); record val macro-F1 - expect ~0.78</a:t>
            </a:r>
            <a:endParaRPr b="0" i="0" sz="1150" u="none" cap="none" strike="noStrike">
              <a:solidFill>
                <a:schemeClr val="dk1"/>
              </a:solidFill>
              <a:latin typeface="Calibri"/>
              <a:ea typeface="Calibri"/>
              <a:cs typeface="Calibri"/>
              <a:sym typeface="Calibri"/>
            </a:endParaRPr>
          </a:p>
        </p:txBody>
      </p:sp>
      <p:sp>
        <p:nvSpPr>
          <p:cNvPr id="1237" name="Google Shape;1237;p42"/>
          <p:cNvSpPr/>
          <p:nvPr/>
        </p:nvSpPr>
        <p:spPr>
          <a:xfrm>
            <a:off x="502920" y="3715730"/>
            <a:ext cx="274320" cy="274320"/>
          </a:xfrm>
          <a:prstGeom prst="ellipse">
            <a:avLst/>
          </a:prstGeom>
          <a:solidFill>
            <a:srgbClr val="1D2A5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8" name="Google Shape;1238;p42"/>
          <p:cNvSpPr/>
          <p:nvPr/>
        </p:nvSpPr>
        <p:spPr>
          <a:xfrm>
            <a:off x="502920" y="3715730"/>
            <a:ext cx="274320" cy="2743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100"/>
              <a:buFont typeface="Calibri"/>
              <a:buNone/>
            </a:pPr>
            <a:r>
              <a:rPr b="1" i="0" lang="en-US" sz="1100" u="none" cap="none" strike="noStrike">
                <a:solidFill>
                  <a:srgbClr val="FFFFFF"/>
                </a:solidFill>
                <a:latin typeface="Calibri"/>
                <a:ea typeface="Calibri"/>
                <a:cs typeface="Calibri"/>
                <a:sym typeface="Calibri"/>
              </a:rPr>
              <a:t>3</a:t>
            </a:r>
            <a:endParaRPr b="0" i="0" sz="1100" u="none" cap="none" strike="noStrike">
              <a:solidFill>
                <a:schemeClr val="dk1"/>
              </a:solidFill>
              <a:latin typeface="Calibri"/>
              <a:ea typeface="Calibri"/>
              <a:cs typeface="Calibri"/>
              <a:sym typeface="Calibri"/>
            </a:endParaRPr>
          </a:p>
        </p:txBody>
      </p:sp>
      <p:sp>
        <p:nvSpPr>
          <p:cNvPr id="1239" name="Google Shape;1239;p42"/>
          <p:cNvSpPr/>
          <p:nvPr/>
        </p:nvSpPr>
        <p:spPr>
          <a:xfrm>
            <a:off x="886968" y="3715730"/>
            <a:ext cx="658368" cy="274320"/>
          </a:xfrm>
          <a:prstGeom prst="roundRect">
            <a:avLst>
              <a:gd fmla="val 50000" name="adj"/>
            </a:avLst>
          </a:prstGeom>
          <a:solidFill>
            <a:srgbClr val="E9F6F5"/>
          </a:solidFill>
          <a:ln cap="flat" cmpd="sng" w="9525">
            <a:solidFill>
              <a:srgbClr val="00A79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0" name="Google Shape;1240;p42"/>
          <p:cNvSpPr/>
          <p:nvPr/>
        </p:nvSpPr>
        <p:spPr>
          <a:xfrm>
            <a:off x="886968" y="3715730"/>
            <a:ext cx="658368" cy="2743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56A63"/>
              </a:buClr>
              <a:buSzPts val="900"/>
              <a:buFont typeface="Calibri"/>
              <a:buNone/>
            </a:pPr>
            <a:r>
              <a:rPr b="1" i="0" lang="en-US" sz="900" u="none" cap="none" strike="noStrike">
                <a:solidFill>
                  <a:srgbClr val="056A63"/>
                </a:solidFill>
                <a:latin typeface="Calibri"/>
                <a:ea typeface="Calibri"/>
                <a:cs typeface="Calibri"/>
                <a:sym typeface="Calibri"/>
              </a:rPr>
              <a:t>20 min</a:t>
            </a:r>
            <a:endParaRPr b="0" i="0" sz="900" u="none" cap="none" strike="noStrike">
              <a:solidFill>
                <a:schemeClr val="dk1"/>
              </a:solidFill>
              <a:latin typeface="Calibri"/>
              <a:ea typeface="Calibri"/>
              <a:cs typeface="Calibri"/>
              <a:sym typeface="Calibri"/>
            </a:endParaRPr>
          </a:p>
        </p:txBody>
      </p:sp>
      <p:sp>
        <p:nvSpPr>
          <p:cNvPr id="1241" name="Google Shape;1241;p42"/>
          <p:cNvSpPr/>
          <p:nvPr/>
        </p:nvSpPr>
        <p:spPr>
          <a:xfrm>
            <a:off x="1673352" y="3623637"/>
            <a:ext cx="5733288" cy="49508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3293B"/>
              </a:buClr>
              <a:buSzPts val="1150"/>
              <a:buFont typeface="Calibri"/>
              <a:buNone/>
            </a:pPr>
            <a:r>
              <a:rPr b="0" i="0" lang="en-US" sz="1150" u="none" cap="none" strike="noStrike">
                <a:solidFill>
                  <a:srgbClr val="23293B"/>
                </a:solidFill>
                <a:latin typeface="Calibri"/>
                <a:ea typeface="Calibri"/>
                <a:cs typeface="Calibri"/>
                <a:sym typeface="Calibri"/>
              </a:rPr>
              <a:t>A3 Stage 2, discriminative LRs; target macro-F1 &gt;= 0.88, reject recall &gt;= 0.95</a:t>
            </a:r>
            <a:endParaRPr b="0" i="0" sz="1150" u="none" cap="none" strike="noStrike">
              <a:solidFill>
                <a:schemeClr val="dk1"/>
              </a:solidFill>
              <a:latin typeface="Calibri"/>
              <a:ea typeface="Calibri"/>
              <a:cs typeface="Calibri"/>
              <a:sym typeface="Calibri"/>
            </a:endParaRPr>
          </a:p>
        </p:txBody>
      </p:sp>
      <p:sp>
        <p:nvSpPr>
          <p:cNvPr id="1242" name="Google Shape;1242;p42"/>
          <p:cNvSpPr/>
          <p:nvPr/>
        </p:nvSpPr>
        <p:spPr>
          <a:xfrm>
            <a:off x="502920" y="4265676"/>
            <a:ext cx="274320" cy="274320"/>
          </a:xfrm>
          <a:prstGeom prst="ellipse">
            <a:avLst/>
          </a:prstGeom>
          <a:solidFill>
            <a:srgbClr val="1D2A5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3" name="Google Shape;1243;p42"/>
          <p:cNvSpPr/>
          <p:nvPr/>
        </p:nvSpPr>
        <p:spPr>
          <a:xfrm>
            <a:off x="502920" y="4265676"/>
            <a:ext cx="274320" cy="2743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100"/>
              <a:buFont typeface="Calibri"/>
              <a:buNone/>
            </a:pPr>
            <a:r>
              <a:rPr b="1" i="0" lang="en-US" sz="1100" u="none" cap="none" strike="noStrike">
                <a:solidFill>
                  <a:srgbClr val="FFFFFF"/>
                </a:solidFill>
                <a:latin typeface="Calibri"/>
                <a:ea typeface="Calibri"/>
                <a:cs typeface="Calibri"/>
                <a:sym typeface="Calibri"/>
              </a:rPr>
              <a:t>4</a:t>
            </a:r>
            <a:endParaRPr b="0" i="0" sz="1100" u="none" cap="none" strike="noStrike">
              <a:solidFill>
                <a:schemeClr val="dk1"/>
              </a:solidFill>
              <a:latin typeface="Calibri"/>
              <a:ea typeface="Calibri"/>
              <a:cs typeface="Calibri"/>
              <a:sym typeface="Calibri"/>
            </a:endParaRPr>
          </a:p>
        </p:txBody>
      </p:sp>
      <p:sp>
        <p:nvSpPr>
          <p:cNvPr id="1244" name="Google Shape;1244;p42"/>
          <p:cNvSpPr/>
          <p:nvPr/>
        </p:nvSpPr>
        <p:spPr>
          <a:xfrm>
            <a:off x="886968" y="4265676"/>
            <a:ext cx="658368" cy="274320"/>
          </a:xfrm>
          <a:prstGeom prst="roundRect">
            <a:avLst>
              <a:gd fmla="val 50000" name="adj"/>
            </a:avLst>
          </a:prstGeom>
          <a:solidFill>
            <a:srgbClr val="E9F6F5"/>
          </a:solidFill>
          <a:ln cap="flat" cmpd="sng" w="9525">
            <a:solidFill>
              <a:srgbClr val="00A79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5" name="Google Shape;1245;p42"/>
          <p:cNvSpPr/>
          <p:nvPr/>
        </p:nvSpPr>
        <p:spPr>
          <a:xfrm>
            <a:off x="886968" y="4265676"/>
            <a:ext cx="658368" cy="2743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56A63"/>
              </a:buClr>
              <a:buSzPts val="900"/>
              <a:buFont typeface="Calibri"/>
              <a:buNone/>
            </a:pPr>
            <a:r>
              <a:rPr b="1" i="0" lang="en-US" sz="900" u="none" cap="none" strike="noStrike">
                <a:solidFill>
                  <a:srgbClr val="056A63"/>
                </a:solidFill>
                <a:latin typeface="Calibri"/>
                <a:ea typeface="Calibri"/>
                <a:cs typeface="Calibri"/>
                <a:sym typeface="Calibri"/>
              </a:rPr>
              <a:t>10 min</a:t>
            </a:r>
            <a:endParaRPr b="0" i="0" sz="900" u="none" cap="none" strike="noStrike">
              <a:solidFill>
                <a:schemeClr val="dk1"/>
              </a:solidFill>
              <a:latin typeface="Calibri"/>
              <a:ea typeface="Calibri"/>
              <a:cs typeface="Calibri"/>
              <a:sym typeface="Calibri"/>
            </a:endParaRPr>
          </a:p>
        </p:txBody>
      </p:sp>
      <p:sp>
        <p:nvSpPr>
          <p:cNvPr id="1246" name="Google Shape;1246;p42"/>
          <p:cNvSpPr/>
          <p:nvPr/>
        </p:nvSpPr>
        <p:spPr>
          <a:xfrm>
            <a:off x="1673352" y="4173583"/>
            <a:ext cx="5733288" cy="49508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3293B"/>
              </a:buClr>
              <a:buSzPts val="1150"/>
              <a:buFont typeface="Calibri"/>
              <a:buNone/>
            </a:pPr>
            <a:r>
              <a:rPr b="0" i="0" lang="en-US" sz="1150" u="none" cap="none" strike="noStrike">
                <a:solidFill>
                  <a:srgbClr val="23293B"/>
                </a:solidFill>
                <a:latin typeface="Calibri"/>
                <a:ea typeface="Calibri"/>
                <a:cs typeface="Calibri"/>
                <a:sym typeface="Calibri"/>
              </a:rPr>
              <a:t>A4 Re-run Stage 2 at uniform lr=1e-3; watch macro-F1 collapse; keep both curves</a:t>
            </a:r>
            <a:endParaRPr b="0" i="0" sz="1150" u="none" cap="none" strike="noStrike">
              <a:solidFill>
                <a:schemeClr val="dk1"/>
              </a:solidFill>
              <a:latin typeface="Calibri"/>
              <a:ea typeface="Calibri"/>
              <a:cs typeface="Calibri"/>
              <a:sym typeface="Calibri"/>
            </a:endParaRPr>
          </a:p>
        </p:txBody>
      </p:sp>
      <p:sp>
        <p:nvSpPr>
          <p:cNvPr id="1247" name="Google Shape;1247;p42"/>
          <p:cNvSpPr/>
          <p:nvPr/>
        </p:nvSpPr>
        <p:spPr>
          <a:xfrm>
            <a:off x="502920" y="4815622"/>
            <a:ext cx="274320" cy="274320"/>
          </a:xfrm>
          <a:prstGeom prst="ellipse">
            <a:avLst/>
          </a:prstGeom>
          <a:solidFill>
            <a:srgbClr val="1D2A5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8" name="Google Shape;1248;p42"/>
          <p:cNvSpPr/>
          <p:nvPr/>
        </p:nvSpPr>
        <p:spPr>
          <a:xfrm>
            <a:off x="502920" y="4815622"/>
            <a:ext cx="274320" cy="2743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100"/>
              <a:buFont typeface="Calibri"/>
              <a:buNone/>
            </a:pPr>
            <a:r>
              <a:rPr b="1" i="0" lang="en-US" sz="1100" u="none" cap="none" strike="noStrike">
                <a:solidFill>
                  <a:srgbClr val="FFFFFF"/>
                </a:solidFill>
                <a:latin typeface="Calibri"/>
                <a:ea typeface="Calibri"/>
                <a:cs typeface="Calibri"/>
                <a:sym typeface="Calibri"/>
              </a:rPr>
              <a:t>5</a:t>
            </a:r>
            <a:endParaRPr b="0" i="0" sz="1100" u="none" cap="none" strike="noStrike">
              <a:solidFill>
                <a:schemeClr val="dk1"/>
              </a:solidFill>
              <a:latin typeface="Calibri"/>
              <a:ea typeface="Calibri"/>
              <a:cs typeface="Calibri"/>
              <a:sym typeface="Calibri"/>
            </a:endParaRPr>
          </a:p>
        </p:txBody>
      </p:sp>
      <p:sp>
        <p:nvSpPr>
          <p:cNvPr id="1249" name="Google Shape;1249;p42"/>
          <p:cNvSpPr/>
          <p:nvPr/>
        </p:nvSpPr>
        <p:spPr>
          <a:xfrm>
            <a:off x="886968" y="4815622"/>
            <a:ext cx="658368" cy="274320"/>
          </a:xfrm>
          <a:prstGeom prst="roundRect">
            <a:avLst>
              <a:gd fmla="val 50000" name="adj"/>
            </a:avLst>
          </a:prstGeom>
          <a:solidFill>
            <a:srgbClr val="E9F6F5"/>
          </a:solidFill>
          <a:ln cap="flat" cmpd="sng" w="9525">
            <a:solidFill>
              <a:srgbClr val="00A79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0" name="Google Shape;1250;p42"/>
          <p:cNvSpPr/>
          <p:nvPr/>
        </p:nvSpPr>
        <p:spPr>
          <a:xfrm>
            <a:off x="886968" y="4815622"/>
            <a:ext cx="658368" cy="2743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56A63"/>
              </a:buClr>
              <a:buSzPts val="900"/>
              <a:buFont typeface="Calibri"/>
              <a:buNone/>
            </a:pPr>
            <a:r>
              <a:rPr b="1" i="0" lang="en-US" sz="900" u="none" cap="none" strike="noStrike">
                <a:solidFill>
                  <a:srgbClr val="056A63"/>
                </a:solidFill>
                <a:latin typeface="Calibri"/>
                <a:ea typeface="Calibri"/>
                <a:cs typeface="Calibri"/>
                <a:sym typeface="Calibri"/>
              </a:rPr>
              <a:t>10 min</a:t>
            </a:r>
            <a:endParaRPr b="0" i="0" sz="900" u="none" cap="none" strike="noStrike">
              <a:solidFill>
                <a:schemeClr val="dk1"/>
              </a:solidFill>
              <a:latin typeface="Calibri"/>
              <a:ea typeface="Calibri"/>
              <a:cs typeface="Calibri"/>
              <a:sym typeface="Calibri"/>
            </a:endParaRPr>
          </a:p>
        </p:txBody>
      </p:sp>
      <p:sp>
        <p:nvSpPr>
          <p:cNvPr id="1251" name="Google Shape;1251;p42"/>
          <p:cNvSpPr/>
          <p:nvPr/>
        </p:nvSpPr>
        <p:spPr>
          <a:xfrm>
            <a:off x="1673352" y="4723529"/>
            <a:ext cx="5733288" cy="49508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3293B"/>
              </a:buClr>
              <a:buSzPts val="1150"/>
              <a:buFont typeface="Calibri"/>
              <a:buNone/>
            </a:pPr>
            <a:r>
              <a:rPr b="0" i="0" lang="en-US" sz="1150" u="none" cap="none" strike="noStrike">
                <a:solidFill>
                  <a:srgbClr val="23293B"/>
                </a:solidFill>
                <a:latin typeface="Calibri"/>
                <a:ea typeface="Calibri"/>
                <a:cs typeface="Calibri"/>
                <a:sym typeface="Calibri"/>
              </a:rPr>
              <a:t>B1 Plot per-epoch curves for both runs; annotate where forgetting happens</a:t>
            </a:r>
            <a:endParaRPr b="0" i="0" sz="1150" u="none" cap="none" strike="noStrike">
              <a:solidFill>
                <a:schemeClr val="dk1"/>
              </a:solidFill>
              <a:latin typeface="Calibri"/>
              <a:ea typeface="Calibri"/>
              <a:cs typeface="Calibri"/>
              <a:sym typeface="Calibri"/>
            </a:endParaRPr>
          </a:p>
        </p:txBody>
      </p:sp>
      <p:sp>
        <p:nvSpPr>
          <p:cNvPr id="1252" name="Google Shape;1252;p42"/>
          <p:cNvSpPr/>
          <p:nvPr/>
        </p:nvSpPr>
        <p:spPr>
          <a:xfrm>
            <a:off x="502920" y="5365569"/>
            <a:ext cx="274320" cy="274320"/>
          </a:xfrm>
          <a:prstGeom prst="ellipse">
            <a:avLst/>
          </a:prstGeom>
          <a:solidFill>
            <a:srgbClr val="1D2A5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3" name="Google Shape;1253;p42"/>
          <p:cNvSpPr/>
          <p:nvPr/>
        </p:nvSpPr>
        <p:spPr>
          <a:xfrm>
            <a:off x="502920" y="5365569"/>
            <a:ext cx="274320" cy="2743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100"/>
              <a:buFont typeface="Calibri"/>
              <a:buNone/>
            </a:pPr>
            <a:r>
              <a:rPr b="1" i="0" lang="en-US" sz="1100" u="none" cap="none" strike="noStrike">
                <a:solidFill>
                  <a:srgbClr val="FFFFFF"/>
                </a:solidFill>
                <a:latin typeface="Calibri"/>
                <a:ea typeface="Calibri"/>
                <a:cs typeface="Calibri"/>
                <a:sym typeface="Calibri"/>
              </a:rPr>
              <a:t>6</a:t>
            </a:r>
            <a:endParaRPr b="0" i="0" sz="1100" u="none" cap="none" strike="noStrike">
              <a:solidFill>
                <a:schemeClr val="dk1"/>
              </a:solidFill>
              <a:latin typeface="Calibri"/>
              <a:ea typeface="Calibri"/>
              <a:cs typeface="Calibri"/>
              <a:sym typeface="Calibri"/>
            </a:endParaRPr>
          </a:p>
        </p:txBody>
      </p:sp>
      <p:sp>
        <p:nvSpPr>
          <p:cNvPr id="1254" name="Google Shape;1254;p42"/>
          <p:cNvSpPr/>
          <p:nvPr/>
        </p:nvSpPr>
        <p:spPr>
          <a:xfrm>
            <a:off x="886968" y="5365569"/>
            <a:ext cx="658368" cy="274320"/>
          </a:xfrm>
          <a:prstGeom prst="roundRect">
            <a:avLst>
              <a:gd fmla="val 50000" name="adj"/>
            </a:avLst>
          </a:prstGeom>
          <a:solidFill>
            <a:srgbClr val="E9F6F5"/>
          </a:solidFill>
          <a:ln cap="flat" cmpd="sng" w="9525">
            <a:solidFill>
              <a:srgbClr val="00A79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5" name="Google Shape;1255;p42"/>
          <p:cNvSpPr/>
          <p:nvPr/>
        </p:nvSpPr>
        <p:spPr>
          <a:xfrm>
            <a:off x="886968" y="5365569"/>
            <a:ext cx="658368" cy="2743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56A63"/>
              </a:buClr>
              <a:buSzPts val="900"/>
              <a:buFont typeface="Calibri"/>
              <a:buNone/>
            </a:pPr>
            <a:r>
              <a:rPr b="1" i="0" lang="en-US" sz="900" u="none" cap="none" strike="noStrike">
                <a:solidFill>
                  <a:srgbClr val="056A63"/>
                </a:solidFill>
                <a:latin typeface="Calibri"/>
                <a:ea typeface="Calibri"/>
                <a:cs typeface="Calibri"/>
                <a:sym typeface="Calibri"/>
              </a:rPr>
              <a:t>20 min</a:t>
            </a:r>
            <a:endParaRPr b="0" i="0" sz="900" u="none" cap="none" strike="noStrike">
              <a:solidFill>
                <a:schemeClr val="dk1"/>
              </a:solidFill>
              <a:latin typeface="Calibri"/>
              <a:ea typeface="Calibri"/>
              <a:cs typeface="Calibri"/>
              <a:sym typeface="Calibri"/>
            </a:endParaRPr>
          </a:p>
        </p:txBody>
      </p:sp>
      <p:sp>
        <p:nvSpPr>
          <p:cNvPr id="1256" name="Google Shape;1256;p42"/>
          <p:cNvSpPr/>
          <p:nvPr/>
        </p:nvSpPr>
        <p:spPr>
          <a:xfrm>
            <a:off x="1673352" y="5273475"/>
            <a:ext cx="5733288" cy="49508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3293B"/>
              </a:buClr>
              <a:buSzPts val="1150"/>
              <a:buFont typeface="Calibri"/>
              <a:buNone/>
            </a:pPr>
            <a:r>
              <a:rPr b="0" i="0" lang="en-US" sz="1150" u="none" cap="none" strike="noStrike">
                <a:solidFill>
                  <a:srgbClr val="23293B"/>
                </a:solidFill>
                <a:latin typeface="Calibri"/>
                <a:ea typeface="Calibri"/>
                <a:cs typeface="Calibri"/>
                <a:sym typeface="Calibri"/>
              </a:rPr>
              <a:t>B2 Swap in ViT-B/16, same recipe; log F1, time, params, VRAM in BENCHMARKS.md</a:t>
            </a:r>
            <a:endParaRPr b="0" i="0" sz="1150" u="none" cap="none" strike="noStrike">
              <a:solidFill>
                <a:schemeClr val="dk1"/>
              </a:solidFill>
              <a:latin typeface="Calibri"/>
              <a:ea typeface="Calibri"/>
              <a:cs typeface="Calibri"/>
              <a:sym typeface="Calibri"/>
            </a:endParaRPr>
          </a:p>
        </p:txBody>
      </p:sp>
      <p:sp>
        <p:nvSpPr>
          <p:cNvPr id="1257" name="Google Shape;1257;p42"/>
          <p:cNvSpPr/>
          <p:nvPr/>
        </p:nvSpPr>
        <p:spPr>
          <a:xfrm>
            <a:off x="502920" y="5915515"/>
            <a:ext cx="274320" cy="274320"/>
          </a:xfrm>
          <a:prstGeom prst="ellipse">
            <a:avLst/>
          </a:prstGeom>
          <a:solidFill>
            <a:srgbClr val="1D2A5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8" name="Google Shape;1258;p42"/>
          <p:cNvSpPr/>
          <p:nvPr/>
        </p:nvSpPr>
        <p:spPr>
          <a:xfrm>
            <a:off x="502920" y="5915515"/>
            <a:ext cx="274320" cy="2743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100"/>
              <a:buFont typeface="Calibri"/>
              <a:buNone/>
            </a:pPr>
            <a:r>
              <a:rPr b="1" i="0" lang="en-US" sz="1100" u="none" cap="none" strike="noStrike">
                <a:solidFill>
                  <a:srgbClr val="FFFFFF"/>
                </a:solidFill>
                <a:latin typeface="Calibri"/>
                <a:ea typeface="Calibri"/>
                <a:cs typeface="Calibri"/>
                <a:sym typeface="Calibri"/>
              </a:rPr>
              <a:t>7</a:t>
            </a:r>
            <a:endParaRPr b="0" i="0" sz="1100" u="none" cap="none" strike="noStrike">
              <a:solidFill>
                <a:schemeClr val="dk1"/>
              </a:solidFill>
              <a:latin typeface="Calibri"/>
              <a:ea typeface="Calibri"/>
              <a:cs typeface="Calibri"/>
              <a:sym typeface="Calibri"/>
            </a:endParaRPr>
          </a:p>
        </p:txBody>
      </p:sp>
      <p:sp>
        <p:nvSpPr>
          <p:cNvPr id="1259" name="Google Shape;1259;p42"/>
          <p:cNvSpPr/>
          <p:nvPr/>
        </p:nvSpPr>
        <p:spPr>
          <a:xfrm>
            <a:off x="886968" y="5915515"/>
            <a:ext cx="658368" cy="274320"/>
          </a:xfrm>
          <a:prstGeom prst="roundRect">
            <a:avLst>
              <a:gd fmla="val 50000" name="adj"/>
            </a:avLst>
          </a:prstGeom>
          <a:solidFill>
            <a:srgbClr val="E9F6F5"/>
          </a:solidFill>
          <a:ln cap="flat" cmpd="sng" w="9525">
            <a:solidFill>
              <a:srgbClr val="00A79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0" name="Google Shape;1260;p42"/>
          <p:cNvSpPr/>
          <p:nvPr/>
        </p:nvSpPr>
        <p:spPr>
          <a:xfrm>
            <a:off x="886968" y="5915515"/>
            <a:ext cx="658368" cy="2743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56A63"/>
              </a:buClr>
              <a:buSzPts val="900"/>
              <a:buFont typeface="Calibri"/>
              <a:buNone/>
            </a:pPr>
            <a:r>
              <a:rPr b="1" i="0" lang="en-US" sz="900" u="none" cap="none" strike="noStrike">
                <a:solidFill>
                  <a:srgbClr val="056A63"/>
                </a:solidFill>
                <a:latin typeface="Calibri"/>
                <a:ea typeface="Calibri"/>
                <a:cs typeface="Calibri"/>
                <a:sym typeface="Calibri"/>
              </a:rPr>
              <a:t>20 min</a:t>
            </a:r>
            <a:endParaRPr b="0" i="0" sz="900" u="none" cap="none" strike="noStrike">
              <a:solidFill>
                <a:schemeClr val="dk1"/>
              </a:solidFill>
              <a:latin typeface="Calibri"/>
              <a:ea typeface="Calibri"/>
              <a:cs typeface="Calibri"/>
              <a:sym typeface="Calibri"/>
            </a:endParaRPr>
          </a:p>
        </p:txBody>
      </p:sp>
      <p:sp>
        <p:nvSpPr>
          <p:cNvPr id="1261" name="Google Shape;1261;p42"/>
          <p:cNvSpPr/>
          <p:nvPr/>
        </p:nvSpPr>
        <p:spPr>
          <a:xfrm>
            <a:off x="1673352" y="5823422"/>
            <a:ext cx="5733288" cy="49508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3293B"/>
              </a:buClr>
              <a:buSzPts val="1150"/>
              <a:buFont typeface="Calibri"/>
              <a:buNone/>
            </a:pPr>
            <a:r>
              <a:rPr b="0" i="0" lang="en-US" sz="1150" u="none" cap="none" strike="noStrike">
                <a:solidFill>
                  <a:srgbClr val="23293B"/>
                </a:solidFill>
                <a:latin typeface="Calibri"/>
                <a:ea typeface="Calibri"/>
                <a:cs typeface="Calibri"/>
                <a:sym typeface="Calibri"/>
              </a:rPr>
              <a:t>B3 Evaluate both on frozen test split; confirm determinism; commit feat(model)</a:t>
            </a:r>
            <a:endParaRPr b="0" i="0" sz="1150" u="none" cap="none" strike="noStrike">
              <a:solidFill>
                <a:schemeClr val="dk1"/>
              </a:solidFill>
              <a:latin typeface="Calibri"/>
              <a:ea typeface="Calibri"/>
              <a:cs typeface="Calibri"/>
              <a:sym typeface="Calibri"/>
            </a:endParaRPr>
          </a:p>
        </p:txBody>
      </p:sp>
      <p:sp>
        <p:nvSpPr>
          <p:cNvPr id="1262" name="Google Shape;1262;p42"/>
          <p:cNvSpPr/>
          <p:nvPr/>
        </p:nvSpPr>
        <p:spPr>
          <a:xfrm>
            <a:off x="7635240" y="2505456"/>
            <a:ext cx="4050792" cy="3849624"/>
          </a:xfrm>
          <a:prstGeom prst="roundRect">
            <a:avLst>
              <a:gd fmla="val 2375" name="adj"/>
            </a:avLst>
          </a:prstGeom>
          <a:solidFill>
            <a:srgbClr val="0F172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3" name="Google Shape;1263;p42"/>
          <p:cNvSpPr/>
          <p:nvPr/>
        </p:nvSpPr>
        <p:spPr>
          <a:xfrm>
            <a:off x="7818120" y="2615184"/>
            <a:ext cx="3685032" cy="2377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EEAD4"/>
              </a:buClr>
              <a:buSzPts val="900"/>
              <a:buFont typeface="Calibri"/>
              <a:buNone/>
            </a:pPr>
            <a:r>
              <a:rPr b="1" i="0" lang="en-US" sz="900" u="none" cap="none" strike="noStrike">
                <a:solidFill>
                  <a:srgbClr val="5EEAD4"/>
                </a:solidFill>
                <a:latin typeface="Calibri"/>
                <a:ea typeface="Calibri"/>
                <a:cs typeface="Calibri"/>
                <a:sym typeface="Calibri"/>
              </a:rPr>
              <a:t>EXPECTED OUTPUT</a:t>
            </a:r>
            <a:endParaRPr b="0" i="0" sz="900" u="none" cap="none" strike="noStrike">
              <a:solidFill>
                <a:schemeClr val="dk1"/>
              </a:solidFill>
              <a:latin typeface="Calibri"/>
              <a:ea typeface="Calibri"/>
              <a:cs typeface="Calibri"/>
              <a:sym typeface="Calibri"/>
            </a:endParaRPr>
          </a:p>
        </p:txBody>
      </p:sp>
      <p:sp>
        <p:nvSpPr>
          <p:cNvPr id="1264" name="Google Shape;1264;p42"/>
          <p:cNvSpPr/>
          <p:nvPr/>
        </p:nvSpPr>
        <p:spPr>
          <a:xfrm>
            <a:off x="7818120" y="2907792"/>
            <a:ext cx="3703320" cy="3300984"/>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DCE6F5"/>
              </a:buClr>
              <a:buSzPts val="900"/>
              <a:buFont typeface="Courier New"/>
              <a:buNone/>
            </a:pPr>
            <a:r>
              <a:rPr b="0" i="0" lang="en-US" sz="900" u="none" cap="none" strike="noStrike">
                <a:solidFill>
                  <a:srgbClr val="DCE6F5"/>
                </a:solidFill>
                <a:latin typeface="Courier New"/>
                <a:ea typeface="Courier New"/>
                <a:cs typeface="Courier New"/>
                <a:sym typeface="Courier New"/>
              </a:rPr>
              <a:t>Stage 1 (head-only):      macro_f1 ~ 0.78</a:t>
            </a:r>
            <a:endParaRPr b="0" i="0" sz="900" u="none" cap="none" strike="noStrike">
              <a:solidFill>
                <a:schemeClr val="dk1"/>
              </a:solidFill>
              <a:latin typeface="Calibri"/>
              <a:ea typeface="Calibri"/>
              <a:cs typeface="Calibri"/>
              <a:sym typeface="Calibri"/>
            </a:endParaRPr>
          </a:p>
          <a:p>
            <a:pPr indent="0" lvl="0" marL="0" marR="0" rtl="0" algn="l">
              <a:lnSpc>
                <a:spcPct val="130000"/>
              </a:lnSpc>
              <a:spcBef>
                <a:spcPts val="0"/>
              </a:spcBef>
              <a:spcAft>
                <a:spcPts val="0"/>
              </a:spcAft>
              <a:buClr>
                <a:srgbClr val="DCE6F5"/>
              </a:buClr>
              <a:buSzPts val="900"/>
              <a:buFont typeface="Courier New"/>
              <a:buNone/>
            </a:pPr>
            <a:r>
              <a:rPr b="0" i="0" lang="en-US" sz="900" u="none" cap="none" strike="noStrike">
                <a:solidFill>
                  <a:srgbClr val="DCE6F5"/>
                </a:solidFill>
                <a:latin typeface="Courier New"/>
                <a:ea typeface="Courier New"/>
                <a:cs typeface="Courier New"/>
                <a:sym typeface="Courier New"/>
              </a:rPr>
              <a:t>Stage 2 (discriminative): macro_f1 ~ 0.90</a:t>
            </a:r>
            <a:endParaRPr b="0" i="0" sz="900" u="none" cap="none" strike="noStrike">
              <a:solidFill>
                <a:schemeClr val="dk1"/>
              </a:solidFill>
              <a:latin typeface="Calibri"/>
              <a:ea typeface="Calibri"/>
              <a:cs typeface="Calibri"/>
              <a:sym typeface="Calibri"/>
            </a:endParaRPr>
          </a:p>
          <a:p>
            <a:pPr indent="0" lvl="0" marL="0" marR="0" rtl="0" algn="l">
              <a:lnSpc>
                <a:spcPct val="130000"/>
              </a:lnSpc>
              <a:spcBef>
                <a:spcPts val="0"/>
              </a:spcBef>
              <a:spcAft>
                <a:spcPts val="0"/>
              </a:spcAft>
              <a:buClr>
                <a:srgbClr val="DCE6F5"/>
              </a:buClr>
              <a:buSzPts val="900"/>
              <a:buFont typeface="Courier New"/>
              <a:buNone/>
            </a:pPr>
            <a:r>
              <a:rPr b="0" i="0" lang="en-US" sz="900" u="none" cap="none" strike="noStrike">
                <a:solidFill>
                  <a:srgbClr val="DCE6F5"/>
                </a:solidFill>
                <a:latin typeface="Courier New"/>
                <a:ea typeface="Courier New"/>
                <a:cs typeface="Courier New"/>
                <a:sym typeface="Courier New"/>
              </a:rPr>
              <a:t>  reject recall ~ 0.96 (epoch 5-7)</a:t>
            </a:r>
            <a:endParaRPr b="0" i="0" sz="900" u="none" cap="none" strike="noStrike">
              <a:solidFill>
                <a:schemeClr val="dk1"/>
              </a:solidFill>
              <a:latin typeface="Calibri"/>
              <a:ea typeface="Calibri"/>
              <a:cs typeface="Calibri"/>
              <a:sym typeface="Calibri"/>
            </a:endParaRPr>
          </a:p>
          <a:p>
            <a:pPr indent="0" lvl="0" marL="0" marR="0" rtl="0" algn="l">
              <a:lnSpc>
                <a:spcPct val="130000"/>
              </a:lnSpc>
              <a:spcBef>
                <a:spcPts val="0"/>
              </a:spcBef>
              <a:spcAft>
                <a:spcPts val="0"/>
              </a:spcAft>
              <a:buClr>
                <a:srgbClr val="DCE6F5"/>
              </a:buClr>
              <a:buSzPts val="900"/>
              <a:buFont typeface="Courier New"/>
              <a:buNone/>
            </a:pPr>
            <a:r>
              <a:rPr b="0" i="0" lang="en-US" sz="900" u="none" cap="none" strike="noStrike">
                <a:solidFill>
                  <a:srgbClr val="DCE6F5"/>
                </a:solidFill>
                <a:latin typeface="Courier New"/>
                <a:ea typeface="Courier New"/>
                <a:cs typeface="Courier New"/>
                <a:sym typeface="Courier New"/>
              </a:rPr>
              <a:t>Stage 2 (uniform 1e-3):   macro_f1 ~ 0.61</a:t>
            </a:r>
            <a:endParaRPr b="0" i="0" sz="900" u="none" cap="none" strike="noStrike">
              <a:solidFill>
                <a:schemeClr val="dk1"/>
              </a:solidFill>
              <a:latin typeface="Calibri"/>
              <a:ea typeface="Calibri"/>
              <a:cs typeface="Calibri"/>
              <a:sym typeface="Calibri"/>
            </a:endParaRPr>
          </a:p>
          <a:p>
            <a:pPr indent="0" lvl="0" marL="0" marR="0" rtl="0" algn="l">
              <a:lnSpc>
                <a:spcPct val="130000"/>
              </a:lnSpc>
              <a:spcBef>
                <a:spcPts val="0"/>
              </a:spcBef>
              <a:spcAft>
                <a:spcPts val="0"/>
              </a:spcAft>
              <a:buClr>
                <a:srgbClr val="DCE6F5"/>
              </a:buClr>
              <a:buSzPts val="900"/>
              <a:buFont typeface="Courier New"/>
              <a:buNone/>
            </a:pPr>
            <a:r>
              <a:rPr b="0" i="0" lang="en-US" sz="900" u="none" cap="none" strike="noStrike">
                <a:solidFill>
                  <a:srgbClr val="DCE6F5"/>
                </a:solidFill>
                <a:latin typeface="Courier New"/>
                <a:ea typeface="Courier New"/>
                <a:cs typeface="Courier New"/>
                <a:sym typeface="Courier New"/>
              </a:rPr>
              <a:t>  -&gt; catastrophic forgetting</a:t>
            </a:r>
            <a:endParaRPr b="0" i="0" sz="900" u="none" cap="none" strike="noStrike">
              <a:solidFill>
                <a:schemeClr val="dk1"/>
              </a:solidFill>
              <a:latin typeface="Calibri"/>
              <a:ea typeface="Calibri"/>
              <a:cs typeface="Calibri"/>
              <a:sym typeface="Calibri"/>
            </a:endParaRPr>
          </a:p>
          <a:p>
            <a:pPr indent="0" lvl="0" marL="0" marR="0" rtl="0" algn="l">
              <a:lnSpc>
                <a:spcPct val="130000"/>
              </a:lnSpc>
              <a:spcBef>
                <a:spcPts val="0"/>
              </a:spcBef>
              <a:spcAft>
                <a:spcPts val="0"/>
              </a:spcAft>
              <a:buClr>
                <a:srgbClr val="DCE6F5"/>
              </a:buClr>
              <a:buSzPts val="900"/>
              <a:buFont typeface="Courier New"/>
              <a:buNone/>
            </a:pPr>
            <a:r>
              <a:rPr b="0" i="0" lang="en-US" sz="900" u="none" cap="none" strike="noStrike">
                <a:solidFill>
                  <a:srgbClr val="DCE6F5"/>
                </a:solidFill>
                <a:latin typeface="Courier New"/>
                <a:ea typeface="Courier New"/>
                <a:cs typeface="Courier New"/>
                <a:sym typeface="Courier New"/>
              </a:rPr>
              <a:t>ViT-B/16:                 macro_f1 ~ 0.91</a:t>
            </a:r>
            <a:endParaRPr b="0" i="0" sz="900" u="none" cap="none" strike="noStrike">
              <a:solidFill>
                <a:schemeClr val="dk1"/>
              </a:solidFill>
              <a:latin typeface="Calibri"/>
              <a:ea typeface="Calibri"/>
              <a:cs typeface="Calibri"/>
              <a:sym typeface="Calibri"/>
            </a:endParaRPr>
          </a:p>
          <a:p>
            <a:pPr indent="0" lvl="0" marL="0" marR="0" rtl="0" algn="l">
              <a:lnSpc>
                <a:spcPct val="130000"/>
              </a:lnSpc>
              <a:spcBef>
                <a:spcPts val="0"/>
              </a:spcBef>
              <a:spcAft>
                <a:spcPts val="0"/>
              </a:spcAft>
              <a:buClr>
                <a:srgbClr val="DCE6F5"/>
              </a:buClr>
              <a:buSzPts val="900"/>
              <a:buFont typeface="Courier New"/>
              <a:buNone/>
            </a:pPr>
            <a:r>
              <a:rPr b="0" i="0" lang="en-US" sz="900" u="none" cap="none" strike="noStrike">
                <a:solidFill>
                  <a:srgbClr val="DCE6F5"/>
                </a:solidFill>
                <a:latin typeface="Courier New"/>
                <a:ea typeface="Courier New"/>
                <a:cs typeface="Courier New"/>
                <a:sym typeface="Courier New"/>
              </a:rPr>
              <a:t>  epoch time ~1.8x ResNet, VRAM ~2x</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269" name="Shape 1269"/>
        <p:cNvGrpSpPr/>
        <p:nvPr/>
      </p:nvGrpSpPr>
      <p:grpSpPr>
        <a:xfrm>
          <a:off x="0" y="0"/>
          <a:ext cx="0" cy="0"/>
          <a:chOff x="0" y="0"/>
          <a:chExt cx="0" cy="0"/>
        </a:xfrm>
      </p:grpSpPr>
      <p:sp>
        <p:nvSpPr>
          <p:cNvPr id="1270" name="Google Shape;1270;p43"/>
          <p:cNvSpPr/>
          <p:nvPr/>
        </p:nvSpPr>
        <p:spPr>
          <a:xfrm>
            <a:off x="502920" y="274320"/>
            <a:ext cx="9646920" cy="56692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D2A5C"/>
              </a:buClr>
              <a:buSzPts val="2700"/>
              <a:buFont typeface="Calibri"/>
              <a:buNone/>
            </a:pPr>
            <a:r>
              <a:rPr b="1" i="0" lang="en-US" sz="2700" u="none" cap="none" strike="noStrike">
                <a:solidFill>
                  <a:srgbClr val="1D2A5C"/>
                </a:solidFill>
                <a:latin typeface="Calibri"/>
                <a:ea typeface="Calibri"/>
                <a:cs typeface="Calibri"/>
                <a:sym typeface="Calibri"/>
              </a:rPr>
              <a:t>Lab 2 troubleshooting</a:t>
            </a:r>
            <a:endParaRPr b="0" i="0" sz="2700" u="none" cap="none" strike="noStrike">
              <a:solidFill>
                <a:schemeClr val="dk1"/>
              </a:solidFill>
              <a:latin typeface="Calibri"/>
              <a:ea typeface="Calibri"/>
              <a:cs typeface="Calibri"/>
              <a:sym typeface="Calibri"/>
            </a:endParaRPr>
          </a:p>
        </p:txBody>
      </p:sp>
      <p:sp>
        <p:nvSpPr>
          <p:cNvPr id="1271" name="Google Shape;1271;p43"/>
          <p:cNvSpPr/>
          <p:nvPr/>
        </p:nvSpPr>
        <p:spPr>
          <a:xfrm>
            <a:off x="502920" y="859536"/>
            <a:ext cx="9646920" cy="31089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F6B7A"/>
              </a:buClr>
              <a:buSzPts val="1250"/>
              <a:buFont typeface="Arial"/>
              <a:buNone/>
            </a:pPr>
            <a:r>
              <a:rPr b="0" i="0" lang="en-US" sz="1250" u="none" cap="none" strike="noStrike">
                <a:solidFill>
                  <a:srgbClr val="5F6B7A"/>
                </a:solidFill>
                <a:latin typeface="Arial"/>
                <a:ea typeface="Arial"/>
                <a:cs typeface="Arial"/>
                <a:sym typeface="Arial"/>
              </a:rPr>
              <a:t>استكشاف أخطاء المختبر الثاني</a:t>
            </a:r>
            <a:endParaRPr b="0" i="0" sz="1250" u="none" cap="none" strike="noStrike">
              <a:solidFill>
                <a:schemeClr val="dk1"/>
              </a:solidFill>
              <a:latin typeface="Calibri"/>
              <a:ea typeface="Calibri"/>
              <a:cs typeface="Calibri"/>
              <a:sym typeface="Calibri"/>
            </a:endParaRPr>
          </a:p>
        </p:txBody>
      </p:sp>
      <p:pic>
        <p:nvPicPr>
          <p:cNvPr descr="/sessions/blissful-determined-ritchie/build/assets/sdaia_logo.png" id="1272" name="Google Shape;1272;p43"/>
          <p:cNvPicPr preferRelativeResize="0"/>
          <p:nvPr/>
        </p:nvPicPr>
        <p:blipFill rotWithShape="1">
          <a:blip r:embed="rId3">
            <a:alphaModFix/>
          </a:blip>
          <a:srcRect b="0" l="0" r="0" t="0"/>
          <a:stretch/>
        </p:blipFill>
        <p:spPr>
          <a:xfrm>
            <a:off x="10625328" y="310896"/>
            <a:ext cx="1078992" cy="264111"/>
          </a:xfrm>
          <a:prstGeom prst="rect">
            <a:avLst/>
          </a:prstGeom>
          <a:noFill/>
          <a:ln>
            <a:noFill/>
          </a:ln>
        </p:spPr>
      </p:pic>
      <p:sp>
        <p:nvSpPr>
          <p:cNvPr id="1273" name="Google Shape;1273;p43"/>
          <p:cNvSpPr/>
          <p:nvPr/>
        </p:nvSpPr>
        <p:spPr>
          <a:xfrm>
            <a:off x="502920" y="6528816"/>
            <a:ext cx="8686800"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A79D"/>
              </a:buClr>
              <a:buSzPts val="800"/>
              <a:buFont typeface="Calibri"/>
              <a:buNone/>
            </a:pPr>
            <a:r>
              <a:rPr b="1" i="0" lang="en-US" sz="800" u="none" cap="none" strike="noStrike">
                <a:solidFill>
                  <a:srgbClr val="00A79D"/>
                </a:solidFill>
                <a:latin typeface="Calibri"/>
                <a:ea typeface="Calibri"/>
                <a:cs typeface="Calibri"/>
                <a:sym typeface="Calibri"/>
              </a:rPr>
              <a:t>MODULE 2 · LAB   </a:t>
            </a:r>
            <a:r>
              <a:rPr b="0" i="0" lang="en-US" sz="800" u="none" cap="none" strike="noStrike">
                <a:solidFill>
                  <a:srgbClr val="8A96A6"/>
                </a:solidFill>
                <a:latin typeface="Calibri"/>
                <a:ea typeface="Calibri"/>
                <a:cs typeface="Calibri"/>
                <a:sym typeface="Calibri"/>
              </a:rPr>
              <a:t>SDA-AIE-212 · Computer Vision Systems Development</a:t>
            </a:r>
            <a:endParaRPr b="0" i="0" sz="800" u="none" cap="none" strike="noStrike">
              <a:solidFill>
                <a:schemeClr val="dk1"/>
              </a:solidFill>
              <a:latin typeface="Calibri"/>
              <a:ea typeface="Calibri"/>
              <a:cs typeface="Calibri"/>
              <a:sym typeface="Calibri"/>
            </a:endParaRPr>
          </a:p>
        </p:txBody>
      </p:sp>
      <p:sp>
        <p:nvSpPr>
          <p:cNvPr id="1274" name="Google Shape;1274;p43"/>
          <p:cNvSpPr/>
          <p:nvPr/>
        </p:nvSpPr>
        <p:spPr>
          <a:xfrm>
            <a:off x="11292840" y="6528816"/>
            <a:ext cx="411480" cy="219456"/>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8A96A6"/>
              </a:buClr>
              <a:buSzPts val="900"/>
              <a:buFont typeface="Calibri"/>
              <a:buNone/>
            </a:pPr>
            <a:r>
              <a:rPr b="0" i="0" lang="en-US" sz="900" u="none" cap="none" strike="noStrike">
                <a:solidFill>
                  <a:srgbClr val="8A96A6"/>
                </a:solidFill>
                <a:latin typeface="Calibri"/>
                <a:ea typeface="Calibri"/>
                <a:cs typeface="Calibri"/>
                <a:sym typeface="Calibri"/>
              </a:rPr>
              <a:t>43</a:t>
            </a:r>
            <a:endParaRPr b="0" i="0" sz="900" u="none" cap="none" strike="noStrike">
              <a:solidFill>
                <a:schemeClr val="dk1"/>
              </a:solidFill>
              <a:latin typeface="Calibri"/>
              <a:ea typeface="Calibri"/>
              <a:cs typeface="Calibri"/>
              <a:sym typeface="Calibri"/>
            </a:endParaRPr>
          </a:p>
        </p:txBody>
      </p:sp>
      <p:graphicFrame>
        <p:nvGraphicFramePr>
          <p:cNvPr id="1275" name="Google Shape;1275;p43"/>
          <p:cNvGraphicFramePr/>
          <p:nvPr/>
        </p:nvGraphicFramePr>
        <p:xfrm>
          <a:off x="502920" y="1389888"/>
          <a:ext cx="3000000" cy="3000000"/>
        </p:xfrm>
        <a:graphic>
          <a:graphicData uri="http://schemas.openxmlformats.org/drawingml/2006/table">
            <a:tbl>
              <a:tblPr>
                <a:noFill/>
                <a:tableStyleId>{F80342BA-3033-44D6-9F91-622DC7A4C435}</a:tableStyleId>
              </a:tblPr>
              <a:tblGrid>
                <a:gridCol w="3347650"/>
                <a:gridCol w="3988275"/>
                <a:gridCol w="3849925"/>
              </a:tblGrid>
              <a:tr h="713225">
                <a:tc>
                  <a:txBody>
                    <a:bodyPr/>
                    <a:lstStyle/>
                    <a:p>
                      <a:pPr indent="0" lvl="0" marL="0" marR="0" rtl="0" algn="l">
                        <a:spcBef>
                          <a:spcPts val="0"/>
                        </a:spcBef>
                        <a:spcAft>
                          <a:spcPts val="0"/>
                        </a:spcAft>
                        <a:buClr>
                          <a:srgbClr val="FFFFFF"/>
                        </a:buClr>
                        <a:buSzPts val="1150"/>
                        <a:buFont typeface="Calibri"/>
                        <a:buNone/>
                      </a:pPr>
                      <a:r>
                        <a:rPr b="1" lang="en-US" sz="1150" u="none" cap="none" strike="noStrike">
                          <a:solidFill>
                            <a:srgbClr val="FFFFFF"/>
                          </a:solidFill>
                          <a:latin typeface="Calibri"/>
                          <a:ea typeface="Calibri"/>
                          <a:cs typeface="Calibri"/>
                          <a:sym typeface="Calibri"/>
                        </a:rPr>
                        <a:t>Symptom</a:t>
                      </a:r>
                      <a:endParaRPr sz="1150" u="none" cap="none" strike="noStrike">
                        <a:latin typeface="Calibri"/>
                        <a:ea typeface="Calibri"/>
                        <a:cs typeface="Calibri"/>
                        <a:sym typeface="Calibri"/>
                      </a:endParaRPr>
                    </a:p>
                  </a:txBody>
                  <a:tcPr marT="64000" marB="64000" marR="64000" marL="64000" anchor="ctr">
                    <a:lnL cap="flat" cmpd="sng" w="9525">
                      <a:solidFill>
                        <a:srgbClr val="D9E2EA"/>
                      </a:solidFill>
                      <a:prstDash val="solid"/>
                      <a:round/>
                      <a:headEnd len="sm" w="sm" type="none"/>
                      <a:tailEnd len="sm" w="sm" type="none"/>
                    </a:lnL>
                    <a:lnR cap="flat" cmpd="sng" w="9525">
                      <a:solidFill>
                        <a:srgbClr val="D9E2EA"/>
                      </a:solidFill>
                      <a:prstDash val="solid"/>
                      <a:round/>
                      <a:headEnd len="sm" w="sm" type="none"/>
                      <a:tailEnd len="sm" w="sm" type="none"/>
                    </a:lnR>
                    <a:lnT cap="flat" cmpd="sng" w="9525">
                      <a:solidFill>
                        <a:srgbClr val="D9E2EA"/>
                      </a:solidFill>
                      <a:prstDash val="solid"/>
                      <a:round/>
                      <a:headEnd len="sm" w="sm" type="none"/>
                      <a:tailEnd len="sm" w="sm" type="none"/>
                    </a:lnT>
                    <a:lnB cap="flat" cmpd="sng" w="9525">
                      <a:solidFill>
                        <a:srgbClr val="D9E2EA"/>
                      </a:solidFill>
                      <a:prstDash val="solid"/>
                      <a:round/>
                      <a:headEnd len="sm" w="sm" type="none"/>
                      <a:tailEnd len="sm" w="sm" type="none"/>
                    </a:lnB>
                    <a:solidFill>
                      <a:srgbClr val="1D2A5C"/>
                    </a:solidFill>
                  </a:tcPr>
                </a:tc>
                <a:tc>
                  <a:txBody>
                    <a:bodyPr/>
                    <a:lstStyle/>
                    <a:p>
                      <a:pPr indent="0" lvl="0" marL="0" marR="0" rtl="0" algn="l">
                        <a:spcBef>
                          <a:spcPts val="0"/>
                        </a:spcBef>
                        <a:spcAft>
                          <a:spcPts val="0"/>
                        </a:spcAft>
                        <a:buClr>
                          <a:srgbClr val="FFFFFF"/>
                        </a:buClr>
                        <a:buSzPts val="1150"/>
                        <a:buFont typeface="Calibri"/>
                        <a:buNone/>
                      </a:pPr>
                      <a:r>
                        <a:rPr b="1" lang="en-US" sz="1150" u="none" cap="none" strike="noStrike">
                          <a:solidFill>
                            <a:srgbClr val="FFFFFF"/>
                          </a:solidFill>
                          <a:latin typeface="Calibri"/>
                          <a:ea typeface="Calibri"/>
                          <a:cs typeface="Calibri"/>
                          <a:sym typeface="Calibri"/>
                        </a:rPr>
                        <a:t>Cause</a:t>
                      </a:r>
                      <a:endParaRPr sz="1150" u="none" cap="none" strike="noStrike">
                        <a:latin typeface="Calibri"/>
                        <a:ea typeface="Calibri"/>
                        <a:cs typeface="Calibri"/>
                        <a:sym typeface="Calibri"/>
                      </a:endParaRPr>
                    </a:p>
                  </a:txBody>
                  <a:tcPr marT="64000" marB="64000" marR="64000" marL="64000" anchor="ctr">
                    <a:lnL cap="flat" cmpd="sng" w="9525">
                      <a:solidFill>
                        <a:srgbClr val="D9E2EA"/>
                      </a:solidFill>
                      <a:prstDash val="solid"/>
                      <a:round/>
                      <a:headEnd len="sm" w="sm" type="none"/>
                      <a:tailEnd len="sm" w="sm" type="none"/>
                    </a:lnL>
                    <a:lnR cap="flat" cmpd="sng" w="9525">
                      <a:solidFill>
                        <a:srgbClr val="D9E2EA"/>
                      </a:solidFill>
                      <a:prstDash val="solid"/>
                      <a:round/>
                      <a:headEnd len="sm" w="sm" type="none"/>
                      <a:tailEnd len="sm" w="sm" type="none"/>
                    </a:lnR>
                    <a:lnT cap="flat" cmpd="sng" w="9525">
                      <a:solidFill>
                        <a:srgbClr val="D9E2EA"/>
                      </a:solidFill>
                      <a:prstDash val="solid"/>
                      <a:round/>
                      <a:headEnd len="sm" w="sm" type="none"/>
                      <a:tailEnd len="sm" w="sm" type="none"/>
                    </a:lnT>
                    <a:lnB cap="flat" cmpd="sng" w="9525">
                      <a:solidFill>
                        <a:srgbClr val="D9E2EA"/>
                      </a:solidFill>
                      <a:prstDash val="solid"/>
                      <a:round/>
                      <a:headEnd len="sm" w="sm" type="none"/>
                      <a:tailEnd len="sm" w="sm" type="none"/>
                    </a:lnB>
                    <a:solidFill>
                      <a:srgbClr val="1D2A5C"/>
                    </a:solidFill>
                  </a:tcPr>
                </a:tc>
                <a:tc>
                  <a:txBody>
                    <a:bodyPr/>
                    <a:lstStyle/>
                    <a:p>
                      <a:pPr indent="0" lvl="0" marL="0" marR="0" rtl="0" algn="l">
                        <a:spcBef>
                          <a:spcPts val="0"/>
                        </a:spcBef>
                        <a:spcAft>
                          <a:spcPts val="0"/>
                        </a:spcAft>
                        <a:buClr>
                          <a:srgbClr val="FFFFFF"/>
                        </a:buClr>
                        <a:buSzPts val="1150"/>
                        <a:buFont typeface="Calibri"/>
                        <a:buNone/>
                      </a:pPr>
                      <a:r>
                        <a:rPr b="1" lang="en-US" sz="1150" u="none" cap="none" strike="noStrike">
                          <a:solidFill>
                            <a:srgbClr val="FFFFFF"/>
                          </a:solidFill>
                          <a:latin typeface="Calibri"/>
                          <a:ea typeface="Calibri"/>
                          <a:cs typeface="Calibri"/>
                          <a:sym typeface="Calibri"/>
                        </a:rPr>
                        <a:t>Fix</a:t>
                      </a:r>
                      <a:endParaRPr sz="1150" u="none" cap="none" strike="noStrike">
                        <a:latin typeface="Calibri"/>
                        <a:ea typeface="Calibri"/>
                        <a:cs typeface="Calibri"/>
                        <a:sym typeface="Calibri"/>
                      </a:endParaRPr>
                    </a:p>
                  </a:txBody>
                  <a:tcPr marT="64000" marB="64000" marR="64000" marL="64000" anchor="ctr">
                    <a:lnL cap="flat" cmpd="sng" w="9525">
                      <a:solidFill>
                        <a:srgbClr val="D9E2EA"/>
                      </a:solidFill>
                      <a:prstDash val="solid"/>
                      <a:round/>
                      <a:headEnd len="sm" w="sm" type="none"/>
                      <a:tailEnd len="sm" w="sm" type="none"/>
                    </a:lnL>
                    <a:lnR cap="flat" cmpd="sng" w="9525">
                      <a:solidFill>
                        <a:srgbClr val="D9E2EA"/>
                      </a:solidFill>
                      <a:prstDash val="solid"/>
                      <a:round/>
                      <a:headEnd len="sm" w="sm" type="none"/>
                      <a:tailEnd len="sm" w="sm" type="none"/>
                    </a:lnR>
                    <a:lnT cap="flat" cmpd="sng" w="9525">
                      <a:solidFill>
                        <a:srgbClr val="D9E2EA"/>
                      </a:solidFill>
                      <a:prstDash val="solid"/>
                      <a:round/>
                      <a:headEnd len="sm" w="sm" type="none"/>
                      <a:tailEnd len="sm" w="sm" type="none"/>
                    </a:lnT>
                    <a:lnB cap="flat" cmpd="sng" w="9525">
                      <a:solidFill>
                        <a:srgbClr val="D9E2EA"/>
                      </a:solidFill>
                      <a:prstDash val="solid"/>
                      <a:round/>
                      <a:headEnd len="sm" w="sm" type="none"/>
                      <a:tailEnd len="sm" w="sm" type="none"/>
                    </a:lnB>
                    <a:solidFill>
                      <a:srgbClr val="1D2A5C"/>
                    </a:solidFill>
                  </a:tcPr>
                </a:tc>
              </a:tr>
              <a:tr h="713225">
                <a:tc>
                  <a:txBody>
                    <a:bodyPr/>
                    <a:lstStyle/>
                    <a:p>
                      <a:pPr indent="0" lvl="0" marL="0" marR="0" rtl="0" algn="l">
                        <a:spcBef>
                          <a:spcPts val="0"/>
                        </a:spcBef>
                        <a:spcAft>
                          <a:spcPts val="0"/>
                        </a:spcAft>
                        <a:buClr>
                          <a:srgbClr val="1D2A5C"/>
                        </a:buClr>
                        <a:buSzPts val="1150"/>
                        <a:buFont typeface="Calibri"/>
                        <a:buNone/>
                      </a:pPr>
                      <a:r>
                        <a:rPr b="1" lang="en-US" sz="1150" u="none" cap="none" strike="noStrike">
                          <a:solidFill>
                            <a:srgbClr val="1D2A5C"/>
                          </a:solidFill>
                          <a:latin typeface="Calibri"/>
                          <a:ea typeface="Calibri"/>
                          <a:cs typeface="Calibri"/>
                          <a:sym typeface="Calibri"/>
                        </a:rPr>
                        <a:t>CUDA OOM in Stage 2</a:t>
                      </a:r>
                      <a:endParaRPr sz="1150" u="none" cap="none" strike="noStrike">
                        <a:latin typeface="Calibri"/>
                        <a:ea typeface="Calibri"/>
                        <a:cs typeface="Calibri"/>
                        <a:sym typeface="Calibri"/>
                      </a:endParaRPr>
                    </a:p>
                  </a:txBody>
                  <a:tcPr marT="64000" marB="64000" marR="64000" marL="64000" anchor="ctr">
                    <a:lnL cap="flat" cmpd="sng" w="9525">
                      <a:solidFill>
                        <a:srgbClr val="D9E2EA"/>
                      </a:solidFill>
                      <a:prstDash val="solid"/>
                      <a:round/>
                      <a:headEnd len="sm" w="sm" type="none"/>
                      <a:tailEnd len="sm" w="sm" type="none"/>
                    </a:lnL>
                    <a:lnR cap="flat" cmpd="sng" w="9525">
                      <a:solidFill>
                        <a:srgbClr val="D9E2EA"/>
                      </a:solidFill>
                      <a:prstDash val="solid"/>
                      <a:round/>
                      <a:headEnd len="sm" w="sm" type="none"/>
                      <a:tailEnd len="sm" w="sm" type="none"/>
                    </a:lnR>
                    <a:lnT cap="flat" cmpd="sng" w="9525">
                      <a:solidFill>
                        <a:srgbClr val="D9E2EA"/>
                      </a:solidFill>
                      <a:prstDash val="solid"/>
                      <a:round/>
                      <a:headEnd len="sm" w="sm" type="none"/>
                      <a:tailEnd len="sm" w="sm" type="none"/>
                    </a:lnT>
                    <a:lnB cap="flat" cmpd="sng" w="9525">
                      <a:solidFill>
                        <a:srgbClr val="D9E2EA"/>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23293B"/>
                        </a:buClr>
                        <a:buSzPts val="1150"/>
                        <a:buFont typeface="Calibri"/>
                        <a:buNone/>
                      </a:pPr>
                      <a:r>
                        <a:rPr lang="en-US" sz="1150" u="none" cap="none" strike="noStrike">
                          <a:solidFill>
                            <a:srgbClr val="23293B"/>
                          </a:solidFill>
                          <a:latin typeface="Calibri"/>
                          <a:ea typeface="Calibri"/>
                          <a:cs typeface="Calibri"/>
                          <a:sym typeface="Calibri"/>
                        </a:rPr>
                        <a:t>Batch 64 too large with gradients everywhere</a:t>
                      </a:r>
                      <a:endParaRPr sz="1150" u="none" cap="none" strike="noStrike">
                        <a:latin typeface="Calibri"/>
                        <a:ea typeface="Calibri"/>
                        <a:cs typeface="Calibri"/>
                        <a:sym typeface="Calibri"/>
                      </a:endParaRPr>
                    </a:p>
                  </a:txBody>
                  <a:tcPr marT="64000" marB="64000" marR="64000" marL="64000" anchor="ctr">
                    <a:lnL cap="flat" cmpd="sng" w="9525">
                      <a:solidFill>
                        <a:srgbClr val="D9E2EA"/>
                      </a:solidFill>
                      <a:prstDash val="solid"/>
                      <a:round/>
                      <a:headEnd len="sm" w="sm" type="none"/>
                      <a:tailEnd len="sm" w="sm" type="none"/>
                    </a:lnL>
                    <a:lnR cap="flat" cmpd="sng" w="9525">
                      <a:solidFill>
                        <a:srgbClr val="D9E2EA"/>
                      </a:solidFill>
                      <a:prstDash val="solid"/>
                      <a:round/>
                      <a:headEnd len="sm" w="sm" type="none"/>
                      <a:tailEnd len="sm" w="sm" type="none"/>
                    </a:lnR>
                    <a:lnT cap="flat" cmpd="sng" w="9525">
                      <a:solidFill>
                        <a:srgbClr val="D9E2EA"/>
                      </a:solidFill>
                      <a:prstDash val="solid"/>
                      <a:round/>
                      <a:headEnd len="sm" w="sm" type="none"/>
                      <a:tailEnd len="sm" w="sm" type="none"/>
                    </a:lnT>
                    <a:lnB cap="flat" cmpd="sng" w="9525">
                      <a:solidFill>
                        <a:srgbClr val="D9E2EA"/>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23293B"/>
                        </a:buClr>
                        <a:buSzPts val="1150"/>
                        <a:buFont typeface="Calibri"/>
                        <a:buNone/>
                      </a:pPr>
                      <a:r>
                        <a:rPr lang="en-US" sz="1150" u="none" cap="none" strike="noStrike">
                          <a:solidFill>
                            <a:srgbClr val="23293B"/>
                          </a:solidFill>
                          <a:latin typeface="Calibri"/>
                          <a:ea typeface="Calibri"/>
                          <a:cs typeface="Calibri"/>
                          <a:sym typeface="Calibri"/>
                        </a:rPr>
                        <a:t>Halve batch, keep AMP; ViT may need bs=16</a:t>
                      </a:r>
                      <a:endParaRPr sz="1150" u="none" cap="none" strike="noStrike">
                        <a:latin typeface="Calibri"/>
                        <a:ea typeface="Calibri"/>
                        <a:cs typeface="Calibri"/>
                        <a:sym typeface="Calibri"/>
                      </a:endParaRPr>
                    </a:p>
                  </a:txBody>
                  <a:tcPr marT="64000" marB="64000" marR="64000" marL="64000" anchor="ctr">
                    <a:lnL cap="flat" cmpd="sng" w="9525">
                      <a:solidFill>
                        <a:srgbClr val="D9E2EA"/>
                      </a:solidFill>
                      <a:prstDash val="solid"/>
                      <a:round/>
                      <a:headEnd len="sm" w="sm" type="none"/>
                      <a:tailEnd len="sm" w="sm" type="none"/>
                    </a:lnL>
                    <a:lnR cap="flat" cmpd="sng" w="9525">
                      <a:solidFill>
                        <a:srgbClr val="D9E2EA"/>
                      </a:solidFill>
                      <a:prstDash val="solid"/>
                      <a:round/>
                      <a:headEnd len="sm" w="sm" type="none"/>
                      <a:tailEnd len="sm" w="sm" type="none"/>
                    </a:lnR>
                    <a:lnT cap="flat" cmpd="sng" w="9525">
                      <a:solidFill>
                        <a:srgbClr val="D9E2EA"/>
                      </a:solidFill>
                      <a:prstDash val="solid"/>
                      <a:round/>
                      <a:headEnd len="sm" w="sm" type="none"/>
                      <a:tailEnd len="sm" w="sm" type="none"/>
                    </a:lnT>
                    <a:lnB cap="flat" cmpd="sng" w="9525">
                      <a:solidFill>
                        <a:srgbClr val="D9E2EA"/>
                      </a:solidFill>
                      <a:prstDash val="solid"/>
                      <a:round/>
                      <a:headEnd len="sm" w="sm" type="none"/>
                      <a:tailEnd len="sm" w="sm" type="none"/>
                    </a:lnB>
                    <a:solidFill>
                      <a:srgbClr val="FFFFFF"/>
                    </a:solidFill>
                  </a:tcPr>
                </a:tc>
              </a:tr>
              <a:tr h="713225">
                <a:tc>
                  <a:txBody>
                    <a:bodyPr/>
                    <a:lstStyle/>
                    <a:p>
                      <a:pPr indent="0" lvl="0" marL="0" marR="0" rtl="0" algn="l">
                        <a:spcBef>
                          <a:spcPts val="0"/>
                        </a:spcBef>
                        <a:spcAft>
                          <a:spcPts val="0"/>
                        </a:spcAft>
                        <a:buClr>
                          <a:srgbClr val="1D2A5C"/>
                        </a:buClr>
                        <a:buSzPts val="1150"/>
                        <a:buFont typeface="Calibri"/>
                        <a:buNone/>
                      </a:pPr>
                      <a:r>
                        <a:rPr b="1" lang="en-US" sz="1150" u="none" cap="none" strike="noStrike">
                          <a:solidFill>
                            <a:srgbClr val="1D2A5C"/>
                          </a:solidFill>
                          <a:latin typeface="Calibri"/>
                          <a:ea typeface="Calibri"/>
                          <a:cs typeface="Calibri"/>
                          <a:sym typeface="Calibri"/>
                        </a:rPr>
                        <a:t>Val F1 = 0 on reject class</a:t>
                      </a:r>
                      <a:endParaRPr sz="1150" u="none" cap="none" strike="noStrike">
                        <a:latin typeface="Calibri"/>
                        <a:ea typeface="Calibri"/>
                        <a:cs typeface="Calibri"/>
                        <a:sym typeface="Calibri"/>
                      </a:endParaRPr>
                    </a:p>
                  </a:txBody>
                  <a:tcPr marT="64000" marB="64000" marR="64000" marL="64000" anchor="ctr">
                    <a:lnL cap="flat" cmpd="sng" w="9525">
                      <a:solidFill>
                        <a:srgbClr val="D9E2EA"/>
                      </a:solidFill>
                      <a:prstDash val="solid"/>
                      <a:round/>
                      <a:headEnd len="sm" w="sm" type="none"/>
                      <a:tailEnd len="sm" w="sm" type="none"/>
                    </a:lnL>
                    <a:lnR cap="flat" cmpd="sng" w="9525">
                      <a:solidFill>
                        <a:srgbClr val="D9E2EA"/>
                      </a:solidFill>
                      <a:prstDash val="solid"/>
                      <a:round/>
                      <a:headEnd len="sm" w="sm" type="none"/>
                      <a:tailEnd len="sm" w="sm" type="none"/>
                    </a:lnR>
                    <a:lnT cap="flat" cmpd="sng" w="9525">
                      <a:solidFill>
                        <a:srgbClr val="D9E2EA"/>
                      </a:solidFill>
                      <a:prstDash val="solid"/>
                      <a:round/>
                      <a:headEnd len="sm" w="sm" type="none"/>
                      <a:tailEnd len="sm" w="sm" type="none"/>
                    </a:lnT>
                    <a:lnB cap="flat" cmpd="sng" w="9525">
                      <a:solidFill>
                        <a:srgbClr val="D9E2EA"/>
                      </a:solidFill>
                      <a:prstDash val="solid"/>
                      <a:round/>
                      <a:headEnd len="sm" w="sm" type="none"/>
                      <a:tailEnd len="sm" w="sm" type="none"/>
                    </a:lnB>
                    <a:solidFill>
                      <a:srgbClr val="F2F6F9"/>
                    </a:solidFill>
                  </a:tcPr>
                </a:tc>
                <a:tc>
                  <a:txBody>
                    <a:bodyPr/>
                    <a:lstStyle/>
                    <a:p>
                      <a:pPr indent="0" lvl="0" marL="0" marR="0" rtl="0" algn="l">
                        <a:spcBef>
                          <a:spcPts val="0"/>
                        </a:spcBef>
                        <a:spcAft>
                          <a:spcPts val="0"/>
                        </a:spcAft>
                        <a:buClr>
                          <a:srgbClr val="23293B"/>
                        </a:buClr>
                        <a:buSzPts val="1150"/>
                        <a:buFont typeface="Calibri"/>
                        <a:buNone/>
                      </a:pPr>
                      <a:r>
                        <a:rPr lang="en-US" sz="1150" u="none" cap="none" strike="noStrike">
                          <a:solidFill>
                            <a:srgbClr val="23293B"/>
                          </a:solidFill>
                          <a:latin typeface="Calibri"/>
                          <a:ea typeface="Calibri"/>
                          <a:cs typeface="Calibri"/>
                          <a:sym typeface="Calibri"/>
                        </a:rPr>
                        <a:t>Weights tensor omitted or wrong order</a:t>
                      </a:r>
                      <a:endParaRPr sz="1150" u="none" cap="none" strike="noStrike">
                        <a:latin typeface="Calibri"/>
                        <a:ea typeface="Calibri"/>
                        <a:cs typeface="Calibri"/>
                        <a:sym typeface="Calibri"/>
                      </a:endParaRPr>
                    </a:p>
                  </a:txBody>
                  <a:tcPr marT="64000" marB="64000" marR="64000" marL="64000" anchor="ctr">
                    <a:lnL cap="flat" cmpd="sng" w="9525">
                      <a:solidFill>
                        <a:srgbClr val="D9E2EA"/>
                      </a:solidFill>
                      <a:prstDash val="solid"/>
                      <a:round/>
                      <a:headEnd len="sm" w="sm" type="none"/>
                      <a:tailEnd len="sm" w="sm" type="none"/>
                    </a:lnL>
                    <a:lnR cap="flat" cmpd="sng" w="9525">
                      <a:solidFill>
                        <a:srgbClr val="D9E2EA"/>
                      </a:solidFill>
                      <a:prstDash val="solid"/>
                      <a:round/>
                      <a:headEnd len="sm" w="sm" type="none"/>
                      <a:tailEnd len="sm" w="sm" type="none"/>
                    </a:lnR>
                    <a:lnT cap="flat" cmpd="sng" w="9525">
                      <a:solidFill>
                        <a:srgbClr val="D9E2EA"/>
                      </a:solidFill>
                      <a:prstDash val="solid"/>
                      <a:round/>
                      <a:headEnd len="sm" w="sm" type="none"/>
                      <a:tailEnd len="sm" w="sm" type="none"/>
                    </a:lnT>
                    <a:lnB cap="flat" cmpd="sng" w="9525">
                      <a:solidFill>
                        <a:srgbClr val="D9E2EA"/>
                      </a:solidFill>
                      <a:prstDash val="solid"/>
                      <a:round/>
                      <a:headEnd len="sm" w="sm" type="none"/>
                      <a:tailEnd len="sm" w="sm" type="none"/>
                    </a:lnB>
                    <a:solidFill>
                      <a:srgbClr val="F2F6F9"/>
                    </a:solidFill>
                  </a:tcPr>
                </a:tc>
                <a:tc>
                  <a:txBody>
                    <a:bodyPr/>
                    <a:lstStyle/>
                    <a:p>
                      <a:pPr indent="0" lvl="0" marL="0" marR="0" rtl="0" algn="l">
                        <a:spcBef>
                          <a:spcPts val="0"/>
                        </a:spcBef>
                        <a:spcAft>
                          <a:spcPts val="0"/>
                        </a:spcAft>
                        <a:buClr>
                          <a:srgbClr val="23293B"/>
                        </a:buClr>
                        <a:buSzPts val="1150"/>
                        <a:buFont typeface="Calibri"/>
                        <a:buNone/>
                      </a:pPr>
                      <a:r>
                        <a:rPr lang="en-US" sz="1150" u="none" cap="none" strike="noStrike">
                          <a:solidFill>
                            <a:srgbClr val="23293B"/>
                          </a:solidFill>
                          <a:latin typeface="Calibri"/>
                          <a:ea typeface="Calibri"/>
                          <a:cs typeface="Calibri"/>
                          <a:sym typeface="Calibri"/>
                        </a:rPr>
                        <a:t>Pass class_weights; verify GRADES order</a:t>
                      </a:r>
                      <a:endParaRPr sz="1150" u="none" cap="none" strike="noStrike">
                        <a:latin typeface="Calibri"/>
                        <a:ea typeface="Calibri"/>
                        <a:cs typeface="Calibri"/>
                        <a:sym typeface="Calibri"/>
                      </a:endParaRPr>
                    </a:p>
                  </a:txBody>
                  <a:tcPr marT="64000" marB="64000" marR="64000" marL="64000" anchor="ctr">
                    <a:lnL cap="flat" cmpd="sng" w="9525">
                      <a:solidFill>
                        <a:srgbClr val="D9E2EA"/>
                      </a:solidFill>
                      <a:prstDash val="solid"/>
                      <a:round/>
                      <a:headEnd len="sm" w="sm" type="none"/>
                      <a:tailEnd len="sm" w="sm" type="none"/>
                    </a:lnL>
                    <a:lnR cap="flat" cmpd="sng" w="9525">
                      <a:solidFill>
                        <a:srgbClr val="D9E2EA"/>
                      </a:solidFill>
                      <a:prstDash val="solid"/>
                      <a:round/>
                      <a:headEnd len="sm" w="sm" type="none"/>
                      <a:tailEnd len="sm" w="sm" type="none"/>
                    </a:lnR>
                    <a:lnT cap="flat" cmpd="sng" w="9525">
                      <a:solidFill>
                        <a:srgbClr val="D9E2EA"/>
                      </a:solidFill>
                      <a:prstDash val="solid"/>
                      <a:round/>
                      <a:headEnd len="sm" w="sm" type="none"/>
                      <a:tailEnd len="sm" w="sm" type="none"/>
                    </a:lnT>
                    <a:lnB cap="flat" cmpd="sng" w="9525">
                      <a:solidFill>
                        <a:srgbClr val="D9E2EA"/>
                      </a:solidFill>
                      <a:prstDash val="solid"/>
                      <a:round/>
                      <a:headEnd len="sm" w="sm" type="none"/>
                      <a:tailEnd len="sm" w="sm" type="none"/>
                    </a:lnB>
                    <a:solidFill>
                      <a:srgbClr val="F2F6F9"/>
                    </a:solidFill>
                  </a:tcPr>
                </a:tc>
              </a:tr>
              <a:tr h="713225">
                <a:tc>
                  <a:txBody>
                    <a:bodyPr/>
                    <a:lstStyle/>
                    <a:p>
                      <a:pPr indent="0" lvl="0" marL="0" marR="0" rtl="0" algn="l">
                        <a:spcBef>
                          <a:spcPts val="0"/>
                        </a:spcBef>
                        <a:spcAft>
                          <a:spcPts val="0"/>
                        </a:spcAft>
                        <a:buClr>
                          <a:srgbClr val="1D2A5C"/>
                        </a:buClr>
                        <a:buSzPts val="1150"/>
                        <a:buFont typeface="Calibri"/>
                        <a:buNone/>
                      </a:pPr>
                      <a:r>
                        <a:rPr b="1" lang="en-US" sz="1150" u="none" cap="none" strike="noStrike">
                          <a:solidFill>
                            <a:srgbClr val="1D2A5C"/>
                          </a:solidFill>
                          <a:latin typeface="Calibri"/>
                          <a:ea typeface="Calibri"/>
                          <a:cs typeface="Calibri"/>
                          <a:sym typeface="Calibri"/>
                        </a:rPr>
                        <a:t>Identical eval runs differ</a:t>
                      </a:r>
                      <a:endParaRPr sz="1150" u="none" cap="none" strike="noStrike">
                        <a:latin typeface="Calibri"/>
                        <a:ea typeface="Calibri"/>
                        <a:cs typeface="Calibri"/>
                        <a:sym typeface="Calibri"/>
                      </a:endParaRPr>
                    </a:p>
                  </a:txBody>
                  <a:tcPr marT="64000" marB="64000" marR="64000" marL="64000" anchor="ctr">
                    <a:lnL cap="flat" cmpd="sng" w="9525">
                      <a:solidFill>
                        <a:srgbClr val="D9E2EA"/>
                      </a:solidFill>
                      <a:prstDash val="solid"/>
                      <a:round/>
                      <a:headEnd len="sm" w="sm" type="none"/>
                      <a:tailEnd len="sm" w="sm" type="none"/>
                    </a:lnL>
                    <a:lnR cap="flat" cmpd="sng" w="9525">
                      <a:solidFill>
                        <a:srgbClr val="D9E2EA"/>
                      </a:solidFill>
                      <a:prstDash val="solid"/>
                      <a:round/>
                      <a:headEnd len="sm" w="sm" type="none"/>
                      <a:tailEnd len="sm" w="sm" type="none"/>
                    </a:lnR>
                    <a:lnT cap="flat" cmpd="sng" w="9525">
                      <a:solidFill>
                        <a:srgbClr val="D9E2EA"/>
                      </a:solidFill>
                      <a:prstDash val="solid"/>
                      <a:round/>
                      <a:headEnd len="sm" w="sm" type="none"/>
                      <a:tailEnd len="sm" w="sm" type="none"/>
                    </a:lnT>
                    <a:lnB cap="flat" cmpd="sng" w="9525">
                      <a:solidFill>
                        <a:srgbClr val="D9E2EA"/>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23293B"/>
                        </a:buClr>
                        <a:buSzPts val="1150"/>
                        <a:buFont typeface="Calibri"/>
                        <a:buNone/>
                      </a:pPr>
                      <a:r>
                        <a:rPr lang="en-US" sz="1150" u="none" cap="none" strike="noStrike">
                          <a:solidFill>
                            <a:srgbClr val="23293B"/>
                          </a:solidFill>
                          <a:latin typeface="Calibri"/>
                          <a:ea typeface="Calibri"/>
                          <a:cs typeface="Calibri"/>
                          <a:sym typeface="Calibri"/>
                        </a:rPr>
                        <a:t>model.eval() missing or augmented val loader</a:t>
                      </a:r>
                      <a:endParaRPr sz="1150" u="none" cap="none" strike="noStrike">
                        <a:latin typeface="Calibri"/>
                        <a:ea typeface="Calibri"/>
                        <a:cs typeface="Calibri"/>
                        <a:sym typeface="Calibri"/>
                      </a:endParaRPr>
                    </a:p>
                  </a:txBody>
                  <a:tcPr marT="64000" marB="64000" marR="64000" marL="64000" anchor="ctr">
                    <a:lnL cap="flat" cmpd="sng" w="9525">
                      <a:solidFill>
                        <a:srgbClr val="D9E2EA"/>
                      </a:solidFill>
                      <a:prstDash val="solid"/>
                      <a:round/>
                      <a:headEnd len="sm" w="sm" type="none"/>
                      <a:tailEnd len="sm" w="sm" type="none"/>
                    </a:lnL>
                    <a:lnR cap="flat" cmpd="sng" w="9525">
                      <a:solidFill>
                        <a:srgbClr val="D9E2EA"/>
                      </a:solidFill>
                      <a:prstDash val="solid"/>
                      <a:round/>
                      <a:headEnd len="sm" w="sm" type="none"/>
                      <a:tailEnd len="sm" w="sm" type="none"/>
                    </a:lnR>
                    <a:lnT cap="flat" cmpd="sng" w="9525">
                      <a:solidFill>
                        <a:srgbClr val="D9E2EA"/>
                      </a:solidFill>
                      <a:prstDash val="solid"/>
                      <a:round/>
                      <a:headEnd len="sm" w="sm" type="none"/>
                      <a:tailEnd len="sm" w="sm" type="none"/>
                    </a:lnT>
                    <a:lnB cap="flat" cmpd="sng" w="9525">
                      <a:solidFill>
                        <a:srgbClr val="D9E2EA"/>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23293B"/>
                        </a:buClr>
                        <a:buSzPts val="1150"/>
                        <a:buFont typeface="Calibri"/>
                        <a:buNone/>
                      </a:pPr>
                      <a:r>
                        <a:rPr lang="en-US" sz="1150" u="none" cap="none" strike="noStrike">
                          <a:solidFill>
                            <a:srgbClr val="23293B"/>
                          </a:solidFill>
                          <a:latin typeface="Calibri"/>
                          <a:ea typeface="Calibri"/>
                          <a:cs typeface="Calibri"/>
                          <a:sym typeface="Calibri"/>
                        </a:rPr>
                        <a:t>Audit the eval path against M1 rules</a:t>
                      </a:r>
                      <a:endParaRPr sz="1150" u="none" cap="none" strike="noStrike">
                        <a:latin typeface="Calibri"/>
                        <a:ea typeface="Calibri"/>
                        <a:cs typeface="Calibri"/>
                        <a:sym typeface="Calibri"/>
                      </a:endParaRPr>
                    </a:p>
                  </a:txBody>
                  <a:tcPr marT="64000" marB="64000" marR="64000" marL="64000" anchor="ctr">
                    <a:lnL cap="flat" cmpd="sng" w="9525">
                      <a:solidFill>
                        <a:srgbClr val="D9E2EA"/>
                      </a:solidFill>
                      <a:prstDash val="solid"/>
                      <a:round/>
                      <a:headEnd len="sm" w="sm" type="none"/>
                      <a:tailEnd len="sm" w="sm" type="none"/>
                    </a:lnL>
                    <a:lnR cap="flat" cmpd="sng" w="9525">
                      <a:solidFill>
                        <a:srgbClr val="D9E2EA"/>
                      </a:solidFill>
                      <a:prstDash val="solid"/>
                      <a:round/>
                      <a:headEnd len="sm" w="sm" type="none"/>
                      <a:tailEnd len="sm" w="sm" type="none"/>
                    </a:lnR>
                    <a:lnT cap="flat" cmpd="sng" w="9525">
                      <a:solidFill>
                        <a:srgbClr val="D9E2EA"/>
                      </a:solidFill>
                      <a:prstDash val="solid"/>
                      <a:round/>
                      <a:headEnd len="sm" w="sm" type="none"/>
                      <a:tailEnd len="sm" w="sm" type="none"/>
                    </a:lnT>
                    <a:lnB cap="flat" cmpd="sng" w="9525">
                      <a:solidFill>
                        <a:srgbClr val="D9E2EA"/>
                      </a:solidFill>
                      <a:prstDash val="solid"/>
                      <a:round/>
                      <a:headEnd len="sm" w="sm" type="none"/>
                      <a:tailEnd len="sm" w="sm" type="none"/>
                    </a:lnB>
                    <a:solidFill>
                      <a:srgbClr val="FFFFFF"/>
                    </a:solidFill>
                  </a:tcPr>
                </a:tc>
              </a:tr>
              <a:tr h="713225">
                <a:tc>
                  <a:txBody>
                    <a:bodyPr/>
                    <a:lstStyle/>
                    <a:p>
                      <a:pPr indent="0" lvl="0" marL="0" marR="0" rtl="0" algn="l">
                        <a:spcBef>
                          <a:spcPts val="0"/>
                        </a:spcBef>
                        <a:spcAft>
                          <a:spcPts val="0"/>
                        </a:spcAft>
                        <a:buClr>
                          <a:srgbClr val="1D2A5C"/>
                        </a:buClr>
                        <a:buSzPts val="1150"/>
                        <a:buFont typeface="Calibri"/>
                        <a:buNone/>
                      </a:pPr>
                      <a:r>
                        <a:rPr b="1" lang="en-US" sz="1150" u="none" cap="none" strike="noStrike">
                          <a:solidFill>
                            <a:srgbClr val="1D2A5C"/>
                          </a:solidFill>
                          <a:latin typeface="Calibri"/>
                          <a:ea typeface="Calibri"/>
                          <a:cs typeface="Calibri"/>
                          <a:sym typeface="Calibri"/>
                        </a:rPr>
                        <a:t>Loss NaN in first Stage-2 epoch</a:t>
                      </a:r>
                      <a:endParaRPr sz="1150" u="none" cap="none" strike="noStrike">
                        <a:latin typeface="Calibri"/>
                        <a:ea typeface="Calibri"/>
                        <a:cs typeface="Calibri"/>
                        <a:sym typeface="Calibri"/>
                      </a:endParaRPr>
                    </a:p>
                  </a:txBody>
                  <a:tcPr marT="64000" marB="64000" marR="64000" marL="64000" anchor="ctr">
                    <a:lnL cap="flat" cmpd="sng" w="9525">
                      <a:solidFill>
                        <a:srgbClr val="D9E2EA"/>
                      </a:solidFill>
                      <a:prstDash val="solid"/>
                      <a:round/>
                      <a:headEnd len="sm" w="sm" type="none"/>
                      <a:tailEnd len="sm" w="sm" type="none"/>
                    </a:lnL>
                    <a:lnR cap="flat" cmpd="sng" w="9525">
                      <a:solidFill>
                        <a:srgbClr val="D9E2EA"/>
                      </a:solidFill>
                      <a:prstDash val="solid"/>
                      <a:round/>
                      <a:headEnd len="sm" w="sm" type="none"/>
                      <a:tailEnd len="sm" w="sm" type="none"/>
                    </a:lnR>
                    <a:lnT cap="flat" cmpd="sng" w="9525">
                      <a:solidFill>
                        <a:srgbClr val="D9E2EA"/>
                      </a:solidFill>
                      <a:prstDash val="solid"/>
                      <a:round/>
                      <a:headEnd len="sm" w="sm" type="none"/>
                      <a:tailEnd len="sm" w="sm" type="none"/>
                    </a:lnT>
                    <a:lnB cap="flat" cmpd="sng" w="9525">
                      <a:solidFill>
                        <a:srgbClr val="D9E2EA"/>
                      </a:solidFill>
                      <a:prstDash val="solid"/>
                      <a:round/>
                      <a:headEnd len="sm" w="sm" type="none"/>
                      <a:tailEnd len="sm" w="sm" type="none"/>
                    </a:lnB>
                    <a:solidFill>
                      <a:srgbClr val="F2F6F9"/>
                    </a:solidFill>
                  </a:tcPr>
                </a:tc>
                <a:tc>
                  <a:txBody>
                    <a:bodyPr/>
                    <a:lstStyle/>
                    <a:p>
                      <a:pPr indent="0" lvl="0" marL="0" marR="0" rtl="0" algn="l">
                        <a:spcBef>
                          <a:spcPts val="0"/>
                        </a:spcBef>
                        <a:spcAft>
                          <a:spcPts val="0"/>
                        </a:spcAft>
                        <a:buClr>
                          <a:srgbClr val="23293B"/>
                        </a:buClr>
                        <a:buSzPts val="1150"/>
                        <a:buFont typeface="Calibri"/>
                        <a:buNone/>
                      </a:pPr>
                      <a:r>
                        <a:rPr lang="en-US" sz="1150" u="none" cap="none" strike="noStrike">
                          <a:solidFill>
                            <a:srgbClr val="23293B"/>
                          </a:solidFill>
                          <a:latin typeface="Calibri"/>
                          <a:ea typeface="Calibri"/>
                          <a:cs typeface="Calibri"/>
                          <a:sym typeface="Calibri"/>
                        </a:rPr>
                        <a:t>Backbone LR too high with AMP</a:t>
                      </a:r>
                      <a:endParaRPr sz="1150" u="none" cap="none" strike="noStrike">
                        <a:latin typeface="Calibri"/>
                        <a:ea typeface="Calibri"/>
                        <a:cs typeface="Calibri"/>
                        <a:sym typeface="Calibri"/>
                      </a:endParaRPr>
                    </a:p>
                  </a:txBody>
                  <a:tcPr marT="64000" marB="64000" marR="64000" marL="64000" anchor="ctr">
                    <a:lnL cap="flat" cmpd="sng" w="9525">
                      <a:solidFill>
                        <a:srgbClr val="D9E2EA"/>
                      </a:solidFill>
                      <a:prstDash val="solid"/>
                      <a:round/>
                      <a:headEnd len="sm" w="sm" type="none"/>
                      <a:tailEnd len="sm" w="sm" type="none"/>
                    </a:lnL>
                    <a:lnR cap="flat" cmpd="sng" w="9525">
                      <a:solidFill>
                        <a:srgbClr val="D9E2EA"/>
                      </a:solidFill>
                      <a:prstDash val="solid"/>
                      <a:round/>
                      <a:headEnd len="sm" w="sm" type="none"/>
                      <a:tailEnd len="sm" w="sm" type="none"/>
                    </a:lnR>
                    <a:lnT cap="flat" cmpd="sng" w="9525">
                      <a:solidFill>
                        <a:srgbClr val="D9E2EA"/>
                      </a:solidFill>
                      <a:prstDash val="solid"/>
                      <a:round/>
                      <a:headEnd len="sm" w="sm" type="none"/>
                      <a:tailEnd len="sm" w="sm" type="none"/>
                    </a:lnT>
                    <a:lnB cap="flat" cmpd="sng" w="9525">
                      <a:solidFill>
                        <a:srgbClr val="D9E2EA"/>
                      </a:solidFill>
                      <a:prstDash val="solid"/>
                      <a:round/>
                      <a:headEnd len="sm" w="sm" type="none"/>
                      <a:tailEnd len="sm" w="sm" type="none"/>
                    </a:lnB>
                    <a:solidFill>
                      <a:srgbClr val="F2F6F9"/>
                    </a:solidFill>
                  </a:tcPr>
                </a:tc>
                <a:tc>
                  <a:txBody>
                    <a:bodyPr/>
                    <a:lstStyle/>
                    <a:p>
                      <a:pPr indent="0" lvl="0" marL="0" marR="0" rtl="0" algn="l">
                        <a:spcBef>
                          <a:spcPts val="0"/>
                        </a:spcBef>
                        <a:spcAft>
                          <a:spcPts val="0"/>
                        </a:spcAft>
                        <a:buClr>
                          <a:srgbClr val="23293B"/>
                        </a:buClr>
                        <a:buSzPts val="1150"/>
                        <a:buFont typeface="Calibri"/>
                        <a:buNone/>
                      </a:pPr>
                      <a:r>
                        <a:rPr lang="en-US" sz="1150" u="none" cap="none" strike="noStrike">
                          <a:solidFill>
                            <a:srgbClr val="23293B"/>
                          </a:solidFill>
                          <a:latin typeface="Calibri"/>
                          <a:ea typeface="Calibri"/>
                          <a:cs typeface="Calibri"/>
                          <a:sym typeface="Calibri"/>
                        </a:rPr>
                        <a:t>Backbone 5e-5, add 1 warmup epoch</a:t>
                      </a:r>
                      <a:endParaRPr sz="1150" u="none" cap="none" strike="noStrike">
                        <a:latin typeface="Calibri"/>
                        <a:ea typeface="Calibri"/>
                        <a:cs typeface="Calibri"/>
                        <a:sym typeface="Calibri"/>
                      </a:endParaRPr>
                    </a:p>
                  </a:txBody>
                  <a:tcPr marT="64000" marB="64000" marR="64000" marL="64000" anchor="ctr">
                    <a:lnL cap="flat" cmpd="sng" w="9525">
                      <a:solidFill>
                        <a:srgbClr val="D9E2EA"/>
                      </a:solidFill>
                      <a:prstDash val="solid"/>
                      <a:round/>
                      <a:headEnd len="sm" w="sm" type="none"/>
                      <a:tailEnd len="sm" w="sm" type="none"/>
                    </a:lnL>
                    <a:lnR cap="flat" cmpd="sng" w="9525">
                      <a:solidFill>
                        <a:srgbClr val="D9E2EA"/>
                      </a:solidFill>
                      <a:prstDash val="solid"/>
                      <a:round/>
                      <a:headEnd len="sm" w="sm" type="none"/>
                      <a:tailEnd len="sm" w="sm" type="none"/>
                    </a:lnR>
                    <a:lnT cap="flat" cmpd="sng" w="9525">
                      <a:solidFill>
                        <a:srgbClr val="D9E2EA"/>
                      </a:solidFill>
                      <a:prstDash val="solid"/>
                      <a:round/>
                      <a:headEnd len="sm" w="sm" type="none"/>
                      <a:tailEnd len="sm" w="sm" type="none"/>
                    </a:lnT>
                    <a:lnB cap="flat" cmpd="sng" w="9525">
                      <a:solidFill>
                        <a:srgbClr val="D9E2EA"/>
                      </a:solidFill>
                      <a:prstDash val="solid"/>
                      <a:round/>
                      <a:headEnd len="sm" w="sm" type="none"/>
                      <a:tailEnd len="sm" w="sm" type="none"/>
                    </a:lnB>
                    <a:solidFill>
                      <a:srgbClr val="F2F6F9"/>
                    </a:solidFill>
                  </a:tcPr>
                </a:tc>
              </a:tr>
              <a:tr h="713225">
                <a:tc>
                  <a:txBody>
                    <a:bodyPr/>
                    <a:lstStyle/>
                    <a:p>
                      <a:pPr indent="0" lvl="0" marL="0" marR="0" rtl="0" algn="l">
                        <a:spcBef>
                          <a:spcPts val="0"/>
                        </a:spcBef>
                        <a:spcAft>
                          <a:spcPts val="0"/>
                        </a:spcAft>
                        <a:buClr>
                          <a:srgbClr val="1D2A5C"/>
                        </a:buClr>
                        <a:buSzPts val="1150"/>
                        <a:buFont typeface="Calibri"/>
                        <a:buNone/>
                      </a:pPr>
                      <a:r>
                        <a:rPr b="1" lang="en-US" sz="1150" u="none" cap="none" strike="noStrike">
                          <a:solidFill>
                            <a:srgbClr val="1D2A5C"/>
                          </a:solidFill>
                          <a:latin typeface="Calibri"/>
                          <a:ea typeface="Calibri"/>
                          <a:cs typeface="Calibri"/>
                          <a:sym typeface="Calibri"/>
                        </a:rPr>
                        <a:t>CPU fallback exceeds time box</a:t>
                      </a:r>
                      <a:endParaRPr sz="1150" u="none" cap="none" strike="noStrike">
                        <a:latin typeface="Calibri"/>
                        <a:ea typeface="Calibri"/>
                        <a:cs typeface="Calibri"/>
                        <a:sym typeface="Calibri"/>
                      </a:endParaRPr>
                    </a:p>
                  </a:txBody>
                  <a:tcPr marT="64000" marB="64000" marR="64000" marL="64000" anchor="ctr">
                    <a:lnL cap="flat" cmpd="sng" w="9525">
                      <a:solidFill>
                        <a:srgbClr val="D9E2EA"/>
                      </a:solidFill>
                      <a:prstDash val="solid"/>
                      <a:round/>
                      <a:headEnd len="sm" w="sm" type="none"/>
                      <a:tailEnd len="sm" w="sm" type="none"/>
                    </a:lnL>
                    <a:lnR cap="flat" cmpd="sng" w="9525">
                      <a:solidFill>
                        <a:srgbClr val="D9E2EA"/>
                      </a:solidFill>
                      <a:prstDash val="solid"/>
                      <a:round/>
                      <a:headEnd len="sm" w="sm" type="none"/>
                      <a:tailEnd len="sm" w="sm" type="none"/>
                    </a:lnR>
                    <a:lnT cap="flat" cmpd="sng" w="9525">
                      <a:solidFill>
                        <a:srgbClr val="D9E2EA"/>
                      </a:solidFill>
                      <a:prstDash val="solid"/>
                      <a:round/>
                      <a:headEnd len="sm" w="sm" type="none"/>
                      <a:tailEnd len="sm" w="sm" type="none"/>
                    </a:lnT>
                    <a:lnB cap="flat" cmpd="sng" w="9525">
                      <a:solidFill>
                        <a:srgbClr val="D9E2EA"/>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23293B"/>
                        </a:buClr>
                        <a:buSzPts val="1150"/>
                        <a:buFont typeface="Calibri"/>
                        <a:buNone/>
                      </a:pPr>
                      <a:r>
                        <a:rPr lang="en-US" sz="1150" u="none" cap="none" strike="noStrike">
                          <a:solidFill>
                            <a:srgbClr val="23293B"/>
                          </a:solidFill>
                          <a:latin typeface="Calibri"/>
                          <a:ea typeface="Calibri"/>
                          <a:cs typeface="Calibri"/>
                          <a:sym typeface="Calibri"/>
                        </a:rPr>
                        <a:t>Full resolution + 10 epochs</a:t>
                      </a:r>
                      <a:endParaRPr sz="1150" u="none" cap="none" strike="noStrike">
                        <a:latin typeface="Calibri"/>
                        <a:ea typeface="Calibri"/>
                        <a:cs typeface="Calibri"/>
                        <a:sym typeface="Calibri"/>
                      </a:endParaRPr>
                    </a:p>
                  </a:txBody>
                  <a:tcPr marT="64000" marB="64000" marR="64000" marL="64000" anchor="ctr">
                    <a:lnL cap="flat" cmpd="sng" w="9525">
                      <a:solidFill>
                        <a:srgbClr val="D9E2EA"/>
                      </a:solidFill>
                      <a:prstDash val="solid"/>
                      <a:round/>
                      <a:headEnd len="sm" w="sm" type="none"/>
                      <a:tailEnd len="sm" w="sm" type="none"/>
                    </a:lnL>
                    <a:lnR cap="flat" cmpd="sng" w="9525">
                      <a:solidFill>
                        <a:srgbClr val="D9E2EA"/>
                      </a:solidFill>
                      <a:prstDash val="solid"/>
                      <a:round/>
                      <a:headEnd len="sm" w="sm" type="none"/>
                      <a:tailEnd len="sm" w="sm" type="none"/>
                    </a:lnR>
                    <a:lnT cap="flat" cmpd="sng" w="9525">
                      <a:solidFill>
                        <a:srgbClr val="D9E2EA"/>
                      </a:solidFill>
                      <a:prstDash val="solid"/>
                      <a:round/>
                      <a:headEnd len="sm" w="sm" type="none"/>
                      <a:tailEnd len="sm" w="sm" type="none"/>
                    </a:lnT>
                    <a:lnB cap="flat" cmpd="sng" w="9525">
                      <a:solidFill>
                        <a:srgbClr val="D9E2EA"/>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23293B"/>
                        </a:buClr>
                        <a:buSzPts val="1150"/>
                        <a:buFont typeface="Calibri"/>
                        <a:buNone/>
                      </a:pPr>
                      <a:r>
                        <a:rPr lang="en-US" sz="1150" u="none" cap="none" strike="noStrike">
                          <a:solidFill>
                            <a:srgbClr val="23293B"/>
                          </a:solidFill>
                          <a:latin typeface="Calibri"/>
                          <a:ea typeface="Calibri"/>
                          <a:cs typeface="Calibri"/>
                          <a:sym typeface="Calibri"/>
                        </a:rPr>
                        <a:t>Use 320px, 3 epochs, provided checkpoint</a:t>
                      </a:r>
                      <a:endParaRPr sz="1150" u="none" cap="none" strike="noStrike">
                        <a:latin typeface="Calibri"/>
                        <a:ea typeface="Calibri"/>
                        <a:cs typeface="Calibri"/>
                        <a:sym typeface="Calibri"/>
                      </a:endParaRPr>
                    </a:p>
                  </a:txBody>
                  <a:tcPr marT="64000" marB="64000" marR="64000" marL="64000" anchor="ctr">
                    <a:lnL cap="flat" cmpd="sng" w="9525">
                      <a:solidFill>
                        <a:srgbClr val="D9E2EA"/>
                      </a:solidFill>
                      <a:prstDash val="solid"/>
                      <a:round/>
                      <a:headEnd len="sm" w="sm" type="none"/>
                      <a:tailEnd len="sm" w="sm" type="none"/>
                    </a:lnL>
                    <a:lnR cap="flat" cmpd="sng" w="9525">
                      <a:solidFill>
                        <a:srgbClr val="D9E2EA"/>
                      </a:solidFill>
                      <a:prstDash val="solid"/>
                      <a:round/>
                      <a:headEnd len="sm" w="sm" type="none"/>
                      <a:tailEnd len="sm" w="sm" type="none"/>
                    </a:lnR>
                    <a:lnT cap="flat" cmpd="sng" w="9525">
                      <a:solidFill>
                        <a:srgbClr val="D9E2EA"/>
                      </a:solidFill>
                      <a:prstDash val="solid"/>
                      <a:round/>
                      <a:headEnd len="sm" w="sm" type="none"/>
                      <a:tailEnd len="sm" w="sm" type="none"/>
                    </a:lnT>
                    <a:lnB cap="flat" cmpd="sng" w="9525">
                      <a:solidFill>
                        <a:srgbClr val="D9E2EA"/>
                      </a:solidFill>
                      <a:prstDash val="solid"/>
                      <a:round/>
                      <a:headEnd len="sm" w="sm" type="none"/>
                      <a:tailEnd len="sm" w="sm" type="none"/>
                    </a:lnB>
                    <a:solidFill>
                      <a:srgbClr val="FFFFFF"/>
                    </a:solidFill>
                  </a:tcPr>
                </a:tc>
              </a:tr>
            </a:tbl>
          </a:graphicData>
        </a:graphic>
      </p:graphicFrame>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280" name="Shape 1280"/>
        <p:cNvGrpSpPr/>
        <p:nvPr/>
      </p:nvGrpSpPr>
      <p:grpSpPr>
        <a:xfrm>
          <a:off x="0" y="0"/>
          <a:ext cx="0" cy="0"/>
          <a:chOff x="0" y="0"/>
          <a:chExt cx="0" cy="0"/>
        </a:xfrm>
      </p:grpSpPr>
      <p:sp>
        <p:nvSpPr>
          <p:cNvPr id="1281" name="Google Shape;1281;p44"/>
          <p:cNvSpPr/>
          <p:nvPr/>
        </p:nvSpPr>
        <p:spPr>
          <a:xfrm>
            <a:off x="502920" y="274320"/>
            <a:ext cx="9646920" cy="56692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D2A5C"/>
              </a:buClr>
              <a:buSzPts val="2700"/>
              <a:buFont typeface="Calibri"/>
              <a:buNone/>
            </a:pPr>
            <a:r>
              <a:rPr b="1" i="0" lang="en-US" sz="2700" u="none" cap="none" strike="noStrike">
                <a:solidFill>
                  <a:srgbClr val="1D2A5C"/>
                </a:solidFill>
                <a:latin typeface="Calibri"/>
                <a:ea typeface="Calibri"/>
                <a:cs typeface="Calibri"/>
                <a:sym typeface="Calibri"/>
              </a:rPr>
              <a:t>Module 2 quiz</a:t>
            </a:r>
            <a:endParaRPr b="0" i="0" sz="2700" u="none" cap="none" strike="noStrike">
              <a:solidFill>
                <a:schemeClr val="dk1"/>
              </a:solidFill>
              <a:latin typeface="Calibri"/>
              <a:ea typeface="Calibri"/>
              <a:cs typeface="Calibri"/>
              <a:sym typeface="Calibri"/>
            </a:endParaRPr>
          </a:p>
        </p:txBody>
      </p:sp>
      <p:sp>
        <p:nvSpPr>
          <p:cNvPr id="1282" name="Google Shape;1282;p44"/>
          <p:cNvSpPr/>
          <p:nvPr/>
        </p:nvSpPr>
        <p:spPr>
          <a:xfrm>
            <a:off x="502920" y="859536"/>
            <a:ext cx="9646920" cy="31089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F6B7A"/>
              </a:buClr>
              <a:buSzPts val="1250"/>
              <a:buFont typeface="Arial"/>
              <a:buNone/>
            </a:pPr>
            <a:r>
              <a:rPr b="0" i="0" lang="en-US" sz="1250" u="none" cap="none" strike="noStrike">
                <a:solidFill>
                  <a:srgbClr val="5F6B7A"/>
                </a:solidFill>
                <a:latin typeface="Arial"/>
                <a:ea typeface="Arial"/>
                <a:cs typeface="Arial"/>
                <a:sym typeface="Arial"/>
              </a:rPr>
              <a:t>اختبار الوحدة الثانية</a:t>
            </a:r>
            <a:endParaRPr b="0" i="0" sz="1250" u="none" cap="none" strike="noStrike">
              <a:solidFill>
                <a:schemeClr val="dk1"/>
              </a:solidFill>
              <a:latin typeface="Calibri"/>
              <a:ea typeface="Calibri"/>
              <a:cs typeface="Calibri"/>
              <a:sym typeface="Calibri"/>
            </a:endParaRPr>
          </a:p>
        </p:txBody>
      </p:sp>
      <p:pic>
        <p:nvPicPr>
          <p:cNvPr descr="/sessions/blissful-determined-ritchie/build/assets/sdaia_logo.png" id="1283" name="Google Shape;1283;p44"/>
          <p:cNvPicPr preferRelativeResize="0"/>
          <p:nvPr/>
        </p:nvPicPr>
        <p:blipFill rotWithShape="1">
          <a:blip r:embed="rId3">
            <a:alphaModFix/>
          </a:blip>
          <a:srcRect b="0" l="0" r="0" t="0"/>
          <a:stretch/>
        </p:blipFill>
        <p:spPr>
          <a:xfrm>
            <a:off x="10625328" y="310896"/>
            <a:ext cx="1078992" cy="264111"/>
          </a:xfrm>
          <a:prstGeom prst="rect">
            <a:avLst/>
          </a:prstGeom>
          <a:noFill/>
          <a:ln>
            <a:noFill/>
          </a:ln>
        </p:spPr>
      </p:pic>
      <p:sp>
        <p:nvSpPr>
          <p:cNvPr id="1284" name="Google Shape;1284;p44"/>
          <p:cNvSpPr/>
          <p:nvPr/>
        </p:nvSpPr>
        <p:spPr>
          <a:xfrm>
            <a:off x="502920" y="6528816"/>
            <a:ext cx="8686800"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A79D"/>
              </a:buClr>
              <a:buSzPts val="800"/>
              <a:buFont typeface="Calibri"/>
              <a:buNone/>
            </a:pPr>
            <a:r>
              <a:rPr b="1" i="0" lang="en-US" sz="800" u="none" cap="none" strike="noStrike">
                <a:solidFill>
                  <a:srgbClr val="00A79D"/>
                </a:solidFill>
                <a:latin typeface="Calibri"/>
                <a:ea typeface="Calibri"/>
                <a:cs typeface="Calibri"/>
                <a:sym typeface="Calibri"/>
              </a:rPr>
              <a:t>MODULE 2 · QUIZ   </a:t>
            </a:r>
            <a:r>
              <a:rPr b="0" i="0" lang="en-US" sz="800" u="none" cap="none" strike="noStrike">
                <a:solidFill>
                  <a:srgbClr val="8A96A6"/>
                </a:solidFill>
                <a:latin typeface="Calibri"/>
                <a:ea typeface="Calibri"/>
                <a:cs typeface="Calibri"/>
                <a:sym typeface="Calibri"/>
              </a:rPr>
              <a:t>SDA-AIE-212 · Computer Vision Systems Development</a:t>
            </a:r>
            <a:endParaRPr b="0" i="0" sz="800" u="none" cap="none" strike="noStrike">
              <a:solidFill>
                <a:schemeClr val="dk1"/>
              </a:solidFill>
              <a:latin typeface="Calibri"/>
              <a:ea typeface="Calibri"/>
              <a:cs typeface="Calibri"/>
              <a:sym typeface="Calibri"/>
            </a:endParaRPr>
          </a:p>
        </p:txBody>
      </p:sp>
      <p:sp>
        <p:nvSpPr>
          <p:cNvPr id="1285" name="Google Shape;1285;p44"/>
          <p:cNvSpPr/>
          <p:nvPr/>
        </p:nvSpPr>
        <p:spPr>
          <a:xfrm>
            <a:off x="11292840" y="6528816"/>
            <a:ext cx="411480" cy="219456"/>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8A96A6"/>
              </a:buClr>
              <a:buSzPts val="900"/>
              <a:buFont typeface="Calibri"/>
              <a:buNone/>
            </a:pPr>
            <a:r>
              <a:rPr b="0" i="0" lang="en-US" sz="900" u="none" cap="none" strike="noStrike">
                <a:solidFill>
                  <a:srgbClr val="8A96A6"/>
                </a:solidFill>
                <a:latin typeface="Calibri"/>
                <a:ea typeface="Calibri"/>
                <a:cs typeface="Calibri"/>
                <a:sym typeface="Calibri"/>
              </a:rPr>
              <a:t>44</a:t>
            </a:r>
            <a:endParaRPr b="0" i="0" sz="900" u="none" cap="none" strike="noStrike">
              <a:solidFill>
                <a:schemeClr val="dk1"/>
              </a:solidFill>
              <a:latin typeface="Calibri"/>
              <a:ea typeface="Calibri"/>
              <a:cs typeface="Calibri"/>
              <a:sym typeface="Calibri"/>
            </a:endParaRPr>
          </a:p>
        </p:txBody>
      </p:sp>
      <p:sp>
        <p:nvSpPr>
          <p:cNvPr id="1286" name="Google Shape;1286;p44"/>
          <p:cNvSpPr/>
          <p:nvPr/>
        </p:nvSpPr>
        <p:spPr>
          <a:xfrm>
            <a:off x="502920" y="1417320"/>
            <a:ext cx="11183112" cy="801014"/>
          </a:xfrm>
          <a:prstGeom prst="roundRect">
            <a:avLst>
              <a:gd fmla="val 9132" name="adj"/>
            </a:avLst>
          </a:prstGeom>
          <a:solidFill>
            <a:srgbClr val="F2F6F9"/>
          </a:solidFill>
          <a:ln cap="flat" cmpd="sng" w="9525">
            <a:solidFill>
              <a:srgbClr val="D9E2E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7" name="Google Shape;1287;p44"/>
          <p:cNvSpPr/>
          <p:nvPr/>
        </p:nvSpPr>
        <p:spPr>
          <a:xfrm>
            <a:off x="649224" y="1644091"/>
            <a:ext cx="347472" cy="347472"/>
          </a:xfrm>
          <a:prstGeom prst="ellipse">
            <a:avLst/>
          </a:prstGeom>
          <a:solidFill>
            <a:srgbClr val="F5822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8" name="Google Shape;1288;p44"/>
          <p:cNvSpPr/>
          <p:nvPr/>
        </p:nvSpPr>
        <p:spPr>
          <a:xfrm>
            <a:off x="649224" y="1644091"/>
            <a:ext cx="347472" cy="34747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050"/>
              <a:buFont typeface="Calibri"/>
              <a:buNone/>
            </a:pPr>
            <a:r>
              <a:rPr b="1" i="0" lang="en-US" sz="1050" u="none" cap="none" strike="noStrike">
                <a:solidFill>
                  <a:srgbClr val="FFFFFF"/>
                </a:solidFill>
                <a:latin typeface="Calibri"/>
                <a:ea typeface="Calibri"/>
                <a:cs typeface="Calibri"/>
                <a:sym typeface="Calibri"/>
              </a:rPr>
              <a:t>Q1</a:t>
            </a:r>
            <a:endParaRPr b="0" i="0" sz="1050" u="none" cap="none" strike="noStrike">
              <a:solidFill>
                <a:schemeClr val="dk1"/>
              </a:solidFill>
              <a:latin typeface="Calibri"/>
              <a:ea typeface="Calibri"/>
              <a:cs typeface="Calibri"/>
              <a:sym typeface="Calibri"/>
            </a:endParaRPr>
          </a:p>
        </p:txBody>
      </p:sp>
      <p:sp>
        <p:nvSpPr>
          <p:cNvPr id="1289" name="Google Shape;1289;p44"/>
          <p:cNvSpPr/>
          <p:nvPr/>
        </p:nvSpPr>
        <p:spPr>
          <a:xfrm>
            <a:off x="1161288" y="1417320"/>
            <a:ext cx="10332720" cy="80101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3293B"/>
              </a:buClr>
              <a:buSzPts val="1250"/>
              <a:buFont typeface="Calibri"/>
              <a:buNone/>
            </a:pPr>
            <a:r>
              <a:rPr b="0" i="0" lang="en-US" sz="1250" u="none" cap="none" strike="noStrike">
                <a:solidFill>
                  <a:srgbClr val="23293B"/>
                </a:solidFill>
                <a:latin typeface="Calibri"/>
                <a:ea typeface="Calibri"/>
                <a:cs typeface="Calibri"/>
                <a:sym typeface="Calibri"/>
              </a:rPr>
              <a:t>Name the three convolutional inductive biases.</a:t>
            </a:r>
            <a:endParaRPr b="0" i="0" sz="1250" u="none" cap="none" strike="noStrike">
              <a:solidFill>
                <a:schemeClr val="dk1"/>
              </a:solidFill>
              <a:latin typeface="Calibri"/>
              <a:ea typeface="Calibri"/>
              <a:cs typeface="Calibri"/>
              <a:sym typeface="Calibri"/>
            </a:endParaRPr>
          </a:p>
        </p:txBody>
      </p:sp>
      <p:sp>
        <p:nvSpPr>
          <p:cNvPr id="1290" name="Google Shape;1290;p44"/>
          <p:cNvSpPr/>
          <p:nvPr/>
        </p:nvSpPr>
        <p:spPr>
          <a:xfrm>
            <a:off x="502920" y="2346350"/>
            <a:ext cx="11183112" cy="801014"/>
          </a:xfrm>
          <a:prstGeom prst="roundRect">
            <a:avLst>
              <a:gd fmla="val 9132" name="adj"/>
            </a:avLst>
          </a:prstGeom>
          <a:solidFill>
            <a:srgbClr val="F2F6F9"/>
          </a:solidFill>
          <a:ln cap="flat" cmpd="sng" w="9525">
            <a:solidFill>
              <a:srgbClr val="D9E2E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1" name="Google Shape;1291;p44"/>
          <p:cNvSpPr/>
          <p:nvPr/>
        </p:nvSpPr>
        <p:spPr>
          <a:xfrm>
            <a:off x="649224" y="2573122"/>
            <a:ext cx="347472" cy="347472"/>
          </a:xfrm>
          <a:prstGeom prst="ellipse">
            <a:avLst/>
          </a:prstGeom>
          <a:solidFill>
            <a:srgbClr val="F5822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2" name="Google Shape;1292;p44"/>
          <p:cNvSpPr/>
          <p:nvPr/>
        </p:nvSpPr>
        <p:spPr>
          <a:xfrm>
            <a:off x="649224" y="2573122"/>
            <a:ext cx="347472" cy="34747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050"/>
              <a:buFont typeface="Calibri"/>
              <a:buNone/>
            </a:pPr>
            <a:r>
              <a:rPr b="1" i="0" lang="en-US" sz="1050" u="none" cap="none" strike="noStrike">
                <a:solidFill>
                  <a:srgbClr val="FFFFFF"/>
                </a:solidFill>
                <a:latin typeface="Calibri"/>
                <a:ea typeface="Calibri"/>
                <a:cs typeface="Calibri"/>
                <a:sym typeface="Calibri"/>
              </a:rPr>
              <a:t>Q2</a:t>
            </a:r>
            <a:endParaRPr b="0" i="0" sz="1050" u="none" cap="none" strike="noStrike">
              <a:solidFill>
                <a:schemeClr val="dk1"/>
              </a:solidFill>
              <a:latin typeface="Calibri"/>
              <a:ea typeface="Calibri"/>
              <a:cs typeface="Calibri"/>
              <a:sym typeface="Calibri"/>
            </a:endParaRPr>
          </a:p>
        </p:txBody>
      </p:sp>
      <p:sp>
        <p:nvSpPr>
          <p:cNvPr id="1293" name="Google Shape;1293;p44"/>
          <p:cNvSpPr/>
          <p:nvPr/>
        </p:nvSpPr>
        <p:spPr>
          <a:xfrm>
            <a:off x="1161288" y="2346350"/>
            <a:ext cx="10332720" cy="80101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3293B"/>
              </a:buClr>
              <a:buSzPts val="1250"/>
              <a:buFont typeface="Calibri"/>
              <a:buNone/>
            </a:pPr>
            <a:r>
              <a:rPr b="0" i="0" lang="en-US" sz="1250" u="none" cap="none" strike="noStrike">
                <a:solidFill>
                  <a:srgbClr val="23293B"/>
                </a:solidFill>
                <a:latin typeface="Calibri"/>
                <a:ea typeface="Calibri"/>
                <a:cs typeface="Calibri"/>
                <a:sym typeface="Calibri"/>
              </a:rPr>
              <a:t>Why do ViTs need more pre-training data than CNNs?</a:t>
            </a:r>
            <a:endParaRPr b="0" i="0" sz="1250" u="none" cap="none" strike="noStrike">
              <a:solidFill>
                <a:schemeClr val="dk1"/>
              </a:solidFill>
              <a:latin typeface="Calibri"/>
              <a:ea typeface="Calibri"/>
              <a:cs typeface="Calibri"/>
              <a:sym typeface="Calibri"/>
            </a:endParaRPr>
          </a:p>
        </p:txBody>
      </p:sp>
      <p:sp>
        <p:nvSpPr>
          <p:cNvPr id="1294" name="Google Shape;1294;p44"/>
          <p:cNvSpPr/>
          <p:nvPr/>
        </p:nvSpPr>
        <p:spPr>
          <a:xfrm>
            <a:off x="502920" y="3275381"/>
            <a:ext cx="11183112" cy="801014"/>
          </a:xfrm>
          <a:prstGeom prst="roundRect">
            <a:avLst>
              <a:gd fmla="val 9132" name="adj"/>
            </a:avLst>
          </a:prstGeom>
          <a:solidFill>
            <a:srgbClr val="F2F6F9"/>
          </a:solidFill>
          <a:ln cap="flat" cmpd="sng" w="9525">
            <a:solidFill>
              <a:srgbClr val="D9E2E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5" name="Google Shape;1295;p44"/>
          <p:cNvSpPr/>
          <p:nvPr/>
        </p:nvSpPr>
        <p:spPr>
          <a:xfrm>
            <a:off x="649224" y="3502152"/>
            <a:ext cx="347472" cy="347472"/>
          </a:xfrm>
          <a:prstGeom prst="ellipse">
            <a:avLst/>
          </a:prstGeom>
          <a:solidFill>
            <a:srgbClr val="F5822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6" name="Google Shape;1296;p44"/>
          <p:cNvSpPr/>
          <p:nvPr/>
        </p:nvSpPr>
        <p:spPr>
          <a:xfrm>
            <a:off x="649224" y="3502152"/>
            <a:ext cx="347472" cy="34747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050"/>
              <a:buFont typeface="Calibri"/>
              <a:buNone/>
            </a:pPr>
            <a:r>
              <a:rPr b="1" i="0" lang="en-US" sz="1050" u="none" cap="none" strike="noStrike">
                <a:solidFill>
                  <a:srgbClr val="FFFFFF"/>
                </a:solidFill>
                <a:latin typeface="Calibri"/>
                <a:ea typeface="Calibri"/>
                <a:cs typeface="Calibri"/>
                <a:sym typeface="Calibri"/>
              </a:rPr>
              <a:t>Q3</a:t>
            </a:r>
            <a:endParaRPr b="0" i="0" sz="1050" u="none" cap="none" strike="noStrike">
              <a:solidFill>
                <a:schemeClr val="dk1"/>
              </a:solidFill>
              <a:latin typeface="Calibri"/>
              <a:ea typeface="Calibri"/>
              <a:cs typeface="Calibri"/>
              <a:sym typeface="Calibri"/>
            </a:endParaRPr>
          </a:p>
        </p:txBody>
      </p:sp>
      <p:sp>
        <p:nvSpPr>
          <p:cNvPr id="1297" name="Google Shape;1297;p44"/>
          <p:cNvSpPr/>
          <p:nvPr/>
        </p:nvSpPr>
        <p:spPr>
          <a:xfrm>
            <a:off x="1161288" y="3275381"/>
            <a:ext cx="10332720" cy="80101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3293B"/>
              </a:buClr>
              <a:buSzPts val="1250"/>
              <a:buFont typeface="Calibri"/>
              <a:buNone/>
            </a:pPr>
            <a:r>
              <a:rPr b="0" i="0" lang="en-US" sz="1250" u="none" cap="none" strike="noStrike">
                <a:solidFill>
                  <a:srgbClr val="23293B"/>
                </a:solidFill>
                <a:latin typeface="Calibri"/>
                <a:ea typeface="Calibri"/>
                <a:cs typeface="Calibri"/>
                <a:sym typeface="Calibri"/>
              </a:rPr>
              <a:t>What is the order of staged fine-tuning, and why?</a:t>
            </a:r>
            <a:endParaRPr b="0" i="0" sz="1250" u="none" cap="none" strike="noStrike">
              <a:solidFill>
                <a:schemeClr val="dk1"/>
              </a:solidFill>
              <a:latin typeface="Calibri"/>
              <a:ea typeface="Calibri"/>
              <a:cs typeface="Calibri"/>
              <a:sym typeface="Calibri"/>
            </a:endParaRPr>
          </a:p>
        </p:txBody>
      </p:sp>
      <p:sp>
        <p:nvSpPr>
          <p:cNvPr id="1298" name="Google Shape;1298;p44"/>
          <p:cNvSpPr/>
          <p:nvPr/>
        </p:nvSpPr>
        <p:spPr>
          <a:xfrm>
            <a:off x="502920" y="4204411"/>
            <a:ext cx="11183112" cy="801014"/>
          </a:xfrm>
          <a:prstGeom prst="roundRect">
            <a:avLst>
              <a:gd fmla="val 9132" name="adj"/>
            </a:avLst>
          </a:prstGeom>
          <a:solidFill>
            <a:srgbClr val="F2F6F9"/>
          </a:solidFill>
          <a:ln cap="flat" cmpd="sng" w="9525">
            <a:solidFill>
              <a:srgbClr val="D9E2E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9" name="Google Shape;1299;p44"/>
          <p:cNvSpPr/>
          <p:nvPr/>
        </p:nvSpPr>
        <p:spPr>
          <a:xfrm>
            <a:off x="649224" y="4431182"/>
            <a:ext cx="347472" cy="347472"/>
          </a:xfrm>
          <a:prstGeom prst="ellipse">
            <a:avLst/>
          </a:prstGeom>
          <a:solidFill>
            <a:srgbClr val="F5822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0" name="Google Shape;1300;p44"/>
          <p:cNvSpPr/>
          <p:nvPr/>
        </p:nvSpPr>
        <p:spPr>
          <a:xfrm>
            <a:off x="649224" y="4431182"/>
            <a:ext cx="347472" cy="34747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050"/>
              <a:buFont typeface="Calibri"/>
              <a:buNone/>
            </a:pPr>
            <a:r>
              <a:rPr b="1" i="0" lang="en-US" sz="1050" u="none" cap="none" strike="noStrike">
                <a:solidFill>
                  <a:srgbClr val="FFFFFF"/>
                </a:solidFill>
                <a:latin typeface="Calibri"/>
                <a:ea typeface="Calibri"/>
                <a:cs typeface="Calibri"/>
                <a:sym typeface="Calibri"/>
              </a:rPr>
              <a:t>Q4</a:t>
            </a:r>
            <a:endParaRPr b="0" i="0" sz="1050" u="none" cap="none" strike="noStrike">
              <a:solidFill>
                <a:schemeClr val="dk1"/>
              </a:solidFill>
              <a:latin typeface="Calibri"/>
              <a:ea typeface="Calibri"/>
              <a:cs typeface="Calibri"/>
              <a:sym typeface="Calibri"/>
            </a:endParaRPr>
          </a:p>
        </p:txBody>
      </p:sp>
      <p:sp>
        <p:nvSpPr>
          <p:cNvPr id="1301" name="Google Shape;1301;p44"/>
          <p:cNvSpPr/>
          <p:nvPr/>
        </p:nvSpPr>
        <p:spPr>
          <a:xfrm>
            <a:off x="1161288" y="4204411"/>
            <a:ext cx="10332720" cy="80101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3293B"/>
              </a:buClr>
              <a:buSzPts val="1250"/>
              <a:buFont typeface="Calibri"/>
              <a:buNone/>
            </a:pPr>
            <a:r>
              <a:rPr b="0" i="0" lang="en-US" sz="1250" u="none" cap="none" strike="noStrike">
                <a:solidFill>
                  <a:srgbClr val="23293B"/>
                </a:solidFill>
                <a:latin typeface="Calibri"/>
                <a:ea typeface="Calibri"/>
                <a:cs typeface="Calibri"/>
                <a:sym typeface="Calibri"/>
              </a:rPr>
              <a:t>Why is macro-F1 the headline metric here rather than accuracy?</a:t>
            </a:r>
            <a:endParaRPr b="0" i="0" sz="1250" u="none" cap="none" strike="noStrike">
              <a:solidFill>
                <a:schemeClr val="dk1"/>
              </a:solidFill>
              <a:latin typeface="Calibri"/>
              <a:ea typeface="Calibri"/>
              <a:cs typeface="Calibri"/>
              <a:sym typeface="Calibri"/>
            </a:endParaRPr>
          </a:p>
        </p:txBody>
      </p:sp>
      <p:sp>
        <p:nvSpPr>
          <p:cNvPr id="1302" name="Google Shape;1302;p44"/>
          <p:cNvSpPr/>
          <p:nvPr/>
        </p:nvSpPr>
        <p:spPr>
          <a:xfrm>
            <a:off x="502920" y="5133442"/>
            <a:ext cx="11183112" cy="801014"/>
          </a:xfrm>
          <a:prstGeom prst="roundRect">
            <a:avLst>
              <a:gd fmla="val 9132" name="adj"/>
            </a:avLst>
          </a:prstGeom>
          <a:solidFill>
            <a:srgbClr val="F2F6F9"/>
          </a:solidFill>
          <a:ln cap="flat" cmpd="sng" w="9525">
            <a:solidFill>
              <a:srgbClr val="D9E2E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3" name="Google Shape;1303;p44"/>
          <p:cNvSpPr/>
          <p:nvPr/>
        </p:nvSpPr>
        <p:spPr>
          <a:xfrm>
            <a:off x="649224" y="5360213"/>
            <a:ext cx="347472" cy="347472"/>
          </a:xfrm>
          <a:prstGeom prst="ellipse">
            <a:avLst/>
          </a:prstGeom>
          <a:solidFill>
            <a:srgbClr val="F5822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4" name="Google Shape;1304;p44"/>
          <p:cNvSpPr/>
          <p:nvPr/>
        </p:nvSpPr>
        <p:spPr>
          <a:xfrm>
            <a:off x="649224" y="5360213"/>
            <a:ext cx="347472" cy="34747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050"/>
              <a:buFont typeface="Calibri"/>
              <a:buNone/>
            </a:pPr>
            <a:r>
              <a:rPr b="1" i="0" lang="en-US" sz="1050" u="none" cap="none" strike="noStrike">
                <a:solidFill>
                  <a:srgbClr val="FFFFFF"/>
                </a:solidFill>
                <a:latin typeface="Calibri"/>
                <a:ea typeface="Calibri"/>
                <a:cs typeface="Calibri"/>
                <a:sym typeface="Calibri"/>
              </a:rPr>
              <a:t>Q5</a:t>
            </a:r>
            <a:endParaRPr b="0" i="0" sz="1050" u="none" cap="none" strike="noStrike">
              <a:solidFill>
                <a:schemeClr val="dk1"/>
              </a:solidFill>
              <a:latin typeface="Calibri"/>
              <a:ea typeface="Calibri"/>
              <a:cs typeface="Calibri"/>
              <a:sym typeface="Calibri"/>
            </a:endParaRPr>
          </a:p>
        </p:txBody>
      </p:sp>
      <p:sp>
        <p:nvSpPr>
          <p:cNvPr id="1305" name="Google Shape;1305;p44"/>
          <p:cNvSpPr/>
          <p:nvPr/>
        </p:nvSpPr>
        <p:spPr>
          <a:xfrm>
            <a:off x="1161288" y="5133442"/>
            <a:ext cx="10332720" cy="80101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3293B"/>
              </a:buClr>
              <a:buSzPts val="1250"/>
              <a:buFont typeface="Calibri"/>
              <a:buNone/>
            </a:pPr>
            <a:r>
              <a:rPr b="0" i="0" lang="en-US" sz="1250" u="none" cap="none" strike="noStrike">
                <a:solidFill>
                  <a:srgbClr val="23293B"/>
                </a:solidFill>
                <a:latin typeface="Calibri"/>
                <a:ea typeface="Calibri"/>
                <a:cs typeface="Calibri"/>
                <a:sym typeface="Calibri"/>
              </a:rPr>
              <a:t>What must be saved with a checkpoint for it to be servable?</a:t>
            </a:r>
            <a:endParaRPr b="0" i="0" sz="1250" u="none" cap="none" strike="noStrike">
              <a:solidFill>
                <a:schemeClr val="dk1"/>
              </a:solidFill>
              <a:latin typeface="Calibri"/>
              <a:ea typeface="Calibri"/>
              <a:cs typeface="Calibri"/>
              <a:sym typeface="Calibri"/>
            </a:endParaRPr>
          </a:p>
        </p:txBody>
      </p:sp>
      <p:sp>
        <p:nvSpPr>
          <p:cNvPr id="1306" name="Google Shape;1306;p44"/>
          <p:cNvSpPr/>
          <p:nvPr/>
        </p:nvSpPr>
        <p:spPr>
          <a:xfrm>
            <a:off x="502920" y="6099048"/>
            <a:ext cx="11183112"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8A96A6"/>
              </a:buClr>
              <a:buSzPts val="1000"/>
              <a:buFont typeface="Calibri"/>
              <a:buNone/>
            </a:pPr>
            <a:r>
              <a:rPr b="0" i="1" lang="en-US" sz="1000" u="none" cap="none" strike="noStrike">
                <a:solidFill>
                  <a:srgbClr val="8A96A6"/>
                </a:solidFill>
                <a:latin typeface="Calibri"/>
                <a:ea typeface="Calibri"/>
                <a:cs typeface="Calibri"/>
                <a:sym typeface="Calibri"/>
              </a:rPr>
              <a:t>Answers and marking guidance: speaker notes below ▼</a:t>
            </a:r>
            <a:endParaRPr b="0" i="0" sz="1000" u="none" cap="none" strike="noStrike">
              <a:solidFill>
                <a:schemeClr val="dk1"/>
              </a:solidFill>
              <a:latin typeface="Calibri"/>
              <a:ea typeface="Calibri"/>
              <a:cs typeface="Calibri"/>
              <a:sym typeface="Calibri"/>
            </a:endParaRPr>
          </a:p>
        </p:txBody>
      </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311" name="Shape 1311"/>
        <p:cNvGrpSpPr/>
        <p:nvPr/>
      </p:nvGrpSpPr>
      <p:grpSpPr>
        <a:xfrm>
          <a:off x="0" y="0"/>
          <a:ext cx="0" cy="0"/>
          <a:chOff x="0" y="0"/>
          <a:chExt cx="0" cy="0"/>
        </a:xfrm>
      </p:grpSpPr>
      <p:sp>
        <p:nvSpPr>
          <p:cNvPr id="1312" name="Google Shape;1312;p45"/>
          <p:cNvSpPr/>
          <p:nvPr/>
        </p:nvSpPr>
        <p:spPr>
          <a:xfrm>
            <a:off x="502920" y="274320"/>
            <a:ext cx="9646920" cy="56692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D2A5C"/>
              </a:buClr>
              <a:buSzPts val="2700"/>
              <a:buFont typeface="Calibri"/>
              <a:buNone/>
            </a:pPr>
            <a:r>
              <a:rPr b="1" i="0" lang="en-US" sz="2700" u="none" cap="none" strike="noStrike">
                <a:solidFill>
                  <a:srgbClr val="1D2A5C"/>
                </a:solidFill>
                <a:latin typeface="Calibri"/>
                <a:ea typeface="Calibri"/>
                <a:cs typeface="Calibri"/>
                <a:sym typeface="Calibri"/>
              </a:rPr>
              <a:t>Practice: debug, review, discuss</a:t>
            </a:r>
            <a:endParaRPr b="0" i="0" sz="2700" u="none" cap="none" strike="noStrike">
              <a:solidFill>
                <a:schemeClr val="dk1"/>
              </a:solidFill>
              <a:latin typeface="Calibri"/>
              <a:ea typeface="Calibri"/>
              <a:cs typeface="Calibri"/>
              <a:sym typeface="Calibri"/>
            </a:endParaRPr>
          </a:p>
        </p:txBody>
      </p:sp>
      <p:sp>
        <p:nvSpPr>
          <p:cNvPr id="1313" name="Google Shape;1313;p45"/>
          <p:cNvSpPr/>
          <p:nvPr/>
        </p:nvSpPr>
        <p:spPr>
          <a:xfrm>
            <a:off x="502920" y="859536"/>
            <a:ext cx="9646920" cy="31089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F6B7A"/>
              </a:buClr>
              <a:buSzPts val="1250"/>
              <a:buFont typeface="Arial"/>
              <a:buNone/>
            </a:pPr>
            <a:r>
              <a:rPr b="0" i="0" lang="en-US" sz="1250" u="none" cap="none" strike="noStrike">
                <a:solidFill>
                  <a:srgbClr val="5F6B7A"/>
                </a:solidFill>
                <a:latin typeface="Arial"/>
                <a:ea typeface="Arial"/>
                <a:cs typeface="Arial"/>
                <a:sym typeface="Arial"/>
              </a:rPr>
              <a:t>تمارين: تصحيح ومراجعة ونقاش</a:t>
            </a:r>
            <a:endParaRPr b="0" i="0" sz="1250" u="none" cap="none" strike="noStrike">
              <a:solidFill>
                <a:schemeClr val="dk1"/>
              </a:solidFill>
              <a:latin typeface="Calibri"/>
              <a:ea typeface="Calibri"/>
              <a:cs typeface="Calibri"/>
              <a:sym typeface="Calibri"/>
            </a:endParaRPr>
          </a:p>
        </p:txBody>
      </p:sp>
      <p:pic>
        <p:nvPicPr>
          <p:cNvPr descr="/sessions/blissful-determined-ritchie/build/assets/sdaia_logo.png" id="1314" name="Google Shape;1314;p45"/>
          <p:cNvPicPr preferRelativeResize="0"/>
          <p:nvPr/>
        </p:nvPicPr>
        <p:blipFill rotWithShape="1">
          <a:blip r:embed="rId3">
            <a:alphaModFix/>
          </a:blip>
          <a:srcRect b="0" l="0" r="0" t="0"/>
          <a:stretch/>
        </p:blipFill>
        <p:spPr>
          <a:xfrm>
            <a:off x="10625328" y="310896"/>
            <a:ext cx="1078992" cy="264111"/>
          </a:xfrm>
          <a:prstGeom prst="rect">
            <a:avLst/>
          </a:prstGeom>
          <a:noFill/>
          <a:ln>
            <a:noFill/>
          </a:ln>
        </p:spPr>
      </p:pic>
      <p:sp>
        <p:nvSpPr>
          <p:cNvPr id="1315" name="Google Shape;1315;p45"/>
          <p:cNvSpPr/>
          <p:nvPr/>
        </p:nvSpPr>
        <p:spPr>
          <a:xfrm>
            <a:off x="502920" y="6528816"/>
            <a:ext cx="8686800"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A79D"/>
              </a:buClr>
              <a:buSzPts val="800"/>
              <a:buFont typeface="Calibri"/>
              <a:buNone/>
            </a:pPr>
            <a:r>
              <a:rPr b="1" i="0" lang="en-US" sz="800" u="none" cap="none" strike="noStrike">
                <a:solidFill>
                  <a:srgbClr val="00A79D"/>
                </a:solidFill>
                <a:latin typeface="Calibri"/>
                <a:ea typeface="Calibri"/>
                <a:cs typeface="Calibri"/>
                <a:sym typeface="Calibri"/>
              </a:rPr>
              <a:t>MODULE 2   </a:t>
            </a:r>
            <a:r>
              <a:rPr b="0" i="0" lang="en-US" sz="800" u="none" cap="none" strike="noStrike">
                <a:solidFill>
                  <a:srgbClr val="8A96A6"/>
                </a:solidFill>
                <a:latin typeface="Calibri"/>
                <a:ea typeface="Calibri"/>
                <a:cs typeface="Calibri"/>
                <a:sym typeface="Calibri"/>
              </a:rPr>
              <a:t>SDA-AIE-212 · Computer Vision Systems Development</a:t>
            </a:r>
            <a:endParaRPr b="0" i="0" sz="800" u="none" cap="none" strike="noStrike">
              <a:solidFill>
                <a:schemeClr val="dk1"/>
              </a:solidFill>
              <a:latin typeface="Calibri"/>
              <a:ea typeface="Calibri"/>
              <a:cs typeface="Calibri"/>
              <a:sym typeface="Calibri"/>
            </a:endParaRPr>
          </a:p>
        </p:txBody>
      </p:sp>
      <p:sp>
        <p:nvSpPr>
          <p:cNvPr id="1316" name="Google Shape;1316;p45"/>
          <p:cNvSpPr/>
          <p:nvPr/>
        </p:nvSpPr>
        <p:spPr>
          <a:xfrm>
            <a:off x="11292840" y="6528816"/>
            <a:ext cx="411480" cy="219456"/>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8A96A6"/>
              </a:buClr>
              <a:buSzPts val="900"/>
              <a:buFont typeface="Calibri"/>
              <a:buNone/>
            </a:pPr>
            <a:r>
              <a:rPr b="0" i="0" lang="en-US" sz="900" u="none" cap="none" strike="noStrike">
                <a:solidFill>
                  <a:srgbClr val="8A96A6"/>
                </a:solidFill>
                <a:latin typeface="Calibri"/>
                <a:ea typeface="Calibri"/>
                <a:cs typeface="Calibri"/>
                <a:sym typeface="Calibri"/>
              </a:rPr>
              <a:t>45</a:t>
            </a:r>
            <a:endParaRPr b="0" i="0" sz="900" u="none" cap="none" strike="noStrike">
              <a:solidFill>
                <a:schemeClr val="dk1"/>
              </a:solidFill>
              <a:latin typeface="Calibri"/>
              <a:ea typeface="Calibri"/>
              <a:cs typeface="Calibri"/>
              <a:sym typeface="Calibri"/>
            </a:endParaRPr>
          </a:p>
        </p:txBody>
      </p:sp>
      <p:sp>
        <p:nvSpPr>
          <p:cNvPr id="1317" name="Google Shape;1317;p45"/>
          <p:cNvSpPr/>
          <p:nvPr/>
        </p:nvSpPr>
        <p:spPr>
          <a:xfrm>
            <a:off x="502920" y="2153412"/>
            <a:ext cx="329184" cy="329184"/>
          </a:xfrm>
          <a:prstGeom prst="ellipse">
            <a:avLst/>
          </a:prstGeom>
          <a:solidFill>
            <a:srgbClr val="00A79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8" name="Google Shape;1318;p45"/>
          <p:cNvSpPr/>
          <p:nvPr/>
        </p:nvSpPr>
        <p:spPr>
          <a:xfrm>
            <a:off x="502920" y="2153412"/>
            <a:ext cx="329184" cy="32918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300"/>
              <a:buFont typeface="Calibri"/>
              <a:buNone/>
            </a:pPr>
            <a:r>
              <a:rPr b="1" i="0" lang="en-US" sz="1300" u="none" cap="none" strike="noStrike">
                <a:solidFill>
                  <a:srgbClr val="FFFFFF"/>
                </a:solidFill>
                <a:latin typeface="Calibri"/>
                <a:ea typeface="Calibri"/>
                <a:cs typeface="Calibri"/>
                <a:sym typeface="Calibri"/>
              </a:rPr>
              <a:t>1</a:t>
            </a:r>
            <a:endParaRPr b="0" i="0" sz="1300" u="none" cap="none" strike="noStrike">
              <a:solidFill>
                <a:schemeClr val="dk1"/>
              </a:solidFill>
              <a:latin typeface="Calibri"/>
              <a:ea typeface="Calibri"/>
              <a:cs typeface="Calibri"/>
              <a:sym typeface="Calibri"/>
            </a:endParaRPr>
          </a:p>
        </p:txBody>
      </p:sp>
      <p:sp>
        <p:nvSpPr>
          <p:cNvPr id="1319" name="Google Shape;1319;p45"/>
          <p:cNvSpPr/>
          <p:nvPr/>
        </p:nvSpPr>
        <p:spPr>
          <a:xfrm>
            <a:off x="1005840" y="2089404"/>
            <a:ext cx="10682935"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D2A5C"/>
              </a:buClr>
              <a:buSzPts val="1400"/>
              <a:buFont typeface="Calibri"/>
              <a:buNone/>
            </a:pPr>
            <a:r>
              <a:rPr b="1" i="0" lang="en-US" sz="1400" u="none" cap="none" strike="noStrike">
                <a:solidFill>
                  <a:srgbClr val="1D2A5C"/>
                </a:solidFill>
                <a:latin typeface="Calibri"/>
                <a:ea typeface="Calibri"/>
                <a:cs typeface="Calibri"/>
                <a:sym typeface="Calibri"/>
              </a:rPr>
              <a:t>Debugging: branch sim-eval-mode</a:t>
            </a:r>
            <a:endParaRPr b="0" i="0" sz="1400" u="none" cap="none" strike="noStrike">
              <a:solidFill>
                <a:schemeClr val="dk1"/>
              </a:solidFill>
              <a:latin typeface="Calibri"/>
              <a:ea typeface="Calibri"/>
              <a:cs typeface="Calibri"/>
              <a:sym typeface="Calibri"/>
            </a:endParaRPr>
          </a:p>
        </p:txBody>
      </p:sp>
      <p:sp>
        <p:nvSpPr>
          <p:cNvPr id="1320" name="Google Shape;1320;p45"/>
          <p:cNvSpPr/>
          <p:nvPr/>
        </p:nvSpPr>
        <p:spPr>
          <a:xfrm>
            <a:off x="1005840" y="2391156"/>
            <a:ext cx="10682935" cy="841248"/>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5F6B7A"/>
              </a:buClr>
              <a:buSzPts val="1150"/>
              <a:buFont typeface="Calibri"/>
              <a:buNone/>
            </a:pPr>
            <a:r>
              <a:rPr b="0" i="0" lang="en-US" sz="1150" u="none" cap="none" strike="noStrike">
                <a:solidFill>
                  <a:srgbClr val="5F6B7A"/>
                </a:solidFill>
                <a:latin typeface="Calibri"/>
                <a:ea typeface="Calibri"/>
                <a:cs typeface="Calibri"/>
                <a:sym typeface="Calibri"/>
              </a:rPr>
              <a:t>Val numbers oscillate +/-4 points between identical runs. Bisect determinism: fixed seed, fixed data, still varies - the model call is stochastic. Why?</a:t>
            </a:r>
            <a:endParaRPr b="0" i="0" sz="1150" u="none" cap="none" strike="noStrike">
              <a:solidFill>
                <a:schemeClr val="dk1"/>
              </a:solidFill>
              <a:latin typeface="Calibri"/>
              <a:ea typeface="Calibri"/>
              <a:cs typeface="Calibri"/>
              <a:sym typeface="Calibri"/>
            </a:endParaRPr>
          </a:p>
        </p:txBody>
      </p:sp>
      <p:sp>
        <p:nvSpPr>
          <p:cNvPr id="1321" name="Google Shape;1321;p45"/>
          <p:cNvSpPr/>
          <p:nvPr/>
        </p:nvSpPr>
        <p:spPr>
          <a:xfrm>
            <a:off x="502920" y="3342132"/>
            <a:ext cx="329184" cy="329184"/>
          </a:xfrm>
          <a:prstGeom prst="ellipse">
            <a:avLst/>
          </a:prstGeom>
          <a:solidFill>
            <a:srgbClr val="29ABE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2" name="Google Shape;1322;p45"/>
          <p:cNvSpPr/>
          <p:nvPr/>
        </p:nvSpPr>
        <p:spPr>
          <a:xfrm>
            <a:off x="502920" y="3342132"/>
            <a:ext cx="329184" cy="32918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300"/>
              <a:buFont typeface="Calibri"/>
              <a:buNone/>
            </a:pPr>
            <a:r>
              <a:rPr b="1" i="0" lang="en-US" sz="1300" u="none" cap="none" strike="noStrike">
                <a:solidFill>
                  <a:srgbClr val="FFFFFF"/>
                </a:solidFill>
                <a:latin typeface="Calibri"/>
                <a:ea typeface="Calibri"/>
                <a:cs typeface="Calibri"/>
                <a:sym typeface="Calibri"/>
              </a:rPr>
              <a:t>2</a:t>
            </a:r>
            <a:endParaRPr b="0" i="0" sz="1300" u="none" cap="none" strike="noStrike">
              <a:solidFill>
                <a:schemeClr val="dk1"/>
              </a:solidFill>
              <a:latin typeface="Calibri"/>
              <a:ea typeface="Calibri"/>
              <a:cs typeface="Calibri"/>
              <a:sym typeface="Calibri"/>
            </a:endParaRPr>
          </a:p>
        </p:txBody>
      </p:sp>
      <p:sp>
        <p:nvSpPr>
          <p:cNvPr id="1323" name="Google Shape;1323;p45"/>
          <p:cNvSpPr/>
          <p:nvPr/>
        </p:nvSpPr>
        <p:spPr>
          <a:xfrm>
            <a:off x="1005840" y="3278124"/>
            <a:ext cx="10682935"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D2A5C"/>
              </a:buClr>
              <a:buSzPts val="1400"/>
              <a:buFont typeface="Calibri"/>
              <a:buNone/>
            </a:pPr>
            <a:r>
              <a:rPr b="1" i="0" lang="en-US" sz="1400" u="none" cap="none" strike="noStrike">
                <a:solidFill>
                  <a:srgbClr val="1D2A5C"/>
                </a:solidFill>
                <a:latin typeface="Calibri"/>
                <a:ea typeface="Calibri"/>
                <a:cs typeface="Calibri"/>
                <a:sym typeface="Calibri"/>
              </a:rPr>
              <a:t>Code review: a three-fault PR</a:t>
            </a:r>
            <a:endParaRPr b="0" i="0" sz="1400" u="none" cap="none" strike="noStrike">
              <a:solidFill>
                <a:schemeClr val="dk1"/>
              </a:solidFill>
              <a:latin typeface="Calibri"/>
              <a:ea typeface="Calibri"/>
              <a:cs typeface="Calibri"/>
              <a:sym typeface="Calibri"/>
            </a:endParaRPr>
          </a:p>
        </p:txBody>
      </p:sp>
      <p:sp>
        <p:nvSpPr>
          <p:cNvPr id="1324" name="Google Shape;1324;p45"/>
          <p:cNvSpPr/>
          <p:nvPr/>
        </p:nvSpPr>
        <p:spPr>
          <a:xfrm>
            <a:off x="1005840" y="3579876"/>
            <a:ext cx="10682935" cy="841248"/>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5F6B7A"/>
              </a:buClr>
              <a:buSzPts val="1150"/>
              <a:buFont typeface="Calibri"/>
              <a:buNone/>
            </a:pPr>
            <a:r>
              <a:rPr b="0" i="0" lang="en-US" sz="1150" u="none" cap="none" strike="noStrike">
                <a:solidFill>
                  <a:srgbClr val="5F6B7A"/>
                </a:solidFill>
                <a:latin typeface="Calibri"/>
                <a:ea typeface="Calibri"/>
                <a:cs typeface="Calibri"/>
                <a:sym typeface="Calibri"/>
              </a:rPr>
              <a:t>Fine-tunes everything at lr=1e-2, reports overall accuracy only, saves best.pt with just state_dict. Three findings, each with its downstream failure.</a:t>
            </a:r>
            <a:endParaRPr b="0" i="0" sz="1150" u="none" cap="none" strike="noStrike">
              <a:solidFill>
                <a:schemeClr val="dk1"/>
              </a:solidFill>
              <a:latin typeface="Calibri"/>
              <a:ea typeface="Calibri"/>
              <a:cs typeface="Calibri"/>
              <a:sym typeface="Calibri"/>
            </a:endParaRPr>
          </a:p>
        </p:txBody>
      </p:sp>
      <p:sp>
        <p:nvSpPr>
          <p:cNvPr id="1325" name="Google Shape;1325;p45"/>
          <p:cNvSpPr/>
          <p:nvPr/>
        </p:nvSpPr>
        <p:spPr>
          <a:xfrm>
            <a:off x="502920" y="4530852"/>
            <a:ext cx="329184" cy="329184"/>
          </a:xfrm>
          <a:prstGeom prst="ellipse">
            <a:avLst/>
          </a:prstGeom>
          <a:solidFill>
            <a:srgbClr val="F5822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6" name="Google Shape;1326;p45"/>
          <p:cNvSpPr/>
          <p:nvPr/>
        </p:nvSpPr>
        <p:spPr>
          <a:xfrm>
            <a:off x="502920" y="4530852"/>
            <a:ext cx="329184" cy="32918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300"/>
              <a:buFont typeface="Calibri"/>
              <a:buNone/>
            </a:pPr>
            <a:r>
              <a:rPr b="1" i="0" lang="en-US" sz="1300" u="none" cap="none" strike="noStrike">
                <a:solidFill>
                  <a:srgbClr val="FFFFFF"/>
                </a:solidFill>
                <a:latin typeface="Calibri"/>
                <a:ea typeface="Calibri"/>
                <a:cs typeface="Calibri"/>
                <a:sym typeface="Calibri"/>
              </a:rPr>
              <a:t>3</a:t>
            </a:r>
            <a:endParaRPr b="0" i="0" sz="1300" u="none" cap="none" strike="noStrike">
              <a:solidFill>
                <a:schemeClr val="dk1"/>
              </a:solidFill>
              <a:latin typeface="Calibri"/>
              <a:ea typeface="Calibri"/>
              <a:cs typeface="Calibri"/>
              <a:sym typeface="Calibri"/>
            </a:endParaRPr>
          </a:p>
        </p:txBody>
      </p:sp>
      <p:sp>
        <p:nvSpPr>
          <p:cNvPr id="1327" name="Google Shape;1327;p45"/>
          <p:cNvSpPr/>
          <p:nvPr/>
        </p:nvSpPr>
        <p:spPr>
          <a:xfrm>
            <a:off x="1005840" y="4466844"/>
            <a:ext cx="10682935"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D2A5C"/>
              </a:buClr>
              <a:buSzPts val="1400"/>
              <a:buFont typeface="Calibri"/>
              <a:buNone/>
            </a:pPr>
            <a:r>
              <a:rPr b="1" i="0" lang="en-US" sz="1400" u="none" cap="none" strike="noStrike">
                <a:solidFill>
                  <a:srgbClr val="1D2A5C"/>
                </a:solidFill>
                <a:latin typeface="Calibri"/>
                <a:ea typeface="Calibri"/>
                <a:cs typeface="Calibri"/>
                <a:sym typeface="Calibri"/>
              </a:rPr>
              <a:t>Discussion: why not train from scratch?</a:t>
            </a:r>
            <a:endParaRPr b="0" i="0" sz="1400" u="none" cap="none" strike="noStrike">
              <a:solidFill>
                <a:schemeClr val="dk1"/>
              </a:solidFill>
              <a:latin typeface="Calibri"/>
              <a:ea typeface="Calibri"/>
              <a:cs typeface="Calibri"/>
              <a:sym typeface="Calibri"/>
            </a:endParaRPr>
          </a:p>
        </p:txBody>
      </p:sp>
      <p:sp>
        <p:nvSpPr>
          <p:cNvPr id="1328" name="Google Shape;1328;p45"/>
          <p:cNvSpPr/>
          <p:nvPr/>
        </p:nvSpPr>
        <p:spPr>
          <a:xfrm>
            <a:off x="1005840" y="4768596"/>
            <a:ext cx="10682935" cy="841248"/>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5F6B7A"/>
              </a:buClr>
              <a:buSzPts val="1150"/>
              <a:buFont typeface="Calibri"/>
              <a:buNone/>
            </a:pPr>
            <a:r>
              <a:rPr b="0" i="0" lang="en-US" sz="1150" u="none" cap="none" strike="noStrike">
                <a:solidFill>
                  <a:srgbClr val="5F6B7A"/>
                </a:solidFill>
                <a:latin typeface="Calibri"/>
                <a:ea typeface="Calibri"/>
                <a:cs typeface="Calibri"/>
                <a:sym typeface="Calibri"/>
              </a:rPr>
              <a:t>The plant argues an own-data model is 'more ours'. Cover data needs, cost, what pre-trained weights contain - and the licensing check.</a:t>
            </a:r>
            <a:endParaRPr b="0" i="0" sz="1150" u="none" cap="none" strike="noStrike">
              <a:solidFill>
                <a:schemeClr val="dk1"/>
              </a:solidFill>
              <a:latin typeface="Calibri"/>
              <a:ea typeface="Calibri"/>
              <a:cs typeface="Calibri"/>
              <a:sym typeface="Calibri"/>
            </a:endParaRPr>
          </a:p>
        </p:txBody>
      </p: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333" name="Shape 1333"/>
        <p:cNvGrpSpPr/>
        <p:nvPr/>
      </p:nvGrpSpPr>
      <p:grpSpPr>
        <a:xfrm>
          <a:off x="0" y="0"/>
          <a:ext cx="0" cy="0"/>
          <a:chOff x="0" y="0"/>
          <a:chExt cx="0" cy="0"/>
        </a:xfrm>
      </p:grpSpPr>
      <p:sp>
        <p:nvSpPr>
          <p:cNvPr id="1334" name="Google Shape;1334;p46"/>
          <p:cNvSpPr/>
          <p:nvPr/>
        </p:nvSpPr>
        <p:spPr>
          <a:xfrm>
            <a:off x="502920" y="274320"/>
            <a:ext cx="9646920" cy="56692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D2A5C"/>
              </a:buClr>
              <a:buSzPts val="2700"/>
              <a:buFont typeface="Calibri"/>
              <a:buNone/>
            </a:pPr>
            <a:r>
              <a:rPr b="1" i="0" lang="en-US" sz="2700" u="none" cap="none" strike="noStrike">
                <a:solidFill>
                  <a:srgbClr val="1D2A5C"/>
                </a:solidFill>
                <a:latin typeface="Calibri"/>
                <a:ea typeface="Calibri"/>
                <a:cs typeface="Calibri"/>
                <a:sym typeface="Calibri"/>
              </a:rPr>
              <a:t>Case study - satellite land-use classification</a:t>
            </a:r>
            <a:endParaRPr b="0" i="0" sz="2700" u="none" cap="none" strike="noStrike">
              <a:solidFill>
                <a:schemeClr val="dk1"/>
              </a:solidFill>
              <a:latin typeface="Calibri"/>
              <a:ea typeface="Calibri"/>
              <a:cs typeface="Calibri"/>
              <a:sym typeface="Calibri"/>
            </a:endParaRPr>
          </a:p>
        </p:txBody>
      </p:sp>
      <p:sp>
        <p:nvSpPr>
          <p:cNvPr id="1335" name="Google Shape;1335;p46"/>
          <p:cNvSpPr/>
          <p:nvPr/>
        </p:nvSpPr>
        <p:spPr>
          <a:xfrm>
            <a:off x="502920" y="859536"/>
            <a:ext cx="9646920" cy="31089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F6B7A"/>
              </a:buClr>
              <a:buSzPts val="1250"/>
              <a:buFont typeface="Arial"/>
              <a:buNone/>
            </a:pPr>
            <a:r>
              <a:rPr b="0" i="0" lang="en-US" sz="1250" u="none" cap="none" strike="noStrike">
                <a:solidFill>
                  <a:srgbClr val="5F6B7A"/>
                </a:solidFill>
                <a:latin typeface="Arial"/>
                <a:ea typeface="Arial"/>
                <a:cs typeface="Arial"/>
                <a:sym typeface="Arial"/>
              </a:rPr>
              <a:t>دراسة حالة: تصنيف استخدام الأراضي</a:t>
            </a:r>
            <a:endParaRPr b="0" i="0" sz="1250" u="none" cap="none" strike="noStrike">
              <a:solidFill>
                <a:schemeClr val="dk1"/>
              </a:solidFill>
              <a:latin typeface="Calibri"/>
              <a:ea typeface="Calibri"/>
              <a:cs typeface="Calibri"/>
              <a:sym typeface="Calibri"/>
            </a:endParaRPr>
          </a:p>
        </p:txBody>
      </p:sp>
      <p:pic>
        <p:nvPicPr>
          <p:cNvPr descr="/sessions/blissful-determined-ritchie/build/assets/sdaia_logo.png" id="1336" name="Google Shape;1336;p46"/>
          <p:cNvPicPr preferRelativeResize="0"/>
          <p:nvPr/>
        </p:nvPicPr>
        <p:blipFill rotWithShape="1">
          <a:blip r:embed="rId3">
            <a:alphaModFix/>
          </a:blip>
          <a:srcRect b="0" l="0" r="0" t="0"/>
          <a:stretch/>
        </p:blipFill>
        <p:spPr>
          <a:xfrm>
            <a:off x="10625328" y="310896"/>
            <a:ext cx="1078992" cy="264111"/>
          </a:xfrm>
          <a:prstGeom prst="rect">
            <a:avLst/>
          </a:prstGeom>
          <a:noFill/>
          <a:ln>
            <a:noFill/>
          </a:ln>
        </p:spPr>
      </p:pic>
      <p:sp>
        <p:nvSpPr>
          <p:cNvPr id="1337" name="Google Shape;1337;p46"/>
          <p:cNvSpPr/>
          <p:nvPr/>
        </p:nvSpPr>
        <p:spPr>
          <a:xfrm>
            <a:off x="502920" y="6528816"/>
            <a:ext cx="8686800"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A79D"/>
              </a:buClr>
              <a:buSzPts val="800"/>
              <a:buFont typeface="Calibri"/>
              <a:buNone/>
            </a:pPr>
            <a:r>
              <a:rPr b="1" i="0" lang="en-US" sz="800" u="none" cap="none" strike="noStrike">
                <a:solidFill>
                  <a:srgbClr val="00A79D"/>
                </a:solidFill>
                <a:latin typeface="Calibri"/>
                <a:ea typeface="Calibri"/>
                <a:cs typeface="Calibri"/>
                <a:sym typeface="Calibri"/>
              </a:rPr>
              <a:t>MODULE 2 · CASE   </a:t>
            </a:r>
            <a:r>
              <a:rPr b="0" i="0" lang="en-US" sz="800" u="none" cap="none" strike="noStrike">
                <a:solidFill>
                  <a:srgbClr val="8A96A6"/>
                </a:solidFill>
                <a:latin typeface="Calibri"/>
                <a:ea typeface="Calibri"/>
                <a:cs typeface="Calibri"/>
                <a:sym typeface="Calibri"/>
              </a:rPr>
              <a:t>SDA-AIE-212 · Computer Vision Systems Development</a:t>
            </a:r>
            <a:endParaRPr b="0" i="0" sz="800" u="none" cap="none" strike="noStrike">
              <a:solidFill>
                <a:schemeClr val="dk1"/>
              </a:solidFill>
              <a:latin typeface="Calibri"/>
              <a:ea typeface="Calibri"/>
              <a:cs typeface="Calibri"/>
              <a:sym typeface="Calibri"/>
            </a:endParaRPr>
          </a:p>
        </p:txBody>
      </p:sp>
      <p:sp>
        <p:nvSpPr>
          <p:cNvPr id="1338" name="Google Shape;1338;p46"/>
          <p:cNvSpPr/>
          <p:nvPr/>
        </p:nvSpPr>
        <p:spPr>
          <a:xfrm>
            <a:off x="11292840" y="6528816"/>
            <a:ext cx="411480" cy="219456"/>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8A96A6"/>
              </a:buClr>
              <a:buSzPts val="900"/>
              <a:buFont typeface="Calibri"/>
              <a:buNone/>
            </a:pPr>
            <a:r>
              <a:rPr b="0" i="0" lang="en-US" sz="900" u="none" cap="none" strike="noStrike">
                <a:solidFill>
                  <a:srgbClr val="8A96A6"/>
                </a:solidFill>
                <a:latin typeface="Calibri"/>
                <a:ea typeface="Calibri"/>
                <a:cs typeface="Calibri"/>
                <a:sym typeface="Calibri"/>
              </a:rPr>
              <a:t>46</a:t>
            </a:r>
            <a:endParaRPr b="0" i="0" sz="900" u="none" cap="none" strike="noStrike">
              <a:solidFill>
                <a:schemeClr val="dk1"/>
              </a:solidFill>
              <a:latin typeface="Calibri"/>
              <a:ea typeface="Calibri"/>
              <a:cs typeface="Calibri"/>
              <a:sym typeface="Calibri"/>
            </a:endParaRPr>
          </a:p>
        </p:txBody>
      </p:sp>
      <p:sp>
        <p:nvSpPr>
          <p:cNvPr id="1339" name="Google Shape;1339;p46"/>
          <p:cNvSpPr/>
          <p:nvPr/>
        </p:nvSpPr>
        <p:spPr>
          <a:xfrm>
            <a:off x="502920" y="1389888"/>
            <a:ext cx="6035040" cy="2377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A79D"/>
              </a:buClr>
              <a:buSzPts val="1000"/>
              <a:buFont typeface="Calibri"/>
              <a:buNone/>
            </a:pPr>
            <a:r>
              <a:rPr b="1" i="0" lang="en-US" sz="1000" u="none" cap="none" strike="noStrike">
                <a:solidFill>
                  <a:srgbClr val="00A79D"/>
                </a:solidFill>
                <a:latin typeface="Calibri"/>
                <a:ea typeface="Calibri"/>
                <a:cs typeface="Calibri"/>
                <a:sym typeface="Calibri"/>
              </a:rPr>
              <a:t>SCENARIO</a:t>
            </a:r>
            <a:endParaRPr b="0" i="0" sz="1000" u="none" cap="none" strike="noStrike">
              <a:solidFill>
                <a:schemeClr val="dk1"/>
              </a:solidFill>
              <a:latin typeface="Calibri"/>
              <a:ea typeface="Calibri"/>
              <a:cs typeface="Calibri"/>
              <a:sym typeface="Calibri"/>
            </a:endParaRPr>
          </a:p>
        </p:txBody>
      </p:sp>
      <p:sp>
        <p:nvSpPr>
          <p:cNvPr id="1340" name="Google Shape;1340;p46"/>
          <p:cNvSpPr/>
          <p:nvPr/>
        </p:nvSpPr>
        <p:spPr>
          <a:xfrm>
            <a:off x="502920" y="1645920"/>
            <a:ext cx="6035040" cy="6858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23293B"/>
              </a:buClr>
              <a:buSzPts val="1150"/>
              <a:buFont typeface="Calibri"/>
              <a:buNone/>
            </a:pPr>
            <a:r>
              <a:rPr b="0" i="0" lang="en-US" sz="1150" u="none" cap="none" strike="noStrike">
                <a:solidFill>
                  <a:srgbClr val="23293B"/>
                </a:solidFill>
                <a:latin typeface="Calibri"/>
                <a:ea typeface="Calibri"/>
                <a:cs typeface="Calibri"/>
                <a:sym typeface="Calibri"/>
              </a:rPr>
              <a:t>A national geospatial agency classifies 512x512 satellite tiles into seven land-use classes to detect unlicensed development. A contractor delivers a ViT-L/16 at 94.1% accuracy; the agency's own team counters with EfficientNet-B3 at 92.8%. Procurement must choose.</a:t>
            </a:r>
            <a:endParaRPr b="0" i="0" sz="1150" u="none" cap="none" strike="noStrike">
              <a:solidFill>
                <a:schemeClr val="dk1"/>
              </a:solidFill>
              <a:latin typeface="Calibri"/>
              <a:ea typeface="Calibri"/>
              <a:cs typeface="Calibri"/>
              <a:sym typeface="Calibri"/>
            </a:endParaRPr>
          </a:p>
        </p:txBody>
      </p:sp>
      <p:sp>
        <p:nvSpPr>
          <p:cNvPr id="1341" name="Google Shape;1341;p46"/>
          <p:cNvSpPr/>
          <p:nvPr/>
        </p:nvSpPr>
        <p:spPr>
          <a:xfrm>
            <a:off x="502920" y="2496312"/>
            <a:ext cx="6035040" cy="2377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A79D"/>
              </a:buClr>
              <a:buSzPts val="1000"/>
              <a:buFont typeface="Calibri"/>
              <a:buNone/>
            </a:pPr>
            <a:r>
              <a:rPr b="1" i="0" lang="en-US" sz="1000" u="none" cap="none" strike="noStrike">
                <a:solidFill>
                  <a:srgbClr val="00A79D"/>
                </a:solidFill>
                <a:latin typeface="Calibri"/>
                <a:ea typeface="Calibri"/>
                <a:cs typeface="Calibri"/>
                <a:sym typeface="Calibri"/>
              </a:rPr>
              <a:t>BUSINESS CONTEXT</a:t>
            </a:r>
            <a:endParaRPr b="0" i="0" sz="1000" u="none" cap="none" strike="noStrike">
              <a:solidFill>
                <a:schemeClr val="dk1"/>
              </a:solidFill>
              <a:latin typeface="Calibri"/>
              <a:ea typeface="Calibri"/>
              <a:cs typeface="Calibri"/>
              <a:sym typeface="Calibri"/>
            </a:endParaRPr>
          </a:p>
        </p:txBody>
      </p:sp>
      <p:sp>
        <p:nvSpPr>
          <p:cNvPr id="1342" name="Google Shape;1342;p46"/>
          <p:cNvSpPr/>
          <p:nvPr/>
        </p:nvSpPr>
        <p:spPr>
          <a:xfrm>
            <a:off x="502920" y="2752344"/>
            <a:ext cx="6035040" cy="6858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5F6B7A"/>
              </a:buClr>
              <a:buSzPts val="1150"/>
              <a:buFont typeface="Calibri"/>
              <a:buNone/>
            </a:pPr>
            <a:r>
              <a:rPr b="0" i="0" lang="en-US" sz="1150" u="none" cap="none" strike="noStrike">
                <a:solidFill>
                  <a:srgbClr val="5F6B7A"/>
                </a:solidFill>
                <a:latin typeface="Calibri"/>
                <a:ea typeface="Calibri"/>
                <a:cs typeface="Calibri"/>
                <a:sym typeface="Calibri"/>
              </a:rPr>
              <a:t>The model back-fills 11 years of imagery - 2.1 billion tiles - on a fixed on-prem GPU cluster, then runs monthly deltas. Disputed classifications feed legal enforcement and must be explainable to a review board.</a:t>
            </a:r>
            <a:endParaRPr b="0" i="0" sz="1150" u="none" cap="none" strike="noStrike">
              <a:solidFill>
                <a:schemeClr val="dk1"/>
              </a:solidFill>
              <a:latin typeface="Calibri"/>
              <a:ea typeface="Calibri"/>
              <a:cs typeface="Calibri"/>
              <a:sym typeface="Calibri"/>
            </a:endParaRPr>
          </a:p>
        </p:txBody>
      </p:sp>
      <p:sp>
        <p:nvSpPr>
          <p:cNvPr id="1343" name="Google Shape;1343;p46"/>
          <p:cNvSpPr/>
          <p:nvPr/>
        </p:nvSpPr>
        <p:spPr>
          <a:xfrm>
            <a:off x="502920" y="3602736"/>
            <a:ext cx="6035040" cy="2377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A79D"/>
              </a:buClr>
              <a:buSzPts val="1000"/>
              <a:buFont typeface="Calibri"/>
              <a:buNone/>
            </a:pPr>
            <a:r>
              <a:rPr b="1" i="0" lang="en-US" sz="1000" u="none" cap="none" strike="noStrike">
                <a:solidFill>
                  <a:srgbClr val="00A79D"/>
                </a:solidFill>
                <a:latin typeface="Calibri"/>
                <a:ea typeface="Calibri"/>
                <a:cs typeface="Calibri"/>
                <a:sym typeface="Calibri"/>
              </a:rPr>
              <a:t>TECHNICAL CHALLENGE</a:t>
            </a:r>
            <a:endParaRPr b="0" i="0" sz="1000" u="none" cap="none" strike="noStrike">
              <a:solidFill>
                <a:schemeClr val="dk1"/>
              </a:solidFill>
              <a:latin typeface="Calibri"/>
              <a:ea typeface="Calibri"/>
              <a:cs typeface="Calibri"/>
              <a:sym typeface="Calibri"/>
            </a:endParaRPr>
          </a:p>
        </p:txBody>
      </p:sp>
      <p:sp>
        <p:nvSpPr>
          <p:cNvPr id="1344" name="Google Shape;1344;p46"/>
          <p:cNvSpPr/>
          <p:nvPr/>
        </p:nvSpPr>
        <p:spPr>
          <a:xfrm>
            <a:off x="502920" y="3858768"/>
            <a:ext cx="6035040" cy="6858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5F6B7A"/>
              </a:buClr>
              <a:buSzPts val="1150"/>
              <a:buFont typeface="Calibri"/>
              <a:buNone/>
            </a:pPr>
            <a:r>
              <a:rPr b="0" i="0" lang="en-US" sz="1150" u="none" cap="none" strike="noStrike">
                <a:solidFill>
                  <a:srgbClr val="5F6B7A"/>
                </a:solidFill>
                <a:latin typeface="Calibri"/>
                <a:ea typeface="Calibri"/>
                <a:cs typeface="Calibri"/>
                <a:sym typeface="Calibri"/>
              </a:rPr>
              <a:t>Not 94.1 vs 92.8: ViT-L is 5.3x slower - 14 months vs 2.6 months of cluster time - plus per-class recall on two legally sensitive classes and evidence quality (attention rollout vs Grad-CAM) for the board.</a:t>
            </a:r>
            <a:endParaRPr b="0" i="0" sz="1150" u="none" cap="none" strike="noStrike">
              <a:solidFill>
                <a:schemeClr val="dk1"/>
              </a:solidFill>
              <a:latin typeface="Calibri"/>
              <a:ea typeface="Calibri"/>
              <a:cs typeface="Calibri"/>
              <a:sym typeface="Calibri"/>
            </a:endParaRPr>
          </a:p>
        </p:txBody>
      </p:sp>
      <p:sp>
        <p:nvSpPr>
          <p:cNvPr id="1345" name="Google Shape;1345;p46"/>
          <p:cNvSpPr/>
          <p:nvPr/>
        </p:nvSpPr>
        <p:spPr>
          <a:xfrm>
            <a:off x="6858000" y="1389888"/>
            <a:ext cx="4828032" cy="2184684"/>
          </a:xfrm>
          <a:prstGeom prst="roundRect">
            <a:avLst>
              <a:gd fmla="val 3767" name="adj"/>
            </a:avLst>
          </a:prstGeom>
          <a:solidFill>
            <a:srgbClr val="F2F6F9"/>
          </a:solidFill>
          <a:ln cap="flat" cmpd="sng" w="12700">
            <a:solidFill>
              <a:srgbClr val="D9E2E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6" name="Google Shape;1346;p46"/>
          <p:cNvSpPr/>
          <p:nvPr/>
        </p:nvSpPr>
        <p:spPr>
          <a:xfrm>
            <a:off x="7040880" y="1481328"/>
            <a:ext cx="4462272" cy="2377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58220"/>
              </a:buClr>
              <a:buSzPts val="950"/>
              <a:buFont typeface="Calibri"/>
              <a:buNone/>
            </a:pPr>
            <a:r>
              <a:rPr b="1" i="0" lang="en-US" sz="950" u="none" cap="none" strike="noStrike">
                <a:solidFill>
                  <a:srgbClr val="F58220"/>
                </a:solidFill>
                <a:latin typeface="Calibri"/>
                <a:ea typeface="Calibri"/>
                <a:cs typeface="Calibri"/>
                <a:sym typeface="Calibri"/>
              </a:rPr>
              <a:t>CONSTRAINTS</a:t>
            </a:r>
            <a:endParaRPr b="0" i="0" sz="950" u="none" cap="none" strike="noStrike">
              <a:solidFill>
                <a:schemeClr val="dk1"/>
              </a:solidFill>
              <a:latin typeface="Calibri"/>
              <a:ea typeface="Calibri"/>
              <a:cs typeface="Calibri"/>
              <a:sym typeface="Calibri"/>
            </a:endParaRPr>
          </a:p>
        </p:txBody>
      </p:sp>
      <p:sp>
        <p:nvSpPr>
          <p:cNvPr id="1347" name="Google Shape;1347;p46"/>
          <p:cNvSpPr/>
          <p:nvPr/>
        </p:nvSpPr>
        <p:spPr>
          <a:xfrm>
            <a:off x="7095744" y="1755648"/>
            <a:ext cx="4370832" cy="1681764"/>
          </a:xfrm>
          <a:prstGeom prst="rect">
            <a:avLst/>
          </a:prstGeom>
          <a:noFill/>
          <a:ln>
            <a:noFill/>
          </a:ln>
        </p:spPr>
        <p:txBody>
          <a:bodyPr anchorCtr="0" anchor="t" bIns="0" lIns="0" spcFirstLastPara="1" rIns="0" wrap="square" tIns="0">
            <a:noAutofit/>
          </a:bodyPr>
          <a:lstStyle/>
          <a:p>
            <a:pPr indent="-127000" lvl="0" marL="127000" marR="0" rtl="0" algn="l">
              <a:spcBef>
                <a:spcPts val="0"/>
              </a:spcBef>
              <a:spcAft>
                <a:spcPts val="0"/>
              </a:spcAft>
              <a:buClr>
                <a:srgbClr val="23293B"/>
              </a:buClr>
              <a:buSzPts val="1050"/>
              <a:buFont typeface="Calibri"/>
              <a:buChar char="•"/>
            </a:pPr>
            <a:r>
              <a:rPr b="0" i="0" lang="en-US" sz="1050" u="none" cap="none" strike="noStrike">
                <a:solidFill>
                  <a:srgbClr val="23293B"/>
                </a:solidFill>
                <a:latin typeface="Calibri"/>
                <a:ea typeface="Calibri"/>
                <a:cs typeface="Calibri"/>
                <a:sym typeface="Calibri"/>
              </a:rPr>
              <a:t>Cluster capacity fixed; budget cycle closed</a:t>
            </a:r>
            <a:endParaRPr b="0" i="0" sz="1050" u="none" cap="none" strike="noStrike">
              <a:solidFill>
                <a:schemeClr val="dk1"/>
              </a:solidFill>
              <a:latin typeface="Calibri"/>
              <a:ea typeface="Calibri"/>
              <a:cs typeface="Calibri"/>
              <a:sym typeface="Calibri"/>
            </a:endParaRPr>
          </a:p>
          <a:p>
            <a:pPr indent="-127000" lvl="0" marL="127000" marR="0" rtl="0" algn="l">
              <a:spcBef>
                <a:spcPts val="500"/>
              </a:spcBef>
              <a:spcAft>
                <a:spcPts val="0"/>
              </a:spcAft>
              <a:buClr>
                <a:srgbClr val="23293B"/>
              </a:buClr>
              <a:buSzPts val="1050"/>
              <a:buFont typeface="Calibri"/>
              <a:buChar char="•"/>
            </a:pPr>
            <a:r>
              <a:rPr b="0" i="0" lang="en-US" sz="1050" u="none" cap="none" strike="noStrike">
                <a:solidFill>
                  <a:srgbClr val="23293B"/>
                </a:solidFill>
                <a:latin typeface="Calibri"/>
                <a:ea typeface="Calibri"/>
                <a:cs typeface="Calibri"/>
                <a:sym typeface="Calibri"/>
              </a:rPr>
              <a:t>Only 3,100 labelled tiles for sensitive classes</a:t>
            </a:r>
            <a:endParaRPr b="0" i="0" sz="1050" u="none" cap="none" strike="noStrike">
              <a:solidFill>
                <a:schemeClr val="dk1"/>
              </a:solidFill>
              <a:latin typeface="Calibri"/>
              <a:ea typeface="Calibri"/>
              <a:cs typeface="Calibri"/>
              <a:sym typeface="Calibri"/>
            </a:endParaRPr>
          </a:p>
          <a:p>
            <a:pPr indent="-127000" lvl="0" marL="127000" marR="0" rtl="0" algn="l">
              <a:spcBef>
                <a:spcPts val="500"/>
              </a:spcBef>
              <a:spcAft>
                <a:spcPts val="0"/>
              </a:spcAft>
              <a:buClr>
                <a:srgbClr val="23293B"/>
              </a:buClr>
              <a:buSzPts val="1050"/>
              <a:buFont typeface="Calibri"/>
              <a:buChar char="•"/>
            </a:pPr>
            <a:r>
              <a:rPr b="0" i="0" lang="en-US" sz="1050" u="none" cap="none" strike="noStrike">
                <a:solidFill>
                  <a:srgbClr val="23293B"/>
                </a:solidFill>
                <a:latin typeface="Calibri"/>
                <a:ea typeface="Calibri"/>
                <a:cs typeface="Calibri"/>
                <a:sym typeface="Calibri"/>
              </a:rPr>
              <a:t>Desert glare + seasonal agriculture confusions</a:t>
            </a:r>
            <a:endParaRPr b="0" i="0" sz="1050" u="none" cap="none" strike="noStrike">
              <a:solidFill>
                <a:schemeClr val="dk1"/>
              </a:solidFill>
              <a:latin typeface="Calibri"/>
              <a:ea typeface="Calibri"/>
              <a:cs typeface="Calibri"/>
              <a:sym typeface="Calibri"/>
            </a:endParaRPr>
          </a:p>
          <a:p>
            <a:pPr indent="-127000" lvl="0" marL="127000" marR="0" rtl="0" algn="l">
              <a:spcBef>
                <a:spcPts val="500"/>
              </a:spcBef>
              <a:spcAft>
                <a:spcPts val="0"/>
              </a:spcAft>
              <a:buClr>
                <a:srgbClr val="23293B"/>
              </a:buClr>
              <a:buSzPts val="1050"/>
              <a:buFont typeface="Calibri"/>
              <a:buChar char="•"/>
            </a:pPr>
            <a:r>
              <a:rPr b="0" i="0" lang="en-US" sz="1050" u="none" cap="none" strike="noStrike">
                <a:solidFill>
                  <a:srgbClr val="23293B"/>
                </a:solidFill>
                <a:latin typeface="Calibri"/>
                <a:ea typeface="Calibri"/>
                <a:cs typeface="Calibri"/>
                <a:sym typeface="Calibri"/>
              </a:rPr>
              <a:t>Classified imagery - no cloud processing</a:t>
            </a:r>
            <a:endParaRPr b="0" i="0" sz="1050" u="none" cap="none" strike="noStrike">
              <a:solidFill>
                <a:schemeClr val="dk1"/>
              </a:solidFill>
              <a:latin typeface="Calibri"/>
              <a:ea typeface="Calibri"/>
              <a:cs typeface="Calibri"/>
              <a:sym typeface="Calibri"/>
            </a:endParaRPr>
          </a:p>
        </p:txBody>
      </p:sp>
      <p:sp>
        <p:nvSpPr>
          <p:cNvPr id="1348" name="Google Shape;1348;p46"/>
          <p:cNvSpPr/>
          <p:nvPr/>
        </p:nvSpPr>
        <p:spPr>
          <a:xfrm>
            <a:off x="6858000" y="3803172"/>
            <a:ext cx="4828032" cy="2551908"/>
          </a:xfrm>
          <a:prstGeom prst="roundRect">
            <a:avLst>
              <a:gd fmla="val 3225" name="adj"/>
            </a:avLst>
          </a:prstGeom>
          <a:solidFill>
            <a:srgbClr val="E9F6F5"/>
          </a:solidFill>
          <a:ln cap="flat" cmpd="sng" w="12700">
            <a:solidFill>
              <a:srgbClr val="00A79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9" name="Google Shape;1349;p46"/>
          <p:cNvSpPr/>
          <p:nvPr/>
        </p:nvSpPr>
        <p:spPr>
          <a:xfrm>
            <a:off x="7040880" y="3894612"/>
            <a:ext cx="4462272" cy="2377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A79D"/>
              </a:buClr>
              <a:buSzPts val="950"/>
              <a:buFont typeface="Calibri"/>
              <a:buNone/>
            </a:pPr>
            <a:r>
              <a:rPr b="1" i="0" lang="en-US" sz="950" u="none" cap="none" strike="noStrike">
                <a:solidFill>
                  <a:srgbClr val="00A79D"/>
                </a:solidFill>
                <a:latin typeface="Calibri"/>
                <a:ea typeface="Calibri"/>
                <a:cs typeface="Calibri"/>
                <a:sym typeface="Calibri"/>
              </a:rPr>
              <a:t>DISCUSSION QUESTIONS</a:t>
            </a:r>
            <a:endParaRPr b="0" i="0" sz="950" u="none" cap="none" strike="noStrike">
              <a:solidFill>
                <a:schemeClr val="dk1"/>
              </a:solidFill>
              <a:latin typeface="Calibri"/>
              <a:ea typeface="Calibri"/>
              <a:cs typeface="Calibri"/>
              <a:sym typeface="Calibri"/>
            </a:endParaRPr>
          </a:p>
        </p:txBody>
      </p:sp>
      <p:sp>
        <p:nvSpPr>
          <p:cNvPr id="1350" name="Google Shape;1350;p46"/>
          <p:cNvSpPr/>
          <p:nvPr/>
        </p:nvSpPr>
        <p:spPr>
          <a:xfrm>
            <a:off x="7095744" y="4168932"/>
            <a:ext cx="4370832" cy="2048988"/>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23293B"/>
              </a:buClr>
              <a:buSzPts val="1050"/>
              <a:buFont typeface="Calibri"/>
              <a:buNone/>
            </a:pPr>
            <a:r>
              <a:rPr b="0" i="0" lang="en-US" sz="1050" u="none" cap="none" strike="noStrike">
                <a:solidFill>
                  <a:srgbClr val="23293B"/>
                </a:solidFill>
                <a:latin typeface="Calibri"/>
                <a:ea typeface="Calibri"/>
                <a:cs typeface="Calibri"/>
                <a:sym typeface="Calibri"/>
              </a:rPr>
              <a:t>1.  What single number should procurement have asked for instead of accuracy?</a:t>
            </a:r>
            <a:endParaRPr b="0" i="0" sz="1050" u="none" cap="none" strike="noStrike">
              <a:solidFill>
                <a:schemeClr val="dk1"/>
              </a:solidFill>
              <a:latin typeface="Calibri"/>
              <a:ea typeface="Calibri"/>
              <a:cs typeface="Calibri"/>
              <a:sym typeface="Calibri"/>
            </a:endParaRPr>
          </a:p>
          <a:p>
            <a:pPr indent="0" lvl="0" marL="0" marR="0" rtl="0" algn="l">
              <a:spcBef>
                <a:spcPts val="600"/>
              </a:spcBef>
              <a:spcAft>
                <a:spcPts val="0"/>
              </a:spcAft>
              <a:buClr>
                <a:srgbClr val="23293B"/>
              </a:buClr>
              <a:buSzPts val="1050"/>
              <a:buFont typeface="Calibri"/>
              <a:buNone/>
            </a:pPr>
            <a:r>
              <a:rPr b="0" i="0" lang="en-US" sz="1050" u="none" cap="none" strike="noStrike">
                <a:solidFill>
                  <a:srgbClr val="23293B"/>
                </a:solidFill>
                <a:latin typeface="Calibri"/>
                <a:ea typeface="Calibri"/>
                <a:cs typeface="Calibri"/>
                <a:sym typeface="Calibri"/>
              </a:rPr>
              <a:t>2.  Design the cascade routing rule - which tiles go to the referee model?</a:t>
            </a:r>
            <a:endParaRPr b="0" i="0" sz="1050" u="none" cap="none" strike="noStrike">
              <a:solidFill>
                <a:schemeClr val="dk1"/>
              </a:solidFill>
              <a:latin typeface="Calibri"/>
              <a:ea typeface="Calibri"/>
              <a:cs typeface="Calibri"/>
              <a:sym typeface="Calibri"/>
            </a:endParaRPr>
          </a:p>
          <a:p>
            <a:pPr indent="0" lvl="0" marL="0" marR="0" rtl="0" algn="l">
              <a:spcBef>
                <a:spcPts val="600"/>
              </a:spcBef>
              <a:spcAft>
                <a:spcPts val="0"/>
              </a:spcAft>
              <a:buClr>
                <a:srgbClr val="23293B"/>
              </a:buClr>
              <a:buSzPts val="1050"/>
              <a:buFont typeface="Calibri"/>
              <a:buNone/>
            </a:pPr>
            <a:r>
              <a:rPr b="0" i="0" lang="en-US" sz="1050" u="none" cap="none" strike="noStrike">
                <a:solidFill>
                  <a:srgbClr val="23293B"/>
                </a:solidFill>
                <a:latin typeface="Calibri"/>
                <a:ea typeface="Calibri"/>
                <a:cs typeface="Calibri"/>
                <a:sym typeface="Calibri"/>
              </a:rPr>
              <a:t>3.  Attention rollout vs Grad-CAM as legal evidence for 'why built-up?'</a:t>
            </a:r>
            <a:endParaRPr b="0" i="0" sz="1050" u="none" cap="none" strike="noStrike">
              <a:solidFill>
                <a:schemeClr val="dk1"/>
              </a:solidFill>
              <a:latin typeface="Calibri"/>
              <a:ea typeface="Calibri"/>
              <a:cs typeface="Calibri"/>
              <a:sym typeface="Calibri"/>
            </a:endParaRPr>
          </a:p>
          <a:p>
            <a:pPr indent="0" lvl="0" marL="0" marR="0" rtl="0" algn="l">
              <a:spcBef>
                <a:spcPts val="600"/>
              </a:spcBef>
              <a:spcAft>
                <a:spcPts val="0"/>
              </a:spcAft>
              <a:buClr>
                <a:srgbClr val="23293B"/>
              </a:buClr>
              <a:buSzPts val="1050"/>
              <a:buFont typeface="Calibri"/>
              <a:buNone/>
            </a:pPr>
            <a:r>
              <a:rPr b="0" i="0" lang="en-US" sz="1050" u="none" cap="none" strike="noStrike">
                <a:solidFill>
                  <a:srgbClr val="23293B"/>
                </a:solidFill>
                <a:latin typeface="Calibri"/>
                <a:ea typeface="Calibri"/>
                <a:cs typeface="Calibri"/>
                <a:sym typeface="Calibri"/>
              </a:rPr>
              <a:t>4.  How would you spend a budget of 5,000 new labels?</a:t>
            </a:r>
            <a:endParaRPr b="0" i="0" sz="1050" u="none" cap="none" strike="noStrike">
              <a:solidFill>
                <a:schemeClr val="dk1"/>
              </a:solidFill>
              <a:latin typeface="Calibri"/>
              <a:ea typeface="Calibri"/>
              <a:cs typeface="Calibri"/>
              <a:sym typeface="Calibri"/>
            </a:endParaRPr>
          </a:p>
        </p:txBody>
      </p:sp>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355" name="Shape 1355"/>
        <p:cNvGrpSpPr/>
        <p:nvPr/>
      </p:nvGrpSpPr>
      <p:grpSpPr>
        <a:xfrm>
          <a:off x="0" y="0"/>
          <a:ext cx="0" cy="0"/>
          <a:chOff x="0" y="0"/>
          <a:chExt cx="0" cy="0"/>
        </a:xfrm>
      </p:grpSpPr>
      <p:sp>
        <p:nvSpPr>
          <p:cNvPr id="1356" name="Google Shape;1356;p47"/>
          <p:cNvSpPr/>
          <p:nvPr/>
        </p:nvSpPr>
        <p:spPr>
          <a:xfrm>
            <a:off x="502920" y="274320"/>
            <a:ext cx="9646920" cy="56692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D2A5C"/>
              </a:buClr>
              <a:buSzPts val="2700"/>
              <a:buFont typeface="Calibri"/>
              <a:buNone/>
            </a:pPr>
            <a:r>
              <a:rPr b="1" i="0" lang="en-US" sz="2700" u="none" cap="none" strike="noStrike">
                <a:solidFill>
                  <a:srgbClr val="1D2A5C"/>
                </a:solidFill>
                <a:latin typeface="Calibri"/>
                <a:ea typeface="Calibri"/>
                <a:cs typeface="Calibri"/>
                <a:sym typeface="Calibri"/>
              </a:rPr>
              <a:t>Benchmarks &amp; targets</a:t>
            </a:r>
            <a:endParaRPr b="0" i="0" sz="2700" u="none" cap="none" strike="noStrike">
              <a:solidFill>
                <a:schemeClr val="dk1"/>
              </a:solidFill>
              <a:latin typeface="Calibri"/>
              <a:ea typeface="Calibri"/>
              <a:cs typeface="Calibri"/>
              <a:sym typeface="Calibri"/>
            </a:endParaRPr>
          </a:p>
        </p:txBody>
      </p:sp>
      <p:sp>
        <p:nvSpPr>
          <p:cNvPr id="1357" name="Google Shape;1357;p47"/>
          <p:cNvSpPr/>
          <p:nvPr/>
        </p:nvSpPr>
        <p:spPr>
          <a:xfrm>
            <a:off x="502920" y="859536"/>
            <a:ext cx="9646920" cy="31089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F6B7A"/>
              </a:buClr>
              <a:buSzPts val="1250"/>
              <a:buFont typeface="Arial"/>
              <a:buNone/>
            </a:pPr>
            <a:r>
              <a:rPr b="0" i="0" lang="en-US" sz="1250" u="none" cap="none" strike="noStrike">
                <a:solidFill>
                  <a:srgbClr val="5F6B7A"/>
                </a:solidFill>
                <a:latin typeface="Arial"/>
                <a:ea typeface="Arial"/>
                <a:cs typeface="Arial"/>
                <a:sym typeface="Arial"/>
              </a:rPr>
              <a:t>المعايير والأهداف</a:t>
            </a:r>
            <a:endParaRPr b="0" i="0" sz="1250" u="none" cap="none" strike="noStrike">
              <a:solidFill>
                <a:schemeClr val="dk1"/>
              </a:solidFill>
              <a:latin typeface="Calibri"/>
              <a:ea typeface="Calibri"/>
              <a:cs typeface="Calibri"/>
              <a:sym typeface="Calibri"/>
            </a:endParaRPr>
          </a:p>
        </p:txBody>
      </p:sp>
      <p:pic>
        <p:nvPicPr>
          <p:cNvPr descr="/sessions/blissful-determined-ritchie/build/assets/sdaia_logo.png" id="1358" name="Google Shape;1358;p47"/>
          <p:cNvPicPr preferRelativeResize="0"/>
          <p:nvPr/>
        </p:nvPicPr>
        <p:blipFill rotWithShape="1">
          <a:blip r:embed="rId3">
            <a:alphaModFix/>
          </a:blip>
          <a:srcRect b="0" l="0" r="0" t="0"/>
          <a:stretch/>
        </p:blipFill>
        <p:spPr>
          <a:xfrm>
            <a:off x="10625328" y="310896"/>
            <a:ext cx="1078992" cy="264111"/>
          </a:xfrm>
          <a:prstGeom prst="rect">
            <a:avLst/>
          </a:prstGeom>
          <a:noFill/>
          <a:ln>
            <a:noFill/>
          </a:ln>
        </p:spPr>
      </p:pic>
      <p:sp>
        <p:nvSpPr>
          <p:cNvPr id="1359" name="Google Shape;1359;p47"/>
          <p:cNvSpPr/>
          <p:nvPr/>
        </p:nvSpPr>
        <p:spPr>
          <a:xfrm>
            <a:off x="502920" y="6528816"/>
            <a:ext cx="8686800"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A79D"/>
              </a:buClr>
              <a:buSzPts val="800"/>
              <a:buFont typeface="Calibri"/>
              <a:buNone/>
            </a:pPr>
            <a:r>
              <a:rPr b="1" i="0" lang="en-US" sz="800" u="none" cap="none" strike="noStrike">
                <a:solidFill>
                  <a:srgbClr val="00A79D"/>
                </a:solidFill>
                <a:latin typeface="Calibri"/>
                <a:ea typeface="Calibri"/>
                <a:cs typeface="Calibri"/>
                <a:sym typeface="Calibri"/>
              </a:rPr>
              <a:t>MODULE 2   </a:t>
            </a:r>
            <a:r>
              <a:rPr b="0" i="0" lang="en-US" sz="800" u="none" cap="none" strike="noStrike">
                <a:solidFill>
                  <a:srgbClr val="8A96A6"/>
                </a:solidFill>
                <a:latin typeface="Calibri"/>
                <a:ea typeface="Calibri"/>
                <a:cs typeface="Calibri"/>
                <a:sym typeface="Calibri"/>
              </a:rPr>
              <a:t>SDA-AIE-212 · Computer Vision Systems Development</a:t>
            </a:r>
            <a:endParaRPr b="0" i="0" sz="800" u="none" cap="none" strike="noStrike">
              <a:solidFill>
                <a:schemeClr val="dk1"/>
              </a:solidFill>
              <a:latin typeface="Calibri"/>
              <a:ea typeface="Calibri"/>
              <a:cs typeface="Calibri"/>
              <a:sym typeface="Calibri"/>
            </a:endParaRPr>
          </a:p>
        </p:txBody>
      </p:sp>
      <p:sp>
        <p:nvSpPr>
          <p:cNvPr id="1360" name="Google Shape;1360;p47"/>
          <p:cNvSpPr/>
          <p:nvPr/>
        </p:nvSpPr>
        <p:spPr>
          <a:xfrm>
            <a:off x="11292840" y="6528816"/>
            <a:ext cx="411480" cy="219456"/>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8A96A6"/>
              </a:buClr>
              <a:buSzPts val="900"/>
              <a:buFont typeface="Calibri"/>
              <a:buNone/>
            </a:pPr>
            <a:r>
              <a:rPr b="0" i="0" lang="en-US" sz="900" u="none" cap="none" strike="noStrike">
                <a:solidFill>
                  <a:srgbClr val="8A96A6"/>
                </a:solidFill>
                <a:latin typeface="Calibri"/>
                <a:ea typeface="Calibri"/>
                <a:cs typeface="Calibri"/>
                <a:sym typeface="Calibri"/>
              </a:rPr>
              <a:t>47</a:t>
            </a:r>
            <a:endParaRPr b="0" i="0" sz="900" u="none" cap="none" strike="noStrike">
              <a:solidFill>
                <a:schemeClr val="dk1"/>
              </a:solidFill>
              <a:latin typeface="Calibri"/>
              <a:ea typeface="Calibri"/>
              <a:cs typeface="Calibri"/>
              <a:sym typeface="Calibri"/>
            </a:endParaRPr>
          </a:p>
        </p:txBody>
      </p:sp>
      <p:sp>
        <p:nvSpPr>
          <p:cNvPr id="1361" name="Google Shape;1361;p47"/>
          <p:cNvSpPr/>
          <p:nvPr/>
        </p:nvSpPr>
        <p:spPr>
          <a:xfrm>
            <a:off x="502920" y="1389888"/>
            <a:ext cx="11185855" cy="3657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5F6B7A"/>
              </a:buClr>
              <a:buSzPts val="1250"/>
              <a:buFont typeface="Calibri"/>
              <a:buNone/>
            </a:pPr>
            <a:r>
              <a:rPr b="0" i="1" lang="en-US" sz="1250" u="none" cap="none" strike="noStrike">
                <a:solidFill>
                  <a:srgbClr val="5F6B7A"/>
                </a:solidFill>
                <a:latin typeface="Calibri"/>
                <a:ea typeface="Calibri"/>
                <a:cs typeface="Calibri"/>
                <a:sym typeface="Calibri"/>
              </a:rPr>
              <a:t>Targets: macro-F1 &gt;= 0.88, reject recall &gt;= 0.95, training &lt;= 15 min, eval determinism delta = 0.0000. Params: 25.6M vs 86.6M.</a:t>
            </a:r>
            <a:endParaRPr b="0" i="0" sz="1250" u="none" cap="none" strike="noStrike">
              <a:solidFill>
                <a:schemeClr val="dk1"/>
              </a:solidFill>
              <a:latin typeface="Calibri"/>
              <a:ea typeface="Calibri"/>
              <a:cs typeface="Calibri"/>
              <a:sym typeface="Calibri"/>
            </a:endParaRPr>
          </a:p>
        </p:txBody>
      </p:sp>
      <p:graphicFrame>
        <p:nvGraphicFramePr>
          <p:cNvPr id="1362" name="Google Shape;1362;p47"/>
          <p:cNvGraphicFramePr/>
          <p:nvPr/>
        </p:nvGraphicFramePr>
        <p:xfrm>
          <a:off x="502920" y="1865376"/>
          <a:ext cx="3000000" cy="3000000"/>
        </p:xfrm>
        <a:graphic>
          <a:graphicData uri="http://schemas.openxmlformats.org/drawingml/2006/table">
            <a:tbl>
              <a:tblPr>
                <a:noFill/>
                <a:tableStyleId>{F80342BA-3033-44D6-9F91-622DC7A4C435}</a:tableStyleId>
              </a:tblPr>
              <a:tblGrid>
                <a:gridCol w="3384550"/>
                <a:gridCol w="2499650"/>
                <a:gridCol w="2601725"/>
                <a:gridCol w="2699925"/>
              </a:tblGrid>
              <a:tr h="713225">
                <a:tc>
                  <a:txBody>
                    <a:bodyPr/>
                    <a:lstStyle/>
                    <a:p>
                      <a:pPr indent="0" lvl="0" marL="0" marR="0" rtl="0" algn="l">
                        <a:spcBef>
                          <a:spcPts val="0"/>
                        </a:spcBef>
                        <a:spcAft>
                          <a:spcPts val="0"/>
                        </a:spcAft>
                        <a:buClr>
                          <a:srgbClr val="FFFFFF"/>
                        </a:buClr>
                        <a:buSzPts val="1150"/>
                        <a:buFont typeface="Calibri"/>
                        <a:buNone/>
                      </a:pPr>
                      <a:r>
                        <a:rPr b="1" lang="en-US" sz="1150" u="none" cap="none" strike="noStrike">
                          <a:solidFill>
                            <a:srgbClr val="FFFFFF"/>
                          </a:solidFill>
                          <a:latin typeface="Calibri"/>
                          <a:ea typeface="Calibri"/>
                          <a:cs typeface="Calibri"/>
                          <a:sym typeface="Calibri"/>
                        </a:rPr>
                        <a:t>Model</a:t>
                      </a:r>
                      <a:endParaRPr sz="1150" u="none" cap="none" strike="noStrike">
                        <a:latin typeface="Calibri"/>
                        <a:ea typeface="Calibri"/>
                        <a:cs typeface="Calibri"/>
                        <a:sym typeface="Calibri"/>
                      </a:endParaRPr>
                    </a:p>
                  </a:txBody>
                  <a:tcPr marT="64000" marB="64000" marR="64000" marL="64000" anchor="ctr">
                    <a:lnL cap="flat" cmpd="sng" w="9525">
                      <a:solidFill>
                        <a:srgbClr val="D9E2EA"/>
                      </a:solidFill>
                      <a:prstDash val="solid"/>
                      <a:round/>
                      <a:headEnd len="sm" w="sm" type="none"/>
                      <a:tailEnd len="sm" w="sm" type="none"/>
                    </a:lnL>
                    <a:lnR cap="flat" cmpd="sng" w="9525">
                      <a:solidFill>
                        <a:srgbClr val="D9E2EA"/>
                      </a:solidFill>
                      <a:prstDash val="solid"/>
                      <a:round/>
                      <a:headEnd len="sm" w="sm" type="none"/>
                      <a:tailEnd len="sm" w="sm" type="none"/>
                    </a:lnR>
                    <a:lnT cap="flat" cmpd="sng" w="9525">
                      <a:solidFill>
                        <a:srgbClr val="D9E2EA"/>
                      </a:solidFill>
                      <a:prstDash val="solid"/>
                      <a:round/>
                      <a:headEnd len="sm" w="sm" type="none"/>
                      <a:tailEnd len="sm" w="sm" type="none"/>
                    </a:lnT>
                    <a:lnB cap="flat" cmpd="sng" w="9525">
                      <a:solidFill>
                        <a:srgbClr val="D9E2EA"/>
                      </a:solidFill>
                      <a:prstDash val="solid"/>
                      <a:round/>
                      <a:headEnd len="sm" w="sm" type="none"/>
                      <a:tailEnd len="sm" w="sm" type="none"/>
                    </a:lnB>
                    <a:solidFill>
                      <a:srgbClr val="1D2A5C"/>
                    </a:solidFill>
                  </a:tcPr>
                </a:tc>
                <a:tc>
                  <a:txBody>
                    <a:bodyPr/>
                    <a:lstStyle/>
                    <a:p>
                      <a:pPr indent="0" lvl="0" marL="0" marR="0" rtl="0" algn="l">
                        <a:spcBef>
                          <a:spcPts val="0"/>
                        </a:spcBef>
                        <a:spcAft>
                          <a:spcPts val="0"/>
                        </a:spcAft>
                        <a:buClr>
                          <a:srgbClr val="FFFFFF"/>
                        </a:buClr>
                        <a:buSzPts val="1150"/>
                        <a:buFont typeface="Calibri"/>
                        <a:buNone/>
                      </a:pPr>
                      <a:r>
                        <a:rPr b="1" lang="en-US" sz="1150" u="none" cap="none" strike="noStrike">
                          <a:solidFill>
                            <a:srgbClr val="FFFFFF"/>
                          </a:solidFill>
                          <a:latin typeface="Calibri"/>
                          <a:ea typeface="Calibri"/>
                          <a:cs typeface="Calibri"/>
                          <a:sym typeface="Calibri"/>
                        </a:rPr>
                        <a:t>Val macro-F1</a:t>
                      </a:r>
                      <a:endParaRPr sz="1150" u="none" cap="none" strike="noStrike">
                        <a:latin typeface="Calibri"/>
                        <a:ea typeface="Calibri"/>
                        <a:cs typeface="Calibri"/>
                        <a:sym typeface="Calibri"/>
                      </a:endParaRPr>
                    </a:p>
                  </a:txBody>
                  <a:tcPr marT="64000" marB="64000" marR="64000" marL="64000" anchor="ctr">
                    <a:lnL cap="flat" cmpd="sng" w="9525">
                      <a:solidFill>
                        <a:srgbClr val="D9E2EA"/>
                      </a:solidFill>
                      <a:prstDash val="solid"/>
                      <a:round/>
                      <a:headEnd len="sm" w="sm" type="none"/>
                      <a:tailEnd len="sm" w="sm" type="none"/>
                    </a:lnL>
                    <a:lnR cap="flat" cmpd="sng" w="9525">
                      <a:solidFill>
                        <a:srgbClr val="D9E2EA"/>
                      </a:solidFill>
                      <a:prstDash val="solid"/>
                      <a:round/>
                      <a:headEnd len="sm" w="sm" type="none"/>
                      <a:tailEnd len="sm" w="sm" type="none"/>
                    </a:lnR>
                    <a:lnT cap="flat" cmpd="sng" w="9525">
                      <a:solidFill>
                        <a:srgbClr val="D9E2EA"/>
                      </a:solidFill>
                      <a:prstDash val="solid"/>
                      <a:round/>
                      <a:headEnd len="sm" w="sm" type="none"/>
                      <a:tailEnd len="sm" w="sm" type="none"/>
                    </a:lnT>
                    <a:lnB cap="flat" cmpd="sng" w="9525">
                      <a:solidFill>
                        <a:srgbClr val="D9E2EA"/>
                      </a:solidFill>
                      <a:prstDash val="solid"/>
                      <a:round/>
                      <a:headEnd len="sm" w="sm" type="none"/>
                      <a:tailEnd len="sm" w="sm" type="none"/>
                    </a:lnB>
                    <a:solidFill>
                      <a:srgbClr val="1D2A5C"/>
                    </a:solidFill>
                  </a:tcPr>
                </a:tc>
                <a:tc>
                  <a:txBody>
                    <a:bodyPr/>
                    <a:lstStyle/>
                    <a:p>
                      <a:pPr indent="0" lvl="0" marL="0" marR="0" rtl="0" algn="l">
                        <a:spcBef>
                          <a:spcPts val="0"/>
                        </a:spcBef>
                        <a:spcAft>
                          <a:spcPts val="0"/>
                        </a:spcAft>
                        <a:buClr>
                          <a:srgbClr val="FFFFFF"/>
                        </a:buClr>
                        <a:buSzPts val="1150"/>
                        <a:buFont typeface="Calibri"/>
                        <a:buNone/>
                      </a:pPr>
                      <a:r>
                        <a:rPr b="1" lang="en-US" sz="1150" u="none" cap="none" strike="noStrike">
                          <a:solidFill>
                            <a:srgbClr val="FFFFFF"/>
                          </a:solidFill>
                          <a:latin typeface="Calibri"/>
                          <a:ea typeface="Calibri"/>
                          <a:cs typeface="Calibri"/>
                          <a:sym typeface="Calibri"/>
                        </a:rPr>
                        <a:t>Reject recall</a:t>
                      </a:r>
                      <a:endParaRPr sz="1150" u="none" cap="none" strike="noStrike">
                        <a:latin typeface="Calibri"/>
                        <a:ea typeface="Calibri"/>
                        <a:cs typeface="Calibri"/>
                        <a:sym typeface="Calibri"/>
                      </a:endParaRPr>
                    </a:p>
                  </a:txBody>
                  <a:tcPr marT="64000" marB="64000" marR="64000" marL="64000" anchor="ctr">
                    <a:lnL cap="flat" cmpd="sng" w="9525">
                      <a:solidFill>
                        <a:srgbClr val="D9E2EA"/>
                      </a:solidFill>
                      <a:prstDash val="solid"/>
                      <a:round/>
                      <a:headEnd len="sm" w="sm" type="none"/>
                      <a:tailEnd len="sm" w="sm" type="none"/>
                    </a:lnL>
                    <a:lnR cap="flat" cmpd="sng" w="9525">
                      <a:solidFill>
                        <a:srgbClr val="D9E2EA"/>
                      </a:solidFill>
                      <a:prstDash val="solid"/>
                      <a:round/>
                      <a:headEnd len="sm" w="sm" type="none"/>
                      <a:tailEnd len="sm" w="sm" type="none"/>
                    </a:lnR>
                    <a:lnT cap="flat" cmpd="sng" w="9525">
                      <a:solidFill>
                        <a:srgbClr val="D9E2EA"/>
                      </a:solidFill>
                      <a:prstDash val="solid"/>
                      <a:round/>
                      <a:headEnd len="sm" w="sm" type="none"/>
                      <a:tailEnd len="sm" w="sm" type="none"/>
                    </a:lnT>
                    <a:lnB cap="flat" cmpd="sng" w="9525">
                      <a:solidFill>
                        <a:srgbClr val="D9E2EA"/>
                      </a:solidFill>
                      <a:prstDash val="solid"/>
                      <a:round/>
                      <a:headEnd len="sm" w="sm" type="none"/>
                      <a:tailEnd len="sm" w="sm" type="none"/>
                    </a:lnB>
                    <a:solidFill>
                      <a:srgbClr val="1D2A5C"/>
                    </a:solidFill>
                  </a:tcPr>
                </a:tc>
                <a:tc>
                  <a:txBody>
                    <a:bodyPr/>
                    <a:lstStyle/>
                    <a:p>
                      <a:pPr indent="0" lvl="0" marL="0" marR="0" rtl="0" algn="l">
                        <a:spcBef>
                          <a:spcPts val="0"/>
                        </a:spcBef>
                        <a:spcAft>
                          <a:spcPts val="0"/>
                        </a:spcAft>
                        <a:buClr>
                          <a:srgbClr val="FFFFFF"/>
                        </a:buClr>
                        <a:buSzPts val="1150"/>
                        <a:buFont typeface="Calibri"/>
                        <a:buNone/>
                      </a:pPr>
                      <a:r>
                        <a:rPr b="1" lang="en-US" sz="1150" u="none" cap="none" strike="noStrike">
                          <a:solidFill>
                            <a:srgbClr val="FFFFFF"/>
                          </a:solidFill>
                          <a:latin typeface="Calibri"/>
                          <a:ea typeface="Calibri"/>
                          <a:cs typeface="Calibri"/>
                          <a:sym typeface="Calibri"/>
                        </a:rPr>
                        <a:t>Epoch / VRAM</a:t>
                      </a:r>
                      <a:endParaRPr sz="1150" u="none" cap="none" strike="noStrike">
                        <a:latin typeface="Calibri"/>
                        <a:ea typeface="Calibri"/>
                        <a:cs typeface="Calibri"/>
                        <a:sym typeface="Calibri"/>
                      </a:endParaRPr>
                    </a:p>
                  </a:txBody>
                  <a:tcPr marT="64000" marB="64000" marR="64000" marL="64000" anchor="ctr">
                    <a:lnL cap="flat" cmpd="sng" w="9525">
                      <a:solidFill>
                        <a:srgbClr val="D9E2EA"/>
                      </a:solidFill>
                      <a:prstDash val="solid"/>
                      <a:round/>
                      <a:headEnd len="sm" w="sm" type="none"/>
                      <a:tailEnd len="sm" w="sm" type="none"/>
                    </a:lnL>
                    <a:lnR cap="flat" cmpd="sng" w="9525">
                      <a:solidFill>
                        <a:srgbClr val="D9E2EA"/>
                      </a:solidFill>
                      <a:prstDash val="solid"/>
                      <a:round/>
                      <a:headEnd len="sm" w="sm" type="none"/>
                      <a:tailEnd len="sm" w="sm" type="none"/>
                    </a:lnR>
                    <a:lnT cap="flat" cmpd="sng" w="9525">
                      <a:solidFill>
                        <a:srgbClr val="D9E2EA"/>
                      </a:solidFill>
                      <a:prstDash val="solid"/>
                      <a:round/>
                      <a:headEnd len="sm" w="sm" type="none"/>
                      <a:tailEnd len="sm" w="sm" type="none"/>
                    </a:lnT>
                    <a:lnB cap="flat" cmpd="sng" w="9525">
                      <a:solidFill>
                        <a:srgbClr val="D9E2EA"/>
                      </a:solidFill>
                      <a:prstDash val="solid"/>
                      <a:round/>
                      <a:headEnd len="sm" w="sm" type="none"/>
                      <a:tailEnd len="sm" w="sm" type="none"/>
                    </a:lnB>
                    <a:solidFill>
                      <a:srgbClr val="1D2A5C"/>
                    </a:solidFill>
                  </a:tcPr>
                </a:tc>
              </a:tr>
              <a:tr h="713225">
                <a:tc>
                  <a:txBody>
                    <a:bodyPr/>
                    <a:lstStyle/>
                    <a:p>
                      <a:pPr indent="0" lvl="0" marL="0" marR="0" rtl="0" algn="l">
                        <a:spcBef>
                          <a:spcPts val="0"/>
                        </a:spcBef>
                        <a:spcAft>
                          <a:spcPts val="0"/>
                        </a:spcAft>
                        <a:buClr>
                          <a:srgbClr val="1D2A5C"/>
                        </a:buClr>
                        <a:buSzPts val="1150"/>
                        <a:buFont typeface="Calibri"/>
                        <a:buNone/>
                      </a:pPr>
                      <a:r>
                        <a:rPr b="1" lang="en-US" sz="1150" u="none" cap="none" strike="noStrike">
                          <a:solidFill>
                            <a:srgbClr val="1D2A5C"/>
                          </a:solidFill>
                          <a:latin typeface="Calibri"/>
                          <a:ea typeface="Calibri"/>
                          <a:cs typeface="Calibri"/>
                          <a:sym typeface="Calibri"/>
                        </a:rPr>
                        <a:t>ResNet-50 head-only</a:t>
                      </a:r>
                      <a:endParaRPr sz="1150" u="none" cap="none" strike="noStrike">
                        <a:latin typeface="Calibri"/>
                        <a:ea typeface="Calibri"/>
                        <a:cs typeface="Calibri"/>
                        <a:sym typeface="Calibri"/>
                      </a:endParaRPr>
                    </a:p>
                  </a:txBody>
                  <a:tcPr marT="64000" marB="64000" marR="64000" marL="64000" anchor="ctr">
                    <a:lnL cap="flat" cmpd="sng" w="9525">
                      <a:solidFill>
                        <a:srgbClr val="D9E2EA"/>
                      </a:solidFill>
                      <a:prstDash val="solid"/>
                      <a:round/>
                      <a:headEnd len="sm" w="sm" type="none"/>
                      <a:tailEnd len="sm" w="sm" type="none"/>
                    </a:lnL>
                    <a:lnR cap="flat" cmpd="sng" w="9525">
                      <a:solidFill>
                        <a:srgbClr val="D9E2EA"/>
                      </a:solidFill>
                      <a:prstDash val="solid"/>
                      <a:round/>
                      <a:headEnd len="sm" w="sm" type="none"/>
                      <a:tailEnd len="sm" w="sm" type="none"/>
                    </a:lnR>
                    <a:lnT cap="flat" cmpd="sng" w="9525">
                      <a:solidFill>
                        <a:srgbClr val="D9E2EA"/>
                      </a:solidFill>
                      <a:prstDash val="solid"/>
                      <a:round/>
                      <a:headEnd len="sm" w="sm" type="none"/>
                      <a:tailEnd len="sm" w="sm" type="none"/>
                    </a:lnT>
                    <a:lnB cap="flat" cmpd="sng" w="9525">
                      <a:solidFill>
                        <a:srgbClr val="D9E2EA"/>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23293B"/>
                        </a:buClr>
                        <a:buSzPts val="1150"/>
                        <a:buFont typeface="Calibri"/>
                        <a:buNone/>
                      </a:pPr>
                      <a:r>
                        <a:rPr lang="en-US" sz="1150" u="none" cap="none" strike="noStrike">
                          <a:solidFill>
                            <a:srgbClr val="23293B"/>
                          </a:solidFill>
                          <a:latin typeface="Calibri"/>
                          <a:ea typeface="Calibri"/>
                          <a:cs typeface="Calibri"/>
                          <a:sym typeface="Calibri"/>
                        </a:rPr>
                        <a:t>0.78</a:t>
                      </a:r>
                      <a:endParaRPr sz="1150" u="none" cap="none" strike="noStrike">
                        <a:latin typeface="Calibri"/>
                        <a:ea typeface="Calibri"/>
                        <a:cs typeface="Calibri"/>
                        <a:sym typeface="Calibri"/>
                      </a:endParaRPr>
                    </a:p>
                  </a:txBody>
                  <a:tcPr marT="64000" marB="64000" marR="64000" marL="64000" anchor="ctr">
                    <a:lnL cap="flat" cmpd="sng" w="9525">
                      <a:solidFill>
                        <a:srgbClr val="D9E2EA"/>
                      </a:solidFill>
                      <a:prstDash val="solid"/>
                      <a:round/>
                      <a:headEnd len="sm" w="sm" type="none"/>
                      <a:tailEnd len="sm" w="sm" type="none"/>
                    </a:lnL>
                    <a:lnR cap="flat" cmpd="sng" w="9525">
                      <a:solidFill>
                        <a:srgbClr val="D9E2EA"/>
                      </a:solidFill>
                      <a:prstDash val="solid"/>
                      <a:round/>
                      <a:headEnd len="sm" w="sm" type="none"/>
                      <a:tailEnd len="sm" w="sm" type="none"/>
                    </a:lnR>
                    <a:lnT cap="flat" cmpd="sng" w="9525">
                      <a:solidFill>
                        <a:srgbClr val="D9E2EA"/>
                      </a:solidFill>
                      <a:prstDash val="solid"/>
                      <a:round/>
                      <a:headEnd len="sm" w="sm" type="none"/>
                      <a:tailEnd len="sm" w="sm" type="none"/>
                    </a:lnT>
                    <a:lnB cap="flat" cmpd="sng" w="9525">
                      <a:solidFill>
                        <a:srgbClr val="D9E2EA"/>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23293B"/>
                        </a:buClr>
                        <a:buSzPts val="1150"/>
                        <a:buFont typeface="Calibri"/>
                        <a:buNone/>
                      </a:pPr>
                      <a:r>
                        <a:rPr lang="en-US" sz="1150" u="none" cap="none" strike="noStrike">
                          <a:solidFill>
                            <a:srgbClr val="23293B"/>
                          </a:solidFill>
                          <a:latin typeface="Calibri"/>
                          <a:ea typeface="Calibri"/>
                          <a:cs typeface="Calibri"/>
                          <a:sym typeface="Calibri"/>
                        </a:rPr>
                        <a:t>0.88</a:t>
                      </a:r>
                      <a:endParaRPr sz="1150" u="none" cap="none" strike="noStrike">
                        <a:latin typeface="Calibri"/>
                        <a:ea typeface="Calibri"/>
                        <a:cs typeface="Calibri"/>
                        <a:sym typeface="Calibri"/>
                      </a:endParaRPr>
                    </a:p>
                  </a:txBody>
                  <a:tcPr marT="64000" marB="64000" marR="64000" marL="64000" anchor="ctr">
                    <a:lnL cap="flat" cmpd="sng" w="9525">
                      <a:solidFill>
                        <a:srgbClr val="D9E2EA"/>
                      </a:solidFill>
                      <a:prstDash val="solid"/>
                      <a:round/>
                      <a:headEnd len="sm" w="sm" type="none"/>
                      <a:tailEnd len="sm" w="sm" type="none"/>
                    </a:lnL>
                    <a:lnR cap="flat" cmpd="sng" w="9525">
                      <a:solidFill>
                        <a:srgbClr val="D9E2EA"/>
                      </a:solidFill>
                      <a:prstDash val="solid"/>
                      <a:round/>
                      <a:headEnd len="sm" w="sm" type="none"/>
                      <a:tailEnd len="sm" w="sm" type="none"/>
                    </a:lnR>
                    <a:lnT cap="flat" cmpd="sng" w="9525">
                      <a:solidFill>
                        <a:srgbClr val="D9E2EA"/>
                      </a:solidFill>
                      <a:prstDash val="solid"/>
                      <a:round/>
                      <a:headEnd len="sm" w="sm" type="none"/>
                      <a:tailEnd len="sm" w="sm" type="none"/>
                    </a:lnT>
                    <a:lnB cap="flat" cmpd="sng" w="9525">
                      <a:solidFill>
                        <a:srgbClr val="D9E2EA"/>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23293B"/>
                        </a:buClr>
                        <a:buSzPts val="1150"/>
                        <a:buFont typeface="Calibri"/>
                        <a:buNone/>
                      </a:pPr>
                      <a:r>
                        <a:rPr lang="en-US" sz="1150" u="none" cap="none" strike="noStrike">
                          <a:solidFill>
                            <a:srgbClr val="23293B"/>
                          </a:solidFill>
                          <a:latin typeface="Calibri"/>
                          <a:ea typeface="Calibri"/>
                          <a:cs typeface="Calibri"/>
                          <a:sym typeface="Calibri"/>
                        </a:rPr>
                        <a:t>18 s / 3.1 GB</a:t>
                      </a:r>
                      <a:endParaRPr sz="1150" u="none" cap="none" strike="noStrike">
                        <a:latin typeface="Calibri"/>
                        <a:ea typeface="Calibri"/>
                        <a:cs typeface="Calibri"/>
                        <a:sym typeface="Calibri"/>
                      </a:endParaRPr>
                    </a:p>
                  </a:txBody>
                  <a:tcPr marT="64000" marB="64000" marR="64000" marL="64000" anchor="ctr">
                    <a:lnL cap="flat" cmpd="sng" w="9525">
                      <a:solidFill>
                        <a:srgbClr val="D9E2EA"/>
                      </a:solidFill>
                      <a:prstDash val="solid"/>
                      <a:round/>
                      <a:headEnd len="sm" w="sm" type="none"/>
                      <a:tailEnd len="sm" w="sm" type="none"/>
                    </a:lnL>
                    <a:lnR cap="flat" cmpd="sng" w="9525">
                      <a:solidFill>
                        <a:srgbClr val="D9E2EA"/>
                      </a:solidFill>
                      <a:prstDash val="solid"/>
                      <a:round/>
                      <a:headEnd len="sm" w="sm" type="none"/>
                      <a:tailEnd len="sm" w="sm" type="none"/>
                    </a:lnR>
                    <a:lnT cap="flat" cmpd="sng" w="9525">
                      <a:solidFill>
                        <a:srgbClr val="D9E2EA"/>
                      </a:solidFill>
                      <a:prstDash val="solid"/>
                      <a:round/>
                      <a:headEnd len="sm" w="sm" type="none"/>
                      <a:tailEnd len="sm" w="sm" type="none"/>
                    </a:lnT>
                    <a:lnB cap="flat" cmpd="sng" w="9525">
                      <a:solidFill>
                        <a:srgbClr val="D9E2EA"/>
                      </a:solidFill>
                      <a:prstDash val="solid"/>
                      <a:round/>
                      <a:headEnd len="sm" w="sm" type="none"/>
                      <a:tailEnd len="sm" w="sm" type="none"/>
                    </a:lnB>
                    <a:solidFill>
                      <a:srgbClr val="FFFFFF"/>
                    </a:solidFill>
                  </a:tcPr>
                </a:tc>
              </a:tr>
              <a:tr h="713225">
                <a:tc>
                  <a:txBody>
                    <a:bodyPr/>
                    <a:lstStyle/>
                    <a:p>
                      <a:pPr indent="0" lvl="0" marL="0" marR="0" rtl="0" algn="l">
                        <a:spcBef>
                          <a:spcPts val="0"/>
                        </a:spcBef>
                        <a:spcAft>
                          <a:spcPts val="0"/>
                        </a:spcAft>
                        <a:buClr>
                          <a:srgbClr val="1D2A5C"/>
                        </a:buClr>
                        <a:buSzPts val="1150"/>
                        <a:buFont typeface="Calibri"/>
                        <a:buNone/>
                      </a:pPr>
                      <a:r>
                        <a:rPr b="1" lang="en-US" sz="1150" u="none" cap="none" strike="noStrike">
                          <a:solidFill>
                            <a:srgbClr val="1D2A5C"/>
                          </a:solidFill>
                          <a:latin typeface="Calibri"/>
                          <a:ea typeface="Calibri"/>
                          <a:cs typeface="Calibri"/>
                          <a:sym typeface="Calibri"/>
                        </a:rPr>
                        <a:t>ResNet-50 staged</a:t>
                      </a:r>
                      <a:endParaRPr sz="1150" u="none" cap="none" strike="noStrike">
                        <a:latin typeface="Calibri"/>
                        <a:ea typeface="Calibri"/>
                        <a:cs typeface="Calibri"/>
                        <a:sym typeface="Calibri"/>
                      </a:endParaRPr>
                    </a:p>
                  </a:txBody>
                  <a:tcPr marT="64000" marB="64000" marR="64000" marL="64000" anchor="ctr">
                    <a:lnL cap="flat" cmpd="sng" w="9525">
                      <a:solidFill>
                        <a:srgbClr val="D9E2EA"/>
                      </a:solidFill>
                      <a:prstDash val="solid"/>
                      <a:round/>
                      <a:headEnd len="sm" w="sm" type="none"/>
                      <a:tailEnd len="sm" w="sm" type="none"/>
                    </a:lnL>
                    <a:lnR cap="flat" cmpd="sng" w="9525">
                      <a:solidFill>
                        <a:srgbClr val="D9E2EA"/>
                      </a:solidFill>
                      <a:prstDash val="solid"/>
                      <a:round/>
                      <a:headEnd len="sm" w="sm" type="none"/>
                      <a:tailEnd len="sm" w="sm" type="none"/>
                    </a:lnR>
                    <a:lnT cap="flat" cmpd="sng" w="9525">
                      <a:solidFill>
                        <a:srgbClr val="D9E2EA"/>
                      </a:solidFill>
                      <a:prstDash val="solid"/>
                      <a:round/>
                      <a:headEnd len="sm" w="sm" type="none"/>
                      <a:tailEnd len="sm" w="sm" type="none"/>
                    </a:lnT>
                    <a:lnB cap="flat" cmpd="sng" w="9525">
                      <a:solidFill>
                        <a:srgbClr val="D9E2EA"/>
                      </a:solidFill>
                      <a:prstDash val="solid"/>
                      <a:round/>
                      <a:headEnd len="sm" w="sm" type="none"/>
                      <a:tailEnd len="sm" w="sm" type="none"/>
                    </a:lnB>
                    <a:solidFill>
                      <a:srgbClr val="F2F6F9"/>
                    </a:solidFill>
                  </a:tcPr>
                </a:tc>
                <a:tc>
                  <a:txBody>
                    <a:bodyPr/>
                    <a:lstStyle/>
                    <a:p>
                      <a:pPr indent="0" lvl="0" marL="0" marR="0" rtl="0" algn="l">
                        <a:spcBef>
                          <a:spcPts val="0"/>
                        </a:spcBef>
                        <a:spcAft>
                          <a:spcPts val="0"/>
                        </a:spcAft>
                        <a:buClr>
                          <a:srgbClr val="23293B"/>
                        </a:buClr>
                        <a:buSzPts val="1150"/>
                        <a:buFont typeface="Calibri"/>
                        <a:buNone/>
                      </a:pPr>
                      <a:r>
                        <a:rPr lang="en-US" sz="1150" u="none" cap="none" strike="noStrike">
                          <a:solidFill>
                            <a:srgbClr val="23293B"/>
                          </a:solidFill>
                          <a:latin typeface="Calibri"/>
                          <a:ea typeface="Calibri"/>
                          <a:cs typeface="Calibri"/>
                          <a:sym typeface="Calibri"/>
                        </a:rPr>
                        <a:t>0.90</a:t>
                      </a:r>
                      <a:endParaRPr sz="1150" u="none" cap="none" strike="noStrike">
                        <a:latin typeface="Calibri"/>
                        <a:ea typeface="Calibri"/>
                        <a:cs typeface="Calibri"/>
                        <a:sym typeface="Calibri"/>
                      </a:endParaRPr>
                    </a:p>
                  </a:txBody>
                  <a:tcPr marT="64000" marB="64000" marR="64000" marL="64000" anchor="ctr">
                    <a:lnL cap="flat" cmpd="sng" w="9525">
                      <a:solidFill>
                        <a:srgbClr val="D9E2EA"/>
                      </a:solidFill>
                      <a:prstDash val="solid"/>
                      <a:round/>
                      <a:headEnd len="sm" w="sm" type="none"/>
                      <a:tailEnd len="sm" w="sm" type="none"/>
                    </a:lnL>
                    <a:lnR cap="flat" cmpd="sng" w="9525">
                      <a:solidFill>
                        <a:srgbClr val="D9E2EA"/>
                      </a:solidFill>
                      <a:prstDash val="solid"/>
                      <a:round/>
                      <a:headEnd len="sm" w="sm" type="none"/>
                      <a:tailEnd len="sm" w="sm" type="none"/>
                    </a:lnR>
                    <a:lnT cap="flat" cmpd="sng" w="9525">
                      <a:solidFill>
                        <a:srgbClr val="D9E2EA"/>
                      </a:solidFill>
                      <a:prstDash val="solid"/>
                      <a:round/>
                      <a:headEnd len="sm" w="sm" type="none"/>
                      <a:tailEnd len="sm" w="sm" type="none"/>
                    </a:lnT>
                    <a:lnB cap="flat" cmpd="sng" w="9525">
                      <a:solidFill>
                        <a:srgbClr val="D9E2EA"/>
                      </a:solidFill>
                      <a:prstDash val="solid"/>
                      <a:round/>
                      <a:headEnd len="sm" w="sm" type="none"/>
                      <a:tailEnd len="sm" w="sm" type="none"/>
                    </a:lnB>
                    <a:solidFill>
                      <a:srgbClr val="F2F6F9"/>
                    </a:solidFill>
                  </a:tcPr>
                </a:tc>
                <a:tc>
                  <a:txBody>
                    <a:bodyPr/>
                    <a:lstStyle/>
                    <a:p>
                      <a:pPr indent="0" lvl="0" marL="0" marR="0" rtl="0" algn="l">
                        <a:spcBef>
                          <a:spcPts val="0"/>
                        </a:spcBef>
                        <a:spcAft>
                          <a:spcPts val="0"/>
                        </a:spcAft>
                        <a:buClr>
                          <a:srgbClr val="23293B"/>
                        </a:buClr>
                        <a:buSzPts val="1150"/>
                        <a:buFont typeface="Calibri"/>
                        <a:buNone/>
                      </a:pPr>
                      <a:r>
                        <a:rPr lang="en-US" sz="1150" u="none" cap="none" strike="noStrike">
                          <a:solidFill>
                            <a:srgbClr val="23293B"/>
                          </a:solidFill>
                          <a:latin typeface="Calibri"/>
                          <a:ea typeface="Calibri"/>
                          <a:cs typeface="Calibri"/>
                          <a:sym typeface="Calibri"/>
                        </a:rPr>
                        <a:t>0.96</a:t>
                      </a:r>
                      <a:endParaRPr sz="1150" u="none" cap="none" strike="noStrike">
                        <a:latin typeface="Calibri"/>
                        <a:ea typeface="Calibri"/>
                        <a:cs typeface="Calibri"/>
                        <a:sym typeface="Calibri"/>
                      </a:endParaRPr>
                    </a:p>
                  </a:txBody>
                  <a:tcPr marT="64000" marB="64000" marR="64000" marL="64000" anchor="ctr">
                    <a:lnL cap="flat" cmpd="sng" w="9525">
                      <a:solidFill>
                        <a:srgbClr val="D9E2EA"/>
                      </a:solidFill>
                      <a:prstDash val="solid"/>
                      <a:round/>
                      <a:headEnd len="sm" w="sm" type="none"/>
                      <a:tailEnd len="sm" w="sm" type="none"/>
                    </a:lnL>
                    <a:lnR cap="flat" cmpd="sng" w="9525">
                      <a:solidFill>
                        <a:srgbClr val="D9E2EA"/>
                      </a:solidFill>
                      <a:prstDash val="solid"/>
                      <a:round/>
                      <a:headEnd len="sm" w="sm" type="none"/>
                      <a:tailEnd len="sm" w="sm" type="none"/>
                    </a:lnR>
                    <a:lnT cap="flat" cmpd="sng" w="9525">
                      <a:solidFill>
                        <a:srgbClr val="D9E2EA"/>
                      </a:solidFill>
                      <a:prstDash val="solid"/>
                      <a:round/>
                      <a:headEnd len="sm" w="sm" type="none"/>
                      <a:tailEnd len="sm" w="sm" type="none"/>
                    </a:lnT>
                    <a:lnB cap="flat" cmpd="sng" w="9525">
                      <a:solidFill>
                        <a:srgbClr val="D9E2EA"/>
                      </a:solidFill>
                      <a:prstDash val="solid"/>
                      <a:round/>
                      <a:headEnd len="sm" w="sm" type="none"/>
                      <a:tailEnd len="sm" w="sm" type="none"/>
                    </a:lnB>
                    <a:solidFill>
                      <a:srgbClr val="F2F6F9"/>
                    </a:solidFill>
                  </a:tcPr>
                </a:tc>
                <a:tc>
                  <a:txBody>
                    <a:bodyPr/>
                    <a:lstStyle/>
                    <a:p>
                      <a:pPr indent="0" lvl="0" marL="0" marR="0" rtl="0" algn="l">
                        <a:spcBef>
                          <a:spcPts val="0"/>
                        </a:spcBef>
                        <a:spcAft>
                          <a:spcPts val="0"/>
                        </a:spcAft>
                        <a:buClr>
                          <a:srgbClr val="23293B"/>
                        </a:buClr>
                        <a:buSzPts val="1150"/>
                        <a:buFont typeface="Calibri"/>
                        <a:buNone/>
                      </a:pPr>
                      <a:r>
                        <a:rPr lang="en-US" sz="1150" u="none" cap="none" strike="noStrike">
                          <a:solidFill>
                            <a:srgbClr val="23293B"/>
                          </a:solidFill>
                          <a:latin typeface="Calibri"/>
                          <a:ea typeface="Calibri"/>
                          <a:cs typeface="Calibri"/>
                          <a:sym typeface="Calibri"/>
                        </a:rPr>
                        <a:t>27 s / 5.4 GB</a:t>
                      </a:r>
                      <a:endParaRPr sz="1150" u="none" cap="none" strike="noStrike">
                        <a:latin typeface="Calibri"/>
                        <a:ea typeface="Calibri"/>
                        <a:cs typeface="Calibri"/>
                        <a:sym typeface="Calibri"/>
                      </a:endParaRPr>
                    </a:p>
                  </a:txBody>
                  <a:tcPr marT="64000" marB="64000" marR="64000" marL="64000" anchor="ctr">
                    <a:lnL cap="flat" cmpd="sng" w="9525">
                      <a:solidFill>
                        <a:srgbClr val="D9E2EA"/>
                      </a:solidFill>
                      <a:prstDash val="solid"/>
                      <a:round/>
                      <a:headEnd len="sm" w="sm" type="none"/>
                      <a:tailEnd len="sm" w="sm" type="none"/>
                    </a:lnL>
                    <a:lnR cap="flat" cmpd="sng" w="9525">
                      <a:solidFill>
                        <a:srgbClr val="D9E2EA"/>
                      </a:solidFill>
                      <a:prstDash val="solid"/>
                      <a:round/>
                      <a:headEnd len="sm" w="sm" type="none"/>
                      <a:tailEnd len="sm" w="sm" type="none"/>
                    </a:lnR>
                    <a:lnT cap="flat" cmpd="sng" w="9525">
                      <a:solidFill>
                        <a:srgbClr val="D9E2EA"/>
                      </a:solidFill>
                      <a:prstDash val="solid"/>
                      <a:round/>
                      <a:headEnd len="sm" w="sm" type="none"/>
                      <a:tailEnd len="sm" w="sm" type="none"/>
                    </a:lnT>
                    <a:lnB cap="flat" cmpd="sng" w="9525">
                      <a:solidFill>
                        <a:srgbClr val="D9E2EA"/>
                      </a:solidFill>
                      <a:prstDash val="solid"/>
                      <a:round/>
                      <a:headEnd len="sm" w="sm" type="none"/>
                      <a:tailEnd len="sm" w="sm" type="none"/>
                    </a:lnB>
                    <a:solidFill>
                      <a:srgbClr val="F2F6F9"/>
                    </a:solidFill>
                  </a:tcPr>
                </a:tc>
              </a:tr>
              <a:tr h="713225">
                <a:tc>
                  <a:txBody>
                    <a:bodyPr/>
                    <a:lstStyle/>
                    <a:p>
                      <a:pPr indent="0" lvl="0" marL="0" marR="0" rtl="0" algn="l">
                        <a:spcBef>
                          <a:spcPts val="0"/>
                        </a:spcBef>
                        <a:spcAft>
                          <a:spcPts val="0"/>
                        </a:spcAft>
                        <a:buClr>
                          <a:srgbClr val="1D2A5C"/>
                        </a:buClr>
                        <a:buSzPts val="1150"/>
                        <a:buFont typeface="Calibri"/>
                        <a:buNone/>
                      </a:pPr>
                      <a:r>
                        <a:rPr b="1" lang="en-US" sz="1150" u="none" cap="none" strike="noStrike">
                          <a:solidFill>
                            <a:srgbClr val="1D2A5C"/>
                          </a:solidFill>
                          <a:latin typeface="Calibri"/>
                          <a:ea typeface="Calibri"/>
                          <a:cs typeface="Calibri"/>
                          <a:sym typeface="Calibri"/>
                        </a:rPr>
                        <a:t>ResNet-50 uniform 1e-3</a:t>
                      </a:r>
                      <a:endParaRPr sz="1150" u="none" cap="none" strike="noStrike">
                        <a:latin typeface="Calibri"/>
                        <a:ea typeface="Calibri"/>
                        <a:cs typeface="Calibri"/>
                        <a:sym typeface="Calibri"/>
                      </a:endParaRPr>
                    </a:p>
                  </a:txBody>
                  <a:tcPr marT="64000" marB="64000" marR="64000" marL="64000" anchor="ctr">
                    <a:lnL cap="flat" cmpd="sng" w="9525">
                      <a:solidFill>
                        <a:srgbClr val="D9E2EA"/>
                      </a:solidFill>
                      <a:prstDash val="solid"/>
                      <a:round/>
                      <a:headEnd len="sm" w="sm" type="none"/>
                      <a:tailEnd len="sm" w="sm" type="none"/>
                    </a:lnL>
                    <a:lnR cap="flat" cmpd="sng" w="9525">
                      <a:solidFill>
                        <a:srgbClr val="D9E2EA"/>
                      </a:solidFill>
                      <a:prstDash val="solid"/>
                      <a:round/>
                      <a:headEnd len="sm" w="sm" type="none"/>
                      <a:tailEnd len="sm" w="sm" type="none"/>
                    </a:lnR>
                    <a:lnT cap="flat" cmpd="sng" w="9525">
                      <a:solidFill>
                        <a:srgbClr val="D9E2EA"/>
                      </a:solidFill>
                      <a:prstDash val="solid"/>
                      <a:round/>
                      <a:headEnd len="sm" w="sm" type="none"/>
                      <a:tailEnd len="sm" w="sm" type="none"/>
                    </a:lnT>
                    <a:lnB cap="flat" cmpd="sng" w="9525">
                      <a:solidFill>
                        <a:srgbClr val="D9E2EA"/>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23293B"/>
                        </a:buClr>
                        <a:buSzPts val="1150"/>
                        <a:buFont typeface="Calibri"/>
                        <a:buNone/>
                      </a:pPr>
                      <a:r>
                        <a:rPr lang="en-US" sz="1150" u="none" cap="none" strike="noStrike">
                          <a:solidFill>
                            <a:srgbClr val="23293B"/>
                          </a:solidFill>
                          <a:latin typeface="Calibri"/>
                          <a:ea typeface="Calibri"/>
                          <a:cs typeface="Calibri"/>
                          <a:sym typeface="Calibri"/>
                        </a:rPr>
                        <a:t>0.61</a:t>
                      </a:r>
                      <a:endParaRPr sz="1150" u="none" cap="none" strike="noStrike">
                        <a:latin typeface="Calibri"/>
                        <a:ea typeface="Calibri"/>
                        <a:cs typeface="Calibri"/>
                        <a:sym typeface="Calibri"/>
                      </a:endParaRPr>
                    </a:p>
                  </a:txBody>
                  <a:tcPr marT="64000" marB="64000" marR="64000" marL="64000" anchor="ctr">
                    <a:lnL cap="flat" cmpd="sng" w="9525">
                      <a:solidFill>
                        <a:srgbClr val="D9E2EA"/>
                      </a:solidFill>
                      <a:prstDash val="solid"/>
                      <a:round/>
                      <a:headEnd len="sm" w="sm" type="none"/>
                      <a:tailEnd len="sm" w="sm" type="none"/>
                    </a:lnL>
                    <a:lnR cap="flat" cmpd="sng" w="9525">
                      <a:solidFill>
                        <a:srgbClr val="D9E2EA"/>
                      </a:solidFill>
                      <a:prstDash val="solid"/>
                      <a:round/>
                      <a:headEnd len="sm" w="sm" type="none"/>
                      <a:tailEnd len="sm" w="sm" type="none"/>
                    </a:lnR>
                    <a:lnT cap="flat" cmpd="sng" w="9525">
                      <a:solidFill>
                        <a:srgbClr val="D9E2EA"/>
                      </a:solidFill>
                      <a:prstDash val="solid"/>
                      <a:round/>
                      <a:headEnd len="sm" w="sm" type="none"/>
                      <a:tailEnd len="sm" w="sm" type="none"/>
                    </a:lnT>
                    <a:lnB cap="flat" cmpd="sng" w="9525">
                      <a:solidFill>
                        <a:srgbClr val="D9E2EA"/>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23293B"/>
                        </a:buClr>
                        <a:buSzPts val="1150"/>
                        <a:buFont typeface="Calibri"/>
                        <a:buNone/>
                      </a:pPr>
                      <a:r>
                        <a:rPr lang="en-US" sz="1150" u="none" cap="none" strike="noStrike">
                          <a:solidFill>
                            <a:srgbClr val="23293B"/>
                          </a:solidFill>
                          <a:latin typeface="Calibri"/>
                          <a:ea typeface="Calibri"/>
                          <a:cs typeface="Calibri"/>
                          <a:sym typeface="Calibri"/>
                        </a:rPr>
                        <a:t>0.42</a:t>
                      </a:r>
                      <a:endParaRPr sz="1150" u="none" cap="none" strike="noStrike">
                        <a:latin typeface="Calibri"/>
                        <a:ea typeface="Calibri"/>
                        <a:cs typeface="Calibri"/>
                        <a:sym typeface="Calibri"/>
                      </a:endParaRPr>
                    </a:p>
                  </a:txBody>
                  <a:tcPr marT="64000" marB="64000" marR="64000" marL="64000" anchor="ctr">
                    <a:lnL cap="flat" cmpd="sng" w="9525">
                      <a:solidFill>
                        <a:srgbClr val="D9E2EA"/>
                      </a:solidFill>
                      <a:prstDash val="solid"/>
                      <a:round/>
                      <a:headEnd len="sm" w="sm" type="none"/>
                      <a:tailEnd len="sm" w="sm" type="none"/>
                    </a:lnL>
                    <a:lnR cap="flat" cmpd="sng" w="9525">
                      <a:solidFill>
                        <a:srgbClr val="D9E2EA"/>
                      </a:solidFill>
                      <a:prstDash val="solid"/>
                      <a:round/>
                      <a:headEnd len="sm" w="sm" type="none"/>
                      <a:tailEnd len="sm" w="sm" type="none"/>
                    </a:lnR>
                    <a:lnT cap="flat" cmpd="sng" w="9525">
                      <a:solidFill>
                        <a:srgbClr val="D9E2EA"/>
                      </a:solidFill>
                      <a:prstDash val="solid"/>
                      <a:round/>
                      <a:headEnd len="sm" w="sm" type="none"/>
                      <a:tailEnd len="sm" w="sm" type="none"/>
                    </a:lnT>
                    <a:lnB cap="flat" cmpd="sng" w="9525">
                      <a:solidFill>
                        <a:srgbClr val="D9E2EA"/>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23293B"/>
                        </a:buClr>
                        <a:buSzPts val="1150"/>
                        <a:buFont typeface="Calibri"/>
                        <a:buNone/>
                      </a:pPr>
                      <a:r>
                        <a:rPr lang="en-US" sz="1150" u="none" cap="none" strike="noStrike">
                          <a:solidFill>
                            <a:srgbClr val="23293B"/>
                          </a:solidFill>
                          <a:latin typeface="Calibri"/>
                          <a:ea typeface="Calibri"/>
                          <a:cs typeface="Calibri"/>
                          <a:sym typeface="Calibri"/>
                        </a:rPr>
                        <a:t>27 s / 5.4 GB</a:t>
                      </a:r>
                      <a:endParaRPr sz="1150" u="none" cap="none" strike="noStrike">
                        <a:latin typeface="Calibri"/>
                        <a:ea typeface="Calibri"/>
                        <a:cs typeface="Calibri"/>
                        <a:sym typeface="Calibri"/>
                      </a:endParaRPr>
                    </a:p>
                  </a:txBody>
                  <a:tcPr marT="64000" marB="64000" marR="64000" marL="64000" anchor="ctr">
                    <a:lnL cap="flat" cmpd="sng" w="9525">
                      <a:solidFill>
                        <a:srgbClr val="D9E2EA"/>
                      </a:solidFill>
                      <a:prstDash val="solid"/>
                      <a:round/>
                      <a:headEnd len="sm" w="sm" type="none"/>
                      <a:tailEnd len="sm" w="sm" type="none"/>
                    </a:lnL>
                    <a:lnR cap="flat" cmpd="sng" w="9525">
                      <a:solidFill>
                        <a:srgbClr val="D9E2EA"/>
                      </a:solidFill>
                      <a:prstDash val="solid"/>
                      <a:round/>
                      <a:headEnd len="sm" w="sm" type="none"/>
                      <a:tailEnd len="sm" w="sm" type="none"/>
                    </a:lnR>
                    <a:lnT cap="flat" cmpd="sng" w="9525">
                      <a:solidFill>
                        <a:srgbClr val="D9E2EA"/>
                      </a:solidFill>
                      <a:prstDash val="solid"/>
                      <a:round/>
                      <a:headEnd len="sm" w="sm" type="none"/>
                      <a:tailEnd len="sm" w="sm" type="none"/>
                    </a:lnT>
                    <a:lnB cap="flat" cmpd="sng" w="9525">
                      <a:solidFill>
                        <a:srgbClr val="D9E2EA"/>
                      </a:solidFill>
                      <a:prstDash val="solid"/>
                      <a:round/>
                      <a:headEnd len="sm" w="sm" type="none"/>
                      <a:tailEnd len="sm" w="sm" type="none"/>
                    </a:lnB>
                    <a:solidFill>
                      <a:srgbClr val="FFFFFF"/>
                    </a:solidFill>
                  </a:tcPr>
                </a:tc>
              </a:tr>
              <a:tr h="713225">
                <a:tc>
                  <a:txBody>
                    <a:bodyPr/>
                    <a:lstStyle/>
                    <a:p>
                      <a:pPr indent="0" lvl="0" marL="0" marR="0" rtl="0" algn="l">
                        <a:spcBef>
                          <a:spcPts val="0"/>
                        </a:spcBef>
                        <a:spcAft>
                          <a:spcPts val="0"/>
                        </a:spcAft>
                        <a:buClr>
                          <a:srgbClr val="1D2A5C"/>
                        </a:buClr>
                        <a:buSzPts val="1150"/>
                        <a:buFont typeface="Calibri"/>
                        <a:buNone/>
                      </a:pPr>
                      <a:r>
                        <a:rPr b="1" lang="en-US" sz="1150" u="none" cap="none" strike="noStrike">
                          <a:solidFill>
                            <a:srgbClr val="1D2A5C"/>
                          </a:solidFill>
                          <a:latin typeface="Calibri"/>
                          <a:ea typeface="Calibri"/>
                          <a:cs typeface="Calibri"/>
                          <a:sym typeface="Calibri"/>
                        </a:rPr>
                        <a:t>ViT-B/16 staged</a:t>
                      </a:r>
                      <a:endParaRPr sz="1150" u="none" cap="none" strike="noStrike">
                        <a:latin typeface="Calibri"/>
                        <a:ea typeface="Calibri"/>
                        <a:cs typeface="Calibri"/>
                        <a:sym typeface="Calibri"/>
                      </a:endParaRPr>
                    </a:p>
                  </a:txBody>
                  <a:tcPr marT="64000" marB="64000" marR="64000" marL="64000" anchor="ctr">
                    <a:lnL cap="flat" cmpd="sng" w="9525">
                      <a:solidFill>
                        <a:srgbClr val="D9E2EA"/>
                      </a:solidFill>
                      <a:prstDash val="solid"/>
                      <a:round/>
                      <a:headEnd len="sm" w="sm" type="none"/>
                      <a:tailEnd len="sm" w="sm" type="none"/>
                    </a:lnL>
                    <a:lnR cap="flat" cmpd="sng" w="9525">
                      <a:solidFill>
                        <a:srgbClr val="D9E2EA"/>
                      </a:solidFill>
                      <a:prstDash val="solid"/>
                      <a:round/>
                      <a:headEnd len="sm" w="sm" type="none"/>
                      <a:tailEnd len="sm" w="sm" type="none"/>
                    </a:lnR>
                    <a:lnT cap="flat" cmpd="sng" w="9525">
                      <a:solidFill>
                        <a:srgbClr val="D9E2EA"/>
                      </a:solidFill>
                      <a:prstDash val="solid"/>
                      <a:round/>
                      <a:headEnd len="sm" w="sm" type="none"/>
                      <a:tailEnd len="sm" w="sm" type="none"/>
                    </a:lnT>
                    <a:lnB cap="flat" cmpd="sng" w="9525">
                      <a:solidFill>
                        <a:srgbClr val="D9E2EA"/>
                      </a:solidFill>
                      <a:prstDash val="solid"/>
                      <a:round/>
                      <a:headEnd len="sm" w="sm" type="none"/>
                      <a:tailEnd len="sm" w="sm" type="none"/>
                    </a:lnB>
                    <a:solidFill>
                      <a:srgbClr val="F2F6F9"/>
                    </a:solidFill>
                  </a:tcPr>
                </a:tc>
                <a:tc>
                  <a:txBody>
                    <a:bodyPr/>
                    <a:lstStyle/>
                    <a:p>
                      <a:pPr indent="0" lvl="0" marL="0" marR="0" rtl="0" algn="l">
                        <a:spcBef>
                          <a:spcPts val="0"/>
                        </a:spcBef>
                        <a:spcAft>
                          <a:spcPts val="0"/>
                        </a:spcAft>
                        <a:buClr>
                          <a:srgbClr val="23293B"/>
                        </a:buClr>
                        <a:buSzPts val="1150"/>
                        <a:buFont typeface="Calibri"/>
                        <a:buNone/>
                      </a:pPr>
                      <a:r>
                        <a:rPr lang="en-US" sz="1150" u="none" cap="none" strike="noStrike">
                          <a:solidFill>
                            <a:srgbClr val="23293B"/>
                          </a:solidFill>
                          <a:latin typeface="Calibri"/>
                          <a:ea typeface="Calibri"/>
                          <a:cs typeface="Calibri"/>
                          <a:sym typeface="Calibri"/>
                        </a:rPr>
                        <a:t>0.91</a:t>
                      </a:r>
                      <a:endParaRPr sz="1150" u="none" cap="none" strike="noStrike">
                        <a:latin typeface="Calibri"/>
                        <a:ea typeface="Calibri"/>
                        <a:cs typeface="Calibri"/>
                        <a:sym typeface="Calibri"/>
                      </a:endParaRPr>
                    </a:p>
                  </a:txBody>
                  <a:tcPr marT="64000" marB="64000" marR="64000" marL="64000" anchor="ctr">
                    <a:lnL cap="flat" cmpd="sng" w="9525">
                      <a:solidFill>
                        <a:srgbClr val="D9E2EA"/>
                      </a:solidFill>
                      <a:prstDash val="solid"/>
                      <a:round/>
                      <a:headEnd len="sm" w="sm" type="none"/>
                      <a:tailEnd len="sm" w="sm" type="none"/>
                    </a:lnL>
                    <a:lnR cap="flat" cmpd="sng" w="9525">
                      <a:solidFill>
                        <a:srgbClr val="D9E2EA"/>
                      </a:solidFill>
                      <a:prstDash val="solid"/>
                      <a:round/>
                      <a:headEnd len="sm" w="sm" type="none"/>
                      <a:tailEnd len="sm" w="sm" type="none"/>
                    </a:lnR>
                    <a:lnT cap="flat" cmpd="sng" w="9525">
                      <a:solidFill>
                        <a:srgbClr val="D9E2EA"/>
                      </a:solidFill>
                      <a:prstDash val="solid"/>
                      <a:round/>
                      <a:headEnd len="sm" w="sm" type="none"/>
                      <a:tailEnd len="sm" w="sm" type="none"/>
                    </a:lnT>
                    <a:lnB cap="flat" cmpd="sng" w="9525">
                      <a:solidFill>
                        <a:srgbClr val="D9E2EA"/>
                      </a:solidFill>
                      <a:prstDash val="solid"/>
                      <a:round/>
                      <a:headEnd len="sm" w="sm" type="none"/>
                      <a:tailEnd len="sm" w="sm" type="none"/>
                    </a:lnB>
                    <a:solidFill>
                      <a:srgbClr val="F2F6F9"/>
                    </a:solidFill>
                  </a:tcPr>
                </a:tc>
                <a:tc>
                  <a:txBody>
                    <a:bodyPr/>
                    <a:lstStyle/>
                    <a:p>
                      <a:pPr indent="0" lvl="0" marL="0" marR="0" rtl="0" algn="l">
                        <a:spcBef>
                          <a:spcPts val="0"/>
                        </a:spcBef>
                        <a:spcAft>
                          <a:spcPts val="0"/>
                        </a:spcAft>
                        <a:buClr>
                          <a:srgbClr val="23293B"/>
                        </a:buClr>
                        <a:buSzPts val="1150"/>
                        <a:buFont typeface="Calibri"/>
                        <a:buNone/>
                      </a:pPr>
                      <a:r>
                        <a:rPr lang="en-US" sz="1150" u="none" cap="none" strike="noStrike">
                          <a:solidFill>
                            <a:srgbClr val="23293B"/>
                          </a:solidFill>
                          <a:latin typeface="Calibri"/>
                          <a:ea typeface="Calibri"/>
                          <a:cs typeface="Calibri"/>
                          <a:sym typeface="Calibri"/>
                        </a:rPr>
                        <a:t>0.96</a:t>
                      </a:r>
                      <a:endParaRPr sz="1150" u="none" cap="none" strike="noStrike">
                        <a:latin typeface="Calibri"/>
                        <a:ea typeface="Calibri"/>
                        <a:cs typeface="Calibri"/>
                        <a:sym typeface="Calibri"/>
                      </a:endParaRPr>
                    </a:p>
                  </a:txBody>
                  <a:tcPr marT="64000" marB="64000" marR="64000" marL="64000" anchor="ctr">
                    <a:lnL cap="flat" cmpd="sng" w="9525">
                      <a:solidFill>
                        <a:srgbClr val="D9E2EA"/>
                      </a:solidFill>
                      <a:prstDash val="solid"/>
                      <a:round/>
                      <a:headEnd len="sm" w="sm" type="none"/>
                      <a:tailEnd len="sm" w="sm" type="none"/>
                    </a:lnL>
                    <a:lnR cap="flat" cmpd="sng" w="9525">
                      <a:solidFill>
                        <a:srgbClr val="D9E2EA"/>
                      </a:solidFill>
                      <a:prstDash val="solid"/>
                      <a:round/>
                      <a:headEnd len="sm" w="sm" type="none"/>
                      <a:tailEnd len="sm" w="sm" type="none"/>
                    </a:lnR>
                    <a:lnT cap="flat" cmpd="sng" w="9525">
                      <a:solidFill>
                        <a:srgbClr val="D9E2EA"/>
                      </a:solidFill>
                      <a:prstDash val="solid"/>
                      <a:round/>
                      <a:headEnd len="sm" w="sm" type="none"/>
                      <a:tailEnd len="sm" w="sm" type="none"/>
                    </a:lnT>
                    <a:lnB cap="flat" cmpd="sng" w="9525">
                      <a:solidFill>
                        <a:srgbClr val="D9E2EA"/>
                      </a:solidFill>
                      <a:prstDash val="solid"/>
                      <a:round/>
                      <a:headEnd len="sm" w="sm" type="none"/>
                      <a:tailEnd len="sm" w="sm" type="none"/>
                    </a:lnB>
                    <a:solidFill>
                      <a:srgbClr val="F2F6F9"/>
                    </a:solidFill>
                  </a:tcPr>
                </a:tc>
                <a:tc>
                  <a:txBody>
                    <a:bodyPr/>
                    <a:lstStyle/>
                    <a:p>
                      <a:pPr indent="0" lvl="0" marL="0" marR="0" rtl="0" algn="l">
                        <a:spcBef>
                          <a:spcPts val="0"/>
                        </a:spcBef>
                        <a:spcAft>
                          <a:spcPts val="0"/>
                        </a:spcAft>
                        <a:buClr>
                          <a:srgbClr val="23293B"/>
                        </a:buClr>
                        <a:buSzPts val="1150"/>
                        <a:buFont typeface="Calibri"/>
                        <a:buNone/>
                      </a:pPr>
                      <a:r>
                        <a:rPr lang="en-US" sz="1150" u="none" cap="none" strike="noStrike">
                          <a:solidFill>
                            <a:srgbClr val="23293B"/>
                          </a:solidFill>
                          <a:latin typeface="Calibri"/>
                          <a:ea typeface="Calibri"/>
                          <a:cs typeface="Calibri"/>
                          <a:sym typeface="Calibri"/>
                        </a:rPr>
                        <a:t>49 s / 10.8 GB</a:t>
                      </a:r>
                      <a:endParaRPr sz="1150" u="none" cap="none" strike="noStrike">
                        <a:latin typeface="Calibri"/>
                        <a:ea typeface="Calibri"/>
                        <a:cs typeface="Calibri"/>
                        <a:sym typeface="Calibri"/>
                      </a:endParaRPr>
                    </a:p>
                  </a:txBody>
                  <a:tcPr marT="64000" marB="64000" marR="64000" marL="64000" anchor="ctr">
                    <a:lnL cap="flat" cmpd="sng" w="9525">
                      <a:solidFill>
                        <a:srgbClr val="D9E2EA"/>
                      </a:solidFill>
                      <a:prstDash val="solid"/>
                      <a:round/>
                      <a:headEnd len="sm" w="sm" type="none"/>
                      <a:tailEnd len="sm" w="sm" type="none"/>
                    </a:lnL>
                    <a:lnR cap="flat" cmpd="sng" w="9525">
                      <a:solidFill>
                        <a:srgbClr val="D9E2EA"/>
                      </a:solidFill>
                      <a:prstDash val="solid"/>
                      <a:round/>
                      <a:headEnd len="sm" w="sm" type="none"/>
                      <a:tailEnd len="sm" w="sm" type="none"/>
                    </a:lnR>
                    <a:lnT cap="flat" cmpd="sng" w="9525">
                      <a:solidFill>
                        <a:srgbClr val="D9E2EA"/>
                      </a:solidFill>
                      <a:prstDash val="solid"/>
                      <a:round/>
                      <a:headEnd len="sm" w="sm" type="none"/>
                      <a:tailEnd len="sm" w="sm" type="none"/>
                    </a:lnT>
                    <a:lnB cap="flat" cmpd="sng" w="9525">
                      <a:solidFill>
                        <a:srgbClr val="D9E2EA"/>
                      </a:solidFill>
                      <a:prstDash val="solid"/>
                      <a:round/>
                      <a:headEnd len="sm" w="sm" type="none"/>
                      <a:tailEnd len="sm" w="sm" type="none"/>
                    </a:lnB>
                    <a:solidFill>
                      <a:srgbClr val="F2F6F9"/>
                    </a:solidFill>
                  </a:tcPr>
                </a:tc>
              </a:tr>
            </a:tbl>
          </a:graphicData>
        </a:graphic>
      </p:graphicFrame>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41F49"/>
        </a:solidFill>
      </p:bgPr>
    </p:bg>
    <p:spTree>
      <p:nvGrpSpPr>
        <p:cNvPr id="1367" name="Shape 1367"/>
        <p:cNvGrpSpPr/>
        <p:nvPr/>
      </p:nvGrpSpPr>
      <p:grpSpPr>
        <a:xfrm>
          <a:off x="0" y="0"/>
          <a:ext cx="0" cy="0"/>
          <a:chOff x="0" y="0"/>
          <a:chExt cx="0" cy="0"/>
        </a:xfrm>
      </p:grpSpPr>
      <p:sp>
        <p:nvSpPr>
          <p:cNvPr id="1368" name="Google Shape;1368;p48"/>
          <p:cNvSpPr/>
          <p:nvPr/>
        </p:nvSpPr>
        <p:spPr>
          <a:xfrm>
            <a:off x="9418320" y="6149340"/>
            <a:ext cx="411480" cy="356616"/>
          </a:xfrm>
          <a:prstGeom prst="triangle">
            <a:avLst>
              <a:gd fmla="val 50000" name="adj"/>
            </a:avLst>
          </a:prstGeom>
          <a:solidFill>
            <a:srgbClr val="00A79D">
              <a:alpha val="18039"/>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9" name="Google Shape;1369;p48"/>
          <p:cNvSpPr/>
          <p:nvPr/>
        </p:nvSpPr>
        <p:spPr>
          <a:xfrm rot="10800000">
            <a:off x="9857232" y="5806440"/>
            <a:ext cx="411480" cy="356616"/>
          </a:xfrm>
          <a:prstGeom prst="triangle">
            <a:avLst>
              <a:gd fmla="val 50000" name="adj"/>
            </a:avLst>
          </a:prstGeom>
          <a:solidFill>
            <a:srgbClr val="29ABE2">
              <a:alpha val="18039"/>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0" name="Google Shape;1370;p48"/>
          <p:cNvSpPr/>
          <p:nvPr/>
        </p:nvSpPr>
        <p:spPr>
          <a:xfrm rot="10800000">
            <a:off x="9857232" y="6492240"/>
            <a:ext cx="411480" cy="356616"/>
          </a:xfrm>
          <a:prstGeom prst="triangle">
            <a:avLst>
              <a:gd fmla="val 50000" name="adj"/>
            </a:avLst>
          </a:prstGeom>
          <a:solidFill>
            <a:srgbClr val="F58220">
              <a:alpha val="18039"/>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1" name="Google Shape;1371;p48"/>
          <p:cNvSpPr/>
          <p:nvPr/>
        </p:nvSpPr>
        <p:spPr>
          <a:xfrm>
            <a:off x="10296144" y="6149340"/>
            <a:ext cx="411480" cy="356616"/>
          </a:xfrm>
          <a:prstGeom prst="triangle">
            <a:avLst>
              <a:gd fmla="val 50000" name="adj"/>
            </a:avLst>
          </a:prstGeom>
          <a:solidFill>
            <a:srgbClr val="8DC63F">
              <a:alpha val="18039"/>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2" name="Google Shape;1372;p48"/>
          <p:cNvSpPr/>
          <p:nvPr/>
        </p:nvSpPr>
        <p:spPr>
          <a:xfrm>
            <a:off x="10296144" y="5463540"/>
            <a:ext cx="411480" cy="356616"/>
          </a:xfrm>
          <a:prstGeom prst="triangle">
            <a:avLst>
              <a:gd fmla="val 50000" name="adj"/>
            </a:avLst>
          </a:prstGeom>
          <a:solidFill>
            <a:srgbClr val="1D2A5C">
              <a:alpha val="18039"/>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3" name="Google Shape;1373;p48"/>
          <p:cNvSpPr/>
          <p:nvPr/>
        </p:nvSpPr>
        <p:spPr>
          <a:xfrm rot="10800000">
            <a:off x="10735056" y="5806440"/>
            <a:ext cx="411480" cy="356616"/>
          </a:xfrm>
          <a:prstGeom prst="triangle">
            <a:avLst>
              <a:gd fmla="val 50000" name="adj"/>
            </a:avLst>
          </a:prstGeom>
          <a:solidFill>
            <a:srgbClr val="29ABE2">
              <a:alpha val="18039"/>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4" name="Google Shape;1374;p48"/>
          <p:cNvSpPr/>
          <p:nvPr/>
        </p:nvSpPr>
        <p:spPr>
          <a:xfrm>
            <a:off x="10735056" y="6492240"/>
            <a:ext cx="411480" cy="356616"/>
          </a:xfrm>
          <a:prstGeom prst="triangle">
            <a:avLst>
              <a:gd fmla="val 50000" name="adj"/>
            </a:avLst>
          </a:prstGeom>
          <a:solidFill>
            <a:srgbClr val="00A79D">
              <a:alpha val="18039"/>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5" name="Google Shape;1375;p48"/>
          <p:cNvSpPr/>
          <p:nvPr/>
        </p:nvSpPr>
        <p:spPr>
          <a:xfrm rot="10800000">
            <a:off x="11173968" y="6149340"/>
            <a:ext cx="411480" cy="356616"/>
          </a:xfrm>
          <a:prstGeom prst="triangle">
            <a:avLst>
              <a:gd fmla="val 50000" name="adj"/>
            </a:avLst>
          </a:prstGeom>
          <a:solidFill>
            <a:srgbClr val="F58220">
              <a:alpha val="18039"/>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6" name="Google Shape;1376;p48"/>
          <p:cNvSpPr/>
          <p:nvPr/>
        </p:nvSpPr>
        <p:spPr>
          <a:xfrm>
            <a:off x="365760" y="747522"/>
            <a:ext cx="233172" cy="202082"/>
          </a:xfrm>
          <a:prstGeom prst="triangle">
            <a:avLst>
              <a:gd fmla="val 50000" name="adj"/>
            </a:avLst>
          </a:prstGeom>
          <a:solidFill>
            <a:srgbClr val="00A79D">
              <a:alpha val="18039"/>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7" name="Google Shape;1377;p48"/>
          <p:cNvSpPr/>
          <p:nvPr/>
        </p:nvSpPr>
        <p:spPr>
          <a:xfrm rot="10800000">
            <a:off x="614477" y="553212"/>
            <a:ext cx="233172" cy="202082"/>
          </a:xfrm>
          <a:prstGeom prst="triangle">
            <a:avLst>
              <a:gd fmla="val 50000" name="adj"/>
            </a:avLst>
          </a:prstGeom>
          <a:solidFill>
            <a:srgbClr val="29ABE2">
              <a:alpha val="18039"/>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8" name="Google Shape;1378;p48"/>
          <p:cNvSpPr/>
          <p:nvPr/>
        </p:nvSpPr>
        <p:spPr>
          <a:xfrm rot="10800000">
            <a:off x="614477" y="941832"/>
            <a:ext cx="233172" cy="202082"/>
          </a:xfrm>
          <a:prstGeom prst="triangle">
            <a:avLst>
              <a:gd fmla="val 50000" name="adj"/>
            </a:avLst>
          </a:prstGeom>
          <a:solidFill>
            <a:srgbClr val="F58220">
              <a:alpha val="18039"/>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9" name="Google Shape;1379;p48"/>
          <p:cNvSpPr/>
          <p:nvPr/>
        </p:nvSpPr>
        <p:spPr>
          <a:xfrm>
            <a:off x="863194" y="747522"/>
            <a:ext cx="233172" cy="202082"/>
          </a:xfrm>
          <a:prstGeom prst="triangle">
            <a:avLst>
              <a:gd fmla="val 50000" name="adj"/>
            </a:avLst>
          </a:prstGeom>
          <a:solidFill>
            <a:srgbClr val="8DC63F">
              <a:alpha val="18039"/>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0" name="Google Shape;1380;p48"/>
          <p:cNvSpPr/>
          <p:nvPr/>
        </p:nvSpPr>
        <p:spPr>
          <a:xfrm>
            <a:off x="863194" y="358902"/>
            <a:ext cx="233172" cy="202082"/>
          </a:xfrm>
          <a:prstGeom prst="triangle">
            <a:avLst>
              <a:gd fmla="val 50000" name="adj"/>
            </a:avLst>
          </a:prstGeom>
          <a:solidFill>
            <a:srgbClr val="1D2A5C">
              <a:alpha val="18039"/>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1" name="Google Shape;1381;p48"/>
          <p:cNvSpPr/>
          <p:nvPr/>
        </p:nvSpPr>
        <p:spPr>
          <a:xfrm rot="10800000">
            <a:off x="1111910" y="553212"/>
            <a:ext cx="233172" cy="202082"/>
          </a:xfrm>
          <a:prstGeom prst="triangle">
            <a:avLst>
              <a:gd fmla="val 50000" name="adj"/>
            </a:avLst>
          </a:prstGeom>
          <a:solidFill>
            <a:srgbClr val="29ABE2">
              <a:alpha val="18039"/>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2" name="Google Shape;1382;p48"/>
          <p:cNvSpPr/>
          <p:nvPr/>
        </p:nvSpPr>
        <p:spPr>
          <a:xfrm>
            <a:off x="1111910" y="941832"/>
            <a:ext cx="233172" cy="202082"/>
          </a:xfrm>
          <a:prstGeom prst="triangle">
            <a:avLst>
              <a:gd fmla="val 50000" name="adj"/>
            </a:avLst>
          </a:prstGeom>
          <a:solidFill>
            <a:srgbClr val="00A79D">
              <a:alpha val="18039"/>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3" name="Google Shape;1383;p48"/>
          <p:cNvSpPr/>
          <p:nvPr/>
        </p:nvSpPr>
        <p:spPr>
          <a:xfrm rot="10800000">
            <a:off x="1360627" y="747522"/>
            <a:ext cx="233172" cy="202082"/>
          </a:xfrm>
          <a:prstGeom prst="triangle">
            <a:avLst>
              <a:gd fmla="val 50000" name="adj"/>
            </a:avLst>
          </a:prstGeom>
          <a:solidFill>
            <a:srgbClr val="F58220">
              <a:alpha val="18039"/>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4" name="Google Shape;1384;p48"/>
          <p:cNvSpPr/>
          <p:nvPr/>
        </p:nvSpPr>
        <p:spPr>
          <a:xfrm>
            <a:off x="10332720" y="347472"/>
            <a:ext cx="1481328" cy="566928"/>
          </a:xfrm>
          <a:prstGeom prst="roundRect">
            <a:avLst>
              <a:gd fmla="val 14516" name="adj"/>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sessions/blissful-determined-ritchie/build/assets/sdaia_logo.png" id="1385" name="Google Shape;1385;p48"/>
          <p:cNvPicPr preferRelativeResize="0"/>
          <p:nvPr/>
        </p:nvPicPr>
        <p:blipFill rotWithShape="1">
          <a:blip r:embed="rId3">
            <a:alphaModFix/>
          </a:blip>
          <a:srcRect b="0" l="0" r="0" t="0"/>
          <a:stretch/>
        </p:blipFill>
        <p:spPr>
          <a:xfrm>
            <a:off x="10442448" y="438912"/>
            <a:ext cx="1261872" cy="308876"/>
          </a:xfrm>
          <a:prstGeom prst="rect">
            <a:avLst/>
          </a:prstGeom>
          <a:noFill/>
          <a:ln>
            <a:noFill/>
          </a:ln>
        </p:spPr>
      </p:pic>
      <p:sp>
        <p:nvSpPr>
          <p:cNvPr id="1386" name="Google Shape;1386;p48"/>
          <p:cNvSpPr/>
          <p:nvPr/>
        </p:nvSpPr>
        <p:spPr>
          <a:xfrm>
            <a:off x="777240" y="1325880"/>
            <a:ext cx="548640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A79D"/>
              </a:buClr>
              <a:buSzPts val="2000"/>
              <a:buFont typeface="Calibri"/>
              <a:buNone/>
            </a:pPr>
            <a:r>
              <a:rPr b="1" i="0" lang="en-US" sz="2000" u="none" cap="none" strike="noStrike">
                <a:solidFill>
                  <a:srgbClr val="00A79D"/>
                </a:solidFill>
                <a:latin typeface="Calibri"/>
                <a:ea typeface="Calibri"/>
                <a:cs typeface="Calibri"/>
                <a:sym typeface="Calibri"/>
              </a:rPr>
              <a:t>DAY 2</a:t>
            </a:r>
            <a:endParaRPr b="0" i="0" sz="2000" u="none" cap="none" strike="noStrike">
              <a:solidFill>
                <a:schemeClr val="dk1"/>
              </a:solidFill>
              <a:latin typeface="Calibri"/>
              <a:ea typeface="Calibri"/>
              <a:cs typeface="Calibri"/>
              <a:sym typeface="Calibri"/>
            </a:endParaRPr>
          </a:p>
        </p:txBody>
      </p:sp>
      <p:sp>
        <p:nvSpPr>
          <p:cNvPr id="1387" name="Google Shape;1387;p48"/>
          <p:cNvSpPr/>
          <p:nvPr/>
        </p:nvSpPr>
        <p:spPr>
          <a:xfrm>
            <a:off x="749808" y="1828800"/>
            <a:ext cx="7589520" cy="13716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FFFFFF"/>
              </a:buClr>
              <a:buSzPts val="3600"/>
              <a:buFont typeface="Calibri"/>
              <a:buNone/>
            </a:pPr>
            <a:r>
              <a:rPr b="1" i="0" lang="en-US" sz="3600" u="none" cap="none" strike="noStrike">
                <a:solidFill>
                  <a:srgbClr val="FFFFFF"/>
                </a:solidFill>
                <a:latin typeface="Calibri"/>
                <a:ea typeface="Calibri"/>
                <a:cs typeface="Calibri"/>
                <a:sym typeface="Calibri"/>
              </a:rPr>
              <a:t>Locate and Delineate</a:t>
            </a:r>
            <a:endParaRPr b="0" i="0" sz="3600" u="none" cap="none" strike="noStrike">
              <a:solidFill>
                <a:schemeClr val="dk1"/>
              </a:solidFill>
              <a:latin typeface="Calibri"/>
              <a:ea typeface="Calibri"/>
              <a:cs typeface="Calibri"/>
              <a:sym typeface="Calibri"/>
            </a:endParaRPr>
          </a:p>
        </p:txBody>
      </p:sp>
      <p:sp>
        <p:nvSpPr>
          <p:cNvPr id="1388" name="Google Shape;1388;p48"/>
          <p:cNvSpPr/>
          <p:nvPr/>
        </p:nvSpPr>
        <p:spPr>
          <a:xfrm>
            <a:off x="777240" y="2852928"/>
            <a:ext cx="758952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B9C8E8"/>
              </a:buClr>
              <a:buSzPts val="1700"/>
              <a:buFont typeface="Arial"/>
              <a:buNone/>
            </a:pPr>
            <a:r>
              <a:rPr b="0" i="0" lang="en-US" sz="1700" u="none" cap="none" strike="noStrike">
                <a:solidFill>
                  <a:srgbClr val="B9C8E8"/>
                </a:solidFill>
                <a:latin typeface="Arial"/>
                <a:ea typeface="Arial"/>
                <a:cs typeface="Arial"/>
                <a:sym typeface="Arial"/>
              </a:rPr>
              <a:t>حدد الموقع وارسم الحدود</a:t>
            </a:r>
            <a:endParaRPr b="0" i="0" sz="1700" u="none" cap="none" strike="noStrike">
              <a:solidFill>
                <a:schemeClr val="dk1"/>
              </a:solidFill>
              <a:latin typeface="Calibri"/>
              <a:ea typeface="Calibri"/>
              <a:cs typeface="Calibri"/>
              <a:sym typeface="Calibri"/>
            </a:endParaRPr>
          </a:p>
        </p:txBody>
      </p:sp>
      <p:sp>
        <p:nvSpPr>
          <p:cNvPr id="1389" name="Google Shape;1389;p48"/>
          <p:cNvSpPr/>
          <p:nvPr/>
        </p:nvSpPr>
        <p:spPr>
          <a:xfrm>
            <a:off x="804672" y="3520440"/>
            <a:ext cx="6949440" cy="2560320"/>
          </a:xfrm>
          <a:prstGeom prst="rect">
            <a:avLst/>
          </a:prstGeom>
          <a:noFill/>
          <a:ln>
            <a:noFill/>
          </a:ln>
        </p:spPr>
        <p:txBody>
          <a:bodyPr anchorCtr="0" anchor="t" bIns="0" lIns="0" spcFirstLastPara="1" rIns="0" wrap="square" tIns="0">
            <a:noAutofit/>
          </a:bodyPr>
          <a:lstStyle/>
          <a:p>
            <a:pPr indent="-177800" lvl="0" marL="177800" marR="0" rtl="0" algn="l">
              <a:spcBef>
                <a:spcPts val="0"/>
              </a:spcBef>
              <a:spcAft>
                <a:spcPts val="0"/>
              </a:spcAft>
              <a:buClr>
                <a:srgbClr val="DCE6F8"/>
              </a:buClr>
              <a:buSzPts val="1300"/>
              <a:buFont typeface="Calibri"/>
              <a:buChar char="▪"/>
            </a:pPr>
            <a:r>
              <a:rPr b="0" i="0" lang="en-US" sz="1300" u="none" cap="none" strike="noStrike">
                <a:solidFill>
                  <a:srgbClr val="DCE6F8"/>
                </a:solidFill>
                <a:latin typeface="Calibri"/>
                <a:ea typeface="Calibri"/>
                <a:cs typeface="Calibri"/>
                <a:sym typeface="Calibri"/>
              </a:rPr>
              <a:t>H1 — Lab 2b: classifier hardening + ViT comparison</a:t>
            </a:r>
            <a:endParaRPr b="0" i="0" sz="1300" u="none" cap="none" strike="noStrike">
              <a:solidFill>
                <a:schemeClr val="dk1"/>
              </a:solidFill>
              <a:latin typeface="Calibri"/>
              <a:ea typeface="Calibri"/>
              <a:cs typeface="Calibri"/>
              <a:sym typeface="Calibri"/>
            </a:endParaRPr>
          </a:p>
          <a:p>
            <a:pPr indent="-177800" lvl="0" marL="177800" marR="0" rtl="0" algn="l">
              <a:spcBef>
                <a:spcPts val="800"/>
              </a:spcBef>
              <a:spcAft>
                <a:spcPts val="0"/>
              </a:spcAft>
              <a:buClr>
                <a:srgbClr val="DCE6F8"/>
              </a:buClr>
              <a:buSzPts val="1300"/>
              <a:buFont typeface="Calibri"/>
              <a:buChar char="▪"/>
            </a:pPr>
            <a:r>
              <a:rPr b="0" i="0" lang="en-US" sz="1300" u="none" cap="none" strike="noStrike">
                <a:solidFill>
                  <a:srgbClr val="DCE6F8"/>
                </a:solidFill>
                <a:latin typeface="Calibri"/>
                <a:ea typeface="Calibri"/>
                <a:cs typeface="Calibri"/>
                <a:sym typeface="Calibri"/>
              </a:rPr>
              <a:t>H2 — Object detection with YOLO-family models (M3)</a:t>
            </a:r>
            <a:endParaRPr b="0" i="0" sz="1300" u="none" cap="none" strike="noStrike">
              <a:solidFill>
                <a:schemeClr val="dk1"/>
              </a:solidFill>
              <a:latin typeface="Calibri"/>
              <a:ea typeface="Calibri"/>
              <a:cs typeface="Calibri"/>
              <a:sym typeface="Calibri"/>
            </a:endParaRPr>
          </a:p>
          <a:p>
            <a:pPr indent="-177800" lvl="0" marL="177800" marR="0" rtl="0" algn="l">
              <a:spcBef>
                <a:spcPts val="800"/>
              </a:spcBef>
              <a:spcAft>
                <a:spcPts val="0"/>
              </a:spcAft>
              <a:buClr>
                <a:srgbClr val="DCE6F8"/>
              </a:buClr>
              <a:buSzPts val="1300"/>
              <a:buFont typeface="Calibri"/>
              <a:buChar char="▪"/>
            </a:pPr>
            <a:r>
              <a:rPr b="0" i="0" lang="en-US" sz="1300" u="none" cap="none" strike="noStrike">
                <a:solidFill>
                  <a:srgbClr val="DCE6F8"/>
                </a:solidFill>
                <a:latin typeface="Calibri"/>
                <a:ea typeface="Calibri"/>
                <a:cs typeface="Calibri"/>
                <a:sym typeface="Calibri"/>
              </a:rPr>
              <a:t>H3 — Lab 3: train the defect detector</a:t>
            </a:r>
            <a:endParaRPr b="0" i="0" sz="1300" u="none" cap="none" strike="noStrike">
              <a:solidFill>
                <a:schemeClr val="dk1"/>
              </a:solidFill>
              <a:latin typeface="Calibri"/>
              <a:ea typeface="Calibri"/>
              <a:cs typeface="Calibri"/>
              <a:sym typeface="Calibri"/>
            </a:endParaRPr>
          </a:p>
          <a:p>
            <a:pPr indent="-177800" lvl="0" marL="177800" marR="0" rtl="0" algn="l">
              <a:spcBef>
                <a:spcPts val="800"/>
              </a:spcBef>
              <a:spcAft>
                <a:spcPts val="0"/>
              </a:spcAft>
              <a:buClr>
                <a:srgbClr val="DCE6F8"/>
              </a:buClr>
              <a:buSzPts val="1300"/>
              <a:buFont typeface="Calibri"/>
              <a:buChar char="▪"/>
            </a:pPr>
            <a:r>
              <a:rPr b="0" i="0" lang="en-US" sz="1300" u="none" cap="none" strike="noStrike">
                <a:solidFill>
                  <a:srgbClr val="DCE6F8"/>
                </a:solidFill>
                <a:latin typeface="Calibri"/>
                <a:ea typeface="Calibri"/>
                <a:cs typeface="Calibri"/>
                <a:sym typeface="Calibri"/>
              </a:rPr>
              <a:t>H4 — Semantic and instance segmentation (M4)</a:t>
            </a:r>
            <a:endParaRPr b="0" i="0" sz="1300" u="none" cap="none" strike="noStrike">
              <a:solidFill>
                <a:schemeClr val="dk1"/>
              </a:solidFill>
              <a:latin typeface="Calibri"/>
              <a:ea typeface="Calibri"/>
              <a:cs typeface="Calibri"/>
              <a:sym typeface="Calibri"/>
            </a:endParaRPr>
          </a:p>
          <a:p>
            <a:pPr indent="-177800" lvl="0" marL="177800" marR="0" rtl="0" algn="l">
              <a:spcBef>
                <a:spcPts val="800"/>
              </a:spcBef>
              <a:spcAft>
                <a:spcPts val="0"/>
              </a:spcAft>
              <a:buClr>
                <a:srgbClr val="DCE6F8"/>
              </a:buClr>
              <a:buSzPts val="1300"/>
              <a:buFont typeface="Calibri"/>
              <a:buChar char="▪"/>
            </a:pPr>
            <a:r>
              <a:rPr b="0" i="0" lang="en-US" sz="1300" u="none" cap="none" strike="noStrike">
                <a:solidFill>
                  <a:srgbClr val="DCE6F8"/>
                </a:solidFill>
                <a:latin typeface="Calibri"/>
                <a:ea typeface="Calibri"/>
                <a:cs typeface="Calibri"/>
                <a:sym typeface="Calibri"/>
              </a:rPr>
              <a:t>H5 — Lab 4: segment surface defects</a:t>
            </a:r>
            <a:endParaRPr b="0" i="0" sz="1300" u="none" cap="none" strike="noStrike">
              <a:solidFill>
                <a:schemeClr val="dk1"/>
              </a:solidFill>
              <a:latin typeface="Calibri"/>
              <a:ea typeface="Calibri"/>
              <a:cs typeface="Calibri"/>
              <a:sym typeface="Calibri"/>
            </a:endParaRPr>
          </a:p>
        </p:txBody>
      </p:sp>
      <p:sp>
        <p:nvSpPr>
          <p:cNvPr id="1390" name="Google Shape;1390;p48"/>
          <p:cNvSpPr/>
          <p:nvPr/>
        </p:nvSpPr>
        <p:spPr>
          <a:xfrm>
            <a:off x="8366760" y="3520440"/>
            <a:ext cx="3383280" cy="2286000"/>
          </a:xfrm>
          <a:prstGeom prst="roundRect">
            <a:avLst>
              <a:gd fmla="val 4000" name="adj"/>
            </a:avLst>
          </a:prstGeom>
          <a:solidFill>
            <a:srgbClr val="1C2C63"/>
          </a:solidFill>
          <a:ln cap="flat" cmpd="sng" w="15875">
            <a:solidFill>
              <a:srgbClr val="00A79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1" name="Google Shape;1391;p48"/>
          <p:cNvSpPr/>
          <p:nvPr/>
        </p:nvSpPr>
        <p:spPr>
          <a:xfrm>
            <a:off x="8595360" y="3703320"/>
            <a:ext cx="292608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A79D"/>
              </a:buClr>
              <a:buSzPts val="1000"/>
              <a:buFont typeface="Calibri"/>
              <a:buNone/>
            </a:pPr>
            <a:r>
              <a:rPr b="1" i="0" lang="en-US" sz="1000" u="none" cap="none" strike="noStrike">
                <a:solidFill>
                  <a:srgbClr val="00A79D"/>
                </a:solidFill>
                <a:latin typeface="Calibri"/>
                <a:ea typeface="Calibri"/>
                <a:cs typeface="Calibri"/>
                <a:sym typeface="Calibri"/>
              </a:rPr>
              <a:t>END-OF-DAY DELIVERABLE</a:t>
            </a:r>
            <a:endParaRPr b="0" i="0" sz="1000" u="none" cap="none" strike="noStrike">
              <a:solidFill>
                <a:schemeClr val="dk1"/>
              </a:solidFill>
              <a:latin typeface="Calibri"/>
              <a:ea typeface="Calibri"/>
              <a:cs typeface="Calibri"/>
              <a:sym typeface="Calibri"/>
            </a:endParaRPr>
          </a:p>
        </p:txBody>
      </p:sp>
      <p:sp>
        <p:nvSpPr>
          <p:cNvPr id="1392" name="Google Shape;1392;p48"/>
          <p:cNvSpPr/>
          <p:nvPr/>
        </p:nvSpPr>
        <p:spPr>
          <a:xfrm>
            <a:off x="8595360" y="4041648"/>
            <a:ext cx="2971800" cy="16002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FFFFFF"/>
              </a:buClr>
              <a:buSzPts val="1250"/>
              <a:buFont typeface="Calibri"/>
              <a:buNone/>
            </a:pPr>
            <a:r>
              <a:rPr b="0" i="0" lang="en-US" sz="1250" u="none" cap="none" strike="noStrike">
                <a:solidFill>
                  <a:srgbClr val="FFFFFF"/>
                </a:solidFill>
                <a:latin typeface="Calibri"/>
                <a:ea typeface="Calibri"/>
                <a:cs typeface="Calibri"/>
                <a:sym typeface="Calibri"/>
              </a:rPr>
              <a:t>Trained defect detector (mAP@0.5 ≥ 0.85) + surface-defect segmentation model</a:t>
            </a:r>
            <a:endParaRPr b="0" i="0" sz="1250" u="none" cap="none" strike="noStrike">
              <a:solidFill>
                <a:schemeClr val="dk1"/>
              </a:solidFill>
              <a:latin typeface="Calibri"/>
              <a:ea typeface="Calibri"/>
              <a:cs typeface="Calibri"/>
              <a:sym typeface="Calibri"/>
            </a:endParaRPr>
          </a:p>
        </p:txBody>
      </p:sp>
      <p:sp>
        <p:nvSpPr>
          <p:cNvPr id="1393" name="Google Shape;1393;p48"/>
          <p:cNvSpPr/>
          <p:nvPr/>
        </p:nvSpPr>
        <p:spPr>
          <a:xfrm>
            <a:off x="11292840" y="6528816"/>
            <a:ext cx="411480" cy="219456"/>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5A6A96"/>
              </a:buClr>
              <a:buSzPts val="900"/>
              <a:buFont typeface="Calibri"/>
              <a:buNone/>
            </a:pPr>
            <a:r>
              <a:rPr b="0" i="0" lang="en-US" sz="900" u="none" cap="none" strike="noStrike">
                <a:solidFill>
                  <a:srgbClr val="5A6A96"/>
                </a:solidFill>
                <a:latin typeface="Calibri"/>
                <a:ea typeface="Calibri"/>
                <a:cs typeface="Calibri"/>
                <a:sym typeface="Calibri"/>
              </a:rPr>
              <a:t>48</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398" name="Shape 1398"/>
        <p:cNvGrpSpPr/>
        <p:nvPr/>
      </p:nvGrpSpPr>
      <p:grpSpPr>
        <a:xfrm>
          <a:off x="0" y="0"/>
          <a:ext cx="0" cy="0"/>
          <a:chOff x="0" y="0"/>
          <a:chExt cx="0" cy="0"/>
        </a:xfrm>
      </p:grpSpPr>
      <p:sp>
        <p:nvSpPr>
          <p:cNvPr id="1399" name="Google Shape;1399;p49"/>
          <p:cNvSpPr/>
          <p:nvPr/>
        </p:nvSpPr>
        <p:spPr>
          <a:xfrm>
            <a:off x="502920" y="274320"/>
            <a:ext cx="9646920" cy="56692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D2A5C"/>
              </a:buClr>
              <a:buSzPts val="2700"/>
              <a:buFont typeface="Calibri"/>
              <a:buNone/>
            </a:pPr>
            <a:r>
              <a:rPr b="1" i="0" lang="en-US" sz="2700" u="none" cap="none" strike="noStrike">
                <a:solidFill>
                  <a:srgbClr val="1D2A5C"/>
                </a:solidFill>
                <a:latin typeface="Calibri"/>
                <a:ea typeface="Calibri"/>
                <a:cs typeface="Calibri"/>
                <a:sym typeface="Calibri"/>
              </a:rPr>
              <a:t>Day 2 Hour by Hour</a:t>
            </a:r>
            <a:endParaRPr b="0" i="0" sz="2700" u="none" cap="none" strike="noStrike">
              <a:solidFill>
                <a:schemeClr val="dk1"/>
              </a:solidFill>
              <a:latin typeface="Calibri"/>
              <a:ea typeface="Calibri"/>
              <a:cs typeface="Calibri"/>
              <a:sym typeface="Calibri"/>
            </a:endParaRPr>
          </a:p>
        </p:txBody>
      </p:sp>
      <p:sp>
        <p:nvSpPr>
          <p:cNvPr id="1400" name="Google Shape;1400;p49"/>
          <p:cNvSpPr/>
          <p:nvPr/>
        </p:nvSpPr>
        <p:spPr>
          <a:xfrm>
            <a:off x="502920" y="859536"/>
            <a:ext cx="9646920" cy="31089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F6B7A"/>
              </a:buClr>
              <a:buSzPts val="1250"/>
              <a:buFont typeface="Arial"/>
              <a:buNone/>
            </a:pPr>
            <a:r>
              <a:rPr b="0" i="0" lang="en-US" sz="1250" u="none" cap="none" strike="noStrike">
                <a:solidFill>
                  <a:srgbClr val="5F6B7A"/>
                </a:solidFill>
                <a:latin typeface="Arial"/>
                <a:ea typeface="Arial"/>
                <a:cs typeface="Arial"/>
                <a:sym typeface="Arial"/>
              </a:rPr>
              <a:t>اليوم الثاني ساعة بساعة</a:t>
            </a:r>
            <a:endParaRPr b="0" i="0" sz="1250" u="none" cap="none" strike="noStrike">
              <a:solidFill>
                <a:schemeClr val="dk1"/>
              </a:solidFill>
              <a:latin typeface="Calibri"/>
              <a:ea typeface="Calibri"/>
              <a:cs typeface="Calibri"/>
              <a:sym typeface="Calibri"/>
            </a:endParaRPr>
          </a:p>
        </p:txBody>
      </p:sp>
      <p:pic>
        <p:nvPicPr>
          <p:cNvPr descr="/sessions/blissful-determined-ritchie/build/assets/sdaia_logo.png" id="1401" name="Google Shape;1401;p49"/>
          <p:cNvPicPr preferRelativeResize="0"/>
          <p:nvPr/>
        </p:nvPicPr>
        <p:blipFill rotWithShape="1">
          <a:blip r:embed="rId3">
            <a:alphaModFix/>
          </a:blip>
          <a:srcRect b="0" l="0" r="0" t="0"/>
          <a:stretch/>
        </p:blipFill>
        <p:spPr>
          <a:xfrm>
            <a:off x="10625328" y="310896"/>
            <a:ext cx="1078992" cy="264111"/>
          </a:xfrm>
          <a:prstGeom prst="rect">
            <a:avLst/>
          </a:prstGeom>
          <a:noFill/>
          <a:ln>
            <a:noFill/>
          </a:ln>
        </p:spPr>
      </p:pic>
      <p:sp>
        <p:nvSpPr>
          <p:cNvPr id="1402" name="Google Shape;1402;p49"/>
          <p:cNvSpPr/>
          <p:nvPr/>
        </p:nvSpPr>
        <p:spPr>
          <a:xfrm>
            <a:off x="502920" y="6528816"/>
            <a:ext cx="8686800"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A79D"/>
              </a:buClr>
              <a:buSzPts val="800"/>
              <a:buFont typeface="Calibri"/>
              <a:buNone/>
            </a:pPr>
            <a:r>
              <a:rPr b="1" i="0" lang="en-US" sz="800" u="none" cap="none" strike="noStrike">
                <a:solidFill>
                  <a:srgbClr val="00A79D"/>
                </a:solidFill>
                <a:latin typeface="Calibri"/>
                <a:ea typeface="Calibri"/>
                <a:cs typeface="Calibri"/>
                <a:sym typeface="Calibri"/>
              </a:rPr>
              <a:t>DAY 2   </a:t>
            </a:r>
            <a:r>
              <a:rPr b="0" i="0" lang="en-US" sz="800" u="none" cap="none" strike="noStrike">
                <a:solidFill>
                  <a:srgbClr val="8A96A6"/>
                </a:solidFill>
                <a:latin typeface="Calibri"/>
                <a:ea typeface="Calibri"/>
                <a:cs typeface="Calibri"/>
                <a:sym typeface="Calibri"/>
              </a:rPr>
              <a:t>SDA-AIE-212 · Computer Vision Systems Development</a:t>
            </a:r>
            <a:endParaRPr b="0" i="0" sz="800" u="none" cap="none" strike="noStrike">
              <a:solidFill>
                <a:schemeClr val="dk1"/>
              </a:solidFill>
              <a:latin typeface="Calibri"/>
              <a:ea typeface="Calibri"/>
              <a:cs typeface="Calibri"/>
              <a:sym typeface="Calibri"/>
            </a:endParaRPr>
          </a:p>
        </p:txBody>
      </p:sp>
      <p:sp>
        <p:nvSpPr>
          <p:cNvPr id="1403" name="Google Shape;1403;p49"/>
          <p:cNvSpPr/>
          <p:nvPr/>
        </p:nvSpPr>
        <p:spPr>
          <a:xfrm>
            <a:off x="11292840" y="6528816"/>
            <a:ext cx="411480" cy="219456"/>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8A96A6"/>
              </a:buClr>
              <a:buSzPts val="900"/>
              <a:buFont typeface="Calibri"/>
              <a:buNone/>
            </a:pPr>
            <a:r>
              <a:rPr b="0" i="0" lang="en-US" sz="900" u="none" cap="none" strike="noStrike">
                <a:solidFill>
                  <a:srgbClr val="8A96A6"/>
                </a:solidFill>
                <a:latin typeface="Calibri"/>
                <a:ea typeface="Calibri"/>
                <a:cs typeface="Calibri"/>
                <a:sym typeface="Calibri"/>
              </a:rPr>
              <a:t>49</a:t>
            </a:r>
            <a:endParaRPr b="0" i="0" sz="900" u="none" cap="none" strike="noStrike">
              <a:solidFill>
                <a:schemeClr val="dk1"/>
              </a:solidFill>
              <a:latin typeface="Calibri"/>
              <a:ea typeface="Calibri"/>
              <a:cs typeface="Calibri"/>
              <a:sym typeface="Calibri"/>
            </a:endParaRPr>
          </a:p>
        </p:txBody>
      </p:sp>
      <p:graphicFrame>
        <p:nvGraphicFramePr>
          <p:cNvPr id="1404" name="Google Shape;1404;p49"/>
          <p:cNvGraphicFramePr/>
          <p:nvPr/>
        </p:nvGraphicFramePr>
        <p:xfrm>
          <a:off x="502920" y="1389888"/>
          <a:ext cx="3000000" cy="3000000"/>
        </p:xfrm>
        <a:graphic>
          <a:graphicData uri="http://schemas.openxmlformats.org/drawingml/2006/table">
            <a:tbl>
              <a:tblPr>
                <a:noFill/>
                <a:tableStyleId>{F80342BA-3033-44D6-9F91-622DC7A4C435}</a:tableStyleId>
              </a:tblPr>
              <a:tblGrid>
                <a:gridCol w="1264700"/>
                <a:gridCol w="4288850"/>
                <a:gridCol w="3632600"/>
                <a:gridCol w="1999675"/>
              </a:tblGrid>
              <a:tr h="713225">
                <a:tc>
                  <a:txBody>
                    <a:bodyPr/>
                    <a:lstStyle/>
                    <a:p>
                      <a:pPr indent="0" lvl="0" marL="0" marR="0" rtl="0" algn="l">
                        <a:spcBef>
                          <a:spcPts val="0"/>
                        </a:spcBef>
                        <a:spcAft>
                          <a:spcPts val="0"/>
                        </a:spcAft>
                        <a:buClr>
                          <a:srgbClr val="FFFFFF"/>
                        </a:buClr>
                        <a:buSzPts val="1150"/>
                        <a:buFont typeface="Calibri"/>
                        <a:buNone/>
                      </a:pPr>
                      <a:r>
                        <a:rPr b="1" lang="en-US" sz="1150" u="none" cap="none" strike="noStrike">
                          <a:solidFill>
                            <a:srgbClr val="FFFFFF"/>
                          </a:solidFill>
                          <a:latin typeface="Calibri"/>
                          <a:ea typeface="Calibri"/>
                          <a:cs typeface="Calibri"/>
                          <a:sym typeface="Calibri"/>
                        </a:rPr>
                        <a:t>Hour</a:t>
                      </a:r>
                      <a:endParaRPr sz="1150" u="none" cap="none" strike="noStrike">
                        <a:latin typeface="Calibri"/>
                        <a:ea typeface="Calibri"/>
                        <a:cs typeface="Calibri"/>
                        <a:sym typeface="Calibri"/>
                      </a:endParaRPr>
                    </a:p>
                  </a:txBody>
                  <a:tcPr marT="64000" marB="64000" marR="64000" marL="64000" anchor="ctr">
                    <a:lnL cap="flat" cmpd="sng" w="9525">
                      <a:solidFill>
                        <a:srgbClr val="D9E2EA"/>
                      </a:solidFill>
                      <a:prstDash val="solid"/>
                      <a:round/>
                      <a:headEnd len="sm" w="sm" type="none"/>
                      <a:tailEnd len="sm" w="sm" type="none"/>
                    </a:lnL>
                    <a:lnR cap="flat" cmpd="sng" w="9525">
                      <a:solidFill>
                        <a:srgbClr val="D9E2EA"/>
                      </a:solidFill>
                      <a:prstDash val="solid"/>
                      <a:round/>
                      <a:headEnd len="sm" w="sm" type="none"/>
                      <a:tailEnd len="sm" w="sm" type="none"/>
                    </a:lnR>
                    <a:lnT cap="flat" cmpd="sng" w="9525">
                      <a:solidFill>
                        <a:srgbClr val="D9E2EA"/>
                      </a:solidFill>
                      <a:prstDash val="solid"/>
                      <a:round/>
                      <a:headEnd len="sm" w="sm" type="none"/>
                      <a:tailEnd len="sm" w="sm" type="none"/>
                    </a:lnT>
                    <a:lnB cap="flat" cmpd="sng" w="9525">
                      <a:solidFill>
                        <a:srgbClr val="D9E2EA"/>
                      </a:solidFill>
                      <a:prstDash val="solid"/>
                      <a:round/>
                      <a:headEnd len="sm" w="sm" type="none"/>
                      <a:tailEnd len="sm" w="sm" type="none"/>
                    </a:lnB>
                    <a:solidFill>
                      <a:srgbClr val="1D2A5C"/>
                    </a:solidFill>
                  </a:tcPr>
                </a:tc>
                <a:tc>
                  <a:txBody>
                    <a:bodyPr/>
                    <a:lstStyle/>
                    <a:p>
                      <a:pPr indent="0" lvl="0" marL="0" marR="0" rtl="0" algn="l">
                        <a:spcBef>
                          <a:spcPts val="0"/>
                        </a:spcBef>
                        <a:spcAft>
                          <a:spcPts val="0"/>
                        </a:spcAft>
                        <a:buClr>
                          <a:srgbClr val="FFFFFF"/>
                        </a:buClr>
                        <a:buSzPts val="1150"/>
                        <a:buFont typeface="Calibri"/>
                        <a:buNone/>
                      </a:pPr>
                      <a:r>
                        <a:rPr b="1" lang="en-US" sz="1150" u="none" cap="none" strike="noStrike">
                          <a:solidFill>
                            <a:srgbClr val="FFFFFF"/>
                          </a:solidFill>
                          <a:latin typeface="Calibri"/>
                          <a:ea typeface="Calibri"/>
                          <a:cs typeface="Calibri"/>
                          <a:sym typeface="Calibri"/>
                        </a:rPr>
                        <a:t>Session</a:t>
                      </a:r>
                      <a:endParaRPr sz="1150" u="none" cap="none" strike="noStrike">
                        <a:latin typeface="Calibri"/>
                        <a:ea typeface="Calibri"/>
                        <a:cs typeface="Calibri"/>
                        <a:sym typeface="Calibri"/>
                      </a:endParaRPr>
                    </a:p>
                  </a:txBody>
                  <a:tcPr marT="64000" marB="64000" marR="64000" marL="64000" anchor="ctr">
                    <a:lnL cap="flat" cmpd="sng" w="9525">
                      <a:solidFill>
                        <a:srgbClr val="D9E2EA"/>
                      </a:solidFill>
                      <a:prstDash val="solid"/>
                      <a:round/>
                      <a:headEnd len="sm" w="sm" type="none"/>
                      <a:tailEnd len="sm" w="sm" type="none"/>
                    </a:lnL>
                    <a:lnR cap="flat" cmpd="sng" w="9525">
                      <a:solidFill>
                        <a:srgbClr val="D9E2EA"/>
                      </a:solidFill>
                      <a:prstDash val="solid"/>
                      <a:round/>
                      <a:headEnd len="sm" w="sm" type="none"/>
                      <a:tailEnd len="sm" w="sm" type="none"/>
                    </a:lnR>
                    <a:lnT cap="flat" cmpd="sng" w="9525">
                      <a:solidFill>
                        <a:srgbClr val="D9E2EA"/>
                      </a:solidFill>
                      <a:prstDash val="solid"/>
                      <a:round/>
                      <a:headEnd len="sm" w="sm" type="none"/>
                      <a:tailEnd len="sm" w="sm" type="none"/>
                    </a:lnT>
                    <a:lnB cap="flat" cmpd="sng" w="9525">
                      <a:solidFill>
                        <a:srgbClr val="D9E2EA"/>
                      </a:solidFill>
                      <a:prstDash val="solid"/>
                      <a:round/>
                      <a:headEnd len="sm" w="sm" type="none"/>
                      <a:tailEnd len="sm" w="sm" type="none"/>
                    </a:lnB>
                    <a:solidFill>
                      <a:srgbClr val="1D2A5C"/>
                    </a:solidFill>
                  </a:tcPr>
                </a:tc>
                <a:tc>
                  <a:txBody>
                    <a:bodyPr/>
                    <a:lstStyle/>
                    <a:p>
                      <a:pPr indent="0" lvl="0" marL="0" marR="0" rtl="0" algn="l">
                        <a:spcBef>
                          <a:spcPts val="0"/>
                        </a:spcBef>
                        <a:spcAft>
                          <a:spcPts val="0"/>
                        </a:spcAft>
                        <a:buClr>
                          <a:srgbClr val="FFFFFF"/>
                        </a:buClr>
                        <a:buSzPts val="1150"/>
                        <a:buFont typeface="Calibri"/>
                        <a:buNone/>
                      </a:pPr>
                      <a:r>
                        <a:rPr b="1" lang="en-US" sz="1150" u="none" cap="none" strike="noStrike">
                          <a:solidFill>
                            <a:srgbClr val="FFFFFF"/>
                          </a:solidFill>
                          <a:latin typeface="Calibri"/>
                          <a:ea typeface="Calibri"/>
                          <a:cs typeface="Calibri"/>
                          <a:sym typeface="Calibri"/>
                        </a:rPr>
                        <a:t>Delivery mode</a:t>
                      </a:r>
                      <a:endParaRPr sz="1150" u="none" cap="none" strike="noStrike">
                        <a:latin typeface="Calibri"/>
                        <a:ea typeface="Calibri"/>
                        <a:cs typeface="Calibri"/>
                        <a:sym typeface="Calibri"/>
                      </a:endParaRPr>
                    </a:p>
                  </a:txBody>
                  <a:tcPr marT="64000" marB="64000" marR="64000" marL="64000" anchor="ctr">
                    <a:lnL cap="flat" cmpd="sng" w="9525">
                      <a:solidFill>
                        <a:srgbClr val="D9E2EA"/>
                      </a:solidFill>
                      <a:prstDash val="solid"/>
                      <a:round/>
                      <a:headEnd len="sm" w="sm" type="none"/>
                      <a:tailEnd len="sm" w="sm" type="none"/>
                    </a:lnL>
                    <a:lnR cap="flat" cmpd="sng" w="9525">
                      <a:solidFill>
                        <a:srgbClr val="D9E2EA"/>
                      </a:solidFill>
                      <a:prstDash val="solid"/>
                      <a:round/>
                      <a:headEnd len="sm" w="sm" type="none"/>
                      <a:tailEnd len="sm" w="sm" type="none"/>
                    </a:lnR>
                    <a:lnT cap="flat" cmpd="sng" w="9525">
                      <a:solidFill>
                        <a:srgbClr val="D9E2EA"/>
                      </a:solidFill>
                      <a:prstDash val="solid"/>
                      <a:round/>
                      <a:headEnd len="sm" w="sm" type="none"/>
                      <a:tailEnd len="sm" w="sm" type="none"/>
                    </a:lnT>
                    <a:lnB cap="flat" cmpd="sng" w="9525">
                      <a:solidFill>
                        <a:srgbClr val="D9E2EA"/>
                      </a:solidFill>
                      <a:prstDash val="solid"/>
                      <a:round/>
                      <a:headEnd len="sm" w="sm" type="none"/>
                      <a:tailEnd len="sm" w="sm" type="none"/>
                    </a:lnB>
                    <a:solidFill>
                      <a:srgbClr val="1D2A5C"/>
                    </a:solidFill>
                  </a:tcPr>
                </a:tc>
                <a:tc>
                  <a:txBody>
                    <a:bodyPr/>
                    <a:lstStyle/>
                    <a:p>
                      <a:pPr indent="0" lvl="0" marL="0" marR="0" rtl="0" algn="l">
                        <a:spcBef>
                          <a:spcPts val="0"/>
                        </a:spcBef>
                        <a:spcAft>
                          <a:spcPts val="0"/>
                        </a:spcAft>
                        <a:buClr>
                          <a:srgbClr val="FFFFFF"/>
                        </a:buClr>
                        <a:buSzPts val="1150"/>
                        <a:buFont typeface="Calibri"/>
                        <a:buNone/>
                      </a:pPr>
                      <a:r>
                        <a:rPr b="1" lang="en-US" sz="1150" u="none" cap="none" strike="noStrike">
                          <a:solidFill>
                            <a:srgbClr val="FFFFFF"/>
                          </a:solidFill>
                          <a:latin typeface="Calibri"/>
                          <a:ea typeface="Calibri"/>
                          <a:cs typeface="Calibri"/>
                          <a:sym typeface="Calibri"/>
                        </a:rPr>
                        <a:t>Theory/Lab</a:t>
                      </a:r>
                      <a:endParaRPr sz="1150" u="none" cap="none" strike="noStrike">
                        <a:latin typeface="Calibri"/>
                        <a:ea typeface="Calibri"/>
                        <a:cs typeface="Calibri"/>
                        <a:sym typeface="Calibri"/>
                      </a:endParaRPr>
                    </a:p>
                  </a:txBody>
                  <a:tcPr marT="64000" marB="64000" marR="64000" marL="64000" anchor="ctr">
                    <a:lnL cap="flat" cmpd="sng" w="9525">
                      <a:solidFill>
                        <a:srgbClr val="D9E2EA"/>
                      </a:solidFill>
                      <a:prstDash val="solid"/>
                      <a:round/>
                      <a:headEnd len="sm" w="sm" type="none"/>
                      <a:tailEnd len="sm" w="sm" type="none"/>
                    </a:lnL>
                    <a:lnR cap="flat" cmpd="sng" w="9525">
                      <a:solidFill>
                        <a:srgbClr val="D9E2EA"/>
                      </a:solidFill>
                      <a:prstDash val="solid"/>
                      <a:round/>
                      <a:headEnd len="sm" w="sm" type="none"/>
                      <a:tailEnd len="sm" w="sm" type="none"/>
                    </a:lnR>
                    <a:lnT cap="flat" cmpd="sng" w="9525">
                      <a:solidFill>
                        <a:srgbClr val="D9E2EA"/>
                      </a:solidFill>
                      <a:prstDash val="solid"/>
                      <a:round/>
                      <a:headEnd len="sm" w="sm" type="none"/>
                      <a:tailEnd len="sm" w="sm" type="none"/>
                    </a:lnT>
                    <a:lnB cap="flat" cmpd="sng" w="9525">
                      <a:solidFill>
                        <a:srgbClr val="D9E2EA"/>
                      </a:solidFill>
                      <a:prstDash val="solid"/>
                      <a:round/>
                      <a:headEnd len="sm" w="sm" type="none"/>
                      <a:tailEnd len="sm" w="sm" type="none"/>
                    </a:lnB>
                    <a:solidFill>
                      <a:srgbClr val="1D2A5C"/>
                    </a:solidFill>
                  </a:tcPr>
                </a:tc>
              </a:tr>
              <a:tr h="713225">
                <a:tc>
                  <a:txBody>
                    <a:bodyPr/>
                    <a:lstStyle/>
                    <a:p>
                      <a:pPr indent="0" lvl="0" marL="0" marR="0" rtl="0" algn="l">
                        <a:spcBef>
                          <a:spcPts val="0"/>
                        </a:spcBef>
                        <a:spcAft>
                          <a:spcPts val="0"/>
                        </a:spcAft>
                        <a:buClr>
                          <a:srgbClr val="1D2A5C"/>
                        </a:buClr>
                        <a:buSzPts val="1150"/>
                        <a:buFont typeface="Calibri"/>
                        <a:buNone/>
                      </a:pPr>
                      <a:r>
                        <a:rPr b="1" lang="en-US" sz="1150" u="none" cap="none" strike="noStrike">
                          <a:solidFill>
                            <a:srgbClr val="1D2A5C"/>
                          </a:solidFill>
                          <a:latin typeface="Calibri"/>
                          <a:ea typeface="Calibri"/>
                          <a:cs typeface="Calibri"/>
                          <a:sym typeface="Calibri"/>
                        </a:rPr>
                        <a:t>1</a:t>
                      </a:r>
                      <a:endParaRPr sz="1150" u="none" cap="none" strike="noStrike">
                        <a:latin typeface="Calibri"/>
                        <a:ea typeface="Calibri"/>
                        <a:cs typeface="Calibri"/>
                        <a:sym typeface="Calibri"/>
                      </a:endParaRPr>
                    </a:p>
                  </a:txBody>
                  <a:tcPr marT="64000" marB="64000" marR="64000" marL="64000" anchor="ctr">
                    <a:lnL cap="flat" cmpd="sng" w="9525">
                      <a:solidFill>
                        <a:srgbClr val="D9E2EA"/>
                      </a:solidFill>
                      <a:prstDash val="solid"/>
                      <a:round/>
                      <a:headEnd len="sm" w="sm" type="none"/>
                      <a:tailEnd len="sm" w="sm" type="none"/>
                    </a:lnL>
                    <a:lnR cap="flat" cmpd="sng" w="9525">
                      <a:solidFill>
                        <a:srgbClr val="D9E2EA"/>
                      </a:solidFill>
                      <a:prstDash val="solid"/>
                      <a:round/>
                      <a:headEnd len="sm" w="sm" type="none"/>
                      <a:tailEnd len="sm" w="sm" type="none"/>
                    </a:lnR>
                    <a:lnT cap="flat" cmpd="sng" w="9525">
                      <a:solidFill>
                        <a:srgbClr val="D9E2EA"/>
                      </a:solidFill>
                      <a:prstDash val="solid"/>
                      <a:round/>
                      <a:headEnd len="sm" w="sm" type="none"/>
                      <a:tailEnd len="sm" w="sm" type="none"/>
                    </a:lnT>
                    <a:lnB cap="flat" cmpd="sng" w="9525">
                      <a:solidFill>
                        <a:srgbClr val="D9E2EA"/>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23293B"/>
                        </a:buClr>
                        <a:buSzPts val="1150"/>
                        <a:buFont typeface="Calibri"/>
                        <a:buNone/>
                      </a:pPr>
                      <a:r>
                        <a:rPr lang="en-US" sz="1150" u="none" cap="none" strike="noStrike">
                          <a:solidFill>
                            <a:srgbClr val="23293B"/>
                          </a:solidFill>
                          <a:latin typeface="Calibri"/>
                          <a:ea typeface="Calibri"/>
                          <a:cs typeface="Calibri"/>
                          <a:sym typeface="Calibri"/>
                        </a:rPr>
                        <a:t>Lab 2b — classifier hardening + ViT comparison</a:t>
                      </a:r>
                      <a:endParaRPr sz="1150" u="none" cap="none" strike="noStrike">
                        <a:latin typeface="Calibri"/>
                        <a:ea typeface="Calibri"/>
                        <a:cs typeface="Calibri"/>
                        <a:sym typeface="Calibri"/>
                      </a:endParaRPr>
                    </a:p>
                  </a:txBody>
                  <a:tcPr marT="64000" marB="64000" marR="64000" marL="64000" anchor="ctr">
                    <a:lnL cap="flat" cmpd="sng" w="9525">
                      <a:solidFill>
                        <a:srgbClr val="D9E2EA"/>
                      </a:solidFill>
                      <a:prstDash val="solid"/>
                      <a:round/>
                      <a:headEnd len="sm" w="sm" type="none"/>
                      <a:tailEnd len="sm" w="sm" type="none"/>
                    </a:lnL>
                    <a:lnR cap="flat" cmpd="sng" w="9525">
                      <a:solidFill>
                        <a:srgbClr val="D9E2EA"/>
                      </a:solidFill>
                      <a:prstDash val="solid"/>
                      <a:round/>
                      <a:headEnd len="sm" w="sm" type="none"/>
                      <a:tailEnd len="sm" w="sm" type="none"/>
                    </a:lnR>
                    <a:lnT cap="flat" cmpd="sng" w="9525">
                      <a:solidFill>
                        <a:srgbClr val="D9E2EA"/>
                      </a:solidFill>
                      <a:prstDash val="solid"/>
                      <a:round/>
                      <a:headEnd len="sm" w="sm" type="none"/>
                      <a:tailEnd len="sm" w="sm" type="none"/>
                    </a:lnT>
                    <a:lnB cap="flat" cmpd="sng" w="9525">
                      <a:solidFill>
                        <a:srgbClr val="D9E2EA"/>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23293B"/>
                        </a:buClr>
                        <a:buSzPts val="1150"/>
                        <a:buFont typeface="Calibri"/>
                        <a:buNone/>
                      </a:pPr>
                      <a:r>
                        <a:rPr lang="en-US" sz="1150" u="none" cap="none" strike="noStrike">
                          <a:solidFill>
                            <a:srgbClr val="23293B"/>
                          </a:solidFill>
                          <a:latin typeface="Calibri"/>
                          <a:ea typeface="Calibri"/>
                          <a:cs typeface="Calibri"/>
                          <a:sym typeface="Calibri"/>
                        </a:rPr>
                        <a:t>Lab + micro-lecture</a:t>
                      </a:r>
                      <a:endParaRPr sz="1150" u="none" cap="none" strike="noStrike">
                        <a:latin typeface="Calibri"/>
                        <a:ea typeface="Calibri"/>
                        <a:cs typeface="Calibri"/>
                        <a:sym typeface="Calibri"/>
                      </a:endParaRPr>
                    </a:p>
                  </a:txBody>
                  <a:tcPr marT="64000" marB="64000" marR="64000" marL="64000" anchor="ctr">
                    <a:lnL cap="flat" cmpd="sng" w="9525">
                      <a:solidFill>
                        <a:srgbClr val="D9E2EA"/>
                      </a:solidFill>
                      <a:prstDash val="solid"/>
                      <a:round/>
                      <a:headEnd len="sm" w="sm" type="none"/>
                      <a:tailEnd len="sm" w="sm" type="none"/>
                    </a:lnL>
                    <a:lnR cap="flat" cmpd="sng" w="9525">
                      <a:solidFill>
                        <a:srgbClr val="D9E2EA"/>
                      </a:solidFill>
                      <a:prstDash val="solid"/>
                      <a:round/>
                      <a:headEnd len="sm" w="sm" type="none"/>
                      <a:tailEnd len="sm" w="sm" type="none"/>
                    </a:lnR>
                    <a:lnT cap="flat" cmpd="sng" w="9525">
                      <a:solidFill>
                        <a:srgbClr val="D9E2EA"/>
                      </a:solidFill>
                      <a:prstDash val="solid"/>
                      <a:round/>
                      <a:headEnd len="sm" w="sm" type="none"/>
                      <a:tailEnd len="sm" w="sm" type="none"/>
                    </a:lnT>
                    <a:lnB cap="flat" cmpd="sng" w="9525">
                      <a:solidFill>
                        <a:srgbClr val="D9E2EA"/>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23293B"/>
                        </a:buClr>
                        <a:buSzPts val="1150"/>
                        <a:buFont typeface="Calibri"/>
                        <a:buNone/>
                      </a:pPr>
                      <a:r>
                        <a:rPr lang="en-US" sz="1150" u="none" cap="none" strike="noStrike">
                          <a:solidFill>
                            <a:srgbClr val="23293B"/>
                          </a:solidFill>
                          <a:latin typeface="Calibri"/>
                          <a:ea typeface="Calibri"/>
                          <a:cs typeface="Calibri"/>
                          <a:sym typeface="Calibri"/>
                        </a:rPr>
                        <a:t>20/80</a:t>
                      </a:r>
                      <a:endParaRPr sz="1150" u="none" cap="none" strike="noStrike">
                        <a:latin typeface="Calibri"/>
                        <a:ea typeface="Calibri"/>
                        <a:cs typeface="Calibri"/>
                        <a:sym typeface="Calibri"/>
                      </a:endParaRPr>
                    </a:p>
                  </a:txBody>
                  <a:tcPr marT="64000" marB="64000" marR="64000" marL="64000" anchor="ctr">
                    <a:lnL cap="flat" cmpd="sng" w="9525">
                      <a:solidFill>
                        <a:srgbClr val="D9E2EA"/>
                      </a:solidFill>
                      <a:prstDash val="solid"/>
                      <a:round/>
                      <a:headEnd len="sm" w="sm" type="none"/>
                      <a:tailEnd len="sm" w="sm" type="none"/>
                    </a:lnL>
                    <a:lnR cap="flat" cmpd="sng" w="9525">
                      <a:solidFill>
                        <a:srgbClr val="D9E2EA"/>
                      </a:solidFill>
                      <a:prstDash val="solid"/>
                      <a:round/>
                      <a:headEnd len="sm" w="sm" type="none"/>
                      <a:tailEnd len="sm" w="sm" type="none"/>
                    </a:lnR>
                    <a:lnT cap="flat" cmpd="sng" w="9525">
                      <a:solidFill>
                        <a:srgbClr val="D9E2EA"/>
                      </a:solidFill>
                      <a:prstDash val="solid"/>
                      <a:round/>
                      <a:headEnd len="sm" w="sm" type="none"/>
                      <a:tailEnd len="sm" w="sm" type="none"/>
                    </a:lnT>
                    <a:lnB cap="flat" cmpd="sng" w="9525">
                      <a:solidFill>
                        <a:srgbClr val="D9E2EA"/>
                      </a:solidFill>
                      <a:prstDash val="solid"/>
                      <a:round/>
                      <a:headEnd len="sm" w="sm" type="none"/>
                      <a:tailEnd len="sm" w="sm" type="none"/>
                    </a:lnB>
                    <a:solidFill>
                      <a:srgbClr val="FFFFFF"/>
                    </a:solidFill>
                  </a:tcPr>
                </a:tc>
              </a:tr>
              <a:tr h="713225">
                <a:tc>
                  <a:txBody>
                    <a:bodyPr/>
                    <a:lstStyle/>
                    <a:p>
                      <a:pPr indent="0" lvl="0" marL="0" marR="0" rtl="0" algn="l">
                        <a:spcBef>
                          <a:spcPts val="0"/>
                        </a:spcBef>
                        <a:spcAft>
                          <a:spcPts val="0"/>
                        </a:spcAft>
                        <a:buClr>
                          <a:srgbClr val="1D2A5C"/>
                        </a:buClr>
                        <a:buSzPts val="1150"/>
                        <a:buFont typeface="Calibri"/>
                        <a:buNone/>
                      </a:pPr>
                      <a:r>
                        <a:rPr b="1" lang="en-US" sz="1150" u="none" cap="none" strike="noStrike">
                          <a:solidFill>
                            <a:srgbClr val="1D2A5C"/>
                          </a:solidFill>
                          <a:latin typeface="Calibri"/>
                          <a:ea typeface="Calibri"/>
                          <a:cs typeface="Calibri"/>
                          <a:sym typeface="Calibri"/>
                        </a:rPr>
                        <a:t>2</a:t>
                      </a:r>
                      <a:endParaRPr sz="1150" u="none" cap="none" strike="noStrike">
                        <a:latin typeface="Calibri"/>
                        <a:ea typeface="Calibri"/>
                        <a:cs typeface="Calibri"/>
                        <a:sym typeface="Calibri"/>
                      </a:endParaRPr>
                    </a:p>
                  </a:txBody>
                  <a:tcPr marT="64000" marB="64000" marR="64000" marL="64000" anchor="ctr">
                    <a:lnL cap="flat" cmpd="sng" w="9525">
                      <a:solidFill>
                        <a:srgbClr val="D9E2EA"/>
                      </a:solidFill>
                      <a:prstDash val="solid"/>
                      <a:round/>
                      <a:headEnd len="sm" w="sm" type="none"/>
                      <a:tailEnd len="sm" w="sm" type="none"/>
                    </a:lnL>
                    <a:lnR cap="flat" cmpd="sng" w="9525">
                      <a:solidFill>
                        <a:srgbClr val="D9E2EA"/>
                      </a:solidFill>
                      <a:prstDash val="solid"/>
                      <a:round/>
                      <a:headEnd len="sm" w="sm" type="none"/>
                      <a:tailEnd len="sm" w="sm" type="none"/>
                    </a:lnR>
                    <a:lnT cap="flat" cmpd="sng" w="9525">
                      <a:solidFill>
                        <a:srgbClr val="D9E2EA"/>
                      </a:solidFill>
                      <a:prstDash val="solid"/>
                      <a:round/>
                      <a:headEnd len="sm" w="sm" type="none"/>
                      <a:tailEnd len="sm" w="sm" type="none"/>
                    </a:lnT>
                    <a:lnB cap="flat" cmpd="sng" w="9525">
                      <a:solidFill>
                        <a:srgbClr val="D9E2EA"/>
                      </a:solidFill>
                      <a:prstDash val="solid"/>
                      <a:round/>
                      <a:headEnd len="sm" w="sm" type="none"/>
                      <a:tailEnd len="sm" w="sm" type="none"/>
                    </a:lnB>
                    <a:solidFill>
                      <a:srgbClr val="F2F6F9"/>
                    </a:solidFill>
                  </a:tcPr>
                </a:tc>
                <a:tc>
                  <a:txBody>
                    <a:bodyPr/>
                    <a:lstStyle/>
                    <a:p>
                      <a:pPr indent="0" lvl="0" marL="0" marR="0" rtl="0" algn="l">
                        <a:spcBef>
                          <a:spcPts val="0"/>
                        </a:spcBef>
                        <a:spcAft>
                          <a:spcPts val="0"/>
                        </a:spcAft>
                        <a:buClr>
                          <a:srgbClr val="23293B"/>
                        </a:buClr>
                        <a:buSzPts val="1150"/>
                        <a:buFont typeface="Calibri"/>
                        <a:buNone/>
                      </a:pPr>
                      <a:r>
                        <a:rPr lang="en-US" sz="1150" u="none" cap="none" strike="noStrike">
                          <a:solidFill>
                            <a:srgbClr val="23293B"/>
                          </a:solidFill>
                          <a:latin typeface="Calibri"/>
                          <a:ea typeface="Calibri"/>
                          <a:cs typeface="Calibri"/>
                          <a:sym typeface="Calibri"/>
                        </a:rPr>
                        <a:t>Object detection with YOLO-family models (M3)</a:t>
                      </a:r>
                      <a:endParaRPr sz="1150" u="none" cap="none" strike="noStrike">
                        <a:latin typeface="Calibri"/>
                        <a:ea typeface="Calibri"/>
                        <a:cs typeface="Calibri"/>
                        <a:sym typeface="Calibri"/>
                      </a:endParaRPr>
                    </a:p>
                  </a:txBody>
                  <a:tcPr marT="64000" marB="64000" marR="64000" marL="64000" anchor="ctr">
                    <a:lnL cap="flat" cmpd="sng" w="9525">
                      <a:solidFill>
                        <a:srgbClr val="D9E2EA"/>
                      </a:solidFill>
                      <a:prstDash val="solid"/>
                      <a:round/>
                      <a:headEnd len="sm" w="sm" type="none"/>
                      <a:tailEnd len="sm" w="sm" type="none"/>
                    </a:lnL>
                    <a:lnR cap="flat" cmpd="sng" w="9525">
                      <a:solidFill>
                        <a:srgbClr val="D9E2EA"/>
                      </a:solidFill>
                      <a:prstDash val="solid"/>
                      <a:round/>
                      <a:headEnd len="sm" w="sm" type="none"/>
                      <a:tailEnd len="sm" w="sm" type="none"/>
                    </a:lnR>
                    <a:lnT cap="flat" cmpd="sng" w="9525">
                      <a:solidFill>
                        <a:srgbClr val="D9E2EA"/>
                      </a:solidFill>
                      <a:prstDash val="solid"/>
                      <a:round/>
                      <a:headEnd len="sm" w="sm" type="none"/>
                      <a:tailEnd len="sm" w="sm" type="none"/>
                    </a:lnT>
                    <a:lnB cap="flat" cmpd="sng" w="9525">
                      <a:solidFill>
                        <a:srgbClr val="D9E2EA"/>
                      </a:solidFill>
                      <a:prstDash val="solid"/>
                      <a:round/>
                      <a:headEnd len="sm" w="sm" type="none"/>
                      <a:tailEnd len="sm" w="sm" type="none"/>
                    </a:lnB>
                    <a:solidFill>
                      <a:srgbClr val="F2F6F9"/>
                    </a:solidFill>
                  </a:tcPr>
                </a:tc>
                <a:tc>
                  <a:txBody>
                    <a:bodyPr/>
                    <a:lstStyle/>
                    <a:p>
                      <a:pPr indent="0" lvl="0" marL="0" marR="0" rtl="0" algn="l">
                        <a:spcBef>
                          <a:spcPts val="0"/>
                        </a:spcBef>
                        <a:spcAft>
                          <a:spcPts val="0"/>
                        </a:spcAft>
                        <a:buClr>
                          <a:srgbClr val="23293B"/>
                        </a:buClr>
                        <a:buSzPts val="1150"/>
                        <a:buFont typeface="Calibri"/>
                        <a:buNone/>
                      </a:pPr>
                      <a:r>
                        <a:rPr lang="en-US" sz="1150" u="none" cap="none" strike="noStrike">
                          <a:solidFill>
                            <a:srgbClr val="23293B"/>
                          </a:solidFill>
                          <a:latin typeface="Calibri"/>
                          <a:ea typeface="Calibri"/>
                          <a:cs typeface="Calibri"/>
                          <a:sym typeface="Calibri"/>
                        </a:rPr>
                        <a:t>Lecture + live training demo</a:t>
                      </a:r>
                      <a:endParaRPr sz="1150" u="none" cap="none" strike="noStrike">
                        <a:latin typeface="Calibri"/>
                        <a:ea typeface="Calibri"/>
                        <a:cs typeface="Calibri"/>
                        <a:sym typeface="Calibri"/>
                      </a:endParaRPr>
                    </a:p>
                  </a:txBody>
                  <a:tcPr marT="64000" marB="64000" marR="64000" marL="64000" anchor="ctr">
                    <a:lnL cap="flat" cmpd="sng" w="9525">
                      <a:solidFill>
                        <a:srgbClr val="D9E2EA"/>
                      </a:solidFill>
                      <a:prstDash val="solid"/>
                      <a:round/>
                      <a:headEnd len="sm" w="sm" type="none"/>
                      <a:tailEnd len="sm" w="sm" type="none"/>
                    </a:lnL>
                    <a:lnR cap="flat" cmpd="sng" w="9525">
                      <a:solidFill>
                        <a:srgbClr val="D9E2EA"/>
                      </a:solidFill>
                      <a:prstDash val="solid"/>
                      <a:round/>
                      <a:headEnd len="sm" w="sm" type="none"/>
                      <a:tailEnd len="sm" w="sm" type="none"/>
                    </a:lnR>
                    <a:lnT cap="flat" cmpd="sng" w="9525">
                      <a:solidFill>
                        <a:srgbClr val="D9E2EA"/>
                      </a:solidFill>
                      <a:prstDash val="solid"/>
                      <a:round/>
                      <a:headEnd len="sm" w="sm" type="none"/>
                      <a:tailEnd len="sm" w="sm" type="none"/>
                    </a:lnT>
                    <a:lnB cap="flat" cmpd="sng" w="9525">
                      <a:solidFill>
                        <a:srgbClr val="D9E2EA"/>
                      </a:solidFill>
                      <a:prstDash val="solid"/>
                      <a:round/>
                      <a:headEnd len="sm" w="sm" type="none"/>
                      <a:tailEnd len="sm" w="sm" type="none"/>
                    </a:lnB>
                    <a:solidFill>
                      <a:srgbClr val="F2F6F9"/>
                    </a:solidFill>
                  </a:tcPr>
                </a:tc>
                <a:tc>
                  <a:txBody>
                    <a:bodyPr/>
                    <a:lstStyle/>
                    <a:p>
                      <a:pPr indent="0" lvl="0" marL="0" marR="0" rtl="0" algn="l">
                        <a:spcBef>
                          <a:spcPts val="0"/>
                        </a:spcBef>
                        <a:spcAft>
                          <a:spcPts val="0"/>
                        </a:spcAft>
                        <a:buClr>
                          <a:srgbClr val="23293B"/>
                        </a:buClr>
                        <a:buSzPts val="1150"/>
                        <a:buFont typeface="Calibri"/>
                        <a:buNone/>
                      </a:pPr>
                      <a:r>
                        <a:rPr lang="en-US" sz="1150" u="none" cap="none" strike="noStrike">
                          <a:solidFill>
                            <a:srgbClr val="23293B"/>
                          </a:solidFill>
                          <a:latin typeface="Calibri"/>
                          <a:ea typeface="Calibri"/>
                          <a:cs typeface="Calibri"/>
                          <a:sym typeface="Calibri"/>
                        </a:rPr>
                        <a:t>70/30</a:t>
                      </a:r>
                      <a:endParaRPr sz="1150" u="none" cap="none" strike="noStrike">
                        <a:latin typeface="Calibri"/>
                        <a:ea typeface="Calibri"/>
                        <a:cs typeface="Calibri"/>
                        <a:sym typeface="Calibri"/>
                      </a:endParaRPr>
                    </a:p>
                  </a:txBody>
                  <a:tcPr marT="64000" marB="64000" marR="64000" marL="64000" anchor="ctr">
                    <a:lnL cap="flat" cmpd="sng" w="9525">
                      <a:solidFill>
                        <a:srgbClr val="D9E2EA"/>
                      </a:solidFill>
                      <a:prstDash val="solid"/>
                      <a:round/>
                      <a:headEnd len="sm" w="sm" type="none"/>
                      <a:tailEnd len="sm" w="sm" type="none"/>
                    </a:lnL>
                    <a:lnR cap="flat" cmpd="sng" w="9525">
                      <a:solidFill>
                        <a:srgbClr val="D9E2EA"/>
                      </a:solidFill>
                      <a:prstDash val="solid"/>
                      <a:round/>
                      <a:headEnd len="sm" w="sm" type="none"/>
                      <a:tailEnd len="sm" w="sm" type="none"/>
                    </a:lnR>
                    <a:lnT cap="flat" cmpd="sng" w="9525">
                      <a:solidFill>
                        <a:srgbClr val="D9E2EA"/>
                      </a:solidFill>
                      <a:prstDash val="solid"/>
                      <a:round/>
                      <a:headEnd len="sm" w="sm" type="none"/>
                      <a:tailEnd len="sm" w="sm" type="none"/>
                    </a:lnT>
                    <a:lnB cap="flat" cmpd="sng" w="9525">
                      <a:solidFill>
                        <a:srgbClr val="D9E2EA"/>
                      </a:solidFill>
                      <a:prstDash val="solid"/>
                      <a:round/>
                      <a:headEnd len="sm" w="sm" type="none"/>
                      <a:tailEnd len="sm" w="sm" type="none"/>
                    </a:lnB>
                    <a:solidFill>
                      <a:srgbClr val="F2F6F9"/>
                    </a:solidFill>
                  </a:tcPr>
                </a:tc>
              </a:tr>
              <a:tr h="713225">
                <a:tc>
                  <a:txBody>
                    <a:bodyPr/>
                    <a:lstStyle/>
                    <a:p>
                      <a:pPr indent="0" lvl="0" marL="0" marR="0" rtl="0" algn="l">
                        <a:spcBef>
                          <a:spcPts val="0"/>
                        </a:spcBef>
                        <a:spcAft>
                          <a:spcPts val="0"/>
                        </a:spcAft>
                        <a:buClr>
                          <a:srgbClr val="1D2A5C"/>
                        </a:buClr>
                        <a:buSzPts val="1150"/>
                        <a:buFont typeface="Calibri"/>
                        <a:buNone/>
                      </a:pPr>
                      <a:r>
                        <a:rPr b="1" lang="en-US" sz="1150" u="none" cap="none" strike="noStrike">
                          <a:solidFill>
                            <a:srgbClr val="1D2A5C"/>
                          </a:solidFill>
                          <a:latin typeface="Calibri"/>
                          <a:ea typeface="Calibri"/>
                          <a:cs typeface="Calibri"/>
                          <a:sym typeface="Calibri"/>
                        </a:rPr>
                        <a:t>3</a:t>
                      </a:r>
                      <a:endParaRPr sz="1150" u="none" cap="none" strike="noStrike">
                        <a:latin typeface="Calibri"/>
                        <a:ea typeface="Calibri"/>
                        <a:cs typeface="Calibri"/>
                        <a:sym typeface="Calibri"/>
                      </a:endParaRPr>
                    </a:p>
                  </a:txBody>
                  <a:tcPr marT="64000" marB="64000" marR="64000" marL="64000" anchor="ctr">
                    <a:lnL cap="flat" cmpd="sng" w="9525">
                      <a:solidFill>
                        <a:srgbClr val="D9E2EA"/>
                      </a:solidFill>
                      <a:prstDash val="solid"/>
                      <a:round/>
                      <a:headEnd len="sm" w="sm" type="none"/>
                      <a:tailEnd len="sm" w="sm" type="none"/>
                    </a:lnL>
                    <a:lnR cap="flat" cmpd="sng" w="9525">
                      <a:solidFill>
                        <a:srgbClr val="D9E2EA"/>
                      </a:solidFill>
                      <a:prstDash val="solid"/>
                      <a:round/>
                      <a:headEnd len="sm" w="sm" type="none"/>
                      <a:tailEnd len="sm" w="sm" type="none"/>
                    </a:lnR>
                    <a:lnT cap="flat" cmpd="sng" w="9525">
                      <a:solidFill>
                        <a:srgbClr val="D9E2EA"/>
                      </a:solidFill>
                      <a:prstDash val="solid"/>
                      <a:round/>
                      <a:headEnd len="sm" w="sm" type="none"/>
                      <a:tailEnd len="sm" w="sm" type="none"/>
                    </a:lnT>
                    <a:lnB cap="flat" cmpd="sng" w="9525">
                      <a:solidFill>
                        <a:srgbClr val="D9E2EA"/>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23293B"/>
                        </a:buClr>
                        <a:buSzPts val="1150"/>
                        <a:buFont typeface="Calibri"/>
                        <a:buNone/>
                      </a:pPr>
                      <a:r>
                        <a:rPr lang="en-US" sz="1150" u="none" cap="none" strike="noStrike">
                          <a:solidFill>
                            <a:srgbClr val="23293B"/>
                          </a:solidFill>
                          <a:latin typeface="Calibri"/>
                          <a:ea typeface="Calibri"/>
                          <a:cs typeface="Calibri"/>
                          <a:sym typeface="Calibri"/>
                        </a:rPr>
                        <a:t>Lab 3 — train the defect detector</a:t>
                      </a:r>
                      <a:endParaRPr sz="1150" u="none" cap="none" strike="noStrike">
                        <a:latin typeface="Calibri"/>
                        <a:ea typeface="Calibri"/>
                        <a:cs typeface="Calibri"/>
                        <a:sym typeface="Calibri"/>
                      </a:endParaRPr>
                    </a:p>
                  </a:txBody>
                  <a:tcPr marT="64000" marB="64000" marR="64000" marL="64000" anchor="ctr">
                    <a:lnL cap="flat" cmpd="sng" w="9525">
                      <a:solidFill>
                        <a:srgbClr val="D9E2EA"/>
                      </a:solidFill>
                      <a:prstDash val="solid"/>
                      <a:round/>
                      <a:headEnd len="sm" w="sm" type="none"/>
                      <a:tailEnd len="sm" w="sm" type="none"/>
                    </a:lnL>
                    <a:lnR cap="flat" cmpd="sng" w="9525">
                      <a:solidFill>
                        <a:srgbClr val="D9E2EA"/>
                      </a:solidFill>
                      <a:prstDash val="solid"/>
                      <a:round/>
                      <a:headEnd len="sm" w="sm" type="none"/>
                      <a:tailEnd len="sm" w="sm" type="none"/>
                    </a:lnR>
                    <a:lnT cap="flat" cmpd="sng" w="9525">
                      <a:solidFill>
                        <a:srgbClr val="D9E2EA"/>
                      </a:solidFill>
                      <a:prstDash val="solid"/>
                      <a:round/>
                      <a:headEnd len="sm" w="sm" type="none"/>
                      <a:tailEnd len="sm" w="sm" type="none"/>
                    </a:lnT>
                    <a:lnB cap="flat" cmpd="sng" w="9525">
                      <a:solidFill>
                        <a:srgbClr val="D9E2EA"/>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23293B"/>
                        </a:buClr>
                        <a:buSzPts val="1150"/>
                        <a:buFont typeface="Calibri"/>
                        <a:buNone/>
                      </a:pPr>
                      <a:r>
                        <a:rPr lang="en-US" sz="1150" u="none" cap="none" strike="noStrike">
                          <a:solidFill>
                            <a:srgbClr val="23293B"/>
                          </a:solidFill>
                          <a:latin typeface="Calibri"/>
                          <a:ea typeface="Calibri"/>
                          <a:cs typeface="Calibri"/>
                          <a:sym typeface="Calibri"/>
                        </a:rPr>
                        <a:t>Guided lab</a:t>
                      </a:r>
                      <a:endParaRPr sz="1150" u="none" cap="none" strike="noStrike">
                        <a:latin typeface="Calibri"/>
                        <a:ea typeface="Calibri"/>
                        <a:cs typeface="Calibri"/>
                        <a:sym typeface="Calibri"/>
                      </a:endParaRPr>
                    </a:p>
                  </a:txBody>
                  <a:tcPr marT="64000" marB="64000" marR="64000" marL="64000" anchor="ctr">
                    <a:lnL cap="flat" cmpd="sng" w="9525">
                      <a:solidFill>
                        <a:srgbClr val="D9E2EA"/>
                      </a:solidFill>
                      <a:prstDash val="solid"/>
                      <a:round/>
                      <a:headEnd len="sm" w="sm" type="none"/>
                      <a:tailEnd len="sm" w="sm" type="none"/>
                    </a:lnL>
                    <a:lnR cap="flat" cmpd="sng" w="9525">
                      <a:solidFill>
                        <a:srgbClr val="D9E2EA"/>
                      </a:solidFill>
                      <a:prstDash val="solid"/>
                      <a:round/>
                      <a:headEnd len="sm" w="sm" type="none"/>
                      <a:tailEnd len="sm" w="sm" type="none"/>
                    </a:lnR>
                    <a:lnT cap="flat" cmpd="sng" w="9525">
                      <a:solidFill>
                        <a:srgbClr val="D9E2EA"/>
                      </a:solidFill>
                      <a:prstDash val="solid"/>
                      <a:round/>
                      <a:headEnd len="sm" w="sm" type="none"/>
                      <a:tailEnd len="sm" w="sm" type="none"/>
                    </a:lnT>
                    <a:lnB cap="flat" cmpd="sng" w="9525">
                      <a:solidFill>
                        <a:srgbClr val="D9E2EA"/>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23293B"/>
                        </a:buClr>
                        <a:buSzPts val="1150"/>
                        <a:buFont typeface="Calibri"/>
                        <a:buNone/>
                      </a:pPr>
                      <a:r>
                        <a:rPr lang="en-US" sz="1150" u="none" cap="none" strike="noStrike">
                          <a:solidFill>
                            <a:srgbClr val="23293B"/>
                          </a:solidFill>
                          <a:latin typeface="Calibri"/>
                          <a:ea typeface="Calibri"/>
                          <a:cs typeface="Calibri"/>
                          <a:sym typeface="Calibri"/>
                        </a:rPr>
                        <a:t>10/90</a:t>
                      </a:r>
                      <a:endParaRPr sz="1150" u="none" cap="none" strike="noStrike">
                        <a:latin typeface="Calibri"/>
                        <a:ea typeface="Calibri"/>
                        <a:cs typeface="Calibri"/>
                        <a:sym typeface="Calibri"/>
                      </a:endParaRPr>
                    </a:p>
                  </a:txBody>
                  <a:tcPr marT="64000" marB="64000" marR="64000" marL="64000" anchor="ctr">
                    <a:lnL cap="flat" cmpd="sng" w="9525">
                      <a:solidFill>
                        <a:srgbClr val="D9E2EA"/>
                      </a:solidFill>
                      <a:prstDash val="solid"/>
                      <a:round/>
                      <a:headEnd len="sm" w="sm" type="none"/>
                      <a:tailEnd len="sm" w="sm" type="none"/>
                    </a:lnL>
                    <a:lnR cap="flat" cmpd="sng" w="9525">
                      <a:solidFill>
                        <a:srgbClr val="D9E2EA"/>
                      </a:solidFill>
                      <a:prstDash val="solid"/>
                      <a:round/>
                      <a:headEnd len="sm" w="sm" type="none"/>
                      <a:tailEnd len="sm" w="sm" type="none"/>
                    </a:lnR>
                    <a:lnT cap="flat" cmpd="sng" w="9525">
                      <a:solidFill>
                        <a:srgbClr val="D9E2EA"/>
                      </a:solidFill>
                      <a:prstDash val="solid"/>
                      <a:round/>
                      <a:headEnd len="sm" w="sm" type="none"/>
                      <a:tailEnd len="sm" w="sm" type="none"/>
                    </a:lnT>
                    <a:lnB cap="flat" cmpd="sng" w="9525">
                      <a:solidFill>
                        <a:srgbClr val="D9E2EA"/>
                      </a:solidFill>
                      <a:prstDash val="solid"/>
                      <a:round/>
                      <a:headEnd len="sm" w="sm" type="none"/>
                      <a:tailEnd len="sm" w="sm" type="none"/>
                    </a:lnB>
                    <a:solidFill>
                      <a:srgbClr val="FFFFFF"/>
                    </a:solidFill>
                  </a:tcPr>
                </a:tc>
              </a:tr>
              <a:tr h="713225">
                <a:tc>
                  <a:txBody>
                    <a:bodyPr/>
                    <a:lstStyle/>
                    <a:p>
                      <a:pPr indent="0" lvl="0" marL="0" marR="0" rtl="0" algn="l">
                        <a:spcBef>
                          <a:spcPts val="0"/>
                        </a:spcBef>
                        <a:spcAft>
                          <a:spcPts val="0"/>
                        </a:spcAft>
                        <a:buClr>
                          <a:srgbClr val="1D2A5C"/>
                        </a:buClr>
                        <a:buSzPts val="1150"/>
                        <a:buFont typeface="Calibri"/>
                        <a:buNone/>
                      </a:pPr>
                      <a:r>
                        <a:rPr b="1" lang="en-US" sz="1150" u="none" cap="none" strike="noStrike">
                          <a:solidFill>
                            <a:srgbClr val="1D2A5C"/>
                          </a:solidFill>
                          <a:latin typeface="Calibri"/>
                          <a:ea typeface="Calibri"/>
                          <a:cs typeface="Calibri"/>
                          <a:sym typeface="Calibri"/>
                        </a:rPr>
                        <a:t>4</a:t>
                      </a:r>
                      <a:endParaRPr sz="1150" u="none" cap="none" strike="noStrike">
                        <a:latin typeface="Calibri"/>
                        <a:ea typeface="Calibri"/>
                        <a:cs typeface="Calibri"/>
                        <a:sym typeface="Calibri"/>
                      </a:endParaRPr>
                    </a:p>
                  </a:txBody>
                  <a:tcPr marT="64000" marB="64000" marR="64000" marL="64000" anchor="ctr">
                    <a:lnL cap="flat" cmpd="sng" w="9525">
                      <a:solidFill>
                        <a:srgbClr val="D9E2EA"/>
                      </a:solidFill>
                      <a:prstDash val="solid"/>
                      <a:round/>
                      <a:headEnd len="sm" w="sm" type="none"/>
                      <a:tailEnd len="sm" w="sm" type="none"/>
                    </a:lnL>
                    <a:lnR cap="flat" cmpd="sng" w="9525">
                      <a:solidFill>
                        <a:srgbClr val="D9E2EA"/>
                      </a:solidFill>
                      <a:prstDash val="solid"/>
                      <a:round/>
                      <a:headEnd len="sm" w="sm" type="none"/>
                      <a:tailEnd len="sm" w="sm" type="none"/>
                    </a:lnR>
                    <a:lnT cap="flat" cmpd="sng" w="9525">
                      <a:solidFill>
                        <a:srgbClr val="D9E2EA"/>
                      </a:solidFill>
                      <a:prstDash val="solid"/>
                      <a:round/>
                      <a:headEnd len="sm" w="sm" type="none"/>
                      <a:tailEnd len="sm" w="sm" type="none"/>
                    </a:lnT>
                    <a:lnB cap="flat" cmpd="sng" w="9525">
                      <a:solidFill>
                        <a:srgbClr val="D9E2EA"/>
                      </a:solidFill>
                      <a:prstDash val="solid"/>
                      <a:round/>
                      <a:headEnd len="sm" w="sm" type="none"/>
                      <a:tailEnd len="sm" w="sm" type="none"/>
                    </a:lnB>
                    <a:solidFill>
                      <a:srgbClr val="F2F6F9"/>
                    </a:solidFill>
                  </a:tcPr>
                </a:tc>
                <a:tc>
                  <a:txBody>
                    <a:bodyPr/>
                    <a:lstStyle/>
                    <a:p>
                      <a:pPr indent="0" lvl="0" marL="0" marR="0" rtl="0" algn="l">
                        <a:spcBef>
                          <a:spcPts val="0"/>
                        </a:spcBef>
                        <a:spcAft>
                          <a:spcPts val="0"/>
                        </a:spcAft>
                        <a:buClr>
                          <a:srgbClr val="23293B"/>
                        </a:buClr>
                        <a:buSzPts val="1150"/>
                        <a:buFont typeface="Calibri"/>
                        <a:buNone/>
                      </a:pPr>
                      <a:r>
                        <a:rPr lang="en-US" sz="1150" u="none" cap="none" strike="noStrike">
                          <a:solidFill>
                            <a:srgbClr val="23293B"/>
                          </a:solidFill>
                          <a:latin typeface="Calibri"/>
                          <a:ea typeface="Calibri"/>
                          <a:cs typeface="Calibri"/>
                          <a:sym typeface="Calibri"/>
                        </a:rPr>
                        <a:t>Semantic &amp; instance segmentation (M4)</a:t>
                      </a:r>
                      <a:endParaRPr sz="1150" u="none" cap="none" strike="noStrike">
                        <a:latin typeface="Calibri"/>
                        <a:ea typeface="Calibri"/>
                        <a:cs typeface="Calibri"/>
                        <a:sym typeface="Calibri"/>
                      </a:endParaRPr>
                    </a:p>
                  </a:txBody>
                  <a:tcPr marT="64000" marB="64000" marR="64000" marL="64000" anchor="ctr">
                    <a:lnL cap="flat" cmpd="sng" w="9525">
                      <a:solidFill>
                        <a:srgbClr val="D9E2EA"/>
                      </a:solidFill>
                      <a:prstDash val="solid"/>
                      <a:round/>
                      <a:headEnd len="sm" w="sm" type="none"/>
                      <a:tailEnd len="sm" w="sm" type="none"/>
                    </a:lnL>
                    <a:lnR cap="flat" cmpd="sng" w="9525">
                      <a:solidFill>
                        <a:srgbClr val="D9E2EA"/>
                      </a:solidFill>
                      <a:prstDash val="solid"/>
                      <a:round/>
                      <a:headEnd len="sm" w="sm" type="none"/>
                      <a:tailEnd len="sm" w="sm" type="none"/>
                    </a:lnR>
                    <a:lnT cap="flat" cmpd="sng" w="9525">
                      <a:solidFill>
                        <a:srgbClr val="D9E2EA"/>
                      </a:solidFill>
                      <a:prstDash val="solid"/>
                      <a:round/>
                      <a:headEnd len="sm" w="sm" type="none"/>
                      <a:tailEnd len="sm" w="sm" type="none"/>
                    </a:lnT>
                    <a:lnB cap="flat" cmpd="sng" w="9525">
                      <a:solidFill>
                        <a:srgbClr val="D9E2EA"/>
                      </a:solidFill>
                      <a:prstDash val="solid"/>
                      <a:round/>
                      <a:headEnd len="sm" w="sm" type="none"/>
                      <a:tailEnd len="sm" w="sm" type="none"/>
                    </a:lnB>
                    <a:solidFill>
                      <a:srgbClr val="F2F6F9"/>
                    </a:solidFill>
                  </a:tcPr>
                </a:tc>
                <a:tc>
                  <a:txBody>
                    <a:bodyPr/>
                    <a:lstStyle/>
                    <a:p>
                      <a:pPr indent="0" lvl="0" marL="0" marR="0" rtl="0" algn="l">
                        <a:spcBef>
                          <a:spcPts val="0"/>
                        </a:spcBef>
                        <a:spcAft>
                          <a:spcPts val="0"/>
                        </a:spcAft>
                        <a:buClr>
                          <a:srgbClr val="23293B"/>
                        </a:buClr>
                        <a:buSzPts val="1150"/>
                        <a:buFont typeface="Calibri"/>
                        <a:buNone/>
                      </a:pPr>
                      <a:r>
                        <a:rPr lang="en-US" sz="1150" u="none" cap="none" strike="noStrike">
                          <a:solidFill>
                            <a:srgbClr val="23293B"/>
                          </a:solidFill>
                          <a:latin typeface="Calibri"/>
                          <a:ea typeface="Calibri"/>
                          <a:cs typeface="Calibri"/>
                          <a:sym typeface="Calibri"/>
                        </a:rPr>
                        <a:t>Lecture + mask visualisation demo</a:t>
                      </a:r>
                      <a:endParaRPr sz="1150" u="none" cap="none" strike="noStrike">
                        <a:latin typeface="Calibri"/>
                        <a:ea typeface="Calibri"/>
                        <a:cs typeface="Calibri"/>
                        <a:sym typeface="Calibri"/>
                      </a:endParaRPr>
                    </a:p>
                  </a:txBody>
                  <a:tcPr marT="64000" marB="64000" marR="64000" marL="64000" anchor="ctr">
                    <a:lnL cap="flat" cmpd="sng" w="9525">
                      <a:solidFill>
                        <a:srgbClr val="D9E2EA"/>
                      </a:solidFill>
                      <a:prstDash val="solid"/>
                      <a:round/>
                      <a:headEnd len="sm" w="sm" type="none"/>
                      <a:tailEnd len="sm" w="sm" type="none"/>
                    </a:lnL>
                    <a:lnR cap="flat" cmpd="sng" w="9525">
                      <a:solidFill>
                        <a:srgbClr val="D9E2EA"/>
                      </a:solidFill>
                      <a:prstDash val="solid"/>
                      <a:round/>
                      <a:headEnd len="sm" w="sm" type="none"/>
                      <a:tailEnd len="sm" w="sm" type="none"/>
                    </a:lnR>
                    <a:lnT cap="flat" cmpd="sng" w="9525">
                      <a:solidFill>
                        <a:srgbClr val="D9E2EA"/>
                      </a:solidFill>
                      <a:prstDash val="solid"/>
                      <a:round/>
                      <a:headEnd len="sm" w="sm" type="none"/>
                      <a:tailEnd len="sm" w="sm" type="none"/>
                    </a:lnT>
                    <a:lnB cap="flat" cmpd="sng" w="9525">
                      <a:solidFill>
                        <a:srgbClr val="D9E2EA"/>
                      </a:solidFill>
                      <a:prstDash val="solid"/>
                      <a:round/>
                      <a:headEnd len="sm" w="sm" type="none"/>
                      <a:tailEnd len="sm" w="sm" type="none"/>
                    </a:lnB>
                    <a:solidFill>
                      <a:srgbClr val="F2F6F9"/>
                    </a:solidFill>
                  </a:tcPr>
                </a:tc>
                <a:tc>
                  <a:txBody>
                    <a:bodyPr/>
                    <a:lstStyle/>
                    <a:p>
                      <a:pPr indent="0" lvl="0" marL="0" marR="0" rtl="0" algn="l">
                        <a:spcBef>
                          <a:spcPts val="0"/>
                        </a:spcBef>
                        <a:spcAft>
                          <a:spcPts val="0"/>
                        </a:spcAft>
                        <a:buClr>
                          <a:srgbClr val="23293B"/>
                        </a:buClr>
                        <a:buSzPts val="1150"/>
                        <a:buFont typeface="Calibri"/>
                        <a:buNone/>
                      </a:pPr>
                      <a:r>
                        <a:rPr lang="en-US" sz="1150" u="none" cap="none" strike="noStrike">
                          <a:solidFill>
                            <a:srgbClr val="23293B"/>
                          </a:solidFill>
                          <a:latin typeface="Calibri"/>
                          <a:ea typeface="Calibri"/>
                          <a:cs typeface="Calibri"/>
                          <a:sym typeface="Calibri"/>
                        </a:rPr>
                        <a:t>70/30</a:t>
                      </a:r>
                      <a:endParaRPr sz="1150" u="none" cap="none" strike="noStrike">
                        <a:latin typeface="Calibri"/>
                        <a:ea typeface="Calibri"/>
                        <a:cs typeface="Calibri"/>
                        <a:sym typeface="Calibri"/>
                      </a:endParaRPr>
                    </a:p>
                  </a:txBody>
                  <a:tcPr marT="64000" marB="64000" marR="64000" marL="64000" anchor="ctr">
                    <a:lnL cap="flat" cmpd="sng" w="9525">
                      <a:solidFill>
                        <a:srgbClr val="D9E2EA"/>
                      </a:solidFill>
                      <a:prstDash val="solid"/>
                      <a:round/>
                      <a:headEnd len="sm" w="sm" type="none"/>
                      <a:tailEnd len="sm" w="sm" type="none"/>
                    </a:lnL>
                    <a:lnR cap="flat" cmpd="sng" w="9525">
                      <a:solidFill>
                        <a:srgbClr val="D9E2EA"/>
                      </a:solidFill>
                      <a:prstDash val="solid"/>
                      <a:round/>
                      <a:headEnd len="sm" w="sm" type="none"/>
                      <a:tailEnd len="sm" w="sm" type="none"/>
                    </a:lnR>
                    <a:lnT cap="flat" cmpd="sng" w="9525">
                      <a:solidFill>
                        <a:srgbClr val="D9E2EA"/>
                      </a:solidFill>
                      <a:prstDash val="solid"/>
                      <a:round/>
                      <a:headEnd len="sm" w="sm" type="none"/>
                      <a:tailEnd len="sm" w="sm" type="none"/>
                    </a:lnT>
                    <a:lnB cap="flat" cmpd="sng" w="9525">
                      <a:solidFill>
                        <a:srgbClr val="D9E2EA"/>
                      </a:solidFill>
                      <a:prstDash val="solid"/>
                      <a:round/>
                      <a:headEnd len="sm" w="sm" type="none"/>
                      <a:tailEnd len="sm" w="sm" type="none"/>
                    </a:lnB>
                    <a:solidFill>
                      <a:srgbClr val="F2F6F9"/>
                    </a:solidFill>
                  </a:tcPr>
                </a:tc>
              </a:tr>
              <a:tr h="713225">
                <a:tc>
                  <a:txBody>
                    <a:bodyPr/>
                    <a:lstStyle/>
                    <a:p>
                      <a:pPr indent="0" lvl="0" marL="0" marR="0" rtl="0" algn="l">
                        <a:spcBef>
                          <a:spcPts val="0"/>
                        </a:spcBef>
                        <a:spcAft>
                          <a:spcPts val="0"/>
                        </a:spcAft>
                        <a:buClr>
                          <a:srgbClr val="1D2A5C"/>
                        </a:buClr>
                        <a:buSzPts val="1150"/>
                        <a:buFont typeface="Calibri"/>
                        <a:buNone/>
                      </a:pPr>
                      <a:r>
                        <a:rPr b="1" lang="en-US" sz="1150" u="none" cap="none" strike="noStrike">
                          <a:solidFill>
                            <a:srgbClr val="1D2A5C"/>
                          </a:solidFill>
                          <a:latin typeface="Calibri"/>
                          <a:ea typeface="Calibri"/>
                          <a:cs typeface="Calibri"/>
                          <a:sym typeface="Calibri"/>
                        </a:rPr>
                        <a:t>5</a:t>
                      </a:r>
                      <a:endParaRPr sz="1150" u="none" cap="none" strike="noStrike">
                        <a:latin typeface="Calibri"/>
                        <a:ea typeface="Calibri"/>
                        <a:cs typeface="Calibri"/>
                        <a:sym typeface="Calibri"/>
                      </a:endParaRPr>
                    </a:p>
                  </a:txBody>
                  <a:tcPr marT="64000" marB="64000" marR="64000" marL="64000" anchor="ctr">
                    <a:lnL cap="flat" cmpd="sng" w="9525">
                      <a:solidFill>
                        <a:srgbClr val="D9E2EA"/>
                      </a:solidFill>
                      <a:prstDash val="solid"/>
                      <a:round/>
                      <a:headEnd len="sm" w="sm" type="none"/>
                      <a:tailEnd len="sm" w="sm" type="none"/>
                    </a:lnL>
                    <a:lnR cap="flat" cmpd="sng" w="9525">
                      <a:solidFill>
                        <a:srgbClr val="D9E2EA"/>
                      </a:solidFill>
                      <a:prstDash val="solid"/>
                      <a:round/>
                      <a:headEnd len="sm" w="sm" type="none"/>
                      <a:tailEnd len="sm" w="sm" type="none"/>
                    </a:lnR>
                    <a:lnT cap="flat" cmpd="sng" w="9525">
                      <a:solidFill>
                        <a:srgbClr val="D9E2EA"/>
                      </a:solidFill>
                      <a:prstDash val="solid"/>
                      <a:round/>
                      <a:headEnd len="sm" w="sm" type="none"/>
                      <a:tailEnd len="sm" w="sm" type="none"/>
                    </a:lnT>
                    <a:lnB cap="flat" cmpd="sng" w="9525">
                      <a:solidFill>
                        <a:srgbClr val="D9E2EA"/>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23293B"/>
                        </a:buClr>
                        <a:buSzPts val="1150"/>
                        <a:buFont typeface="Calibri"/>
                        <a:buNone/>
                      </a:pPr>
                      <a:r>
                        <a:rPr lang="en-US" sz="1150" u="none" cap="none" strike="noStrike">
                          <a:solidFill>
                            <a:srgbClr val="23293B"/>
                          </a:solidFill>
                          <a:latin typeface="Calibri"/>
                          <a:ea typeface="Calibri"/>
                          <a:cs typeface="Calibri"/>
                          <a:sym typeface="Calibri"/>
                        </a:rPr>
                        <a:t>Lab 4 — segment surface defects</a:t>
                      </a:r>
                      <a:endParaRPr sz="1150" u="none" cap="none" strike="noStrike">
                        <a:latin typeface="Calibri"/>
                        <a:ea typeface="Calibri"/>
                        <a:cs typeface="Calibri"/>
                        <a:sym typeface="Calibri"/>
                      </a:endParaRPr>
                    </a:p>
                  </a:txBody>
                  <a:tcPr marT="64000" marB="64000" marR="64000" marL="64000" anchor="ctr">
                    <a:lnL cap="flat" cmpd="sng" w="9525">
                      <a:solidFill>
                        <a:srgbClr val="D9E2EA"/>
                      </a:solidFill>
                      <a:prstDash val="solid"/>
                      <a:round/>
                      <a:headEnd len="sm" w="sm" type="none"/>
                      <a:tailEnd len="sm" w="sm" type="none"/>
                    </a:lnL>
                    <a:lnR cap="flat" cmpd="sng" w="9525">
                      <a:solidFill>
                        <a:srgbClr val="D9E2EA"/>
                      </a:solidFill>
                      <a:prstDash val="solid"/>
                      <a:round/>
                      <a:headEnd len="sm" w="sm" type="none"/>
                      <a:tailEnd len="sm" w="sm" type="none"/>
                    </a:lnR>
                    <a:lnT cap="flat" cmpd="sng" w="9525">
                      <a:solidFill>
                        <a:srgbClr val="D9E2EA"/>
                      </a:solidFill>
                      <a:prstDash val="solid"/>
                      <a:round/>
                      <a:headEnd len="sm" w="sm" type="none"/>
                      <a:tailEnd len="sm" w="sm" type="none"/>
                    </a:lnT>
                    <a:lnB cap="flat" cmpd="sng" w="9525">
                      <a:solidFill>
                        <a:srgbClr val="D9E2EA"/>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23293B"/>
                        </a:buClr>
                        <a:buSzPts val="1150"/>
                        <a:buFont typeface="Calibri"/>
                        <a:buNone/>
                      </a:pPr>
                      <a:r>
                        <a:rPr lang="en-US" sz="1150" u="none" cap="none" strike="noStrike">
                          <a:solidFill>
                            <a:srgbClr val="23293B"/>
                          </a:solidFill>
                          <a:latin typeface="Calibri"/>
                          <a:ea typeface="Calibri"/>
                          <a:cs typeface="Calibri"/>
                          <a:sym typeface="Calibri"/>
                        </a:rPr>
                        <a:t>Guided lab</a:t>
                      </a:r>
                      <a:endParaRPr sz="1150" u="none" cap="none" strike="noStrike">
                        <a:latin typeface="Calibri"/>
                        <a:ea typeface="Calibri"/>
                        <a:cs typeface="Calibri"/>
                        <a:sym typeface="Calibri"/>
                      </a:endParaRPr>
                    </a:p>
                  </a:txBody>
                  <a:tcPr marT="64000" marB="64000" marR="64000" marL="64000" anchor="ctr">
                    <a:lnL cap="flat" cmpd="sng" w="9525">
                      <a:solidFill>
                        <a:srgbClr val="D9E2EA"/>
                      </a:solidFill>
                      <a:prstDash val="solid"/>
                      <a:round/>
                      <a:headEnd len="sm" w="sm" type="none"/>
                      <a:tailEnd len="sm" w="sm" type="none"/>
                    </a:lnL>
                    <a:lnR cap="flat" cmpd="sng" w="9525">
                      <a:solidFill>
                        <a:srgbClr val="D9E2EA"/>
                      </a:solidFill>
                      <a:prstDash val="solid"/>
                      <a:round/>
                      <a:headEnd len="sm" w="sm" type="none"/>
                      <a:tailEnd len="sm" w="sm" type="none"/>
                    </a:lnR>
                    <a:lnT cap="flat" cmpd="sng" w="9525">
                      <a:solidFill>
                        <a:srgbClr val="D9E2EA"/>
                      </a:solidFill>
                      <a:prstDash val="solid"/>
                      <a:round/>
                      <a:headEnd len="sm" w="sm" type="none"/>
                      <a:tailEnd len="sm" w="sm" type="none"/>
                    </a:lnT>
                    <a:lnB cap="flat" cmpd="sng" w="9525">
                      <a:solidFill>
                        <a:srgbClr val="D9E2EA"/>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23293B"/>
                        </a:buClr>
                        <a:buSzPts val="1150"/>
                        <a:buFont typeface="Calibri"/>
                        <a:buNone/>
                      </a:pPr>
                      <a:r>
                        <a:rPr lang="en-US" sz="1150" u="none" cap="none" strike="noStrike">
                          <a:solidFill>
                            <a:srgbClr val="23293B"/>
                          </a:solidFill>
                          <a:latin typeface="Calibri"/>
                          <a:ea typeface="Calibri"/>
                          <a:cs typeface="Calibri"/>
                          <a:sym typeface="Calibri"/>
                        </a:rPr>
                        <a:t>10/90</a:t>
                      </a:r>
                      <a:endParaRPr sz="1150" u="none" cap="none" strike="noStrike">
                        <a:latin typeface="Calibri"/>
                        <a:ea typeface="Calibri"/>
                        <a:cs typeface="Calibri"/>
                        <a:sym typeface="Calibri"/>
                      </a:endParaRPr>
                    </a:p>
                  </a:txBody>
                  <a:tcPr marT="64000" marB="64000" marR="64000" marL="64000" anchor="ctr">
                    <a:lnL cap="flat" cmpd="sng" w="9525">
                      <a:solidFill>
                        <a:srgbClr val="D9E2EA"/>
                      </a:solidFill>
                      <a:prstDash val="solid"/>
                      <a:round/>
                      <a:headEnd len="sm" w="sm" type="none"/>
                      <a:tailEnd len="sm" w="sm" type="none"/>
                    </a:lnL>
                    <a:lnR cap="flat" cmpd="sng" w="9525">
                      <a:solidFill>
                        <a:srgbClr val="D9E2EA"/>
                      </a:solidFill>
                      <a:prstDash val="solid"/>
                      <a:round/>
                      <a:headEnd len="sm" w="sm" type="none"/>
                      <a:tailEnd len="sm" w="sm" type="none"/>
                    </a:lnR>
                    <a:lnT cap="flat" cmpd="sng" w="9525">
                      <a:solidFill>
                        <a:srgbClr val="D9E2EA"/>
                      </a:solidFill>
                      <a:prstDash val="solid"/>
                      <a:round/>
                      <a:headEnd len="sm" w="sm" type="none"/>
                      <a:tailEnd len="sm" w="sm" type="none"/>
                    </a:lnT>
                    <a:lnB cap="flat" cmpd="sng" w="9525">
                      <a:solidFill>
                        <a:srgbClr val="D9E2EA"/>
                      </a:solidFill>
                      <a:prstDash val="solid"/>
                      <a:round/>
                      <a:headEnd len="sm" w="sm" type="none"/>
                      <a:tailEnd len="sm" w="sm" type="none"/>
                    </a:lnB>
                    <a:solidFill>
                      <a:srgbClr val="FFFFFF"/>
                    </a:solidFill>
                  </a:tcPr>
                </a:tc>
              </a:tr>
            </a:tbl>
          </a:graphicData>
        </a:graphic>
      </p:graphicFrame>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41F49"/>
        </a:solidFill>
      </p:bgPr>
    </p:bg>
    <p:spTree>
      <p:nvGrpSpPr>
        <p:cNvPr id="1409" name="Shape 1409"/>
        <p:cNvGrpSpPr/>
        <p:nvPr/>
      </p:nvGrpSpPr>
      <p:grpSpPr>
        <a:xfrm>
          <a:off x="0" y="0"/>
          <a:ext cx="0" cy="0"/>
          <a:chOff x="0" y="0"/>
          <a:chExt cx="0" cy="0"/>
        </a:xfrm>
      </p:grpSpPr>
      <p:sp>
        <p:nvSpPr>
          <p:cNvPr id="1410" name="Google Shape;1410;p50"/>
          <p:cNvSpPr/>
          <p:nvPr/>
        </p:nvSpPr>
        <p:spPr>
          <a:xfrm>
            <a:off x="9418320" y="6149340"/>
            <a:ext cx="411480" cy="356616"/>
          </a:xfrm>
          <a:prstGeom prst="triangle">
            <a:avLst>
              <a:gd fmla="val 50000" name="adj"/>
            </a:avLst>
          </a:prstGeom>
          <a:solidFill>
            <a:srgbClr val="00A79D">
              <a:alpha val="18039"/>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1" name="Google Shape;1411;p50"/>
          <p:cNvSpPr/>
          <p:nvPr/>
        </p:nvSpPr>
        <p:spPr>
          <a:xfrm rot="10800000">
            <a:off x="9857232" y="5806440"/>
            <a:ext cx="411480" cy="356616"/>
          </a:xfrm>
          <a:prstGeom prst="triangle">
            <a:avLst>
              <a:gd fmla="val 50000" name="adj"/>
            </a:avLst>
          </a:prstGeom>
          <a:solidFill>
            <a:srgbClr val="29ABE2">
              <a:alpha val="18039"/>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2" name="Google Shape;1412;p50"/>
          <p:cNvSpPr/>
          <p:nvPr/>
        </p:nvSpPr>
        <p:spPr>
          <a:xfrm rot="10800000">
            <a:off x="9857232" y="6492240"/>
            <a:ext cx="411480" cy="356616"/>
          </a:xfrm>
          <a:prstGeom prst="triangle">
            <a:avLst>
              <a:gd fmla="val 50000" name="adj"/>
            </a:avLst>
          </a:prstGeom>
          <a:solidFill>
            <a:srgbClr val="F58220">
              <a:alpha val="18039"/>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3" name="Google Shape;1413;p50"/>
          <p:cNvSpPr/>
          <p:nvPr/>
        </p:nvSpPr>
        <p:spPr>
          <a:xfrm>
            <a:off x="10296144" y="6149340"/>
            <a:ext cx="411480" cy="356616"/>
          </a:xfrm>
          <a:prstGeom prst="triangle">
            <a:avLst>
              <a:gd fmla="val 50000" name="adj"/>
            </a:avLst>
          </a:prstGeom>
          <a:solidFill>
            <a:srgbClr val="8DC63F">
              <a:alpha val="18039"/>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4" name="Google Shape;1414;p50"/>
          <p:cNvSpPr/>
          <p:nvPr/>
        </p:nvSpPr>
        <p:spPr>
          <a:xfrm>
            <a:off x="10296144" y="5463540"/>
            <a:ext cx="411480" cy="356616"/>
          </a:xfrm>
          <a:prstGeom prst="triangle">
            <a:avLst>
              <a:gd fmla="val 50000" name="adj"/>
            </a:avLst>
          </a:prstGeom>
          <a:solidFill>
            <a:srgbClr val="1D2A5C">
              <a:alpha val="18039"/>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5" name="Google Shape;1415;p50"/>
          <p:cNvSpPr/>
          <p:nvPr/>
        </p:nvSpPr>
        <p:spPr>
          <a:xfrm rot="10800000">
            <a:off x="10735056" y="5806440"/>
            <a:ext cx="411480" cy="356616"/>
          </a:xfrm>
          <a:prstGeom prst="triangle">
            <a:avLst>
              <a:gd fmla="val 50000" name="adj"/>
            </a:avLst>
          </a:prstGeom>
          <a:solidFill>
            <a:srgbClr val="29ABE2">
              <a:alpha val="18039"/>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6" name="Google Shape;1416;p50"/>
          <p:cNvSpPr/>
          <p:nvPr/>
        </p:nvSpPr>
        <p:spPr>
          <a:xfrm>
            <a:off x="10735056" y="6492240"/>
            <a:ext cx="411480" cy="356616"/>
          </a:xfrm>
          <a:prstGeom prst="triangle">
            <a:avLst>
              <a:gd fmla="val 50000" name="adj"/>
            </a:avLst>
          </a:prstGeom>
          <a:solidFill>
            <a:srgbClr val="00A79D">
              <a:alpha val="18039"/>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7" name="Google Shape;1417;p50"/>
          <p:cNvSpPr/>
          <p:nvPr/>
        </p:nvSpPr>
        <p:spPr>
          <a:xfrm rot="10800000">
            <a:off x="11173968" y="6149340"/>
            <a:ext cx="411480" cy="356616"/>
          </a:xfrm>
          <a:prstGeom prst="triangle">
            <a:avLst>
              <a:gd fmla="val 50000" name="adj"/>
            </a:avLst>
          </a:prstGeom>
          <a:solidFill>
            <a:srgbClr val="F58220">
              <a:alpha val="18039"/>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8" name="Google Shape;1418;p50"/>
          <p:cNvSpPr/>
          <p:nvPr/>
        </p:nvSpPr>
        <p:spPr>
          <a:xfrm>
            <a:off x="365760" y="747522"/>
            <a:ext cx="233172" cy="202082"/>
          </a:xfrm>
          <a:prstGeom prst="triangle">
            <a:avLst>
              <a:gd fmla="val 50000" name="adj"/>
            </a:avLst>
          </a:prstGeom>
          <a:solidFill>
            <a:srgbClr val="00A79D">
              <a:alpha val="18039"/>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9" name="Google Shape;1419;p50"/>
          <p:cNvSpPr/>
          <p:nvPr/>
        </p:nvSpPr>
        <p:spPr>
          <a:xfrm rot="10800000">
            <a:off x="614477" y="553212"/>
            <a:ext cx="233172" cy="202082"/>
          </a:xfrm>
          <a:prstGeom prst="triangle">
            <a:avLst>
              <a:gd fmla="val 50000" name="adj"/>
            </a:avLst>
          </a:prstGeom>
          <a:solidFill>
            <a:srgbClr val="29ABE2">
              <a:alpha val="18039"/>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0" name="Google Shape;1420;p50"/>
          <p:cNvSpPr/>
          <p:nvPr/>
        </p:nvSpPr>
        <p:spPr>
          <a:xfrm rot="10800000">
            <a:off x="614477" y="941832"/>
            <a:ext cx="233172" cy="202082"/>
          </a:xfrm>
          <a:prstGeom prst="triangle">
            <a:avLst>
              <a:gd fmla="val 50000" name="adj"/>
            </a:avLst>
          </a:prstGeom>
          <a:solidFill>
            <a:srgbClr val="F58220">
              <a:alpha val="18039"/>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1" name="Google Shape;1421;p50"/>
          <p:cNvSpPr/>
          <p:nvPr/>
        </p:nvSpPr>
        <p:spPr>
          <a:xfrm>
            <a:off x="863194" y="747522"/>
            <a:ext cx="233172" cy="202082"/>
          </a:xfrm>
          <a:prstGeom prst="triangle">
            <a:avLst>
              <a:gd fmla="val 50000" name="adj"/>
            </a:avLst>
          </a:prstGeom>
          <a:solidFill>
            <a:srgbClr val="8DC63F">
              <a:alpha val="18039"/>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2" name="Google Shape;1422;p50"/>
          <p:cNvSpPr/>
          <p:nvPr/>
        </p:nvSpPr>
        <p:spPr>
          <a:xfrm>
            <a:off x="863194" y="358902"/>
            <a:ext cx="233172" cy="202082"/>
          </a:xfrm>
          <a:prstGeom prst="triangle">
            <a:avLst>
              <a:gd fmla="val 50000" name="adj"/>
            </a:avLst>
          </a:prstGeom>
          <a:solidFill>
            <a:srgbClr val="1D2A5C">
              <a:alpha val="18039"/>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3" name="Google Shape;1423;p50"/>
          <p:cNvSpPr/>
          <p:nvPr/>
        </p:nvSpPr>
        <p:spPr>
          <a:xfrm rot="10800000">
            <a:off x="1111910" y="553212"/>
            <a:ext cx="233172" cy="202082"/>
          </a:xfrm>
          <a:prstGeom prst="triangle">
            <a:avLst>
              <a:gd fmla="val 50000" name="adj"/>
            </a:avLst>
          </a:prstGeom>
          <a:solidFill>
            <a:srgbClr val="29ABE2">
              <a:alpha val="18039"/>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4" name="Google Shape;1424;p50"/>
          <p:cNvSpPr/>
          <p:nvPr/>
        </p:nvSpPr>
        <p:spPr>
          <a:xfrm>
            <a:off x="1111910" y="941832"/>
            <a:ext cx="233172" cy="202082"/>
          </a:xfrm>
          <a:prstGeom prst="triangle">
            <a:avLst>
              <a:gd fmla="val 50000" name="adj"/>
            </a:avLst>
          </a:prstGeom>
          <a:solidFill>
            <a:srgbClr val="00A79D">
              <a:alpha val="18039"/>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5" name="Google Shape;1425;p50"/>
          <p:cNvSpPr/>
          <p:nvPr/>
        </p:nvSpPr>
        <p:spPr>
          <a:xfrm rot="10800000">
            <a:off x="1360627" y="747522"/>
            <a:ext cx="233172" cy="202082"/>
          </a:xfrm>
          <a:prstGeom prst="triangle">
            <a:avLst>
              <a:gd fmla="val 50000" name="adj"/>
            </a:avLst>
          </a:prstGeom>
          <a:solidFill>
            <a:srgbClr val="F58220">
              <a:alpha val="18039"/>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6" name="Google Shape;1426;p50"/>
          <p:cNvSpPr/>
          <p:nvPr/>
        </p:nvSpPr>
        <p:spPr>
          <a:xfrm>
            <a:off x="10332720" y="347472"/>
            <a:ext cx="1481328" cy="566928"/>
          </a:xfrm>
          <a:prstGeom prst="roundRect">
            <a:avLst>
              <a:gd fmla="val 14516" name="adj"/>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sessions/blissful-determined-ritchie/build/assets/sdaia_logo.png" id="1427" name="Google Shape;1427;p50"/>
          <p:cNvPicPr preferRelativeResize="0"/>
          <p:nvPr/>
        </p:nvPicPr>
        <p:blipFill rotWithShape="1">
          <a:blip r:embed="rId3">
            <a:alphaModFix/>
          </a:blip>
          <a:srcRect b="0" l="0" r="0" t="0"/>
          <a:stretch/>
        </p:blipFill>
        <p:spPr>
          <a:xfrm>
            <a:off x="10442448" y="438912"/>
            <a:ext cx="1261872" cy="308876"/>
          </a:xfrm>
          <a:prstGeom prst="rect">
            <a:avLst/>
          </a:prstGeom>
          <a:noFill/>
          <a:ln>
            <a:noFill/>
          </a:ln>
        </p:spPr>
      </p:pic>
      <p:sp>
        <p:nvSpPr>
          <p:cNvPr id="1428" name="Google Shape;1428;p50"/>
          <p:cNvSpPr/>
          <p:nvPr/>
        </p:nvSpPr>
        <p:spPr>
          <a:xfrm>
            <a:off x="777240" y="1325880"/>
            <a:ext cx="548640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A79D"/>
              </a:buClr>
              <a:buSzPts val="2000"/>
              <a:buFont typeface="Calibri"/>
              <a:buNone/>
            </a:pPr>
            <a:r>
              <a:rPr b="1" i="0" lang="en-US" sz="2000" u="none" cap="none" strike="noStrike">
                <a:solidFill>
                  <a:srgbClr val="00A79D"/>
                </a:solidFill>
                <a:latin typeface="Calibri"/>
                <a:ea typeface="Calibri"/>
                <a:cs typeface="Calibri"/>
                <a:sym typeface="Calibri"/>
              </a:rPr>
              <a:t>MODULE 3</a:t>
            </a:r>
            <a:endParaRPr b="0" i="0" sz="2000" u="none" cap="none" strike="noStrike">
              <a:solidFill>
                <a:schemeClr val="dk1"/>
              </a:solidFill>
              <a:latin typeface="Calibri"/>
              <a:ea typeface="Calibri"/>
              <a:cs typeface="Calibri"/>
              <a:sym typeface="Calibri"/>
            </a:endParaRPr>
          </a:p>
        </p:txBody>
      </p:sp>
      <p:sp>
        <p:nvSpPr>
          <p:cNvPr id="1429" name="Google Shape;1429;p50"/>
          <p:cNvSpPr/>
          <p:nvPr/>
        </p:nvSpPr>
        <p:spPr>
          <a:xfrm>
            <a:off x="749808" y="1828800"/>
            <a:ext cx="7589520" cy="13716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FFFFFF"/>
              </a:buClr>
              <a:buSzPts val="3600"/>
              <a:buFont typeface="Calibri"/>
              <a:buNone/>
            </a:pPr>
            <a:r>
              <a:rPr b="1" i="0" lang="en-US" sz="3600" u="none" cap="none" strike="noStrike">
                <a:solidFill>
                  <a:srgbClr val="FFFFFF"/>
                </a:solidFill>
                <a:latin typeface="Calibri"/>
                <a:ea typeface="Calibri"/>
                <a:cs typeface="Calibri"/>
                <a:sym typeface="Calibri"/>
              </a:rPr>
              <a:t>Object Detection with YOLO-Family Models</a:t>
            </a:r>
            <a:endParaRPr b="0" i="0" sz="3600" u="none" cap="none" strike="noStrike">
              <a:solidFill>
                <a:schemeClr val="dk1"/>
              </a:solidFill>
              <a:latin typeface="Calibri"/>
              <a:ea typeface="Calibri"/>
              <a:cs typeface="Calibri"/>
              <a:sym typeface="Calibri"/>
            </a:endParaRPr>
          </a:p>
        </p:txBody>
      </p:sp>
      <p:sp>
        <p:nvSpPr>
          <p:cNvPr id="1430" name="Google Shape;1430;p50"/>
          <p:cNvSpPr/>
          <p:nvPr/>
        </p:nvSpPr>
        <p:spPr>
          <a:xfrm>
            <a:off x="777240" y="3127248"/>
            <a:ext cx="758952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B9C8E8"/>
              </a:buClr>
              <a:buSzPts val="1700"/>
              <a:buFont typeface="Arial"/>
              <a:buNone/>
            </a:pPr>
            <a:r>
              <a:rPr b="0" i="0" lang="en-US" sz="1700" u="none" cap="none" strike="noStrike">
                <a:solidFill>
                  <a:srgbClr val="B9C8E8"/>
                </a:solidFill>
                <a:latin typeface="Arial"/>
                <a:ea typeface="Arial"/>
                <a:cs typeface="Arial"/>
                <a:sym typeface="Arial"/>
              </a:rPr>
              <a:t>اكتشاف الكائنات بنماذج عائلة YOLO</a:t>
            </a:r>
            <a:endParaRPr b="0" i="0" sz="1700" u="none" cap="none" strike="noStrike">
              <a:solidFill>
                <a:schemeClr val="dk1"/>
              </a:solidFill>
              <a:latin typeface="Calibri"/>
              <a:ea typeface="Calibri"/>
              <a:cs typeface="Calibri"/>
              <a:sym typeface="Calibri"/>
            </a:endParaRPr>
          </a:p>
        </p:txBody>
      </p:sp>
      <p:sp>
        <p:nvSpPr>
          <p:cNvPr id="1431" name="Google Shape;1431;p50"/>
          <p:cNvSpPr/>
          <p:nvPr/>
        </p:nvSpPr>
        <p:spPr>
          <a:xfrm>
            <a:off x="804672" y="3703320"/>
            <a:ext cx="6949440" cy="2560320"/>
          </a:xfrm>
          <a:prstGeom prst="rect">
            <a:avLst/>
          </a:prstGeom>
          <a:noFill/>
          <a:ln>
            <a:noFill/>
          </a:ln>
        </p:spPr>
        <p:txBody>
          <a:bodyPr anchorCtr="0" anchor="t" bIns="0" lIns="0" spcFirstLastPara="1" rIns="0" wrap="square" tIns="0">
            <a:noAutofit/>
          </a:bodyPr>
          <a:lstStyle/>
          <a:p>
            <a:pPr indent="-177800" lvl="0" marL="177800" marR="0" rtl="0" algn="l">
              <a:spcBef>
                <a:spcPts val="0"/>
              </a:spcBef>
              <a:spcAft>
                <a:spcPts val="0"/>
              </a:spcAft>
              <a:buClr>
                <a:srgbClr val="DCE6F8"/>
              </a:buClr>
              <a:buSzPts val="1300"/>
              <a:buFont typeface="Calibri"/>
              <a:buChar char="▪"/>
            </a:pPr>
            <a:r>
              <a:rPr b="0" i="0" lang="en-US" sz="1300" u="none" cap="none" strike="noStrike">
                <a:solidFill>
                  <a:srgbClr val="DCE6F8"/>
                </a:solidFill>
                <a:latin typeface="Calibri"/>
                <a:ea typeface="Calibri"/>
                <a:cs typeface="Calibri"/>
                <a:sym typeface="Calibri"/>
              </a:rPr>
              <a:t>The detection problem: boxes, classes, confidence</a:t>
            </a:r>
            <a:endParaRPr b="0" i="0" sz="1300" u="none" cap="none" strike="noStrike">
              <a:solidFill>
                <a:schemeClr val="dk1"/>
              </a:solidFill>
              <a:latin typeface="Calibri"/>
              <a:ea typeface="Calibri"/>
              <a:cs typeface="Calibri"/>
              <a:sym typeface="Calibri"/>
            </a:endParaRPr>
          </a:p>
          <a:p>
            <a:pPr indent="-177800" lvl="0" marL="177800" marR="0" rtl="0" algn="l">
              <a:spcBef>
                <a:spcPts val="800"/>
              </a:spcBef>
              <a:spcAft>
                <a:spcPts val="0"/>
              </a:spcAft>
              <a:buClr>
                <a:srgbClr val="DCE6F8"/>
              </a:buClr>
              <a:buSzPts val="1300"/>
              <a:buFont typeface="Calibri"/>
              <a:buChar char="▪"/>
            </a:pPr>
            <a:r>
              <a:rPr b="0" i="0" lang="en-US" sz="1300" u="none" cap="none" strike="noStrike">
                <a:solidFill>
                  <a:srgbClr val="DCE6F8"/>
                </a:solidFill>
                <a:latin typeface="Calibri"/>
                <a:ea typeface="Calibri"/>
                <a:cs typeface="Calibri"/>
                <a:sym typeface="Calibri"/>
              </a:rPr>
              <a:t>Anatomy of a single-stage anchor-free detector</a:t>
            </a:r>
            <a:endParaRPr b="0" i="0" sz="1300" u="none" cap="none" strike="noStrike">
              <a:solidFill>
                <a:schemeClr val="dk1"/>
              </a:solidFill>
              <a:latin typeface="Calibri"/>
              <a:ea typeface="Calibri"/>
              <a:cs typeface="Calibri"/>
              <a:sym typeface="Calibri"/>
            </a:endParaRPr>
          </a:p>
          <a:p>
            <a:pPr indent="-177800" lvl="0" marL="177800" marR="0" rtl="0" algn="l">
              <a:spcBef>
                <a:spcPts val="800"/>
              </a:spcBef>
              <a:spcAft>
                <a:spcPts val="0"/>
              </a:spcAft>
              <a:buClr>
                <a:srgbClr val="DCE6F8"/>
              </a:buClr>
              <a:buSzPts val="1300"/>
              <a:buFont typeface="Calibri"/>
              <a:buChar char="▪"/>
            </a:pPr>
            <a:r>
              <a:rPr b="0" i="0" lang="en-US" sz="1300" u="none" cap="none" strike="noStrike">
                <a:solidFill>
                  <a:srgbClr val="DCE6F8"/>
                </a:solidFill>
                <a:latin typeface="Calibri"/>
                <a:ea typeface="Calibri"/>
                <a:cs typeface="Calibri"/>
                <a:sym typeface="Calibri"/>
              </a:rPr>
              <a:t>The Ultralytics training workflow</a:t>
            </a:r>
            <a:endParaRPr b="0" i="0" sz="1300" u="none" cap="none" strike="noStrike">
              <a:solidFill>
                <a:schemeClr val="dk1"/>
              </a:solidFill>
              <a:latin typeface="Calibri"/>
              <a:ea typeface="Calibri"/>
              <a:cs typeface="Calibri"/>
              <a:sym typeface="Calibri"/>
            </a:endParaRPr>
          </a:p>
          <a:p>
            <a:pPr indent="-177800" lvl="0" marL="177800" marR="0" rtl="0" algn="l">
              <a:spcBef>
                <a:spcPts val="800"/>
              </a:spcBef>
              <a:spcAft>
                <a:spcPts val="0"/>
              </a:spcAft>
              <a:buClr>
                <a:srgbClr val="DCE6F8"/>
              </a:buClr>
              <a:buSzPts val="1300"/>
              <a:buFont typeface="Calibri"/>
              <a:buChar char="▪"/>
            </a:pPr>
            <a:r>
              <a:rPr b="0" i="0" lang="en-US" sz="1300" u="none" cap="none" strike="noStrike">
                <a:solidFill>
                  <a:srgbClr val="DCE6F8"/>
                </a:solidFill>
                <a:latin typeface="Calibri"/>
                <a:ea typeface="Calibri"/>
                <a:cs typeface="Calibri"/>
                <a:sym typeface="Calibri"/>
              </a:rPr>
              <a:t>Post-processing: thresholds as business decisions</a:t>
            </a:r>
            <a:endParaRPr b="0" i="0" sz="1300" u="none" cap="none" strike="noStrike">
              <a:solidFill>
                <a:schemeClr val="dk1"/>
              </a:solidFill>
              <a:latin typeface="Calibri"/>
              <a:ea typeface="Calibri"/>
              <a:cs typeface="Calibri"/>
              <a:sym typeface="Calibri"/>
            </a:endParaRPr>
          </a:p>
        </p:txBody>
      </p:sp>
      <p:sp>
        <p:nvSpPr>
          <p:cNvPr id="1432" name="Google Shape;1432;p50"/>
          <p:cNvSpPr/>
          <p:nvPr/>
        </p:nvSpPr>
        <p:spPr>
          <a:xfrm>
            <a:off x="8366760" y="3520440"/>
            <a:ext cx="3383280" cy="2286000"/>
          </a:xfrm>
          <a:prstGeom prst="roundRect">
            <a:avLst>
              <a:gd fmla="val 4000" name="adj"/>
            </a:avLst>
          </a:prstGeom>
          <a:solidFill>
            <a:srgbClr val="1C2C63"/>
          </a:solidFill>
          <a:ln cap="flat" cmpd="sng" w="15875">
            <a:solidFill>
              <a:srgbClr val="00A79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3" name="Google Shape;1433;p50"/>
          <p:cNvSpPr/>
          <p:nvPr/>
        </p:nvSpPr>
        <p:spPr>
          <a:xfrm>
            <a:off x="8595360" y="3703320"/>
            <a:ext cx="292608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A79D"/>
              </a:buClr>
              <a:buSzPts val="1000"/>
              <a:buFont typeface="Calibri"/>
              <a:buNone/>
            </a:pPr>
            <a:r>
              <a:rPr b="1" i="0" lang="en-US" sz="1000" u="none" cap="none" strike="noStrike">
                <a:solidFill>
                  <a:srgbClr val="00A79D"/>
                </a:solidFill>
                <a:latin typeface="Calibri"/>
                <a:ea typeface="Calibri"/>
                <a:cs typeface="Calibri"/>
                <a:sym typeface="Calibri"/>
              </a:rPr>
              <a:t>MODULE OUTCOME</a:t>
            </a:r>
            <a:endParaRPr b="0" i="0" sz="1000" u="none" cap="none" strike="noStrike">
              <a:solidFill>
                <a:schemeClr val="dk1"/>
              </a:solidFill>
              <a:latin typeface="Calibri"/>
              <a:ea typeface="Calibri"/>
              <a:cs typeface="Calibri"/>
              <a:sym typeface="Calibri"/>
            </a:endParaRPr>
          </a:p>
        </p:txBody>
      </p:sp>
      <p:sp>
        <p:nvSpPr>
          <p:cNvPr id="1434" name="Google Shape;1434;p50"/>
          <p:cNvSpPr/>
          <p:nvPr/>
        </p:nvSpPr>
        <p:spPr>
          <a:xfrm>
            <a:off x="8595360" y="4041648"/>
            <a:ext cx="2971800" cy="16002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FFFFFF"/>
              </a:buClr>
              <a:buSzPts val="1250"/>
              <a:buFont typeface="Calibri"/>
              <a:buNone/>
            </a:pPr>
            <a:r>
              <a:rPr b="0" i="0" lang="en-US" sz="1250" u="none" cap="none" strike="noStrike">
                <a:solidFill>
                  <a:srgbClr val="FFFFFF"/>
                </a:solidFill>
                <a:latin typeface="Calibri"/>
                <a:ea typeface="Calibri"/>
                <a:cs typeface="Calibri"/>
                <a:sym typeface="Calibri"/>
              </a:rPr>
              <a:t>A trained YOLO11s defect detector at mAP@0.5 ≥ 0.85 with a defensible, documented operating point derived from line requirements</a:t>
            </a:r>
            <a:endParaRPr b="0" i="0" sz="1250" u="none" cap="none" strike="noStrike">
              <a:solidFill>
                <a:schemeClr val="dk1"/>
              </a:solidFill>
              <a:latin typeface="Calibri"/>
              <a:ea typeface="Calibri"/>
              <a:cs typeface="Calibri"/>
              <a:sym typeface="Calibri"/>
            </a:endParaRPr>
          </a:p>
        </p:txBody>
      </p:sp>
      <p:sp>
        <p:nvSpPr>
          <p:cNvPr id="1435" name="Google Shape;1435;p50"/>
          <p:cNvSpPr/>
          <p:nvPr/>
        </p:nvSpPr>
        <p:spPr>
          <a:xfrm>
            <a:off x="11292840" y="6528816"/>
            <a:ext cx="411480" cy="219456"/>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5A6A96"/>
              </a:buClr>
              <a:buSzPts val="900"/>
              <a:buFont typeface="Calibri"/>
              <a:buNone/>
            </a:pPr>
            <a:r>
              <a:rPr b="0" i="0" lang="en-US" sz="900" u="none" cap="none" strike="noStrike">
                <a:solidFill>
                  <a:srgbClr val="5A6A96"/>
                </a:solidFill>
                <a:latin typeface="Calibri"/>
                <a:ea typeface="Calibri"/>
                <a:cs typeface="Calibri"/>
                <a:sym typeface="Calibri"/>
              </a:rPr>
              <a:t>50</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440" name="Shape 1440"/>
        <p:cNvGrpSpPr/>
        <p:nvPr/>
      </p:nvGrpSpPr>
      <p:grpSpPr>
        <a:xfrm>
          <a:off x="0" y="0"/>
          <a:ext cx="0" cy="0"/>
          <a:chOff x="0" y="0"/>
          <a:chExt cx="0" cy="0"/>
        </a:xfrm>
      </p:grpSpPr>
      <p:sp>
        <p:nvSpPr>
          <p:cNvPr id="1441" name="Google Shape;1441;p51"/>
          <p:cNvSpPr/>
          <p:nvPr/>
        </p:nvSpPr>
        <p:spPr>
          <a:xfrm>
            <a:off x="502920" y="274320"/>
            <a:ext cx="9646920" cy="56692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D2A5C"/>
              </a:buClr>
              <a:buSzPts val="2700"/>
              <a:buFont typeface="Calibri"/>
              <a:buNone/>
            </a:pPr>
            <a:r>
              <a:rPr b="1" i="0" lang="en-US" sz="2700" u="none" cap="none" strike="noStrike">
                <a:solidFill>
                  <a:srgbClr val="1D2A5C"/>
                </a:solidFill>
                <a:latin typeface="Calibri"/>
                <a:ea typeface="Calibri"/>
                <a:cs typeface="Calibri"/>
                <a:sym typeface="Calibri"/>
              </a:rPr>
              <a:t>Why Detection Matters</a:t>
            </a:r>
            <a:endParaRPr b="0" i="0" sz="2700" u="none" cap="none" strike="noStrike">
              <a:solidFill>
                <a:schemeClr val="dk1"/>
              </a:solidFill>
              <a:latin typeface="Calibri"/>
              <a:ea typeface="Calibri"/>
              <a:cs typeface="Calibri"/>
              <a:sym typeface="Calibri"/>
            </a:endParaRPr>
          </a:p>
        </p:txBody>
      </p:sp>
      <p:sp>
        <p:nvSpPr>
          <p:cNvPr id="1442" name="Google Shape;1442;p51"/>
          <p:cNvSpPr/>
          <p:nvPr/>
        </p:nvSpPr>
        <p:spPr>
          <a:xfrm>
            <a:off x="502920" y="859536"/>
            <a:ext cx="9646920" cy="31089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F6B7A"/>
              </a:buClr>
              <a:buSzPts val="1250"/>
              <a:buFont typeface="Arial"/>
              <a:buNone/>
            </a:pPr>
            <a:r>
              <a:rPr b="0" i="0" lang="en-US" sz="1250" u="none" cap="none" strike="noStrike">
                <a:solidFill>
                  <a:srgbClr val="5F6B7A"/>
                </a:solidFill>
                <a:latin typeface="Arial"/>
                <a:ea typeface="Arial"/>
                <a:cs typeface="Arial"/>
                <a:sym typeface="Arial"/>
              </a:rPr>
              <a:t>لماذا يهم اكتشاف الكائنات</a:t>
            </a:r>
            <a:endParaRPr b="0" i="0" sz="1250" u="none" cap="none" strike="noStrike">
              <a:solidFill>
                <a:schemeClr val="dk1"/>
              </a:solidFill>
              <a:latin typeface="Calibri"/>
              <a:ea typeface="Calibri"/>
              <a:cs typeface="Calibri"/>
              <a:sym typeface="Calibri"/>
            </a:endParaRPr>
          </a:p>
        </p:txBody>
      </p:sp>
      <p:pic>
        <p:nvPicPr>
          <p:cNvPr descr="/sessions/blissful-determined-ritchie/build/assets/sdaia_logo.png" id="1443" name="Google Shape;1443;p51"/>
          <p:cNvPicPr preferRelativeResize="0"/>
          <p:nvPr/>
        </p:nvPicPr>
        <p:blipFill rotWithShape="1">
          <a:blip r:embed="rId3">
            <a:alphaModFix/>
          </a:blip>
          <a:srcRect b="0" l="0" r="0" t="0"/>
          <a:stretch/>
        </p:blipFill>
        <p:spPr>
          <a:xfrm>
            <a:off x="10625328" y="310896"/>
            <a:ext cx="1078992" cy="264111"/>
          </a:xfrm>
          <a:prstGeom prst="rect">
            <a:avLst/>
          </a:prstGeom>
          <a:noFill/>
          <a:ln>
            <a:noFill/>
          </a:ln>
        </p:spPr>
      </p:pic>
      <p:sp>
        <p:nvSpPr>
          <p:cNvPr id="1444" name="Google Shape;1444;p51"/>
          <p:cNvSpPr/>
          <p:nvPr/>
        </p:nvSpPr>
        <p:spPr>
          <a:xfrm>
            <a:off x="502920" y="6528816"/>
            <a:ext cx="8686800"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A79D"/>
              </a:buClr>
              <a:buSzPts val="800"/>
              <a:buFont typeface="Calibri"/>
              <a:buNone/>
            </a:pPr>
            <a:r>
              <a:rPr b="1" i="0" lang="en-US" sz="800" u="none" cap="none" strike="noStrike">
                <a:solidFill>
                  <a:srgbClr val="00A79D"/>
                </a:solidFill>
                <a:latin typeface="Calibri"/>
                <a:ea typeface="Calibri"/>
                <a:cs typeface="Calibri"/>
                <a:sym typeface="Calibri"/>
              </a:rPr>
              <a:t>MODULE 3   </a:t>
            </a:r>
            <a:r>
              <a:rPr b="0" i="0" lang="en-US" sz="800" u="none" cap="none" strike="noStrike">
                <a:solidFill>
                  <a:srgbClr val="8A96A6"/>
                </a:solidFill>
                <a:latin typeface="Calibri"/>
                <a:ea typeface="Calibri"/>
                <a:cs typeface="Calibri"/>
                <a:sym typeface="Calibri"/>
              </a:rPr>
              <a:t>SDA-AIE-212 · Computer Vision Systems Development</a:t>
            </a:r>
            <a:endParaRPr b="0" i="0" sz="800" u="none" cap="none" strike="noStrike">
              <a:solidFill>
                <a:schemeClr val="dk1"/>
              </a:solidFill>
              <a:latin typeface="Calibri"/>
              <a:ea typeface="Calibri"/>
              <a:cs typeface="Calibri"/>
              <a:sym typeface="Calibri"/>
            </a:endParaRPr>
          </a:p>
        </p:txBody>
      </p:sp>
      <p:sp>
        <p:nvSpPr>
          <p:cNvPr id="1445" name="Google Shape;1445;p51"/>
          <p:cNvSpPr/>
          <p:nvPr/>
        </p:nvSpPr>
        <p:spPr>
          <a:xfrm>
            <a:off x="11292840" y="6528816"/>
            <a:ext cx="411480" cy="219456"/>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8A96A6"/>
              </a:buClr>
              <a:buSzPts val="900"/>
              <a:buFont typeface="Calibri"/>
              <a:buNone/>
            </a:pPr>
            <a:r>
              <a:rPr b="0" i="0" lang="en-US" sz="900" u="none" cap="none" strike="noStrike">
                <a:solidFill>
                  <a:srgbClr val="8A96A6"/>
                </a:solidFill>
                <a:latin typeface="Calibri"/>
                <a:ea typeface="Calibri"/>
                <a:cs typeface="Calibri"/>
                <a:sym typeface="Calibri"/>
              </a:rPr>
              <a:t>51</a:t>
            </a:r>
            <a:endParaRPr b="0" i="0" sz="900" u="none" cap="none" strike="noStrike">
              <a:solidFill>
                <a:schemeClr val="dk1"/>
              </a:solidFill>
              <a:latin typeface="Calibri"/>
              <a:ea typeface="Calibri"/>
              <a:cs typeface="Calibri"/>
              <a:sym typeface="Calibri"/>
            </a:endParaRPr>
          </a:p>
        </p:txBody>
      </p:sp>
      <p:sp>
        <p:nvSpPr>
          <p:cNvPr id="1446" name="Google Shape;1446;p51"/>
          <p:cNvSpPr/>
          <p:nvPr/>
        </p:nvSpPr>
        <p:spPr>
          <a:xfrm>
            <a:off x="502920" y="1559052"/>
            <a:ext cx="329184" cy="329184"/>
          </a:xfrm>
          <a:prstGeom prst="ellipse">
            <a:avLst/>
          </a:prstGeom>
          <a:solidFill>
            <a:srgbClr val="00A79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7" name="Google Shape;1447;p51"/>
          <p:cNvSpPr/>
          <p:nvPr/>
        </p:nvSpPr>
        <p:spPr>
          <a:xfrm>
            <a:off x="502920" y="1559052"/>
            <a:ext cx="329184" cy="32918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300"/>
              <a:buFont typeface="Calibri"/>
              <a:buNone/>
            </a:pPr>
            <a:r>
              <a:rPr b="1" i="0" lang="en-US" sz="1300" u="none" cap="none" strike="noStrike">
                <a:solidFill>
                  <a:srgbClr val="FFFFFF"/>
                </a:solidFill>
                <a:latin typeface="Calibri"/>
                <a:ea typeface="Calibri"/>
                <a:cs typeface="Calibri"/>
                <a:sym typeface="Calibri"/>
              </a:rPr>
              <a:t>1</a:t>
            </a:r>
            <a:endParaRPr b="0" i="0" sz="1300" u="none" cap="none" strike="noStrike">
              <a:solidFill>
                <a:schemeClr val="dk1"/>
              </a:solidFill>
              <a:latin typeface="Calibri"/>
              <a:ea typeface="Calibri"/>
              <a:cs typeface="Calibri"/>
              <a:sym typeface="Calibri"/>
            </a:endParaRPr>
          </a:p>
        </p:txBody>
      </p:sp>
      <p:sp>
        <p:nvSpPr>
          <p:cNvPr id="1448" name="Google Shape;1448;p51"/>
          <p:cNvSpPr/>
          <p:nvPr/>
        </p:nvSpPr>
        <p:spPr>
          <a:xfrm>
            <a:off x="1005840" y="1495044"/>
            <a:ext cx="10682935"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D2A5C"/>
              </a:buClr>
              <a:buSzPts val="1400"/>
              <a:buFont typeface="Calibri"/>
              <a:buNone/>
            </a:pPr>
            <a:r>
              <a:rPr b="1" i="0" lang="en-US" sz="1400" u="none" cap="none" strike="noStrike">
                <a:solidFill>
                  <a:srgbClr val="1D2A5C"/>
                </a:solidFill>
                <a:latin typeface="Calibri"/>
                <a:ea typeface="Calibri"/>
                <a:cs typeface="Calibri"/>
                <a:sym typeface="Calibri"/>
              </a:rPr>
              <a:t>From 'what grade' to 'where, which fruit, what confidence'</a:t>
            </a:r>
            <a:endParaRPr b="0" i="0" sz="1400" u="none" cap="none" strike="noStrike">
              <a:solidFill>
                <a:schemeClr val="dk1"/>
              </a:solidFill>
              <a:latin typeface="Calibri"/>
              <a:ea typeface="Calibri"/>
              <a:cs typeface="Calibri"/>
              <a:sym typeface="Calibri"/>
            </a:endParaRPr>
          </a:p>
        </p:txBody>
      </p:sp>
      <p:sp>
        <p:nvSpPr>
          <p:cNvPr id="1449" name="Google Shape;1449;p51"/>
          <p:cNvSpPr/>
          <p:nvPr/>
        </p:nvSpPr>
        <p:spPr>
          <a:xfrm>
            <a:off x="1005840" y="1796796"/>
            <a:ext cx="10682935" cy="841248"/>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5F6B7A"/>
              </a:buClr>
              <a:buSzPts val="1150"/>
              <a:buFont typeface="Calibri"/>
              <a:buNone/>
            </a:pPr>
            <a:r>
              <a:rPr b="0" i="0" lang="en-US" sz="1150" u="none" cap="none" strike="noStrike">
                <a:solidFill>
                  <a:srgbClr val="5F6B7A"/>
                </a:solidFill>
                <a:latin typeface="Calibri"/>
                <a:ea typeface="Calibri"/>
                <a:cs typeface="Calibri"/>
                <a:sym typeface="Calibri"/>
              </a:rPr>
              <a:t>Classification labels whole frames; the line must know which fruit to eject. Detection localises five defect types per fruit.</a:t>
            </a:r>
            <a:endParaRPr b="0" i="0" sz="1150" u="none" cap="none" strike="noStrike">
              <a:solidFill>
                <a:schemeClr val="dk1"/>
              </a:solidFill>
              <a:latin typeface="Calibri"/>
              <a:ea typeface="Calibri"/>
              <a:cs typeface="Calibri"/>
              <a:sym typeface="Calibri"/>
            </a:endParaRPr>
          </a:p>
        </p:txBody>
      </p:sp>
      <p:sp>
        <p:nvSpPr>
          <p:cNvPr id="1450" name="Google Shape;1450;p51"/>
          <p:cNvSpPr/>
          <p:nvPr/>
        </p:nvSpPr>
        <p:spPr>
          <a:xfrm>
            <a:off x="502920" y="2747772"/>
            <a:ext cx="329184" cy="329184"/>
          </a:xfrm>
          <a:prstGeom prst="ellipse">
            <a:avLst/>
          </a:prstGeom>
          <a:solidFill>
            <a:srgbClr val="29ABE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1" name="Google Shape;1451;p51"/>
          <p:cNvSpPr/>
          <p:nvPr/>
        </p:nvSpPr>
        <p:spPr>
          <a:xfrm>
            <a:off x="502920" y="2747772"/>
            <a:ext cx="329184" cy="32918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300"/>
              <a:buFont typeface="Calibri"/>
              <a:buNone/>
            </a:pPr>
            <a:r>
              <a:rPr b="1" i="0" lang="en-US" sz="1300" u="none" cap="none" strike="noStrike">
                <a:solidFill>
                  <a:srgbClr val="FFFFFF"/>
                </a:solidFill>
                <a:latin typeface="Calibri"/>
                <a:ea typeface="Calibri"/>
                <a:cs typeface="Calibri"/>
                <a:sym typeface="Calibri"/>
              </a:rPr>
              <a:t>2</a:t>
            </a:r>
            <a:endParaRPr b="0" i="0" sz="1300" u="none" cap="none" strike="noStrike">
              <a:solidFill>
                <a:schemeClr val="dk1"/>
              </a:solidFill>
              <a:latin typeface="Calibri"/>
              <a:ea typeface="Calibri"/>
              <a:cs typeface="Calibri"/>
              <a:sym typeface="Calibri"/>
            </a:endParaRPr>
          </a:p>
        </p:txBody>
      </p:sp>
      <p:sp>
        <p:nvSpPr>
          <p:cNvPr id="1452" name="Google Shape;1452;p51"/>
          <p:cNvSpPr/>
          <p:nvPr/>
        </p:nvSpPr>
        <p:spPr>
          <a:xfrm>
            <a:off x="1005840" y="2683764"/>
            <a:ext cx="10682935"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D2A5C"/>
              </a:buClr>
              <a:buSzPts val="1400"/>
              <a:buFont typeface="Calibri"/>
              <a:buNone/>
            </a:pPr>
            <a:r>
              <a:rPr b="1" i="0" lang="en-US" sz="1400" u="none" cap="none" strike="noStrike">
                <a:solidFill>
                  <a:srgbClr val="1D2A5C"/>
                </a:solidFill>
                <a:latin typeface="Calibri"/>
                <a:ea typeface="Calibri"/>
                <a:cs typeface="Calibri"/>
                <a:sym typeface="Calibri"/>
              </a:rPr>
              <a:t>The deliverable is a thresholded decision, not mAP</a:t>
            </a:r>
            <a:endParaRPr b="0" i="0" sz="1400" u="none" cap="none" strike="noStrike">
              <a:solidFill>
                <a:schemeClr val="dk1"/>
              </a:solidFill>
              <a:latin typeface="Calibri"/>
              <a:ea typeface="Calibri"/>
              <a:cs typeface="Calibri"/>
              <a:sym typeface="Calibri"/>
            </a:endParaRPr>
          </a:p>
        </p:txBody>
      </p:sp>
      <p:sp>
        <p:nvSpPr>
          <p:cNvPr id="1453" name="Google Shape;1453;p51"/>
          <p:cNvSpPr/>
          <p:nvPr/>
        </p:nvSpPr>
        <p:spPr>
          <a:xfrm>
            <a:off x="1005840" y="2985516"/>
            <a:ext cx="10682935" cy="841248"/>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5F6B7A"/>
              </a:buClr>
              <a:buSzPts val="1150"/>
              <a:buFont typeface="Calibri"/>
              <a:buNone/>
            </a:pPr>
            <a:r>
              <a:rPr b="0" i="0" lang="en-US" sz="1150" u="none" cap="none" strike="noStrike">
                <a:solidFill>
                  <a:srgbClr val="5F6B7A"/>
                </a:solidFill>
                <a:latin typeface="Calibri"/>
                <a:ea typeface="Calibri"/>
                <a:cs typeface="Calibri"/>
                <a:sym typeface="Calibri"/>
              </a:rPr>
              <a:t>Every deployment ships an agreed miss rate and false-alarm rate. Engineers who cannot defend a threshold either stop the conveyor forty times an hour or wave mould through.</a:t>
            </a:r>
            <a:endParaRPr b="0" i="0" sz="1150" u="none" cap="none" strike="noStrike">
              <a:solidFill>
                <a:schemeClr val="dk1"/>
              </a:solidFill>
              <a:latin typeface="Calibri"/>
              <a:ea typeface="Calibri"/>
              <a:cs typeface="Calibri"/>
              <a:sym typeface="Calibri"/>
            </a:endParaRPr>
          </a:p>
        </p:txBody>
      </p:sp>
      <p:sp>
        <p:nvSpPr>
          <p:cNvPr id="1454" name="Google Shape;1454;p51"/>
          <p:cNvSpPr/>
          <p:nvPr/>
        </p:nvSpPr>
        <p:spPr>
          <a:xfrm>
            <a:off x="502920" y="3936492"/>
            <a:ext cx="329184" cy="329184"/>
          </a:xfrm>
          <a:prstGeom prst="ellipse">
            <a:avLst/>
          </a:prstGeom>
          <a:solidFill>
            <a:srgbClr val="F5822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5" name="Google Shape;1455;p51"/>
          <p:cNvSpPr/>
          <p:nvPr/>
        </p:nvSpPr>
        <p:spPr>
          <a:xfrm>
            <a:off x="502920" y="3936492"/>
            <a:ext cx="329184" cy="32918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300"/>
              <a:buFont typeface="Calibri"/>
              <a:buNone/>
            </a:pPr>
            <a:r>
              <a:rPr b="1" i="0" lang="en-US" sz="1300" u="none" cap="none" strike="noStrike">
                <a:solidFill>
                  <a:srgbClr val="FFFFFF"/>
                </a:solidFill>
                <a:latin typeface="Calibri"/>
                <a:ea typeface="Calibri"/>
                <a:cs typeface="Calibri"/>
                <a:sym typeface="Calibri"/>
              </a:rPr>
              <a:t>3</a:t>
            </a:r>
            <a:endParaRPr b="0" i="0" sz="1300" u="none" cap="none" strike="noStrike">
              <a:solidFill>
                <a:schemeClr val="dk1"/>
              </a:solidFill>
              <a:latin typeface="Calibri"/>
              <a:ea typeface="Calibri"/>
              <a:cs typeface="Calibri"/>
              <a:sym typeface="Calibri"/>
            </a:endParaRPr>
          </a:p>
        </p:txBody>
      </p:sp>
      <p:sp>
        <p:nvSpPr>
          <p:cNvPr id="1456" name="Google Shape;1456;p51"/>
          <p:cNvSpPr/>
          <p:nvPr/>
        </p:nvSpPr>
        <p:spPr>
          <a:xfrm>
            <a:off x="1005840" y="3872484"/>
            <a:ext cx="10682935"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D2A5C"/>
              </a:buClr>
              <a:buSzPts val="1400"/>
              <a:buFont typeface="Calibri"/>
              <a:buNone/>
            </a:pPr>
            <a:r>
              <a:rPr b="1" i="0" lang="en-US" sz="1400" u="none" cap="none" strike="noStrike">
                <a:solidFill>
                  <a:srgbClr val="1D2A5C"/>
                </a:solidFill>
                <a:latin typeface="Calibri"/>
                <a:ea typeface="Calibri"/>
                <a:cs typeface="Calibri"/>
                <a:sym typeface="Calibri"/>
              </a:rPr>
              <a:t>Ultralytics compresses weeks to hours</a:t>
            </a:r>
            <a:endParaRPr b="0" i="0" sz="1400" u="none" cap="none" strike="noStrike">
              <a:solidFill>
                <a:schemeClr val="dk1"/>
              </a:solidFill>
              <a:latin typeface="Calibri"/>
              <a:ea typeface="Calibri"/>
              <a:cs typeface="Calibri"/>
              <a:sym typeface="Calibri"/>
            </a:endParaRPr>
          </a:p>
        </p:txBody>
      </p:sp>
      <p:sp>
        <p:nvSpPr>
          <p:cNvPr id="1457" name="Google Shape;1457;p51"/>
          <p:cNvSpPr/>
          <p:nvPr/>
        </p:nvSpPr>
        <p:spPr>
          <a:xfrm>
            <a:off x="1005840" y="4174236"/>
            <a:ext cx="10682935" cy="841248"/>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5F6B7A"/>
              </a:buClr>
              <a:buSzPts val="1150"/>
              <a:buFont typeface="Calibri"/>
              <a:buNone/>
            </a:pPr>
            <a:r>
              <a:rPr b="0" i="0" lang="en-US" sz="1150" u="none" cap="none" strike="noStrike">
                <a:solidFill>
                  <a:srgbClr val="5F6B7A"/>
                </a:solidFill>
                <a:latin typeface="Calibri"/>
                <a:ea typeface="Calibri"/>
                <a:cs typeface="Calibri"/>
                <a:sym typeface="Calibri"/>
              </a:rPr>
              <a:t>The industry's fastest path from labelled boxes to a working model — but AGPL-3.0 vs commercial licensing is a procurement question you must be able to answer.</a:t>
            </a:r>
            <a:endParaRPr b="0" i="0" sz="1150" u="none" cap="none" strike="noStrike">
              <a:solidFill>
                <a:schemeClr val="dk1"/>
              </a:solidFill>
              <a:latin typeface="Calibri"/>
              <a:ea typeface="Calibri"/>
              <a:cs typeface="Calibri"/>
              <a:sym typeface="Calibri"/>
            </a:endParaRPr>
          </a:p>
        </p:txBody>
      </p:sp>
      <p:sp>
        <p:nvSpPr>
          <p:cNvPr id="1458" name="Google Shape;1458;p51"/>
          <p:cNvSpPr/>
          <p:nvPr/>
        </p:nvSpPr>
        <p:spPr>
          <a:xfrm>
            <a:off x="502920" y="5125212"/>
            <a:ext cx="329184" cy="329184"/>
          </a:xfrm>
          <a:prstGeom prst="ellipse">
            <a:avLst/>
          </a:prstGeom>
          <a:solidFill>
            <a:srgbClr val="8DC63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9" name="Google Shape;1459;p51"/>
          <p:cNvSpPr/>
          <p:nvPr/>
        </p:nvSpPr>
        <p:spPr>
          <a:xfrm>
            <a:off x="502920" y="5125212"/>
            <a:ext cx="329184" cy="32918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300"/>
              <a:buFont typeface="Calibri"/>
              <a:buNone/>
            </a:pPr>
            <a:r>
              <a:rPr b="1" i="0" lang="en-US" sz="1300" u="none" cap="none" strike="noStrike">
                <a:solidFill>
                  <a:srgbClr val="FFFFFF"/>
                </a:solidFill>
                <a:latin typeface="Calibri"/>
                <a:ea typeface="Calibri"/>
                <a:cs typeface="Calibri"/>
                <a:sym typeface="Calibri"/>
              </a:rPr>
              <a:t>4</a:t>
            </a:r>
            <a:endParaRPr b="0" i="0" sz="1300" u="none" cap="none" strike="noStrike">
              <a:solidFill>
                <a:schemeClr val="dk1"/>
              </a:solidFill>
              <a:latin typeface="Calibri"/>
              <a:ea typeface="Calibri"/>
              <a:cs typeface="Calibri"/>
              <a:sym typeface="Calibri"/>
            </a:endParaRPr>
          </a:p>
        </p:txBody>
      </p:sp>
      <p:sp>
        <p:nvSpPr>
          <p:cNvPr id="1460" name="Google Shape;1460;p51"/>
          <p:cNvSpPr/>
          <p:nvPr/>
        </p:nvSpPr>
        <p:spPr>
          <a:xfrm>
            <a:off x="1005840" y="5061204"/>
            <a:ext cx="10682935"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D2A5C"/>
              </a:buClr>
              <a:buSzPts val="1400"/>
              <a:buFont typeface="Calibri"/>
              <a:buNone/>
            </a:pPr>
            <a:r>
              <a:rPr b="1" i="0" lang="en-US" sz="1400" u="none" cap="none" strike="noStrike">
                <a:solidFill>
                  <a:srgbClr val="1D2A5C"/>
                </a:solidFill>
                <a:latin typeface="Calibri"/>
                <a:ea typeface="Calibri"/>
                <a:cs typeface="Calibri"/>
                <a:sym typeface="Calibri"/>
              </a:rPr>
              <a:t>The workhorse task of applied vision in the Kingdom</a:t>
            </a:r>
            <a:endParaRPr b="0" i="0" sz="1400" u="none" cap="none" strike="noStrike">
              <a:solidFill>
                <a:schemeClr val="dk1"/>
              </a:solidFill>
              <a:latin typeface="Calibri"/>
              <a:ea typeface="Calibri"/>
              <a:cs typeface="Calibri"/>
              <a:sym typeface="Calibri"/>
            </a:endParaRPr>
          </a:p>
        </p:txBody>
      </p:sp>
      <p:sp>
        <p:nvSpPr>
          <p:cNvPr id="1461" name="Google Shape;1461;p51"/>
          <p:cNvSpPr/>
          <p:nvPr/>
        </p:nvSpPr>
        <p:spPr>
          <a:xfrm>
            <a:off x="1005840" y="5362956"/>
            <a:ext cx="10682935" cy="841248"/>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5F6B7A"/>
              </a:buClr>
              <a:buSzPts val="1150"/>
              <a:buFont typeface="Calibri"/>
              <a:buNone/>
            </a:pPr>
            <a:r>
              <a:rPr b="0" i="0" lang="en-US" sz="1150" u="none" cap="none" strike="noStrike">
                <a:solidFill>
                  <a:srgbClr val="5F6B7A"/>
                </a:solidFill>
                <a:latin typeface="Calibri"/>
                <a:ea typeface="Calibri"/>
                <a:cs typeface="Calibri"/>
                <a:sym typeface="Calibri"/>
              </a:rPr>
              <a:t>PPE compliance on megaprojects, licence plates at industrial-city gates, foreign objects on food lines, palm-pest spotting from drones.</a:t>
            </a:r>
            <a:endParaRPr b="0" i="0" sz="1150" u="none" cap="none" strike="noStrike">
              <a:solidFill>
                <a:schemeClr val="dk1"/>
              </a:solidFill>
              <a:latin typeface="Calibri"/>
              <a:ea typeface="Calibri"/>
              <a:cs typeface="Calibri"/>
              <a:sym typeface="Calibri"/>
            </a:endParaRPr>
          </a:p>
        </p:txBody>
      </p:sp>
    </p:spTree>
  </p:cSld>
  <p:clrMapOvr>
    <a:masterClrMapping/>
  </p:clrMapOvr>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466" name="Shape 1466"/>
        <p:cNvGrpSpPr/>
        <p:nvPr/>
      </p:nvGrpSpPr>
      <p:grpSpPr>
        <a:xfrm>
          <a:off x="0" y="0"/>
          <a:ext cx="0" cy="0"/>
          <a:chOff x="0" y="0"/>
          <a:chExt cx="0" cy="0"/>
        </a:xfrm>
      </p:grpSpPr>
      <p:sp>
        <p:nvSpPr>
          <p:cNvPr id="1467" name="Google Shape;1467;p52"/>
          <p:cNvSpPr/>
          <p:nvPr/>
        </p:nvSpPr>
        <p:spPr>
          <a:xfrm>
            <a:off x="502920" y="274320"/>
            <a:ext cx="9646920" cy="56692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D2A5C"/>
              </a:buClr>
              <a:buSzPts val="2700"/>
              <a:buFont typeface="Calibri"/>
              <a:buNone/>
            </a:pPr>
            <a:r>
              <a:rPr b="1" i="0" lang="en-US" sz="2700" u="none" cap="none" strike="noStrike">
                <a:solidFill>
                  <a:srgbClr val="1D2A5C"/>
                </a:solidFill>
                <a:latin typeface="Calibri"/>
                <a:ea typeface="Calibri"/>
                <a:cs typeface="Calibri"/>
                <a:sym typeface="Calibri"/>
              </a:rPr>
              <a:t>Industry Use Cases</a:t>
            </a:r>
            <a:endParaRPr b="0" i="0" sz="2700" u="none" cap="none" strike="noStrike">
              <a:solidFill>
                <a:schemeClr val="dk1"/>
              </a:solidFill>
              <a:latin typeface="Calibri"/>
              <a:ea typeface="Calibri"/>
              <a:cs typeface="Calibri"/>
              <a:sym typeface="Calibri"/>
            </a:endParaRPr>
          </a:p>
        </p:txBody>
      </p:sp>
      <p:sp>
        <p:nvSpPr>
          <p:cNvPr id="1468" name="Google Shape;1468;p52"/>
          <p:cNvSpPr/>
          <p:nvPr/>
        </p:nvSpPr>
        <p:spPr>
          <a:xfrm>
            <a:off x="502920" y="859536"/>
            <a:ext cx="9646920" cy="31089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F6B7A"/>
              </a:buClr>
              <a:buSzPts val="1250"/>
              <a:buFont typeface="Arial"/>
              <a:buNone/>
            </a:pPr>
            <a:r>
              <a:rPr b="0" i="0" lang="en-US" sz="1250" u="none" cap="none" strike="noStrike">
                <a:solidFill>
                  <a:srgbClr val="5F6B7A"/>
                </a:solidFill>
                <a:latin typeface="Arial"/>
                <a:ea typeface="Arial"/>
                <a:cs typeface="Arial"/>
                <a:sym typeface="Arial"/>
              </a:rPr>
              <a:t>حالات استخدام صناعية</a:t>
            </a:r>
            <a:endParaRPr b="0" i="0" sz="1250" u="none" cap="none" strike="noStrike">
              <a:solidFill>
                <a:schemeClr val="dk1"/>
              </a:solidFill>
              <a:latin typeface="Calibri"/>
              <a:ea typeface="Calibri"/>
              <a:cs typeface="Calibri"/>
              <a:sym typeface="Calibri"/>
            </a:endParaRPr>
          </a:p>
        </p:txBody>
      </p:sp>
      <p:pic>
        <p:nvPicPr>
          <p:cNvPr descr="/sessions/blissful-determined-ritchie/build/assets/sdaia_logo.png" id="1469" name="Google Shape;1469;p52"/>
          <p:cNvPicPr preferRelativeResize="0"/>
          <p:nvPr/>
        </p:nvPicPr>
        <p:blipFill rotWithShape="1">
          <a:blip r:embed="rId3">
            <a:alphaModFix/>
          </a:blip>
          <a:srcRect b="0" l="0" r="0" t="0"/>
          <a:stretch/>
        </p:blipFill>
        <p:spPr>
          <a:xfrm>
            <a:off x="10625328" y="310896"/>
            <a:ext cx="1078992" cy="264111"/>
          </a:xfrm>
          <a:prstGeom prst="rect">
            <a:avLst/>
          </a:prstGeom>
          <a:noFill/>
          <a:ln>
            <a:noFill/>
          </a:ln>
        </p:spPr>
      </p:pic>
      <p:sp>
        <p:nvSpPr>
          <p:cNvPr id="1470" name="Google Shape;1470;p52"/>
          <p:cNvSpPr/>
          <p:nvPr/>
        </p:nvSpPr>
        <p:spPr>
          <a:xfrm>
            <a:off x="502920" y="6528816"/>
            <a:ext cx="8686800"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A79D"/>
              </a:buClr>
              <a:buSzPts val="800"/>
              <a:buFont typeface="Calibri"/>
              <a:buNone/>
            </a:pPr>
            <a:r>
              <a:rPr b="1" i="0" lang="en-US" sz="800" u="none" cap="none" strike="noStrike">
                <a:solidFill>
                  <a:srgbClr val="00A79D"/>
                </a:solidFill>
                <a:latin typeface="Calibri"/>
                <a:ea typeface="Calibri"/>
                <a:cs typeface="Calibri"/>
                <a:sym typeface="Calibri"/>
              </a:rPr>
              <a:t>MODULE 3   </a:t>
            </a:r>
            <a:r>
              <a:rPr b="0" i="0" lang="en-US" sz="800" u="none" cap="none" strike="noStrike">
                <a:solidFill>
                  <a:srgbClr val="8A96A6"/>
                </a:solidFill>
                <a:latin typeface="Calibri"/>
                <a:ea typeface="Calibri"/>
                <a:cs typeface="Calibri"/>
                <a:sym typeface="Calibri"/>
              </a:rPr>
              <a:t>SDA-AIE-212 · Computer Vision Systems Development</a:t>
            </a:r>
            <a:endParaRPr b="0" i="0" sz="800" u="none" cap="none" strike="noStrike">
              <a:solidFill>
                <a:schemeClr val="dk1"/>
              </a:solidFill>
              <a:latin typeface="Calibri"/>
              <a:ea typeface="Calibri"/>
              <a:cs typeface="Calibri"/>
              <a:sym typeface="Calibri"/>
            </a:endParaRPr>
          </a:p>
        </p:txBody>
      </p:sp>
      <p:sp>
        <p:nvSpPr>
          <p:cNvPr id="1471" name="Google Shape;1471;p52"/>
          <p:cNvSpPr/>
          <p:nvPr/>
        </p:nvSpPr>
        <p:spPr>
          <a:xfrm>
            <a:off x="11292840" y="6528816"/>
            <a:ext cx="411480" cy="219456"/>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8A96A6"/>
              </a:buClr>
              <a:buSzPts val="900"/>
              <a:buFont typeface="Calibri"/>
              <a:buNone/>
            </a:pPr>
            <a:r>
              <a:rPr b="0" i="0" lang="en-US" sz="900" u="none" cap="none" strike="noStrike">
                <a:solidFill>
                  <a:srgbClr val="8A96A6"/>
                </a:solidFill>
                <a:latin typeface="Calibri"/>
                <a:ea typeface="Calibri"/>
                <a:cs typeface="Calibri"/>
                <a:sym typeface="Calibri"/>
              </a:rPr>
              <a:t>52</a:t>
            </a:r>
            <a:endParaRPr b="0" i="0" sz="900" u="none" cap="none" strike="noStrike">
              <a:solidFill>
                <a:schemeClr val="dk1"/>
              </a:solidFill>
              <a:latin typeface="Calibri"/>
              <a:ea typeface="Calibri"/>
              <a:cs typeface="Calibri"/>
              <a:sym typeface="Calibri"/>
            </a:endParaRPr>
          </a:p>
        </p:txBody>
      </p:sp>
      <p:sp>
        <p:nvSpPr>
          <p:cNvPr id="1472" name="Google Shape;1472;p52"/>
          <p:cNvSpPr/>
          <p:nvPr/>
        </p:nvSpPr>
        <p:spPr>
          <a:xfrm>
            <a:off x="502920" y="1389888"/>
            <a:ext cx="5455768" cy="2354580"/>
          </a:xfrm>
          <a:prstGeom prst="roundRect">
            <a:avLst>
              <a:gd fmla="val 3107" name="adj"/>
            </a:avLst>
          </a:prstGeom>
          <a:solidFill>
            <a:srgbClr val="F2F6F9"/>
          </a:solidFill>
          <a:ln cap="flat" cmpd="sng" w="12700">
            <a:solidFill>
              <a:srgbClr val="D9E2E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3" name="Google Shape;1473;p52"/>
          <p:cNvSpPr/>
          <p:nvPr/>
        </p:nvSpPr>
        <p:spPr>
          <a:xfrm>
            <a:off x="667512" y="1536192"/>
            <a:ext cx="310896" cy="310896"/>
          </a:xfrm>
          <a:prstGeom prst="ellipse">
            <a:avLst/>
          </a:prstGeom>
          <a:solidFill>
            <a:srgbClr val="00A79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4" name="Google Shape;1474;p52"/>
          <p:cNvSpPr/>
          <p:nvPr/>
        </p:nvSpPr>
        <p:spPr>
          <a:xfrm>
            <a:off x="667512" y="1536192"/>
            <a:ext cx="310896" cy="31089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200"/>
              <a:buFont typeface="Calibri"/>
              <a:buNone/>
            </a:pPr>
            <a:r>
              <a:rPr b="1" i="0" lang="en-US" sz="1200" u="none" cap="none" strike="noStrike">
                <a:solidFill>
                  <a:srgbClr val="FFFFFF"/>
                </a:solidFill>
                <a:latin typeface="Calibri"/>
                <a:ea typeface="Calibri"/>
                <a:cs typeface="Calibri"/>
                <a:sym typeface="Calibri"/>
              </a:rPr>
              <a:t>1</a:t>
            </a:r>
            <a:endParaRPr b="0" i="0" sz="1200" u="none" cap="none" strike="noStrike">
              <a:solidFill>
                <a:schemeClr val="dk1"/>
              </a:solidFill>
              <a:latin typeface="Calibri"/>
              <a:ea typeface="Calibri"/>
              <a:cs typeface="Calibri"/>
              <a:sym typeface="Calibri"/>
            </a:endParaRPr>
          </a:p>
        </p:txBody>
      </p:sp>
      <p:sp>
        <p:nvSpPr>
          <p:cNvPr id="1475" name="Google Shape;1475;p52"/>
          <p:cNvSpPr/>
          <p:nvPr/>
        </p:nvSpPr>
        <p:spPr>
          <a:xfrm>
            <a:off x="1088136" y="1499616"/>
            <a:ext cx="4724248" cy="38404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D2A5C"/>
              </a:buClr>
              <a:buSzPts val="1250"/>
              <a:buFont typeface="Calibri"/>
              <a:buNone/>
            </a:pPr>
            <a:r>
              <a:rPr b="1" i="0" lang="en-US" sz="1250" u="none" cap="none" strike="noStrike">
                <a:solidFill>
                  <a:srgbClr val="1D2A5C"/>
                </a:solidFill>
                <a:latin typeface="Calibri"/>
                <a:ea typeface="Calibri"/>
                <a:cs typeface="Calibri"/>
                <a:sym typeface="Calibri"/>
              </a:rPr>
              <a:t>Tamr Vision defect detector</a:t>
            </a:r>
            <a:endParaRPr b="0" i="0" sz="1250" u="none" cap="none" strike="noStrike">
              <a:solidFill>
                <a:schemeClr val="dk1"/>
              </a:solidFill>
              <a:latin typeface="Calibri"/>
              <a:ea typeface="Calibri"/>
              <a:cs typeface="Calibri"/>
              <a:sym typeface="Calibri"/>
            </a:endParaRPr>
          </a:p>
        </p:txBody>
      </p:sp>
      <p:sp>
        <p:nvSpPr>
          <p:cNvPr id="1476" name="Google Shape;1476;p52"/>
          <p:cNvSpPr/>
          <p:nvPr/>
        </p:nvSpPr>
        <p:spPr>
          <a:xfrm>
            <a:off x="685800" y="1920240"/>
            <a:ext cx="5090008" cy="17145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5F6B7A"/>
              </a:buClr>
              <a:buSzPts val="1100"/>
              <a:buFont typeface="Calibri"/>
              <a:buNone/>
            </a:pPr>
            <a:r>
              <a:rPr b="0" i="0" lang="en-US" sz="1100" u="none" cap="none" strike="noStrike">
                <a:solidFill>
                  <a:srgbClr val="5F6B7A"/>
                </a:solidFill>
                <a:latin typeface="Calibri"/>
                <a:ea typeface="Calibri"/>
                <a:cs typeface="Calibri"/>
                <a:sym typeface="Calibri"/>
              </a:rPr>
              <a:t>YOLO11s on 4,200 box-annotated frames finds 5 defect types per fruit at 62 FPS, replacing a whole-frame classifier.</a:t>
            </a:r>
            <a:endParaRPr b="0" i="0" sz="1100" u="none" cap="none" strike="noStrike">
              <a:solidFill>
                <a:schemeClr val="dk1"/>
              </a:solidFill>
              <a:latin typeface="Calibri"/>
              <a:ea typeface="Calibri"/>
              <a:cs typeface="Calibri"/>
              <a:sym typeface="Calibri"/>
            </a:endParaRPr>
          </a:p>
        </p:txBody>
      </p:sp>
      <p:sp>
        <p:nvSpPr>
          <p:cNvPr id="1477" name="Google Shape;1477;p52"/>
          <p:cNvSpPr/>
          <p:nvPr/>
        </p:nvSpPr>
        <p:spPr>
          <a:xfrm>
            <a:off x="6233008" y="1389888"/>
            <a:ext cx="5455768" cy="2354580"/>
          </a:xfrm>
          <a:prstGeom prst="roundRect">
            <a:avLst>
              <a:gd fmla="val 3107" name="adj"/>
            </a:avLst>
          </a:prstGeom>
          <a:solidFill>
            <a:srgbClr val="F2F6F9"/>
          </a:solidFill>
          <a:ln cap="flat" cmpd="sng" w="12700">
            <a:solidFill>
              <a:srgbClr val="D9E2E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8" name="Google Shape;1478;p52"/>
          <p:cNvSpPr/>
          <p:nvPr/>
        </p:nvSpPr>
        <p:spPr>
          <a:xfrm>
            <a:off x="6397600" y="1536192"/>
            <a:ext cx="310896" cy="310896"/>
          </a:xfrm>
          <a:prstGeom prst="ellipse">
            <a:avLst/>
          </a:prstGeom>
          <a:solidFill>
            <a:srgbClr val="29ABE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9" name="Google Shape;1479;p52"/>
          <p:cNvSpPr/>
          <p:nvPr/>
        </p:nvSpPr>
        <p:spPr>
          <a:xfrm>
            <a:off x="6397600" y="1536192"/>
            <a:ext cx="310896" cy="31089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200"/>
              <a:buFont typeface="Calibri"/>
              <a:buNone/>
            </a:pPr>
            <a:r>
              <a:rPr b="1" i="0" lang="en-US" sz="1200" u="none" cap="none" strike="noStrike">
                <a:solidFill>
                  <a:srgbClr val="FFFFFF"/>
                </a:solidFill>
                <a:latin typeface="Calibri"/>
                <a:ea typeface="Calibri"/>
                <a:cs typeface="Calibri"/>
                <a:sym typeface="Calibri"/>
              </a:rPr>
              <a:t>2</a:t>
            </a:r>
            <a:endParaRPr b="0" i="0" sz="1200" u="none" cap="none" strike="noStrike">
              <a:solidFill>
                <a:schemeClr val="dk1"/>
              </a:solidFill>
              <a:latin typeface="Calibri"/>
              <a:ea typeface="Calibri"/>
              <a:cs typeface="Calibri"/>
              <a:sym typeface="Calibri"/>
            </a:endParaRPr>
          </a:p>
        </p:txBody>
      </p:sp>
      <p:sp>
        <p:nvSpPr>
          <p:cNvPr id="1480" name="Google Shape;1480;p52"/>
          <p:cNvSpPr/>
          <p:nvPr/>
        </p:nvSpPr>
        <p:spPr>
          <a:xfrm>
            <a:off x="6818224" y="1499616"/>
            <a:ext cx="4724248" cy="38404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D2A5C"/>
              </a:buClr>
              <a:buSzPts val="1250"/>
              <a:buFont typeface="Calibri"/>
              <a:buNone/>
            </a:pPr>
            <a:r>
              <a:rPr b="1" i="0" lang="en-US" sz="1250" u="none" cap="none" strike="noStrike">
                <a:solidFill>
                  <a:srgbClr val="1D2A5C"/>
                </a:solidFill>
                <a:latin typeface="Calibri"/>
                <a:ea typeface="Calibri"/>
                <a:cs typeface="Calibri"/>
                <a:sym typeface="Calibri"/>
              </a:rPr>
              <a:t>PPE compliance — Jubail</a:t>
            </a:r>
            <a:endParaRPr b="0" i="0" sz="1250" u="none" cap="none" strike="noStrike">
              <a:solidFill>
                <a:schemeClr val="dk1"/>
              </a:solidFill>
              <a:latin typeface="Calibri"/>
              <a:ea typeface="Calibri"/>
              <a:cs typeface="Calibri"/>
              <a:sym typeface="Calibri"/>
            </a:endParaRPr>
          </a:p>
        </p:txBody>
      </p:sp>
      <p:sp>
        <p:nvSpPr>
          <p:cNvPr id="1481" name="Google Shape;1481;p52"/>
          <p:cNvSpPr/>
          <p:nvPr/>
        </p:nvSpPr>
        <p:spPr>
          <a:xfrm>
            <a:off x="6415888" y="1920240"/>
            <a:ext cx="5090008" cy="17145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5F6B7A"/>
              </a:buClr>
              <a:buSzPts val="1100"/>
              <a:buFont typeface="Calibri"/>
              <a:buNone/>
            </a:pPr>
            <a:r>
              <a:rPr b="0" i="0" lang="en-US" sz="1100" u="none" cap="none" strike="noStrike">
                <a:solidFill>
                  <a:srgbClr val="5F6B7A"/>
                </a:solidFill>
                <a:latin typeface="Calibri"/>
                <a:ea typeface="Calibri"/>
                <a:cs typeface="Calibri"/>
                <a:sym typeface="Calibri"/>
              </a:rPr>
              <a:t>Hard-hat and harness violations across 46 site cameras; the spec: no more than 1 missed violation in 20 — a recall constraint.</a:t>
            </a:r>
            <a:endParaRPr b="0" i="0" sz="1100" u="none" cap="none" strike="noStrike">
              <a:solidFill>
                <a:schemeClr val="dk1"/>
              </a:solidFill>
              <a:latin typeface="Calibri"/>
              <a:ea typeface="Calibri"/>
              <a:cs typeface="Calibri"/>
              <a:sym typeface="Calibri"/>
            </a:endParaRPr>
          </a:p>
        </p:txBody>
      </p:sp>
      <p:sp>
        <p:nvSpPr>
          <p:cNvPr id="1482" name="Google Shape;1482;p52"/>
          <p:cNvSpPr/>
          <p:nvPr/>
        </p:nvSpPr>
        <p:spPr>
          <a:xfrm>
            <a:off x="502920" y="4000500"/>
            <a:ext cx="5455768" cy="2354580"/>
          </a:xfrm>
          <a:prstGeom prst="roundRect">
            <a:avLst>
              <a:gd fmla="val 3107" name="adj"/>
            </a:avLst>
          </a:prstGeom>
          <a:solidFill>
            <a:srgbClr val="F2F6F9"/>
          </a:solidFill>
          <a:ln cap="flat" cmpd="sng" w="12700">
            <a:solidFill>
              <a:srgbClr val="D9E2E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3" name="Google Shape;1483;p52"/>
          <p:cNvSpPr/>
          <p:nvPr/>
        </p:nvSpPr>
        <p:spPr>
          <a:xfrm>
            <a:off x="667512" y="4146804"/>
            <a:ext cx="310896" cy="310896"/>
          </a:xfrm>
          <a:prstGeom prst="ellipse">
            <a:avLst/>
          </a:prstGeom>
          <a:solidFill>
            <a:srgbClr val="F5822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4" name="Google Shape;1484;p52"/>
          <p:cNvSpPr/>
          <p:nvPr/>
        </p:nvSpPr>
        <p:spPr>
          <a:xfrm>
            <a:off x="667512" y="4146804"/>
            <a:ext cx="310896" cy="31089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200"/>
              <a:buFont typeface="Calibri"/>
              <a:buNone/>
            </a:pPr>
            <a:r>
              <a:rPr b="1" i="0" lang="en-US" sz="1200" u="none" cap="none" strike="noStrike">
                <a:solidFill>
                  <a:srgbClr val="FFFFFF"/>
                </a:solidFill>
                <a:latin typeface="Calibri"/>
                <a:ea typeface="Calibri"/>
                <a:cs typeface="Calibri"/>
                <a:sym typeface="Calibri"/>
              </a:rPr>
              <a:t>3</a:t>
            </a:r>
            <a:endParaRPr b="0" i="0" sz="1200" u="none" cap="none" strike="noStrike">
              <a:solidFill>
                <a:schemeClr val="dk1"/>
              </a:solidFill>
              <a:latin typeface="Calibri"/>
              <a:ea typeface="Calibri"/>
              <a:cs typeface="Calibri"/>
              <a:sym typeface="Calibri"/>
            </a:endParaRPr>
          </a:p>
        </p:txBody>
      </p:sp>
      <p:sp>
        <p:nvSpPr>
          <p:cNvPr id="1485" name="Google Shape;1485;p52"/>
          <p:cNvSpPr/>
          <p:nvPr/>
        </p:nvSpPr>
        <p:spPr>
          <a:xfrm>
            <a:off x="1088136" y="4110228"/>
            <a:ext cx="4724248" cy="38404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D2A5C"/>
              </a:buClr>
              <a:buSzPts val="1250"/>
              <a:buFont typeface="Calibri"/>
              <a:buNone/>
            </a:pPr>
            <a:r>
              <a:rPr b="1" i="0" lang="en-US" sz="1250" u="none" cap="none" strike="noStrike">
                <a:solidFill>
                  <a:srgbClr val="1D2A5C"/>
                </a:solidFill>
                <a:latin typeface="Calibri"/>
                <a:ea typeface="Calibri"/>
                <a:cs typeface="Calibri"/>
                <a:sym typeface="Calibri"/>
              </a:rPr>
              <a:t>Foreign objects — Al-Kharj</a:t>
            </a:r>
            <a:endParaRPr b="0" i="0" sz="1250" u="none" cap="none" strike="noStrike">
              <a:solidFill>
                <a:schemeClr val="dk1"/>
              </a:solidFill>
              <a:latin typeface="Calibri"/>
              <a:ea typeface="Calibri"/>
              <a:cs typeface="Calibri"/>
              <a:sym typeface="Calibri"/>
            </a:endParaRPr>
          </a:p>
        </p:txBody>
      </p:sp>
      <p:sp>
        <p:nvSpPr>
          <p:cNvPr id="1486" name="Google Shape;1486;p52"/>
          <p:cNvSpPr/>
          <p:nvPr/>
        </p:nvSpPr>
        <p:spPr>
          <a:xfrm>
            <a:off x="685800" y="4530852"/>
            <a:ext cx="5090008" cy="17145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5F6B7A"/>
              </a:buClr>
              <a:buSzPts val="1100"/>
              <a:buFont typeface="Calibri"/>
              <a:buNone/>
            </a:pPr>
            <a:r>
              <a:rPr b="0" i="0" lang="en-US" sz="1100" u="none" cap="none" strike="noStrike">
                <a:solidFill>
                  <a:srgbClr val="5F6B7A"/>
                </a:solidFill>
                <a:latin typeface="Calibri"/>
                <a:ea typeface="Calibri"/>
                <a:cs typeface="Calibri"/>
                <a:sym typeface="Calibri"/>
              </a:rPr>
              <a:t>Poultry line detects glove fragments and plastic; one escape triggers a retailer audit — extreme recall, budgeted false alarms.</a:t>
            </a:r>
            <a:endParaRPr b="0" i="0" sz="1100" u="none" cap="none" strike="noStrike">
              <a:solidFill>
                <a:schemeClr val="dk1"/>
              </a:solidFill>
              <a:latin typeface="Calibri"/>
              <a:ea typeface="Calibri"/>
              <a:cs typeface="Calibri"/>
              <a:sym typeface="Calibri"/>
            </a:endParaRPr>
          </a:p>
        </p:txBody>
      </p:sp>
      <p:sp>
        <p:nvSpPr>
          <p:cNvPr id="1487" name="Google Shape;1487;p52"/>
          <p:cNvSpPr/>
          <p:nvPr/>
        </p:nvSpPr>
        <p:spPr>
          <a:xfrm>
            <a:off x="6233008" y="4000500"/>
            <a:ext cx="5455768" cy="2354580"/>
          </a:xfrm>
          <a:prstGeom prst="roundRect">
            <a:avLst>
              <a:gd fmla="val 3107" name="adj"/>
            </a:avLst>
          </a:prstGeom>
          <a:solidFill>
            <a:srgbClr val="F2F6F9"/>
          </a:solidFill>
          <a:ln cap="flat" cmpd="sng" w="12700">
            <a:solidFill>
              <a:srgbClr val="D9E2E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8" name="Google Shape;1488;p52"/>
          <p:cNvSpPr/>
          <p:nvPr/>
        </p:nvSpPr>
        <p:spPr>
          <a:xfrm>
            <a:off x="6397600" y="4146804"/>
            <a:ext cx="310896" cy="310896"/>
          </a:xfrm>
          <a:prstGeom prst="ellipse">
            <a:avLst/>
          </a:prstGeom>
          <a:solidFill>
            <a:srgbClr val="8DC63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9" name="Google Shape;1489;p52"/>
          <p:cNvSpPr/>
          <p:nvPr/>
        </p:nvSpPr>
        <p:spPr>
          <a:xfrm>
            <a:off x="6397600" y="4146804"/>
            <a:ext cx="310896" cy="31089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200"/>
              <a:buFont typeface="Calibri"/>
              <a:buNone/>
            </a:pPr>
            <a:r>
              <a:rPr b="1" i="0" lang="en-US" sz="1200" u="none" cap="none" strike="noStrike">
                <a:solidFill>
                  <a:srgbClr val="FFFFFF"/>
                </a:solidFill>
                <a:latin typeface="Calibri"/>
                <a:ea typeface="Calibri"/>
                <a:cs typeface="Calibri"/>
                <a:sym typeface="Calibri"/>
              </a:rPr>
              <a:t>4</a:t>
            </a:r>
            <a:endParaRPr b="0" i="0" sz="1200" u="none" cap="none" strike="noStrike">
              <a:solidFill>
                <a:schemeClr val="dk1"/>
              </a:solidFill>
              <a:latin typeface="Calibri"/>
              <a:ea typeface="Calibri"/>
              <a:cs typeface="Calibri"/>
              <a:sym typeface="Calibri"/>
            </a:endParaRPr>
          </a:p>
        </p:txBody>
      </p:sp>
      <p:sp>
        <p:nvSpPr>
          <p:cNvPr id="1490" name="Google Shape;1490;p52"/>
          <p:cNvSpPr/>
          <p:nvPr/>
        </p:nvSpPr>
        <p:spPr>
          <a:xfrm>
            <a:off x="6818224" y="4110228"/>
            <a:ext cx="4724248" cy="38404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D2A5C"/>
              </a:buClr>
              <a:buSzPts val="1250"/>
              <a:buFont typeface="Calibri"/>
              <a:buNone/>
            </a:pPr>
            <a:r>
              <a:rPr b="1" i="0" lang="en-US" sz="1250" u="none" cap="none" strike="noStrike">
                <a:solidFill>
                  <a:srgbClr val="1D2A5C"/>
                </a:solidFill>
                <a:latin typeface="Calibri"/>
                <a:ea typeface="Calibri"/>
                <a:cs typeface="Calibri"/>
                <a:sym typeface="Calibri"/>
              </a:rPr>
              <a:t>The common pattern</a:t>
            </a:r>
            <a:endParaRPr b="0" i="0" sz="1250" u="none" cap="none" strike="noStrike">
              <a:solidFill>
                <a:schemeClr val="dk1"/>
              </a:solidFill>
              <a:latin typeface="Calibri"/>
              <a:ea typeface="Calibri"/>
              <a:cs typeface="Calibri"/>
              <a:sym typeface="Calibri"/>
            </a:endParaRPr>
          </a:p>
        </p:txBody>
      </p:sp>
      <p:sp>
        <p:nvSpPr>
          <p:cNvPr id="1491" name="Google Shape;1491;p52"/>
          <p:cNvSpPr/>
          <p:nvPr/>
        </p:nvSpPr>
        <p:spPr>
          <a:xfrm>
            <a:off x="6415888" y="4530852"/>
            <a:ext cx="5090008" cy="17145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5F6B7A"/>
              </a:buClr>
              <a:buSzPts val="1100"/>
              <a:buFont typeface="Calibri"/>
              <a:buNone/>
            </a:pPr>
            <a:r>
              <a:rPr b="0" i="0" lang="en-US" sz="1100" u="none" cap="none" strike="noStrike">
                <a:solidFill>
                  <a:srgbClr val="5F6B7A"/>
                </a:solidFill>
                <a:latin typeface="Calibri"/>
                <a:ea typeface="Calibri"/>
                <a:cs typeface="Calibri"/>
                <a:sym typeface="Calibri"/>
              </a:rPr>
              <a:t>The deliverable is never an accuracy number: it is a thresholded decision with a miss rate and a false-alarm budget.</a:t>
            </a:r>
            <a:endParaRPr b="0" i="0" sz="1100" u="none" cap="none" strike="noStrike">
              <a:solidFill>
                <a:schemeClr val="dk1"/>
              </a:solidFill>
              <a:latin typeface="Calibri"/>
              <a:ea typeface="Calibri"/>
              <a:cs typeface="Calibri"/>
              <a:sym typeface="Calibri"/>
            </a:endParaRPr>
          </a:p>
        </p:txBody>
      </p:sp>
    </p:spTree>
  </p:cSld>
  <p:clrMapOvr>
    <a:masterClrMapping/>
  </p:clrMapOvr>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496" name="Shape 1496"/>
        <p:cNvGrpSpPr/>
        <p:nvPr/>
      </p:nvGrpSpPr>
      <p:grpSpPr>
        <a:xfrm>
          <a:off x="0" y="0"/>
          <a:ext cx="0" cy="0"/>
          <a:chOff x="0" y="0"/>
          <a:chExt cx="0" cy="0"/>
        </a:xfrm>
      </p:grpSpPr>
      <p:sp>
        <p:nvSpPr>
          <p:cNvPr id="1497" name="Google Shape;1497;p53"/>
          <p:cNvSpPr/>
          <p:nvPr/>
        </p:nvSpPr>
        <p:spPr>
          <a:xfrm>
            <a:off x="502920" y="274320"/>
            <a:ext cx="9646920" cy="56692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D2A5C"/>
              </a:buClr>
              <a:buSzPts val="2700"/>
              <a:buFont typeface="Calibri"/>
              <a:buNone/>
            </a:pPr>
            <a:r>
              <a:rPr b="1" i="0" lang="en-US" sz="2700" u="none" cap="none" strike="noStrike">
                <a:solidFill>
                  <a:srgbClr val="1D2A5C"/>
                </a:solidFill>
                <a:latin typeface="Calibri"/>
                <a:ea typeface="Calibri"/>
                <a:cs typeface="Calibri"/>
                <a:sym typeface="Calibri"/>
              </a:rPr>
              <a:t>Module 3 Learning Objectives</a:t>
            </a:r>
            <a:endParaRPr b="0" i="0" sz="2700" u="none" cap="none" strike="noStrike">
              <a:solidFill>
                <a:schemeClr val="dk1"/>
              </a:solidFill>
              <a:latin typeface="Calibri"/>
              <a:ea typeface="Calibri"/>
              <a:cs typeface="Calibri"/>
              <a:sym typeface="Calibri"/>
            </a:endParaRPr>
          </a:p>
        </p:txBody>
      </p:sp>
      <p:sp>
        <p:nvSpPr>
          <p:cNvPr id="1498" name="Google Shape;1498;p53"/>
          <p:cNvSpPr/>
          <p:nvPr/>
        </p:nvSpPr>
        <p:spPr>
          <a:xfrm>
            <a:off x="502920" y="859536"/>
            <a:ext cx="9646920" cy="31089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F6B7A"/>
              </a:buClr>
              <a:buSzPts val="1250"/>
              <a:buFont typeface="Arial"/>
              <a:buNone/>
            </a:pPr>
            <a:r>
              <a:rPr b="0" i="0" lang="en-US" sz="1250" u="none" cap="none" strike="noStrike">
                <a:solidFill>
                  <a:srgbClr val="5F6B7A"/>
                </a:solidFill>
                <a:latin typeface="Arial"/>
                <a:ea typeface="Arial"/>
                <a:cs typeface="Arial"/>
                <a:sym typeface="Arial"/>
              </a:rPr>
              <a:t>أهداف التعلم للوحدة الثالثة</a:t>
            </a:r>
            <a:endParaRPr b="0" i="0" sz="1250" u="none" cap="none" strike="noStrike">
              <a:solidFill>
                <a:schemeClr val="dk1"/>
              </a:solidFill>
              <a:latin typeface="Calibri"/>
              <a:ea typeface="Calibri"/>
              <a:cs typeface="Calibri"/>
              <a:sym typeface="Calibri"/>
            </a:endParaRPr>
          </a:p>
        </p:txBody>
      </p:sp>
      <p:pic>
        <p:nvPicPr>
          <p:cNvPr descr="/sessions/blissful-determined-ritchie/build/assets/sdaia_logo.png" id="1499" name="Google Shape;1499;p53"/>
          <p:cNvPicPr preferRelativeResize="0"/>
          <p:nvPr/>
        </p:nvPicPr>
        <p:blipFill rotWithShape="1">
          <a:blip r:embed="rId3">
            <a:alphaModFix/>
          </a:blip>
          <a:srcRect b="0" l="0" r="0" t="0"/>
          <a:stretch/>
        </p:blipFill>
        <p:spPr>
          <a:xfrm>
            <a:off x="10625328" y="310896"/>
            <a:ext cx="1078992" cy="264111"/>
          </a:xfrm>
          <a:prstGeom prst="rect">
            <a:avLst/>
          </a:prstGeom>
          <a:noFill/>
          <a:ln>
            <a:noFill/>
          </a:ln>
        </p:spPr>
      </p:pic>
      <p:sp>
        <p:nvSpPr>
          <p:cNvPr id="1500" name="Google Shape;1500;p53"/>
          <p:cNvSpPr/>
          <p:nvPr/>
        </p:nvSpPr>
        <p:spPr>
          <a:xfrm>
            <a:off x="502920" y="6528816"/>
            <a:ext cx="8686800"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A79D"/>
              </a:buClr>
              <a:buSzPts val="800"/>
              <a:buFont typeface="Calibri"/>
              <a:buNone/>
            </a:pPr>
            <a:r>
              <a:rPr b="1" i="0" lang="en-US" sz="800" u="none" cap="none" strike="noStrike">
                <a:solidFill>
                  <a:srgbClr val="00A79D"/>
                </a:solidFill>
                <a:latin typeface="Calibri"/>
                <a:ea typeface="Calibri"/>
                <a:cs typeface="Calibri"/>
                <a:sym typeface="Calibri"/>
              </a:rPr>
              <a:t>MODULE 3   </a:t>
            </a:r>
            <a:r>
              <a:rPr b="0" i="0" lang="en-US" sz="800" u="none" cap="none" strike="noStrike">
                <a:solidFill>
                  <a:srgbClr val="8A96A6"/>
                </a:solidFill>
                <a:latin typeface="Calibri"/>
                <a:ea typeface="Calibri"/>
                <a:cs typeface="Calibri"/>
                <a:sym typeface="Calibri"/>
              </a:rPr>
              <a:t>SDA-AIE-212 · Computer Vision Systems Development</a:t>
            </a:r>
            <a:endParaRPr b="0" i="0" sz="800" u="none" cap="none" strike="noStrike">
              <a:solidFill>
                <a:schemeClr val="dk1"/>
              </a:solidFill>
              <a:latin typeface="Calibri"/>
              <a:ea typeface="Calibri"/>
              <a:cs typeface="Calibri"/>
              <a:sym typeface="Calibri"/>
            </a:endParaRPr>
          </a:p>
        </p:txBody>
      </p:sp>
      <p:sp>
        <p:nvSpPr>
          <p:cNvPr id="1501" name="Google Shape;1501;p53"/>
          <p:cNvSpPr/>
          <p:nvPr/>
        </p:nvSpPr>
        <p:spPr>
          <a:xfrm>
            <a:off x="11292840" y="6528816"/>
            <a:ext cx="411480" cy="219456"/>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8A96A6"/>
              </a:buClr>
              <a:buSzPts val="900"/>
              <a:buFont typeface="Calibri"/>
              <a:buNone/>
            </a:pPr>
            <a:r>
              <a:rPr b="0" i="0" lang="en-US" sz="900" u="none" cap="none" strike="noStrike">
                <a:solidFill>
                  <a:srgbClr val="8A96A6"/>
                </a:solidFill>
                <a:latin typeface="Calibri"/>
                <a:ea typeface="Calibri"/>
                <a:cs typeface="Calibri"/>
                <a:sym typeface="Calibri"/>
              </a:rPr>
              <a:t>53</a:t>
            </a:r>
            <a:endParaRPr b="0" i="0" sz="900" u="none" cap="none" strike="noStrike">
              <a:solidFill>
                <a:schemeClr val="dk1"/>
              </a:solidFill>
              <a:latin typeface="Calibri"/>
              <a:ea typeface="Calibri"/>
              <a:cs typeface="Calibri"/>
              <a:sym typeface="Calibri"/>
            </a:endParaRPr>
          </a:p>
        </p:txBody>
      </p:sp>
      <p:sp>
        <p:nvSpPr>
          <p:cNvPr id="1502" name="Google Shape;1502;p53"/>
          <p:cNvSpPr/>
          <p:nvPr/>
        </p:nvSpPr>
        <p:spPr>
          <a:xfrm>
            <a:off x="502920" y="1499616"/>
            <a:ext cx="11183112" cy="832104"/>
          </a:xfrm>
          <a:prstGeom prst="roundRect">
            <a:avLst>
              <a:gd fmla="val 7692" name="adj"/>
            </a:avLst>
          </a:prstGeom>
          <a:solidFill>
            <a:srgbClr val="FAFCFE"/>
          </a:solidFill>
          <a:ln cap="flat" cmpd="sng" w="9525">
            <a:solidFill>
              <a:srgbClr val="D9E2E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3" name="Google Shape;1503;p53"/>
          <p:cNvSpPr/>
          <p:nvPr/>
        </p:nvSpPr>
        <p:spPr>
          <a:xfrm>
            <a:off x="649224" y="1751076"/>
            <a:ext cx="329184" cy="329184"/>
          </a:xfrm>
          <a:prstGeom prst="ellipse">
            <a:avLst/>
          </a:prstGeom>
          <a:solidFill>
            <a:srgbClr val="00A79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4" name="Google Shape;1504;p53"/>
          <p:cNvSpPr/>
          <p:nvPr/>
        </p:nvSpPr>
        <p:spPr>
          <a:xfrm>
            <a:off x="649224" y="1751076"/>
            <a:ext cx="329184" cy="32918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150"/>
              <a:buFont typeface="Calibri"/>
              <a:buNone/>
            </a:pPr>
            <a:r>
              <a:rPr b="1" i="0" lang="en-US" sz="1150" u="none" cap="none" strike="noStrike">
                <a:solidFill>
                  <a:srgbClr val="FFFFFF"/>
                </a:solidFill>
                <a:latin typeface="Calibri"/>
                <a:ea typeface="Calibri"/>
                <a:cs typeface="Calibri"/>
                <a:sym typeface="Calibri"/>
              </a:rPr>
              <a:t>3.1</a:t>
            </a:r>
            <a:endParaRPr b="0" i="0" sz="1150" u="none" cap="none" strike="noStrike">
              <a:solidFill>
                <a:schemeClr val="dk1"/>
              </a:solidFill>
              <a:latin typeface="Calibri"/>
              <a:ea typeface="Calibri"/>
              <a:cs typeface="Calibri"/>
              <a:sym typeface="Calibri"/>
            </a:endParaRPr>
          </a:p>
        </p:txBody>
      </p:sp>
      <p:sp>
        <p:nvSpPr>
          <p:cNvPr id="1505" name="Google Shape;1505;p53"/>
          <p:cNvSpPr/>
          <p:nvPr/>
        </p:nvSpPr>
        <p:spPr>
          <a:xfrm>
            <a:off x="1143000" y="1499616"/>
            <a:ext cx="8321040" cy="83210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3293B"/>
              </a:buClr>
              <a:buSzPts val="1250"/>
              <a:buFont typeface="Calibri"/>
              <a:buNone/>
            </a:pPr>
            <a:r>
              <a:rPr b="0" i="0" lang="en-US" sz="1250" u="none" cap="none" strike="noStrike">
                <a:solidFill>
                  <a:srgbClr val="23293B"/>
                </a:solidFill>
                <a:latin typeface="Calibri"/>
                <a:ea typeface="Calibri"/>
                <a:cs typeface="Calibri"/>
                <a:sym typeface="Calibri"/>
              </a:rPr>
              <a:t>Formulate detection: boxes, classes, confidence; choose it over classification or segmentation deliberately</a:t>
            </a:r>
            <a:endParaRPr b="0" i="0" sz="1250" u="none" cap="none" strike="noStrike">
              <a:solidFill>
                <a:schemeClr val="dk1"/>
              </a:solidFill>
              <a:latin typeface="Calibri"/>
              <a:ea typeface="Calibri"/>
              <a:cs typeface="Calibri"/>
              <a:sym typeface="Calibri"/>
            </a:endParaRPr>
          </a:p>
        </p:txBody>
      </p:sp>
      <p:sp>
        <p:nvSpPr>
          <p:cNvPr id="1506" name="Google Shape;1506;p53"/>
          <p:cNvSpPr/>
          <p:nvPr/>
        </p:nvSpPr>
        <p:spPr>
          <a:xfrm>
            <a:off x="9646920" y="1741932"/>
            <a:ext cx="658368" cy="310896"/>
          </a:xfrm>
          <a:prstGeom prst="roundRect">
            <a:avLst>
              <a:gd fmla="val 50000" name="adj"/>
            </a:avLst>
          </a:prstGeom>
          <a:solidFill>
            <a:srgbClr val="E9F6F5"/>
          </a:solidFill>
          <a:ln cap="flat" cmpd="sng" w="9525">
            <a:solidFill>
              <a:srgbClr val="00A79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7" name="Google Shape;1507;p53"/>
          <p:cNvSpPr/>
          <p:nvPr/>
        </p:nvSpPr>
        <p:spPr>
          <a:xfrm>
            <a:off x="9646920" y="1741932"/>
            <a:ext cx="658368" cy="31089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56A63"/>
              </a:buClr>
              <a:buSzPts val="950"/>
              <a:buFont typeface="Calibri"/>
              <a:buNone/>
            </a:pPr>
            <a:r>
              <a:rPr b="1" i="0" lang="en-US" sz="950" u="none" cap="none" strike="noStrike">
                <a:solidFill>
                  <a:srgbClr val="056A63"/>
                </a:solidFill>
                <a:latin typeface="Calibri"/>
                <a:ea typeface="Calibri"/>
                <a:cs typeface="Calibri"/>
                <a:sym typeface="Calibri"/>
              </a:rPr>
              <a:t>LO2</a:t>
            </a:r>
            <a:endParaRPr b="0" i="0" sz="950" u="none" cap="none" strike="noStrike">
              <a:solidFill>
                <a:schemeClr val="dk1"/>
              </a:solidFill>
              <a:latin typeface="Calibri"/>
              <a:ea typeface="Calibri"/>
              <a:cs typeface="Calibri"/>
              <a:sym typeface="Calibri"/>
            </a:endParaRPr>
          </a:p>
        </p:txBody>
      </p:sp>
      <p:sp>
        <p:nvSpPr>
          <p:cNvPr id="1508" name="Google Shape;1508;p53"/>
          <p:cNvSpPr/>
          <p:nvPr/>
        </p:nvSpPr>
        <p:spPr>
          <a:xfrm>
            <a:off x="502920" y="2459736"/>
            <a:ext cx="11183112" cy="832104"/>
          </a:xfrm>
          <a:prstGeom prst="roundRect">
            <a:avLst>
              <a:gd fmla="val 7692" name="adj"/>
            </a:avLst>
          </a:prstGeom>
          <a:solidFill>
            <a:srgbClr val="F2F6F9"/>
          </a:solidFill>
          <a:ln cap="flat" cmpd="sng" w="9525">
            <a:solidFill>
              <a:srgbClr val="D9E2E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9" name="Google Shape;1509;p53"/>
          <p:cNvSpPr/>
          <p:nvPr/>
        </p:nvSpPr>
        <p:spPr>
          <a:xfrm>
            <a:off x="649224" y="2711196"/>
            <a:ext cx="329184" cy="329184"/>
          </a:xfrm>
          <a:prstGeom prst="ellipse">
            <a:avLst/>
          </a:prstGeom>
          <a:solidFill>
            <a:srgbClr val="00A79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0" name="Google Shape;1510;p53"/>
          <p:cNvSpPr/>
          <p:nvPr/>
        </p:nvSpPr>
        <p:spPr>
          <a:xfrm>
            <a:off x="649224" y="2711196"/>
            <a:ext cx="329184" cy="32918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150"/>
              <a:buFont typeface="Calibri"/>
              <a:buNone/>
            </a:pPr>
            <a:r>
              <a:rPr b="1" i="0" lang="en-US" sz="1150" u="none" cap="none" strike="noStrike">
                <a:solidFill>
                  <a:srgbClr val="FFFFFF"/>
                </a:solidFill>
                <a:latin typeface="Calibri"/>
                <a:ea typeface="Calibri"/>
                <a:cs typeface="Calibri"/>
                <a:sym typeface="Calibri"/>
              </a:rPr>
              <a:t>3.2</a:t>
            </a:r>
            <a:endParaRPr b="0" i="0" sz="1150" u="none" cap="none" strike="noStrike">
              <a:solidFill>
                <a:schemeClr val="dk1"/>
              </a:solidFill>
              <a:latin typeface="Calibri"/>
              <a:ea typeface="Calibri"/>
              <a:cs typeface="Calibri"/>
              <a:sym typeface="Calibri"/>
            </a:endParaRPr>
          </a:p>
        </p:txBody>
      </p:sp>
      <p:sp>
        <p:nvSpPr>
          <p:cNvPr id="1511" name="Google Shape;1511;p53"/>
          <p:cNvSpPr/>
          <p:nvPr/>
        </p:nvSpPr>
        <p:spPr>
          <a:xfrm>
            <a:off x="1143000" y="2459736"/>
            <a:ext cx="8321040" cy="83210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3293B"/>
              </a:buClr>
              <a:buSzPts val="1250"/>
              <a:buFont typeface="Calibri"/>
              <a:buNone/>
            </a:pPr>
            <a:r>
              <a:rPr b="0" i="0" lang="en-US" sz="1250" u="none" cap="none" strike="noStrike">
                <a:solidFill>
                  <a:srgbClr val="23293B"/>
                </a:solidFill>
                <a:latin typeface="Calibri"/>
                <a:ea typeface="Calibri"/>
                <a:cs typeface="Calibri"/>
                <a:sym typeface="Calibri"/>
              </a:rPr>
              <a:t>Explain single-stage anchor-free anatomy: backbone, neck (FPN/PAN), decoupled head, loss components</a:t>
            </a:r>
            <a:endParaRPr b="0" i="0" sz="1250" u="none" cap="none" strike="noStrike">
              <a:solidFill>
                <a:schemeClr val="dk1"/>
              </a:solidFill>
              <a:latin typeface="Calibri"/>
              <a:ea typeface="Calibri"/>
              <a:cs typeface="Calibri"/>
              <a:sym typeface="Calibri"/>
            </a:endParaRPr>
          </a:p>
        </p:txBody>
      </p:sp>
      <p:sp>
        <p:nvSpPr>
          <p:cNvPr id="1512" name="Google Shape;1512;p53"/>
          <p:cNvSpPr/>
          <p:nvPr/>
        </p:nvSpPr>
        <p:spPr>
          <a:xfrm>
            <a:off x="9646920" y="2702052"/>
            <a:ext cx="658368" cy="310896"/>
          </a:xfrm>
          <a:prstGeom prst="roundRect">
            <a:avLst>
              <a:gd fmla="val 50000" name="adj"/>
            </a:avLst>
          </a:prstGeom>
          <a:solidFill>
            <a:srgbClr val="E9F6F5"/>
          </a:solidFill>
          <a:ln cap="flat" cmpd="sng" w="9525">
            <a:solidFill>
              <a:srgbClr val="00A79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3" name="Google Shape;1513;p53"/>
          <p:cNvSpPr/>
          <p:nvPr/>
        </p:nvSpPr>
        <p:spPr>
          <a:xfrm>
            <a:off x="9646920" y="2702052"/>
            <a:ext cx="658368" cy="31089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56A63"/>
              </a:buClr>
              <a:buSzPts val="950"/>
              <a:buFont typeface="Calibri"/>
              <a:buNone/>
            </a:pPr>
            <a:r>
              <a:rPr b="1" i="0" lang="en-US" sz="950" u="none" cap="none" strike="noStrike">
                <a:solidFill>
                  <a:srgbClr val="056A63"/>
                </a:solidFill>
                <a:latin typeface="Calibri"/>
                <a:ea typeface="Calibri"/>
                <a:cs typeface="Calibri"/>
                <a:sym typeface="Calibri"/>
              </a:rPr>
              <a:t>LO2</a:t>
            </a:r>
            <a:endParaRPr b="0" i="0" sz="950" u="none" cap="none" strike="noStrike">
              <a:solidFill>
                <a:schemeClr val="dk1"/>
              </a:solidFill>
              <a:latin typeface="Calibri"/>
              <a:ea typeface="Calibri"/>
              <a:cs typeface="Calibri"/>
              <a:sym typeface="Calibri"/>
            </a:endParaRPr>
          </a:p>
        </p:txBody>
      </p:sp>
      <p:sp>
        <p:nvSpPr>
          <p:cNvPr id="1514" name="Google Shape;1514;p53"/>
          <p:cNvSpPr/>
          <p:nvPr/>
        </p:nvSpPr>
        <p:spPr>
          <a:xfrm>
            <a:off x="502920" y="3419856"/>
            <a:ext cx="11183112" cy="832104"/>
          </a:xfrm>
          <a:prstGeom prst="roundRect">
            <a:avLst>
              <a:gd fmla="val 7692" name="adj"/>
            </a:avLst>
          </a:prstGeom>
          <a:solidFill>
            <a:srgbClr val="FAFCFE"/>
          </a:solidFill>
          <a:ln cap="flat" cmpd="sng" w="9525">
            <a:solidFill>
              <a:srgbClr val="D9E2E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5" name="Google Shape;1515;p53"/>
          <p:cNvSpPr/>
          <p:nvPr/>
        </p:nvSpPr>
        <p:spPr>
          <a:xfrm>
            <a:off x="649224" y="3671316"/>
            <a:ext cx="329184" cy="329184"/>
          </a:xfrm>
          <a:prstGeom prst="ellipse">
            <a:avLst/>
          </a:prstGeom>
          <a:solidFill>
            <a:srgbClr val="00A79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6" name="Google Shape;1516;p53"/>
          <p:cNvSpPr/>
          <p:nvPr/>
        </p:nvSpPr>
        <p:spPr>
          <a:xfrm>
            <a:off x="649224" y="3671316"/>
            <a:ext cx="329184" cy="32918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150"/>
              <a:buFont typeface="Calibri"/>
              <a:buNone/>
            </a:pPr>
            <a:r>
              <a:rPr b="1" i="0" lang="en-US" sz="1150" u="none" cap="none" strike="noStrike">
                <a:solidFill>
                  <a:srgbClr val="FFFFFF"/>
                </a:solidFill>
                <a:latin typeface="Calibri"/>
                <a:ea typeface="Calibri"/>
                <a:cs typeface="Calibri"/>
                <a:sym typeface="Calibri"/>
              </a:rPr>
              <a:t>3.3</a:t>
            </a:r>
            <a:endParaRPr b="0" i="0" sz="1150" u="none" cap="none" strike="noStrike">
              <a:solidFill>
                <a:schemeClr val="dk1"/>
              </a:solidFill>
              <a:latin typeface="Calibri"/>
              <a:ea typeface="Calibri"/>
              <a:cs typeface="Calibri"/>
              <a:sym typeface="Calibri"/>
            </a:endParaRPr>
          </a:p>
        </p:txBody>
      </p:sp>
      <p:sp>
        <p:nvSpPr>
          <p:cNvPr id="1517" name="Google Shape;1517;p53"/>
          <p:cNvSpPr/>
          <p:nvPr/>
        </p:nvSpPr>
        <p:spPr>
          <a:xfrm>
            <a:off x="1143000" y="3419856"/>
            <a:ext cx="8321040" cy="83210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3293B"/>
              </a:buClr>
              <a:buSzPts val="1250"/>
              <a:buFont typeface="Calibri"/>
              <a:buNone/>
            </a:pPr>
            <a:r>
              <a:rPr b="0" i="0" lang="en-US" sz="1250" u="none" cap="none" strike="noStrike">
                <a:solidFill>
                  <a:srgbClr val="23293B"/>
                </a:solidFill>
                <a:latin typeface="Calibri"/>
                <a:ea typeface="Calibri"/>
                <a:cs typeface="Calibri"/>
                <a:sym typeface="Calibri"/>
              </a:rPr>
              <a:t>Prepare datasets in YOLO format and train with Ultralytics using justified hyperparameters</a:t>
            </a:r>
            <a:endParaRPr b="0" i="0" sz="1250" u="none" cap="none" strike="noStrike">
              <a:solidFill>
                <a:schemeClr val="dk1"/>
              </a:solidFill>
              <a:latin typeface="Calibri"/>
              <a:ea typeface="Calibri"/>
              <a:cs typeface="Calibri"/>
              <a:sym typeface="Calibri"/>
            </a:endParaRPr>
          </a:p>
        </p:txBody>
      </p:sp>
      <p:sp>
        <p:nvSpPr>
          <p:cNvPr id="1518" name="Google Shape;1518;p53"/>
          <p:cNvSpPr/>
          <p:nvPr/>
        </p:nvSpPr>
        <p:spPr>
          <a:xfrm>
            <a:off x="9646920" y="3662172"/>
            <a:ext cx="658368" cy="310896"/>
          </a:xfrm>
          <a:prstGeom prst="roundRect">
            <a:avLst>
              <a:gd fmla="val 50000" name="adj"/>
            </a:avLst>
          </a:prstGeom>
          <a:solidFill>
            <a:srgbClr val="E9F6F5"/>
          </a:solidFill>
          <a:ln cap="flat" cmpd="sng" w="9525">
            <a:solidFill>
              <a:srgbClr val="00A79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9" name="Google Shape;1519;p53"/>
          <p:cNvSpPr/>
          <p:nvPr/>
        </p:nvSpPr>
        <p:spPr>
          <a:xfrm>
            <a:off x="9646920" y="3662172"/>
            <a:ext cx="658368" cy="31089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56A63"/>
              </a:buClr>
              <a:buSzPts val="950"/>
              <a:buFont typeface="Calibri"/>
              <a:buNone/>
            </a:pPr>
            <a:r>
              <a:rPr b="1" i="0" lang="en-US" sz="950" u="none" cap="none" strike="noStrike">
                <a:solidFill>
                  <a:srgbClr val="056A63"/>
                </a:solidFill>
                <a:latin typeface="Calibri"/>
                <a:ea typeface="Calibri"/>
                <a:cs typeface="Calibri"/>
                <a:sym typeface="Calibri"/>
              </a:rPr>
              <a:t>LO2</a:t>
            </a:r>
            <a:endParaRPr b="0" i="0" sz="950" u="none" cap="none" strike="noStrike">
              <a:solidFill>
                <a:schemeClr val="dk1"/>
              </a:solidFill>
              <a:latin typeface="Calibri"/>
              <a:ea typeface="Calibri"/>
              <a:cs typeface="Calibri"/>
              <a:sym typeface="Calibri"/>
            </a:endParaRPr>
          </a:p>
        </p:txBody>
      </p:sp>
      <p:sp>
        <p:nvSpPr>
          <p:cNvPr id="1520" name="Google Shape;1520;p53"/>
          <p:cNvSpPr/>
          <p:nvPr/>
        </p:nvSpPr>
        <p:spPr>
          <a:xfrm>
            <a:off x="10360152" y="3662172"/>
            <a:ext cx="658368" cy="310896"/>
          </a:xfrm>
          <a:prstGeom prst="roundRect">
            <a:avLst>
              <a:gd fmla="val 50000" name="adj"/>
            </a:avLst>
          </a:prstGeom>
          <a:solidFill>
            <a:srgbClr val="E9F6F5"/>
          </a:solidFill>
          <a:ln cap="flat" cmpd="sng" w="9525">
            <a:solidFill>
              <a:srgbClr val="00A79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1" name="Google Shape;1521;p53"/>
          <p:cNvSpPr/>
          <p:nvPr/>
        </p:nvSpPr>
        <p:spPr>
          <a:xfrm>
            <a:off x="10360152" y="3662172"/>
            <a:ext cx="658368" cy="31089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56A63"/>
              </a:buClr>
              <a:buSzPts val="950"/>
              <a:buFont typeface="Calibri"/>
              <a:buNone/>
            </a:pPr>
            <a:r>
              <a:rPr b="1" i="0" lang="en-US" sz="950" u="none" cap="none" strike="noStrike">
                <a:solidFill>
                  <a:srgbClr val="056A63"/>
                </a:solidFill>
                <a:latin typeface="Calibri"/>
                <a:ea typeface="Calibri"/>
                <a:cs typeface="Calibri"/>
                <a:sym typeface="Calibri"/>
              </a:rPr>
              <a:t>LO4</a:t>
            </a:r>
            <a:endParaRPr b="0" i="0" sz="950" u="none" cap="none" strike="noStrike">
              <a:solidFill>
                <a:schemeClr val="dk1"/>
              </a:solidFill>
              <a:latin typeface="Calibri"/>
              <a:ea typeface="Calibri"/>
              <a:cs typeface="Calibri"/>
              <a:sym typeface="Calibri"/>
            </a:endParaRPr>
          </a:p>
        </p:txBody>
      </p:sp>
      <p:sp>
        <p:nvSpPr>
          <p:cNvPr id="1522" name="Google Shape;1522;p53"/>
          <p:cNvSpPr/>
          <p:nvPr/>
        </p:nvSpPr>
        <p:spPr>
          <a:xfrm>
            <a:off x="502920" y="4379976"/>
            <a:ext cx="11183112" cy="832104"/>
          </a:xfrm>
          <a:prstGeom prst="roundRect">
            <a:avLst>
              <a:gd fmla="val 7692" name="adj"/>
            </a:avLst>
          </a:prstGeom>
          <a:solidFill>
            <a:srgbClr val="F2F6F9"/>
          </a:solidFill>
          <a:ln cap="flat" cmpd="sng" w="9525">
            <a:solidFill>
              <a:srgbClr val="D9E2E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3" name="Google Shape;1523;p53"/>
          <p:cNvSpPr/>
          <p:nvPr/>
        </p:nvSpPr>
        <p:spPr>
          <a:xfrm>
            <a:off x="649224" y="4631436"/>
            <a:ext cx="329184" cy="329184"/>
          </a:xfrm>
          <a:prstGeom prst="ellipse">
            <a:avLst/>
          </a:prstGeom>
          <a:solidFill>
            <a:srgbClr val="00A79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4" name="Google Shape;1524;p53"/>
          <p:cNvSpPr/>
          <p:nvPr/>
        </p:nvSpPr>
        <p:spPr>
          <a:xfrm>
            <a:off x="649224" y="4631436"/>
            <a:ext cx="329184" cy="32918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150"/>
              <a:buFont typeface="Calibri"/>
              <a:buNone/>
            </a:pPr>
            <a:r>
              <a:rPr b="1" i="0" lang="en-US" sz="1150" u="none" cap="none" strike="noStrike">
                <a:solidFill>
                  <a:srgbClr val="FFFFFF"/>
                </a:solidFill>
                <a:latin typeface="Calibri"/>
                <a:ea typeface="Calibri"/>
                <a:cs typeface="Calibri"/>
                <a:sym typeface="Calibri"/>
              </a:rPr>
              <a:t>3.4</a:t>
            </a:r>
            <a:endParaRPr b="0" i="0" sz="1150" u="none" cap="none" strike="noStrike">
              <a:solidFill>
                <a:schemeClr val="dk1"/>
              </a:solidFill>
              <a:latin typeface="Calibri"/>
              <a:ea typeface="Calibri"/>
              <a:cs typeface="Calibri"/>
              <a:sym typeface="Calibri"/>
            </a:endParaRPr>
          </a:p>
        </p:txBody>
      </p:sp>
      <p:sp>
        <p:nvSpPr>
          <p:cNvPr id="1525" name="Google Shape;1525;p53"/>
          <p:cNvSpPr/>
          <p:nvPr/>
        </p:nvSpPr>
        <p:spPr>
          <a:xfrm>
            <a:off x="1143000" y="4379976"/>
            <a:ext cx="8321040" cy="83210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3293B"/>
              </a:buClr>
              <a:buSzPts val="1250"/>
              <a:buFont typeface="Calibri"/>
              <a:buNone/>
            </a:pPr>
            <a:r>
              <a:rPr b="0" i="0" lang="en-US" sz="1250" u="none" cap="none" strike="noStrike">
                <a:solidFill>
                  <a:srgbClr val="23293B"/>
                </a:solidFill>
                <a:latin typeface="Calibri"/>
                <a:ea typeface="Calibri"/>
                <a:cs typeface="Calibri"/>
                <a:sym typeface="Calibri"/>
              </a:rPr>
              <a:t>Apply detection-specific augmentation (mosaic, copy-paste) and know when to disable it</a:t>
            </a:r>
            <a:endParaRPr b="0" i="0" sz="1250" u="none" cap="none" strike="noStrike">
              <a:solidFill>
                <a:schemeClr val="dk1"/>
              </a:solidFill>
              <a:latin typeface="Calibri"/>
              <a:ea typeface="Calibri"/>
              <a:cs typeface="Calibri"/>
              <a:sym typeface="Calibri"/>
            </a:endParaRPr>
          </a:p>
        </p:txBody>
      </p:sp>
      <p:sp>
        <p:nvSpPr>
          <p:cNvPr id="1526" name="Google Shape;1526;p53"/>
          <p:cNvSpPr/>
          <p:nvPr/>
        </p:nvSpPr>
        <p:spPr>
          <a:xfrm>
            <a:off x="9646920" y="4622292"/>
            <a:ext cx="658368" cy="310896"/>
          </a:xfrm>
          <a:prstGeom prst="roundRect">
            <a:avLst>
              <a:gd fmla="val 50000" name="adj"/>
            </a:avLst>
          </a:prstGeom>
          <a:solidFill>
            <a:srgbClr val="E9F6F5"/>
          </a:solidFill>
          <a:ln cap="flat" cmpd="sng" w="9525">
            <a:solidFill>
              <a:srgbClr val="00A79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7" name="Google Shape;1527;p53"/>
          <p:cNvSpPr/>
          <p:nvPr/>
        </p:nvSpPr>
        <p:spPr>
          <a:xfrm>
            <a:off x="9646920" y="4622292"/>
            <a:ext cx="658368" cy="31089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56A63"/>
              </a:buClr>
              <a:buSzPts val="950"/>
              <a:buFont typeface="Calibri"/>
              <a:buNone/>
            </a:pPr>
            <a:r>
              <a:rPr b="1" i="0" lang="en-US" sz="950" u="none" cap="none" strike="noStrike">
                <a:solidFill>
                  <a:srgbClr val="056A63"/>
                </a:solidFill>
                <a:latin typeface="Calibri"/>
                <a:ea typeface="Calibri"/>
                <a:cs typeface="Calibri"/>
                <a:sym typeface="Calibri"/>
              </a:rPr>
              <a:t>LO3</a:t>
            </a:r>
            <a:endParaRPr b="0" i="0" sz="950" u="none" cap="none" strike="noStrike">
              <a:solidFill>
                <a:schemeClr val="dk1"/>
              </a:solidFill>
              <a:latin typeface="Calibri"/>
              <a:ea typeface="Calibri"/>
              <a:cs typeface="Calibri"/>
              <a:sym typeface="Calibri"/>
            </a:endParaRPr>
          </a:p>
        </p:txBody>
      </p:sp>
      <p:sp>
        <p:nvSpPr>
          <p:cNvPr id="1528" name="Google Shape;1528;p53"/>
          <p:cNvSpPr/>
          <p:nvPr/>
        </p:nvSpPr>
        <p:spPr>
          <a:xfrm>
            <a:off x="10360152" y="4622292"/>
            <a:ext cx="658368" cy="310896"/>
          </a:xfrm>
          <a:prstGeom prst="roundRect">
            <a:avLst>
              <a:gd fmla="val 50000" name="adj"/>
            </a:avLst>
          </a:prstGeom>
          <a:solidFill>
            <a:srgbClr val="E9F6F5"/>
          </a:solidFill>
          <a:ln cap="flat" cmpd="sng" w="9525">
            <a:solidFill>
              <a:srgbClr val="00A79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9" name="Google Shape;1529;p53"/>
          <p:cNvSpPr/>
          <p:nvPr/>
        </p:nvSpPr>
        <p:spPr>
          <a:xfrm>
            <a:off x="10360152" y="4622292"/>
            <a:ext cx="658368" cy="31089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56A63"/>
              </a:buClr>
              <a:buSzPts val="950"/>
              <a:buFont typeface="Calibri"/>
              <a:buNone/>
            </a:pPr>
            <a:r>
              <a:rPr b="1" i="0" lang="en-US" sz="950" u="none" cap="none" strike="noStrike">
                <a:solidFill>
                  <a:srgbClr val="056A63"/>
                </a:solidFill>
                <a:latin typeface="Calibri"/>
                <a:ea typeface="Calibri"/>
                <a:cs typeface="Calibri"/>
                <a:sym typeface="Calibri"/>
              </a:rPr>
              <a:t>LO4</a:t>
            </a:r>
            <a:endParaRPr b="0" i="0" sz="950" u="none" cap="none" strike="noStrike">
              <a:solidFill>
                <a:schemeClr val="dk1"/>
              </a:solidFill>
              <a:latin typeface="Calibri"/>
              <a:ea typeface="Calibri"/>
              <a:cs typeface="Calibri"/>
              <a:sym typeface="Calibri"/>
            </a:endParaRPr>
          </a:p>
        </p:txBody>
      </p:sp>
      <p:sp>
        <p:nvSpPr>
          <p:cNvPr id="1530" name="Google Shape;1530;p53"/>
          <p:cNvSpPr/>
          <p:nvPr/>
        </p:nvSpPr>
        <p:spPr>
          <a:xfrm>
            <a:off x="502920" y="5340096"/>
            <a:ext cx="11183112" cy="832104"/>
          </a:xfrm>
          <a:prstGeom prst="roundRect">
            <a:avLst>
              <a:gd fmla="val 7692" name="adj"/>
            </a:avLst>
          </a:prstGeom>
          <a:solidFill>
            <a:srgbClr val="FAFCFE"/>
          </a:solidFill>
          <a:ln cap="flat" cmpd="sng" w="9525">
            <a:solidFill>
              <a:srgbClr val="D9E2E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1" name="Google Shape;1531;p53"/>
          <p:cNvSpPr/>
          <p:nvPr/>
        </p:nvSpPr>
        <p:spPr>
          <a:xfrm>
            <a:off x="649224" y="5591556"/>
            <a:ext cx="329184" cy="329184"/>
          </a:xfrm>
          <a:prstGeom prst="ellipse">
            <a:avLst/>
          </a:prstGeom>
          <a:solidFill>
            <a:srgbClr val="00A79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2" name="Google Shape;1532;p53"/>
          <p:cNvSpPr/>
          <p:nvPr/>
        </p:nvSpPr>
        <p:spPr>
          <a:xfrm>
            <a:off x="649224" y="5591556"/>
            <a:ext cx="329184" cy="32918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150"/>
              <a:buFont typeface="Calibri"/>
              <a:buNone/>
            </a:pPr>
            <a:r>
              <a:rPr b="1" i="0" lang="en-US" sz="1150" u="none" cap="none" strike="noStrike">
                <a:solidFill>
                  <a:srgbClr val="FFFFFF"/>
                </a:solidFill>
                <a:latin typeface="Calibri"/>
                <a:ea typeface="Calibri"/>
                <a:cs typeface="Calibri"/>
                <a:sym typeface="Calibri"/>
              </a:rPr>
              <a:t>3.5</a:t>
            </a:r>
            <a:endParaRPr b="0" i="0" sz="1150" u="none" cap="none" strike="noStrike">
              <a:solidFill>
                <a:schemeClr val="dk1"/>
              </a:solidFill>
              <a:latin typeface="Calibri"/>
              <a:ea typeface="Calibri"/>
              <a:cs typeface="Calibri"/>
              <a:sym typeface="Calibri"/>
            </a:endParaRPr>
          </a:p>
        </p:txBody>
      </p:sp>
      <p:sp>
        <p:nvSpPr>
          <p:cNvPr id="1533" name="Google Shape;1533;p53"/>
          <p:cNvSpPr/>
          <p:nvPr/>
        </p:nvSpPr>
        <p:spPr>
          <a:xfrm>
            <a:off x="1143000" y="5340096"/>
            <a:ext cx="8321040" cy="83210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3293B"/>
              </a:buClr>
              <a:buSzPts val="1250"/>
              <a:buFont typeface="Calibri"/>
              <a:buNone/>
            </a:pPr>
            <a:r>
              <a:rPr b="0" i="0" lang="en-US" sz="1250" u="none" cap="none" strike="noStrike">
                <a:solidFill>
                  <a:srgbClr val="23293B"/>
                </a:solidFill>
                <a:latin typeface="Calibri"/>
                <a:ea typeface="Calibri"/>
                <a:cs typeface="Calibri"/>
                <a:sym typeface="Calibri"/>
              </a:rPr>
              <a:t>Tune confidence and NMS thresholds against explicit recall and false-alarm requirements</a:t>
            </a:r>
            <a:endParaRPr b="0" i="0" sz="1250" u="none" cap="none" strike="noStrike">
              <a:solidFill>
                <a:schemeClr val="dk1"/>
              </a:solidFill>
              <a:latin typeface="Calibri"/>
              <a:ea typeface="Calibri"/>
              <a:cs typeface="Calibri"/>
              <a:sym typeface="Calibri"/>
            </a:endParaRPr>
          </a:p>
        </p:txBody>
      </p:sp>
      <p:sp>
        <p:nvSpPr>
          <p:cNvPr id="1534" name="Google Shape;1534;p53"/>
          <p:cNvSpPr/>
          <p:nvPr/>
        </p:nvSpPr>
        <p:spPr>
          <a:xfrm>
            <a:off x="9646920" y="5582412"/>
            <a:ext cx="658368" cy="310896"/>
          </a:xfrm>
          <a:prstGeom prst="roundRect">
            <a:avLst>
              <a:gd fmla="val 50000" name="adj"/>
            </a:avLst>
          </a:prstGeom>
          <a:solidFill>
            <a:srgbClr val="E9F6F5"/>
          </a:solidFill>
          <a:ln cap="flat" cmpd="sng" w="9525">
            <a:solidFill>
              <a:srgbClr val="00A79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5" name="Google Shape;1535;p53"/>
          <p:cNvSpPr/>
          <p:nvPr/>
        </p:nvSpPr>
        <p:spPr>
          <a:xfrm>
            <a:off x="9646920" y="5582412"/>
            <a:ext cx="658368" cy="31089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56A63"/>
              </a:buClr>
              <a:buSzPts val="950"/>
              <a:buFont typeface="Calibri"/>
              <a:buNone/>
            </a:pPr>
            <a:r>
              <a:rPr b="1" i="0" lang="en-US" sz="950" u="none" cap="none" strike="noStrike">
                <a:solidFill>
                  <a:srgbClr val="056A63"/>
                </a:solidFill>
                <a:latin typeface="Calibri"/>
                <a:ea typeface="Calibri"/>
                <a:cs typeface="Calibri"/>
                <a:sym typeface="Calibri"/>
              </a:rPr>
              <a:t>LO2</a:t>
            </a:r>
            <a:endParaRPr b="0" i="0" sz="950" u="none" cap="none" strike="noStrike">
              <a:solidFill>
                <a:schemeClr val="dk1"/>
              </a:solidFill>
              <a:latin typeface="Calibri"/>
              <a:ea typeface="Calibri"/>
              <a:cs typeface="Calibri"/>
              <a:sym typeface="Calibri"/>
            </a:endParaRPr>
          </a:p>
        </p:txBody>
      </p:sp>
      <p:sp>
        <p:nvSpPr>
          <p:cNvPr id="1536" name="Google Shape;1536;p53"/>
          <p:cNvSpPr/>
          <p:nvPr/>
        </p:nvSpPr>
        <p:spPr>
          <a:xfrm>
            <a:off x="10360152" y="5582412"/>
            <a:ext cx="658368" cy="310896"/>
          </a:xfrm>
          <a:prstGeom prst="roundRect">
            <a:avLst>
              <a:gd fmla="val 50000" name="adj"/>
            </a:avLst>
          </a:prstGeom>
          <a:solidFill>
            <a:srgbClr val="E9F6F5"/>
          </a:solidFill>
          <a:ln cap="flat" cmpd="sng" w="9525">
            <a:solidFill>
              <a:srgbClr val="00A79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7" name="Google Shape;1537;p53"/>
          <p:cNvSpPr/>
          <p:nvPr/>
        </p:nvSpPr>
        <p:spPr>
          <a:xfrm>
            <a:off x="10360152" y="5582412"/>
            <a:ext cx="658368" cy="31089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56A63"/>
              </a:buClr>
              <a:buSzPts val="950"/>
              <a:buFont typeface="Calibri"/>
              <a:buNone/>
            </a:pPr>
            <a:r>
              <a:rPr b="1" i="0" lang="en-US" sz="950" u="none" cap="none" strike="noStrike">
                <a:solidFill>
                  <a:srgbClr val="056A63"/>
                </a:solidFill>
                <a:latin typeface="Calibri"/>
                <a:ea typeface="Calibri"/>
                <a:cs typeface="Calibri"/>
                <a:sym typeface="Calibri"/>
              </a:rPr>
              <a:t>LO5</a:t>
            </a:r>
            <a:endParaRPr b="0" i="0" sz="950" u="none" cap="none" strike="noStrike">
              <a:solidFill>
                <a:schemeClr val="dk1"/>
              </a:solidFill>
              <a:latin typeface="Calibri"/>
              <a:ea typeface="Calibri"/>
              <a:cs typeface="Calibri"/>
              <a:sym typeface="Calibri"/>
            </a:endParaRPr>
          </a:p>
        </p:txBody>
      </p:sp>
    </p:spTree>
  </p:cSld>
  <p:clrMapOvr>
    <a:masterClrMapping/>
  </p:clrMapOvr>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542" name="Shape 1542"/>
        <p:cNvGrpSpPr/>
        <p:nvPr/>
      </p:nvGrpSpPr>
      <p:grpSpPr>
        <a:xfrm>
          <a:off x="0" y="0"/>
          <a:ext cx="0" cy="0"/>
          <a:chOff x="0" y="0"/>
          <a:chExt cx="0" cy="0"/>
        </a:xfrm>
      </p:grpSpPr>
      <p:sp>
        <p:nvSpPr>
          <p:cNvPr id="1543" name="Google Shape;1543;p54"/>
          <p:cNvSpPr/>
          <p:nvPr/>
        </p:nvSpPr>
        <p:spPr>
          <a:xfrm>
            <a:off x="502920" y="274320"/>
            <a:ext cx="9646920" cy="56692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D2A5C"/>
              </a:buClr>
              <a:buSzPts val="2700"/>
              <a:buFont typeface="Calibri"/>
              <a:buNone/>
            </a:pPr>
            <a:r>
              <a:rPr b="1" i="0" lang="en-US" sz="2700" u="none" cap="none" strike="noStrike">
                <a:solidFill>
                  <a:srgbClr val="1D2A5C"/>
                </a:solidFill>
                <a:latin typeface="Calibri"/>
                <a:ea typeface="Calibri"/>
                <a:cs typeface="Calibri"/>
                <a:sym typeface="Calibri"/>
              </a:rPr>
              <a:t>The Detection Problem, Formulated Honestly</a:t>
            </a:r>
            <a:endParaRPr b="0" i="0" sz="2700" u="none" cap="none" strike="noStrike">
              <a:solidFill>
                <a:schemeClr val="dk1"/>
              </a:solidFill>
              <a:latin typeface="Calibri"/>
              <a:ea typeface="Calibri"/>
              <a:cs typeface="Calibri"/>
              <a:sym typeface="Calibri"/>
            </a:endParaRPr>
          </a:p>
        </p:txBody>
      </p:sp>
      <p:sp>
        <p:nvSpPr>
          <p:cNvPr id="1544" name="Google Shape;1544;p54"/>
          <p:cNvSpPr/>
          <p:nvPr/>
        </p:nvSpPr>
        <p:spPr>
          <a:xfrm>
            <a:off x="502920" y="859536"/>
            <a:ext cx="9646920" cy="31089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F6B7A"/>
              </a:buClr>
              <a:buSzPts val="1250"/>
              <a:buFont typeface="Arial"/>
              <a:buNone/>
            </a:pPr>
            <a:r>
              <a:rPr b="0" i="0" lang="en-US" sz="1250" u="none" cap="none" strike="noStrike">
                <a:solidFill>
                  <a:srgbClr val="5F6B7A"/>
                </a:solidFill>
                <a:latin typeface="Arial"/>
                <a:ea typeface="Arial"/>
                <a:cs typeface="Arial"/>
                <a:sym typeface="Arial"/>
              </a:rPr>
              <a:t>صياغة مشكلة الاكتشاف بأمانة</a:t>
            </a:r>
            <a:endParaRPr b="0" i="0" sz="1250" u="none" cap="none" strike="noStrike">
              <a:solidFill>
                <a:schemeClr val="dk1"/>
              </a:solidFill>
              <a:latin typeface="Calibri"/>
              <a:ea typeface="Calibri"/>
              <a:cs typeface="Calibri"/>
              <a:sym typeface="Calibri"/>
            </a:endParaRPr>
          </a:p>
        </p:txBody>
      </p:sp>
      <p:pic>
        <p:nvPicPr>
          <p:cNvPr descr="/sessions/blissful-determined-ritchie/build/assets/sdaia_logo.png" id="1545" name="Google Shape;1545;p54"/>
          <p:cNvPicPr preferRelativeResize="0"/>
          <p:nvPr/>
        </p:nvPicPr>
        <p:blipFill rotWithShape="1">
          <a:blip r:embed="rId3">
            <a:alphaModFix/>
          </a:blip>
          <a:srcRect b="0" l="0" r="0" t="0"/>
          <a:stretch/>
        </p:blipFill>
        <p:spPr>
          <a:xfrm>
            <a:off x="10625328" y="310896"/>
            <a:ext cx="1078992" cy="264111"/>
          </a:xfrm>
          <a:prstGeom prst="rect">
            <a:avLst/>
          </a:prstGeom>
          <a:noFill/>
          <a:ln>
            <a:noFill/>
          </a:ln>
        </p:spPr>
      </p:pic>
      <p:sp>
        <p:nvSpPr>
          <p:cNvPr id="1546" name="Google Shape;1546;p54"/>
          <p:cNvSpPr/>
          <p:nvPr/>
        </p:nvSpPr>
        <p:spPr>
          <a:xfrm>
            <a:off x="502920" y="6528816"/>
            <a:ext cx="8686800"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A79D"/>
              </a:buClr>
              <a:buSzPts val="800"/>
              <a:buFont typeface="Calibri"/>
              <a:buNone/>
            </a:pPr>
            <a:r>
              <a:rPr b="1" i="0" lang="en-US" sz="800" u="none" cap="none" strike="noStrike">
                <a:solidFill>
                  <a:srgbClr val="00A79D"/>
                </a:solidFill>
                <a:latin typeface="Calibri"/>
                <a:ea typeface="Calibri"/>
                <a:cs typeface="Calibri"/>
                <a:sym typeface="Calibri"/>
              </a:rPr>
              <a:t>MODULE 3   </a:t>
            </a:r>
            <a:r>
              <a:rPr b="0" i="0" lang="en-US" sz="800" u="none" cap="none" strike="noStrike">
                <a:solidFill>
                  <a:srgbClr val="8A96A6"/>
                </a:solidFill>
                <a:latin typeface="Calibri"/>
                <a:ea typeface="Calibri"/>
                <a:cs typeface="Calibri"/>
                <a:sym typeface="Calibri"/>
              </a:rPr>
              <a:t>SDA-AIE-212 · Computer Vision Systems Development</a:t>
            </a:r>
            <a:endParaRPr b="0" i="0" sz="800" u="none" cap="none" strike="noStrike">
              <a:solidFill>
                <a:schemeClr val="dk1"/>
              </a:solidFill>
              <a:latin typeface="Calibri"/>
              <a:ea typeface="Calibri"/>
              <a:cs typeface="Calibri"/>
              <a:sym typeface="Calibri"/>
            </a:endParaRPr>
          </a:p>
        </p:txBody>
      </p:sp>
      <p:sp>
        <p:nvSpPr>
          <p:cNvPr id="1547" name="Google Shape;1547;p54"/>
          <p:cNvSpPr/>
          <p:nvPr/>
        </p:nvSpPr>
        <p:spPr>
          <a:xfrm>
            <a:off x="11292840" y="6528816"/>
            <a:ext cx="411480" cy="219456"/>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8A96A6"/>
              </a:buClr>
              <a:buSzPts val="900"/>
              <a:buFont typeface="Calibri"/>
              <a:buNone/>
            </a:pPr>
            <a:r>
              <a:rPr b="0" i="0" lang="en-US" sz="900" u="none" cap="none" strike="noStrike">
                <a:solidFill>
                  <a:srgbClr val="8A96A6"/>
                </a:solidFill>
                <a:latin typeface="Calibri"/>
                <a:ea typeface="Calibri"/>
                <a:cs typeface="Calibri"/>
                <a:sym typeface="Calibri"/>
              </a:rPr>
              <a:t>54</a:t>
            </a:r>
            <a:endParaRPr b="0" i="0" sz="900" u="none" cap="none" strike="noStrike">
              <a:solidFill>
                <a:schemeClr val="dk1"/>
              </a:solidFill>
              <a:latin typeface="Calibri"/>
              <a:ea typeface="Calibri"/>
              <a:cs typeface="Calibri"/>
              <a:sym typeface="Calibri"/>
            </a:endParaRPr>
          </a:p>
        </p:txBody>
      </p:sp>
      <p:sp>
        <p:nvSpPr>
          <p:cNvPr id="1548" name="Google Shape;1548;p54"/>
          <p:cNvSpPr/>
          <p:nvPr/>
        </p:nvSpPr>
        <p:spPr>
          <a:xfrm>
            <a:off x="502920" y="1559052"/>
            <a:ext cx="329184" cy="329184"/>
          </a:xfrm>
          <a:prstGeom prst="ellipse">
            <a:avLst/>
          </a:prstGeom>
          <a:solidFill>
            <a:srgbClr val="00A79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9" name="Google Shape;1549;p54"/>
          <p:cNvSpPr/>
          <p:nvPr/>
        </p:nvSpPr>
        <p:spPr>
          <a:xfrm>
            <a:off x="502920" y="1559052"/>
            <a:ext cx="329184" cy="32918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300"/>
              <a:buFont typeface="Calibri"/>
              <a:buNone/>
            </a:pPr>
            <a:r>
              <a:rPr b="1" i="0" lang="en-US" sz="1300" u="none" cap="none" strike="noStrike">
                <a:solidFill>
                  <a:srgbClr val="FFFFFF"/>
                </a:solidFill>
                <a:latin typeface="Calibri"/>
                <a:ea typeface="Calibri"/>
                <a:cs typeface="Calibri"/>
                <a:sym typeface="Calibri"/>
              </a:rPr>
              <a:t>1</a:t>
            </a:r>
            <a:endParaRPr b="0" i="0" sz="1300" u="none" cap="none" strike="noStrike">
              <a:solidFill>
                <a:schemeClr val="dk1"/>
              </a:solidFill>
              <a:latin typeface="Calibri"/>
              <a:ea typeface="Calibri"/>
              <a:cs typeface="Calibri"/>
              <a:sym typeface="Calibri"/>
            </a:endParaRPr>
          </a:p>
        </p:txBody>
      </p:sp>
      <p:sp>
        <p:nvSpPr>
          <p:cNvPr id="1550" name="Google Shape;1550;p54"/>
          <p:cNvSpPr/>
          <p:nvPr/>
        </p:nvSpPr>
        <p:spPr>
          <a:xfrm>
            <a:off x="1005840" y="1495044"/>
            <a:ext cx="10682935"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D2A5C"/>
              </a:buClr>
              <a:buSzPts val="1400"/>
              <a:buFont typeface="Calibri"/>
              <a:buNone/>
            </a:pPr>
            <a:r>
              <a:rPr b="1" i="0" lang="en-US" sz="1400" u="none" cap="none" strike="noStrike">
                <a:solidFill>
                  <a:srgbClr val="1D2A5C"/>
                </a:solidFill>
                <a:latin typeface="Calibri"/>
                <a:ea typeface="Calibri"/>
                <a:cs typeface="Calibri"/>
                <a:sym typeface="Calibri"/>
              </a:rPr>
              <a:t>Output is a set, not a vector</a:t>
            </a:r>
            <a:endParaRPr b="0" i="0" sz="1400" u="none" cap="none" strike="noStrike">
              <a:solidFill>
                <a:schemeClr val="dk1"/>
              </a:solidFill>
              <a:latin typeface="Calibri"/>
              <a:ea typeface="Calibri"/>
              <a:cs typeface="Calibri"/>
              <a:sym typeface="Calibri"/>
            </a:endParaRPr>
          </a:p>
        </p:txBody>
      </p:sp>
      <p:sp>
        <p:nvSpPr>
          <p:cNvPr id="1551" name="Google Shape;1551;p54"/>
          <p:cNvSpPr/>
          <p:nvPr/>
        </p:nvSpPr>
        <p:spPr>
          <a:xfrm>
            <a:off x="1005840" y="1796796"/>
            <a:ext cx="10682935" cy="841248"/>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5F6B7A"/>
              </a:buClr>
              <a:buSzPts val="1150"/>
              <a:buFont typeface="Calibri"/>
              <a:buNone/>
            </a:pPr>
            <a:r>
              <a:rPr b="0" i="0" lang="en-US" sz="1150" u="none" cap="none" strike="noStrike">
                <a:solidFill>
                  <a:srgbClr val="5F6B7A"/>
                </a:solidFill>
                <a:latin typeface="Calibri"/>
                <a:ea typeface="Calibri"/>
                <a:cs typeface="Calibri"/>
                <a:sym typeface="Calibri"/>
              </a:rPr>
              <a:t>The count varies per image, so evaluation needs IoU-based matching between predictions and ground truth — the primitive under mAP (M6 builds it by hand).</a:t>
            </a:r>
            <a:endParaRPr b="0" i="0" sz="1150" u="none" cap="none" strike="noStrike">
              <a:solidFill>
                <a:schemeClr val="dk1"/>
              </a:solidFill>
              <a:latin typeface="Calibri"/>
              <a:ea typeface="Calibri"/>
              <a:cs typeface="Calibri"/>
              <a:sym typeface="Calibri"/>
            </a:endParaRPr>
          </a:p>
        </p:txBody>
      </p:sp>
      <p:sp>
        <p:nvSpPr>
          <p:cNvPr id="1552" name="Google Shape;1552;p54"/>
          <p:cNvSpPr/>
          <p:nvPr/>
        </p:nvSpPr>
        <p:spPr>
          <a:xfrm>
            <a:off x="502920" y="2747772"/>
            <a:ext cx="329184" cy="329184"/>
          </a:xfrm>
          <a:prstGeom prst="ellipse">
            <a:avLst/>
          </a:prstGeom>
          <a:solidFill>
            <a:srgbClr val="29ABE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3" name="Google Shape;1553;p54"/>
          <p:cNvSpPr/>
          <p:nvPr/>
        </p:nvSpPr>
        <p:spPr>
          <a:xfrm>
            <a:off x="502920" y="2747772"/>
            <a:ext cx="329184" cy="32918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300"/>
              <a:buFont typeface="Calibri"/>
              <a:buNone/>
            </a:pPr>
            <a:r>
              <a:rPr b="1" i="0" lang="en-US" sz="1300" u="none" cap="none" strike="noStrike">
                <a:solidFill>
                  <a:srgbClr val="FFFFFF"/>
                </a:solidFill>
                <a:latin typeface="Calibri"/>
                <a:ea typeface="Calibri"/>
                <a:cs typeface="Calibri"/>
                <a:sym typeface="Calibri"/>
              </a:rPr>
              <a:t>2</a:t>
            </a:r>
            <a:endParaRPr b="0" i="0" sz="1300" u="none" cap="none" strike="noStrike">
              <a:solidFill>
                <a:schemeClr val="dk1"/>
              </a:solidFill>
              <a:latin typeface="Calibri"/>
              <a:ea typeface="Calibri"/>
              <a:cs typeface="Calibri"/>
              <a:sym typeface="Calibri"/>
            </a:endParaRPr>
          </a:p>
        </p:txBody>
      </p:sp>
      <p:sp>
        <p:nvSpPr>
          <p:cNvPr id="1554" name="Google Shape;1554;p54"/>
          <p:cNvSpPr/>
          <p:nvPr/>
        </p:nvSpPr>
        <p:spPr>
          <a:xfrm>
            <a:off x="1005840" y="2683764"/>
            <a:ext cx="10682935"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D2A5C"/>
              </a:buClr>
              <a:buSzPts val="1400"/>
              <a:buFont typeface="Calibri"/>
              <a:buNone/>
            </a:pPr>
            <a:r>
              <a:rPr b="1" i="0" lang="en-US" sz="1400" u="none" cap="none" strike="noStrike">
                <a:solidFill>
                  <a:srgbClr val="1D2A5C"/>
                </a:solidFill>
                <a:latin typeface="Calibri"/>
                <a:ea typeface="Calibri"/>
                <a:cs typeface="Calibri"/>
                <a:sym typeface="Calibri"/>
              </a:rPr>
              <a:t>Two ways to be wrong</a:t>
            </a:r>
            <a:endParaRPr b="0" i="0" sz="1400" u="none" cap="none" strike="noStrike">
              <a:solidFill>
                <a:schemeClr val="dk1"/>
              </a:solidFill>
              <a:latin typeface="Calibri"/>
              <a:ea typeface="Calibri"/>
              <a:cs typeface="Calibri"/>
              <a:sym typeface="Calibri"/>
            </a:endParaRPr>
          </a:p>
        </p:txBody>
      </p:sp>
      <p:sp>
        <p:nvSpPr>
          <p:cNvPr id="1555" name="Google Shape;1555;p54"/>
          <p:cNvSpPr/>
          <p:nvPr/>
        </p:nvSpPr>
        <p:spPr>
          <a:xfrm>
            <a:off x="1005840" y="2985516"/>
            <a:ext cx="10682935" cy="841248"/>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5F6B7A"/>
              </a:buClr>
              <a:buSzPts val="1150"/>
              <a:buFont typeface="Calibri"/>
              <a:buNone/>
            </a:pPr>
            <a:r>
              <a:rPr b="0" i="0" lang="en-US" sz="1150" u="none" cap="none" strike="noStrike">
                <a:solidFill>
                  <a:srgbClr val="5F6B7A"/>
                </a:solidFill>
                <a:latin typeface="Calibri"/>
                <a:ea typeface="Calibri"/>
                <a:cs typeface="Calibri"/>
                <a:sym typeface="Calibri"/>
              </a:rPr>
              <a:t>A detector can find the fruit and mislabel the defect, or label correctly with a sloppy box. Error analysis must separate these (M6's error taxonomy).</a:t>
            </a:r>
            <a:endParaRPr b="0" i="0" sz="1150" u="none" cap="none" strike="noStrike">
              <a:solidFill>
                <a:schemeClr val="dk1"/>
              </a:solidFill>
              <a:latin typeface="Calibri"/>
              <a:ea typeface="Calibri"/>
              <a:cs typeface="Calibri"/>
              <a:sym typeface="Calibri"/>
            </a:endParaRPr>
          </a:p>
        </p:txBody>
      </p:sp>
      <p:sp>
        <p:nvSpPr>
          <p:cNvPr id="1556" name="Google Shape;1556;p54"/>
          <p:cNvSpPr/>
          <p:nvPr/>
        </p:nvSpPr>
        <p:spPr>
          <a:xfrm>
            <a:off x="502920" y="3936492"/>
            <a:ext cx="329184" cy="329184"/>
          </a:xfrm>
          <a:prstGeom prst="ellipse">
            <a:avLst/>
          </a:prstGeom>
          <a:solidFill>
            <a:srgbClr val="F5822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7" name="Google Shape;1557;p54"/>
          <p:cNvSpPr/>
          <p:nvPr/>
        </p:nvSpPr>
        <p:spPr>
          <a:xfrm>
            <a:off x="502920" y="3936492"/>
            <a:ext cx="329184" cy="32918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300"/>
              <a:buFont typeface="Calibri"/>
              <a:buNone/>
            </a:pPr>
            <a:r>
              <a:rPr b="1" i="0" lang="en-US" sz="1300" u="none" cap="none" strike="noStrike">
                <a:solidFill>
                  <a:srgbClr val="FFFFFF"/>
                </a:solidFill>
                <a:latin typeface="Calibri"/>
                <a:ea typeface="Calibri"/>
                <a:cs typeface="Calibri"/>
                <a:sym typeface="Calibri"/>
              </a:rPr>
              <a:t>3</a:t>
            </a:r>
            <a:endParaRPr b="0" i="0" sz="1300" u="none" cap="none" strike="noStrike">
              <a:solidFill>
                <a:schemeClr val="dk1"/>
              </a:solidFill>
              <a:latin typeface="Calibri"/>
              <a:ea typeface="Calibri"/>
              <a:cs typeface="Calibri"/>
              <a:sym typeface="Calibri"/>
            </a:endParaRPr>
          </a:p>
        </p:txBody>
      </p:sp>
      <p:sp>
        <p:nvSpPr>
          <p:cNvPr id="1558" name="Google Shape;1558;p54"/>
          <p:cNvSpPr/>
          <p:nvPr/>
        </p:nvSpPr>
        <p:spPr>
          <a:xfrm>
            <a:off x="1005840" y="3872484"/>
            <a:ext cx="10682935"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D2A5C"/>
              </a:buClr>
              <a:buSzPts val="1400"/>
              <a:buFont typeface="Calibri"/>
              <a:buNone/>
            </a:pPr>
            <a:r>
              <a:rPr b="1" i="0" lang="en-US" sz="1400" u="none" cap="none" strike="noStrike">
                <a:solidFill>
                  <a:srgbClr val="1D2A5C"/>
                </a:solidFill>
                <a:latin typeface="Calibri"/>
                <a:ea typeface="Calibri"/>
                <a:cs typeface="Calibri"/>
                <a:sym typeface="Calibri"/>
              </a:rPr>
              <a:t>Class definitions must be boxable</a:t>
            </a:r>
            <a:endParaRPr b="0" i="0" sz="1400" u="none" cap="none" strike="noStrike">
              <a:solidFill>
                <a:schemeClr val="dk1"/>
              </a:solidFill>
              <a:latin typeface="Calibri"/>
              <a:ea typeface="Calibri"/>
              <a:cs typeface="Calibri"/>
              <a:sym typeface="Calibri"/>
            </a:endParaRPr>
          </a:p>
        </p:txBody>
      </p:sp>
      <p:sp>
        <p:nvSpPr>
          <p:cNvPr id="1559" name="Google Shape;1559;p54"/>
          <p:cNvSpPr/>
          <p:nvPr/>
        </p:nvSpPr>
        <p:spPr>
          <a:xfrm>
            <a:off x="1005840" y="4174236"/>
            <a:ext cx="10682935" cy="841248"/>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5F6B7A"/>
              </a:buClr>
              <a:buSzPts val="1150"/>
              <a:buFont typeface="Calibri"/>
              <a:buNone/>
            </a:pPr>
            <a:r>
              <a:rPr b="0" i="0" lang="en-US" sz="1150" u="none" cap="none" strike="noStrike">
                <a:solidFill>
                  <a:srgbClr val="5F6B7A"/>
                </a:solidFill>
                <a:latin typeface="Calibri"/>
                <a:ea typeface="Calibri"/>
                <a:cs typeface="Calibri"/>
                <a:sym typeface="Calibri"/>
              </a:rPr>
              <a:t>The 5-class taxonomy — mould, skin_split, insect_damage, sugaring, foreign_object — was designed so every class has locatable extent. An annotation-spec decision (M5).</a:t>
            </a:r>
            <a:endParaRPr b="0" i="0" sz="1150" u="none" cap="none" strike="noStrike">
              <a:solidFill>
                <a:schemeClr val="dk1"/>
              </a:solidFill>
              <a:latin typeface="Calibri"/>
              <a:ea typeface="Calibri"/>
              <a:cs typeface="Calibri"/>
              <a:sym typeface="Calibri"/>
            </a:endParaRPr>
          </a:p>
        </p:txBody>
      </p:sp>
      <p:sp>
        <p:nvSpPr>
          <p:cNvPr id="1560" name="Google Shape;1560;p54"/>
          <p:cNvSpPr/>
          <p:nvPr/>
        </p:nvSpPr>
        <p:spPr>
          <a:xfrm>
            <a:off x="502920" y="5125212"/>
            <a:ext cx="329184" cy="329184"/>
          </a:xfrm>
          <a:prstGeom prst="ellipse">
            <a:avLst/>
          </a:prstGeom>
          <a:solidFill>
            <a:srgbClr val="8DC63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1" name="Google Shape;1561;p54"/>
          <p:cNvSpPr/>
          <p:nvPr/>
        </p:nvSpPr>
        <p:spPr>
          <a:xfrm>
            <a:off x="502920" y="5125212"/>
            <a:ext cx="329184" cy="32918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300"/>
              <a:buFont typeface="Calibri"/>
              <a:buNone/>
            </a:pPr>
            <a:r>
              <a:rPr b="1" i="0" lang="en-US" sz="1300" u="none" cap="none" strike="noStrike">
                <a:solidFill>
                  <a:srgbClr val="FFFFFF"/>
                </a:solidFill>
                <a:latin typeface="Calibri"/>
                <a:ea typeface="Calibri"/>
                <a:cs typeface="Calibri"/>
                <a:sym typeface="Calibri"/>
              </a:rPr>
              <a:t>4</a:t>
            </a:r>
            <a:endParaRPr b="0" i="0" sz="1300" u="none" cap="none" strike="noStrike">
              <a:solidFill>
                <a:schemeClr val="dk1"/>
              </a:solidFill>
              <a:latin typeface="Calibri"/>
              <a:ea typeface="Calibri"/>
              <a:cs typeface="Calibri"/>
              <a:sym typeface="Calibri"/>
            </a:endParaRPr>
          </a:p>
        </p:txBody>
      </p:sp>
      <p:sp>
        <p:nvSpPr>
          <p:cNvPr id="1562" name="Google Shape;1562;p54"/>
          <p:cNvSpPr/>
          <p:nvPr/>
        </p:nvSpPr>
        <p:spPr>
          <a:xfrm>
            <a:off x="1005840" y="5061204"/>
            <a:ext cx="10682935"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D2A5C"/>
              </a:buClr>
              <a:buSzPts val="1400"/>
              <a:buFont typeface="Calibri"/>
              <a:buNone/>
            </a:pPr>
            <a:r>
              <a:rPr b="1" i="0" lang="en-US" sz="1400" u="none" cap="none" strike="noStrike">
                <a:solidFill>
                  <a:srgbClr val="1D2A5C"/>
                </a:solidFill>
                <a:latin typeface="Calibri"/>
                <a:ea typeface="Calibri"/>
                <a:cs typeface="Calibri"/>
                <a:sym typeface="Calibri"/>
              </a:rPr>
              <a:t>Choose the cheapest formulation that answers the question</a:t>
            </a:r>
            <a:endParaRPr b="0" i="0" sz="1400" u="none" cap="none" strike="noStrike">
              <a:solidFill>
                <a:schemeClr val="dk1"/>
              </a:solidFill>
              <a:latin typeface="Calibri"/>
              <a:ea typeface="Calibri"/>
              <a:cs typeface="Calibri"/>
              <a:sym typeface="Calibri"/>
            </a:endParaRPr>
          </a:p>
        </p:txBody>
      </p:sp>
      <p:sp>
        <p:nvSpPr>
          <p:cNvPr id="1563" name="Google Shape;1563;p54"/>
          <p:cNvSpPr/>
          <p:nvPr/>
        </p:nvSpPr>
        <p:spPr>
          <a:xfrm>
            <a:off x="1005840" y="5362956"/>
            <a:ext cx="10682935" cy="841248"/>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5F6B7A"/>
              </a:buClr>
              <a:buSzPts val="1150"/>
              <a:buFont typeface="Calibri"/>
              <a:buNone/>
            </a:pPr>
            <a:r>
              <a:rPr b="0" i="0" lang="en-US" sz="1150" u="none" cap="none" strike="noStrike">
                <a:solidFill>
                  <a:srgbClr val="5F6B7A"/>
                </a:solidFill>
                <a:latin typeface="Calibri"/>
                <a:ea typeface="Calibri"/>
                <a:cs typeface="Calibri"/>
                <a:sym typeface="Calibri"/>
              </a:rPr>
              <a:t>Frame-level question ('is this station dirty?') — classifier. Area question ('what fraction is mouldy?') — segmentation (M4).</a:t>
            </a:r>
            <a:endParaRPr b="0" i="0" sz="1150" u="none" cap="none" strike="noStrike">
              <a:solidFill>
                <a:schemeClr val="dk1"/>
              </a:solidFill>
              <a:latin typeface="Calibri"/>
              <a:ea typeface="Calibri"/>
              <a:cs typeface="Calibri"/>
              <a:sym typeface="Calibri"/>
            </a:endParaRPr>
          </a:p>
        </p:txBody>
      </p:sp>
    </p:spTree>
  </p:cSld>
  <p:clrMapOvr>
    <a:masterClrMapping/>
  </p:clrMapOvr>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568" name="Shape 1568"/>
        <p:cNvGrpSpPr/>
        <p:nvPr/>
      </p:nvGrpSpPr>
      <p:grpSpPr>
        <a:xfrm>
          <a:off x="0" y="0"/>
          <a:ext cx="0" cy="0"/>
          <a:chOff x="0" y="0"/>
          <a:chExt cx="0" cy="0"/>
        </a:xfrm>
      </p:grpSpPr>
      <p:sp>
        <p:nvSpPr>
          <p:cNvPr id="1569" name="Google Shape;1569;p55"/>
          <p:cNvSpPr/>
          <p:nvPr/>
        </p:nvSpPr>
        <p:spPr>
          <a:xfrm>
            <a:off x="502920" y="274320"/>
            <a:ext cx="9646920" cy="56692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D2A5C"/>
              </a:buClr>
              <a:buSzPts val="2700"/>
              <a:buFont typeface="Calibri"/>
              <a:buNone/>
            </a:pPr>
            <a:r>
              <a:rPr b="1" i="0" lang="en-US" sz="2700" u="none" cap="none" strike="noStrike">
                <a:solidFill>
                  <a:srgbClr val="1D2A5C"/>
                </a:solidFill>
                <a:latin typeface="Calibri"/>
                <a:ea typeface="Calibri"/>
                <a:cs typeface="Calibri"/>
                <a:sym typeface="Calibri"/>
              </a:rPr>
              <a:t>Anatomy of a Single-Stage Detector</a:t>
            </a:r>
            <a:endParaRPr b="0" i="0" sz="2700" u="none" cap="none" strike="noStrike">
              <a:solidFill>
                <a:schemeClr val="dk1"/>
              </a:solidFill>
              <a:latin typeface="Calibri"/>
              <a:ea typeface="Calibri"/>
              <a:cs typeface="Calibri"/>
              <a:sym typeface="Calibri"/>
            </a:endParaRPr>
          </a:p>
        </p:txBody>
      </p:sp>
      <p:sp>
        <p:nvSpPr>
          <p:cNvPr id="1570" name="Google Shape;1570;p55"/>
          <p:cNvSpPr/>
          <p:nvPr/>
        </p:nvSpPr>
        <p:spPr>
          <a:xfrm>
            <a:off x="502920" y="859536"/>
            <a:ext cx="9646920" cy="31089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F6B7A"/>
              </a:buClr>
              <a:buSzPts val="1250"/>
              <a:buFont typeface="Arial"/>
              <a:buNone/>
            </a:pPr>
            <a:r>
              <a:rPr b="0" i="0" lang="en-US" sz="1250" u="none" cap="none" strike="noStrike">
                <a:solidFill>
                  <a:srgbClr val="5F6B7A"/>
                </a:solidFill>
                <a:latin typeface="Arial"/>
                <a:ea typeface="Arial"/>
                <a:cs typeface="Arial"/>
                <a:sym typeface="Arial"/>
              </a:rPr>
              <a:t>تشريح كاشف أحادي المرحلة</a:t>
            </a:r>
            <a:endParaRPr b="0" i="0" sz="1250" u="none" cap="none" strike="noStrike">
              <a:solidFill>
                <a:schemeClr val="dk1"/>
              </a:solidFill>
              <a:latin typeface="Calibri"/>
              <a:ea typeface="Calibri"/>
              <a:cs typeface="Calibri"/>
              <a:sym typeface="Calibri"/>
            </a:endParaRPr>
          </a:p>
        </p:txBody>
      </p:sp>
      <p:pic>
        <p:nvPicPr>
          <p:cNvPr descr="/sessions/blissful-determined-ritchie/build/assets/sdaia_logo.png" id="1571" name="Google Shape;1571;p55"/>
          <p:cNvPicPr preferRelativeResize="0"/>
          <p:nvPr/>
        </p:nvPicPr>
        <p:blipFill rotWithShape="1">
          <a:blip r:embed="rId3">
            <a:alphaModFix/>
          </a:blip>
          <a:srcRect b="0" l="0" r="0" t="0"/>
          <a:stretch/>
        </p:blipFill>
        <p:spPr>
          <a:xfrm>
            <a:off x="10625328" y="310896"/>
            <a:ext cx="1078992" cy="264111"/>
          </a:xfrm>
          <a:prstGeom prst="rect">
            <a:avLst/>
          </a:prstGeom>
          <a:noFill/>
          <a:ln>
            <a:noFill/>
          </a:ln>
        </p:spPr>
      </p:pic>
      <p:sp>
        <p:nvSpPr>
          <p:cNvPr id="1572" name="Google Shape;1572;p55"/>
          <p:cNvSpPr/>
          <p:nvPr/>
        </p:nvSpPr>
        <p:spPr>
          <a:xfrm>
            <a:off x="502920" y="6528816"/>
            <a:ext cx="8686800"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A79D"/>
              </a:buClr>
              <a:buSzPts val="800"/>
              <a:buFont typeface="Calibri"/>
              <a:buNone/>
            </a:pPr>
            <a:r>
              <a:rPr b="1" i="0" lang="en-US" sz="800" u="none" cap="none" strike="noStrike">
                <a:solidFill>
                  <a:srgbClr val="00A79D"/>
                </a:solidFill>
                <a:latin typeface="Calibri"/>
                <a:ea typeface="Calibri"/>
                <a:cs typeface="Calibri"/>
                <a:sym typeface="Calibri"/>
              </a:rPr>
              <a:t>MODULE 3   </a:t>
            </a:r>
            <a:r>
              <a:rPr b="0" i="0" lang="en-US" sz="800" u="none" cap="none" strike="noStrike">
                <a:solidFill>
                  <a:srgbClr val="8A96A6"/>
                </a:solidFill>
                <a:latin typeface="Calibri"/>
                <a:ea typeface="Calibri"/>
                <a:cs typeface="Calibri"/>
                <a:sym typeface="Calibri"/>
              </a:rPr>
              <a:t>SDA-AIE-212 · Computer Vision Systems Development</a:t>
            </a:r>
            <a:endParaRPr b="0" i="0" sz="800" u="none" cap="none" strike="noStrike">
              <a:solidFill>
                <a:schemeClr val="dk1"/>
              </a:solidFill>
              <a:latin typeface="Calibri"/>
              <a:ea typeface="Calibri"/>
              <a:cs typeface="Calibri"/>
              <a:sym typeface="Calibri"/>
            </a:endParaRPr>
          </a:p>
        </p:txBody>
      </p:sp>
      <p:sp>
        <p:nvSpPr>
          <p:cNvPr id="1573" name="Google Shape;1573;p55"/>
          <p:cNvSpPr/>
          <p:nvPr/>
        </p:nvSpPr>
        <p:spPr>
          <a:xfrm>
            <a:off x="11292840" y="6528816"/>
            <a:ext cx="411480" cy="219456"/>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8A96A6"/>
              </a:buClr>
              <a:buSzPts val="900"/>
              <a:buFont typeface="Calibri"/>
              <a:buNone/>
            </a:pPr>
            <a:r>
              <a:rPr b="0" i="0" lang="en-US" sz="900" u="none" cap="none" strike="noStrike">
                <a:solidFill>
                  <a:srgbClr val="8A96A6"/>
                </a:solidFill>
                <a:latin typeface="Calibri"/>
                <a:ea typeface="Calibri"/>
                <a:cs typeface="Calibri"/>
                <a:sym typeface="Calibri"/>
              </a:rPr>
              <a:t>55</a:t>
            </a:r>
            <a:endParaRPr b="0" i="0" sz="900" u="none" cap="none" strike="noStrike">
              <a:solidFill>
                <a:schemeClr val="dk1"/>
              </a:solidFill>
              <a:latin typeface="Calibri"/>
              <a:ea typeface="Calibri"/>
              <a:cs typeface="Calibri"/>
              <a:sym typeface="Calibri"/>
            </a:endParaRPr>
          </a:p>
        </p:txBody>
      </p:sp>
      <p:sp>
        <p:nvSpPr>
          <p:cNvPr id="1574" name="Google Shape;1574;p55"/>
          <p:cNvSpPr/>
          <p:nvPr/>
        </p:nvSpPr>
        <p:spPr>
          <a:xfrm>
            <a:off x="502920" y="1389888"/>
            <a:ext cx="11185855" cy="384048"/>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5F6B7A"/>
              </a:buClr>
              <a:buSzPts val="1250"/>
              <a:buFont typeface="Calibri"/>
              <a:buNone/>
            </a:pPr>
            <a:r>
              <a:rPr b="0" i="1" lang="en-US" sz="1250" u="none" cap="none" strike="noStrike">
                <a:solidFill>
                  <a:srgbClr val="5F6B7A"/>
                </a:solidFill>
                <a:latin typeface="Calibri"/>
                <a:ea typeface="Calibri"/>
                <a:cs typeface="Calibri"/>
                <a:sym typeface="Calibri"/>
              </a:rPr>
              <a:t>Modern YOLOs (2016 → YOLO11) detect in one forward pass; anchor-free heads removed a whole class of anchor-tuning bugs.</a:t>
            </a:r>
            <a:endParaRPr b="0" i="0" sz="1250" u="none" cap="none" strike="noStrike">
              <a:solidFill>
                <a:schemeClr val="dk1"/>
              </a:solidFill>
              <a:latin typeface="Calibri"/>
              <a:ea typeface="Calibri"/>
              <a:cs typeface="Calibri"/>
              <a:sym typeface="Calibri"/>
            </a:endParaRPr>
          </a:p>
        </p:txBody>
      </p:sp>
      <p:sp>
        <p:nvSpPr>
          <p:cNvPr id="1575" name="Google Shape;1575;p55"/>
          <p:cNvSpPr/>
          <p:nvPr/>
        </p:nvSpPr>
        <p:spPr>
          <a:xfrm>
            <a:off x="502920" y="3118104"/>
            <a:ext cx="2508428" cy="1371600"/>
          </a:xfrm>
          <a:prstGeom prst="roundRect">
            <a:avLst>
              <a:gd fmla="val 4667" name="adj"/>
            </a:avLst>
          </a:prstGeom>
          <a:solidFill>
            <a:srgbClr val="F2F6F9"/>
          </a:solidFill>
          <a:ln cap="flat" cmpd="sng" w="15875">
            <a:solidFill>
              <a:srgbClr val="00A79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76" name="Google Shape;1576;p55"/>
          <p:cNvSpPr/>
          <p:nvPr/>
        </p:nvSpPr>
        <p:spPr>
          <a:xfrm>
            <a:off x="576072" y="3172968"/>
            <a:ext cx="2362124" cy="6172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D2A5C"/>
              </a:buClr>
              <a:buSzPts val="1250"/>
              <a:buFont typeface="Calibri"/>
              <a:buNone/>
            </a:pPr>
            <a:r>
              <a:rPr b="1" i="0" lang="en-US" sz="1250" u="none" cap="none" strike="noStrike">
                <a:solidFill>
                  <a:srgbClr val="1D2A5C"/>
                </a:solidFill>
                <a:latin typeface="Calibri"/>
                <a:ea typeface="Calibri"/>
                <a:cs typeface="Calibri"/>
                <a:sym typeface="Calibri"/>
              </a:rPr>
              <a:t>Backbone</a:t>
            </a:r>
            <a:endParaRPr b="0" i="0" sz="1250" u="none" cap="none" strike="noStrike">
              <a:solidFill>
                <a:schemeClr val="dk1"/>
              </a:solidFill>
              <a:latin typeface="Calibri"/>
              <a:ea typeface="Calibri"/>
              <a:cs typeface="Calibri"/>
              <a:sym typeface="Calibri"/>
            </a:endParaRPr>
          </a:p>
        </p:txBody>
      </p:sp>
      <p:sp>
        <p:nvSpPr>
          <p:cNvPr id="1577" name="Google Shape;1577;p55"/>
          <p:cNvSpPr/>
          <p:nvPr/>
        </p:nvSpPr>
        <p:spPr>
          <a:xfrm>
            <a:off x="576072" y="3776472"/>
            <a:ext cx="2362124" cy="658368"/>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rgbClr val="5F6B7A"/>
              </a:buClr>
              <a:buSzPts val="950"/>
              <a:buFont typeface="Calibri"/>
              <a:buNone/>
            </a:pPr>
            <a:r>
              <a:rPr b="0" i="0" lang="en-US" sz="950" u="none" cap="none" strike="noStrike">
                <a:solidFill>
                  <a:srgbClr val="5F6B7A"/>
                </a:solidFill>
                <a:latin typeface="Calibri"/>
                <a:ea typeface="Calibri"/>
                <a:cs typeface="Calibri"/>
                <a:sym typeface="Calibri"/>
              </a:rPr>
              <a:t>CSP CNN — features at strides 8/16/32</a:t>
            </a:r>
            <a:endParaRPr b="0" i="0" sz="950" u="none" cap="none" strike="noStrike">
              <a:solidFill>
                <a:schemeClr val="dk1"/>
              </a:solidFill>
              <a:latin typeface="Calibri"/>
              <a:ea typeface="Calibri"/>
              <a:cs typeface="Calibri"/>
              <a:sym typeface="Calibri"/>
            </a:endParaRPr>
          </a:p>
        </p:txBody>
      </p:sp>
      <p:cxnSp>
        <p:nvCxnSpPr>
          <p:cNvPr id="1578" name="Google Shape;1578;p55"/>
          <p:cNvCxnSpPr/>
          <p:nvPr/>
        </p:nvCxnSpPr>
        <p:spPr>
          <a:xfrm>
            <a:off x="3066212" y="3803904"/>
            <a:ext cx="274320" cy="0"/>
          </a:xfrm>
          <a:prstGeom prst="straightConnector1">
            <a:avLst/>
          </a:prstGeom>
          <a:noFill/>
          <a:ln cap="flat" cmpd="sng" w="19050">
            <a:solidFill>
              <a:srgbClr val="8A96A6"/>
            </a:solidFill>
            <a:prstDash val="solid"/>
            <a:round/>
            <a:headEnd len="sm" w="sm" type="none"/>
            <a:tailEnd len="med" w="med" type="triangle"/>
          </a:ln>
        </p:spPr>
      </p:cxnSp>
      <p:sp>
        <p:nvSpPr>
          <p:cNvPr id="1579" name="Google Shape;1579;p55"/>
          <p:cNvSpPr/>
          <p:nvPr/>
        </p:nvSpPr>
        <p:spPr>
          <a:xfrm>
            <a:off x="3395396" y="3118104"/>
            <a:ext cx="2508428" cy="1371600"/>
          </a:xfrm>
          <a:prstGeom prst="roundRect">
            <a:avLst>
              <a:gd fmla="val 4667" name="adj"/>
            </a:avLst>
          </a:prstGeom>
          <a:solidFill>
            <a:srgbClr val="F2F6F9"/>
          </a:solidFill>
          <a:ln cap="flat" cmpd="sng" w="15875">
            <a:solidFill>
              <a:srgbClr val="00A79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0" name="Google Shape;1580;p55"/>
          <p:cNvSpPr/>
          <p:nvPr/>
        </p:nvSpPr>
        <p:spPr>
          <a:xfrm>
            <a:off x="3468548" y="3172968"/>
            <a:ext cx="2362124" cy="6172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D2A5C"/>
              </a:buClr>
              <a:buSzPts val="1250"/>
              <a:buFont typeface="Calibri"/>
              <a:buNone/>
            </a:pPr>
            <a:r>
              <a:rPr b="1" i="0" lang="en-US" sz="1250" u="none" cap="none" strike="noStrike">
                <a:solidFill>
                  <a:srgbClr val="1D2A5C"/>
                </a:solidFill>
                <a:latin typeface="Calibri"/>
                <a:ea typeface="Calibri"/>
                <a:cs typeface="Calibri"/>
                <a:sym typeface="Calibri"/>
              </a:rPr>
              <a:t>Neck: FPN + PAN</a:t>
            </a:r>
            <a:endParaRPr b="0" i="0" sz="1250" u="none" cap="none" strike="noStrike">
              <a:solidFill>
                <a:schemeClr val="dk1"/>
              </a:solidFill>
              <a:latin typeface="Calibri"/>
              <a:ea typeface="Calibri"/>
              <a:cs typeface="Calibri"/>
              <a:sym typeface="Calibri"/>
            </a:endParaRPr>
          </a:p>
        </p:txBody>
      </p:sp>
      <p:sp>
        <p:nvSpPr>
          <p:cNvPr id="1581" name="Google Shape;1581;p55"/>
          <p:cNvSpPr/>
          <p:nvPr/>
        </p:nvSpPr>
        <p:spPr>
          <a:xfrm>
            <a:off x="3468548" y="3776472"/>
            <a:ext cx="2362124" cy="658368"/>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rgbClr val="5F6B7A"/>
              </a:buClr>
              <a:buSzPts val="950"/>
              <a:buFont typeface="Calibri"/>
              <a:buNone/>
            </a:pPr>
            <a:r>
              <a:rPr b="0" i="0" lang="en-US" sz="950" u="none" cap="none" strike="noStrike">
                <a:solidFill>
                  <a:srgbClr val="5F6B7A"/>
                </a:solidFill>
                <a:latin typeface="Calibri"/>
                <a:ea typeface="Calibri"/>
                <a:cs typeface="Calibri"/>
                <a:sym typeface="Calibri"/>
              </a:rPr>
              <a:t>deep context fused with shallow precision</a:t>
            </a:r>
            <a:endParaRPr b="0" i="0" sz="950" u="none" cap="none" strike="noStrike">
              <a:solidFill>
                <a:schemeClr val="dk1"/>
              </a:solidFill>
              <a:latin typeface="Calibri"/>
              <a:ea typeface="Calibri"/>
              <a:cs typeface="Calibri"/>
              <a:sym typeface="Calibri"/>
            </a:endParaRPr>
          </a:p>
        </p:txBody>
      </p:sp>
      <p:cxnSp>
        <p:nvCxnSpPr>
          <p:cNvPr id="1582" name="Google Shape;1582;p55"/>
          <p:cNvCxnSpPr/>
          <p:nvPr/>
        </p:nvCxnSpPr>
        <p:spPr>
          <a:xfrm>
            <a:off x="5958688" y="3803904"/>
            <a:ext cx="274320" cy="0"/>
          </a:xfrm>
          <a:prstGeom prst="straightConnector1">
            <a:avLst/>
          </a:prstGeom>
          <a:noFill/>
          <a:ln cap="flat" cmpd="sng" w="19050">
            <a:solidFill>
              <a:srgbClr val="8A96A6"/>
            </a:solidFill>
            <a:prstDash val="solid"/>
            <a:round/>
            <a:headEnd len="sm" w="sm" type="none"/>
            <a:tailEnd len="med" w="med" type="triangle"/>
          </a:ln>
        </p:spPr>
      </p:cxnSp>
      <p:sp>
        <p:nvSpPr>
          <p:cNvPr id="1583" name="Google Shape;1583;p55"/>
          <p:cNvSpPr/>
          <p:nvPr/>
        </p:nvSpPr>
        <p:spPr>
          <a:xfrm>
            <a:off x="6287872" y="3118104"/>
            <a:ext cx="2508428" cy="1371600"/>
          </a:xfrm>
          <a:prstGeom prst="roundRect">
            <a:avLst>
              <a:gd fmla="val 4667" name="adj"/>
            </a:avLst>
          </a:prstGeom>
          <a:solidFill>
            <a:srgbClr val="F2F6F9"/>
          </a:solidFill>
          <a:ln cap="flat" cmpd="sng" w="15875">
            <a:solidFill>
              <a:srgbClr val="00A79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4" name="Google Shape;1584;p55"/>
          <p:cNvSpPr/>
          <p:nvPr/>
        </p:nvSpPr>
        <p:spPr>
          <a:xfrm>
            <a:off x="6361024" y="3172968"/>
            <a:ext cx="2362124" cy="6172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D2A5C"/>
              </a:buClr>
              <a:buSzPts val="1250"/>
              <a:buFont typeface="Calibri"/>
              <a:buNone/>
            </a:pPr>
            <a:r>
              <a:rPr b="1" i="0" lang="en-US" sz="1250" u="none" cap="none" strike="noStrike">
                <a:solidFill>
                  <a:srgbClr val="1D2A5C"/>
                </a:solidFill>
                <a:latin typeface="Calibri"/>
                <a:ea typeface="Calibri"/>
                <a:cs typeface="Calibri"/>
                <a:sym typeface="Calibri"/>
              </a:rPr>
              <a:t>Decoupled head</a:t>
            </a:r>
            <a:endParaRPr b="0" i="0" sz="1250" u="none" cap="none" strike="noStrike">
              <a:solidFill>
                <a:schemeClr val="dk1"/>
              </a:solidFill>
              <a:latin typeface="Calibri"/>
              <a:ea typeface="Calibri"/>
              <a:cs typeface="Calibri"/>
              <a:sym typeface="Calibri"/>
            </a:endParaRPr>
          </a:p>
        </p:txBody>
      </p:sp>
      <p:sp>
        <p:nvSpPr>
          <p:cNvPr id="1585" name="Google Shape;1585;p55"/>
          <p:cNvSpPr/>
          <p:nvPr/>
        </p:nvSpPr>
        <p:spPr>
          <a:xfrm>
            <a:off x="6361024" y="3776472"/>
            <a:ext cx="2362124" cy="658368"/>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rgbClr val="5F6B7A"/>
              </a:buClr>
              <a:buSzPts val="950"/>
              <a:buFont typeface="Calibri"/>
              <a:buNone/>
            </a:pPr>
            <a:r>
              <a:rPr b="0" i="0" lang="en-US" sz="950" u="none" cap="none" strike="noStrike">
                <a:solidFill>
                  <a:srgbClr val="5F6B7A"/>
                </a:solidFill>
                <a:latin typeface="Calibri"/>
                <a:ea typeface="Calibri"/>
                <a:cs typeface="Calibri"/>
                <a:sym typeface="Calibri"/>
              </a:rPr>
              <a:t>per-cell class + box, anchor-free</a:t>
            </a:r>
            <a:endParaRPr b="0" i="0" sz="950" u="none" cap="none" strike="noStrike">
              <a:solidFill>
                <a:schemeClr val="dk1"/>
              </a:solidFill>
              <a:latin typeface="Calibri"/>
              <a:ea typeface="Calibri"/>
              <a:cs typeface="Calibri"/>
              <a:sym typeface="Calibri"/>
            </a:endParaRPr>
          </a:p>
        </p:txBody>
      </p:sp>
      <p:cxnSp>
        <p:nvCxnSpPr>
          <p:cNvPr id="1586" name="Google Shape;1586;p55"/>
          <p:cNvCxnSpPr/>
          <p:nvPr/>
        </p:nvCxnSpPr>
        <p:spPr>
          <a:xfrm>
            <a:off x="8851163" y="3803904"/>
            <a:ext cx="274320" cy="0"/>
          </a:xfrm>
          <a:prstGeom prst="straightConnector1">
            <a:avLst/>
          </a:prstGeom>
          <a:noFill/>
          <a:ln cap="flat" cmpd="sng" w="19050">
            <a:solidFill>
              <a:srgbClr val="8A96A6"/>
            </a:solidFill>
            <a:prstDash val="solid"/>
            <a:round/>
            <a:headEnd len="sm" w="sm" type="none"/>
            <a:tailEnd len="med" w="med" type="triangle"/>
          </a:ln>
        </p:spPr>
      </p:cxnSp>
      <p:sp>
        <p:nvSpPr>
          <p:cNvPr id="1587" name="Google Shape;1587;p55"/>
          <p:cNvSpPr/>
          <p:nvPr/>
        </p:nvSpPr>
        <p:spPr>
          <a:xfrm>
            <a:off x="9180347" y="3118104"/>
            <a:ext cx="2508428" cy="1371600"/>
          </a:xfrm>
          <a:prstGeom prst="roundRect">
            <a:avLst>
              <a:gd fmla="val 4667" name="adj"/>
            </a:avLst>
          </a:prstGeom>
          <a:solidFill>
            <a:srgbClr val="1D2A5C"/>
          </a:solidFill>
          <a:ln cap="flat" cmpd="sng" w="15875">
            <a:solidFill>
              <a:srgbClr val="00A79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8" name="Google Shape;1588;p55"/>
          <p:cNvSpPr/>
          <p:nvPr/>
        </p:nvSpPr>
        <p:spPr>
          <a:xfrm>
            <a:off x="9253499" y="3172968"/>
            <a:ext cx="2362124" cy="6172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250"/>
              <a:buFont typeface="Calibri"/>
              <a:buNone/>
            </a:pPr>
            <a:r>
              <a:rPr b="1" i="0" lang="en-US" sz="1250" u="none" cap="none" strike="noStrike">
                <a:solidFill>
                  <a:srgbClr val="FFFFFF"/>
                </a:solidFill>
                <a:latin typeface="Calibri"/>
                <a:ea typeface="Calibri"/>
                <a:cs typeface="Calibri"/>
                <a:sym typeface="Calibri"/>
              </a:rPr>
              <a:t>(box, class, conf)</a:t>
            </a:r>
            <a:endParaRPr b="0" i="0" sz="1250" u="none" cap="none" strike="noStrike">
              <a:solidFill>
                <a:schemeClr val="dk1"/>
              </a:solidFill>
              <a:latin typeface="Calibri"/>
              <a:ea typeface="Calibri"/>
              <a:cs typeface="Calibri"/>
              <a:sym typeface="Calibri"/>
            </a:endParaRPr>
          </a:p>
        </p:txBody>
      </p:sp>
      <p:sp>
        <p:nvSpPr>
          <p:cNvPr id="1589" name="Google Shape;1589;p55"/>
          <p:cNvSpPr/>
          <p:nvPr/>
        </p:nvSpPr>
        <p:spPr>
          <a:xfrm>
            <a:off x="9253499" y="3776472"/>
            <a:ext cx="2362124" cy="658368"/>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rgbClr val="B9C8E8"/>
              </a:buClr>
              <a:buSzPts val="950"/>
              <a:buFont typeface="Calibri"/>
              <a:buNone/>
            </a:pPr>
            <a:r>
              <a:rPr b="0" i="0" lang="en-US" sz="950" u="none" cap="none" strike="noStrike">
                <a:solidFill>
                  <a:srgbClr val="B9C8E8"/>
                </a:solidFill>
                <a:latin typeface="Calibri"/>
                <a:ea typeface="Calibri"/>
                <a:cs typeface="Calibri"/>
                <a:sym typeface="Calibri"/>
              </a:rPr>
              <a:t>loss: CIoU + BCE + DFL</a:t>
            </a:r>
            <a:endParaRPr b="0" i="0" sz="950" u="none" cap="none" strike="noStrike">
              <a:solidFill>
                <a:schemeClr val="dk1"/>
              </a:solidFill>
              <a:latin typeface="Calibri"/>
              <a:ea typeface="Calibri"/>
              <a:cs typeface="Calibri"/>
              <a:sym typeface="Calibri"/>
            </a:endParaRPr>
          </a:p>
        </p:txBody>
      </p:sp>
      <p:cxnSp>
        <p:nvCxnSpPr>
          <p:cNvPr id="1590" name="Google Shape;1590;p55"/>
          <p:cNvCxnSpPr/>
          <p:nvPr/>
        </p:nvCxnSpPr>
        <p:spPr>
          <a:xfrm>
            <a:off x="10434561" y="4489704"/>
            <a:ext cx="0" cy="274320"/>
          </a:xfrm>
          <a:prstGeom prst="straightConnector1">
            <a:avLst/>
          </a:prstGeom>
          <a:noFill/>
          <a:ln cap="flat" cmpd="sng" w="15875">
            <a:solidFill>
              <a:srgbClr val="E8503A"/>
            </a:solidFill>
            <a:prstDash val="dash"/>
            <a:round/>
            <a:headEnd len="sm" w="sm" type="none"/>
            <a:tailEnd len="sm" w="sm" type="none"/>
          </a:ln>
        </p:spPr>
      </p:cxnSp>
      <p:sp>
        <p:nvSpPr>
          <p:cNvPr id="1591" name="Google Shape;1591;p55"/>
          <p:cNvSpPr/>
          <p:nvPr/>
        </p:nvSpPr>
        <p:spPr>
          <a:xfrm>
            <a:off x="9134627" y="4764024"/>
            <a:ext cx="2599868" cy="475488"/>
          </a:xfrm>
          <a:prstGeom prst="roundRect">
            <a:avLst>
              <a:gd fmla="val 11538" name="adj"/>
            </a:avLst>
          </a:prstGeom>
          <a:solidFill>
            <a:srgbClr val="FDEDEA"/>
          </a:solidFill>
          <a:ln cap="flat" cmpd="sng" w="12700">
            <a:solidFill>
              <a:srgbClr val="E8503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2" name="Google Shape;1592;p55"/>
          <p:cNvSpPr/>
          <p:nvPr/>
        </p:nvSpPr>
        <p:spPr>
          <a:xfrm>
            <a:off x="9180347" y="4764024"/>
            <a:ext cx="2508428" cy="47548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E8503A"/>
              </a:buClr>
              <a:buSzPts val="950"/>
              <a:buFont typeface="Calibri"/>
              <a:buNone/>
            </a:pPr>
            <a:r>
              <a:rPr b="1" i="0" lang="en-US" sz="950" u="none" cap="none" strike="noStrike">
                <a:solidFill>
                  <a:srgbClr val="E8503A"/>
                </a:solidFill>
                <a:latin typeface="Calibri"/>
                <a:ea typeface="Calibri"/>
                <a:cs typeface="Calibri"/>
                <a:sym typeface="Calibri"/>
              </a:rPr>
              <a:t>box_loss plateaus, cls_loss falls = annotation quality</a:t>
            </a:r>
            <a:endParaRPr b="0" i="0" sz="950" u="none" cap="none" strike="noStrike">
              <a:solidFill>
                <a:schemeClr val="dk1"/>
              </a:solidFill>
              <a:latin typeface="Calibri"/>
              <a:ea typeface="Calibri"/>
              <a:cs typeface="Calibri"/>
              <a:sym typeface="Calibri"/>
            </a:endParaRPr>
          </a:p>
        </p:txBody>
      </p:sp>
    </p:spTree>
  </p:cSld>
  <p:clrMapOvr>
    <a:masterClrMapping/>
  </p:clrMapOvr>
</p:sld>
</file>

<file path=ppt/slides/slide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597" name="Shape 1597"/>
        <p:cNvGrpSpPr/>
        <p:nvPr/>
      </p:nvGrpSpPr>
      <p:grpSpPr>
        <a:xfrm>
          <a:off x="0" y="0"/>
          <a:ext cx="0" cy="0"/>
          <a:chOff x="0" y="0"/>
          <a:chExt cx="0" cy="0"/>
        </a:xfrm>
      </p:grpSpPr>
      <p:sp>
        <p:nvSpPr>
          <p:cNvPr id="1598" name="Google Shape;1598;p56"/>
          <p:cNvSpPr/>
          <p:nvPr/>
        </p:nvSpPr>
        <p:spPr>
          <a:xfrm>
            <a:off x="502920" y="274320"/>
            <a:ext cx="9646920" cy="56692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D2A5C"/>
              </a:buClr>
              <a:buSzPts val="2700"/>
              <a:buFont typeface="Calibri"/>
              <a:buNone/>
            </a:pPr>
            <a:r>
              <a:rPr b="1" i="0" lang="en-US" sz="2700" u="none" cap="none" strike="noStrike">
                <a:solidFill>
                  <a:srgbClr val="1D2A5C"/>
                </a:solidFill>
                <a:latin typeface="Calibri"/>
                <a:ea typeface="Calibri"/>
                <a:cs typeface="Calibri"/>
                <a:sym typeface="Calibri"/>
              </a:rPr>
              <a:t>One-Stage vs Two-Stage Detectors</a:t>
            </a:r>
            <a:endParaRPr b="0" i="0" sz="2700" u="none" cap="none" strike="noStrike">
              <a:solidFill>
                <a:schemeClr val="dk1"/>
              </a:solidFill>
              <a:latin typeface="Calibri"/>
              <a:ea typeface="Calibri"/>
              <a:cs typeface="Calibri"/>
              <a:sym typeface="Calibri"/>
            </a:endParaRPr>
          </a:p>
        </p:txBody>
      </p:sp>
      <p:sp>
        <p:nvSpPr>
          <p:cNvPr id="1599" name="Google Shape;1599;p56"/>
          <p:cNvSpPr/>
          <p:nvPr/>
        </p:nvSpPr>
        <p:spPr>
          <a:xfrm>
            <a:off x="502920" y="859536"/>
            <a:ext cx="9646920" cy="31089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F6B7A"/>
              </a:buClr>
              <a:buSzPts val="1250"/>
              <a:buFont typeface="Arial"/>
              <a:buNone/>
            </a:pPr>
            <a:r>
              <a:rPr b="0" i="0" lang="en-US" sz="1250" u="none" cap="none" strike="noStrike">
                <a:solidFill>
                  <a:srgbClr val="5F6B7A"/>
                </a:solidFill>
                <a:latin typeface="Arial"/>
                <a:ea typeface="Arial"/>
                <a:cs typeface="Arial"/>
                <a:sym typeface="Arial"/>
              </a:rPr>
              <a:t>أحادي المرحلة مقابل ثنائي المرحلة</a:t>
            </a:r>
            <a:endParaRPr b="0" i="0" sz="1250" u="none" cap="none" strike="noStrike">
              <a:solidFill>
                <a:schemeClr val="dk1"/>
              </a:solidFill>
              <a:latin typeface="Calibri"/>
              <a:ea typeface="Calibri"/>
              <a:cs typeface="Calibri"/>
              <a:sym typeface="Calibri"/>
            </a:endParaRPr>
          </a:p>
        </p:txBody>
      </p:sp>
      <p:pic>
        <p:nvPicPr>
          <p:cNvPr descr="/sessions/blissful-determined-ritchie/build/assets/sdaia_logo.png" id="1600" name="Google Shape;1600;p56"/>
          <p:cNvPicPr preferRelativeResize="0"/>
          <p:nvPr/>
        </p:nvPicPr>
        <p:blipFill rotWithShape="1">
          <a:blip r:embed="rId3">
            <a:alphaModFix/>
          </a:blip>
          <a:srcRect b="0" l="0" r="0" t="0"/>
          <a:stretch/>
        </p:blipFill>
        <p:spPr>
          <a:xfrm>
            <a:off x="10625328" y="310896"/>
            <a:ext cx="1078992" cy="264111"/>
          </a:xfrm>
          <a:prstGeom prst="rect">
            <a:avLst/>
          </a:prstGeom>
          <a:noFill/>
          <a:ln>
            <a:noFill/>
          </a:ln>
        </p:spPr>
      </p:pic>
      <p:sp>
        <p:nvSpPr>
          <p:cNvPr id="1601" name="Google Shape;1601;p56"/>
          <p:cNvSpPr/>
          <p:nvPr/>
        </p:nvSpPr>
        <p:spPr>
          <a:xfrm>
            <a:off x="502920" y="6528816"/>
            <a:ext cx="8686800"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A79D"/>
              </a:buClr>
              <a:buSzPts val="800"/>
              <a:buFont typeface="Calibri"/>
              <a:buNone/>
            </a:pPr>
            <a:r>
              <a:rPr b="1" i="0" lang="en-US" sz="800" u="none" cap="none" strike="noStrike">
                <a:solidFill>
                  <a:srgbClr val="00A79D"/>
                </a:solidFill>
                <a:latin typeface="Calibri"/>
                <a:ea typeface="Calibri"/>
                <a:cs typeface="Calibri"/>
                <a:sym typeface="Calibri"/>
              </a:rPr>
              <a:t>MODULE 3   </a:t>
            </a:r>
            <a:r>
              <a:rPr b="0" i="0" lang="en-US" sz="800" u="none" cap="none" strike="noStrike">
                <a:solidFill>
                  <a:srgbClr val="8A96A6"/>
                </a:solidFill>
                <a:latin typeface="Calibri"/>
                <a:ea typeface="Calibri"/>
                <a:cs typeface="Calibri"/>
                <a:sym typeface="Calibri"/>
              </a:rPr>
              <a:t>SDA-AIE-212 · Computer Vision Systems Development</a:t>
            </a:r>
            <a:endParaRPr b="0" i="0" sz="800" u="none" cap="none" strike="noStrike">
              <a:solidFill>
                <a:schemeClr val="dk1"/>
              </a:solidFill>
              <a:latin typeface="Calibri"/>
              <a:ea typeface="Calibri"/>
              <a:cs typeface="Calibri"/>
              <a:sym typeface="Calibri"/>
            </a:endParaRPr>
          </a:p>
        </p:txBody>
      </p:sp>
      <p:sp>
        <p:nvSpPr>
          <p:cNvPr id="1602" name="Google Shape;1602;p56"/>
          <p:cNvSpPr/>
          <p:nvPr/>
        </p:nvSpPr>
        <p:spPr>
          <a:xfrm>
            <a:off x="11292840" y="6528816"/>
            <a:ext cx="411480" cy="219456"/>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8A96A6"/>
              </a:buClr>
              <a:buSzPts val="900"/>
              <a:buFont typeface="Calibri"/>
              <a:buNone/>
            </a:pPr>
            <a:r>
              <a:rPr b="0" i="0" lang="en-US" sz="900" u="none" cap="none" strike="noStrike">
                <a:solidFill>
                  <a:srgbClr val="8A96A6"/>
                </a:solidFill>
                <a:latin typeface="Calibri"/>
                <a:ea typeface="Calibri"/>
                <a:cs typeface="Calibri"/>
                <a:sym typeface="Calibri"/>
              </a:rPr>
              <a:t>56</a:t>
            </a:r>
            <a:endParaRPr b="0" i="0" sz="900" u="none" cap="none" strike="noStrike">
              <a:solidFill>
                <a:schemeClr val="dk1"/>
              </a:solidFill>
              <a:latin typeface="Calibri"/>
              <a:ea typeface="Calibri"/>
              <a:cs typeface="Calibri"/>
              <a:sym typeface="Calibri"/>
            </a:endParaRPr>
          </a:p>
        </p:txBody>
      </p:sp>
      <p:sp>
        <p:nvSpPr>
          <p:cNvPr id="1603" name="Google Shape;1603;p56"/>
          <p:cNvSpPr/>
          <p:nvPr/>
        </p:nvSpPr>
        <p:spPr>
          <a:xfrm>
            <a:off x="502920" y="1389888"/>
            <a:ext cx="5432908" cy="2459736"/>
          </a:xfrm>
          <a:prstGeom prst="roundRect">
            <a:avLst>
              <a:gd fmla="val 3346" name="adj"/>
            </a:avLst>
          </a:prstGeom>
          <a:solidFill>
            <a:srgbClr val="F2F6F9"/>
          </a:solidFill>
          <a:ln cap="flat" cmpd="sng" w="12700">
            <a:solidFill>
              <a:srgbClr val="D9E2E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04" name="Google Shape;1604;p56"/>
          <p:cNvSpPr/>
          <p:nvPr/>
        </p:nvSpPr>
        <p:spPr>
          <a:xfrm>
            <a:off x="704088" y="1581912"/>
            <a:ext cx="146304" cy="146304"/>
          </a:xfrm>
          <a:prstGeom prst="ellipse">
            <a:avLst/>
          </a:prstGeom>
          <a:solidFill>
            <a:srgbClr val="00A79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05" name="Google Shape;1605;p56"/>
          <p:cNvSpPr/>
          <p:nvPr/>
        </p:nvSpPr>
        <p:spPr>
          <a:xfrm>
            <a:off x="960120" y="1481328"/>
            <a:ext cx="4838548"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D2A5C"/>
              </a:buClr>
              <a:buSzPts val="1400"/>
              <a:buFont typeface="Calibri"/>
              <a:buNone/>
            </a:pPr>
            <a:r>
              <a:rPr b="1" i="0" lang="en-US" sz="1400" u="none" cap="none" strike="noStrike">
                <a:solidFill>
                  <a:srgbClr val="1D2A5C"/>
                </a:solidFill>
                <a:latin typeface="Calibri"/>
                <a:ea typeface="Calibri"/>
                <a:cs typeface="Calibri"/>
                <a:sym typeface="Calibri"/>
              </a:rPr>
              <a:t>Single-stage (YOLO family)</a:t>
            </a:r>
            <a:endParaRPr b="0" i="0" sz="1400" u="none" cap="none" strike="noStrike">
              <a:solidFill>
                <a:schemeClr val="dk1"/>
              </a:solidFill>
              <a:latin typeface="Calibri"/>
              <a:ea typeface="Calibri"/>
              <a:cs typeface="Calibri"/>
              <a:sym typeface="Calibri"/>
            </a:endParaRPr>
          </a:p>
        </p:txBody>
      </p:sp>
      <p:sp>
        <p:nvSpPr>
          <p:cNvPr id="1606" name="Google Shape;1606;p56"/>
          <p:cNvSpPr/>
          <p:nvPr/>
        </p:nvSpPr>
        <p:spPr>
          <a:xfrm>
            <a:off x="758952" y="1920240"/>
            <a:ext cx="4975708" cy="1801368"/>
          </a:xfrm>
          <a:prstGeom prst="rect">
            <a:avLst/>
          </a:prstGeom>
          <a:noFill/>
          <a:ln>
            <a:noFill/>
          </a:ln>
        </p:spPr>
        <p:txBody>
          <a:bodyPr anchorCtr="0" anchor="t" bIns="0" lIns="0" spcFirstLastPara="1" rIns="0" wrap="square" tIns="0">
            <a:noAutofit/>
          </a:bodyPr>
          <a:lstStyle/>
          <a:p>
            <a:pPr indent="-152400" lvl="0" marL="152400" marR="0" rtl="0" algn="l">
              <a:spcBef>
                <a:spcPts val="0"/>
              </a:spcBef>
              <a:spcAft>
                <a:spcPts val="0"/>
              </a:spcAft>
              <a:buClr>
                <a:srgbClr val="23293B"/>
              </a:buClr>
              <a:buSzPts val="1150"/>
              <a:buFont typeface="Calibri"/>
              <a:buChar char="•"/>
            </a:pPr>
            <a:r>
              <a:rPr b="0" i="0" lang="en-US" sz="1150" u="none" cap="none" strike="noStrike">
                <a:solidFill>
                  <a:srgbClr val="23293B"/>
                </a:solidFill>
                <a:latin typeface="Calibri"/>
                <a:ea typeface="Calibri"/>
                <a:cs typeface="Calibri"/>
                <a:sym typeface="Calibri"/>
              </a:rPr>
              <a:t>Detection in one forward pass — 62 FPS</a:t>
            </a:r>
            <a:endParaRPr b="0" i="0" sz="1150" u="none" cap="none" strike="noStrike">
              <a:solidFill>
                <a:schemeClr val="dk1"/>
              </a:solidFill>
              <a:latin typeface="Calibri"/>
              <a:ea typeface="Calibri"/>
              <a:cs typeface="Calibri"/>
              <a:sym typeface="Calibri"/>
            </a:endParaRPr>
          </a:p>
          <a:p>
            <a:pPr indent="-152400" lvl="0" marL="152400" marR="0" rtl="0" algn="l">
              <a:spcBef>
                <a:spcPts val="700"/>
              </a:spcBef>
              <a:spcAft>
                <a:spcPts val="0"/>
              </a:spcAft>
              <a:buClr>
                <a:srgbClr val="23293B"/>
              </a:buClr>
              <a:buSzPts val="1150"/>
              <a:buFont typeface="Calibri"/>
              <a:buChar char="•"/>
            </a:pPr>
            <a:r>
              <a:rPr b="0" i="0" lang="en-US" sz="1150" u="none" cap="none" strike="noStrike">
                <a:solidFill>
                  <a:srgbClr val="23293B"/>
                </a:solidFill>
                <a:latin typeface="Calibri"/>
                <a:ea typeface="Calibri"/>
                <a:cs typeface="Calibri"/>
                <a:sym typeface="Calibri"/>
              </a:rPr>
              <a:t>Anchor-free head: fewer tuning bugs</a:t>
            </a:r>
            <a:endParaRPr b="0" i="0" sz="1150" u="none" cap="none" strike="noStrike">
              <a:solidFill>
                <a:schemeClr val="dk1"/>
              </a:solidFill>
              <a:latin typeface="Calibri"/>
              <a:ea typeface="Calibri"/>
              <a:cs typeface="Calibri"/>
              <a:sym typeface="Calibri"/>
            </a:endParaRPr>
          </a:p>
          <a:p>
            <a:pPr indent="-152400" lvl="0" marL="152400" marR="0" rtl="0" algn="l">
              <a:spcBef>
                <a:spcPts val="700"/>
              </a:spcBef>
              <a:spcAft>
                <a:spcPts val="0"/>
              </a:spcAft>
              <a:buClr>
                <a:srgbClr val="23293B"/>
              </a:buClr>
              <a:buSzPts val="1150"/>
              <a:buFont typeface="Calibri"/>
              <a:buChar char="•"/>
            </a:pPr>
            <a:r>
              <a:rPr b="0" i="0" lang="en-US" sz="1150" u="none" cap="none" strike="noStrike">
                <a:solidFill>
                  <a:srgbClr val="23293B"/>
                </a:solidFill>
                <a:latin typeface="Calibri"/>
                <a:ea typeface="Calibri"/>
                <a:cs typeface="Calibri"/>
                <a:sym typeface="Calibri"/>
              </a:rPr>
              <a:t>Fastest path from boxes to working model</a:t>
            </a:r>
            <a:endParaRPr b="0" i="0" sz="1150" u="none" cap="none" strike="noStrike">
              <a:solidFill>
                <a:schemeClr val="dk1"/>
              </a:solidFill>
              <a:latin typeface="Calibri"/>
              <a:ea typeface="Calibri"/>
              <a:cs typeface="Calibri"/>
              <a:sym typeface="Calibri"/>
            </a:endParaRPr>
          </a:p>
          <a:p>
            <a:pPr indent="-152400" lvl="0" marL="152400" marR="0" rtl="0" algn="l">
              <a:spcBef>
                <a:spcPts val="700"/>
              </a:spcBef>
              <a:spcAft>
                <a:spcPts val="0"/>
              </a:spcAft>
              <a:buClr>
                <a:srgbClr val="23293B"/>
              </a:buClr>
              <a:buSzPts val="1150"/>
              <a:buFont typeface="Calibri"/>
              <a:buChar char="•"/>
            </a:pPr>
            <a:r>
              <a:rPr b="0" i="0" lang="en-US" sz="1150" u="none" cap="none" strike="noStrike">
                <a:solidFill>
                  <a:srgbClr val="23293B"/>
                </a:solidFill>
                <a:latin typeface="Calibri"/>
                <a:ea typeface="Calibri"/>
                <a:cs typeface="Calibri"/>
                <a:sym typeface="Calibri"/>
              </a:rPr>
              <a:t>Course choice for the golden thread</a:t>
            </a:r>
            <a:endParaRPr b="0" i="0" sz="1150" u="none" cap="none" strike="noStrike">
              <a:solidFill>
                <a:schemeClr val="dk1"/>
              </a:solidFill>
              <a:latin typeface="Calibri"/>
              <a:ea typeface="Calibri"/>
              <a:cs typeface="Calibri"/>
              <a:sym typeface="Calibri"/>
            </a:endParaRPr>
          </a:p>
        </p:txBody>
      </p:sp>
      <p:sp>
        <p:nvSpPr>
          <p:cNvPr id="1607" name="Google Shape;1607;p56"/>
          <p:cNvSpPr/>
          <p:nvPr/>
        </p:nvSpPr>
        <p:spPr>
          <a:xfrm>
            <a:off x="6255868" y="1389888"/>
            <a:ext cx="5432908" cy="2459736"/>
          </a:xfrm>
          <a:prstGeom prst="roundRect">
            <a:avLst>
              <a:gd fmla="val 3346" name="adj"/>
            </a:avLst>
          </a:prstGeom>
          <a:solidFill>
            <a:srgbClr val="F2F6F9"/>
          </a:solidFill>
          <a:ln cap="flat" cmpd="sng" w="12700">
            <a:solidFill>
              <a:srgbClr val="D9E2E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08" name="Google Shape;1608;p56"/>
          <p:cNvSpPr/>
          <p:nvPr/>
        </p:nvSpPr>
        <p:spPr>
          <a:xfrm>
            <a:off x="6457036" y="1581912"/>
            <a:ext cx="146304" cy="146304"/>
          </a:xfrm>
          <a:prstGeom prst="ellipse">
            <a:avLst/>
          </a:prstGeom>
          <a:solidFill>
            <a:srgbClr val="29ABE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09" name="Google Shape;1609;p56"/>
          <p:cNvSpPr/>
          <p:nvPr/>
        </p:nvSpPr>
        <p:spPr>
          <a:xfrm>
            <a:off x="6713068" y="1481328"/>
            <a:ext cx="4838548"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D2A5C"/>
              </a:buClr>
              <a:buSzPts val="1400"/>
              <a:buFont typeface="Calibri"/>
              <a:buNone/>
            </a:pPr>
            <a:r>
              <a:rPr b="1" i="0" lang="en-US" sz="1400" u="none" cap="none" strike="noStrike">
                <a:solidFill>
                  <a:srgbClr val="1D2A5C"/>
                </a:solidFill>
                <a:latin typeface="Calibri"/>
                <a:ea typeface="Calibri"/>
                <a:cs typeface="Calibri"/>
                <a:sym typeface="Calibri"/>
              </a:rPr>
              <a:t>Two-stage (Faster R-CNN)</a:t>
            </a:r>
            <a:endParaRPr b="0" i="0" sz="1400" u="none" cap="none" strike="noStrike">
              <a:solidFill>
                <a:schemeClr val="dk1"/>
              </a:solidFill>
              <a:latin typeface="Calibri"/>
              <a:ea typeface="Calibri"/>
              <a:cs typeface="Calibri"/>
              <a:sym typeface="Calibri"/>
            </a:endParaRPr>
          </a:p>
        </p:txBody>
      </p:sp>
      <p:sp>
        <p:nvSpPr>
          <p:cNvPr id="1610" name="Google Shape;1610;p56"/>
          <p:cNvSpPr/>
          <p:nvPr/>
        </p:nvSpPr>
        <p:spPr>
          <a:xfrm>
            <a:off x="6511900" y="1920240"/>
            <a:ext cx="4975708" cy="1801368"/>
          </a:xfrm>
          <a:prstGeom prst="rect">
            <a:avLst/>
          </a:prstGeom>
          <a:noFill/>
          <a:ln>
            <a:noFill/>
          </a:ln>
        </p:spPr>
        <p:txBody>
          <a:bodyPr anchorCtr="0" anchor="t" bIns="0" lIns="0" spcFirstLastPara="1" rIns="0" wrap="square" tIns="0">
            <a:noAutofit/>
          </a:bodyPr>
          <a:lstStyle/>
          <a:p>
            <a:pPr indent="-152400" lvl="0" marL="152400" marR="0" rtl="0" algn="l">
              <a:spcBef>
                <a:spcPts val="0"/>
              </a:spcBef>
              <a:spcAft>
                <a:spcPts val="0"/>
              </a:spcAft>
              <a:buClr>
                <a:srgbClr val="23293B"/>
              </a:buClr>
              <a:buSzPts val="1150"/>
              <a:buFont typeface="Calibri"/>
              <a:buChar char="•"/>
            </a:pPr>
            <a:r>
              <a:rPr b="0" i="0" lang="en-US" sz="1150" u="none" cap="none" strike="noStrike">
                <a:solidFill>
                  <a:srgbClr val="23293B"/>
                </a:solidFill>
                <a:latin typeface="Calibri"/>
                <a:ea typeface="Calibri"/>
                <a:cs typeface="Calibri"/>
                <a:sym typeface="Calibri"/>
              </a:rPr>
              <a:t>Region proposals, then per-region classification</a:t>
            </a:r>
            <a:endParaRPr b="0" i="0" sz="1150" u="none" cap="none" strike="noStrike">
              <a:solidFill>
                <a:schemeClr val="dk1"/>
              </a:solidFill>
              <a:latin typeface="Calibri"/>
              <a:ea typeface="Calibri"/>
              <a:cs typeface="Calibri"/>
              <a:sym typeface="Calibri"/>
            </a:endParaRPr>
          </a:p>
          <a:p>
            <a:pPr indent="-152400" lvl="0" marL="152400" marR="0" rtl="0" algn="l">
              <a:spcBef>
                <a:spcPts val="700"/>
              </a:spcBef>
              <a:spcAft>
                <a:spcPts val="0"/>
              </a:spcAft>
              <a:buClr>
                <a:srgbClr val="23293B"/>
              </a:buClr>
              <a:buSzPts val="1150"/>
              <a:buFont typeface="Calibri"/>
              <a:buChar char="•"/>
            </a:pPr>
            <a:r>
              <a:rPr b="0" i="0" lang="en-US" sz="1150" u="none" cap="none" strike="noStrike">
                <a:solidFill>
                  <a:srgbClr val="23293B"/>
                </a:solidFill>
                <a:latin typeface="Calibri"/>
                <a:ea typeface="Calibri"/>
                <a:cs typeface="Calibri"/>
                <a:sym typeface="Calibri"/>
              </a:rPr>
              <a:t>Slightly better small-object / crowded scenes</a:t>
            </a:r>
            <a:endParaRPr b="0" i="0" sz="1150" u="none" cap="none" strike="noStrike">
              <a:solidFill>
                <a:schemeClr val="dk1"/>
              </a:solidFill>
              <a:latin typeface="Calibri"/>
              <a:ea typeface="Calibri"/>
              <a:cs typeface="Calibri"/>
              <a:sym typeface="Calibri"/>
            </a:endParaRPr>
          </a:p>
          <a:p>
            <a:pPr indent="-152400" lvl="0" marL="152400" marR="0" rtl="0" algn="l">
              <a:spcBef>
                <a:spcPts val="700"/>
              </a:spcBef>
              <a:spcAft>
                <a:spcPts val="0"/>
              </a:spcAft>
              <a:buClr>
                <a:srgbClr val="23293B"/>
              </a:buClr>
              <a:buSzPts val="1150"/>
              <a:buFont typeface="Calibri"/>
              <a:buChar char="•"/>
            </a:pPr>
            <a:r>
              <a:rPr b="0" i="0" lang="en-US" sz="1150" u="none" cap="none" strike="noStrike">
                <a:solidFill>
                  <a:srgbClr val="23293B"/>
                </a:solidFill>
                <a:latin typeface="Calibri"/>
                <a:ea typeface="Calibri"/>
                <a:cs typeface="Calibri"/>
                <a:sym typeface="Calibri"/>
              </a:rPr>
              <a:t>Trades speed for accuracy margins</a:t>
            </a:r>
            <a:endParaRPr b="0" i="0" sz="1150" u="none" cap="none" strike="noStrike">
              <a:solidFill>
                <a:schemeClr val="dk1"/>
              </a:solidFill>
              <a:latin typeface="Calibri"/>
              <a:ea typeface="Calibri"/>
              <a:cs typeface="Calibri"/>
              <a:sym typeface="Calibri"/>
            </a:endParaRPr>
          </a:p>
          <a:p>
            <a:pPr indent="-152400" lvl="0" marL="152400" marR="0" rtl="0" algn="l">
              <a:spcBef>
                <a:spcPts val="700"/>
              </a:spcBef>
              <a:spcAft>
                <a:spcPts val="0"/>
              </a:spcAft>
              <a:buClr>
                <a:srgbClr val="23293B"/>
              </a:buClr>
              <a:buSzPts val="1150"/>
              <a:buFont typeface="Calibri"/>
              <a:buChar char="•"/>
            </a:pPr>
            <a:r>
              <a:rPr b="0" i="0" lang="en-US" sz="1150" u="none" cap="none" strike="noStrike">
                <a:solidFill>
                  <a:srgbClr val="23293B"/>
                </a:solidFill>
                <a:latin typeface="Calibri"/>
                <a:ea typeface="Calibri"/>
                <a:cs typeface="Calibri"/>
                <a:sym typeface="Calibri"/>
              </a:rPr>
              <a:t>Common in academic baselines, medical tooling</a:t>
            </a:r>
            <a:endParaRPr b="0" i="0" sz="1150" u="none" cap="none" strike="noStrike">
              <a:solidFill>
                <a:schemeClr val="dk1"/>
              </a:solidFill>
              <a:latin typeface="Calibri"/>
              <a:ea typeface="Calibri"/>
              <a:cs typeface="Calibri"/>
              <a:sym typeface="Calibri"/>
            </a:endParaRPr>
          </a:p>
        </p:txBody>
      </p:sp>
      <p:sp>
        <p:nvSpPr>
          <p:cNvPr id="1611" name="Google Shape;1611;p56"/>
          <p:cNvSpPr/>
          <p:nvPr/>
        </p:nvSpPr>
        <p:spPr>
          <a:xfrm>
            <a:off x="2717140" y="4014216"/>
            <a:ext cx="6757416" cy="457200"/>
          </a:xfrm>
          <a:prstGeom prst="roundRect">
            <a:avLst>
              <a:gd fmla="val 50000" name="adj"/>
            </a:avLst>
          </a:prstGeom>
          <a:solidFill>
            <a:srgbClr val="FEF3E7"/>
          </a:solidFill>
          <a:ln cap="flat" cmpd="sng" w="15875">
            <a:solidFill>
              <a:srgbClr val="F5822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2" name="Google Shape;1612;p56"/>
          <p:cNvSpPr/>
          <p:nvPr/>
        </p:nvSpPr>
        <p:spPr>
          <a:xfrm>
            <a:off x="2808580" y="4014216"/>
            <a:ext cx="6574536"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B35A0F"/>
              </a:buClr>
              <a:buSzPts val="1200"/>
              <a:buFont typeface="Calibri"/>
              <a:buNone/>
            </a:pPr>
            <a:r>
              <a:rPr b="1" i="0" lang="en-US" sz="1200" u="none" cap="none" strike="noStrike">
                <a:solidFill>
                  <a:srgbClr val="B35A0F"/>
                </a:solidFill>
                <a:latin typeface="Calibri"/>
                <a:ea typeface="Calibri"/>
                <a:cs typeface="Calibri"/>
                <a:sym typeface="Calibri"/>
              </a:rPr>
              <a:t>At Tamr Vision's 62 FPS requirement the choice makes itself: single-stage.</a:t>
            </a:r>
            <a:endParaRPr b="0" i="0" sz="1200" u="none" cap="none" strike="noStrike">
              <a:solidFill>
                <a:schemeClr val="dk1"/>
              </a:solidFill>
              <a:latin typeface="Calibri"/>
              <a:ea typeface="Calibri"/>
              <a:cs typeface="Calibri"/>
              <a:sym typeface="Calibri"/>
            </a:endParaRPr>
          </a:p>
        </p:txBody>
      </p:sp>
    </p:spTree>
  </p:cSld>
  <p:clrMapOvr>
    <a:masterClrMapping/>
  </p:clrMapOvr>
</p:sld>
</file>

<file path=ppt/slides/slide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617" name="Shape 1617"/>
        <p:cNvGrpSpPr/>
        <p:nvPr/>
      </p:nvGrpSpPr>
      <p:grpSpPr>
        <a:xfrm>
          <a:off x="0" y="0"/>
          <a:ext cx="0" cy="0"/>
          <a:chOff x="0" y="0"/>
          <a:chExt cx="0" cy="0"/>
        </a:xfrm>
      </p:grpSpPr>
      <p:sp>
        <p:nvSpPr>
          <p:cNvPr id="1618" name="Google Shape;1618;p57"/>
          <p:cNvSpPr/>
          <p:nvPr/>
        </p:nvSpPr>
        <p:spPr>
          <a:xfrm>
            <a:off x="502920" y="274320"/>
            <a:ext cx="9646920" cy="56692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D2A5C"/>
              </a:buClr>
              <a:buSzPts val="2700"/>
              <a:buFont typeface="Calibri"/>
              <a:buNone/>
            </a:pPr>
            <a:r>
              <a:rPr b="1" i="0" lang="en-US" sz="2700" u="none" cap="none" strike="noStrike">
                <a:solidFill>
                  <a:srgbClr val="1D2A5C"/>
                </a:solidFill>
                <a:latin typeface="Calibri"/>
                <a:ea typeface="Calibri"/>
                <a:cs typeface="Calibri"/>
                <a:sym typeface="Calibri"/>
              </a:rPr>
              <a:t>The Ultralytics Workflow: Three Artefacts</a:t>
            </a:r>
            <a:endParaRPr b="0" i="0" sz="2700" u="none" cap="none" strike="noStrike">
              <a:solidFill>
                <a:schemeClr val="dk1"/>
              </a:solidFill>
              <a:latin typeface="Calibri"/>
              <a:ea typeface="Calibri"/>
              <a:cs typeface="Calibri"/>
              <a:sym typeface="Calibri"/>
            </a:endParaRPr>
          </a:p>
        </p:txBody>
      </p:sp>
      <p:sp>
        <p:nvSpPr>
          <p:cNvPr id="1619" name="Google Shape;1619;p57"/>
          <p:cNvSpPr/>
          <p:nvPr/>
        </p:nvSpPr>
        <p:spPr>
          <a:xfrm>
            <a:off x="502920" y="859536"/>
            <a:ext cx="9646920" cy="31089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F6B7A"/>
              </a:buClr>
              <a:buSzPts val="1250"/>
              <a:buFont typeface="Arial"/>
              <a:buNone/>
            </a:pPr>
            <a:r>
              <a:rPr b="0" i="0" lang="en-US" sz="1250" u="none" cap="none" strike="noStrike">
                <a:solidFill>
                  <a:srgbClr val="5F6B7A"/>
                </a:solidFill>
                <a:latin typeface="Arial"/>
                <a:ea typeface="Arial"/>
                <a:cs typeface="Arial"/>
                <a:sym typeface="Arial"/>
              </a:rPr>
              <a:t>سير عمل Ultralytics: ثلاث قطع</a:t>
            </a:r>
            <a:endParaRPr b="0" i="0" sz="1250" u="none" cap="none" strike="noStrike">
              <a:solidFill>
                <a:schemeClr val="dk1"/>
              </a:solidFill>
              <a:latin typeface="Calibri"/>
              <a:ea typeface="Calibri"/>
              <a:cs typeface="Calibri"/>
              <a:sym typeface="Calibri"/>
            </a:endParaRPr>
          </a:p>
        </p:txBody>
      </p:sp>
      <p:pic>
        <p:nvPicPr>
          <p:cNvPr descr="/sessions/blissful-determined-ritchie/build/assets/sdaia_logo.png" id="1620" name="Google Shape;1620;p57"/>
          <p:cNvPicPr preferRelativeResize="0"/>
          <p:nvPr/>
        </p:nvPicPr>
        <p:blipFill rotWithShape="1">
          <a:blip r:embed="rId3">
            <a:alphaModFix/>
          </a:blip>
          <a:srcRect b="0" l="0" r="0" t="0"/>
          <a:stretch/>
        </p:blipFill>
        <p:spPr>
          <a:xfrm>
            <a:off x="10625328" y="310896"/>
            <a:ext cx="1078992" cy="264111"/>
          </a:xfrm>
          <a:prstGeom prst="rect">
            <a:avLst/>
          </a:prstGeom>
          <a:noFill/>
          <a:ln>
            <a:noFill/>
          </a:ln>
        </p:spPr>
      </p:pic>
      <p:sp>
        <p:nvSpPr>
          <p:cNvPr id="1621" name="Google Shape;1621;p57"/>
          <p:cNvSpPr/>
          <p:nvPr/>
        </p:nvSpPr>
        <p:spPr>
          <a:xfrm>
            <a:off x="502920" y="6528816"/>
            <a:ext cx="8686800"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A79D"/>
              </a:buClr>
              <a:buSzPts val="800"/>
              <a:buFont typeface="Calibri"/>
              <a:buNone/>
            </a:pPr>
            <a:r>
              <a:rPr b="1" i="0" lang="en-US" sz="800" u="none" cap="none" strike="noStrike">
                <a:solidFill>
                  <a:srgbClr val="00A79D"/>
                </a:solidFill>
                <a:latin typeface="Calibri"/>
                <a:ea typeface="Calibri"/>
                <a:cs typeface="Calibri"/>
                <a:sym typeface="Calibri"/>
              </a:rPr>
              <a:t>MODULE 3   </a:t>
            </a:r>
            <a:r>
              <a:rPr b="0" i="0" lang="en-US" sz="800" u="none" cap="none" strike="noStrike">
                <a:solidFill>
                  <a:srgbClr val="8A96A6"/>
                </a:solidFill>
                <a:latin typeface="Calibri"/>
                <a:ea typeface="Calibri"/>
                <a:cs typeface="Calibri"/>
                <a:sym typeface="Calibri"/>
              </a:rPr>
              <a:t>SDA-AIE-212 · Computer Vision Systems Development</a:t>
            </a:r>
            <a:endParaRPr b="0" i="0" sz="800" u="none" cap="none" strike="noStrike">
              <a:solidFill>
                <a:schemeClr val="dk1"/>
              </a:solidFill>
              <a:latin typeface="Calibri"/>
              <a:ea typeface="Calibri"/>
              <a:cs typeface="Calibri"/>
              <a:sym typeface="Calibri"/>
            </a:endParaRPr>
          </a:p>
        </p:txBody>
      </p:sp>
      <p:sp>
        <p:nvSpPr>
          <p:cNvPr id="1622" name="Google Shape;1622;p57"/>
          <p:cNvSpPr/>
          <p:nvPr/>
        </p:nvSpPr>
        <p:spPr>
          <a:xfrm>
            <a:off x="11292840" y="6528816"/>
            <a:ext cx="411480" cy="219456"/>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8A96A6"/>
              </a:buClr>
              <a:buSzPts val="900"/>
              <a:buFont typeface="Calibri"/>
              <a:buNone/>
            </a:pPr>
            <a:r>
              <a:rPr b="0" i="0" lang="en-US" sz="900" u="none" cap="none" strike="noStrike">
                <a:solidFill>
                  <a:srgbClr val="8A96A6"/>
                </a:solidFill>
                <a:latin typeface="Calibri"/>
                <a:ea typeface="Calibri"/>
                <a:cs typeface="Calibri"/>
                <a:sym typeface="Calibri"/>
              </a:rPr>
              <a:t>57</a:t>
            </a:r>
            <a:endParaRPr b="0" i="0" sz="900" u="none" cap="none" strike="noStrike">
              <a:solidFill>
                <a:schemeClr val="dk1"/>
              </a:solidFill>
              <a:latin typeface="Calibri"/>
              <a:ea typeface="Calibri"/>
              <a:cs typeface="Calibri"/>
              <a:sym typeface="Calibri"/>
            </a:endParaRPr>
          </a:p>
        </p:txBody>
      </p:sp>
      <p:sp>
        <p:nvSpPr>
          <p:cNvPr id="1623" name="Google Shape;1623;p57"/>
          <p:cNvSpPr/>
          <p:nvPr/>
        </p:nvSpPr>
        <p:spPr>
          <a:xfrm>
            <a:off x="502920" y="1389888"/>
            <a:ext cx="11185855" cy="384048"/>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5F6B7A"/>
              </a:buClr>
              <a:buSzPts val="1250"/>
              <a:buFont typeface="Calibri"/>
              <a:buNone/>
            </a:pPr>
            <a:r>
              <a:rPr b="0" i="1" lang="en-US" sz="1250" u="none" cap="none" strike="noStrike">
                <a:solidFill>
                  <a:srgbClr val="5F6B7A"/>
                </a:solidFill>
                <a:latin typeface="Calibri"/>
                <a:ea typeface="Calibri"/>
                <a:cs typeface="Calibri"/>
                <a:sym typeface="Calibri"/>
              </a:rPr>
              <a:t>Defaults are strong — which is why you must control the five that matter: imgsz, batch, lr0/optimizer, patience, augmentation.</a:t>
            </a:r>
            <a:endParaRPr b="0" i="0" sz="1250" u="none" cap="none" strike="noStrike">
              <a:solidFill>
                <a:schemeClr val="dk1"/>
              </a:solidFill>
              <a:latin typeface="Calibri"/>
              <a:ea typeface="Calibri"/>
              <a:cs typeface="Calibri"/>
              <a:sym typeface="Calibri"/>
            </a:endParaRPr>
          </a:p>
        </p:txBody>
      </p:sp>
      <p:sp>
        <p:nvSpPr>
          <p:cNvPr id="1624" name="Google Shape;1624;p57"/>
          <p:cNvSpPr/>
          <p:nvPr/>
        </p:nvSpPr>
        <p:spPr>
          <a:xfrm>
            <a:off x="502920" y="3118104"/>
            <a:ext cx="2508428" cy="1371600"/>
          </a:xfrm>
          <a:prstGeom prst="roundRect">
            <a:avLst>
              <a:gd fmla="val 4667" name="adj"/>
            </a:avLst>
          </a:prstGeom>
          <a:solidFill>
            <a:srgbClr val="F2F6F9"/>
          </a:solidFill>
          <a:ln cap="flat" cmpd="sng" w="15875">
            <a:solidFill>
              <a:srgbClr val="00A79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5" name="Google Shape;1625;p57"/>
          <p:cNvSpPr/>
          <p:nvPr/>
        </p:nvSpPr>
        <p:spPr>
          <a:xfrm>
            <a:off x="576072" y="3172968"/>
            <a:ext cx="2362124" cy="6172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D2A5C"/>
              </a:buClr>
              <a:buSzPts val="1250"/>
              <a:buFont typeface="Calibri"/>
              <a:buNone/>
            </a:pPr>
            <a:r>
              <a:rPr b="1" i="0" lang="en-US" sz="1250" u="none" cap="none" strike="noStrike">
                <a:solidFill>
                  <a:srgbClr val="1D2A5C"/>
                </a:solidFill>
                <a:latin typeface="Calibri"/>
                <a:ea typeface="Calibri"/>
                <a:cs typeface="Calibri"/>
                <a:sym typeface="Calibri"/>
              </a:rPr>
              <a:t>YOLO labels</a:t>
            </a:r>
            <a:endParaRPr b="0" i="0" sz="1250" u="none" cap="none" strike="noStrike">
              <a:solidFill>
                <a:schemeClr val="dk1"/>
              </a:solidFill>
              <a:latin typeface="Calibri"/>
              <a:ea typeface="Calibri"/>
              <a:cs typeface="Calibri"/>
              <a:sym typeface="Calibri"/>
            </a:endParaRPr>
          </a:p>
        </p:txBody>
      </p:sp>
      <p:sp>
        <p:nvSpPr>
          <p:cNvPr id="1626" name="Google Shape;1626;p57"/>
          <p:cNvSpPr/>
          <p:nvPr/>
        </p:nvSpPr>
        <p:spPr>
          <a:xfrm>
            <a:off x="576072" y="3776472"/>
            <a:ext cx="2362124" cy="658368"/>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rgbClr val="5F6B7A"/>
              </a:buClr>
              <a:buSzPts val="950"/>
              <a:buFont typeface="Calibri"/>
              <a:buNone/>
            </a:pPr>
            <a:r>
              <a:rPr b="0" i="0" lang="en-US" sz="950" u="none" cap="none" strike="noStrike">
                <a:solidFill>
                  <a:srgbClr val="5F6B7A"/>
                </a:solidFill>
                <a:latin typeface="Calibri"/>
                <a:ea typeface="Calibri"/>
                <a:cs typeface="Calibri"/>
                <a:sym typeface="Calibri"/>
              </a:rPr>
              <a:t>one .txt per image, normalised cx cy w h</a:t>
            </a:r>
            <a:endParaRPr b="0" i="0" sz="950" u="none" cap="none" strike="noStrike">
              <a:solidFill>
                <a:schemeClr val="dk1"/>
              </a:solidFill>
              <a:latin typeface="Calibri"/>
              <a:ea typeface="Calibri"/>
              <a:cs typeface="Calibri"/>
              <a:sym typeface="Calibri"/>
            </a:endParaRPr>
          </a:p>
        </p:txBody>
      </p:sp>
      <p:cxnSp>
        <p:nvCxnSpPr>
          <p:cNvPr id="1627" name="Google Shape;1627;p57"/>
          <p:cNvCxnSpPr/>
          <p:nvPr/>
        </p:nvCxnSpPr>
        <p:spPr>
          <a:xfrm>
            <a:off x="3066212" y="3803904"/>
            <a:ext cx="274320" cy="0"/>
          </a:xfrm>
          <a:prstGeom prst="straightConnector1">
            <a:avLst/>
          </a:prstGeom>
          <a:noFill/>
          <a:ln cap="flat" cmpd="sng" w="19050">
            <a:solidFill>
              <a:srgbClr val="8A96A6"/>
            </a:solidFill>
            <a:prstDash val="solid"/>
            <a:round/>
            <a:headEnd len="sm" w="sm" type="none"/>
            <a:tailEnd len="med" w="med" type="triangle"/>
          </a:ln>
        </p:spPr>
      </p:cxnSp>
      <p:cxnSp>
        <p:nvCxnSpPr>
          <p:cNvPr id="1628" name="Google Shape;1628;p57"/>
          <p:cNvCxnSpPr/>
          <p:nvPr/>
        </p:nvCxnSpPr>
        <p:spPr>
          <a:xfrm>
            <a:off x="1757134" y="4489704"/>
            <a:ext cx="0" cy="274320"/>
          </a:xfrm>
          <a:prstGeom prst="straightConnector1">
            <a:avLst/>
          </a:prstGeom>
          <a:noFill/>
          <a:ln cap="flat" cmpd="sng" w="15875">
            <a:solidFill>
              <a:srgbClr val="E8503A"/>
            </a:solidFill>
            <a:prstDash val="dash"/>
            <a:round/>
            <a:headEnd len="sm" w="sm" type="none"/>
            <a:tailEnd len="sm" w="sm" type="none"/>
          </a:ln>
        </p:spPr>
      </p:cxnSp>
      <p:sp>
        <p:nvSpPr>
          <p:cNvPr id="1629" name="Google Shape;1629;p57"/>
          <p:cNvSpPr/>
          <p:nvPr/>
        </p:nvSpPr>
        <p:spPr>
          <a:xfrm>
            <a:off x="457200" y="4764024"/>
            <a:ext cx="2599868" cy="475488"/>
          </a:xfrm>
          <a:prstGeom prst="roundRect">
            <a:avLst>
              <a:gd fmla="val 11538" name="adj"/>
            </a:avLst>
          </a:prstGeom>
          <a:solidFill>
            <a:srgbClr val="FDEDEA"/>
          </a:solidFill>
          <a:ln cap="flat" cmpd="sng" w="12700">
            <a:solidFill>
              <a:srgbClr val="E8503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30" name="Google Shape;1630;p57"/>
          <p:cNvSpPr/>
          <p:nvPr/>
        </p:nvSpPr>
        <p:spPr>
          <a:xfrm>
            <a:off x="502920" y="4764024"/>
            <a:ext cx="2508428" cy="47548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E8503A"/>
              </a:buClr>
              <a:buSzPts val="950"/>
              <a:buFont typeface="Calibri"/>
              <a:buNone/>
            </a:pPr>
            <a:r>
              <a:rPr b="1" i="0" lang="en-US" sz="950" u="none" cap="none" strike="noStrike">
                <a:solidFill>
                  <a:srgbClr val="E8503A"/>
                </a:solidFill>
                <a:latin typeface="Calibri"/>
                <a:ea typeface="Calibri"/>
                <a:cs typeface="Calibri"/>
                <a:sym typeface="Calibri"/>
              </a:rPr>
              <a:t>un-normalised pixel coords: values &gt; 1 silently clipped</a:t>
            </a:r>
            <a:endParaRPr b="0" i="0" sz="950" u="none" cap="none" strike="noStrike">
              <a:solidFill>
                <a:schemeClr val="dk1"/>
              </a:solidFill>
              <a:latin typeface="Calibri"/>
              <a:ea typeface="Calibri"/>
              <a:cs typeface="Calibri"/>
              <a:sym typeface="Calibri"/>
            </a:endParaRPr>
          </a:p>
        </p:txBody>
      </p:sp>
      <p:sp>
        <p:nvSpPr>
          <p:cNvPr id="1631" name="Google Shape;1631;p57"/>
          <p:cNvSpPr/>
          <p:nvPr/>
        </p:nvSpPr>
        <p:spPr>
          <a:xfrm>
            <a:off x="3395396" y="3118104"/>
            <a:ext cx="2508428" cy="1371600"/>
          </a:xfrm>
          <a:prstGeom prst="roundRect">
            <a:avLst>
              <a:gd fmla="val 4667" name="adj"/>
            </a:avLst>
          </a:prstGeom>
          <a:solidFill>
            <a:srgbClr val="F2F6F9"/>
          </a:solidFill>
          <a:ln cap="flat" cmpd="sng" w="15875">
            <a:solidFill>
              <a:srgbClr val="00A79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32" name="Google Shape;1632;p57"/>
          <p:cNvSpPr/>
          <p:nvPr/>
        </p:nvSpPr>
        <p:spPr>
          <a:xfrm>
            <a:off x="3468548" y="3172968"/>
            <a:ext cx="2362124" cy="6172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D2A5C"/>
              </a:buClr>
              <a:buSzPts val="1250"/>
              <a:buFont typeface="Calibri"/>
              <a:buNone/>
            </a:pPr>
            <a:r>
              <a:rPr b="1" i="0" lang="en-US" sz="1250" u="none" cap="none" strike="noStrike">
                <a:solidFill>
                  <a:srgbClr val="1D2A5C"/>
                </a:solidFill>
                <a:latin typeface="Calibri"/>
                <a:ea typeface="Calibri"/>
                <a:cs typeface="Calibri"/>
                <a:sym typeface="Calibri"/>
              </a:rPr>
              <a:t>Dataset YAML</a:t>
            </a:r>
            <a:endParaRPr b="0" i="0" sz="1250" u="none" cap="none" strike="noStrike">
              <a:solidFill>
                <a:schemeClr val="dk1"/>
              </a:solidFill>
              <a:latin typeface="Calibri"/>
              <a:ea typeface="Calibri"/>
              <a:cs typeface="Calibri"/>
              <a:sym typeface="Calibri"/>
            </a:endParaRPr>
          </a:p>
        </p:txBody>
      </p:sp>
      <p:sp>
        <p:nvSpPr>
          <p:cNvPr id="1633" name="Google Shape;1633;p57"/>
          <p:cNvSpPr/>
          <p:nvPr/>
        </p:nvSpPr>
        <p:spPr>
          <a:xfrm>
            <a:off x="3468548" y="3776472"/>
            <a:ext cx="2362124" cy="658368"/>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rgbClr val="5F6B7A"/>
              </a:buClr>
              <a:buSzPts val="950"/>
              <a:buFont typeface="Calibri"/>
              <a:buNone/>
            </a:pPr>
            <a:r>
              <a:rPr b="0" i="0" lang="en-US" sz="950" u="none" cap="none" strike="noStrike">
                <a:solidFill>
                  <a:srgbClr val="5F6B7A"/>
                </a:solidFill>
                <a:latin typeface="Calibri"/>
                <a:ea typeface="Calibri"/>
                <a:cs typeface="Calibri"/>
                <a:sym typeface="Calibri"/>
              </a:rPr>
              <a:t>paths + class names in frozen order</a:t>
            </a:r>
            <a:endParaRPr b="0" i="0" sz="950" u="none" cap="none" strike="noStrike">
              <a:solidFill>
                <a:schemeClr val="dk1"/>
              </a:solidFill>
              <a:latin typeface="Calibri"/>
              <a:ea typeface="Calibri"/>
              <a:cs typeface="Calibri"/>
              <a:sym typeface="Calibri"/>
            </a:endParaRPr>
          </a:p>
        </p:txBody>
      </p:sp>
      <p:cxnSp>
        <p:nvCxnSpPr>
          <p:cNvPr id="1634" name="Google Shape;1634;p57"/>
          <p:cNvCxnSpPr/>
          <p:nvPr/>
        </p:nvCxnSpPr>
        <p:spPr>
          <a:xfrm>
            <a:off x="5958688" y="3803904"/>
            <a:ext cx="274320" cy="0"/>
          </a:xfrm>
          <a:prstGeom prst="straightConnector1">
            <a:avLst/>
          </a:prstGeom>
          <a:noFill/>
          <a:ln cap="flat" cmpd="sng" w="19050">
            <a:solidFill>
              <a:srgbClr val="8A96A6"/>
            </a:solidFill>
            <a:prstDash val="solid"/>
            <a:round/>
            <a:headEnd len="sm" w="sm" type="none"/>
            <a:tailEnd len="med" w="med" type="triangle"/>
          </a:ln>
        </p:spPr>
      </p:cxnSp>
      <p:cxnSp>
        <p:nvCxnSpPr>
          <p:cNvPr id="1635" name="Google Shape;1635;p57"/>
          <p:cNvCxnSpPr/>
          <p:nvPr/>
        </p:nvCxnSpPr>
        <p:spPr>
          <a:xfrm>
            <a:off x="4649610" y="4489704"/>
            <a:ext cx="0" cy="274320"/>
          </a:xfrm>
          <a:prstGeom prst="straightConnector1">
            <a:avLst/>
          </a:prstGeom>
          <a:noFill/>
          <a:ln cap="flat" cmpd="sng" w="15875">
            <a:solidFill>
              <a:srgbClr val="E8503A"/>
            </a:solidFill>
            <a:prstDash val="dash"/>
            <a:round/>
            <a:headEnd len="sm" w="sm" type="none"/>
            <a:tailEnd len="sm" w="sm" type="none"/>
          </a:ln>
        </p:spPr>
      </p:cxnSp>
      <p:sp>
        <p:nvSpPr>
          <p:cNvPr id="1636" name="Google Shape;1636;p57"/>
          <p:cNvSpPr/>
          <p:nvPr/>
        </p:nvSpPr>
        <p:spPr>
          <a:xfrm>
            <a:off x="3349676" y="4764024"/>
            <a:ext cx="2599868" cy="475488"/>
          </a:xfrm>
          <a:prstGeom prst="roundRect">
            <a:avLst>
              <a:gd fmla="val 11538" name="adj"/>
            </a:avLst>
          </a:prstGeom>
          <a:solidFill>
            <a:srgbClr val="FDEDEA"/>
          </a:solidFill>
          <a:ln cap="flat" cmpd="sng" w="12700">
            <a:solidFill>
              <a:srgbClr val="E8503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37" name="Google Shape;1637;p57"/>
          <p:cNvSpPr/>
          <p:nvPr/>
        </p:nvSpPr>
        <p:spPr>
          <a:xfrm>
            <a:off x="3395396" y="4764024"/>
            <a:ext cx="2508428" cy="47548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E8503A"/>
              </a:buClr>
              <a:buSzPts val="950"/>
              <a:buFont typeface="Calibri"/>
              <a:buNone/>
            </a:pPr>
            <a:r>
              <a:rPr b="1" i="0" lang="en-US" sz="950" u="none" cap="none" strike="noStrike">
                <a:solidFill>
                  <a:srgbClr val="E8503A"/>
                </a:solidFill>
                <a:latin typeface="Calibri"/>
                <a:ea typeface="Calibri"/>
                <a:cs typeface="Calibri"/>
                <a:sym typeface="Calibri"/>
              </a:rPr>
              <a:t>reordering YAML names relabels every prediction</a:t>
            </a:r>
            <a:endParaRPr b="0" i="0" sz="950" u="none" cap="none" strike="noStrike">
              <a:solidFill>
                <a:schemeClr val="dk1"/>
              </a:solidFill>
              <a:latin typeface="Calibri"/>
              <a:ea typeface="Calibri"/>
              <a:cs typeface="Calibri"/>
              <a:sym typeface="Calibri"/>
            </a:endParaRPr>
          </a:p>
        </p:txBody>
      </p:sp>
      <p:sp>
        <p:nvSpPr>
          <p:cNvPr id="1638" name="Google Shape;1638;p57"/>
          <p:cNvSpPr/>
          <p:nvPr/>
        </p:nvSpPr>
        <p:spPr>
          <a:xfrm>
            <a:off x="6287872" y="3118104"/>
            <a:ext cx="2508428" cy="1371600"/>
          </a:xfrm>
          <a:prstGeom prst="roundRect">
            <a:avLst>
              <a:gd fmla="val 4667" name="adj"/>
            </a:avLst>
          </a:prstGeom>
          <a:solidFill>
            <a:srgbClr val="F2F6F9"/>
          </a:solidFill>
          <a:ln cap="flat" cmpd="sng" w="15875">
            <a:solidFill>
              <a:srgbClr val="00A79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39" name="Google Shape;1639;p57"/>
          <p:cNvSpPr/>
          <p:nvPr/>
        </p:nvSpPr>
        <p:spPr>
          <a:xfrm>
            <a:off x="6361024" y="3172968"/>
            <a:ext cx="2362124" cy="6172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D2A5C"/>
              </a:buClr>
              <a:buSzPts val="1250"/>
              <a:buFont typeface="Calibri"/>
              <a:buNone/>
            </a:pPr>
            <a:r>
              <a:rPr b="1" i="0" lang="en-US" sz="1250" u="none" cap="none" strike="noStrike">
                <a:solidFill>
                  <a:srgbClr val="1D2A5C"/>
                </a:solidFill>
                <a:latin typeface="Calibri"/>
                <a:ea typeface="Calibri"/>
                <a:cs typeface="Calibri"/>
                <a:sym typeface="Calibri"/>
              </a:rPr>
              <a:t>model.train()</a:t>
            </a:r>
            <a:endParaRPr b="0" i="0" sz="1250" u="none" cap="none" strike="noStrike">
              <a:solidFill>
                <a:schemeClr val="dk1"/>
              </a:solidFill>
              <a:latin typeface="Calibri"/>
              <a:ea typeface="Calibri"/>
              <a:cs typeface="Calibri"/>
              <a:sym typeface="Calibri"/>
            </a:endParaRPr>
          </a:p>
        </p:txBody>
      </p:sp>
      <p:sp>
        <p:nvSpPr>
          <p:cNvPr id="1640" name="Google Shape;1640;p57"/>
          <p:cNvSpPr/>
          <p:nvPr/>
        </p:nvSpPr>
        <p:spPr>
          <a:xfrm>
            <a:off x="6361024" y="3776472"/>
            <a:ext cx="2362124" cy="658368"/>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rgbClr val="5F6B7A"/>
              </a:buClr>
              <a:buSzPts val="950"/>
              <a:buFont typeface="Calibri"/>
              <a:buNone/>
            </a:pPr>
            <a:r>
              <a:rPr b="0" i="0" lang="en-US" sz="950" u="none" cap="none" strike="noStrike">
                <a:solidFill>
                  <a:srgbClr val="5F6B7A"/>
                </a:solidFill>
                <a:latin typeface="Calibri"/>
                <a:ea typeface="Calibri"/>
                <a:cs typeface="Calibri"/>
                <a:sym typeface="Calibri"/>
              </a:rPr>
              <a:t>COCO weights; mosaic + copy-paste on</a:t>
            </a:r>
            <a:endParaRPr b="0" i="0" sz="950" u="none" cap="none" strike="noStrike">
              <a:solidFill>
                <a:schemeClr val="dk1"/>
              </a:solidFill>
              <a:latin typeface="Calibri"/>
              <a:ea typeface="Calibri"/>
              <a:cs typeface="Calibri"/>
              <a:sym typeface="Calibri"/>
            </a:endParaRPr>
          </a:p>
        </p:txBody>
      </p:sp>
      <p:cxnSp>
        <p:nvCxnSpPr>
          <p:cNvPr id="1641" name="Google Shape;1641;p57"/>
          <p:cNvCxnSpPr/>
          <p:nvPr/>
        </p:nvCxnSpPr>
        <p:spPr>
          <a:xfrm>
            <a:off x="8851163" y="3803904"/>
            <a:ext cx="274320" cy="0"/>
          </a:xfrm>
          <a:prstGeom prst="straightConnector1">
            <a:avLst/>
          </a:prstGeom>
          <a:noFill/>
          <a:ln cap="flat" cmpd="sng" w="19050">
            <a:solidFill>
              <a:srgbClr val="8A96A6"/>
            </a:solidFill>
            <a:prstDash val="solid"/>
            <a:round/>
            <a:headEnd len="sm" w="sm" type="none"/>
            <a:tailEnd len="med" w="med" type="triangle"/>
          </a:ln>
        </p:spPr>
      </p:cxnSp>
      <p:sp>
        <p:nvSpPr>
          <p:cNvPr id="1642" name="Google Shape;1642;p57"/>
          <p:cNvSpPr/>
          <p:nvPr/>
        </p:nvSpPr>
        <p:spPr>
          <a:xfrm>
            <a:off x="9180347" y="3118104"/>
            <a:ext cx="2508428" cy="1371600"/>
          </a:xfrm>
          <a:prstGeom prst="roundRect">
            <a:avLst>
              <a:gd fmla="val 4667" name="adj"/>
            </a:avLst>
          </a:prstGeom>
          <a:solidFill>
            <a:srgbClr val="1D2A5C"/>
          </a:solidFill>
          <a:ln cap="flat" cmpd="sng" w="15875">
            <a:solidFill>
              <a:srgbClr val="00A79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43" name="Google Shape;1643;p57"/>
          <p:cNvSpPr/>
          <p:nvPr/>
        </p:nvSpPr>
        <p:spPr>
          <a:xfrm>
            <a:off x="9253499" y="3172968"/>
            <a:ext cx="2362124" cy="6172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250"/>
              <a:buFont typeface="Calibri"/>
              <a:buNone/>
            </a:pPr>
            <a:r>
              <a:rPr b="1" i="0" lang="en-US" sz="1250" u="none" cap="none" strike="noStrike">
                <a:solidFill>
                  <a:srgbClr val="FFFFFF"/>
                </a:solidFill>
                <a:latin typeface="Calibri"/>
                <a:ea typeface="Calibri"/>
                <a:cs typeface="Calibri"/>
                <a:sym typeface="Calibri"/>
              </a:rPr>
              <a:t>Validate</a:t>
            </a:r>
            <a:endParaRPr b="0" i="0" sz="1250" u="none" cap="none" strike="noStrike">
              <a:solidFill>
                <a:schemeClr val="dk1"/>
              </a:solidFill>
              <a:latin typeface="Calibri"/>
              <a:ea typeface="Calibri"/>
              <a:cs typeface="Calibri"/>
              <a:sym typeface="Calibri"/>
            </a:endParaRPr>
          </a:p>
        </p:txBody>
      </p:sp>
      <p:sp>
        <p:nvSpPr>
          <p:cNvPr id="1644" name="Google Shape;1644;p57"/>
          <p:cNvSpPr/>
          <p:nvPr/>
        </p:nvSpPr>
        <p:spPr>
          <a:xfrm>
            <a:off x="9253499" y="3776472"/>
            <a:ext cx="2362124" cy="658368"/>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rgbClr val="B9C8E8"/>
              </a:buClr>
              <a:buSzPts val="950"/>
              <a:buFont typeface="Calibri"/>
              <a:buNone/>
            </a:pPr>
            <a:r>
              <a:rPr b="0" i="0" lang="en-US" sz="950" u="none" cap="none" strike="noStrike">
                <a:solidFill>
                  <a:srgbClr val="B9C8E8"/>
                </a:solidFill>
                <a:latin typeface="Calibri"/>
                <a:ea typeface="Calibri"/>
                <a:cs typeface="Calibri"/>
                <a:sym typeface="Calibri"/>
              </a:rPr>
              <a:t>frozen test split, once</a:t>
            </a:r>
            <a:endParaRPr b="0" i="0" sz="950" u="none" cap="none" strike="noStrike">
              <a:solidFill>
                <a:schemeClr val="dk1"/>
              </a:solidFill>
              <a:latin typeface="Calibri"/>
              <a:ea typeface="Calibri"/>
              <a:cs typeface="Calibri"/>
              <a:sym typeface="Calibri"/>
            </a:endParaRPr>
          </a:p>
        </p:txBody>
      </p:sp>
    </p:spTree>
  </p:cSld>
  <p:clrMapOvr>
    <a:masterClrMapping/>
  </p:clrMapOvr>
</p:sld>
</file>

<file path=ppt/slides/slide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649" name="Shape 1649"/>
        <p:cNvGrpSpPr/>
        <p:nvPr/>
      </p:nvGrpSpPr>
      <p:grpSpPr>
        <a:xfrm>
          <a:off x="0" y="0"/>
          <a:ext cx="0" cy="0"/>
          <a:chOff x="0" y="0"/>
          <a:chExt cx="0" cy="0"/>
        </a:xfrm>
      </p:grpSpPr>
      <p:sp>
        <p:nvSpPr>
          <p:cNvPr id="1650" name="Google Shape;1650;p58"/>
          <p:cNvSpPr/>
          <p:nvPr/>
        </p:nvSpPr>
        <p:spPr>
          <a:xfrm>
            <a:off x="502920" y="274320"/>
            <a:ext cx="9646920" cy="56692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D2A5C"/>
              </a:buClr>
              <a:buSzPts val="2700"/>
              <a:buFont typeface="Calibri"/>
              <a:buNone/>
            </a:pPr>
            <a:r>
              <a:rPr b="1" i="0" lang="en-US" sz="2700" u="none" cap="none" strike="noStrike">
                <a:solidFill>
                  <a:srgbClr val="1D2A5C"/>
                </a:solidFill>
                <a:latin typeface="Calibri"/>
                <a:ea typeface="Calibri"/>
                <a:cs typeface="Calibri"/>
                <a:sym typeface="Calibri"/>
              </a:rPr>
              <a:t>From 8,400 Candidates to a Line Decision</a:t>
            </a:r>
            <a:endParaRPr b="0" i="0" sz="2700" u="none" cap="none" strike="noStrike">
              <a:solidFill>
                <a:schemeClr val="dk1"/>
              </a:solidFill>
              <a:latin typeface="Calibri"/>
              <a:ea typeface="Calibri"/>
              <a:cs typeface="Calibri"/>
              <a:sym typeface="Calibri"/>
            </a:endParaRPr>
          </a:p>
        </p:txBody>
      </p:sp>
      <p:sp>
        <p:nvSpPr>
          <p:cNvPr id="1651" name="Google Shape;1651;p58"/>
          <p:cNvSpPr/>
          <p:nvPr/>
        </p:nvSpPr>
        <p:spPr>
          <a:xfrm>
            <a:off x="502920" y="859536"/>
            <a:ext cx="9646920" cy="31089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F6B7A"/>
              </a:buClr>
              <a:buSzPts val="1250"/>
              <a:buFont typeface="Arial"/>
              <a:buNone/>
            </a:pPr>
            <a:r>
              <a:rPr b="0" i="0" lang="en-US" sz="1250" u="none" cap="none" strike="noStrike">
                <a:solidFill>
                  <a:srgbClr val="5F6B7A"/>
                </a:solidFill>
                <a:latin typeface="Arial"/>
                <a:ea typeface="Arial"/>
                <a:cs typeface="Arial"/>
                <a:sym typeface="Arial"/>
              </a:rPr>
              <a:t>من 8,400 مرشح إلى قرار الخط</a:t>
            </a:r>
            <a:endParaRPr b="0" i="0" sz="1250" u="none" cap="none" strike="noStrike">
              <a:solidFill>
                <a:schemeClr val="dk1"/>
              </a:solidFill>
              <a:latin typeface="Calibri"/>
              <a:ea typeface="Calibri"/>
              <a:cs typeface="Calibri"/>
              <a:sym typeface="Calibri"/>
            </a:endParaRPr>
          </a:p>
        </p:txBody>
      </p:sp>
      <p:pic>
        <p:nvPicPr>
          <p:cNvPr descr="/sessions/blissful-determined-ritchie/build/assets/sdaia_logo.png" id="1652" name="Google Shape;1652;p58"/>
          <p:cNvPicPr preferRelativeResize="0"/>
          <p:nvPr/>
        </p:nvPicPr>
        <p:blipFill rotWithShape="1">
          <a:blip r:embed="rId3">
            <a:alphaModFix/>
          </a:blip>
          <a:srcRect b="0" l="0" r="0" t="0"/>
          <a:stretch/>
        </p:blipFill>
        <p:spPr>
          <a:xfrm>
            <a:off x="10625328" y="310896"/>
            <a:ext cx="1078992" cy="264111"/>
          </a:xfrm>
          <a:prstGeom prst="rect">
            <a:avLst/>
          </a:prstGeom>
          <a:noFill/>
          <a:ln>
            <a:noFill/>
          </a:ln>
        </p:spPr>
      </p:pic>
      <p:sp>
        <p:nvSpPr>
          <p:cNvPr id="1653" name="Google Shape;1653;p58"/>
          <p:cNvSpPr/>
          <p:nvPr/>
        </p:nvSpPr>
        <p:spPr>
          <a:xfrm>
            <a:off x="502920" y="6528816"/>
            <a:ext cx="8686800"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A79D"/>
              </a:buClr>
              <a:buSzPts val="800"/>
              <a:buFont typeface="Calibri"/>
              <a:buNone/>
            </a:pPr>
            <a:r>
              <a:rPr b="1" i="0" lang="en-US" sz="800" u="none" cap="none" strike="noStrike">
                <a:solidFill>
                  <a:srgbClr val="00A79D"/>
                </a:solidFill>
                <a:latin typeface="Calibri"/>
                <a:ea typeface="Calibri"/>
                <a:cs typeface="Calibri"/>
                <a:sym typeface="Calibri"/>
              </a:rPr>
              <a:t>MODULE 3   </a:t>
            </a:r>
            <a:r>
              <a:rPr b="0" i="0" lang="en-US" sz="800" u="none" cap="none" strike="noStrike">
                <a:solidFill>
                  <a:srgbClr val="8A96A6"/>
                </a:solidFill>
                <a:latin typeface="Calibri"/>
                <a:ea typeface="Calibri"/>
                <a:cs typeface="Calibri"/>
                <a:sym typeface="Calibri"/>
              </a:rPr>
              <a:t>SDA-AIE-212 · Computer Vision Systems Development</a:t>
            </a:r>
            <a:endParaRPr b="0" i="0" sz="800" u="none" cap="none" strike="noStrike">
              <a:solidFill>
                <a:schemeClr val="dk1"/>
              </a:solidFill>
              <a:latin typeface="Calibri"/>
              <a:ea typeface="Calibri"/>
              <a:cs typeface="Calibri"/>
              <a:sym typeface="Calibri"/>
            </a:endParaRPr>
          </a:p>
        </p:txBody>
      </p:sp>
      <p:sp>
        <p:nvSpPr>
          <p:cNvPr id="1654" name="Google Shape;1654;p58"/>
          <p:cNvSpPr/>
          <p:nvPr/>
        </p:nvSpPr>
        <p:spPr>
          <a:xfrm>
            <a:off x="11292840" y="6528816"/>
            <a:ext cx="411480" cy="219456"/>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8A96A6"/>
              </a:buClr>
              <a:buSzPts val="900"/>
              <a:buFont typeface="Calibri"/>
              <a:buNone/>
            </a:pPr>
            <a:r>
              <a:rPr b="0" i="0" lang="en-US" sz="900" u="none" cap="none" strike="noStrike">
                <a:solidFill>
                  <a:srgbClr val="8A96A6"/>
                </a:solidFill>
                <a:latin typeface="Calibri"/>
                <a:ea typeface="Calibri"/>
                <a:cs typeface="Calibri"/>
                <a:sym typeface="Calibri"/>
              </a:rPr>
              <a:t>58</a:t>
            </a:r>
            <a:endParaRPr b="0" i="0" sz="900" u="none" cap="none" strike="noStrike">
              <a:solidFill>
                <a:schemeClr val="dk1"/>
              </a:solidFill>
              <a:latin typeface="Calibri"/>
              <a:ea typeface="Calibri"/>
              <a:cs typeface="Calibri"/>
              <a:sym typeface="Calibri"/>
            </a:endParaRPr>
          </a:p>
        </p:txBody>
      </p:sp>
      <p:sp>
        <p:nvSpPr>
          <p:cNvPr id="1655" name="Google Shape;1655;p58"/>
          <p:cNvSpPr/>
          <p:nvPr/>
        </p:nvSpPr>
        <p:spPr>
          <a:xfrm>
            <a:off x="502920" y="1389888"/>
            <a:ext cx="11185855" cy="384048"/>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5F6B7A"/>
              </a:buClr>
              <a:buSzPts val="1250"/>
              <a:buFont typeface="Calibri"/>
              <a:buNone/>
            </a:pPr>
            <a:r>
              <a:rPr b="0" i="1" lang="en-US" sz="1250" u="none" cap="none" strike="noStrike">
                <a:solidFill>
                  <a:srgbClr val="5F6B7A"/>
                </a:solidFill>
                <a:latin typeface="Calibri"/>
                <a:ea typeface="Calibri"/>
                <a:cs typeface="Calibri"/>
                <a:sym typeface="Calibri"/>
              </a:rPr>
              <a:t>Both filters are tunable business decisions. Line spec: mould escapes ≤ 1%, ≤ 3 false ejections per 1,000 fruit.</a:t>
            </a:r>
            <a:endParaRPr b="0" i="0" sz="1250" u="none" cap="none" strike="noStrike">
              <a:solidFill>
                <a:schemeClr val="dk1"/>
              </a:solidFill>
              <a:latin typeface="Calibri"/>
              <a:ea typeface="Calibri"/>
              <a:cs typeface="Calibri"/>
              <a:sym typeface="Calibri"/>
            </a:endParaRPr>
          </a:p>
        </p:txBody>
      </p:sp>
      <p:sp>
        <p:nvSpPr>
          <p:cNvPr id="1656" name="Google Shape;1656;p58"/>
          <p:cNvSpPr/>
          <p:nvPr/>
        </p:nvSpPr>
        <p:spPr>
          <a:xfrm>
            <a:off x="502920" y="3118104"/>
            <a:ext cx="2508428" cy="1371600"/>
          </a:xfrm>
          <a:prstGeom prst="roundRect">
            <a:avLst>
              <a:gd fmla="val 4667" name="adj"/>
            </a:avLst>
          </a:prstGeom>
          <a:solidFill>
            <a:srgbClr val="F2F6F9"/>
          </a:solidFill>
          <a:ln cap="flat" cmpd="sng" w="15875">
            <a:solidFill>
              <a:srgbClr val="00A79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7" name="Google Shape;1657;p58"/>
          <p:cNvSpPr/>
          <p:nvPr/>
        </p:nvSpPr>
        <p:spPr>
          <a:xfrm>
            <a:off x="576072" y="3172968"/>
            <a:ext cx="2362124" cy="6172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D2A5C"/>
              </a:buClr>
              <a:buSzPts val="1250"/>
              <a:buFont typeface="Calibri"/>
              <a:buNone/>
            </a:pPr>
            <a:r>
              <a:rPr b="1" i="0" lang="en-US" sz="1250" u="none" cap="none" strike="noStrike">
                <a:solidFill>
                  <a:srgbClr val="1D2A5C"/>
                </a:solidFill>
                <a:latin typeface="Calibri"/>
                <a:ea typeface="Calibri"/>
                <a:cs typeface="Calibri"/>
                <a:sym typeface="Calibri"/>
              </a:rPr>
              <a:t>~8,400 candidates</a:t>
            </a:r>
            <a:endParaRPr b="0" i="0" sz="1250" u="none" cap="none" strike="noStrike">
              <a:solidFill>
                <a:schemeClr val="dk1"/>
              </a:solidFill>
              <a:latin typeface="Calibri"/>
              <a:ea typeface="Calibri"/>
              <a:cs typeface="Calibri"/>
              <a:sym typeface="Calibri"/>
            </a:endParaRPr>
          </a:p>
        </p:txBody>
      </p:sp>
      <p:sp>
        <p:nvSpPr>
          <p:cNvPr id="1658" name="Google Shape;1658;p58"/>
          <p:cNvSpPr/>
          <p:nvPr/>
        </p:nvSpPr>
        <p:spPr>
          <a:xfrm>
            <a:off x="576072" y="3776472"/>
            <a:ext cx="2362124" cy="658368"/>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rgbClr val="5F6B7A"/>
              </a:buClr>
              <a:buSzPts val="950"/>
              <a:buFont typeface="Calibri"/>
              <a:buNone/>
            </a:pPr>
            <a:r>
              <a:rPr b="0" i="0" lang="en-US" sz="950" u="none" cap="none" strike="noStrike">
                <a:solidFill>
                  <a:srgbClr val="5F6B7A"/>
                </a:solidFill>
                <a:latin typeface="Calibri"/>
                <a:ea typeface="Calibri"/>
                <a:cs typeface="Calibri"/>
                <a:sym typeface="Calibri"/>
              </a:rPr>
              <a:t>raw head output at 640²</a:t>
            </a:r>
            <a:endParaRPr b="0" i="0" sz="950" u="none" cap="none" strike="noStrike">
              <a:solidFill>
                <a:schemeClr val="dk1"/>
              </a:solidFill>
              <a:latin typeface="Calibri"/>
              <a:ea typeface="Calibri"/>
              <a:cs typeface="Calibri"/>
              <a:sym typeface="Calibri"/>
            </a:endParaRPr>
          </a:p>
        </p:txBody>
      </p:sp>
      <p:cxnSp>
        <p:nvCxnSpPr>
          <p:cNvPr id="1659" name="Google Shape;1659;p58"/>
          <p:cNvCxnSpPr/>
          <p:nvPr/>
        </p:nvCxnSpPr>
        <p:spPr>
          <a:xfrm>
            <a:off x="3066212" y="3803904"/>
            <a:ext cx="274320" cy="0"/>
          </a:xfrm>
          <a:prstGeom prst="straightConnector1">
            <a:avLst/>
          </a:prstGeom>
          <a:noFill/>
          <a:ln cap="flat" cmpd="sng" w="19050">
            <a:solidFill>
              <a:srgbClr val="8A96A6"/>
            </a:solidFill>
            <a:prstDash val="solid"/>
            <a:round/>
            <a:headEnd len="sm" w="sm" type="none"/>
            <a:tailEnd len="med" w="med" type="triangle"/>
          </a:ln>
        </p:spPr>
      </p:cxnSp>
      <p:sp>
        <p:nvSpPr>
          <p:cNvPr id="1660" name="Google Shape;1660;p58"/>
          <p:cNvSpPr/>
          <p:nvPr/>
        </p:nvSpPr>
        <p:spPr>
          <a:xfrm>
            <a:off x="3395396" y="3118104"/>
            <a:ext cx="2508428" cy="1371600"/>
          </a:xfrm>
          <a:prstGeom prst="roundRect">
            <a:avLst>
              <a:gd fmla="val 4667" name="adj"/>
            </a:avLst>
          </a:prstGeom>
          <a:solidFill>
            <a:srgbClr val="F2F6F9"/>
          </a:solidFill>
          <a:ln cap="flat" cmpd="sng" w="15875">
            <a:solidFill>
              <a:srgbClr val="00A79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1" name="Google Shape;1661;p58"/>
          <p:cNvSpPr/>
          <p:nvPr/>
        </p:nvSpPr>
        <p:spPr>
          <a:xfrm>
            <a:off x="3468548" y="3172968"/>
            <a:ext cx="2362124" cy="6172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D2A5C"/>
              </a:buClr>
              <a:buSzPts val="1250"/>
              <a:buFont typeface="Calibri"/>
              <a:buNone/>
            </a:pPr>
            <a:r>
              <a:rPr b="1" i="0" lang="en-US" sz="1250" u="none" cap="none" strike="noStrike">
                <a:solidFill>
                  <a:srgbClr val="1D2A5C"/>
                </a:solidFill>
                <a:latin typeface="Calibri"/>
                <a:ea typeface="Calibri"/>
                <a:cs typeface="Calibri"/>
                <a:sym typeface="Calibri"/>
              </a:rPr>
              <a:t>Confidence filter</a:t>
            </a:r>
            <a:endParaRPr b="0" i="0" sz="1250" u="none" cap="none" strike="noStrike">
              <a:solidFill>
                <a:schemeClr val="dk1"/>
              </a:solidFill>
              <a:latin typeface="Calibri"/>
              <a:ea typeface="Calibri"/>
              <a:cs typeface="Calibri"/>
              <a:sym typeface="Calibri"/>
            </a:endParaRPr>
          </a:p>
        </p:txBody>
      </p:sp>
      <p:sp>
        <p:nvSpPr>
          <p:cNvPr id="1662" name="Google Shape;1662;p58"/>
          <p:cNvSpPr/>
          <p:nvPr/>
        </p:nvSpPr>
        <p:spPr>
          <a:xfrm>
            <a:off x="3468548" y="3776472"/>
            <a:ext cx="2362124" cy="658368"/>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rgbClr val="5F6B7A"/>
              </a:buClr>
              <a:buSzPts val="950"/>
              <a:buFont typeface="Calibri"/>
              <a:buNone/>
            </a:pPr>
            <a:r>
              <a:rPr b="0" i="0" lang="en-US" sz="950" u="none" cap="none" strike="noStrike">
                <a:solidFill>
                  <a:srgbClr val="5F6B7A"/>
                </a:solidFill>
                <a:latin typeface="Calibri"/>
                <a:ea typeface="Calibri"/>
                <a:cs typeface="Calibri"/>
                <a:sym typeface="Calibri"/>
              </a:rPr>
              <a:t>lower conf = more recall + false alarms</a:t>
            </a:r>
            <a:endParaRPr b="0" i="0" sz="950" u="none" cap="none" strike="noStrike">
              <a:solidFill>
                <a:schemeClr val="dk1"/>
              </a:solidFill>
              <a:latin typeface="Calibri"/>
              <a:ea typeface="Calibri"/>
              <a:cs typeface="Calibri"/>
              <a:sym typeface="Calibri"/>
            </a:endParaRPr>
          </a:p>
        </p:txBody>
      </p:sp>
      <p:cxnSp>
        <p:nvCxnSpPr>
          <p:cNvPr id="1663" name="Google Shape;1663;p58"/>
          <p:cNvCxnSpPr/>
          <p:nvPr/>
        </p:nvCxnSpPr>
        <p:spPr>
          <a:xfrm>
            <a:off x="5958688" y="3803904"/>
            <a:ext cx="274320" cy="0"/>
          </a:xfrm>
          <a:prstGeom prst="straightConnector1">
            <a:avLst/>
          </a:prstGeom>
          <a:noFill/>
          <a:ln cap="flat" cmpd="sng" w="19050">
            <a:solidFill>
              <a:srgbClr val="8A96A6"/>
            </a:solidFill>
            <a:prstDash val="solid"/>
            <a:round/>
            <a:headEnd len="sm" w="sm" type="none"/>
            <a:tailEnd len="med" w="med" type="triangle"/>
          </a:ln>
        </p:spPr>
      </p:cxnSp>
      <p:cxnSp>
        <p:nvCxnSpPr>
          <p:cNvPr id="1664" name="Google Shape;1664;p58"/>
          <p:cNvCxnSpPr/>
          <p:nvPr/>
        </p:nvCxnSpPr>
        <p:spPr>
          <a:xfrm>
            <a:off x="4649610" y="4489704"/>
            <a:ext cx="0" cy="274320"/>
          </a:xfrm>
          <a:prstGeom prst="straightConnector1">
            <a:avLst/>
          </a:prstGeom>
          <a:noFill/>
          <a:ln cap="flat" cmpd="sng" w="15875">
            <a:solidFill>
              <a:srgbClr val="E8503A"/>
            </a:solidFill>
            <a:prstDash val="dash"/>
            <a:round/>
            <a:headEnd len="sm" w="sm" type="none"/>
            <a:tailEnd len="sm" w="sm" type="none"/>
          </a:ln>
        </p:spPr>
      </p:cxnSp>
      <p:sp>
        <p:nvSpPr>
          <p:cNvPr id="1665" name="Google Shape;1665;p58"/>
          <p:cNvSpPr/>
          <p:nvPr/>
        </p:nvSpPr>
        <p:spPr>
          <a:xfrm>
            <a:off x="3349676" y="4764024"/>
            <a:ext cx="2599868" cy="475488"/>
          </a:xfrm>
          <a:prstGeom prst="roundRect">
            <a:avLst>
              <a:gd fmla="val 11538" name="adj"/>
            </a:avLst>
          </a:prstGeom>
          <a:solidFill>
            <a:srgbClr val="FDEDEA"/>
          </a:solidFill>
          <a:ln cap="flat" cmpd="sng" w="12700">
            <a:solidFill>
              <a:srgbClr val="E8503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6" name="Google Shape;1666;p58"/>
          <p:cNvSpPr/>
          <p:nvPr/>
        </p:nvSpPr>
        <p:spPr>
          <a:xfrm>
            <a:off x="3395396" y="4764024"/>
            <a:ext cx="2508428" cy="47548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E8503A"/>
              </a:buClr>
              <a:buSzPts val="950"/>
              <a:buFont typeface="Calibri"/>
              <a:buNone/>
            </a:pPr>
            <a:r>
              <a:rPr b="1" i="0" lang="en-US" sz="950" u="none" cap="none" strike="noStrike">
                <a:solidFill>
                  <a:srgbClr val="E8503A"/>
                </a:solidFill>
                <a:latin typeface="Calibri"/>
                <a:ea typeface="Calibri"/>
                <a:cs typeface="Calibri"/>
                <a:sym typeface="Calibri"/>
              </a:rPr>
              <a:t>default conf=0.25 is a demo setting, not production</a:t>
            </a:r>
            <a:endParaRPr b="0" i="0" sz="950" u="none" cap="none" strike="noStrike">
              <a:solidFill>
                <a:schemeClr val="dk1"/>
              </a:solidFill>
              <a:latin typeface="Calibri"/>
              <a:ea typeface="Calibri"/>
              <a:cs typeface="Calibri"/>
              <a:sym typeface="Calibri"/>
            </a:endParaRPr>
          </a:p>
        </p:txBody>
      </p:sp>
      <p:sp>
        <p:nvSpPr>
          <p:cNvPr id="1667" name="Google Shape;1667;p58"/>
          <p:cNvSpPr/>
          <p:nvPr/>
        </p:nvSpPr>
        <p:spPr>
          <a:xfrm>
            <a:off x="6287872" y="3118104"/>
            <a:ext cx="2508428" cy="1371600"/>
          </a:xfrm>
          <a:prstGeom prst="roundRect">
            <a:avLst>
              <a:gd fmla="val 4667" name="adj"/>
            </a:avLst>
          </a:prstGeom>
          <a:solidFill>
            <a:srgbClr val="F2F6F9"/>
          </a:solidFill>
          <a:ln cap="flat" cmpd="sng" w="15875">
            <a:solidFill>
              <a:srgbClr val="00A79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8" name="Google Shape;1668;p58"/>
          <p:cNvSpPr/>
          <p:nvPr/>
        </p:nvSpPr>
        <p:spPr>
          <a:xfrm>
            <a:off x="6361024" y="3172968"/>
            <a:ext cx="2362124" cy="6172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D2A5C"/>
              </a:buClr>
              <a:buSzPts val="1250"/>
              <a:buFont typeface="Calibri"/>
              <a:buNone/>
            </a:pPr>
            <a:r>
              <a:rPr b="1" i="0" lang="en-US" sz="1250" u="none" cap="none" strike="noStrike">
                <a:solidFill>
                  <a:srgbClr val="1D2A5C"/>
                </a:solidFill>
                <a:latin typeface="Calibri"/>
                <a:ea typeface="Calibri"/>
                <a:cs typeface="Calibri"/>
                <a:sym typeface="Calibri"/>
              </a:rPr>
              <a:t>NMS</a:t>
            </a:r>
            <a:endParaRPr b="0" i="0" sz="1250" u="none" cap="none" strike="noStrike">
              <a:solidFill>
                <a:schemeClr val="dk1"/>
              </a:solidFill>
              <a:latin typeface="Calibri"/>
              <a:ea typeface="Calibri"/>
              <a:cs typeface="Calibri"/>
              <a:sym typeface="Calibri"/>
            </a:endParaRPr>
          </a:p>
        </p:txBody>
      </p:sp>
      <p:sp>
        <p:nvSpPr>
          <p:cNvPr id="1669" name="Google Shape;1669;p58"/>
          <p:cNvSpPr/>
          <p:nvPr/>
        </p:nvSpPr>
        <p:spPr>
          <a:xfrm>
            <a:off x="6361024" y="3776472"/>
            <a:ext cx="2362124" cy="658368"/>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rgbClr val="5F6B7A"/>
              </a:buClr>
              <a:buSzPts val="950"/>
              <a:buFont typeface="Calibri"/>
              <a:buNone/>
            </a:pPr>
            <a:r>
              <a:rPr b="0" i="0" lang="en-US" sz="950" u="none" cap="none" strike="noStrike">
                <a:solidFill>
                  <a:srgbClr val="5F6B7A"/>
                </a:solidFill>
                <a:latin typeface="Calibri"/>
                <a:ea typeface="Calibri"/>
                <a:cs typeface="Calibri"/>
                <a:sym typeface="Calibri"/>
              </a:rPr>
              <a:t>keep most confident overlapping box</a:t>
            </a:r>
            <a:endParaRPr b="0" i="0" sz="950" u="none" cap="none" strike="noStrike">
              <a:solidFill>
                <a:schemeClr val="dk1"/>
              </a:solidFill>
              <a:latin typeface="Calibri"/>
              <a:ea typeface="Calibri"/>
              <a:cs typeface="Calibri"/>
              <a:sym typeface="Calibri"/>
            </a:endParaRPr>
          </a:p>
        </p:txBody>
      </p:sp>
      <p:cxnSp>
        <p:nvCxnSpPr>
          <p:cNvPr id="1670" name="Google Shape;1670;p58"/>
          <p:cNvCxnSpPr/>
          <p:nvPr/>
        </p:nvCxnSpPr>
        <p:spPr>
          <a:xfrm>
            <a:off x="8851163" y="3803904"/>
            <a:ext cx="274320" cy="0"/>
          </a:xfrm>
          <a:prstGeom prst="straightConnector1">
            <a:avLst/>
          </a:prstGeom>
          <a:noFill/>
          <a:ln cap="flat" cmpd="sng" w="19050">
            <a:solidFill>
              <a:srgbClr val="8A96A6"/>
            </a:solidFill>
            <a:prstDash val="solid"/>
            <a:round/>
            <a:headEnd len="sm" w="sm" type="none"/>
            <a:tailEnd len="med" w="med" type="triangle"/>
          </a:ln>
        </p:spPr>
      </p:cxnSp>
      <p:cxnSp>
        <p:nvCxnSpPr>
          <p:cNvPr id="1671" name="Google Shape;1671;p58"/>
          <p:cNvCxnSpPr/>
          <p:nvPr/>
        </p:nvCxnSpPr>
        <p:spPr>
          <a:xfrm>
            <a:off x="7542086" y="4489704"/>
            <a:ext cx="0" cy="274320"/>
          </a:xfrm>
          <a:prstGeom prst="straightConnector1">
            <a:avLst/>
          </a:prstGeom>
          <a:noFill/>
          <a:ln cap="flat" cmpd="sng" w="15875">
            <a:solidFill>
              <a:srgbClr val="E8503A"/>
            </a:solidFill>
            <a:prstDash val="dash"/>
            <a:round/>
            <a:headEnd len="sm" w="sm" type="none"/>
            <a:tailEnd len="sm" w="sm" type="none"/>
          </a:ln>
        </p:spPr>
      </p:cxnSp>
      <p:sp>
        <p:nvSpPr>
          <p:cNvPr id="1672" name="Google Shape;1672;p58"/>
          <p:cNvSpPr/>
          <p:nvPr/>
        </p:nvSpPr>
        <p:spPr>
          <a:xfrm>
            <a:off x="6242152" y="4764024"/>
            <a:ext cx="2599868" cy="475488"/>
          </a:xfrm>
          <a:prstGeom prst="roundRect">
            <a:avLst>
              <a:gd fmla="val 11538" name="adj"/>
            </a:avLst>
          </a:prstGeom>
          <a:solidFill>
            <a:srgbClr val="FDEDEA"/>
          </a:solidFill>
          <a:ln cap="flat" cmpd="sng" w="12700">
            <a:solidFill>
              <a:srgbClr val="E8503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3" name="Google Shape;1673;p58"/>
          <p:cNvSpPr/>
          <p:nvPr/>
        </p:nvSpPr>
        <p:spPr>
          <a:xfrm>
            <a:off x="6287872" y="4764024"/>
            <a:ext cx="2508428" cy="47548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E8503A"/>
              </a:buClr>
              <a:buSzPts val="950"/>
              <a:buFont typeface="Calibri"/>
              <a:buNone/>
            </a:pPr>
            <a:r>
              <a:rPr b="1" i="0" lang="en-US" sz="950" u="none" cap="none" strike="noStrike">
                <a:solidFill>
                  <a:srgbClr val="E8503A"/>
                </a:solidFill>
                <a:latin typeface="Calibri"/>
                <a:ea typeface="Calibri"/>
                <a:cs typeface="Calibri"/>
                <a:sym typeface="Calibri"/>
              </a:rPr>
              <a:t>NMS iou 0.45 vs 0.7 shifts per-frame counts ~9%</a:t>
            </a:r>
            <a:endParaRPr b="0" i="0" sz="950" u="none" cap="none" strike="noStrike">
              <a:solidFill>
                <a:schemeClr val="dk1"/>
              </a:solidFill>
              <a:latin typeface="Calibri"/>
              <a:ea typeface="Calibri"/>
              <a:cs typeface="Calibri"/>
              <a:sym typeface="Calibri"/>
            </a:endParaRPr>
          </a:p>
        </p:txBody>
      </p:sp>
      <p:sp>
        <p:nvSpPr>
          <p:cNvPr id="1674" name="Google Shape;1674;p58"/>
          <p:cNvSpPr/>
          <p:nvPr/>
        </p:nvSpPr>
        <p:spPr>
          <a:xfrm>
            <a:off x="9180347" y="3118104"/>
            <a:ext cx="2508428" cy="1371600"/>
          </a:xfrm>
          <a:prstGeom prst="roundRect">
            <a:avLst>
              <a:gd fmla="val 4667" name="adj"/>
            </a:avLst>
          </a:prstGeom>
          <a:solidFill>
            <a:srgbClr val="1D2A5C"/>
          </a:solidFill>
          <a:ln cap="flat" cmpd="sng" w="15875">
            <a:solidFill>
              <a:srgbClr val="00A79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5" name="Google Shape;1675;p58"/>
          <p:cNvSpPr/>
          <p:nvPr/>
        </p:nvSpPr>
        <p:spPr>
          <a:xfrm>
            <a:off x="9253499" y="3172968"/>
            <a:ext cx="2362124" cy="6172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250"/>
              <a:buFont typeface="Calibri"/>
              <a:buNone/>
            </a:pPr>
            <a:r>
              <a:rPr b="1" i="0" lang="en-US" sz="1250" u="none" cap="none" strike="noStrike">
                <a:solidFill>
                  <a:srgbClr val="FFFFFF"/>
                </a:solidFill>
                <a:latin typeface="Calibri"/>
                <a:ea typeface="Calibri"/>
                <a:cs typeface="Calibri"/>
                <a:sym typeface="Calibri"/>
              </a:rPr>
              <a:t>Operating point</a:t>
            </a:r>
            <a:endParaRPr b="0" i="0" sz="1250" u="none" cap="none" strike="noStrike">
              <a:solidFill>
                <a:schemeClr val="dk1"/>
              </a:solidFill>
              <a:latin typeface="Calibri"/>
              <a:ea typeface="Calibri"/>
              <a:cs typeface="Calibri"/>
              <a:sym typeface="Calibri"/>
            </a:endParaRPr>
          </a:p>
        </p:txBody>
      </p:sp>
      <p:sp>
        <p:nvSpPr>
          <p:cNvPr id="1676" name="Google Shape;1676;p58"/>
          <p:cNvSpPr/>
          <p:nvPr/>
        </p:nvSpPr>
        <p:spPr>
          <a:xfrm>
            <a:off x="9253499" y="3776472"/>
            <a:ext cx="2362124" cy="658368"/>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rgbClr val="B9C8E8"/>
              </a:buClr>
              <a:buSzPts val="950"/>
              <a:buFont typeface="Calibri"/>
              <a:buNone/>
            </a:pPr>
            <a:r>
              <a:rPr b="0" i="0" lang="en-US" sz="950" u="none" cap="none" strike="noStrike">
                <a:solidFill>
                  <a:srgbClr val="B9C8E8"/>
                </a:solidFill>
                <a:latin typeface="Calibri"/>
                <a:ea typeface="Calibri"/>
                <a:cs typeface="Calibri"/>
                <a:sym typeface="Calibri"/>
              </a:rPr>
              <a:t>per-class conf band vs line spec</a:t>
            </a:r>
            <a:endParaRPr b="0" i="0" sz="950" u="none" cap="none" strike="noStrike">
              <a:solidFill>
                <a:schemeClr val="dk1"/>
              </a:solidFill>
              <a:latin typeface="Calibri"/>
              <a:ea typeface="Calibri"/>
              <a:cs typeface="Calibri"/>
              <a:sym typeface="Calibri"/>
            </a:endParaRPr>
          </a:p>
        </p:txBody>
      </p:sp>
    </p:spTree>
  </p:cSld>
  <p:clrMapOvr>
    <a:masterClrMapping/>
  </p:clrMapOvr>
</p:sld>
</file>

<file path=ppt/slides/slide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681" name="Shape 1681"/>
        <p:cNvGrpSpPr/>
        <p:nvPr/>
      </p:nvGrpSpPr>
      <p:grpSpPr>
        <a:xfrm>
          <a:off x="0" y="0"/>
          <a:ext cx="0" cy="0"/>
          <a:chOff x="0" y="0"/>
          <a:chExt cx="0" cy="0"/>
        </a:xfrm>
      </p:grpSpPr>
      <p:sp>
        <p:nvSpPr>
          <p:cNvPr id="1682" name="Google Shape;1682;p59"/>
          <p:cNvSpPr/>
          <p:nvPr/>
        </p:nvSpPr>
        <p:spPr>
          <a:xfrm>
            <a:off x="502920" y="274320"/>
            <a:ext cx="9646920" cy="56692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D2A5C"/>
              </a:buClr>
              <a:buSzPts val="2700"/>
              <a:buFont typeface="Calibri"/>
              <a:buNone/>
            </a:pPr>
            <a:r>
              <a:rPr b="1" i="0" lang="en-US" sz="2700" u="none" cap="none" strike="noStrike">
                <a:solidFill>
                  <a:srgbClr val="1D2A5C"/>
                </a:solidFill>
                <a:latin typeface="Calibri"/>
                <a:ea typeface="Calibri"/>
                <a:cs typeface="Calibri"/>
                <a:sym typeface="Calibri"/>
              </a:rPr>
              <a:t>Common Mistakes and Their Defences</a:t>
            </a:r>
            <a:endParaRPr b="0" i="0" sz="2700" u="none" cap="none" strike="noStrike">
              <a:solidFill>
                <a:schemeClr val="dk1"/>
              </a:solidFill>
              <a:latin typeface="Calibri"/>
              <a:ea typeface="Calibri"/>
              <a:cs typeface="Calibri"/>
              <a:sym typeface="Calibri"/>
            </a:endParaRPr>
          </a:p>
        </p:txBody>
      </p:sp>
      <p:sp>
        <p:nvSpPr>
          <p:cNvPr id="1683" name="Google Shape;1683;p59"/>
          <p:cNvSpPr/>
          <p:nvPr/>
        </p:nvSpPr>
        <p:spPr>
          <a:xfrm>
            <a:off x="502920" y="859536"/>
            <a:ext cx="9646920" cy="31089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F6B7A"/>
              </a:buClr>
              <a:buSzPts val="1250"/>
              <a:buFont typeface="Arial"/>
              <a:buNone/>
            </a:pPr>
            <a:r>
              <a:rPr b="0" i="0" lang="en-US" sz="1250" u="none" cap="none" strike="noStrike">
                <a:solidFill>
                  <a:srgbClr val="5F6B7A"/>
                </a:solidFill>
                <a:latin typeface="Arial"/>
                <a:ea typeface="Arial"/>
                <a:cs typeface="Arial"/>
                <a:sym typeface="Arial"/>
              </a:rPr>
              <a:t>الأخطاء الشائعة ودفاعاتها</a:t>
            </a:r>
            <a:endParaRPr b="0" i="0" sz="1250" u="none" cap="none" strike="noStrike">
              <a:solidFill>
                <a:schemeClr val="dk1"/>
              </a:solidFill>
              <a:latin typeface="Calibri"/>
              <a:ea typeface="Calibri"/>
              <a:cs typeface="Calibri"/>
              <a:sym typeface="Calibri"/>
            </a:endParaRPr>
          </a:p>
        </p:txBody>
      </p:sp>
      <p:pic>
        <p:nvPicPr>
          <p:cNvPr descr="/sessions/blissful-determined-ritchie/build/assets/sdaia_logo.png" id="1684" name="Google Shape;1684;p59"/>
          <p:cNvPicPr preferRelativeResize="0"/>
          <p:nvPr/>
        </p:nvPicPr>
        <p:blipFill rotWithShape="1">
          <a:blip r:embed="rId3">
            <a:alphaModFix/>
          </a:blip>
          <a:srcRect b="0" l="0" r="0" t="0"/>
          <a:stretch/>
        </p:blipFill>
        <p:spPr>
          <a:xfrm>
            <a:off x="10625328" y="310896"/>
            <a:ext cx="1078992" cy="264111"/>
          </a:xfrm>
          <a:prstGeom prst="rect">
            <a:avLst/>
          </a:prstGeom>
          <a:noFill/>
          <a:ln>
            <a:noFill/>
          </a:ln>
        </p:spPr>
      </p:pic>
      <p:sp>
        <p:nvSpPr>
          <p:cNvPr id="1685" name="Google Shape;1685;p59"/>
          <p:cNvSpPr/>
          <p:nvPr/>
        </p:nvSpPr>
        <p:spPr>
          <a:xfrm>
            <a:off x="502920" y="6528816"/>
            <a:ext cx="8686800"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A79D"/>
              </a:buClr>
              <a:buSzPts val="800"/>
              <a:buFont typeface="Calibri"/>
              <a:buNone/>
            </a:pPr>
            <a:r>
              <a:rPr b="1" i="0" lang="en-US" sz="800" u="none" cap="none" strike="noStrike">
                <a:solidFill>
                  <a:srgbClr val="00A79D"/>
                </a:solidFill>
                <a:latin typeface="Calibri"/>
                <a:ea typeface="Calibri"/>
                <a:cs typeface="Calibri"/>
                <a:sym typeface="Calibri"/>
              </a:rPr>
              <a:t>MODULE 3   </a:t>
            </a:r>
            <a:r>
              <a:rPr b="0" i="0" lang="en-US" sz="800" u="none" cap="none" strike="noStrike">
                <a:solidFill>
                  <a:srgbClr val="8A96A6"/>
                </a:solidFill>
                <a:latin typeface="Calibri"/>
                <a:ea typeface="Calibri"/>
                <a:cs typeface="Calibri"/>
                <a:sym typeface="Calibri"/>
              </a:rPr>
              <a:t>SDA-AIE-212 · Computer Vision Systems Development</a:t>
            </a:r>
            <a:endParaRPr b="0" i="0" sz="800" u="none" cap="none" strike="noStrike">
              <a:solidFill>
                <a:schemeClr val="dk1"/>
              </a:solidFill>
              <a:latin typeface="Calibri"/>
              <a:ea typeface="Calibri"/>
              <a:cs typeface="Calibri"/>
              <a:sym typeface="Calibri"/>
            </a:endParaRPr>
          </a:p>
        </p:txBody>
      </p:sp>
      <p:sp>
        <p:nvSpPr>
          <p:cNvPr id="1686" name="Google Shape;1686;p59"/>
          <p:cNvSpPr/>
          <p:nvPr/>
        </p:nvSpPr>
        <p:spPr>
          <a:xfrm>
            <a:off x="11292840" y="6528816"/>
            <a:ext cx="411480" cy="219456"/>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8A96A6"/>
              </a:buClr>
              <a:buSzPts val="900"/>
              <a:buFont typeface="Calibri"/>
              <a:buNone/>
            </a:pPr>
            <a:r>
              <a:rPr b="0" i="0" lang="en-US" sz="900" u="none" cap="none" strike="noStrike">
                <a:solidFill>
                  <a:srgbClr val="8A96A6"/>
                </a:solidFill>
                <a:latin typeface="Calibri"/>
                <a:ea typeface="Calibri"/>
                <a:cs typeface="Calibri"/>
                <a:sym typeface="Calibri"/>
              </a:rPr>
              <a:t>59</a:t>
            </a:r>
            <a:endParaRPr b="0" i="0" sz="900" u="none" cap="none" strike="noStrike">
              <a:solidFill>
                <a:schemeClr val="dk1"/>
              </a:solidFill>
              <a:latin typeface="Calibri"/>
              <a:ea typeface="Calibri"/>
              <a:cs typeface="Calibri"/>
              <a:sym typeface="Calibri"/>
            </a:endParaRPr>
          </a:p>
        </p:txBody>
      </p:sp>
      <p:graphicFrame>
        <p:nvGraphicFramePr>
          <p:cNvPr id="1687" name="Google Shape;1687;p59"/>
          <p:cNvGraphicFramePr/>
          <p:nvPr/>
        </p:nvGraphicFramePr>
        <p:xfrm>
          <a:off x="502920" y="1389888"/>
          <a:ext cx="3000000" cy="3000000"/>
        </p:xfrm>
        <a:graphic>
          <a:graphicData uri="http://schemas.openxmlformats.org/drawingml/2006/table">
            <a:tbl>
              <a:tblPr>
                <a:noFill/>
                <a:tableStyleId>{F80342BA-3033-44D6-9F91-622DC7A4C435}</a:tableStyleId>
              </a:tblPr>
              <a:tblGrid>
                <a:gridCol w="3535050"/>
                <a:gridCol w="3846900"/>
                <a:gridCol w="3803900"/>
              </a:tblGrid>
              <a:tr h="696250">
                <a:tc>
                  <a:txBody>
                    <a:bodyPr/>
                    <a:lstStyle/>
                    <a:p>
                      <a:pPr indent="0" lvl="0" marL="0" marR="0" rtl="0" algn="l">
                        <a:spcBef>
                          <a:spcPts val="0"/>
                        </a:spcBef>
                        <a:spcAft>
                          <a:spcPts val="0"/>
                        </a:spcAft>
                        <a:buClr>
                          <a:srgbClr val="FFFFFF"/>
                        </a:buClr>
                        <a:buSzPts val="1050"/>
                        <a:buFont typeface="Calibri"/>
                        <a:buNone/>
                      </a:pPr>
                      <a:r>
                        <a:rPr b="1" lang="en-US" sz="1050" u="none" cap="none" strike="noStrike">
                          <a:solidFill>
                            <a:srgbClr val="FFFFFF"/>
                          </a:solidFill>
                          <a:latin typeface="Calibri"/>
                          <a:ea typeface="Calibri"/>
                          <a:cs typeface="Calibri"/>
                          <a:sym typeface="Calibri"/>
                        </a:rPr>
                        <a:t>Mistake</a:t>
                      </a:r>
                      <a:endParaRPr sz="1050" u="none" cap="none" strike="noStrike">
                        <a:latin typeface="Calibri"/>
                        <a:ea typeface="Calibri"/>
                        <a:cs typeface="Calibri"/>
                        <a:sym typeface="Calibri"/>
                      </a:endParaRPr>
                    </a:p>
                  </a:txBody>
                  <a:tcPr marT="64000" marB="64000" marR="64000" marL="64000" anchor="ctr">
                    <a:lnL cap="flat" cmpd="sng" w="9525">
                      <a:solidFill>
                        <a:srgbClr val="D9E2EA"/>
                      </a:solidFill>
                      <a:prstDash val="solid"/>
                      <a:round/>
                      <a:headEnd len="sm" w="sm" type="none"/>
                      <a:tailEnd len="sm" w="sm" type="none"/>
                    </a:lnL>
                    <a:lnR cap="flat" cmpd="sng" w="9525">
                      <a:solidFill>
                        <a:srgbClr val="D9E2EA"/>
                      </a:solidFill>
                      <a:prstDash val="solid"/>
                      <a:round/>
                      <a:headEnd len="sm" w="sm" type="none"/>
                      <a:tailEnd len="sm" w="sm" type="none"/>
                    </a:lnR>
                    <a:lnT cap="flat" cmpd="sng" w="9525">
                      <a:solidFill>
                        <a:srgbClr val="D9E2EA"/>
                      </a:solidFill>
                      <a:prstDash val="solid"/>
                      <a:round/>
                      <a:headEnd len="sm" w="sm" type="none"/>
                      <a:tailEnd len="sm" w="sm" type="none"/>
                    </a:lnT>
                    <a:lnB cap="flat" cmpd="sng" w="9525">
                      <a:solidFill>
                        <a:srgbClr val="D9E2EA"/>
                      </a:solidFill>
                      <a:prstDash val="solid"/>
                      <a:round/>
                      <a:headEnd len="sm" w="sm" type="none"/>
                      <a:tailEnd len="sm" w="sm" type="none"/>
                    </a:lnB>
                    <a:solidFill>
                      <a:srgbClr val="1D2A5C"/>
                    </a:solidFill>
                  </a:tcPr>
                </a:tc>
                <a:tc>
                  <a:txBody>
                    <a:bodyPr/>
                    <a:lstStyle/>
                    <a:p>
                      <a:pPr indent="0" lvl="0" marL="0" marR="0" rtl="0" algn="l">
                        <a:spcBef>
                          <a:spcPts val="0"/>
                        </a:spcBef>
                        <a:spcAft>
                          <a:spcPts val="0"/>
                        </a:spcAft>
                        <a:buClr>
                          <a:srgbClr val="FFFFFF"/>
                        </a:buClr>
                        <a:buSzPts val="1050"/>
                        <a:buFont typeface="Calibri"/>
                        <a:buNone/>
                      </a:pPr>
                      <a:r>
                        <a:rPr b="1" lang="en-US" sz="1050" u="none" cap="none" strike="noStrike">
                          <a:solidFill>
                            <a:srgbClr val="FFFFFF"/>
                          </a:solidFill>
                          <a:latin typeface="Calibri"/>
                          <a:ea typeface="Calibri"/>
                          <a:cs typeface="Calibri"/>
                          <a:sym typeface="Calibri"/>
                        </a:rPr>
                        <a:t>Consequence</a:t>
                      </a:r>
                      <a:endParaRPr sz="1050" u="none" cap="none" strike="noStrike">
                        <a:latin typeface="Calibri"/>
                        <a:ea typeface="Calibri"/>
                        <a:cs typeface="Calibri"/>
                        <a:sym typeface="Calibri"/>
                      </a:endParaRPr>
                    </a:p>
                  </a:txBody>
                  <a:tcPr marT="64000" marB="64000" marR="64000" marL="64000" anchor="ctr">
                    <a:lnL cap="flat" cmpd="sng" w="9525">
                      <a:solidFill>
                        <a:srgbClr val="D9E2EA"/>
                      </a:solidFill>
                      <a:prstDash val="solid"/>
                      <a:round/>
                      <a:headEnd len="sm" w="sm" type="none"/>
                      <a:tailEnd len="sm" w="sm" type="none"/>
                    </a:lnL>
                    <a:lnR cap="flat" cmpd="sng" w="9525">
                      <a:solidFill>
                        <a:srgbClr val="D9E2EA"/>
                      </a:solidFill>
                      <a:prstDash val="solid"/>
                      <a:round/>
                      <a:headEnd len="sm" w="sm" type="none"/>
                      <a:tailEnd len="sm" w="sm" type="none"/>
                    </a:lnR>
                    <a:lnT cap="flat" cmpd="sng" w="9525">
                      <a:solidFill>
                        <a:srgbClr val="D9E2EA"/>
                      </a:solidFill>
                      <a:prstDash val="solid"/>
                      <a:round/>
                      <a:headEnd len="sm" w="sm" type="none"/>
                      <a:tailEnd len="sm" w="sm" type="none"/>
                    </a:lnT>
                    <a:lnB cap="flat" cmpd="sng" w="9525">
                      <a:solidFill>
                        <a:srgbClr val="D9E2EA"/>
                      </a:solidFill>
                      <a:prstDash val="solid"/>
                      <a:round/>
                      <a:headEnd len="sm" w="sm" type="none"/>
                      <a:tailEnd len="sm" w="sm" type="none"/>
                    </a:lnB>
                    <a:solidFill>
                      <a:srgbClr val="1D2A5C"/>
                    </a:solidFill>
                  </a:tcPr>
                </a:tc>
                <a:tc>
                  <a:txBody>
                    <a:bodyPr/>
                    <a:lstStyle/>
                    <a:p>
                      <a:pPr indent="0" lvl="0" marL="0" marR="0" rtl="0" algn="l">
                        <a:spcBef>
                          <a:spcPts val="0"/>
                        </a:spcBef>
                        <a:spcAft>
                          <a:spcPts val="0"/>
                        </a:spcAft>
                        <a:buClr>
                          <a:srgbClr val="FFFFFF"/>
                        </a:buClr>
                        <a:buSzPts val="1050"/>
                        <a:buFont typeface="Calibri"/>
                        <a:buNone/>
                      </a:pPr>
                      <a:r>
                        <a:rPr b="1" lang="en-US" sz="1050" u="none" cap="none" strike="noStrike">
                          <a:solidFill>
                            <a:srgbClr val="FFFFFF"/>
                          </a:solidFill>
                          <a:latin typeface="Calibri"/>
                          <a:ea typeface="Calibri"/>
                          <a:cs typeface="Calibri"/>
                          <a:sym typeface="Calibri"/>
                        </a:rPr>
                        <a:t>Defence</a:t>
                      </a:r>
                      <a:endParaRPr sz="1050" u="none" cap="none" strike="noStrike">
                        <a:latin typeface="Calibri"/>
                        <a:ea typeface="Calibri"/>
                        <a:cs typeface="Calibri"/>
                        <a:sym typeface="Calibri"/>
                      </a:endParaRPr>
                    </a:p>
                  </a:txBody>
                  <a:tcPr marT="64000" marB="64000" marR="64000" marL="64000" anchor="ctr">
                    <a:lnL cap="flat" cmpd="sng" w="9525">
                      <a:solidFill>
                        <a:srgbClr val="D9E2EA"/>
                      </a:solidFill>
                      <a:prstDash val="solid"/>
                      <a:round/>
                      <a:headEnd len="sm" w="sm" type="none"/>
                      <a:tailEnd len="sm" w="sm" type="none"/>
                    </a:lnL>
                    <a:lnR cap="flat" cmpd="sng" w="9525">
                      <a:solidFill>
                        <a:srgbClr val="D9E2EA"/>
                      </a:solidFill>
                      <a:prstDash val="solid"/>
                      <a:round/>
                      <a:headEnd len="sm" w="sm" type="none"/>
                      <a:tailEnd len="sm" w="sm" type="none"/>
                    </a:lnR>
                    <a:lnT cap="flat" cmpd="sng" w="9525">
                      <a:solidFill>
                        <a:srgbClr val="D9E2EA"/>
                      </a:solidFill>
                      <a:prstDash val="solid"/>
                      <a:round/>
                      <a:headEnd len="sm" w="sm" type="none"/>
                      <a:tailEnd len="sm" w="sm" type="none"/>
                    </a:lnT>
                    <a:lnB cap="flat" cmpd="sng" w="9525">
                      <a:solidFill>
                        <a:srgbClr val="D9E2EA"/>
                      </a:solidFill>
                      <a:prstDash val="solid"/>
                      <a:round/>
                      <a:headEnd len="sm" w="sm" type="none"/>
                      <a:tailEnd len="sm" w="sm" type="none"/>
                    </a:lnB>
                    <a:solidFill>
                      <a:srgbClr val="1D2A5C"/>
                    </a:solidFill>
                  </a:tcPr>
                </a:tc>
              </a:tr>
              <a:tr h="696250">
                <a:tc>
                  <a:txBody>
                    <a:bodyPr/>
                    <a:lstStyle/>
                    <a:p>
                      <a:pPr indent="0" lvl="0" marL="0" marR="0" rtl="0" algn="l">
                        <a:spcBef>
                          <a:spcPts val="0"/>
                        </a:spcBef>
                        <a:spcAft>
                          <a:spcPts val="0"/>
                        </a:spcAft>
                        <a:buClr>
                          <a:srgbClr val="1D2A5C"/>
                        </a:buClr>
                        <a:buSzPts val="1050"/>
                        <a:buFont typeface="Calibri"/>
                        <a:buNone/>
                      </a:pPr>
                      <a:r>
                        <a:rPr b="1" lang="en-US" sz="1050" u="none" cap="none" strike="noStrike">
                          <a:solidFill>
                            <a:srgbClr val="1D2A5C"/>
                          </a:solidFill>
                          <a:latin typeface="Calibri"/>
                          <a:ea typeface="Calibri"/>
                          <a:cs typeface="Calibri"/>
                          <a:sym typeface="Calibri"/>
                        </a:rPr>
                        <a:t>Evaluating at the demo threshold</a:t>
                      </a:r>
                      <a:endParaRPr sz="1050" u="none" cap="none" strike="noStrike">
                        <a:latin typeface="Calibri"/>
                        <a:ea typeface="Calibri"/>
                        <a:cs typeface="Calibri"/>
                        <a:sym typeface="Calibri"/>
                      </a:endParaRPr>
                    </a:p>
                  </a:txBody>
                  <a:tcPr marT="64000" marB="64000" marR="64000" marL="64000" anchor="ctr">
                    <a:lnL cap="flat" cmpd="sng" w="9525">
                      <a:solidFill>
                        <a:srgbClr val="D9E2EA"/>
                      </a:solidFill>
                      <a:prstDash val="solid"/>
                      <a:round/>
                      <a:headEnd len="sm" w="sm" type="none"/>
                      <a:tailEnd len="sm" w="sm" type="none"/>
                    </a:lnL>
                    <a:lnR cap="flat" cmpd="sng" w="9525">
                      <a:solidFill>
                        <a:srgbClr val="D9E2EA"/>
                      </a:solidFill>
                      <a:prstDash val="solid"/>
                      <a:round/>
                      <a:headEnd len="sm" w="sm" type="none"/>
                      <a:tailEnd len="sm" w="sm" type="none"/>
                    </a:lnR>
                    <a:lnT cap="flat" cmpd="sng" w="9525">
                      <a:solidFill>
                        <a:srgbClr val="D9E2EA"/>
                      </a:solidFill>
                      <a:prstDash val="solid"/>
                      <a:round/>
                      <a:headEnd len="sm" w="sm" type="none"/>
                      <a:tailEnd len="sm" w="sm" type="none"/>
                    </a:lnT>
                    <a:lnB cap="flat" cmpd="sng" w="9525">
                      <a:solidFill>
                        <a:srgbClr val="D9E2EA"/>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23293B"/>
                        </a:buClr>
                        <a:buSzPts val="1050"/>
                        <a:buFont typeface="Calibri"/>
                        <a:buNone/>
                      </a:pPr>
                      <a:r>
                        <a:rPr lang="en-US" sz="1050" u="none" cap="none" strike="noStrike">
                          <a:solidFill>
                            <a:srgbClr val="23293B"/>
                          </a:solidFill>
                          <a:latin typeface="Calibri"/>
                          <a:ea typeface="Calibri"/>
                          <a:cs typeface="Calibri"/>
                          <a:sym typeface="Calibri"/>
                        </a:rPr>
                        <a:t>Reported metrics describe a different system</a:t>
                      </a:r>
                      <a:endParaRPr sz="1050" u="none" cap="none" strike="noStrike">
                        <a:latin typeface="Calibri"/>
                        <a:ea typeface="Calibri"/>
                        <a:cs typeface="Calibri"/>
                        <a:sym typeface="Calibri"/>
                      </a:endParaRPr>
                    </a:p>
                  </a:txBody>
                  <a:tcPr marT="64000" marB="64000" marR="64000" marL="64000" anchor="ctr">
                    <a:lnL cap="flat" cmpd="sng" w="9525">
                      <a:solidFill>
                        <a:srgbClr val="D9E2EA"/>
                      </a:solidFill>
                      <a:prstDash val="solid"/>
                      <a:round/>
                      <a:headEnd len="sm" w="sm" type="none"/>
                      <a:tailEnd len="sm" w="sm" type="none"/>
                    </a:lnL>
                    <a:lnR cap="flat" cmpd="sng" w="9525">
                      <a:solidFill>
                        <a:srgbClr val="D9E2EA"/>
                      </a:solidFill>
                      <a:prstDash val="solid"/>
                      <a:round/>
                      <a:headEnd len="sm" w="sm" type="none"/>
                      <a:tailEnd len="sm" w="sm" type="none"/>
                    </a:lnR>
                    <a:lnT cap="flat" cmpd="sng" w="9525">
                      <a:solidFill>
                        <a:srgbClr val="D9E2EA"/>
                      </a:solidFill>
                      <a:prstDash val="solid"/>
                      <a:round/>
                      <a:headEnd len="sm" w="sm" type="none"/>
                      <a:tailEnd len="sm" w="sm" type="none"/>
                    </a:lnT>
                    <a:lnB cap="flat" cmpd="sng" w="9525">
                      <a:solidFill>
                        <a:srgbClr val="D9E2EA"/>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23293B"/>
                        </a:buClr>
                        <a:buSzPts val="1050"/>
                        <a:buFont typeface="Calibri"/>
                        <a:buNone/>
                      </a:pPr>
                      <a:r>
                        <a:rPr lang="en-US" sz="1050" u="none" cap="none" strike="noStrike">
                          <a:solidFill>
                            <a:srgbClr val="23293B"/>
                          </a:solidFill>
                          <a:latin typeface="Calibri"/>
                          <a:ea typeface="Calibri"/>
                          <a:cs typeface="Calibri"/>
                          <a:sym typeface="Calibri"/>
                        </a:rPr>
                        <a:t>Deployed operating point in the model card</a:t>
                      </a:r>
                      <a:endParaRPr sz="1050" u="none" cap="none" strike="noStrike">
                        <a:latin typeface="Calibri"/>
                        <a:ea typeface="Calibri"/>
                        <a:cs typeface="Calibri"/>
                        <a:sym typeface="Calibri"/>
                      </a:endParaRPr>
                    </a:p>
                  </a:txBody>
                  <a:tcPr marT="64000" marB="64000" marR="64000" marL="64000" anchor="ctr">
                    <a:lnL cap="flat" cmpd="sng" w="9525">
                      <a:solidFill>
                        <a:srgbClr val="D9E2EA"/>
                      </a:solidFill>
                      <a:prstDash val="solid"/>
                      <a:round/>
                      <a:headEnd len="sm" w="sm" type="none"/>
                      <a:tailEnd len="sm" w="sm" type="none"/>
                    </a:lnL>
                    <a:lnR cap="flat" cmpd="sng" w="9525">
                      <a:solidFill>
                        <a:srgbClr val="D9E2EA"/>
                      </a:solidFill>
                      <a:prstDash val="solid"/>
                      <a:round/>
                      <a:headEnd len="sm" w="sm" type="none"/>
                      <a:tailEnd len="sm" w="sm" type="none"/>
                    </a:lnR>
                    <a:lnT cap="flat" cmpd="sng" w="9525">
                      <a:solidFill>
                        <a:srgbClr val="D9E2EA"/>
                      </a:solidFill>
                      <a:prstDash val="solid"/>
                      <a:round/>
                      <a:headEnd len="sm" w="sm" type="none"/>
                      <a:tailEnd len="sm" w="sm" type="none"/>
                    </a:lnT>
                    <a:lnB cap="flat" cmpd="sng" w="9525">
                      <a:solidFill>
                        <a:srgbClr val="D9E2EA"/>
                      </a:solidFill>
                      <a:prstDash val="solid"/>
                      <a:round/>
                      <a:headEnd len="sm" w="sm" type="none"/>
                      <a:tailEnd len="sm" w="sm" type="none"/>
                    </a:lnB>
                    <a:solidFill>
                      <a:srgbClr val="FFFFFF"/>
                    </a:solidFill>
                  </a:tcPr>
                </a:tc>
              </a:tr>
              <a:tr h="696250">
                <a:tc>
                  <a:txBody>
                    <a:bodyPr/>
                    <a:lstStyle/>
                    <a:p>
                      <a:pPr indent="0" lvl="0" marL="0" marR="0" rtl="0" algn="l">
                        <a:spcBef>
                          <a:spcPts val="0"/>
                        </a:spcBef>
                        <a:spcAft>
                          <a:spcPts val="0"/>
                        </a:spcAft>
                        <a:buClr>
                          <a:srgbClr val="1D2A5C"/>
                        </a:buClr>
                        <a:buSzPts val="1050"/>
                        <a:buFont typeface="Calibri"/>
                        <a:buNone/>
                      </a:pPr>
                      <a:r>
                        <a:rPr b="1" lang="en-US" sz="1050" u="none" cap="none" strike="noStrike">
                          <a:solidFill>
                            <a:srgbClr val="1D2A5C"/>
                          </a:solidFill>
                          <a:latin typeface="Calibri"/>
                          <a:ea typeface="Calibri"/>
                          <a:cs typeface="Calibri"/>
                          <a:sym typeface="Calibri"/>
                        </a:rPr>
                        <a:t>Un-normalised / class-shifted labels</a:t>
                      </a:r>
                      <a:endParaRPr sz="1050" u="none" cap="none" strike="noStrike">
                        <a:latin typeface="Calibri"/>
                        <a:ea typeface="Calibri"/>
                        <a:cs typeface="Calibri"/>
                        <a:sym typeface="Calibri"/>
                      </a:endParaRPr>
                    </a:p>
                  </a:txBody>
                  <a:tcPr marT="64000" marB="64000" marR="64000" marL="64000" anchor="ctr">
                    <a:lnL cap="flat" cmpd="sng" w="9525">
                      <a:solidFill>
                        <a:srgbClr val="D9E2EA"/>
                      </a:solidFill>
                      <a:prstDash val="solid"/>
                      <a:round/>
                      <a:headEnd len="sm" w="sm" type="none"/>
                      <a:tailEnd len="sm" w="sm" type="none"/>
                    </a:lnL>
                    <a:lnR cap="flat" cmpd="sng" w="9525">
                      <a:solidFill>
                        <a:srgbClr val="D9E2EA"/>
                      </a:solidFill>
                      <a:prstDash val="solid"/>
                      <a:round/>
                      <a:headEnd len="sm" w="sm" type="none"/>
                      <a:tailEnd len="sm" w="sm" type="none"/>
                    </a:lnR>
                    <a:lnT cap="flat" cmpd="sng" w="9525">
                      <a:solidFill>
                        <a:srgbClr val="D9E2EA"/>
                      </a:solidFill>
                      <a:prstDash val="solid"/>
                      <a:round/>
                      <a:headEnd len="sm" w="sm" type="none"/>
                      <a:tailEnd len="sm" w="sm" type="none"/>
                    </a:lnT>
                    <a:lnB cap="flat" cmpd="sng" w="9525">
                      <a:solidFill>
                        <a:srgbClr val="D9E2EA"/>
                      </a:solidFill>
                      <a:prstDash val="solid"/>
                      <a:round/>
                      <a:headEnd len="sm" w="sm" type="none"/>
                      <a:tailEnd len="sm" w="sm" type="none"/>
                    </a:lnB>
                    <a:solidFill>
                      <a:srgbClr val="F2F6F9"/>
                    </a:solidFill>
                  </a:tcPr>
                </a:tc>
                <a:tc>
                  <a:txBody>
                    <a:bodyPr/>
                    <a:lstStyle/>
                    <a:p>
                      <a:pPr indent="0" lvl="0" marL="0" marR="0" rtl="0" algn="l">
                        <a:spcBef>
                          <a:spcPts val="0"/>
                        </a:spcBef>
                        <a:spcAft>
                          <a:spcPts val="0"/>
                        </a:spcAft>
                        <a:buClr>
                          <a:srgbClr val="23293B"/>
                        </a:buClr>
                        <a:buSzPts val="1050"/>
                        <a:buFont typeface="Calibri"/>
                        <a:buNone/>
                      </a:pPr>
                      <a:r>
                        <a:rPr lang="en-US" sz="1050" u="none" cap="none" strike="noStrike">
                          <a:solidFill>
                            <a:srgbClr val="23293B"/>
                          </a:solidFill>
                          <a:latin typeface="Calibri"/>
                          <a:ea typeface="Calibri"/>
                          <a:cs typeface="Calibri"/>
                          <a:sym typeface="Calibri"/>
                        </a:rPr>
                        <a:t>Silent clipping; predictions relabelled</a:t>
                      </a:r>
                      <a:endParaRPr sz="1050" u="none" cap="none" strike="noStrike">
                        <a:latin typeface="Calibri"/>
                        <a:ea typeface="Calibri"/>
                        <a:cs typeface="Calibri"/>
                        <a:sym typeface="Calibri"/>
                      </a:endParaRPr>
                    </a:p>
                  </a:txBody>
                  <a:tcPr marT="64000" marB="64000" marR="64000" marL="64000" anchor="ctr">
                    <a:lnL cap="flat" cmpd="sng" w="9525">
                      <a:solidFill>
                        <a:srgbClr val="D9E2EA"/>
                      </a:solidFill>
                      <a:prstDash val="solid"/>
                      <a:round/>
                      <a:headEnd len="sm" w="sm" type="none"/>
                      <a:tailEnd len="sm" w="sm" type="none"/>
                    </a:lnL>
                    <a:lnR cap="flat" cmpd="sng" w="9525">
                      <a:solidFill>
                        <a:srgbClr val="D9E2EA"/>
                      </a:solidFill>
                      <a:prstDash val="solid"/>
                      <a:round/>
                      <a:headEnd len="sm" w="sm" type="none"/>
                      <a:tailEnd len="sm" w="sm" type="none"/>
                    </a:lnR>
                    <a:lnT cap="flat" cmpd="sng" w="9525">
                      <a:solidFill>
                        <a:srgbClr val="D9E2EA"/>
                      </a:solidFill>
                      <a:prstDash val="solid"/>
                      <a:round/>
                      <a:headEnd len="sm" w="sm" type="none"/>
                      <a:tailEnd len="sm" w="sm" type="none"/>
                    </a:lnT>
                    <a:lnB cap="flat" cmpd="sng" w="9525">
                      <a:solidFill>
                        <a:srgbClr val="D9E2EA"/>
                      </a:solidFill>
                      <a:prstDash val="solid"/>
                      <a:round/>
                      <a:headEnd len="sm" w="sm" type="none"/>
                      <a:tailEnd len="sm" w="sm" type="none"/>
                    </a:lnB>
                    <a:solidFill>
                      <a:srgbClr val="F2F6F9"/>
                    </a:solidFill>
                  </a:tcPr>
                </a:tc>
                <a:tc>
                  <a:txBody>
                    <a:bodyPr/>
                    <a:lstStyle/>
                    <a:p>
                      <a:pPr indent="0" lvl="0" marL="0" marR="0" rtl="0" algn="l">
                        <a:spcBef>
                          <a:spcPts val="0"/>
                        </a:spcBef>
                        <a:spcAft>
                          <a:spcPts val="0"/>
                        </a:spcAft>
                        <a:buClr>
                          <a:srgbClr val="23293B"/>
                        </a:buClr>
                        <a:buSzPts val="1050"/>
                        <a:buFont typeface="Calibri"/>
                        <a:buNone/>
                      </a:pPr>
                      <a:r>
                        <a:rPr lang="en-US" sz="1050" u="none" cap="none" strike="noStrike">
                          <a:solidFill>
                            <a:srgbClr val="23293B"/>
                          </a:solidFill>
                          <a:latin typeface="Calibri"/>
                          <a:ea typeface="Calibri"/>
                          <a:cs typeface="Calibri"/>
                          <a:sym typeface="Calibri"/>
                        </a:rPr>
                        <a:t>Converter validation + render 20 frames</a:t>
                      </a:r>
                      <a:endParaRPr sz="1050" u="none" cap="none" strike="noStrike">
                        <a:latin typeface="Calibri"/>
                        <a:ea typeface="Calibri"/>
                        <a:cs typeface="Calibri"/>
                        <a:sym typeface="Calibri"/>
                      </a:endParaRPr>
                    </a:p>
                  </a:txBody>
                  <a:tcPr marT="64000" marB="64000" marR="64000" marL="64000" anchor="ctr">
                    <a:lnL cap="flat" cmpd="sng" w="9525">
                      <a:solidFill>
                        <a:srgbClr val="D9E2EA"/>
                      </a:solidFill>
                      <a:prstDash val="solid"/>
                      <a:round/>
                      <a:headEnd len="sm" w="sm" type="none"/>
                      <a:tailEnd len="sm" w="sm" type="none"/>
                    </a:lnL>
                    <a:lnR cap="flat" cmpd="sng" w="9525">
                      <a:solidFill>
                        <a:srgbClr val="D9E2EA"/>
                      </a:solidFill>
                      <a:prstDash val="solid"/>
                      <a:round/>
                      <a:headEnd len="sm" w="sm" type="none"/>
                      <a:tailEnd len="sm" w="sm" type="none"/>
                    </a:lnR>
                    <a:lnT cap="flat" cmpd="sng" w="9525">
                      <a:solidFill>
                        <a:srgbClr val="D9E2EA"/>
                      </a:solidFill>
                      <a:prstDash val="solid"/>
                      <a:round/>
                      <a:headEnd len="sm" w="sm" type="none"/>
                      <a:tailEnd len="sm" w="sm" type="none"/>
                    </a:lnT>
                    <a:lnB cap="flat" cmpd="sng" w="9525">
                      <a:solidFill>
                        <a:srgbClr val="D9E2EA"/>
                      </a:solidFill>
                      <a:prstDash val="solid"/>
                      <a:round/>
                      <a:headEnd len="sm" w="sm" type="none"/>
                      <a:tailEnd len="sm" w="sm" type="none"/>
                    </a:lnB>
                    <a:solidFill>
                      <a:srgbClr val="F2F6F9"/>
                    </a:solidFill>
                  </a:tcPr>
                </a:tc>
              </a:tr>
              <a:tr h="696250">
                <a:tc>
                  <a:txBody>
                    <a:bodyPr/>
                    <a:lstStyle/>
                    <a:p>
                      <a:pPr indent="0" lvl="0" marL="0" marR="0" rtl="0" algn="l">
                        <a:spcBef>
                          <a:spcPts val="0"/>
                        </a:spcBef>
                        <a:spcAft>
                          <a:spcPts val="0"/>
                        </a:spcAft>
                        <a:buClr>
                          <a:srgbClr val="1D2A5C"/>
                        </a:buClr>
                        <a:buSzPts val="1050"/>
                        <a:buFont typeface="Calibri"/>
                        <a:buNone/>
                      </a:pPr>
                      <a:r>
                        <a:rPr b="1" lang="en-US" sz="1050" u="none" cap="none" strike="noStrike">
                          <a:solidFill>
                            <a:srgbClr val="1D2A5C"/>
                          </a:solidFill>
                          <a:latin typeface="Calibri"/>
                          <a:ea typeface="Calibri"/>
                          <a:cs typeface="Calibri"/>
                          <a:sym typeface="Calibri"/>
                        </a:rPr>
                        <a:t>Train at 640, deploy at 320</a:t>
                      </a:r>
                      <a:endParaRPr sz="1050" u="none" cap="none" strike="noStrike">
                        <a:latin typeface="Calibri"/>
                        <a:ea typeface="Calibri"/>
                        <a:cs typeface="Calibri"/>
                        <a:sym typeface="Calibri"/>
                      </a:endParaRPr>
                    </a:p>
                  </a:txBody>
                  <a:tcPr marT="64000" marB="64000" marR="64000" marL="64000" anchor="ctr">
                    <a:lnL cap="flat" cmpd="sng" w="9525">
                      <a:solidFill>
                        <a:srgbClr val="D9E2EA"/>
                      </a:solidFill>
                      <a:prstDash val="solid"/>
                      <a:round/>
                      <a:headEnd len="sm" w="sm" type="none"/>
                      <a:tailEnd len="sm" w="sm" type="none"/>
                    </a:lnL>
                    <a:lnR cap="flat" cmpd="sng" w="9525">
                      <a:solidFill>
                        <a:srgbClr val="D9E2EA"/>
                      </a:solidFill>
                      <a:prstDash val="solid"/>
                      <a:round/>
                      <a:headEnd len="sm" w="sm" type="none"/>
                      <a:tailEnd len="sm" w="sm" type="none"/>
                    </a:lnR>
                    <a:lnT cap="flat" cmpd="sng" w="9525">
                      <a:solidFill>
                        <a:srgbClr val="D9E2EA"/>
                      </a:solidFill>
                      <a:prstDash val="solid"/>
                      <a:round/>
                      <a:headEnd len="sm" w="sm" type="none"/>
                      <a:tailEnd len="sm" w="sm" type="none"/>
                    </a:lnT>
                    <a:lnB cap="flat" cmpd="sng" w="9525">
                      <a:solidFill>
                        <a:srgbClr val="D9E2EA"/>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23293B"/>
                        </a:buClr>
                        <a:buSzPts val="1050"/>
                        <a:buFont typeface="Calibri"/>
                        <a:buNone/>
                      </a:pPr>
                      <a:r>
                        <a:rPr lang="en-US" sz="1050" u="none" cap="none" strike="noStrike">
                          <a:solidFill>
                            <a:srgbClr val="23293B"/>
                          </a:solidFill>
                          <a:latin typeface="Calibri"/>
                          <a:ea typeface="Calibri"/>
                          <a:cs typeface="Calibri"/>
                          <a:sym typeface="Calibri"/>
                        </a:rPr>
                        <a:t>Small defects vanish; insect_damage −0.11 mAP</a:t>
                      </a:r>
                      <a:endParaRPr sz="1050" u="none" cap="none" strike="noStrike">
                        <a:latin typeface="Calibri"/>
                        <a:ea typeface="Calibri"/>
                        <a:cs typeface="Calibri"/>
                        <a:sym typeface="Calibri"/>
                      </a:endParaRPr>
                    </a:p>
                  </a:txBody>
                  <a:tcPr marT="64000" marB="64000" marR="64000" marL="64000" anchor="ctr">
                    <a:lnL cap="flat" cmpd="sng" w="9525">
                      <a:solidFill>
                        <a:srgbClr val="D9E2EA"/>
                      </a:solidFill>
                      <a:prstDash val="solid"/>
                      <a:round/>
                      <a:headEnd len="sm" w="sm" type="none"/>
                      <a:tailEnd len="sm" w="sm" type="none"/>
                    </a:lnL>
                    <a:lnR cap="flat" cmpd="sng" w="9525">
                      <a:solidFill>
                        <a:srgbClr val="D9E2EA"/>
                      </a:solidFill>
                      <a:prstDash val="solid"/>
                      <a:round/>
                      <a:headEnd len="sm" w="sm" type="none"/>
                      <a:tailEnd len="sm" w="sm" type="none"/>
                    </a:lnR>
                    <a:lnT cap="flat" cmpd="sng" w="9525">
                      <a:solidFill>
                        <a:srgbClr val="D9E2EA"/>
                      </a:solidFill>
                      <a:prstDash val="solid"/>
                      <a:round/>
                      <a:headEnd len="sm" w="sm" type="none"/>
                      <a:tailEnd len="sm" w="sm" type="none"/>
                    </a:lnT>
                    <a:lnB cap="flat" cmpd="sng" w="9525">
                      <a:solidFill>
                        <a:srgbClr val="D9E2EA"/>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23293B"/>
                        </a:buClr>
                        <a:buSzPts val="1050"/>
                        <a:buFont typeface="Calibri"/>
                        <a:buNone/>
                      </a:pPr>
                      <a:r>
                        <a:rPr lang="en-US" sz="1050" u="none" cap="none" strike="noStrike">
                          <a:solidFill>
                            <a:srgbClr val="23293B"/>
                          </a:solidFill>
                          <a:latin typeface="Calibri"/>
                          <a:ea typeface="Calibri"/>
                          <a:cs typeface="Calibri"/>
                          <a:sym typeface="Calibri"/>
                        </a:rPr>
                        <a:t>Resolution is contract; re-measure per class</a:t>
                      </a:r>
                      <a:endParaRPr sz="1050" u="none" cap="none" strike="noStrike">
                        <a:latin typeface="Calibri"/>
                        <a:ea typeface="Calibri"/>
                        <a:cs typeface="Calibri"/>
                        <a:sym typeface="Calibri"/>
                      </a:endParaRPr>
                    </a:p>
                  </a:txBody>
                  <a:tcPr marT="64000" marB="64000" marR="64000" marL="64000" anchor="ctr">
                    <a:lnL cap="flat" cmpd="sng" w="9525">
                      <a:solidFill>
                        <a:srgbClr val="D9E2EA"/>
                      </a:solidFill>
                      <a:prstDash val="solid"/>
                      <a:round/>
                      <a:headEnd len="sm" w="sm" type="none"/>
                      <a:tailEnd len="sm" w="sm" type="none"/>
                    </a:lnL>
                    <a:lnR cap="flat" cmpd="sng" w="9525">
                      <a:solidFill>
                        <a:srgbClr val="D9E2EA"/>
                      </a:solidFill>
                      <a:prstDash val="solid"/>
                      <a:round/>
                      <a:headEnd len="sm" w="sm" type="none"/>
                      <a:tailEnd len="sm" w="sm" type="none"/>
                    </a:lnR>
                    <a:lnT cap="flat" cmpd="sng" w="9525">
                      <a:solidFill>
                        <a:srgbClr val="D9E2EA"/>
                      </a:solidFill>
                      <a:prstDash val="solid"/>
                      <a:round/>
                      <a:headEnd len="sm" w="sm" type="none"/>
                      <a:tailEnd len="sm" w="sm" type="none"/>
                    </a:lnT>
                    <a:lnB cap="flat" cmpd="sng" w="9525">
                      <a:solidFill>
                        <a:srgbClr val="D9E2EA"/>
                      </a:solidFill>
                      <a:prstDash val="solid"/>
                      <a:round/>
                      <a:headEnd len="sm" w="sm" type="none"/>
                      <a:tailEnd len="sm" w="sm" type="none"/>
                    </a:lnB>
                    <a:solidFill>
                      <a:srgbClr val="FFFFFF"/>
                    </a:solidFill>
                  </a:tcPr>
                </a:tc>
              </a:tr>
              <a:tr h="696250">
                <a:tc>
                  <a:txBody>
                    <a:bodyPr/>
                    <a:lstStyle/>
                    <a:p>
                      <a:pPr indent="0" lvl="0" marL="0" marR="0" rtl="0" algn="l">
                        <a:spcBef>
                          <a:spcPts val="0"/>
                        </a:spcBef>
                        <a:spcAft>
                          <a:spcPts val="0"/>
                        </a:spcAft>
                        <a:buClr>
                          <a:srgbClr val="1D2A5C"/>
                        </a:buClr>
                        <a:buSzPts val="1050"/>
                        <a:buFont typeface="Calibri"/>
                        <a:buNone/>
                      </a:pPr>
                      <a:r>
                        <a:rPr b="1" lang="en-US" sz="1050" u="none" cap="none" strike="noStrike">
                          <a:solidFill>
                            <a:srgbClr val="1D2A5C"/>
                          </a:solidFill>
                          <a:latin typeface="Calibri"/>
                          <a:ea typeface="Calibri"/>
                          <a:cs typeface="Calibri"/>
                          <a:sym typeface="Calibri"/>
                        </a:rPr>
                        <a:t>Random split over conveyor sessions</a:t>
                      </a:r>
                      <a:endParaRPr sz="1050" u="none" cap="none" strike="noStrike">
                        <a:latin typeface="Calibri"/>
                        <a:ea typeface="Calibri"/>
                        <a:cs typeface="Calibri"/>
                        <a:sym typeface="Calibri"/>
                      </a:endParaRPr>
                    </a:p>
                  </a:txBody>
                  <a:tcPr marT="64000" marB="64000" marR="64000" marL="64000" anchor="ctr">
                    <a:lnL cap="flat" cmpd="sng" w="9525">
                      <a:solidFill>
                        <a:srgbClr val="D9E2EA"/>
                      </a:solidFill>
                      <a:prstDash val="solid"/>
                      <a:round/>
                      <a:headEnd len="sm" w="sm" type="none"/>
                      <a:tailEnd len="sm" w="sm" type="none"/>
                    </a:lnL>
                    <a:lnR cap="flat" cmpd="sng" w="9525">
                      <a:solidFill>
                        <a:srgbClr val="D9E2EA"/>
                      </a:solidFill>
                      <a:prstDash val="solid"/>
                      <a:round/>
                      <a:headEnd len="sm" w="sm" type="none"/>
                      <a:tailEnd len="sm" w="sm" type="none"/>
                    </a:lnR>
                    <a:lnT cap="flat" cmpd="sng" w="9525">
                      <a:solidFill>
                        <a:srgbClr val="D9E2EA"/>
                      </a:solidFill>
                      <a:prstDash val="solid"/>
                      <a:round/>
                      <a:headEnd len="sm" w="sm" type="none"/>
                      <a:tailEnd len="sm" w="sm" type="none"/>
                    </a:lnT>
                    <a:lnB cap="flat" cmpd="sng" w="9525">
                      <a:solidFill>
                        <a:srgbClr val="D9E2EA"/>
                      </a:solidFill>
                      <a:prstDash val="solid"/>
                      <a:round/>
                      <a:headEnd len="sm" w="sm" type="none"/>
                      <a:tailEnd len="sm" w="sm" type="none"/>
                    </a:lnB>
                    <a:solidFill>
                      <a:srgbClr val="F2F6F9"/>
                    </a:solidFill>
                  </a:tcPr>
                </a:tc>
                <a:tc>
                  <a:txBody>
                    <a:bodyPr/>
                    <a:lstStyle/>
                    <a:p>
                      <a:pPr indent="0" lvl="0" marL="0" marR="0" rtl="0" algn="l">
                        <a:spcBef>
                          <a:spcPts val="0"/>
                        </a:spcBef>
                        <a:spcAft>
                          <a:spcPts val="0"/>
                        </a:spcAft>
                        <a:buClr>
                          <a:srgbClr val="23293B"/>
                        </a:buClr>
                        <a:buSzPts val="1050"/>
                        <a:buFont typeface="Calibri"/>
                        <a:buNone/>
                      </a:pPr>
                      <a:r>
                        <a:rPr lang="en-US" sz="1050" u="none" cap="none" strike="noStrike">
                          <a:solidFill>
                            <a:srgbClr val="23293B"/>
                          </a:solidFill>
                          <a:latin typeface="Calibri"/>
                          <a:ea typeface="Calibri"/>
                          <a:cs typeface="Calibri"/>
                          <a:sym typeface="Calibri"/>
                        </a:rPr>
                        <a:t>Leakage inflates every metric</a:t>
                      </a:r>
                      <a:endParaRPr sz="1050" u="none" cap="none" strike="noStrike">
                        <a:latin typeface="Calibri"/>
                        <a:ea typeface="Calibri"/>
                        <a:cs typeface="Calibri"/>
                        <a:sym typeface="Calibri"/>
                      </a:endParaRPr>
                    </a:p>
                  </a:txBody>
                  <a:tcPr marT="64000" marB="64000" marR="64000" marL="64000" anchor="ctr">
                    <a:lnL cap="flat" cmpd="sng" w="9525">
                      <a:solidFill>
                        <a:srgbClr val="D9E2EA"/>
                      </a:solidFill>
                      <a:prstDash val="solid"/>
                      <a:round/>
                      <a:headEnd len="sm" w="sm" type="none"/>
                      <a:tailEnd len="sm" w="sm" type="none"/>
                    </a:lnL>
                    <a:lnR cap="flat" cmpd="sng" w="9525">
                      <a:solidFill>
                        <a:srgbClr val="D9E2EA"/>
                      </a:solidFill>
                      <a:prstDash val="solid"/>
                      <a:round/>
                      <a:headEnd len="sm" w="sm" type="none"/>
                      <a:tailEnd len="sm" w="sm" type="none"/>
                    </a:lnR>
                    <a:lnT cap="flat" cmpd="sng" w="9525">
                      <a:solidFill>
                        <a:srgbClr val="D9E2EA"/>
                      </a:solidFill>
                      <a:prstDash val="solid"/>
                      <a:round/>
                      <a:headEnd len="sm" w="sm" type="none"/>
                      <a:tailEnd len="sm" w="sm" type="none"/>
                    </a:lnT>
                    <a:lnB cap="flat" cmpd="sng" w="9525">
                      <a:solidFill>
                        <a:srgbClr val="D9E2EA"/>
                      </a:solidFill>
                      <a:prstDash val="solid"/>
                      <a:round/>
                      <a:headEnd len="sm" w="sm" type="none"/>
                      <a:tailEnd len="sm" w="sm" type="none"/>
                    </a:lnB>
                    <a:solidFill>
                      <a:srgbClr val="F2F6F9"/>
                    </a:solidFill>
                  </a:tcPr>
                </a:tc>
                <a:tc>
                  <a:txBody>
                    <a:bodyPr/>
                    <a:lstStyle/>
                    <a:p>
                      <a:pPr indent="0" lvl="0" marL="0" marR="0" rtl="0" algn="l">
                        <a:spcBef>
                          <a:spcPts val="0"/>
                        </a:spcBef>
                        <a:spcAft>
                          <a:spcPts val="0"/>
                        </a:spcAft>
                        <a:buClr>
                          <a:srgbClr val="23293B"/>
                        </a:buClr>
                        <a:buSzPts val="1050"/>
                        <a:buFont typeface="Calibri"/>
                        <a:buNone/>
                      </a:pPr>
                      <a:r>
                        <a:rPr lang="en-US" sz="1050" u="none" cap="none" strike="noStrike">
                          <a:solidFill>
                            <a:srgbClr val="23293B"/>
                          </a:solidFill>
                          <a:latin typeface="Calibri"/>
                          <a:ea typeface="Calibri"/>
                          <a:cs typeface="Calibri"/>
                          <a:sym typeface="Calibri"/>
                        </a:rPr>
                        <a:t>Session-level split from the manifest</a:t>
                      </a:r>
                      <a:endParaRPr sz="1050" u="none" cap="none" strike="noStrike">
                        <a:latin typeface="Calibri"/>
                        <a:ea typeface="Calibri"/>
                        <a:cs typeface="Calibri"/>
                        <a:sym typeface="Calibri"/>
                      </a:endParaRPr>
                    </a:p>
                  </a:txBody>
                  <a:tcPr marT="64000" marB="64000" marR="64000" marL="64000" anchor="ctr">
                    <a:lnL cap="flat" cmpd="sng" w="9525">
                      <a:solidFill>
                        <a:srgbClr val="D9E2EA"/>
                      </a:solidFill>
                      <a:prstDash val="solid"/>
                      <a:round/>
                      <a:headEnd len="sm" w="sm" type="none"/>
                      <a:tailEnd len="sm" w="sm" type="none"/>
                    </a:lnL>
                    <a:lnR cap="flat" cmpd="sng" w="9525">
                      <a:solidFill>
                        <a:srgbClr val="D9E2EA"/>
                      </a:solidFill>
                      <a:prstDash val="solid"/>
                      <a:round/>
                      <a:headEnd len="sm" w="sm" type="none"/>
                      <a:tailEnd len="sm" w="sm" type="none"/>
                    </a:lnR>
                    <a:lnT cap="flat" cmpd="sng" w="9525">
                      <a:solidFill>
                        <a:srgbClr val="D9E2EA"/>
                      </a:solidFill>
                      <a:prstDash val="solid"/>
                      <a:round/>
                      <a:headEnd len="sm" w="sm" type="none"/>
                      <a:tailEnd len="sm" w="sm" type="none"/>
                    </a:lnT>
                    <a:lnB cap="flat" cmpd="sng" w="9525">
                      <a:solidFill>
                        <a:srgbClr val="D9E2EA"/>
                      </a:solidFill>
                      <a:prstDash val="solid"/>
                      <a:round/>
                      <a:headEnd len="sm" w="sm" type="none"/>
                      <a:tailEnd len="sm" w="sm" type="none"/>
                    </a:lnB>
                    <a:solidFill>
                      <a:srgbClr val="F2F6F9"/>
                    </a:solidFill>
                  </a:tcPr>
                </a:tc>
              </a:tr>
              <a:tr h="696250">
                <a:tc>
                  <a:txBody>
                    <a:bodyPr/>
                    <a:lstStyle/>
                    <a:p>
                      <a:pPr indent="0" lvl="0" marL="0" marR="0" rtl="0" algn="l">
                        <a:spcBef>
                          <a:spcPts val="0"/>
                        </a:spcBef>
                        <a:spcAft>
                          <a:spcPts val="0"/>
                        </a:spcAft>
                        <a:buClr>
                          <a:srgbClr val="1D2A5C"/>
                        </a:buClr>
                        <a:buSzPts val="1050"/>
                        <a:buFont typeface="Calibri"/>
                        <a:buNone/>
                      </a:pPr>
                      <a:r>
                        <a:rPr b="1" lang="en-US" sz="1050" u="none" cap="none" strike="noStrike">
                          <a:solidFill>
                            <a:srgbClr val="1D2A5C"/>
                          </a:solidFill>
                          <a:latin typeface="Calibri"/>
                          <a:ea typeface="Calibri"/>
                          <a:cs typeface="Calibri"/>
                          <a:sym typeface="Calibri"/>
                        </a:rPr>
                        <a:t>No defect-free frames in training</a:t>
                      </a:r>
                      <a:endParaRPr sz="1050" u="none" cap="none" strike="noStrike">
                        <a:latin typeface="Calibri"/>
                        <a:ea typeface="Calibri"/>
                        <a:cs typeface="Calibri"/>
                        <a:sym typeface="Calibri"/>
                      </a:endParaRPr>
                    </a:p>
                  </a:txBody>
                  <a:tcPr marT="64000" marB="64000" marR="64000" marL="64000" anchor="ctr">
                    <a:lnL cap="flat" cmpd="sng" w="9525">
                      <a:solidFill>
                        <a:srgbClr val="D9E2EA"/>
                      </a:solidFill>
                      <a:prstDash val="solid"/>
                      <a:round/>
                      <a:headEnd len="sm" w="sm" type="none"/>
                      <a:tailEnd len="sm" w="sm" type="none"/>
                    </a:lnL>
                    <a:lnR cap="flat" cmpd="sng" w="9525">
                      <a:solidFill>
                        <a:srgbClr val="D9E2EA"/>
                      </a:solidFill>
                      <a:prstDash val="solid"/>
                      <a:round/>
                      <a:headEnd len="sm" w="sm" type="none"/>
                      <a:tailEnd len="sm" w="sm" type="none"/>
                    </a:lnR>
                    <a:lnT cap="flat" cmpd="sng" w="9525">
                      <a:solidFill>
                        <a:srgbClr val="D9E2EA"/>
                      </a:solidFill>
                      <a:prstDash val="solid"/>
                      <a:round/>
                      <a:headEnd len="sm" w="sm" type="none"/>
                      <a:tailEnd len="sm" w="sm" type="none"/>
                    </a:lnT>
                    <a:lnB cap="flat" cmpd="sng" w="9525">
                      <a:solidFill>
                        <a:srgbClr val="D9E2EA"/>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23293B"/>
                        </a:buClr>
                        <a:buSzPts val="1050"/>
                        <a:buFont typeface="Calibri"/>
                        <a:buNone/>
                      </a:pPr>
                      <a:r>
                        <a:rPr lang="en-US" sz="1050" u="none" cap="none" strike="noStrike">
                          <a:solidFill>
                            <a:srgbClr val="23293B"/>
                          </a:solidFill>
                          <a:latin typeface="Calibri"/>
                          <a:ea typeface="Calibri"/>
                          <a:cs typeface="Calibri"/>
                          <a:sym typeface="Calibri"/>
                        </a:rPr>
                        <a:t>Model learns 'always find something'</a:t>
                      </a:r>
                      <a:endParaRPr sz="1050" u="none" cap="none" strike="noStrike">
                        <a:latin typeface="Calibri"/>
                        <a:ea typeface="Calibri"/>
                        <a:cs typeface="Calibri"/>
                        <a:sym typeface="Calibri"/>
                      </a:endParaRPr>
                    </a:p>
                  </a:txBody>
                  <a:tcPr marT="64000" marB="64000" marR="64000" marL="64000" anchor="ctr">
                    <a:lnL cap="flat" cmpd="sng" w="9525">
                      <a:solidFill>
                        <a:srgbClr val="D9E2EA"/>
                      </a:solidFill>
                      <a:prstDash val="solid"/>
                      <a:round/>
                      <a:headEnd len="sm" w="sm" type="none"/>
                      <a:tailEnd len="sm" w="sm" type="none"/>
                    </a:lnL>
                    <a:lnR cap="flat" cmpd="sng" w="9525">
                      <a:solidFill>
                        <a:srgbClr val="D9E2EA"/>
                      </a:solidFill>
                      <a:prstDash val="solid"/>
                      <a:round/>
                      <a:headEnd len="sm" w="sm" type="none"/>
                      <a:tailEnd len="sm" w="sm" type="none"/>
                    </a:lnR>
                    <a:lnT cap="flat" cmpd="sng" w="9525">
                      <a:solidFill>
                        <a:srgbClr val="D9E2EA"/>
                      </a:solidFill>
                      <a:prstDash val="solid"/>
                      <a:round/>
                      <a:headEnd len="sm" w="sm" type="none"/>
                      <a:tailEnd len="sm" w="sm" type="none"/>
                    </a:lnT>
                    <a:lnB cap="flat" cmpd="sng" w="9525">
                      <a:solidFill>
                        <a:srgbClr val="D9E2EA"/>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23293B"/>
                        </a:buClr>
                        <a:buSzPts val="1050"/>
                        <a:buFont typeface="Calibri"/>
                        <a:buNone/>
                      </a:pPr>
                      <a:r>
                        <a:rPr lang="en-US" sz="1050" u="none" cap="none" strike="noStrike">
                          <a:solidFill>
                            <a:srgbClr val="23293B"/>
                          </a:solidFill>
                          <a:latin typeface="Calibri"/>
                          <a:ea typeface="Calibri"/>
                          <a:cs typeface="Calibri"/>
                          <a:sym typeface="Calibri"/>
                        </a:rPr>
                        <a:t>Keep ~10% empty frames</a:t>
                      </a:r>
                      <a:endParaRPr sz="1050" u="none" cap="none" strike="noStrike">
                        <a:latin typeface="Calibri"/>
                        <a:ea typeface="Calibri"/>
                        <a:cs typeface="Calibri"/>
                        <a:sym typeface="Calibri"/>
                      </a:endParaRPr>
                    </a:p>
                  </a:txBody>
                  <a:tcPr marT="64000" marB="64000" marR="64000" marL="64000" anchor="ctr">
                    <a:lnL cap="flat" cmpd="sng" w="9525">
                      <a:solidFill>
                        <a:srgbClr val="D9E2EA"/>
                      </a:solidFill>
                      <a:prstDash val="solid"/>
                      <a:round/>
                      <a:headEnd len="sm" w="sm" type="none"/>
                      <a:tailEnd len="sm" w="sm" type="none"/>
                    </a:lnL>
                    <a:lnR cap="flat" cmpd="sng" w="9525">
                      <a:solidFill>
                        <a:srgbClr val="D9E2EA"/>
                      </a:solidFill>
                      <a:prstDash val="solid"/>
                      <a:round/>
                      <a:headEnd len="sm" w="sm" type="none"/>
                      <a:tailEnd len="sm" w="sm" type="none"/>
                    </a:lnR>
                    <a:lnT cap="flat" cmpd="sng" w="9525">
                      <a:solidFill>
                        <a:srgbClr val="D9E2EA"/>
                      </a:solidFill>
                      <a:prstDash val="solid"/>
                      <a:round/>
                      <a:headEnd len="sm" w="sm" type="none"/>
                      <a:tailEnd len="sm" w="sm" type="none"/>
                    </a:lnT>
                    <a:lnB cap="flat" cmpd="sng" w="9525">
                      <a:solidFill>
                        <a:srgbClr val="D9E2EA"/>
                      </a:solidFill>
                      <a:prstDash val="solid"/>
                      <a:round/>
                      <a:headEnd len="sm" w="sm" type="none"/>
                      <a:tailEnd len="sm" w="sm" type="none"/>
                    </a:lnB>
                    <a:solidFill>
                      <a:srgbClr val="FFFFFF"/>
                    </a:solidFill>
                  </a:tcPr>
                </a:tc>
              </a:tr>
              <a:tr h="696250">
                <a:tc>
                  <a:txBody>
                    <a:bodyPr/>
                    <a:lstStyle/>
                    <a:p>
                      <a:pPr indent="0" lvl="0" marL="0" marR="0" rtl="0" algn="l">
                        <a:spcBef>
                          <a:spcPts val="0"/>
                        </a:spcBef>
                        <a:spcAft>
                          <a:spcPts val="0"/>
                        </a:spcAft>
                        <a:buClr>
                          <a:srgbClr val="1D2A5C"/>
                        </a:buClr>
                        <a:buSzPts val="1050"/>
                        <a:buFont typeface="Calibri"/>
                        <a:buNone/>
                      </a:pPr>
                      <a:r>
                        <a:rPr b="1" lang="en-US" sz="1050" u="none" cap="none" strike="noStrike">
                          <a:solidFill>
                            <a:srgbClr val="1D2A5C"/>
                          </a:solidFill>
                          <a:latin typeface="Calibri"/>
                          <a:ea typeface="Calibri"/>
                          <a:cs typeface="Calibri"/>
                          <a:sym typeface="Calibri"/>
                        </a:rPr>
                        <a:t>Treating AGPL licensing as a non-issue</a:t>
                      </a:r>
                      <a:endParaRPr sz="1050" u="none" cap="none" strike="noStrike">
                        <a:latin typeface="Calibri"/>
                        <a:ea typeface="Calibri"/>
                        <a:cs typeface="Calibri"/>
                        <a:sym typeface="Calibri"/>
                      </a:endParaRPr>
                    </a:p>
                  </a:txBody>
                  <a:tcPr marT="64000" marB="64000" marR="64000" marL="64000" anchor="ctr">
                    <a:lnL cap="flat" cmpd="sng" w="9525">
                      <a:solidFill>
                        <a:srgbClr val="D9E2EA"/>
                      </a:solidFill>
                      <a:prstDash val="solid"/>
                      <a:round/>
                      <a:headEnd len="sm" w="sm" type="none"/>
                      <a:tailEnd len="sm" w="sm" type="none"/>
                    </a:lnL>
                    <a:lnR cap="flat" cmpd="sng" w="9525">
                      <a:solidFill>
                        <a:srgbClr val="D9E2EA"/>
                      </a:solidFill>
                      <a:prstDash val="solid"/>
                      <a:round/>
                      <a:headEnd len="sm" w="sm" type="none"/>
                      <a:tailEnd len="sm" w="sm" type="none"/>
                    </a:lnR>
                    <a:lnT cap="flat" cmpd="sng" w="9525">
                      <a:solidFill>
                        <a:srgbClr val="D9E2EA"/>
                      </a:solidFill>
                      <a:prstDash val="solid"/>
                      <a:round/>
                      <a:headEnd len="sm" w="sm" type="none"/>
                      <a:tailEnd len="sm" w="sm" type="none"/>
                    </a:lnT>
                    <a:lnB cap="flat" cmpd="sng" w="9525">
                      <a:solidFill>
                        <a:srgbClr val="D9E2EA"/>
                      </a:solidFill>
                      <a:prstDash val="solid"/>
                      <a:round/>
                      <a:headEnd len="sm" w="sm" type="none"/>
                      <a:tailEnd len="sm" w="sm" type="none"/>
                    </a:lnB>
                    <a:solidFill>
                      <a:srgbClr val="F2F6F9"/>
                    </a:solidFill>
                  </a:tcPr>
                </a:tc>
                <a:tc>
                  <a:txBody>
                    <a:bodyPr/>
                    <a:lstStyle/>
                    <a:p>
                      <a:pPr indent="0" lvl="0" marL="0" marR="0" rtl="0" algn="l">
                        <a:spcBef>
                          <a:spcPts val="0"/>
                        </a:spcBef>
                        <a:spcAft>
                          <a:spcPts val="0"/>
                        </a:spcAft>
                        <a:buClr>
                          <a:srgbClr val="23293B"/>
                        </a:buClr>
                        <a:buSzPts val="1050"/>
                        <a:buFont typeface="Calibri"/>
                        <a:buNone/>
                      </a:pPr>
                      <a:r>
                        <a:rPr lang="en-US" sz="1050" u="none" cap="none" strike="noStrike">
                          <a:solidFill>
                            <a:srgbClr val="23293B"/>
                          </a:solidFill>
                          <a:latin typeface="Calibri"/>
                          <a:ea typeface="Calibri"/>
                          <a:cs typeface="Calibri"/>
                          <a:sym typeface="Calibri"/>
                        </a:rPr>
                        <a:t>Legal obligations surprise procurement</a:t>
                      </a:r>
                      <a:endParaRPr sz="1050" u="none" cap="none" strike="noStrike">
                        <a:latin typeface="Calibri"/>
                        <a:ea typeface="Calibri"/>
                        <a:cs typeface="Calibri"/>
                        <a:sym typeface="Calibri"/>
                      </a:endParaRPr>
                    </a:p>
                  </a:txBody>
                  <a:tcPr marT="64000" marB="64000" marR="64000" marL="64000" anchor="ctr">
                    <a:lnL cap="flat" cmpd="sng" w="9525">
                      <a:solidFill>
                        <a:srgbClr val="D9E2EA"/>
                      </a:solidFill>
                      <a:prstDash val="solid"/>
                      <a:round/>
                      <a:headEnd len="sm" w="sm" type="none"/>
                      <a:tailEnd len="sm" w="sm" type="none"/>
                    </a:lnL>
                    <a:lnR cap="flat" cmpd="sng" w="9525">
                      <a:solidFill>
                        <a:srgbClr val="D9E2EA"/>
                      </a:solidFill>
                      <a:prstDash val="solid"/>
                      <a:round/>
                      <a:headEnd len="sm" w="sm" type="none"/>
                      <a:tailEnd len="sm" w="sm" type="none"/>
                    </a:lnR>
                    <a:lnT cap="flat" cmpd="sng" w="9525">
                      <a:solidFill>
                        <a:srgbClr val="D9E2EA"/>
                      </a:solidFill>
                      <a:prstDash val="solid"/>
                      <a:round/>
                      <a:headEnd len="sm" w="sm" type="none"/>
                      <a:tailEnd len="sm" w="sm" type="none"/>
                    </a:lnT>
                    <a:lnB cap="flat" cmpd="sng" w="9525">
                      <a:solidFill>
                        <a:srgbClr val="D9E2EA"/>
                      </a:solidFill>
                      <a:prstDash val="solid"/>
                      <a:round/>
                      <a:headEnd len="sm" w="sm" type="none"/>
                      <a:tailEnd len="sm" w="sm" type="none"/>
                    </a:lnB>
                    <a:solidFill>
                      <a:srgbClr val="F2F6F9"/>
                    </a:solidFill>
                  </a:tcPr>
                </a:tc>
                <a:tc>
                  <a:txBody>
                    <a:bodyPr/>
                    <a:lstStyle/>
                    <a:p>
                      <a:pPr indent="0" lvl="0" marL="0" marR="0" rtl="0" algn="l">
                        <a:spcBef>
                          <a:spcPts val="0"/>
                        </a:spcBef>
                        <a:spcAft>
                          <a:spcPts val="0"/>
                        </a:spcAft>
                        <a:buClr>
                          <a:srgbClr val="23293B"/>
                        </a:buClr>
                        <a:buSzPts val="1050"/>
                        <a:buFont typeface="Calibri"/>
                        <a:buNone/>
                      </a:pPr>
                      <a:r>
                        <a:rPr lang="en-US" sz="1050" u="none" cap="none" strike="noStrike">
                          <a:solidFill>
                            <a:srgbClr val="23293B"/>
                          </a:solidFill>
                          <a:latin typeface="Calibri"/>
                          <a:ea typeface="Calibri"/>
                          <a:cs typeface="Calibri"/>
                          <a:sym typeface="Calibri"/>
                        </a:rPr>
                        <a:t>Flag it early, in writing</a:t>
                      </a:r>
                      <a:endParaRPr sz="1050" u="none" cap="none" strike="noStrike">
                        <a:latin typeface="Calibri"/>
                        <a:ea typeface="Calibri"/>
                        <a:cs typeface="Calibri"/>
                        <a:sym typeface="Calibri"/>
                      </a:endParaRPr>
                    </a:p>
                  </a:txBody>
                  <a:tcPr marT="64000" marB="64000" marR="64000" marL="64000" anchor="ctr">
                    <a:lnL cap="flat" cmpd="sng" w="9525">
                      <a:solidFill>
                        <a:srgbClr val="D9E2EA"/>
                      </a:solidFill>
                      <a:prstDash val="solid"/>
                      <a:round/>
                      <a:headEnd len="sm" w="sm" type="none"/>
                      <a:tailEnd len="sm" w="sm" type="none"/>
                    </a:lnL>
                    <a:lnR cap="flat" cmpd="sng" w="9525">
                      <a:solidFill>
                        <a:srgbClr val="D9E2EA"/>
                      </a:solidFill>
                      <a:prstDash val="solid"/>
                      <a:round/>
                      <a:headEnd len="sm" w="sm" type="none"/>
                      <a:tailEnd len="sm" w="sm" type="none"/>
                    </a:lnR>
                    <a:lnT cap="flat" cmpd="sng" w="9525">
                      <a:solidFill>
                        <a:srgbClr val="D9E2EA"/>
                      </a:solidFill>
                      <a:prstDash val="solid"/>
                      <a:round/>
                      <a:headEnd len="sm" w="sm" type="none"/>
                      <a:tailEnd len="sm" w="sm" type="none"/>
                    </a:lnT>
                    <a:lnB cap="flat" cmpd="sng" w="9525">
                      <a:solidFill>
                        <a:srgbClr val="D9E2EA"/>
                      </a:solidFill>
                      <a:prstDash val="solid"/>
                      <a:round/>
                      <a:headEnd len="sm" w="sm" type="none"/>
                      <a:tailEnd len="sm" w="sm" type="none"/>
                    </a:lnB>
                    <a:solidFill>
                      <a:srgbClr val="F2F6F9"/>
                    </a:solidFill>
                  </a:tcPr>
                </a:tc>
              </a:tr>
            </a:tbl>
          </a:graphicData>
        </a:graphic>
      </p:graphicFrame>
    </p:spTree>
  </p:cSld>
  <p:clrMapOvr>
    <a:masterClrMapping/>
  </p:clrMapOvr>
</p:sld>
</file>

<file path=ppt/slides/slide6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692" name="Shape 1692"/>
        <p:cNvGrpSpPr/>
        <p:nvPr/>
      </p:nvGrpSpPr>
      <p:grpSpPr>
        <a:xfrm>
          <a:off x="0" y="0"/>
          <a:ext cx="0" cy="0"/>
          <a:chOff x="0" y="0"/>
          <a:chExt cx="0" cy="0"/>
        </a:xfrm>
      </p:grpSpPr>
      <p:sp>
        <p:nvSpPr>
          <p:cNvPr id="1693" name="Google Shape;1693;p60"/>
          <p:cNvSpPr/>
          <p:nvPr/>
        </p:nvSpPr>
        <p:spPr>
          <a:xfrm>
            <a:off x="502920" y="274320"/>
            <a:ext cx="9646920" cy="56692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D2A5C"/>
              </a:buClr>
              <a:buSzPts val="2700"/>
              <a:buFont typeface="Calibri"/>
              <a:buNone/>
            </a:pPr>
            <a:r>
              <a:rPr b="1" i="0" lang="en-US" sz="2700" u="none" cap="none" strike="noStrike">
                <a:solidFill>
                  <a:srgbClr val="1D2A5C"/>
                </a:solidFill>
                <a:latin typeface="Calibri"/>
                <a:ea typeface="Calibri"/>
                <a:cs typeface="Calibri"/>
                <a:sym typeface="Calibri"/>
              </a:rPr>
              <a:t>Training the Defect Detector</a:t>
            </a:r>
            <a:endParaRPr b="0" i="0" sz="2700" u="none" cap="none" strike="noStrike">
              <a:solidFill>
                <a:schemeClr val="dk1"/>
              </a:solidFill>
              <a:latin typeface="Calibri"/>
              <a:ea typeface="Calibri"/>
              <a:cs typeface="Calibri"/>
              <a:sym typeface="Calibri"/>
            </a:endParaRPr>
          </a:p>
        </p:txBody>
      </p:sp>
      <p:sp>
        <p:nvSpPr>
          <p:cNvPr id="1694" name="Google Shape;1694;p60"/>
          <p:cNvSpPr/>
          <p:nvPr/>
        </p:nvSpPr>
        <p:spPr>
          <a:xfrm>
            <a:off x="502920" y="859536"/>
            <a:ext cx="9646920" cy="31089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F6B7A"/>
              </a:buClr>
              <a:buSzPts val="1250"/>
              <a:buFont typeface="Arial"/>
              <a:buNone/>
            </a:pPr>
            <a:r>
              <a:rPr b="0" i="0" lang="en-US" sz="1250" u="none" cap="none" strike="noStrike">
                <a:solidFill>
                  <a:srgbClr val="5F6B7A"/>
                </a:solidFill>
                <a:latin typeface="Arial"/>
                <a:ea typeface="Arial"/>
                <a:cs typeface="Arial"/>
                <a:sym typeface="Arial"/>
              </a:rPr>
              <a:t>تدريب كاشف العيوب</a:t>
            </a:r>
            <a:endParaRPr b="0" i="0" sz="1250" u="none" cap="none" strike="noStrike">
              <a:solidFill>
                <a:schemeClr val="dk1"/>
              </a:solidFill>
              <a:latin typeface="Calibri"/>
              <a:ea typeface="Calibri"/>
              <a:cs typeface="Calibri"/>
              <a:sym typeface="Calibri"/>
            </a:endParaRPr>
          </a:p>
        </p:txBody>
      </p:sp>
      <p:pic>
        <p:nvPicPr>
          <p:cNvPr descr="/sessions/blissful-determined-ritchie/build/assets/sdaia_logo.png" id="1695" name="Google Shape;1695;p60"/>
          <p:cNvPicPr preferRelativeResize="0"/>
          <p:nvPr/>
        </p:nvPicPr>
        <p:blipFill rotWithShape="1">
          <a:blip r:embed="rId3">
            <a:alphaModFix/>
          </a:blip>
          <a:srcRect b="0" l="0" r="0" t="0"/>
          <a:stretch/>
        </p:blipFill>
        <p:spPr>
          <a:xfrm>
            <a:off x="10625328" y="310896"/>
            <a:ext cx="1078992" cy="264111"/>
          </a:xfrm>
          <a:prstGeom prst="rect">
            <a:avLst/>
          </a:prstGeom>
          <a:noFill/>
          <a:ln>
            <a:noFill/>
          </a:ln>
        </p:spPr>
      </p:pic>
      <p:sp>
        <p:nvSpPr>
          <p:cNvPr id="1696" name="Google Shape;1696;p60"/>
          <p:cNvSpPr/>
          <p:nvPr/>
        </p:nvSpPr>
        <p:spPr>
          <a:xfrm>
            <a:off x="502920" y="6528816"/>
            <a:ext cx="8686800"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A79D"/>
              </a:buClr>
              <a:buSzPts val="800"/>
              <a:buFont typeface="Calibri"/>
              <a:buNone/>
            </a:pPr>
            <a:r>
              <a:rPr b="1" i="0" lang="en-US" sz="800" u="none" cap="none" strike="noStrike">
                <a:solidFill>
                  <a:srgbClr val="00A79D"/>
                </a:solidFill>
                <a:latin typeface="Calibri"/>
                <a:ea typeface="Calibri"/>
                <a:cs typeface="Calibri"/>
                <a:sym typeface="Calibri"/>
              </a:rPr>
              <a:t>MODULE 3   </a:t>
            </a:r>
            <a:r>
              <a:rPr b="0" i="0" lang="en-US" sz="800" u="none" cap="none" strike="noStrike">
                <a:solidFill>
                  <a:srgbClr val="8A96A6"/>
                </a:solidFill>
                <a:latin typeface="Calibri"/>
                <a:ea typeface="Calibri"/>
                <a:cs typeface="Calibri"/>
                <a:sym typeface="Calibri"/>
              </a:rPr>
              <a:t>SDA-AIE-212 · Computer Vision Systems Development</a:t>
            </a:r>
            <a:endParaRPr b="0" i="0" sz="800" u="none" cap="none" strike="noStrike">
              <a:solidFill>
                <a:schemeClr val="dk1"/>
              </a:solidFill>
              <a:latin typeface="Calibri"/>
              <a:ea typeface="Calibri"/>
              <a:cs typeface="Calibri"/>
              <a:sym typeface="Calibri"/>
            </a:endParaRPr>
          </a:p>
        </p:txBody>
      </p:sp>
      <p:sp>
        <p:nvSpPr>
          <p:cNvPr id="1697" name="Google Shape;1697;p60"/>
          <p:cNvSpPr/>
          <p:nvPr/>
        </p:nvSpPr>
        <p:spPr>
          <a:xfrm>
            <a:off x="11292840" y="6528816"/>
            <a:ext cx="411480" cy="219456"/>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8A96A6"/>
              </a:buClr>
              <a:buSzPts val="900"/>
              <a:buFont typeface="Calibri"/>
              <a:buNone/>
            </a:pPr>
            <a:r>
              <a:rPr b="0" i="0" lang="en-US" sz="900" u="none" cap="none" strike="noStrike">
                <a:solidFill>
                  <a:srgbClr val="8A96A6"/>
                </a:solidFill>
                <a:latin typeface="Calibri"/>
                <a:ea typeface="Calibri"/>
                <a:cs typeface="Calibri"/>
                <a:sym typeface="Calibri"/>
              </a:rPr>
              <a:t>60</a:t>
            </a:r>
            <a:endParaRPr b="0" i="0" sz="900" u="none" cap="none" strike="noStrike">
              <a:solidFill>
                <a:schemeClr val="dk1"/>
              </a:solidFill>
              <a:latin typeface="Calibri"/>
              <a:ea typeface="Calibri"/>
              <a:cs typeface="Calibri"/>
              <a:sym typeface="Calibri"/>
            </a:endParaRPr>
          </a:p>
        </p:txBody>
      </p:sp>
      <p:sp>
        <p:nvSpPr>
          <p:cNvPr id="1698" name="Google Shape;1698;p60"/>
          <p:cNvSpPr/>
          <p:nvPr/>
        </p:nvSpPr>
        <p:spPr>
          <a:xfrm>
            <a:off x="502920" y="1389888"/>
            <a:ext cx="7178040" cy="4965192"/>
          </a:xfrm>
          <a:prstGeom prst="roundRect">
            <a:avLst>
              <a:gd fmla="val 1842" name="adj"/>
            </a:avLst>
          </a:prstGeom>
          <a:solidFill>
            <a:srgbClr val="0F172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99" name="Google Shape;1699;p60"/>
          <p:cNvSpPr/>
          <p:nvPr/>
        </p:nvSpPr>
        <p:spPr>
          <a:xfrm>
            <a:off x="704088" y="1536192"/>
            <a:ext cx="2057400" cy="292608"/>
          </a:xfrm>
          <a:prstGeom prst="roundRect">
            <a:avLst>
              <a:gd fmla="val 18750" name="adj"/>
            </a:avLst>
          </a:prstGeom>
          <a:solidFill>
            <a:srgbClr val="1E293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00" name="Google Shape;1700;p60"/>
          <p:cNvSpPr/>
          <p:nvPr/>
        </p:nvSpPr>
        <p:spPr>
          <a:xfrm>
            <a:off x="795528" y="1536192"/>
            <a:ext cx="662940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EEAD4"/>
              </a:buClr>
              <a:buSzPts val="950"/>
              <a:buFont typeface="Courier New"/>
              <a:buNone/>
            </a:pPr>
            <a:r>
              <a:rPr b="0" i="0" lang="en-US" sz="950" u="none" cap="none" strike="noStrike">
                <a:solidFill>
                  <a:srgbClr val="5EEAD4"/>
                </a:solidFill>
                <a:latin typeface="Courier New"/>
                <a:ea typeface="Courier New"/>
                <a:cs typeface="Courier New"/>
                <a:sym typeface="Courier New"/>
              </a:rPr>
              <a:t>scripts/train_detector.py</a:t>
            </a:r>
            <a:endParaRPr b="0" i="0" sz="950" u="none" cap="none" strike="noStrike">
              <a:solidFill>
                <a:schemeClr val="dk1"/>
              </a:solidFill>
              <a:latin typeface="Calibri"/>
              <a:ea typeface="Calibri"/>
              <a:cs typeface="Calibri"/>
              <a:sym typeface="Calibri"/>
            </a:endParaRPr>
          </a:p>
        </p:txBody>
      </p:sp>
      <p:sp>
        <p:nvSpPr>
          <p:cNvPr id="1701" name="Google Shape;1701;p60"/>
          <p:cNvSpPr/>
          <p:nvPr/>
        </p:nvSpPr>
        <p:spPr>
          <a:xfrm>
            <a:off x="758952" y="1920240"/>
            <a:ext cx="6720840" cy="4279392"/>
          </a:xfrm>
          <a:prstGeom prst="rect">
            <a:avLst/>
          </a:prstGeom>
          <a:noFill/>
          <a:ln>
            <a:noFill/>
          </a:ln>
        </p:spPr>
        <p:txBody>
          <a:bodyPr anchorCtr="0" anchor="t" bIns="0" lIns="0" spcFirstLastPara="1" rIns="0" wrap="square" tIns="0">
            <a:noAutofit/>
          </a:bodyPr>
          <a:lstStyle/>
          <a:p>
            <a:pPr indent="0" lvl="0" marL="0" marR="0" rtl="0" algn="l">
              <a:lnSpc>
                <a:spcPct val="128000"/>
              </a:lnSpc>
              <a:spcBef>
                <a:spcPts val="0"/>
              </a:spcBef>
              <a:spcAft>
                <a:spcPts val="0"/>
              </a:spcAft>
              <a:buClr>
                <a:srgbClr val="DCE6F5"/>
              </a:buClr>
              <a:buSzPts val="1000"/>
              <a:buFont typeface="Courier New"/>
              <a:buNone/>
            </a:pPr>
            <a:r>
              <a:rPr b="0" i="0" lang="en-US" sz="1000" u="none" cap="none" strike="noStrike">
                <a:solidFill>
                  <a:srgbClr val="DCE6F5"/>
                </a:solidFill>
                <a:latin typeface="Courier New"/>
                <a:ea typeface="Courier New"/>
                <a:cs typeface="Courier New"/>
                <a:sym typeface="Courier New"/>
              </a:rPr>
              <a:t>from ultralytics import YOLO</a:t>
            </a:r>
            <a:endParaRPr b="0" i="0" sz="1000" u="none" cap="none" strike="noStrike">
              <a:solidFill>
                <a:schemeClr val="dk1"/>
              </a:solidFill>
              <a:latin typeface="Calibri"/>
              <a:ea typeface="Calibri"/>
              <a:cs typeface="Calibri"/>
              <a:sym typeface="Calibri"/>
            </a:endParaRPr>
          </a:p>
          <a:p>
            <a:pPr indent="0" lvl="0" marL="0" marR="0" rtl="0" algn="l">
              <a:lnSpc>
                <a:spcPct val="128000"/>
              </a:lnSpc>
              <a:spcBef>
                <a:spcPts val="0"/>
              </a:spcBef>
              <a:spcAft>
                <a:spcPts val="0"/>
              </a:spcAft>
              <a:buClr>
                <a:srgbClr val="DCE6F5"/>
              </a:buClr>
              <a:buSzPts val="1000"/>
              <a:buFont typeface="Courier New"/>
              <a:buNone/>
            </a:pPr>
            <a:r>
              <a:rPr b="0" i="0" lang="en-US" sz="1000" u="none" cap="none" strike="noStrike">
                <a:solidFill>
                  <a:srgbClr val="DCE6F5"/>
                </a:solidFill>
                <a:latin typeface="Courier New"/>
                <a:ea typeface="Courier New"/>
                <a:cs typeface="Courier New"/>
                <a:sym typeface="Courier New"/>
              </a:rPr>
              <a:t> </a:t>
            </a:r>
            <a:endParaRPr b="0" i="0" sz="1000" u="none" cap="none" strike="noStrike">
              <a:solidFill>
                <a:schemeClr val="dk1"/>
              </a:solidFill>
              <a:latin typeface="Calibri"/>
              <a:ea typeface="Calibri"/>
              <a:cs typeface="Calibri"/>
              <a:sym typeface="Calibri"/>
            </a:endParaRPr>
          </a:p>
          <a:p>
            <a:pPr indent="0" lvl="0" marL="0" marR="0" rtl="0" algn="l">
              <a:lnSpc>
                <a:spcPct val="128000"/>
              </a:lnSpc>
              <a:spcBef>
                <a:spcPts val="0"/>
              </a:spcBef>
              <a:spcAft>
                <a:spcPts val="0"/>
              </a:spcAft>
              <a:buClr>
                <a:srgbClr val="DCE6F5"/>
              </a:buClr>
              <a:buSzPts val="1000"/>
              <a:buFont typeface="Courier New"/>
              <a:buNone/>
            </a:pPr>
            <a:r>
              <a:rPr b="0" i="0" lang="en-US" sz="1000" u="none" cap="none" strike="noStrike">
                <a:solidFill>
                  <a:srgbClr val="DCE6F5"/>
                </a:solidFill>
                <a:latin typeface="Courier New"/>
                <a:ea typeface="Courier New"/>
                <a:cs typeface="Courier New"/>
                <a:sym typeface="Courier New"/>
              </a:rPr>
              <a:t>model = YOLO("yolo11s.pt")     # COCO-pre-trained — never scratch</a:t>
            </a:r>
            <a:endParaRPr b="0" i="0" sz="1000" u="none" cap="none" strike="noStrike">
              <a:solidFill>
                <a:schemeClr val="dk1"/>
              </a:solidFill>
              <a:latin typeface="Calibri"/>
              <a:ea typeface="Calibri"/>
              <a:cs typeface="Calibri"/>
              <a:sym typeface="Calibri"/>
            </a:endParaRPr>
          </a:p>
          <a:p>
            <a:pPr indent="0" lvl="0" marL="0" marR="0" rtl="0" algn="l">
              <a:lnSpc>
                <a:spcPct val="128000"/>
              </a:lnSpc>
              <a:spcBef>
                <a:spcPts val="0"/>
              </a:spcBef>
              <a:spcAft>
                <a:spcPts val="0"/>
              </a:spcAft>
              <a:buClr>
                <a:srgbClr val="DCE6F5"/>
              </a:buClr>
              <a:buSzPts val="1000"/>
              <a:buFont typeface="Courier New"/>
              <a:buNone/>
            </a:pPr>
            <a:r>
              <a:rPr b="0" i="0" lang="en-US" sz="1000" u="none" cap="none" strike="noStrike">
                <a:solidFill>
                  <a:srgbClr val="DCE6F5"/>
                </a:solidFill>
                <a:latin typeface="Courier New"/>
                <a:ea typeface="Courier New"/>
                <a:cs typeface="Courier New"/>
                <a:sym typeface="Courier New"/>
              </a:rPr>
              <a:t>results = model.train(</a:t>
            </a:r>
            <a:endParaRPr b="0" i="0" sz="1000" u="none" cap="none" strike="noStrike">
              <a:solidFill>
                <a:schemeClr val="dk1"/>
              </a:solidFill>
              <a:latin typeface="Calibri"/>
              <a:ea typeface="Calibri"/>
              <a:cs typeface="Calibri"/>
              <a:sym typeface="Calibri"/>
            </a:endParaRPr>
          </a:p>
          <a:p>
            <a:pPr indent="0" lvl="0" marL="0" marR="0" rtl="0" algn="l">
              <a:lnSpc>
                <a:spcPct val="128000"/>
              </a:lnSpc>
              <a:spcBef>
                <a:spcPts val="0"/>
              </a:spcBef>
              <a:spcAft>
                <a:spcPts val="0"/>
              </a:spcAft>
              <a:buClr>
                <a:srgbClr val="DCE6F5"/>
              </a:buClr>
              <a:buSzPts val="1000"/>
              <a:buFont typeface="Courier New"/>
              <a:buNone/>
            </a:pPr>
            <a:r>
              <a:rPr b="0" i="0" lang="en-US" sz="1000" u="none" cap="none" strike="noStrike">
                <a:solidFill>
                  <a:srgbClr val="DCE6F5"/>
                </a:solidFill>
                <a:latin typeface="Courier New"/>
                <a:ea typeface="Courier New"/>
                <a:cs typeface="Courier New"/>
                <a:sym typeface="Courier New"/>
              </a:rPr>
              <a:t>    data="data/dates-det/dates-det.yaml",</a:t>
            </a:r>
            <a:endParaRPr b="0" i="0" sz="1000" u="none" cap="none" strike="noStrike">
              <a:solidFill>
                <a:schemeClr val="dk1"/>
              </a:solidFill>
              <a:latin typeface="Calibri"/>
              <a:ea typeface="Calibri"/>
              <a:cs typeface="Calibri"/>
              <a:sym typeface="Calibri"/>
            </a:endParaRPr>
          </a:p>
          <a:p>
            <a:pPr indent="0" lvl="0" marL="0" marR="0" rtl="0" algn="l">
              <a:lnSpc>
                <a:spcPct val="128000"/>
              </a:lnSpc>
              <a:spcBef>
                <a:spcPts val="0"/>
              </a:spcBef>
              <a:spcAft>
                <a:spcPts val="0"/>
              </a:spcAft>
              <a:buClr>
                <a:srgbClr val="DCE6F5"/>
              </a:buClr>
              <a:buSzPts val="1000"/>
              <a:buFont typeface="Courier New"/>
              <a:buNone/>
            </a:pPr>
            <a:r>
              <a:rPr b="0" i="0" lang="en-US" sz="1000" u="none" cap="none" strike="noStrike">
                <a:solidFill>
                  <a:srgbClr val="DCE6F5"/>
                </a:solidFill>
                <a:latin typeface="Courier New"/>
                <a:ea typeface="Courier New"/>
                <a:cs typeface="Courier New"/>
                <a:sym typeface="Courier New"/>
              </a:rPr>
              <a:t>    epochs=40,</a:t>
            </a:r>
            <a:endParaRPr b="0" i="0" sz="1000" u="none" cap="none" strike="noStrike">
              <a:solidFill>
                <a:schemeClr val="dk1"/>
              </a:solidFill>
              <a:latin typeface="Calibri"/>
              <a:ea typeface="Calibri"/>
              <a:cs typeface="Calibri"/>
              <a:sym typeface="Calibri"/>
            </a:endParaRPr>
          </a:p>
          <a:p>
            <a:pPr indent="0" lvl="0" marL="0" marR="0" rtl="0" algn="l">
              <a:lnSpc>
                <a:spcPct val="128000"/>
              </a:lnSpc>
              <a:spcBef>
                <a:spcPts val="0"/>
              </a:spcBef>
              <a:spcAft>
                <a:spcPts val="0"/>
              </a:spcAft>
              <a:buClr>
                <a:srgbClr val="DCE6F5"/>
              </a:buClr>
              <a:buSzPts val="1000"/>
              <a:buFont typeface="Courier New"/>
              <a:buNone/>
            </a:pPr>
            <a:r>
              <a:rPr b="0" i="0" lang="en-US" sz="1000" u="none" cap="none" strike="noStrike">
                <a:solidFill>
                  <a:srgbClr val="DCE6F5"/>
                </a:solidFill>
                <a:latin typeface="Courier New"/>
                <a:ea typeface="Courier New"/>
                <a:cs typeface="Courier New"/>
                <a:sym typeface="Courier New"/>
              </a:rPr>
              <a:t>    imgsz=640,                 # the latency/accuracy lever (M7)</a:t>
            </a:r>
            <a:endParaRPr b="0" i="0" sz="1000" u="none" cap="none" strike="noStrike">
              <a:solidFill>
                <a:schemeClr val="dk1"/>
              </a:solidFill>
              <a:latin typeface="Calibri"/>
              <a:ea typeface="Calibri"/>
              <a:cs typeface="Calibri"/>
              <a:sym typeface="Calibri"/>
            </a:endParaRPr>
          </a:p>
          <a:p>
            <a:pPr indent="0" lvl="0" marL="0" marR="0" rtl="0" algn="l">
              <a:lnSpc>
                <a:spcPct val="128000"/>
              </a:lnSpc>
              <a:spcBef>
                <a:spcPts val="0"/>
              </a:spcBef>
              <a:spcAft>
                <a:spcPts val="0"/>
              </a:spcAft>
              <a:buClr>
                <a:srgbClr val="DCE6F5"/>
              </a:buClr>
              <a:buSzPts val="1000"/>
              <a:buFont typeface="Courier New"/>
              <a:buNone/>
            </a:pPr>
            <a:r>
              <a:rPr b="0" i="0" lang="en-US" sz="1000" u="none" cap="none" strike="noStrike">
                <a:solidFill>
                  <a:srgbClr val="DCE6F5"/>
                </a:solidFill>
                <a:latin typeface="Courier New"/>
                <a:ea typeface="Courier New"/>
                <a:cs typeface="Courier New"/>
                <a:sym typeface="Courier New"/>
              </a:rPr>
              <a:t>    batch=16,</a:t>
            </a:r>
            <a:endParaRPr b="0" i="0" sz="1000" u="none" cap="none" strike="noStrike">
              <a:solidFill>
                <a:schemeClr val="dk1"/>
              </a:solidFill>
              <a:latin typeface="Calibri"/>
              <a:ea typeface="Calibri"/>
              <a:cs typeface="Calibri"/>
              <a:sym typeface="Calibri"/>
            </a:endParaRPr>
          </a:p>
          <a:p>
            <a:pPr indent="0" lvl="0" marL="0" marR="0" rtl="0" algn="l">
              <a:lnSpc>
                <a:spcPct val="128000"/>
              </a:lnSpc>
              <a:spcBef>
                <a:spcPts val="0"/>
              </a:spcBef>
              <a:spcAft>
                <a:spcPts val="0"/>
              </a:spcAft>
              <a:buClr>
                <a:srgbClr val="DCE6F5"/>
              </a:buClr>
              <a:buSzPts val="1000"/>
              <a:buFont typeface="Courier New"/>
              <a:buNone/>
            </a:pPr>
            <a:r>
              <a:rPr b="0" i="0" lang="en-US" sz="1000" u="none" cap="none" strike="noStrike">
                <a:solidFill>
                  <a:srgbClr val="DCE6F5"/>
                </a:solidFill>
                <a:latin typeface="Courier New"/>
                <a:ea typeface="Courier New"/>
                <a:cs typeface="Courier New"/>
                <a:sym typeface="Courier New"/>
              </a:rPr>
              <a:t>    patience=10,               # early stop on val mAP@0.5:0.95</a:t>
            </a:r>
            <a:endParaRPr b="0" i="0" sz="1000" u="none" cap="none" strike="noStrike">
              <a:solidFill>
                <a:schemeClr val="dk1"/>
              </a:solidFill>
              <a:latin typeface="Calibri"/>
              <a:ea typeface="Calibri"/>
              <a:cs typeface="Calibri"/>
              <a:sym typeface="Calibri"/>
            </a:endParaRPr>
          </a:p>
          <a:p>
            <a:pPr indent="0" lvl="0" marL="0" marR="0" rtl="0" algn="l">
              <a:lnSpc>
                <a:spcPct val="128000"/>
              </a:lnSpc>
              <a:spcBef>
                <a:spcPts val="0"/>
              </a:spcBef>
              <a:spcAft>
                <a:spcPts val="0"/>
              </a:spcAft>
              <a:buClr>
                <a:srgbClr val="DCE6F5"/>
              </a:buClr>
              <a:buSzPts val="1000"/>
              <a:buFont typeface="Courier New"/>
              <a:buNone/>
            </a:pPr>
            <a:r>
              <a:rPr b="0" i="0" lang="en-US" sz="1000" u="none" cap="none" strike="noStrike">
                <a:solidFill>
                  <a:srgbClr val="DCE6F5"/>
                </a:solidFill>
                <a:latin typeface="Courier New"/>
                <a:ea typeface="Courier New"/>
                <a:cs typeface="Courier New"/>
                <a:sym typeface="Courier New"/>
              </a:rPr>
              <a:t>    close_mosaic=10,           # last 10 epochs see real layouts</a:t>
            </a:r>
            <a:endParaRPr b="0" i="0" sz="1000" u="none" cap="none" strike="noStrike">
              <a:solidFill>
                <a:schemeClr val="dk1"/>
              </a:solidFill>
              <a:latin typeface="Calibri"/>
              <a:ea typeface="Calibri"/>
              <a:cs typeface="Calibri"/>
              <a:sym typeface="Calibri"/>
            </a:endParaRPr>
          </a:p>
          <a:p>
            <a:pPr indent="0" lvl="0" marL="0" marR="0" rtl="0" algn="l">
              <a:lnSpc>
                <a:spcPct val="128000"/>
              </a:lnSpc>
              <a:spcBef>
                <a:spcPts val="0"/>
              </a:spcBef>
              <a:spcAft>
                <a:spcPts val="0"/>
              </a:spcAft>
              <a:buClr>
                <a:srgbClr val="DCE6F5"/>
              </a:buClr>
              <a:buSzPts val="1000"/>
              <a:buFont typeface="Courier New"/>
              <a:buNone/>
            </a:pPr>
            <a:r>
              <a:rPr b="0" i="0" lang="en-US" sz="1000" u="none" cap="none" strike="noStrike">
                <a:solidFill>
                  <a:srgbClr val="DCE6F5"/>
                </a:solidFill>
                <a:latin typeface="Courier New"/>
                <a:ea typeface="Courier New"/>
                <a:cs typeface="Courier New"/>
                <a:sym typeface="Courier New"/>
              </a:rPr>
              <a:t>    copy_paste=0.1,            # instances physically pasteable</a:t>
            </a:r>
            <a:endParaRPr b="0" i="0" sz="1000" u="none" cap="none" strike="noStrike">
              <a:solidFill>
                <a:schemeClr val="dk1"/>
              </a:solidFill>
              <a:latin typeface="Calibri"/>
              <a:ea typeface="Calibri"/>
              <a:cs typeface="Calibri"/>
              <a:sym typeface="Calibri"/>
            </a:endParaRPr>
          </a:p>
          <a:p>
            <a:pPr indent="0" lvl="0" marL="0" marR="0" rtl="0" algn="l">
              <a:lnSpc>
                <a:spcPct val="128000"/>
              </a:lnSpc>
              <a:spcBef>
                <a:spcPts val="0"/>
              </a:spcBef>
              <a:spcAft>
                <a:spcPts val="0"/>
              </a:spcAft>
              <a:buClr>
                <a:srgbClr val="DCE6F5"/>
              </a:buClr>
              <a:buSzPts val="1000"/>
              <a:buFont typeface="Courier New"/>
              <a:buNone/>
            </a:pPr>
            <a:r>
              <a:rPr b="0" i="0" lang="en-US" sz="1000" u="none" cap="none" strike="noStrike">
                <a:solidFill>
                  <a:srgbClr val="DCE6F5"/>
                </a:solidFill>
                <a:latin typeface="Courier New"/>
                <a:ea typeface="Courier New"/>
                <a:cs typeface="Courier New"/>
                <a:sym typeface="Courier New"/>
              </a:rPr>
              <a:t>    degrees=180, flipud=0.5, fliplr=0.5,   # M1 rotation policy</a:t>
            </a:r>
            <a:endParaRPr b="0" i="0" sz="1000" u="none" cap="none" strike="noStrike">
              <a:solidFill>
                <a:schemeClr val="dk1"/>
              </a:solidFill>
              <a:latin typeface="Calibri"/>
              <a:ea typeface="Calibri"/>
              <a:cs typeface="Calibri"/>
              <a:sym typeface="Calibri"/>
            </a:endParaRPr>
          </a:p>
          <a:p>
            <a:pPr indent="0" lvl="0" marL="0" marR="0" rtl="0" algn="l">
              <a:lnSpc>
                <a:spcPct val="128000"/>
              </a:lnSpc>
              <a:spcBef>
                <a:spcPts val="0"/>
              </a:spcBef>
              <a:spcAft>
                <a:spcPts val="0"/>
              </a:spcAft>
              <a:buClr>
                <a:srgbClr val="DCE6F5"/>
              </a:buClr>
              <a:buSzPts val="1000"/>
              <a:buFont typeface="Courier New"/>
              <a:buNone/>
            </a:pPr>
            <a:r>
              <a:rPr b="0" i="0" lang="en-US" sz="1000" u="none" cap="none" strike="noStrike">
                <a:solidFill>
                  <a:srgbClr val="DCE6F5"/>
                </a:solidFill>
                <a:latin typeface="Courier New"/>
                <a:ea typeface="Courier New"/>
                <a:cs typeface="Courier New"/>
                <a:sym typeface="Courier New"/>
              </a:rPr>
              <a:t>    project="runs/detect", name="defect_y11s",</a:t>
            </a:r>
            <a:endParaRPr b="0" i="0" sz="1000" u="none" cap="none" strike="noStrike">
              <a:solidFill>
                <a:schemeClr val="dk1"/>
              </a:solidFill>
              <a:latin typeface="Calibri"/>
              <a:ea typeface="Calibri"/>
              <a:cs typeface="Calibri"/>
              <a:sym typeface="Calibri"/>
            </a:endParaRPr>
          </a:p>
          <a:p>
            <a:pPr indent="0" lvl="0" marL="0" marR="0" rtl="0" algn="l">
              <a:lnSpc>
                <a:spcPct val="128000"/>
              </a:lnSpc>
              <a:spcBef>
                <a:spcPts val="0"/>
              </a:spcBef>
              <a:spcAft>
                <a:spcPts val="0"/>
              </a:spcAft>
              <a:buClr>
                <a:srgbClr val="DCE6F5"/>
              </a:buClr>
              <a:buSzPts val="1000"/>
              <a:buFont typeface="Courier New"/>
              <a:buNone/>
            </a:pPr>
            <a:r>
              <a:rPr b="0" i="0" lang="en-US" sz="1000" u="none" cap="none" strike="noStrike">
                <a:solidFill>
                  <a:srgbClr val="DCE6F5"/>
                </a:solidFill>
                <a:latin typeface="Courier New"/>
                <a:ea typeface="Courier New"/>
                <a:cs typeface="Courier New"/>
                <a:sym typeface="Courier New"/>
              </a:rPr>
              <a:t>    seed=212, deterministic=True,</a:t>
            </a:r>
            <a:endParaRPr b="0" i="0" sz="1000" u="none" cap="none" strike="noStrike">
              <a:solidFill>
                <a:schemeClr val="dk1"/>
              </a:solidFill>
              <a:latin typeface="Calibri"/>
              <a:ea typeface="Calibri"/>
              <a:cs typeface="Calibri"/>
              <a:sym typeface="Calibri"/>
            </a:endParaRPr>
          </a:p>
          <a:p>
            <a:pPr indent="0" lvl="0" marL="0" marR="0" rtl="0" algn="l">
              <a:lnSpc>
                <a:spcPct val="128000"/>
              </a:lnSpc>
              <a:spcBef>
                <a:spcPts val="0"/>
              </a:spcBef>
              <a:spcAft>
                <a:spcPts val="0"/>
              </a:spcAft>
              <a:buClr>
                <a:srgbClr val="DCE6F5"/>
              </a:buClr>
              <a:buSzPts val="1000"/>
              <a:buFont typeface="Courier New"/>
              <a:buNone/>
            </a:pPr>
            <a:r>
              <a:rPr b="0" i="0" lang="en-US" sz="1000" u="none" cap="none" strike="noStrike">
                <a:solidFill>
                  <a:srgbClr val="DCE6F5"/>
                </a:solidFill>
                <a:latin typeface="Courier New"/>
                <a:ea typeface="Courier New"/>
                <a:cs typeface="Courier New"/>
                <a:sym typeface="Courier New"/>
              </a:rPr>
              <a:t>)</a:t>
            </a:r>
            <a:endParaRPr b="0" i="0" sz="1000" u="none" cap="none" strike="noStrike">
              <a:solidFill>
                <a:schemeClr val="dk1"/>
              </a:solidFill>
              <a:latin typeface="Calibri"/>
              <a:ea typeface="Calibri"/>
              <a:cs typeface="Calibri"/>
              <a:sym typeface="Calibri"/>
            </a:endParaRPr>
          </a:p>
          <a:p>
            <a:pPr indent="0" lvl="0" marL="0" marR="0" rtl="0" algn="l">
              <a:lnSpc>
                <a:spcPct val="128000"/>
              </a:lnSpc>
              <a:spcBef>
                <a:spcPts val="0"/>
              </a:spcBef>
              <a:spcAft>
                <a:spcPts val="0"/>
              </a:spcAft>
              <a:buClr>
                <a:srgbClr val="DCE6F5"/>
              </a:buClr>
              <a:buSzPts val="1000"/>
              <a:buFont typeface="Courier New"/>
              <a:buNone/>
            </a:pPr>
            <a:r>
              <a:rPr b="0" i="0" lang="en-US" sz="1000" u="none" cap="none" strike="noStrike">
                <a:solidFill>
                  <a:srgbClr val="DCE6F5"/>
                </a:solidFill>
                <a:latin typeface="Courier New"/>
                <a:ea typeface="Courier New"/>
                <a:cs typeface="Courier New"/>
                <a:sym typeface="Courier New"/>
              </a:rPr>
              <a:t>metrics = model.val(split="test")   # frozen test split, once</a:t>
            </a:r>
            <a:endParaRPr b="0" i="0" sz="1000" u="none" cap="none" strike="noStrike">
              <a:solidFill>
                <a:schemeClr val="dk1"/>
              </a:solidFill>
              <a:latin typeface="Calibri"/>
              <a:ea typeface="Calibri"/>
              <a:cs typeface="Calibri"/>
              <a:sym typeface="Calibri"/>
            </a:endParaRPr>
          </a:p>
          <a:p>
            <a:pPr indent="0" lvl="0" marL="0" marR="0" rtl="0" algn="l">
              <a:lnSpc>
                <a:spcPct val="128000"/>
              </a:lnSpc>
              <a:spcBef>
                <a:spcPts val="0"/>
              </a:spcBef>
              <a:spcAft>
                <a:spcPts val="0"/>
              </a:spcAft>
              <a:buClr>
                <a:srgbClr val="DCE6F5"/>
              </a:buClr>
              <a:buSzPts val="1000"/>
              <a:buFont typeface="Courier New"/>
              <a:buNone/>
            </a:pPr>
            <a:r>
              <a:rPr b="0" i="0" lang="en-US" sz="1000" u="none" cap="none" strike="noStrike">
                <a:solidFill>
                  <a:srgbClr val="DCE6F5"/>
                </a:solidFill>
                <a:latin typeface="Courier New"/>
                <a:ea typeface="Courier New"/>
                <a:cs typeface="Courier New"/>
                <a:sym typeface="Courier New"/>
              </a:rPr>
              <a:t>print(f"mAP@0.5={metrics.box.map50:.3f}")</a:t>
            </a:r>
            <a:endParaRPr b="0" i="0" sz="1000" u="none" cap="none" strike="noStrike">
              <a:solidFill>
                <a:schemeClr val="dk1"/>
              </a:solidFill>
              <a:latin typeface="Calibri"/>
              <a:ea typeface="Calibri"/>
              <a:cs typeface="Calibri"/>
              <a:sym typeface="Calibri"/>
            </a:endParaRPr>
          </a:p>
        </p:txBody>
      </p:sp>
      <p:sp>
        <p:nvSpPr>
          <p:cNvPr id="1702" name="Google Shape;1702;p60"/>
          <p:cNvSpPr/>
          <p:nvPr/>
        </p:nvSpPr>
        <p:spPr>
          <a:xfrm>
            <a:off x="7973568" y="1389888"/>
            <a:ext cx="3712464" cy="1090422"/>
          </a:xfrm>
          <a:prstGeom prst="roundRect">
            <a:avLst>
              <a:gd fmla="val 5870" name="adj"/>
            </a:avLst>
          </a:prstGeom>
          <a:solidFill>
            <a:srgbClr val="F2F6F9"/>
          </a:solidFill>
          <a:ln cap="flat" cmpd="sng" w="12700">
            <a:solidFill>
              <a:srgbClr val="D9E2E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03" name="Google Shape;1703;p60"/>
          <p:cNvSpPr/>
          <p:nvPr/>
        </p:nvSpPr>
        <p:spPr>
          <a:xfrm>
            <a:off x="8101584" y="1508760"/>
            <a:ext cx="237744" cy="237744"/>
          </a:xfrm>
          <a:prstGeom prst="ellipse">
            <a:avLst/>
          </a:prstGeom>
          <a:solidFill>
            <a:srgbClr val="00A79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04" name="Google Shape;1704;p60"/>
          <p:cNvSpPr/>
          <p:nvPr/>
        </p:nvSpPr>
        <p:spPr>
          <a:xfrm>
            <a:off x="8101584" y="1508760"/>
            <a:ext cx="237744" cy="23774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000"/>
              <a:buFont typeface="Calibri"/>
              <a:buNone/>
            </a:pPr>
            <a:r>
              <a:rPr b="1" i="0" lang="en-US" sz="1000" u="none" cap="none" strike="noStrike">
                <a:solidFill>
                  <a:srgbClr val="FFFFFF"/>
                </a:solidFill>
                <a:latin typeface="Calibri"/>
                <a:ea typeface="Calibri"/>
                <a:cs typeface="Calibri"/>
                <a:sym typeface="Calibri"/>
              </a:rPr>
              <a:t>1</a:t>
            </a:r>
            <a:endParaRPr b="0" i="0" sz="1000" u="none" cap="none" strike="noStrike">
              <a:solidFill>
                <a:schemeClr val="dk1"/>
              </a:solidFill>
              <a:latin typeface="Calibri"/>
              <a:ea typeface="Calibri"/>
              <a:cs typeface="Calibri"/>
              <a:sym typeface="Calibri"/>
            </a:endParaRPr>
          </a:p>
        </p:txBody>
      </p:sp>
      <p:sp>
        <p:nvSpPr>
          <p:cNvPr id="1705" name="Google Shape;1705;p60"/>
          <p:cNvSpPr/>
          <p:nvPr/>
        </p:nvSpPr>
        <p:spPr>
          <a:xfrm>
            <a:off x="8430768" y="1444752"/>
            <a:ext cx="3145536"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D2A5C"/>
              </a:buClr>
              <a:buSzPts val="1150"/>
              <a:buFont typeface="Calibri"/>
              <a:buNone/>
            </a:pPr>
            <a:r>
              <a:rPr b="1" i="0" lang="en-US" sz="1150" u="none" cap="none" strike="noStrike">
                <a:solidFill>
                  <a:srgbClr val="1D2A5C"/>
                </a:solidFill>
                <a:latin typeface="Calibri"/>
                <a:ea typeface="Calibri"/>
                <a:cs typeface="Calibri"/>
                <a:sym typeface="Calibri"/>
              </a:rPr>
              <a:t>Never train from scratch</a:t>
            </a:r>
            <a:endParaRPr b="0" i="0" sz="1150" u="none" cap="none" strike="noStrike">
              <a:solidFill>
                <a:schemeClr val="dk1"/>
              </a:solidFill>
              <a:latin typeface="Calibri"/>
              <a:ea typeface="Calibri"/>
              <a:cs typeface="Calibri"/>
              <a:sym typeface="Calibri"/>
            </a:endParaRPr>
          </a:p>
        </p:txBody>
      </p:sp>
      <p:sp>
        <p:nvSpPr>
          <p:cNvPr id="1706" name="Google Shape;1706;p60"/>
          <p:cNvSpPr/>
          <p:nvPr/>
        </p:nvSpPr>
        <p:spPr>
          <a:xfrm>
            <a:off x="8430768" y="1719072"/>
            <a:ext cx="3145536" cy="688086"/>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5F6B7A"/>
              </a:buClr>
              <a:buSzPts val="1000"/>
              <a:buFont typeface="Calibri"/>
              <a:buNone/>
            </a:pPr>
            <a:r>
              <a:rPr b="0" i="0" lang="en-US" sz="1000" u="none" cap="none" strike="noStrike">
                <a:solidFill>
                  <a:srgbClr val="5F6B7A"/>
                </a:solidFill>
                <a:latin typeface="Calibri"/>
                <a:ea typeface="Calibri"/>
                <a:cs typeface="Calibri"/>
                <a:sym typeface="Calibri"/>
              </a:rPr>
              <a:t>COCO weights reach ~0.87 mAP@0.5 in 40 epochs; from scratch stalls at ~0.58</a:t>
            </a:r>
            <a:endParaRPr b="0" i="0" sz="1000" u="none" cap="none" strike="noStrike">
              <a:solidFill>
                <a:schemeClr val="dk1"/>
              </a:solidFill>
              <a:latin typeface="Calibri"/>
              <a:ea typeface="Calibri"/>
              <a:cs typeface="Calibri"/>
              <a:sym typeface="Calibri"/>
            </a:endParaRPr>
          </a:p>
        </p:txBody>
      </p:sp>
      <p:sp>
        <p:nvSpPr>
          <p:cNvPr id="1707" name="Google Shape;1707;p60"/>
          <p:cNvSpPr/>
          <p:nvPr/>
        </p:nvSpPr>
        <p:spPr>
          <a:xfrm>
            <a:off x="7973568" y="2681478"/>
            <a:ext cx="3712464" cy="1090422"/>
          </a:xfrm>
          <a:prstGeom prst="roundRect">
            <a:avLst>
              <a:gd fmla="val 5870" name="adj"/>
            </a:avLst>
          </a:prstGeom>
          <a:solidFill>
            <a:srgbClr val="F2F6F9"/>
          </a:solidFill>
          <a:ln cap="flat" cmpd="sng" w="12700">
            <a:solidFill>
              <a:srgbClr val="D9E2E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08" name="Google Shape;1708;p60"/>
          <p:cNvSpPr/>
          <p:nvPr/>
        </p:nvSpPr>
        <p:spPr>
          <a:xfrm>
            <a:off x="8101584" y="2800350"/>
            <a:ext cx="237744" cy="237744"/>
          </a:xfrm>
          <a:prstGeom prst="ellipse">
            <a:avLst/>
          </a:prstGeom>
          <a:solidFill>
            <a:srgbClr val="29ABE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09" name="Google Shape;1709;p60"/>
          <p:cNvSpPr/>
          <p:nvPr/>
        </p:nvSpPr>
        <p:spPr>
          <a:xfrm>
            <a:off x="8101584" y="2800350"/>
            <a:ext cx="237744" cy="23774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000"/>
              <a:buFont typeface="Calibri"/>
              <a:buNone/>
            </a:pPr>
            <a:r>
              <a:rPr b="1" i="0" lang="en-US" sz="1000" u="none" cap="none" strike="noStrike">
                <a:solidFill>
                  <a:srgbClr val="FFFFFF"/>
                </a:solidFill>
                <a:latin typeface="Calibri"/>
                <a:ea typeface="Calibri"/>
                <a:cs typeface="Calibri"/>
                <a:sym typeface="Calibri"/>
              </a:rPr>
              <a:t>2</a:t>
            </a:r>
            <a:endParaRPr b="0" i="0" sz="1000" u="none" cap="none" strike="noStrike">
              <a:solidFill>
                <a:schemeClr val="dk1"/>
              </a:solidFill>
              <a:latin typeface="Calibri"/>
              <a:ea typeface="Calibri"/>
              <a:cs typeface="Calibri"/>
              <a:sym typeface="Calibri"/>
            </a:endParaRPr>
          </a:p>
        </p:txBody>
      </p:sp>
      <p:sp>
        <p:nvSpPr>
          <p:cNvPr id="1710" name="Google Shape;1710;p60"/>
          <p:cNvSpPr/>
          <p:nvPr/>
        </p:nvSpPr>
        <p:spPr>
          <a:xfrm>
            <a:off x="8430768" y="2736342"/>
            <a:ext cx="3145536"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D2A5C"/>
              </a:buClr>
              <a:buSzPts val="1150"/>
              <a:buFont typeface="Calibri"/>
              <a:buNone/>
            </a:pPr>
            <a:r>
              <a:rPr b="1" i="0" lang="en-US" sz="1150" u="none" cap="none" strike="noStrike">
                <a:solidFill>
                  <a:srgbClr val="1D2A5C"/>
                </a:solidFill>
                <a:latin typeface="Calibri"/>
                <a:ea typeface="Calibri"/>
                <a:cs typeface="Calibri"/>
                <a:sym typeface="Calibri"/>
              </a:rPr>
              <a:t>close_mosaic=10</a:t>
            </a:r>
            <a:endParaRPr b="0" i="0" sz="1150" u="none" cap="none" strike="noStrike">
              <a:solidFill>
                <a:schemeClr val="dk1"/>
              </a:solidFill>
              <a:latin typeface="Calibri"/>
              <a:ea typeface="Calibri"/>
              <a:cs typeface="Calibri"/>
              <a:sym typeface="Calibri"/>
            </a:endParaRPr>
          </a:p>
        </p:txBody>
      </p:sp>
      <p:sp>
        <p:nvSpPr>
          <p:cNvPr id="1711" name="Google Shape;1711;p60"/>
          <p:cNvSpPr/>
          <p:nvPr/>
        </p:nvSpPr>
        <p:spPr>
          <a:xfrm>
            <a:off x="8430768" y="3010662"/>
            <a:ext cx="3145536" cy="688086"/>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5F6B7A"/>
              </a:buClr>
              <a:buSzPts val="1000"/>
              <a:buFont typeface="Calibri"/>
              <a:buNone/>
            </a:pPr>
            <a:r>
              <a:rPr b="0" i="0" lang="en-US" sz="1000" u="none" cap="none" strike="noStrike">
                <a:solidFill>
                  <a:srgbClr val="5F6B7A"/>
                </a:solidFill>
                <a:latin typeface="Calibri"/>
                <a:ea typeface="Calibri"/>
                <a:cs typeface="Calibri"/>
                <a:sym typeface="Calibri"/>
              </a:rPr>
              <a:t>Mosaic distorts global layout; the final 10 epochs see real frame statistics</a:t>
            </a:r>
            <a:endParaRPr b="0" i="0" sz="1000" u="none" cap="none" strike="noStrike">
              <a:solidFill>
                <a:schemeClr val="dk1"/>
              </a:solidFill>
              <a:latin typeface="Calibri"/>
              <a:ea typeface="Calibri"/>
              <a:cs typeface="Calibri"/>
              <a:sym typeface="Calibri"/>
            </a:endParaRPr>
          </a:p>
        </p:txBody>
      </p:sp>
      <p:sp>
        <p:nvSpPr>
          <p:cNvPr id="1712" name="Google Shape;1712;p60"/>
          <p:cNvSpPr/>
          <p:nvPr/>
        </p:nvSpPr>
        <p:spPr>
          <a:xfrm>
            <a:off x="7973568" y="3973068"/>
            <a:ext cx="3712464" cy="1090422"/>
          </a:xfrm>
          <a:prstGeom prst="roundRect">
            <a:avLst>
              <a:gd fmla="val 5870" name="adj"/>
            </a:avLst>
          </a:prstGeom>
          <a:solidFill>
            <a:srgbClr val="F2F6F9"/>
          </a:solidFill>
          <a:ln cap="flat" cmpd="sng" w="12700">
            <a:solidFill>
              <a:srgbClr val="D9E2E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3" name="Google Shape;1713;p60"/>
          <p:cNvSpPr/>
          <p:nvPr/>
        </p:nvSpPr>
        <p:spPr>
          <a:xfrm>
            <a:off x="8101584" y="4091940"/>
            <a:ext cx="237744" cy="237744"/>
          </a:xfrm>
          <a:prstGeom prst="ellipse">
            <a:avLst/>
          </a:prstGeom>
          <a:solidFill>
            <a:srgbClr val="F5822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4" name="Google Shape;1714;p60"/>
          <p:cNvSpPr/>
          <p:nvPr/>
        </p:nvSpPr>
        <p:spPr>
          <a:xfrm>
            <a:off x="8101584" y="4091940"/>
            <a:ext cx="237744" cy="23774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000"/>
              <a:buFont typeface="Calibri"/>
              <a:buNone/>
            </a:pPr>
            <a:r>
              <a:rPr b="1" i="0" lang="en-US" sz="1000" u="none" cap="none" strike="noStrike">
                <a:solidFill>
                  <a:srgbClr val="FFFFFF"/>
                </a:solidFill>
                <a:latin typeface="Calibri"/>
                <a:ea typeface="Calibri"/>
                <a:cs typeface="Calibri"/>
                <a:sym typeface="Calibri"/>
              </a:rPr>
              <a:t>3</a:t>
            </a:r>
            <a:endParaRPr b="0" i="0" sz="1000" u="none" cap="none" strike="noStrike">
              <a:solidFill>
                <a:schemeClr val="dk1"/>
              </a:solidFill>
              <a:latin typeface="Calibri"/>
              <a:ea typeface="Calibri"/>
              <a:cs typeface="Calibri"/>
              <a:sym typeface="Calibri"/>
            </a:endParaRPr>
          </a:p>
        </p:txBody>
      </p:sp>
      <p:sp>
        <p:nvSpPr>
          <p:cNvPr id="1715" name="Google Shape;1715;p60"/>
          <p:cNvSpPr/>
          <p:nvPr/>
        </p:nvSpPr>
        <p:spPr>
          <a:xfrm>
            <a:off x="8430768" y="4027932"/>
            <a:ext cx="3145536"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D2A5C"/>
              </a:buClr>
              <a:buSzPts val="1150"/>
              <a:buFont typeface="Calibri"/>
              <a:buNone/>
            </a:pPr>
            <a:r>
              <a:rPr b="1" i="0" lang="en-US" sz="1150" u="none" cap="none" strike="noStrike">
                <a:solidFill>
                  <a:srgbClr val="1D2A5C"/>
                </a:solidFill>
                <a:latin typeface="Calibri"/>
                <a:ea typeface="Calibri"/>
                <a:cs typeface="Calibri"/>
                <a:sym typeface="Calibri"/>
              </a:rPr>
              <a:t>Deterministic runs</a:t>
            </a:r>
            <a:endParaRPr b="0" i="0" sz="1150" u="none" cap="none" strike="noStrike">
              <a:solidFill>
                <a:schemeClr val="dk1"/>
              </a:solidFill>
              <a:latin typeface="Calibri"/>
              <a:ea typeface="Calibri"/>
              <a:cs typeface="Calibri"/>
              <a:sym typeface="Calibri"/>
            </a:endParaRPr>
          </a:p>
        </p:txBody>
      </p:sp>
      <p:sp>
        <p:nvSpPr>
          <p:cNvPr id="1716" name="Google Shape;1716;p60"/>
          <p:cNvSpPr/>
          <p:nvPr/>
        </p:nvSpPr>
        <p:spPr>
          <a:xfrm>
            <a:off x="8430768" y="4302252"/>
            <a:ext cx="3145536" cy="688086"/>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5F6B7A"/>
              </a:buClr>
              <a:buSzPts val="1000"/>
              <a:buFont typeface="Calibri"/>
              <a:buNone/>
            </a:pPr>
            <a:r>
              <a:rPr b="0" i="0" lang="en-US" sz="1000" u="none" cap="none" strike="noStrike">
                <a:solidFill>
                  <a:srgbClr val="5F6B7A"/>
                </a:solidFill>
                <a:latin typeface="Calibri"/>
                <a:ea typeface="Calibri"/>
                <a:cs typeface="Calibri"/>
                <a:sym typeface="Calibri"/>
              </a:rPr>
              <a:t>seed=212 + deterministic=True — val numbers must be reproducible</a:t>
            </a:r>
            <a:endParaRPr b="0" i="0" sz="1000" u="none" cap="none" strike="noStrike">
              <a:solidFill>
                <a:schemeClr val="dk1"/>
              </a:solidFill>
              <a:latin typeface="Calibri"/>
              <a:ea typeface="Calibri"/>
              <a:cs typeface="Calibri"/>
              <a:sym typeface="Calibri"/>
            </a:endParaRPr>
          </a:p>
        </p:txBody>
      </p:sp>
      <p:sp>
        <p:nvSpPr>
          <p:cNvPr id="1717" name="Google Shape;1717;p60"/>
          <p:cNvSpPr/>
          <p:nvPr/>
        </p:nvSpPr>
        <p:spPr>
          <a:xfrm>
            <a:off x="7973568" y="5264658"/>
            <a:ext cx="3712464" cy="1090422"/>
          </a:xfrm>
          <a:prstGeom prst="roundRect">
            <a:avLst>
              <a:gd fmla="val 5870" name="adj"/>
            </a:avLst>
          </a:prstGeom>
          <a:solidFill>
            <a:srgbClr val="F2F6F9"/>
          </a:solidFill>
          <a:ln cap="flat" cmpd="sng" w="12700">
            <a:solidFill>
              <a:srgbClr val="D9E2E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8" name="Google Shape;1718;p60"/>
          <p:cNvSpPr/>
          <p:nvPr/>
        </p:nvSpPr>
        <p:spPr>
          <a:xfrm>
            <a:off x="8101584" y="5383530"/>
            <a:ext cx="237744" cy="237744"/>
          </a:xfrm>
          <a:prstGeom prst="ellipse">
            <a:avLst/>
          </a:prstGeom>
          <a:solidFill>
            <a:srgbClr val="8DC63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9" name="Google Shape;1719;p60"/>
          <p:cNvSpPr/>
          <p:nvPr/>
        </p:nvSpPr>
        <p:spPr>
          <a:xfrm>
            <a:off x="8101584" y="5383530"/>
            <a:ext cx="237744" cy="23774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000"/>
              <a:buFont typeface="Calibri"/>
              <a:buNone/>
            </a:pPr>
            <a:r>
              <a:rPr b="1" i="0" lang="en-US" sz="1000" u="none" cap="none" strike="noStrike">
                <a:solidFill>
                  <a:srgbClr val="FFFFFF"/>
                </a:solidFill>
                <a:latin typeface="Calibri"/>
                <a:ea typeface="Calibri"/>
                <a:cs typeface="Calibri"/>
                <a:sym typeface="Calibri"/>
              </a:rPr>
              <a:t>4</a:t>
            </a:r>
            <a:endParaRPr b="0" i="0" sz="1000" u="none" cap="none" strike="noStrike">
              <a:solidFill>
                <a:schemeClr val="dk1"/>
              </a:solidFill>
              <a:latin typeface="Calibri"/>
              <a:ea typeface="Calibri"/>
              <a:cs typeface="Calibri"/>
              <a:sym typeface="Calibri"/>
            </a:endParaRPr>
          </a:p>
        </p:txBody>
      </p:sp>
      <p:sp>
        <p:nvSpPr>
          <p:cNvPr id="1720" name="Google Shape;1720;p60"/>
          <p:cNvSpPr/>
          <p:nvPr/>
        </p:nvSpPr>
        <p:spPr>
          <a:xfrm>
            <a:off x="8430768" y="5319522"/>
            <a:ext cx="3145536"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D2A5C"/>
              </a:buClr>
              <a:buSzPts val="1150"/>
              <a:buFont typeface="Calibri"/>
              <a:buNone/>
            </a:pPr>
            <a:r>
              <a:rPr b="1" i="0" lang="en-US" sz="1150" u="none" cap="none" strike="noStrike">
                <a:solidFill>
                  <a:srgbClr val="1D2A5C"/>
                </a:solidFill>
                <a:latin typeface="Calibri"/>
                <a:ea typeface="Calibri"/>
                <a:cs typeface="Calibri"/>
                <a:sym typeface="Calibri"/>
              </a:rPr>
              <a:t>Classroom budget</a:t>
            </a:r>
            <a:endParaRPr b="0" i="0" sz="1150" u="none" cap="none" strike="noStrike">
              <a:solidFill>
                <a:schemeClr val="dk1"/>
              </a:solidFill>
              <a:latin typeface="Calibri"/>
              <a:ea typeface="Calibri"/>
              <a:cs typeface="Calibri"/>
              <a:sym typeface="Calibri"/>
            </a:endParaRPr>
          </a:p>
        </p:txBody>
      </p:sp>
      <p:sp>
        <p:nvSpPr>
          <p:cNvPr id="1721" name="Google Shape;1721;p60"/>
          <p:cNvSpPr/>
          <p:nvPr/>
        </p:nvSpPr>
        <p:spPr>
          <a:xfrm>
            <a:off x="8430768" y="5593842"/>
            <a:ext cx="3145536" cy="688086"/>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5F6B7A"/>
              </a:buClr>
              <a:buSzPts val="1000"/>
              <a:buFont typeface="Calibri"/>
              <a:buNone/>
            </a:pPr>
            <a:r>
              <a:rPr b="0" i="0" lang="en-US" sz="1000" u="none" cap="none" strike="noStrike">
                <a:solidFill>
                  <a:srgbClr val="5F6B7A"/>
                </a:solidFill>
                <a:latin typeface="Calibri"/>
                <a:ea typeface="Calibri"/>
                <a:cs typeface="Calibri"/>
                <a:sym typeface="Calibri"/>
              </a:rPr>
              <a:t>40 epochs in ~11 min on an 8 GB GPU; CPU fallback: imgsz=320, 12 epochs</a:t>
            </a:r>
            <a:endParaRPr b="0" i="0" sz="1000" u="none" cap="none" strike="noStrike">
              <a:solidFill>
                <a:schemeClr val="dk1"/>
              </a:solidFill>
              <a:latin typeface="Calibri"/>
              <a:ea typeface="Calibri"/>
              <a:cs typeface="Calibri"/>
              <a:sym typeface="Calibri"/>
            </a:endParaRPr>
          </a:p>
        </p:txBody>
      </p:sp>
    </p:spTree>
  </p:cSld>
  <p:clrMapOvr>
    <a:masterClrMapping/>
  </p:clrMapOvr>
</p:sld>
</file>

<file path=ppt/slides/slide6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726" name="Shape 1726"/>
        <p:cNvGrpSpPr/>
        <p:nvPr/>
      </p:nvGrpSpPr>
      <p:grpSpPr>
        <a:xfrm>
          <a:off x="0" y="0"/>
          <a:ext cx="0" cy="0"/>
          <a:chOff x="0" y="0"/>
          <a:chExt cx="0" cy="0"/>
        </a:xfrm>
      </p:grpSpPr>
      <p:sp>
        <p:nvSpPr>
          <p:cNvPr id="1727" name="Google Shape;1727;p61"/>
          <p:cNvSpPr/>
          <p:nvPr/>
        </p:nvSpPr>
        <p:spPr>
          <a:xfrm>
            <a:off x="502920" y="274320"/>
            <a:ext cx="9646920" cy="56692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D2A5C"/>
              </a:buClr>
              <a:buSzPts val="2700"/>
              <a:buFont typeface="Calibri"/>
              <a:buNone/>
            </a:pPr>
            <a:r>
              <a:rPr b="1" i="0" lang="en-US" sz="2700" u="none" cap="none" strike="noStrike">
                <a:solidFill>
                  <a:srgbClr val="1D2A5C"/>
                </a:solidFill>
                <a:latin typeface="Calibri"/>
                <a:ea typeface="Calibri"/>
                <a:cs typeface="Calibri"/>
                <a:sym typeface="Calibri"/>
              </a:rPr>
              <a:t>Operating-Point Sweep vs the Line Spec</a:t>
            </a:r>
            <a:endParaRPr b="0" i="0" sz="2700" u="none" cap="none" strike="noStrike">
              <a:solidFill>
                <a:schemeClr val="dk1"/>
              </a:solidFill>
              <a:latin typeface="Calibri"/>
              <a:ea typeface="Calibri"/>
              <a:cs typeface="Calibri"/>
              <a:sym typeface="Calibri"/>
            </a:endParaRPr>
          </a:p>
        </p:txBody>
      </p:sp>
      <p:sp>
        <p:nvSpPr>
          <p:cNvPr id="1728" name="Google Shape;1728;p61"/>
          <p:cNvSpPr/>
          <p:nvPr/>
        </p:nvSpPr>
        <p:spPr>
          <a:xfrm>
            <a:off x="502920" y="859536"/>
            <a:ext cx="9646920" cy="31089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F6B7A"/>
              </a:buClr>
              <a:buSzPts val="1250"/>
              <a:buFont typeface="Arial"/>
              <a:buNone/>
            </a:pPr>
            <a:r>
              <a:rPr b="0" i="0" lang="en-US" sz="1250" u="none" cap="none" strike="noStrike">
                <a:solidFill>
                  <a:srgbClr val="5F6B7A"/>
                </a:solidFill>
                <a:latin typeface="Arial"/>
                <a:ea typeface="Arial"/>
                <a:cs typeface="Arial"/>
                <a:sym typeface="Arial"/>
              </a:rPr>
              <a:t>مسح نقطة التشغيل مقابل مواصفات الخط</a:t>
            </a:r>
            <a:endParaRPr b="0" i="0" sz="1250" u="none" cap="none" strike="noStrike">
              <a:solidFill>
                <a:schemeClr val="dk1"/>
              </a:solidFill>
              <a:latin typeface="Calibri"/>
              <a:ea typeface="Calibri"/>
              <a:cs typeface="Calibri"/>
              <a:sym typeface="Calibri"/>
            </a:endParaRPr>
          </a:p>
        </p:txBody>
      </p:sp>
      <p:pic>
        <p:nvPicPr>
          <p:cNvPr descr="/sessions/blissful-determined-ritchie/build/assets/sdaia_logo.png" id="1729" name="Google Shape;1729;p61"/>
          <p:cNvPicPr preferRelativeResize="0"/>
          <p:nvPr/>
        </p:nvPicPr>
        <p:blipFill rotWithShape="1">
          <a:blip r:embed="rId3">
            <a:alphaModFix/>
          </a:blip>
          <a:srcRect b="0" l="0" r="0" t="0"/>
          <a:stretch/>
        </p:blipFill>
        <p:spPr>
          <a:xfrm>
            <a:off x="10625328" y="310896"/>
            <a:ext cx="1078992" cy="264111"/>
          </a:xfrm>
          <a:prstGeom prst="rect">
            <a:avLst/>
          </a:prstGeom>
          <a:noFill/>
          <a:ln>
            <a:noFill/>
          </a:ln>
        </p:spPr>
      </p:pic>
      <p:sp>
        <p:nvSpPr>
          <p:cNvPr id="1730" name="Google Shape;1730;p61"/>
          <p:cNvSpPr/>
          <p:nvPr/>
        </p:nvSpPr>
        <p:spPr>
          <a:xfrm>
            <a:off x="502920" y="6528816"/>
            <a:ext cx="8686800"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A79D"/>
              </a:buClr>
              <a:buSzPts val="800"/>
              <a:buFont typeface="Calibri"/>
              <a:buNone/>
            </a:pPr>
            <a:r>
              <a:rPr b="1" i="0" lang="en-US" sz="800" u="none" cap="none" strike="noStrike">
                <a:solidFill>
                  <a:srgbClr val="00A79D"/>
                </a:solidFill>
                <a:latin typeface="Calibri"/>
                <a:ea typeface="Calibri"/>
                <a:cs typeface="Calibri"/>
                <a:sym typeface="Calibri"/>
              </a:rPr>
              <a:t>MODULE 3   </a:t>
            </a:r>
            <a:r>
              <a:rPr b="0" i="0" lang="en-US" sz="800" u="none" cap="none" strike="noStrike">
                <a:solidFill>
                  <a:srgbClr val="8A96A6"/>
                </a:solidFill>
                <a:latin typeface="Calibri"/>
                <a:ea typeface="Calibri"/>
                <a:cs typeface="Calibri"/>
                <a:sym typeface="Calibri"/>
              </a:rPr>
              <a:t>SDA-AIE-212 · Computer Vision Systems Development</a:t>
            </a:r>
            <a:endParaRPr b="0" i="0" sz="800" u="none" cap="none" strike="noStrike">
              <a:solidFill>
                <a:schemeClr val="dk1"/>
              </a:solidFill>
              <a:latin typeface="Calibri"/>
              <a:ea typeface="Calibri"/>
              <a:cs typeface="Calibri"/>
              <a:sym typeface="Calibri"/>
            </a:endParaRPr>
          </a:p>
        </p:txBody>
      </p:sp>
      <p:sp>
        <p:nvSpPr>
          <p:cNvPr id="1731" name="Google Shape;1731;p61"/>
          <p:cNvSpPr/>
          <p:nvPr/>
        </p:nvSpPr>
        <p:spPr>
          <a:xfrm>
            <a:off x="11292840" y="6528816"/>
            <a:ext cx="411480" cy="219456"/>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8A96A6"/>
              </a:buClr>
              <a:buSzPts val="900"/>
              <a:buFont typeface="Calibri"/>
              <a:buNone/>
            </a:pPr>
            <a:r>
              <a:rPr b="0" i="0" lang="en-US" sz="900" u="none" cap="none" strike="noStrike">
                <a:solidFill>
                  <a:srgbClr val="8A96A6"/>
                </a:solidFill>
                <a:latin typeface="Calibri"/>
                <a:ea typeface="Calibri"/>
                <a:cs typeface="Calibri"/>
                <a:sym typeface="Calibri"/>
              </a:rPr>
              <a:t>61</a:t>
            </a:r>
            <a:endParaRPr b="0" i="0" sz="900" u="none" cap="none" strike="noStrike">
              <a:solidFill>
                <a:schemeClr val="dk1"/>
              </a:solidFill>
              <a:latin typeface="Calibri"/>
              <a:ea typeface="Calibri"/>
              <a:cs typeface="Calibri"/>
              <a:sym typeface="Calibri"/>
            </a:endParaRPr>
          </a:p>
        </p:txBody>
      </p:sp>
      <p:sp>
        <p:nvSpPr>
          <p:cNvPr id="1732" name="Google Shape;1732;p61"/>
          <p:cNvSpPr/>
          <p:nvPr/>
        </p:nvSpPr>
        <p:spPr>
          <a:xfrm>
            <a:off x="502920" y="1389888"/>
            <a:ext cx="7178040" cy="4965192"/>
          </a:xfrm>
          <a:prstGeom prst="roundRect">
            <a:avLst>
              <a:gd fmla="val 1842" name="adj"/>
            </a:avLst>
          </a:prstGeom>
          <a:solidFill>
            <a:srgbClr val="0F172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3" name="Google Shape;1733;p61"/>
          <p:cNvSpPr/>
          <p:nvPr/>
        </p:nvSpPr>
        <p:spPr>
          <a:xfrm>
            <a:off x="704088" y="1536192"/>
            <a:ext cx="2485339" cy="292608"/>
          </a:xfrm>
          <a:prstGeom prst="roundRect">
            <a:avLst>
              <a:gd fmla="val 18750" name="adj"/>
            </a:avLst>
          </a:prstGeom>
          <a:solidFill>
            <a:srgbClr val="1E293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4" name="Google Shape;1734;p61"/>
          <p:cNvSpPr/>
          <p:nvPr/>
        </p:nvSpPr>
        <p:spPr>
          <a:xfrm>
            <a:off x="795528" y="1536192"/>
            <a:ext cx="662940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EEAD4"/>
              </a:buClr>
              <a:buSzPts val="950"/>
              <a:buFont typeface="Courier New"/>
              <a:buNone/>
            </a:pPr>
            <a:r>
              <a:rPr b="0" i="0" lang="en-US" sz="950" u="none" cap="none" strike="noStrike">
                <a:solidFill>
                  <a:srgbClr val="5EEAD4"/>
                </a:solidFill>
                <a:latin typeface="Courier New"/>
                <a:ea typeface="Courier New"/>
                <a:cs typeface="Courier New"/>
                <a:sym typeface="Courier New"/>
              </a:rPr>
              <a:t>scripts/tune_operating_point.py</a:t>
            </a:r>
            <a:endParaRPr b="0" i="0" sz="950" u="none" cap="none" strike="noStrike">
              <a:solidFill>
                <a:schemeClr val="dk1"/>
              </a:solidFill>
              <a:latin typeface="Calibri"/>
              <a:ea typeface="Calibri"/>
              <a:cs typeface="Calibri"/>
              <a:sym typeface="Calibri"/>
            </a:endParaRPr>
          </a:p>
        </p:txBody>
      </p:sp>
      <p:sp>
        <p:nvSpPr>
          <p:cNvPr id="1735" name="Google Shape;1735;p61"/>
          <p:cNvSpPr/>
          <p:nvPr/>
        </p:nvSpPr>
        <p:spPr>
          <a:xfrm>
            <a:off x="758952" y="1920240"/>
            <a:ext cx="6720840" cy="4279392"/>
          </a:xfrm>
          <a:prstGeom prst="rect">
            <a:avLst/>
          </a:prstGeom>
          <a:noFill/>
          <a:ln>
            <a:noFill/>
          </a:ln>
        </p:spPr>
        <p:txBody>
          <a:bodyPr anchorCtr="0" anchor="t" bIns="0" lIns="0" spcFirstLastPara="1" rIns="0" wrap="square" tIns="0">
            <a:noAutofit/>
          </a:bodyPr>
          <a:lstStyle/>
          <a:p>
            <a:pPr indent="0" lvl="0" marL="0" marR="0" rtl="0" algn="l">
              <a:lnSpc>
                <a:spcPct val="128000"/>
              </a:lnSpc>
              <a:spcBef>
                <a:spcPts val="0"/>
              </a:spcBef>
              <a:spcAft>
                <a:spcPts val="0"/>
              </a:spcAft>
              <a:buClr>
                <a:srgbClr val="DCE6F5"/>
              </a:buClr>
              <a:buSzPts val="1000"/>
              <a:buFont typeface="Courier New"/>
              <a:buNone/>
            </a:pPr>
            <a:r>
              <a:rPr b="0" i="0" lang="en-US" sz="1000" u="none" cap="none" strike="noStrike">
                <a:solidFill>
                  <a:srgbClr val="DCE6F5"/>
                </a:solidFill>
                <a:latin typeface="Courier New"/>
                <a:ea typeface="Courier New"/>
                <a:cs typeface="Courier New"/>
                <a:sym typeface="Courier New"/>
              </a:rPr>
              <a:t>import numpy as np</a:t>
            </a:r>
            <a:endParaRPr b="0" i="0" sz="1000" u="none" cap="none" strike="noStrike">
              <a:solidFill>
                <a:schemeClr val="dk1"/>
              </a:solidFill>
              <a:latin typeface="Calibri"/>
              <a:ea typeface="Calibri"/>
              <a:cs typeface="Calibri"/>
              <a:sym typeface="Calibri"/>
            </a:endParaRPr>
          </a:p>
          <a:p>
            <a:pPr indent="0" lvl="0" marL="0" marR="0" rtl="0" algn="l">
              <a:lnSpc>
                <a:spcPct val="128000"/>
              </a:lnSpc>
              <a:spcBef>
                <a:spcPts val="0"/>
              </a:spcBef>
              <a:spcAft>
                <a:spcPts val="0"/>
              </a:spcAft>
              <a:buClr>
                <a:srgbClr val="DCE6F5"/>
              </a:buClr>
              <a:buSzPts val="1000"/>
              <a:buFont typeface="Courier New"/>
              <a:buNone/>
            </a:pPr>
            <a:r>
              <a:rPr b="0" i="0" lang="en-US" sz="1000" u="none" cap="none" strike="noStrike">
                <a:solidFill>
                  <a:srgbClr val="DCE6F5"/>
                </a:solidFill>
                <a:latin typeface="Courier New"/>
                <a:ea typeface="Courier New"/>
                <a:cs typeface="Courier New"/>
                <a:sym typeface="Courier New"/>
              </a:rPr>
              <a:t>from ultralytics import YOLO</a:t>
            </a:r>
            <a:endParaRPr b="0" i="0" sz="1000" u="none" cap="none" strike="noStrike">
              <a:solidFill>
                <a:schemeClr val="dk1"/>
              </a:solidFill>
              <a:latin typeface="Calibri"/>
              <a:ea typeface="Calibri"/>
              <a:cs typeface="Calibri"/>
              <a:sym typeface="Calibri"/>
            </a:endParaRPr>
          </a:p>
          <a:p>
            <a:pPr indent="0" lvl="0" marL="0" marR="0" rtl="0" algn="l">
              <a:lnSpc>
                <a:spcPct val="128000"/>
              </a:lnSpc>
              <a:spcBef>
                <a:spcPts val="0"/>
              </a:spcBef>
              <a:spcAft>
                <a:spcPts val="0"/>
              </a:spcAft>
              <a:buClr>
                <a:srgbClr val="DCE6F5"/>
              </a:buClr>
              <a:buSzPts val="1000"/>
              <a:buFont typeface="Courier New"/>
              <a:buNone/>
            </a:pPr>
            <a:r>
              <a:rPr b="0" i="0" lang="en-US" sz="1000" u="none" cap="none" strike="noStrike">
                <a:solidFill>
                  <a:srgbClr val="DCE6F5"/>
                </a:solidFill>
                <a:latin typeface="Courier New"/>
                <a:ea typeface="Courier New"/>
                <a:cs typeface="Courier New"/>
                <a:sym typeface="Courier New"/>
              </a:rPr>
              <a:t> </a:t>
            </a:r>
            <a:endParaRPr b="0" i="0" sz="1000" u="none" cap="none" strike="noStrike">
              <a:solidFill>
                <a:schemeClr val="dk1"/>
              </a:solidFill>
              <a:latin typeface="Calibri"/>
              <a:ea typeface="Calibri"/>
              <a:cs typeface="Calibri"/>
              <a:sym typeface="Calibri"/>
            </a:endParaRPr>
          </a:p>
          <a:p>
            <a:pPr indent="0" lvl="0" marL="0" marR="0" rtl="0" algn="l">
              <a:lnSpc>
                <a:spcPct val="128000"/>
              </a:lnSpc>
              <a:spcBef>
                <a:spcPts val="0"/>
              </a:spcBef>
              <a:spcAft>
                <a:spcPts val="0"/>
              </a:spcAft>
              <a:buClr>
                <a:srgbClr val="DCE6F5"/>
              </a:buClr>
              <a:buSzPts val="1000"/>
              <a:buFont typeface="Courier New"/>
              <a:buNone/>
            </a:pPr>
            <a:r>
              <a:rPr b="0" i="0" lang="en-US" sz="1000" u="none" cap="none" strike="noStrike">
                <a:solidFill>
                  <a:srgbClr val="DCE6F5"/>
                </a:solidFill>
                <a:latin typeface="Courier New"/>
                <a:ea typeface="Courier New"/>
                <a:cs typeface="Courier New"/>
                <a:sym typeface="Courier New"/>
              </a:rPr>
              <a:t>REQ = {"mould_recall": 0.99, "fp_per_image": 0.05}</a:t>
            </a:r>
            <a:endParaRPr b="0" i="0" sz="1000" u="none" cap="none" strike="noStrike">
              <a:solidFill>
                <a:schemeClr val="dk1"/>
              </a:solidFill>
              <a:latin typeface="Calibri"/>
              <a:ea typeface="Calibri"/>
              <a:cs typeface="Calibri"/>
              <a:sym typeface="Calibri"/>
            </a:endParaRPr>
          </a:p>
          <a:p>
            <a:pPr indent="0" lvl="0" marL="0" marR="0" rtl="0" algn="l">
              <a:lnSpc>
                <a:spcPct val="128000"/>
              </a:lnSpc>
              <a:spcBef>
                <a:spcPts val="0"/>
              </a:spcBef>
              <a:spcAft>
                <a:spcPts val="0"/>
              </a:spcAft>
              <a:buClr>
                <a:srgbClr val="DCE6F5"/>
              </a:buClr>
              <a:buSzPts val="1000"/>
              <a:buFont typeface="Courier New"/>
              <a:buNone/>
            </a:pPr>
            <a:r>
              <a:rPr b="0" i="0" lang="en-US" sz="1000" u="none" cap="none" strike="noStrike">
                <a:solidFill>
                  <a:srgbClr val="DCE6F5"/>
                </a:solidFill>
                <a:latin typeface="Courier New"/>
                <a:ea typeface="Courier New"/>
                <a:cs typeface="Courier New"/>
                <a:sym typeface="Courier New"/>
              </a:rPr>
              <a:t> </a:t>
            </a:r>
            <a:endParaRPr b="0" i="0" sz="1000" u="none" cap="none" strike="noStrike">
              <a:solidFill>
                <a:schemeClr val="dk1"/>
              </a:solidFill>
              <a:latin typeface="Calibri"/>
              <a:ea typeface="Calibri"/>
              <a:cs typeface="Calibri"/>
              <a:sym typeface="Calibri"/>
            </a:endParaRPr>
          </a:p>
          <a:p>
            <a:pPr indent="0" lvl="0" marL="0" marR="0" rtl="0" algn="l">
              <a:lnSpc>
                <a:spcPct val="128000"/>
              </a:lnSpc>
              <a:spcBef>
                <a:spcPts val="0"/>
              </a:spcBef>
              <a:spcAft>
                <a:spcPts val="0"/>
              </a:spcAft>
              <a:buClr>
                <a:srgbClr val="DCE6F5"/>
              </a:buClr>
              <a:buSzPts val="1000"/>
              <a:buFont typeface="Courier New"/>
              <a:buNone/>
            </a:pPr>
            <a:r>
              <a:rPr b="0" i="0" lang="en-US" sz="1000" u="none" cap="none" strike="noStrike">
                <a:solidFill>
                  <a:srgbClr val="DCE6F5"/>
                </a:solidFill>
                <a:latin typeface="Courier New"/>
                <a:ea typeface="Courier New"/>
                <a:cs typeface="Courier New"/>
                <a:sym typeface="Courier New"/>
              </a:rPr>
              <a:t>model = YOLO("runs/detect/defect_y11s/weights/best.pt")</a:t>
            </a:r>
            <a:endParaRPr b="0" i="0" sz="1000" u="none" cap="none" strike="noStrike">
              <a:solidFill>
                <a:schemeClr val="dk1"/>
              </a:solidFill>
              <a:latin typeface="Calibri"/>
              <a:ea typeface="Calibri"/>
              <a:cs typeface="Calibri"/>
              <a:sym typeface="Calibri"/>
            </a:endParaRPr>
          </a:p>
          <a:p>
            <a:pPr indent="0" lvl="0" marL="0" marR="0" rtl="0" algn="l">
              <a:lnSpc>
                <a:spcPct val="128000"/>
              </a:lnSpc>
              <a:spcBef>
                <a:spcPts val="0"/>
              </a:spcBef>
              <a:spcAft>
                <a:spcPts val="0"/>
              </a:spcAft>
              <a:buClr>
                <a:srgbClr val="DCE6F5"/>
              </a:buClr>
              <a:buSzPts val="1000"/>
              <a:buFont typeface="Courier New"/>
              <a:buNone/>
            </a:pPr>
            <a:r>
              <a:rPr b="0" i="0" lang="en-US" sz="1000" u="none" cap="none" strike="noStrike">
                <a:solidFill>
                  <a:srgbClr val="DCE6F5"/>
                </a:solidFill>
                <a:latin typeface="Courier New"/>
                <a:ea typeface="Courier New"/>
                <a:cs typeface="Courier New"/>
                <a:sym typeface="Courier New"/>
              </a:rPr>
              <a:t>rows = []</a:t>
            </a:r>
            <a:endParaRPr b="0" i="0" sz="1000" u="none" cap="none" strike="noStrike">
              <a:solidFill>
                <a:schemeClr val="dk1"/>
              </a:solidFill>
              <a:latin typeface="Calibri"/>
              <a:ea typeface="Calibri"/>
              <a:cs typeface="Calibri"/>
              <a:sym typeface="Calibri"/>
            </a:endParaRPr>
          </a:p>
          <a:p>
            <a:pPr indent="0" lvl="0" marL="0" marR="0" rtl="0" algn="l">
              <a:lnSpc>
                <a:spcPct val="128000"/>
              </a:lnSpc>
              <a:spcBef>
                <a:spcPts val="0"/>
              </a:spcBef>
              <a:spcAft>
                <a:spcPts val="0"/>
              </a:spcAft>
              <a:buClr>
                <a:srgbClr val="DCE6F5"/>
              </a:buClr>
              <a:buSzPts val="1000"/>
              <a:buFont typeface="Courier New"/>
              <a:buNone/>
            </a:pPr>
            <a:r>
              <a:rPr b="0" i="0" lang="en-US" sz="1000" u="none" cap="none" strike="noStrike">
                <a:solidFill>
                  <a:srgbClr val="DCE6F5"/>
                </a:solidFill>
                <a:latin typeface="Courier New"/>
                <a:ea typeface="Courier New"/>
                <a:cs typeface="Courier New"/>
                <a:sym typeface="Courier New"/>
              </a:rPr>
              <a:t>for conf in np.arange(0.10, 0.91, 0.05):</a:t>
            </a:r>
            <a:endParaRPr b="0" i="0" sz="1000" u="none" cap="none" strike="noStrike">
              <a:solidFill>
                <a:schemeClr val="dk1"/>
              </a:solidFill>
              <a:latin typeface="Calibri"/>
              <a:ea typeface="Calibri"/>
              <a:cs typeface="Calibri"/>
              <a:sym typeface="Calibri"/>
            </a:endParaRPr>
          </a:p>
          <a:p>
            <a:pPr indent="0" lvl="0" marL="0" marR="0" rtl="0" algn="l">
              <a:lnSpc>
                <a:spcPct val="128000"/>
              </a:lnSpc>
              <a:spcBef>
                <a:spcPts val="0"/>
              </a:spcBef>
              <a:spcAft>
                <a:spcPts val="0"/>
              </a:spcAft>
              <a:buClr>
                <a:srgbClr val="DCE6F5"/>
              </a:buClr>
              <a:buSzPts val="1000"/>
              <a:buFont typeface="Courier New"/>
              <a:buNone/>
            </a:pPr>
            <a:r>
              <a:rPr b="0" i="0" lang="en-US" sz="1000" u="none" cap="none" strike="noStrike">
                <a:solidFill>
                  <a:srgbClr val="DCE6F5"/>
                </a:solidFill>
                <a:latin typeface="Courier New"/>
                <a:ea typeface="Courier New"/>
                <a:cs typeface="Courier New"/>
                <a:sym typeface="Courier New"/>
              </a:rPr>
              <a:t>    m = model.val(split="val", conf=float(conf), iou=0.5,</a:t>
            </a:r>
            <a:endParaRPr b="0" i="0" sz="1000" u="none" cap="none" strike="noStrike">
              <a:solidFill>
                <a:schemeClr val="dk1"/>
              </a:solidFill>
              <a:latin typeface="Calibri"/>
              <a:ea typeface="Calibri"/>
              <a:cs typeface="Calibri"/>
              <a:sym typeface="Calibri"/>
            </a:endParaRPr>
          </a:p>
          <a:p>
            <a:pPr indent="0" lvl="0" marL="0" marR="0" rtl="0" algn="l">
              <a:lnSpc>
                <a:spcPct val="128000"/>
              </a:lnSpc>
              <a:spcBef>
                <a:spcPts val="0"/>
              </a:spcBef>
              <a:spcAft>
                <a:spcPts val="0"/>
              </a:spcAft>
              <a:buClr>
                <a:srgbClr val="DCE6F5"/>
              </a:buClr>
              <a:buSzPts val="1000"/>
              <a:buFont typeface="Courier New"/>
              <a:buNone/>
            </a:pPr>
            <a:r>
              <a:rPr b="0" i="0" lang="en-US" sz="1000" u="none" cap="none" strike="noStrike">
                <a:solidFill>
                  <a:srgbClr val="DCE6F5"/>
                </a:solidFill>
                <a:latin typeface="Courier New"/>
                <a:ea typeface="Courier New"/>
                <a:cs typeface="Courier New"/>
                <a:sym typeface="Courier New"/>
              </a:rPr>
              <a:t>                  verbose=False)</a:t>
            </a:r>
            <a:endParaRPr b="0" i="0" sz="1000" u="none" cap="none" strike="noStrike">
              <a:solidFill>
                <a:schemeClr val="dk1"/>
              </a:solidFill>
              <a:latin typeface="Calibri"/>
              <a:ea typeface="Calibri"/>
              <a:cs typeface="Calibri"/>
              <a:sym typeface="Calibri"/>
            </a:endParaRPr>
          </a:p>
          <a:p>
            <a:pPr indent="0" lvl="0" marL="0" marR="0" rtl="0" algn="l">
              <a:lnSpc>
                <a:spcPct val="128000"/>
              </a:lnSpc>
              <a:spcBef>
                <a:spcPts val="0"/>
              </a:spcBef>
              <a:spcAft>
                <a:spcPts val="0"/>
              </a:spcAft>
              <a:buClr>
                <a:srgbClr val="DCE6F5"/>
              </a:buClr>
              <a:buSzPts val="1000"/>
              <a:buFont typeface="Courier New"/>
              <a:buNone/>
            </a:pPr>
            <a:r>
              <a:rPr b="0" i="0" lang="en-US" sz="1000" u="none" cap="none" strike="noStrike">
                <a:solidFill>
                  <a:srgbClr val="DCE6F5"/>
                </a:solidFill>
                <a:latin typeface="Courier New"/>
                <a:ea typeface="Courier New"/>
                <a:cs typeface="Courier New"/>
                <a:sym typeface="Courier New"/>
              </a:rPr>
              <a:t>    mould_recall = m.box.r[0]   # class 0 = mould (frozen order)</a:t>
            </a:r>
            <a:endParaRPr b="0" i="0" sz="1000" u="none" cap="none" strike="noStrike">
              <a:solidFill>
                <a:schemeClr val="dk1"/>
              </a:solidFill>
              <a:latin typeface="Calibri"/>
              <a:ea typeface="Calibri"/>
              <a:cs typeface="Calibri"/>
              <a:sym typeface="Calibri"/>
            </a:endParaRPr>
          </a:p>
          <a:p>
            <a:pPr indent="0" lvl="0" marL="0" marR="0" rtl="0" algn="l">
              <a:lnSpc>
                <a:spcPct val="128000"/>
              </a:lnSpc>
              <a:spcBef>
                <a:spcPts val="0"/>
              </a:spcBef>
              <a:spcAft>
                <a:spcPts val="0"/>
              </a:spcAft>
              <a:buClr>
                <a:srgbClr val="DCE6F5"/>
              </a:buClr>
              <a:buSzPts val="1000"/>
              <a:buFont typeface="Courier New"/>
              <a:buNone/>
            </a:pPr>
            <a:r>
              <a:rPr b="0" i="0" lang="en-US" sz="1000" u="none" cap="none" strike="noStrike">
                <a:solidFill>
                  <a:srgbClr val="DCE6F5"/>
                </a:solidFill>
                <a:latin typeface="Courier New"/>
                <a:ea typeface="Courier New"/>
                <a:cs typeface="Courier New"/>
                <a:sym typeface="Courier New"/>
              </a:rPr>
              <a:t>    rows.append((conf, mould_recall, m.box.mp, m.box.mr))</a:t>
            </a:r>
            <a:endParaRPr b="0" i="0" sz="1000" u="none" cap="none" strike="noStrike">
              <a:solidFill>
                <a:schemeClr val="dk1"/>
              </a:solidFill>
              <a:latin typeface="Calibri"/>
              <a:ea typeface="Calibri"/>
              <a:cs typeface="Calibri"/>
              <a:sym typeface="Calibri"/>
            </a:endParaRPr>
          </a:p>
          <a:p>
            <a:pPr indent="0" lvl="0" marL="0" marR="0" rtl="0" algn="l">
              <a:lnSpc>
                <a:spcPct val="128000"/>
              </a:lnSpc>
              <a:spcBef>
                <a:spcPts val="0"/>
              </a:spcBef>
              <a:spcAft>
                <a:spcPts val="0"/>
              </a:spcAft>
              <a:buClr>
                <a:srgbClr val="DCE6F5"/>
              </a:buClr>
              <a:buSzPts val="1000"/>
              <a:buFont typeface="Courier New"/>
              <a:buNone/>
            </a:pPr>
            <a:r>
              <a:rPr b="0" i="0" lang="en-US" sz="1000" u="none" cap="none" strike="noStrike">
                <a:solidFill>
                  <a:srgbClr val="DCE6F5"/>
                </a:solidFill>
                <a:latin typeface="Courier New"/>
                <a:ea typeface="Courier New"/>
                <a:cs typeface="Courier New"/>
                <a:sym typeface="Courier New"/>
              </a:rPr>
              <a:t>    print(f"conf={conf:.2f}  mould_recall={mould_recall:.3f}")</a:t>
            </a:r>
            <a:endParaRPr b="0" i="0" sz="1000" u="none" cap="none" strike="noStrike">
              <a:solidFill>
                <a:schemeClr val="dk1"/>
              </a:solidFill>
              <a:latin typeface="Calibri"/>
              <a:ea typeface="Calibri"/>
              <a:cs typeface="Calibri"/>
              <a:sym typeface="Calibri"/>
            </a:endParaRPr>
          </a:p>
          <a:p>
            <a:pPr indent="0" lvl="0" marL="0" marR="0" rtl="0" algn="l">
              <a:lnSpc>
                <a:spcPct val="128000"/>
              </a:lnSpc>
              <a:spcBef>
                <a:spcPts val="0"/>
              </a:spcBef>
              <a:spcAft>
                <a:spcPts val="0"/>
              </a:spcAft>
              <a:buClr>
                <a:srgbClr val="DCE6F5"/>
              </a:buClr>
              <a:buSzPts val="1000"/>
              <a:buFont typeface="Courier New"/>
              <a:buNone/>
            </a:pPr>
            <a:r>
              <a:rPr b="0" i="0" lang="en-US" sz="1000" u="none" cap="none" strike="noStrike">
                <a:solidFill>
                  <a:srgbClr val="DCE6F5"/>
                </a:solidFill>
                <a:latin typeface="Courier New"/>
                <a:ea typeface="Courier New"/>
                <a:cs typeface="Courier New"/>
                <a:sym typeface="Courier New"/>
              </a:rPr>
              <a:t> </a:t>
            </a:r>
            <a:endParaRPr b="0" i="0" sz="1000" u="none" cap="none" strike="noStrike">
              <a:solidFill>
                <a:schemeClr val="dk1"/>
              </a:solidFill>
              <a:latin typeface="Calibri"/>
              <a:ea typeface="Calibri"/>
              <a:cs typeface="Calibri"/>
              <a:sym typeface="Calibri"/>
            </a:endParaRPr>
          </a:p>
          <a:p>
            <a:pPr indent="0" lvl="0" marL="0" marR="0" rtl="0" algn="l">
              <a:lnSpc>
                <a:spcPct val="128000"/>
              </a:lnSpc>
              <a:spcBef>
                <a:spcPts val="0"/>
              </a:spcBef>
              <a:spcAft>
                <a:spcPts val="0"/>
              </a:spcAft>
              <a:buClr>
                <a:srgbClr val="DCE6F5"/>
              </a:buClr>
              <a:buSzPts val="1000"/>
              <a:buFont typeface="Courier New"/>
              <a:buNone/>
            </a:pPr>
            <a:r>
              <a:rPr b="0" i="0" lang="en-US" sz="1000" u="none" cap="none" strike="noStrike">
                <a:solidFill>
                  <a:srgbClr val="DCE6F5"/>
                </a:solidFill>
                <a:latin typeface="Courier New"/>
                <a:ea typeface="Courier New"/>
                <a:cs typeface="Courier New"/>
                <a:sym typeface="Courier New"/>
              </a:rPr>
              <a:t>feasible = [r for r in rows if r[1] &gt;= REQ["mould_recall"]]</a:t>
            </a:r>
            <a:endParaRPr b="0" i="0" sz="1000" u="none" cap="none" strike="noStrike">
              <a:solidFill>
                <a:schemeClr val="dk1"/>
              </a:solidFill>
              <a:latin typeface="Calibri"/>
              <a:ea typeface="Calibri"/>
              <a:cs typeface="Calibri"/>
              <a:sym typeface="Calibri"/>
            </a:endParaRPr>
          </a:p>
          <a:p>
            <a:pPr indent="0" lvl="0" marL="0" marR="0" rtl="0" algn="l">
              <a:lnSpc>
                <a:spcPct val="128000"/>
              </a:lnSpc>
              <a:spcBef>
                <a:spcPts val="0"/>
              </a:spcBef>
              <a:spcAft>
                <a:spcPts val="0"/>
              </a:spcAft>
              <a:buClr>
                <a:srgbClr val="DCE6F5"/>
              </a:buClr>
              <a:buSzPts val="1000"/>
              <a:buFont typeface="Courier New"/>
              <a:buNone/>
            </a:pPr>
            <a:r>
              <a:rPr b="0" i="0" lang="en-US" sz="1000" u="none" cap="none" strike="noStrike">
                <a:solidFill>
                  <a:srgbClr val="DCE6F5"/>
                </a:solidFill>
                <a:latin typeface="Courier New"/>
                <a:ea typeface="Courier New"/>
                <a:cs typeface="Courier New"/>
                <a:sym typeface="Courier New"/>
              </a:rPr>
              <a:t>print("feasible band:",</a:t>
            </a:r>
            <a:endParaRPr b="0" i="0" sz="1000" u="none" cap="none" strike="noStrike">
              <a:solidFill>
                <a:schemeClr val="dk1"/>
              </a:solidFill>
              <a:latin typeface="Calibri"/>
              <a:ea typeface="Calibri"/>
              <a:cs typeface="Calibri"/>
              <a:sym typeface="Calibri"/>
            </a:endParaRPr>
          </a:p>
          <a:p>
            <a:pPr indent="0" lvl="0" marL="0" marR="0" rtl="0" algn="l">
              <a:lnSpc>
                <a:spcPct val="128000"/>
              </a:lnSpc>
              <a:spcBef>
                <a:spcPts val="0"/>
              </a:spcBef>
              <a:spcAft>
                <a:spcPts val="0"/>
              </a:spcAft>
              <a:buClr>
                <a:srgbClr val="DCE6F5"/>
              </a:buClr>
              <a:buSzPts val="1000"/>
              <a:buFont typeface="Courier New"/>
              <a:buNone/>
            </a:pPr>
            <a:r>
              <a:rPr b="0" i="0" lang="en-US" sz="1000" u="none" cap="none" strike="noStrike">
                <a:solidFill>
                  <a:srgbClr val="DCE6F5"/>
                </a:solidFill>
                <a:latin typeface="Courier New"/>
                <a:ea typeface="Courier New"/>
                <a:cs typeface="Courier New"/>
                <a:sym typeface="Courier New"/>
              </a:rPr>
              <a:t>      [f"{r[0]:.2f}" for r in feasible] or</a:t>
            </a:r>
            <a:endParaRPr b="0" i="0" sz="1000" u="none" cap="none" strike="noStrike">
              <a:solidFill>
                <a:schemeClr val="dk1"/>
              </a:solidFill>
              <a:latin typeface="Calibri"/>
              <a:ea typeface="Calibri"/>
              <a:cs typeface="Calibri"/>
              <a:sym typeface="Calibri"/>
            </a:endParaRPr>
          </a:p>
          <a:p>
            <a:pPr indent="0" lvl="0" marL="0" marR="0" rtl="0" algn="l">
              <a:lnSpc>
                <a:spcPct val="128000"/>
              </a:lnSpc>
              <a:spcBef>
                <a:spcPts val="0"/>
              </a:spcBef>
              <a:spcAft>
                <a:spcPts val="0"/>
              </a:spcAft>
              <a:buClr>
                <a:srgbClr val="DCE6F5"/>
              </a:buClr>
              <a:buSzPts val="1000"/>
              <a:buFont typeface="Courier New"/>
              <a:buNone/>
            </a:pPr>
            <a:r>
              <a:rPr b="0" i="0" lang="en-US" sz="1000" u="none" cap="none" strike="noStrike">
                <a:solidFill>
                  <a:srgbClr val="DCE6F5"/>
                </a:solidFill>
                <a:latin typeface="Courier New"/>
                <a:ea typeface="Courier New"/>
                <a:cs typeface="Courier New"/>
                <a:sym typeface="Courier New"/>
              </a:rPr>
              <a:t>      "NONE - escalate: per-class thresholds or more data")</a:t>
            </a:r>
            <a:endParaRPr b="0" i="0" sz="1000" u="none" cap="none" strike="noStrike">
              <a:solidFill>
                <a:schemeClr val="dk1"/>
              </a:solidFill>
              <a:latin typeface="Calibri"/>
              <a:ea typeface="Calibri"/>
              <a:cs typeface="Calibri"/>
              <a:sym typeface="Calibri"/>
            </a:endParaRPr>
          </a:p>
        </p:txBody>
      </p:sp>
      <p:sp>
        <p:nvSpPr>
          <p:cNvPr id="1736" name="Google Shape;1736;p61"/>
          <p:cNvSpPr/>
          <p:nvPr/>
        </p:nvSpPr>
        <p:spPr>
          <a:xfrm>
            <a:off x="7973568" y="1389888"/>
            <a:ext cx="3712464" cy="1090422"/>
          </a:xfrm>
          <a:prstGeom prst="roundRect">
            <a:avLst>
              <a:gd fmla="val 5870" name="adj"/>
            </a:avLst>
          </a:prstGeom>
          <a:solidFill>
            <a:srgbClr val="F2F6F9"/>
          </a:solidFill>
          <a:ln cap="flat" cmpd="sng" w="12700">
            <a:solidFill>
              <a:srgbClr val="D9E2E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7" name="Google Shape;1737;p61"/>
          <p:cNvSpPr/>
          <p:nvPr/>
        </p:nvSpPr>
        <p:spPr>
          <a:xfrm>
            <a:off x="8101584" y="1508760"/>
            <a:ext cx="237744" cy="237744"/>
          </a:xfrm>
          <a:prstGeom prst="ellipse">
            <a:avLst/>
          </a:prstGeom>
          <a:solidFill>
            <a:srgbClr val="00A79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8" name="Google Shape;1738;p61"/>
          <p:cNvSpPr/>
          <p:nvPr/>
        </p:nvSpPr>
        <p:spPr>
          <a:xfrm>
            <a:off x="8101584" y="1508760"/>
            <a:ext cx="237744" cy="23774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000"/>
              <a:buFont typeface="Calibri"/>
              <a:buNone/>
            </a:pPr>
            <a:r>
              <a:rPr b="1" i="0" lang="en-US" sz="1000" u="none" cap="none" strike="noStrike">
                <a:solidFill>
                  <a:srgbClr val="FFFFFF"/>
                </a:solidFill>
                <a:latin typeface="Calibri"/>
                <a:ea typeface="Calibri"/>
                <a:cs typeface="Calibri"/>
                <a:sym typeface="Calibri"/>
              </a:rPr>
              <a:t>1</a:t>
            </a:r>
            <a:endParaRPr b="0" i="0" sz="1000" u="none" cap="none" strike="noStrike">
              <a:solidFill>
                <a:schemeClr val="dk1"/>
              </a:solidFill>
              <a:latin typeface="Calibri"/>
              <a:ea typeface="Calibri"/>
              <a:cs typeface="Calibri"/>
              <a:sym typeface="Calibri"/>
            </a:endParaRPr>
          </a:p>
        </p:txBody>
      </p:sp>
      <p:sp>
        <p:nvSpPr>
          <p:cNvPr id="1739" name="Google Shape;1739;p61"/>
          <p:cNvSpPr/>
          <p:nvPr/>
        </p:nvSpPr>
        <p:spPr>
          <a:xfrm>
            <a:off x="8430768" y="1444752"/>
            <a:ext cx="3145536"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D2A5C"/>
              </a:buClr>
              <a:buSzPts val="1150"/>
              <a:buFont typeface="Calibri"/>
              <a:buNone/>
            </a:pPr>
            <a:r>
              <a:rPr b="1" i="0" lang="en-US" sz="1150" u="none" cap="none" strike="noStrike">
                <a:solidFill>
                  <a:srgbClr val="1D2A5C"/>
                </a:solidFill>
                <a:latin typeface="Calibri"/>
                <a:ea typeface="Calibri"/>
                <a:cs typeface="Calibri"/>
                <a:sym typeface="Calibri"/>
              </a:rPr>
              <a:t>Requirements first</a:t>
            </a:r>
            <a:endParaRPr b="0" i="0" sz="1150" u="none" cap="none" strike="noStrike">
              <a:solidFill>
                <a:schemeClr val="dk1"/>
              </a:solidFill>
              <a:latin typeface="Calibri"/>
              <a:ea typeface="Calibri"/>
              <a:cs typeface="Calibri"/>
              <a:sym typeface="Calibri"/>
            </a:endParaRPr>
          </a:p>
        </p:txBody>
      </p:sp>
      <p:sp>
        <p:nvSpPr>
          <p:cNvPr id="1740" name="Google Shape;1740;p61"/>
          <p:cNvSpPr/>
          <p:nvPr/>
        </p:nvSpPr>
        <p:spPr>
          <a:xfrm>
            <a:off x="8430768" y="1719072"/>
            <a:ext cx="3145536" cy="688086"/>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5F6B7A"/>
              </a:buClr>
              <a:buSzPts val="1000"/>
              <a:buFont typeface="Calibri"/>
              <a:buNone/>
            </a:pPr>
            <a:r>
              <a:rPr b="0" i="0" lang="en-US" sz="1000" u="none" cap="none" strike="noStrike">
                <a:solidFill>
                  <a:srgbClr val="5F6B7A"/>
                </a:solidFill>
                <a:latin typeface="Calibri"/>
                <a:ea typeface="Calibri"/>
                <a:cs typeface="Calibri"/>
                <a:sym typeface="Calibri"/>
              </a:rPr>
              <a:t>The line spec (mould recall ≥ 0.99, FP/image ≤ 0.05) drives the sweep</a:t>
            </a:r>
            <a:endParaRPr b="0" i="0" sz="1000" u="none" cap="none" strike="noStrike">
              <a:solidFill>
                <a:schemeClr val="dk1"/>
              </a:solidFill>
              <a:latin typeface="Calibri"/>
              <a:ea typeface="Calibri"/>
              <a:cs typeface="Calibri"/>
              <a:sym typeface="Calibri"/>
            </a:endParaRPr>
          </a:p>
        </p:txBody>
      </p:sp>
      <p:sp>
        <p:nvSpPr>
          <p:cNvPr id="1741" name="Google Shape;1741;p61"/>
          <p:cNvSpPr/>
          <p:nvPr/>
        </p:nvSpPr>
        <p:spPr>
          <a:xfrm>
            <a:off x="7973568" y="2681478"/>
            <a:ext cx="3712464" cy="1090422"/>
          </a:xfrm>
          <a:prstGeom prst="roundRect">
            <a:avLst>
              <a:gd fmla="val 5870" name="adj"/>
            </a:avLst>
          </a:prstGeom>
          <a:solidFill>
            <a:srgbClr val="F2F6F9"/>
          </a:solidFill>
          <a:ln cap="flat" cmpd="sng" w="12700">
            <a:solidFill>
              <a:srgbClr val="D9E2E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42" name="Google Shape;1742;p61"/>
          <p:cNvSpPr/>
          <p:nvPr/>
        </p:nvSpPr>
        <p:spPr>
          <a:xfrm>
            <a:off x="8101584" y="2800350"/>
            <a:ext cx="237744" cy="237744"/>
          </a:xfrm>
          <a:prstGeom prst="ellipse">
            <a:avLst/>
          </a:prstGeom>
          <a:solidFill>
            <a:srgbClr val="29ABE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43" name="Google Shape;1743;p61"/>
          <p:cNvSpPr/>
          <p:nvPr/>
        </p:nvSpPr>
        <p:spPr>
          <a:xfrm>
            <a:off x="8101584" y="2800350"/>
            <a:ext cx="237744" cy="23774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000"/>
              <a:buFont typeface="Calibri"/>
              <a:buNone/>
            </a:pPr>
            <a:r>
              <a:rPr b="1" i="0" lang="en-US" sz="1000" u="none" cap="none" strike="noStrike">
                <a:solidFill>
                  <a:srgbClr val="FFFFFF"/>
                </a:solidFill>
                <a:latin typeface="Calibri"/>
                <a:ea typeface="Calibri"/>
                <a:cs typeface="Calibri"/>
                <a:sym typeface="Calibri"/>
              </a:rPr>
              <a:t>2</a:t>
            </a:r>
            <a:endParaRPr b="0" i="0" sz="1000" u="none" cap="none" strike="noStrike">
              <a:solidFill>
                <a:schemeClr val="dk1"/>
              </a:solidFill>
              <a:latin typeface="Calibri"/>
              <a:ea typeface="Calibri"/>
              <a:cs typeface="Calibri"/>
              <a:sym typeface="Calibri"/>
            </a:endParaRPr>
          </a:p>
        </p:txBody>
      </p:sp>
      <p:sp>
        <p:nvSpPr>
          <p:cNvPr id="1744" name="Google Shape;1744;p61"/>
          <p:cNvSpPr/>
          <p:nvPr/>
        </p:nvSpPr>
        <p:spPr>
          <a:xfrm>
            <a:off x="8430768" y="2736342"/>
            <a:ext cx="3145536"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D2A5C"/>
              </a:buClr>
              <a:buSzPts val="1150"/>
              <a:buFont typeface="Calibri"/>
              <a:buNone/>
            </a:pPr>
            <a:r>
              <a:rPr b="1" i="0" lang="en-US" sz="1150" u="none" cap="none" strike="noStrike">
                <a:solidFill>
                  <a:srgbClr val="1D2A5C"/>
                </a:solidFill>
                <a:latin typeface="Calibri"/>
                <a:ea typeface="Calibri"/>
                <a:cs typeface="Calibri"/>
                <a:sym typeface="Calibri"/>
              </a:rPr>
              <a:t>Frozen class order</a:t>
            </a:r>
            <a:endParaRPr b="0" i="0" sz="1150" u="none" cap="none" strike="noStrike">
              <a:solidFill>
                <a:schemeClr val="dk1"/>
              </a:solidFill>
              <a:latin typeface="Calibri"/>
              <a:ea typeface="Calibri"/>
              <a:cs typeface="Calibri"/>
              <a:sym typeface="Calibri"/>
            </a:endParaRPr>
          </a:p>
        </p:txBody>
      </p:sp>
      <p:sp>
        <p:nvSpPr>
          <p:cNvPr id="1745" name="Google Shape;1745;p61"/>
          <p:cNvSpPr/>
          <p:nvPr/>
        </p:nvSpPr>
        <p:spPr>
          <a:xfrm>
            <a:off x="8430768" y="3010662"/>
            <a:ext cx="3145536" cy="688086"/>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5F6B7A"/>
              </a:buClr>
              <a:buSzPts val="1000"/>
              <a:buFont typeface="Calibri"/>
              <a:buNone/>
            </a:pPr>
            <a:r>
              <a:rPr b="0" i="0" lang="en-US" sz="1000" u="none" cap="none" strike="noStrike">
                <a:solidFill>
                  <a:srgbClr val="5F6B7A"/>
                </a:solidFill>
                <a:latin typeface="Calibri"/>
                <a:ea typeface="Calibri"/>
                <a:cs typeface="Calibri"/>
                <a:sym typeface="Calibri"/>
              </a:rPr>
              <a:t>m.box.r[0] is mould only because the YAML order is frozen — M2's rule with teeth</a:t>
            </a:r>
            <a:endParaRPr b="0" i="0" sz="1000" u="none" cap="none" strike="noStrike">
              <a:solidFill>
                <a:schemeClr val="dk1"/>
              </a:solidFill>
              <a:latin typeface="Calibri"/>
              <a:ea typeface="Calibri"/>
              <a:cs typeface="Calibri"/>
              <a:sym typeface="Calibri"/>
            </a:endParaRPr>
          </a:p>
        </p:txBody>
      </p:sp>
      <p:sp>
        <p:nvSpPr>
          <p:cNvPr id="1746" name="Google Shape;1746;p61"/>
          <p:cNvSpPr/>
          <p:nvPr/>
        </p:nvSpPr>
        <p:spPr>
          <a:xfrm>
            <a:off x="7973568" y="3973068"/>
            <a:ext cx="3712464" cy="1090422"/>
          </a:xfrm>
          <a:prstGeom prst="roundRect">
            <a:avLst>
              <a:gd fmla="val 5870" name="adj"/>
            </a:avLst>
          </a:prstGeom>
          <a:solidFill>
            <a:srgbClr val="F2F6F9"/>
          </a:solidFill>
          <a:ln cap="flat" cmpd="sng" w="12700">
            <a:solidFill>
              <a:srgbClr val="D9E2E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47" name="Google Shape;1747;p61"/>
          <p:cNvSpPr/>
          <p:nvPr/>
        </p:nvSpPr>
        <p:spPr>
          <a:xfrm>
            <a:off x="8101584" y="4091940"/>
            <a:ext cx="237744" cy="237744"/>
          </a:xfrm>
          <a:prstGeom prst="ellipse">
            <a:avLst/>
          </a:prstGeom>
          <a:solidFill>
            <a:srgbClr val="F5822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48" name="Google Shape;1748;p61"/>
          <p:cNvSpPr/>
          <p:nvPr/>
        </p:nvSpPr>
        <p:spPr>
          <a:xfrm>
            <a:off x="8101584" y="4091940"/>
            <a:ext cx="237744" cy="23774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000"/>
              <a:buFont typeface="Calibri"/>
              <a:buNone/>
            </a:pPr>
            <a:r>
              <a:rPr b="1" i="0" lang="en-US" sz="1000" u="none" cap="none" strike="noStrike">
                <a:solidFill>
                  <a:srgbClr val="FFFFFF"/>
                </a:solidFill>
                <a:latin typeface="Calibri"/>
                <a:ea typeface="Calibri"/>
                <a:cs typeface="Calibri"/>
                <a:sym typeface="Calibri"/>
              </a:rPr>
              <a:t>3</a:t>
            </a:r>
            <a:endParaRPr b="0" i="0" sz="1000" u="none" cap="none" strike="noStrike">
              <a:solidFill>
                <a:schemeClr val="dk1"/>
              </a:solidFill>
              <a:latin typeface="Calibri"/>
              <a:ea typeface="Calibri"/>
              <a:cs typeface="Calibri"/>
              <a:sym typeface="Calibri"/>
            </a:endParaRPr>
          </a:p>
        </p:txBody>
      </p:sp>
      <p:sp>
        <p:nvSpPr>
          <p:cNvPr id="1749" name="Google Shape;1749;p61"/>
          <p:cNvSpPr/>
          <p:nvPr/>
        </p:nvSpPr>
        <p:spPr>
          <a:xfrm>
            <a:off x="8430768" y="4027932"/>
            <a:ext cx="3145536"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D2A5C"/>
              </a:buClr>
              <a:buSzPts val="1150"/>
              <a:buFont typeface="Calibri"/>
              <a:buNone/>
            </a:pPr>
            <a:r>
              <a:rPr b="1" i="0" lang="en-US" sz="1150" u="none" cap="none" strike="noStrike">
                <a:solidFill>
                  <a:srgbClr val="1D2A5C"/>
                </a:solidFill>
                <a:latin typeface="Calibri"/>
                <a:ea typeface="Calibri"/>
                <a:cs typeface="Calibri"/>
                <a:sym typeface="Calibri"/>
              </a:rPr>
              <a:t>'NONE' is a finding</a:t>
            </a:r>
            <a:endParaRPr b="0" i="0" sz="1150" u="none" cap="none" strike="noStrike">
              <a:solidFill>
                <a:schemeClr val="dk1"/>
              </a:solidFill>
              <a:latin typeface="Calibri"/>
              <a:ea typeface="Calibri"/>
              <a:cs typeface="Calibri"/>
              <a:sym typeface="Calibri"/>
            </a:endParaRPr>
          </a:p>
        </p:txBody>
      </p:sp>
      <p:sp>
        <p:nvSpPr>
          <p:cNvPr id="1750" name="Google Shape;1750;p61"/>
          <p:cNvSpPr/>
          <p:nvPr/>
        </p:nvSpPr>
        <p:spPr>
          <a:xfrm>
            <a:off x="8430768" y="4302252"/>
            <a:ext cx="3145536" cy="688086"/>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5F6B7A"/>
              </a:buClr>
              <a:buSzPts val="1000"/>
              <a:buFont typeface="Calibri"/>
              <a:buNone/>
            </a:pPr>
            <a:r>
              <a:rPr b="0" i="0" lang="en-US" sz="1000" u="none" cap="none" strike="noStrike">
                <a:solidFill>
                  <a:srgbClr val="5F6B7A"/>
                </a:solidFill>
                <a:latin typeface="Calibri"/>
                <a:ea typeface="Calibri"/>
                <a:cs typeface="Calibri"/>
                <a:sym typeface="Calibri"/>
              </a:rPr>
              <a:t>No feasible band forces per-class thresholds or a data request (M5)</a:t>
            </a:r>
            <a:endParaRPr b="0" i="0" sz="1000" u="none" cap="none" strike="noStrike">
              <a:solidFill>
                <a:schemeClr val="dk1"/>
              </a:solidFill>
              <a:latin typeface="Calibri"/>
              <a:ea typeface="Calibri"/>
              <a:cs typeface="Calibri"/>
              <a:sym typeface="Calibri"/>
            </a:endParaRPr>
          </a:p>
        </p:txBody>
      </p:sp>
      <p:sp>
        <p:nvSpPr>
          <p:cNvPr id="1751" name="Google Shape;1751;p61"/>
          <p:cNvSpPr/>
          <p:nvPr/>
        </p:nvSpPr>
        <p:spPr>
          <a:xfrm>
            <a:off x="7973568" y="5264658"/>
            <a:ext cx="3712464" cy="1090422"/>
          </a:xfrm>
          <a:prstGeom prst="roundRect">
            <a:avLst>
              <a:gd fmla="val 5870" name="adj"/>
            </a:avLst>
          </a:prstGeom>
          <a:solidFill>
            <a:srgbClr val="F2F6F9"/>
          </a:solidFill>
          <a:ln cap="flat" cmpd="sng" w="12700">
            <a:solidFill>
              <a:srgbClr val="D9E2E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52" name="Google Shape;1752;p61"/>
          <p:cNvSpPr/>
          <p:nvPr/>
        </p:nvSpPr>
        <p:spPr>
          <a:xfrm>
            <a:off x="8101584" y="5383530"/>
            <a:ext cx="237744" cy="237744"/>
          </a:xfrm>
          <a:prstGeom prst="ellipse">
            <a:avLst/>
          </a:prstGeom>
          <a:solidFill>
            <a:srgbClr val="8DC63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53" name="Google Shape;1753;p61"/>
          <p:cNvSpPr/>
          <p:nvPr/>
        </p:nvSpPr>
        <p:spPr>
          <a:xfrm>
            <a:off x="8101584" y="5383530"/>
            <a:ext cx="237744" cy="23774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000"/>
              <a:buFont typeface="Calibri"/>
              <a:buNone/>
            </a:pPr>
            <a:r>
              <a:rPr b="1" i="0" lang="en-US" sz="1000" u="none" cap="none" strike="noStrike">
                <a:solidFill>
                  <a:srgbClr val="FFFFFF"/>
                </a:solidFill>
                <a:latin typeface="Calibri"/>
                <a:ea typeface="Calibri"/>
                <a:cs typeface="Calibri"/>
                <a:sym typeface="Calibri"/>
              </a:rPr>
              <a:t>4</a:t>
            </a:r>
            <a:endParaRPr b="0" i="0" sz="1000" u="none" cap="none" strike="noStrike">
              <a:solidFill>
                <a:schemeClr val="dk1"/>
              </a:solidFill>
              <a:latin typeface="Calibri"/>
              <a:ea typeface="Calibri"/>
              <a:cs typeface="Calibri"/>
              <a:sym typeface="Calibri"/>
            </a:endParaRPr>
          </a:p>
        </p:txBody>
      </p:sp>
      <p:sp>
        <p:nvSpPr>
          <p:cNvPr id="1754" name="Google Shape;1754;p61"/>
          <p:cNvSpPr/>
          <p:nvPr/>
        </p:nvSpPr>
        <p:spPr>
          <a:xfrm>
            <a:off x="8430768" y="5319522"/>
            <a:ext cx="3145536"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D2A5C"/>
              </a:buClr>
              <a:buSzPts val="1150"/>
              <a:buFont typeface="Calibri"/>
              <a:buNone/>
            </a:pPr>
            <a:r>
              <a:rPr b="1" i="0" lang="en-US" sz="1150" u="none" cap="none" strike="noStrike">
                <a:solidFill>
                  <a:srgbClr val="1D2A5C"/>
                </a:solidFill>
                <a:latin typeface="Calibri"/>
                <a:ea typeface="Calibri"/>
                <a:cs typeface="Calibri"/>
                <a:sym typeface="Calibri"/>
              </a:rPr>
              <a:t>mAP is not compliance</a:t>
            </a:r>
            <a:endParaRPr b="0" i="0" sz="1150" u="none" cap="none" strike="noStrike">
              <a:solidFill>
                <a:schemeClr val="dk1"/>
              </a:solidFill>
              <a:latin typeface="Calibri"/>
              <a:ea typeface="Calibri"/>
              <a:cs typeface="Calibri"/>
              <a:sym typeface="Calibri"/>
            </a:endParaRPr>
          </a:p>
        </p:txBody>
      </p:sp>
      <p:sp>
        <p:nvSpPr>
          <p:cNvPr id="1755" name="Google Shape;1755;p61"/>
          <p:cNvSpPr/>
          <p:nvPr/>
        </p:nvSpPr>
        <p:spPr>
          <a:xfrm>
            <a:off x="8430768" y="5593842"/>
            <a:ext cx="3145536" cy="688086"/>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5F6B7A"/>
              </a:buClr>
              <a:buSzPts val="1000"/>
              <a:buFont typeface="Calibri"/>
              <a:buNone/>
            </a:pPr>
            <a:r>
              <a:rPr b="0" i="0" lang="en-US" sz="1000" u="none" cap="none" strike="noStrike">
                <a:solidFill>
                  <a:srgbClr val="5F6B7A"/>
                </a:solidFill>
                <a:latin typeface="Calibri"/>
                <a:ea typeface="Calibri"/>
                <a:cs typeface="Calibri"/>
                <a:sym typeface="Calibri"/>
              </a:rPr>
              <a:t>'mAP 0.87' and 'the line meets its escape budget' are different claims</a:t>
            </a:r>
            <a:endParaRPr b="0" i="0" sz="1000" u="none" cap="none" strike="noStrike">
              <a:solidFill>
                <a:schemeClr val="dk1"/>
              </a:solidFill>
              <a:latin typeface="Calibri"/>
              <a:ea typeface="Calibri"/>
              <a:cs typeface="Calibri"/>
              <a:sym typeface="Calibri"/>
            </a:endParaRPr>
          </a:p>
        </p:txBody>
      </p:sp>
    </p:spTree>
  </p:cSld>
  <p:clrMapOvr>
    <a:masterClrMapping/>
  </p:clrMapOvr>
</p:sld>
</file>

<file path=ppt/slides/slide6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760" name="Shape 1760"/>
        <p:cNvGrpSpPr/>
        <p:nvPr/>
      </p:nvGrpSpPr>
      <p:grpSpPr>
        <a:xfrm>
          <a:off x="0" y="0"/>
          <a:ext cx="0" cy="0"/>
          <a:chOff x="0" y="0"/>
          <a:chExt cx="0" cy="0"/>
        </a:xfrm>
      </p:grpSpPr>
      <p:sp>
        <p:nvSpPr>
          <p:cNvPr id="1761" name="Google Shape;1761;p62"/>
          <p:cNvSpPr/>
          <p:nvPr/>
        </p:nvSpPr>
        <p:spPr>
          <a:xfrm>
            <a:off x="502920" y="274320"/>
            <a:ext cx="9646920" cy="56692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D2A5C"/>
              </a:buClr>
              <a:buSzPts val="2700"/>
              <a:buFont typeface="Calibri"/>
              <a:buNone/>
            </a:pPr>
            <a:r>
              <a:rPr b="1" i="0" lang="en-US" sz="2700" u="none" cap="none" strike="noStrike">
                <a:solidFill>
                  <a:srgbClr val="1D2A5C"/>
                </a:solidFill>
                <a:latin typeface="Calibri"/>
                <a:ea typeface="Calibri"/>
                <a:cs typeface="Calibri"/>
                <a:sym typeface="Calibri"/>
              </a:rPr>
              <a:t>Lab 3 — Train the Defect Detector</a:t>
            </a:r>
            <a:endParaRPr b="0" i="0" sz="2700" u="none" cap="none" strike="noStrike">
              <a:solidFill>
                <a:schemeClr val="dk1"/>
              </a:solidFill>
              <a:latin typeface="Calibri"/>
              <a:ea typeface="Calibri"/>
              <a:cs typeface="Calibri"/>
              <a:sym typeface="Calibri"/>
            </a:endParaRPr>
          </a:p>
        </p:txBody>
      </p:sp>
      <p:sp>
        <p:nvSpPr>
          <p:cNvPr id="1762" name="Google Shape;1762;p62"/>
          <p:cNvSpPr/>
          <p:nvPr/>
        </p:nvSpPr>
        <p:spPr>
          <a:xfrm>
            <a:off x="502920" y="859536"/>
            <a:ext cx="9646920" cy="31089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F6B7A"/>
              </a:buClr>
              <a:buSzPts val="1250"/>
              <a:buFont typeface="Arial"/>
              <a:buNone/>
            </a:pPr>
            <a:r>
              <a:rPr b="0" i="0" lang="en-US" sz="1250" u="none" cap="none" strike="noStrike">
                <a:solidFill>
                  <a:srgbClr val="5F6B7A"/>
                </a:solidFill>
                <a:latin typeface="Arial"/>
                <a:ea typeface="Arial"/>
                <a:cs typeface="Arial"/>
                <a:sym typeface="Arial"/>
              </a:rPr>
              <a:t>المختبر 3 — تدريب كاشف العيوب</a:t>
            </a:r>
            <a:endParaRPr b="0" i="0" sz="1250" u="none" cap="none" strike="noStrike">
              <a:solidFill>
                <a:schemeClr val="dk1"/>
              </a:solidFill>
              <a:latin typeface="Calibri"/>
              <a:ea typeface="Calibri"/>
              <a:cs typeface="Calibri"/>
              <a:sym typeface="Calibri"/>
            </a:endParaRPr>
          </a:p>
        </p:txBody>
      </p:sp>
      <p:pic>
        <p:nvPicPr>
          <p:cNvPr descr="/sessions/blissful-determined-ritchie/build/assets/sdaia_logo.png" id="1763" name="Google Shape;1763;p62"/>
          <p:cNvPicPr preferRelativeResize="0"/>
          <p:nvPr/>
        </p:nvPicPr>
        <p:blipFill rotWithShape="1">
          <a:blip r:embed="rId3">
            <a:alphaModFix/>
          </a:blip>
          <a:srcRect b="0" l="0" r="0" t="0"/>
          <a:stretch/>
        </p:blipFill>
        <p:spPr>
          <a:xfrm>
            <a:off x="10625328" y="310896"/>
            <a:ext cx="1078992" cy="264111"/>
          </a:xfrm>
          <a:prstGeom prst="rect">
            <a:avLst/>
          </a:prstGeom>
          <a:noFill/>
          <a:ln>
            <a:noFill/>
          </a:ln>
        </p:spPr>
      </p:pic>
      <p:sp>
        <p:nvSpPr>
          <p:cNvPr id="1764" name="Google Shape;1764;p62"/>
          <p:cNvSpPr/>
          <p:nvPr/>
        </p:nvSpPr>
        <p:spPr>
          <a:xfrm>
            <a:off x="502920" y="6528816"/>
            <a:ext cx="8686800"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A79D"/>
              </a:buClr>
              <a:buSzPts val="800"/>
              <a:buFont typeface="Calibri"/>
              <a:buNone/>
            </a:pPr>
            <a:r>
              <a:rPr b="1" i="0" lang="en-US" sz="800" u="none" cap="none" strike="noStrike">
                <a:solidFill>
                  <a:srgbClr val="00A79D"/>
                </a:solidFill>
                <a:latin typeface="Calibri"/>
                <a:ea typeface="Calibri"/>
                <a:cs typeface="Calibri"/>
                <a:sym typeface="Calibri"/>
              </a:rPr>
              <a:t>MODULE 3 · LAB   </a:t>
            </a:r>
            <a:r>
              <a:rPr b="0" i="0" lang="en-US" sz="800" u="none" cap="none" strike="noStrike">
                <a:solidFill>
                  <a:srgbClr val="8A96A6"/>
                </a:solidFill>
                <a:latin typeface="Calibri"/>
                <a:ea typeface="Calibri"/>
                <a:cs typeface="Calibri"/>
                <a:sym typeface="Calibri"/>
              </a:rPr>
              <a:t>SDA-AIE-212 · Computer Vision Systems Development</a:t>
            </a:r>
            <a:endParaRPr b="0" i="0" sz="800" u="none" cap="none" strike="noStrike">
              <a:solidFill>
                <a:schemeClr val="dk1"/>
              </a:solidFill>
              <a:latin typeface="Calibri"/>
              <a:ea typeface="Calibri"/>
              <a:cs typeface="Calibri"/>
              <a:sym typeface="Calibri"/>
            </a:endParaRPr>
          </a:p>
        </p:txBody>
      </p:sp>
      <p:sp>
        <p:nvSpPr>
          <p:cNvPr id="1765" name="Google Shape;1765;p62"/>
          <p:cNvSpPr/>
          <p:nvPr/>
        </p:nvSpPr>
        <p:spPr>
          <a:xfrm>
            <a:off x="11292840" y="6528816"/>
            <a:ext cx="411480" cy="219456"/>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8A96A6"/>
              </a:buClr>
              <a:buSzPts val="900"/>
              <a:buFont typeface="Calibri"/>
              <a:buNone/>
            </a:pPr>
            <a:r>
              <a:rPr b="0" i="0" lang="en-US" sz="900" u="none" cap="none" strike="noStrike">
                <a:solidFill>
                  <a:srgbClr val="8A96A6"/>
                </a:solidFill>
                <a:latin typeface="Calibri"/>
                <a:ea typeface="Calibri"/>
                <a:cs typeface="Calibri"/>
                <a:sym typeface="Calibri"/>
              </a:rPr>
              <a:t>62</a:t>
            </a:r>
            <a:endParaRPr b="0" i="0" sz="900" u="none" cap="none" strike="noStrike">
              <a:solidFill>
                <a:schemeClr val="dk1"/>
              </a:solidFill>
              <a:latin typeface="Calibri"/>
              <a:ea typeface="Calibri"/>
              <a:cs typeface="Calibri"/>
              <a:sym typeface="Calibri"/>
            </a:endParaRPr>
          </a:p>
        </p:txBody>
      </p:sp>
      <p:sp>
        <p:nvSpPr>
          <p:cNvPr id="1766" name="Google Shape;1766;p62"/>
          <p:cNvSpPr/>
          <p:nvPr/>
        </p:nvSpPr>
        <p:spPr>
          <a:xfrm>
            <a:off x="502920" y="1389888"/>
            <a:ext cx="5806440" cy="932688"/>
          </a:xfrm>
          <a:prstGeom prst="roundRect">
            <a:avLst>
              <a:gd fmla="val 7843" name="adj"/>
            </a:avLst>
          </a:prstGeom>
          <a:solidFill>
            <a:srgbClr val="E9F6F5"/>
          </a:solidFill>
          <a:ln cap="flat" cmpd="sng" w="12700">
            <a:solidFill>
              <a:srgbClr val="00A79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67" name="Google Shape;1767;p62"/>
          <p:cNvSpPr/>
          <p:nvPr/>
        </p:nvSpPr>
        <p:spPr>
          <a:xfrm>
            <a:off x="649224" y="1463040"/>
            <a:ext cx="5532120"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A79D"/>
              </a:buClr>
              <a:buSzPts val="900"/>
              <a:buFont typeface="Calibri"/>
              <a:buNone/>
            </a:pPr>
            <a:r>
              <a:rPr b="1" i="0" lang="en-US" sz="900" u="none" cap="none" strike="noStrike">
                <a:solidFill>
                  <a:srgbClr val="00A79D"/>
                </a:solidFill>
                <a:latin typeface="Calibri"/>
                <a:ea typeface="Calibri"/>
                <a:cs typeface="Calibri"/>
                <a:sym typeface="Calibri"/>
              </a:rPr>
              <a:t>OBJECTIVE</a:t>
            </a:r>
            <a:endParaRPr b="0" i="0" sz="900" u="none" cap="none" strike="noStrike">
              <a:solidFill>
                <a:schemeClr val="dk1"/>
              </a:solidFill>
              <a:latin typeface="Calibri"/>
              <a:ea typeface="Calibri"/>
              <a:cs typeface="Calibri"/>
              <a:sym typeface="Calibri"/>
            </a:endParaRPr>
          </a:p>
        </p:txBody>
      </p:sp>
      <p:sp>
        <p:nvSpPr>
          <p:cNvPr id="1768" name="Google Shape;1768;p62"/>
          <p:cNvSpPr/>
          <p:nvPr/>
        </p:nvSpPr>
        <p:spPr>
          <a:xfrm>
            <a:off x="649224" y="1682496"/>
            <a:ext cx="5532120" cy="585216"/>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23293B"/>
              </a:buClr>
              <a:buSzPts val="1050"/>
              <a:buFont typeface="Calibri"/>
              <a:buNone/>
            </a:pPr>
            <a:r>
              <a:rPr b="0" i="0" lang="en-US" sz="1050" u="none" cap="none" strike="noStrike">
                <a:solidFill>
                  <a:srgbClr val="23293B"/>
                </a:solidFill>
                <a:latin typeface="Calibri"/>
                <a:ea typeface="Calibri"/>
                <a:cs typeface="Calibri"/>
                <a:sym typeface="Calibri"/>
              </a:rPr>
              <a:t>Convert the box manifest to YOLO format, fine-tune YOLO11s to mAP@0.5 ≥ 0.85, and derive a defensible operating point</a:t>
            </a:r>
            <a:endParaRPr b="0" i="0" sz="1050" u="none" cap="none" strike="noStrike">
              <a:solidFill>
                <a:schemeClr val="dk1"/>
              </a:solidFill>
              <a:latin typeface="Calibri"/>
              <a:ea typeface="Calibri"/>
              <a:cs typeface="Calibri"/>
              <a:sym typeface="Calibri"/>
            </a:endParaRPr>
          </a:p>
        </p:txBody>
      </p:sp>
      <p:sp>
        <p:nvSpPr>
          <p:cNvPr id="1769" name="Google Shape;1769;p62"/>
          <p:cNvSpPr/>
          <p:nvPr/>
        </p:nvSpPr>
        <p:spPr>
          <a:xfrm>
            <a:off x="6510528" y="1389888"/>
            <a:ext cx="1600200" cy="932688"/>
          </a:xfrm>
          <a:prstGeom prst="roundRect">
            <a:avLst>
              <a:gd fmla="val 7843" name="adj"/>
            </a:avLst>
          </a:prstGeom>
          <a:solidFill>
            <a:srgbClr val="F2F6F9"/>
          </a:solidFill>
          <a:ln cap="flat" cmpd="sng" w="12700">
            <a:solidFill>
              <a:srgbClr val="D9E2E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0" name="Google Shape;1770;p62"/>
          <p:cNvSpPr/>
          <p:nvPr/>
        </p:nvSpPr>
        <p:spPr>
          <a:xfrm>
            <a:off x="6656832" y="1463040"/>
            <a:ext cx="1325880"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A79D"/>
              </a:buClr>
              <a:buSzPts val="900"/>
              <a:buFont typeface="Calibri"/>
              <a:buNone/>
            </a:pPr>
            <a:r>
              <a:rPr b="1" i="0" lang="en-US" sz="900" u="none" cap="none" strike="noStrike">
                <a:solidFill>
                  <a:srgbClr val="00A79D"/>
                </a:solidFill>
                <a:latin typeface="Calibri"/>
                <a:ea typeface="Calibri"/>
                <a:cs typeface="Calibri"/>
                <a:sym typeface="Calibri"/>
              </a:rPr>
              <a:t>DURATION</a:t>
            </a:r>
            <a:endParaRPr b="0" i="0" sz="900" u="none" cap="none" strike="noStrike">
              <a:solidFill>
                <a:schemeClr val="dk1"/>
              </a:solidFill>
              <a:latin typeface="Calibri"/>
              <a:ea typeface="Calibri"/>
              <a:cs typeface="Calibri"/>
              <a:sym typeface="Calibri"/>
            </a:endParaRPr>
          </a:p>
        </p:txBody>
      </p:sp>
      <p:sp>
        <p:nvSpPr>
          <p:cNvPr id="1771" name="Google Shape;1771;p62"/>
          <p:cNvSpPr/>
          <p:nvPr/>
        </p:nvSpPr>
        <p:spPr>
          <a:xfrm>
            <a:off x="6656832" y="1682496"/>
            <a:ext cx="1325880" cy="585216"/>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23293B"/>
              </a:buClr>
              <a:buSzPts val="1050"/>
              <a:buFont typeface="Calibri"/>
              <a:buNone/>
            </a:pPr>
            <a:r>
              <a:rPr b="0" i="0" lang="en-US" sz="1050" u="none" cap="none" strike="noStrike">
                <a:solidFill>
                  <a:srgbClr val="23293B"/>
                </a:solidFill>
                <a:latin typeface="Calibri"/>
                <a:ea typeface="Calibri"/>
                <a:cs typeface="Calibri"/>
                <a:sym typeface="Calibri"/>
              </a:rPr>
              <a:t>50 minutes</a:t>
            </a:r>
            <a:endParaRPr b="0" i="0" sz="1050" u="none" cap="none" strike="noStrike">
              <a:solidFill>
                <a:schemeClr val="dk1"/>
              </a:solidFill>
              <a:latin typeface="Calibri"/>
              <a:ea typeface="Calibri"/>
              <a:cs typeface="Calibri"/>
              <a:sym typeface="Calibri"/>
            </a:endParaRPr>
          </a:p>
        </p:txBody>
      </p:sp>
      <p:sp>
        <p:nvSpPr>
          <p:cNvPr id="1772" name="Google Shape;1772;p62"/>
          <p:cNvSpPr/>
          <p:nvPr/>
        </p:nvSpPr>
        <p:spPr>
          <a:xfrm>
            <a:off x="8311896" y="1389888"/>
            <a:ext cx="3383280" cy="932688"/>
          </a:xfrm>
          <a:prstGeom prst="roundRect">
            <a:avLst>
              <a:gd fmla="val 7843" name="adj"/>
            </a:avLst>
          </a:prstGeom>
          <a:solidFill>
            <a:srgbClr val="F2F6F9"/>
          </a:solidFill>
          <a:ln cap="flat" cmpd="sng" w="12700">
            <a:solidFill>
              <a:srgbClr val="D9E2E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3" name="Google Shape;1773;p62"/>
          <p:cNvSpPr/>
          <p:nvPr/>
        </p:nvSpPr>
        <p:spPr>
          <a:xfrm>
            <a:off x="8458200" y="1463040"/>
            <a:ext cx="3108960"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A79D"/>
              </a:buClr>
              <a:buSzPts val="900"/>
              <a:buFont typeface="Calibri"/>
              <a:buNone/>
            </a:pPr>
            <a:r>
              <a:rPr b="1" i="0" lang="en-US" sz="900" u="none" cap="none" strike="noStrike">
                <a:solidFill>
                  <a:srgbClr val="00A79D"/>
                </a:solidFill>
                <a:latin typeface="Calibri"/>
                <a:ea typeface="Calibri"/>
                <a:cs typeface="Calibri"/>
                <a:sym typeface="Calibri"/>
              </a:rPr>
              <a:t>SETUP</a:t>
            </a:r>
            <a:endParaRPr b="0" i="0" sz="900" u="none" cap="none" strike="noStrike">
              <a:solidFill>
                <a:schemeClr val="dk1"/>
              </a:solidFill>
              <a:latin typeface="Calibri"/>
              <a:ea typeface="Calibri"/>
              <a:cs typeface="Calibri"/>
              <a:sym typeface="Calibri"/>
            </a:endParaRPr>
          </a:p>
        </p:txBody>
      </p:sp>
      <p:sp>
        <p:nvSpPr>
          <p:cNvPr id="1774" name="Google Shape;1774;p62"/>
          <p:cNvSpPr/>
          <p:nvPr/>
        </p:nvSpPr>
        <p:spPr>
          <a:xfrm>
            <a:off x="8458200" y="1682496"/>
            <a:ext cx="3108960" cy="585216"/>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23293B"/>
              </a:buClr>
              <a:buSzPts val="1050"/>
              <a:buFont typeface="Calibri"/>
              <a:buNone/>
            </a:pPr>
            <a:r>
              <a:rPr b="0" i="0" lang="en-US" sz="1050" u="none" cap="none" strike="noStrike">
                <a:solidFill>
                  <a:srgbClr val="23293B"/>
                </a:solidFill>
                <a:latin typeface="Calibri"/>
                <a:ea typeface="Calibri"/>
                <a:cs typeface="Calibri"/>
                <a:sym typeface="Calibri"/>
              </a:rPr>
              <a:t>Ultralytics ≥ 8.3; git checkout lab3-start; GPU (CPU: imgsz=320, 12 epochs)</a:t>
            </a:r>
            <a:endParaRPr b="0" i="0" sz="1050" u="none" cap="none" strike="noStrike">
              <a:solidFill>
                <a:schemeClr val="dk1"/>
              </a:solidFill>
              <a:latin typeface="Calibri"/>
              <a:ea typeface="Calibri"/>
              <a:cs typeface="Calibri"/>
              <a:sym typeface="Calibri"/>
            </a:endParaRPr>
          </a:p>
        </p:txBody>
      </p:sp>
      <p:sp>
        <p:nvSpPr>
          <p:cNvPr id="1775" name="Google Shape;1775;p62"/>
          <p:cNvSpPr/>
          <p:nvPr/>
        </p:nvSpPr>
        <p:spPr>
          <a:xfrm>
            <a:off x="502920" y="2661666"/>
            <a:ext cx="274320" cy="274320"/>
          </a:xfrm>
          <a:prstGeom prst="ellipse">
            <a:avLst/>
          </a:prstGeom>
          <a:solidFill>
            <a:srgbClr val="1D2A5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6" name="Google Shape;1776;p62"/>
          <p:cNvSpPr/>
          <p:nvPr/>
        </p:nvSpPr>
        <p:spPr>
          <a:xfrm>
            <a:off x="502920" y="2661666"/>
            <a:ext cx="274320" cy="2743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100"/>
              <a:buFont typeface="Calibri"/>
              <a:buNone/>
            </a:pPr>
            <a:r>
              <a:rPr b="1" i="0" lang="en-US" sz="1100" u="none" cap="none" strike="noStrike">
                <a:solidFill>
                  <a:srgbClr val="FFFFFF"/>
                </a:solidFill>
                <a:latin typeface="Calibri"/>
                <a:ea typeface="Calibri"/>
                <a:cs typeface="Calibri"/>
                <a:sym typeface="Calibri"/>
              </a:rPr>
              <a:t>1</a:t>
            </a:r>
            <a:endParaRPr b="0" i="0" sz="1100" u="none" cap="none" strike="noStrike">
              <a:solidFill>
                <a:schemeClr val="dk1"/>
              </a:solidFill>
              <a:latin typeface="Calibri"/>
              <a:ea typeface="Calibri"/>
              <a:cs typeface="Calibri"/>
              <a:sym typeface="Calibri"/>
            </a:endParaRPr>
          </a:p>
        </p:txBody>
      </p:sp>
      <p:sp>
        <p:nvSpPr>
          <p:cNvPr id="1777" name="Google Shape;1777;p62"/>
          <p:cNvSpPr/>
          <p:nvPr/>
        </p:nvSpPr>
        <p:spPr>
          <a:xfrm>
            <a:off x="886968" y="2661666"/>
            <a:ext cx="658368" cy="274320"/>
          </a:xfrm>
          <a:prstGeom prst="roundRect">
            <a:avLst>
              <a:gd fmla="val 50000" name="adj"/>
            </a:avLst>
          </a:prstGeom>
          <a:solidFill>
            <a:srgbClr val="E9F6F5"/>
          </a:solidFill>
          <a:ln cap="flat" cmpd="sng" w="9525">
            <a:solidFill>
              <a:srgbClr val="00A79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8" name="Google Shape;1778;p62"/>
          <p:cNvSpPr/>
          <p:nvPr/>
        </p:nvSpPr>
        <p:spPr>
          <a:xfrm>
            <a:off x="886968" y="2661666"/>
            <a:ext cx="658368" cy="2743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56A63"/>
              </a:buClr>
              <a:buSzPts val="900"/>
              <a:buFont typeface="Calibri"/>
              <a:buNone/>
            </a:pPr>
            <a:r>
              <a:rPr b="1" i="0" lang="en-US" sz="900" u="none" cap="none" strike="noStrike">
                <a:solidFill>
                  <a:srgbClr val="056A63"/>
                </a:solidFill>
                <a:latin typeface="Calibri"/>
                <a:ea typeface="Calibri"/>
                <a:cs typeface="Calibri"/>
                <a:sym typeface="Calibri"/>
              </a:rPr>
              <a:t>8 min</a:t>
            </a:r>
            <a:endParaRPr b="0" i="0" sz="900" u="none" cap="none" strike="noStrike">
              <a:solidFill>
                <a:schemeClr val="dk1"/>
              </a:solidFill>
              <a:latin typeface="Calibri"/>
              <a:ea typeface="Calibri"/>
              <a:cs typeface="Calibri"/>
              <a:sym typeface="Calibri"/>
            </a:endParaRPr>
          </a:p>
        </p:txBody>
      </p:sp>
      <p:sp>
        <p:nvSpPr>
          <p:cNvPr id="1779" name="Google Shape;1779;p62"/>
          <p:cNvSpPr/>
          <p:nvPr/>
        </p:nvSpPr>
        <p:spPr>
          <a:xfrm>
            <a:off x="1673352" y="2523744"/>
            <a:ext cx="5733288" cy="5867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3293B"/>
              </a:buClr>
              <a:buSzPts val="1150"/>
              <a:buFont typeface="Calibri"/>
              <a:buNone/>
            </a:pPr>
            <a:r>
              <a:rPr b="0" i="0" lang="en-US" sz="1150" u="none" cap="none" strike="noStrike">
                <a:solidFill>
                  <a:srgbClr val="23293B"/>
                </a:solidFill>
                <a:latin typeface="Calibri"/>
                <a:ea typeface="Calibri"/>
                <a:cs typeface="Calibri"/>
                <a:sym typeface="Calibri"/>
              </a:rPr>
              <a:t>Run manifest_to_yolo.py; fix the 3 planted bad rows — the data, not the assertions</a:t>
            </a:r>
            <a:endParaRPr b="0" i="0" sz="1150" u="none" cap="none" strike="noStrike">
              <a:solidFill>
                <a:schemeClr val="dk1"/>
              </a:solidFill>
              <a:latin typeface="Calibri"/>
              <a:ea typeface="Calibri"/>
              <a:cs typeface="Calibri"/>
              <a:sym typeface="Calibri"/>
            </a:endParaRPr>
          </a:p>
        </p:txBody>
      </p:sp>
      <p:sp>
        <p:nvSpPr>
          <p:cNvPr id="1780" name="Google Shape;1780;p62"/>
          <p:cNvSpPr/>
          <p:nvPr/>
        </p:nvSpPr>
        <p:spPr>
          <a:xfrm>
            <a:off x="502920" y="3303270"/>
            <a:ext cx="274320" cy="274320"/>
          </a:xfrm>
          <a:prstGeom prst="ellipse">
            <a:avLst/>
          </a:prstGeom>
          <a:solidFill>
            <a:srgbClr val="1D2A5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81" name="Google Shape;1781;p62"/>
          <p:cNvSpPr/>
          <p:nvPr/>
        </p:nvSpPr>
        <p:spPr>
          <a:xfrm>
            <a:off x="502920" y="3303270"/>
            <a:ext cx="274320" cy="2743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100"/>
              <a:buFont typeface="Calibri"/>
              <a:buNone/>
            </a:pPr>
            <a:r>
              <a:rPr b="1" i="0" lang="en-US" sz="1100" u="none" cap="none" strike="noStrike">
                <a:solidFill>
                  <a:srgbClr val="FFFFFF"/>
                </a:solidFill>
                <a:latin typeface="Calibri"/>
                <a:ea typeface="Calibri"/>
                <a:cs typeface="Calibri"/>
                <a:sym typeface="Calibri"/>
              </a:rPr>
              <a:t>2</a:t>
            </a:r>
            <a:endParaRPr b="0" i="0" sz="1100" u="none" cap="none" strike="noStrike">
              <a:solidFill>
                <a:schemeClr val="dk1"/>
              </a:solidFill>
              <a:latin typeface="Calibri"/>
              <a:ea typeface="Calibri"/>
              <a:cs typeface="Calibri"/>
              <a:sym typeface="Calibri"/>
            </a:endParaRPr>
          </a:p>
        </p:txBody>
      </p:sp>
      <p:sp>
        <p:nvSpPr>
          <p:cNvPr id="1782" name="Google Shape;1782;p62"/>
          <p:cNvSpPr/>
          <p:nvPr/>
        </p:nvSpPr>
        <p:spPr>
          <a:xfrm>
            <a:off x="886968" y="3303270"/>
            <a:ext cx="658368" cy="274320"/>
          </a:xfrm>
          <a:prstGeom prst="roundRect">
            <a:avLst>
              <a:gd fmla="val 50000" name="adj"/>
            </a:avLst>
          </a:prstGeom>
          <a:solidFill>
            <a:srgbClr val="E9F6F5"/>
          </a:solidFill>
          <a:ln cap="flat" cmpd="sng" w="9525">
            <a:solidFill>
              <a:srgbClr val="00A79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83" name="Google Shape;1783;p62"/>
          <p:cNvSpPr/>
          <p:nvPr/>
        </p:nvSpPr>
        <p:spPr>
          <a:xfrm>
            <a:off x="886968" y="3303270"/>
            <a:ext cx="658368" cy="2743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56A63"/>
              </a:buClr>
              <a:buSzPts val="900"/>
              <a:buFont typeface="Calibri"/>
              <a:buNone/>
            </a:pPr>
            <a:r>
              <a:rPr b="1" i="0" lang="en-US" sz="900" u="none" cap="none" strike="noStrike">
                <a:solidFill>
                  <a:srgbClr val="056A63"/>
                </a:solidFill>
                <a:latin typeface="Calibri"/>
                <a:ea typeface="Calibri"/>
                <a:cs typeface="Calibri"/>
                <a:sym typeface="Calibri"/>
              </a:rPr>
              <a:t>5 min</a:t>
            </a:r>
            <a:endParaRPr b="0" i="0" sz="900" u="none" cap="none" strike="noStrike">
              <a:solidFill>
                <a:schemeClr val="dk1"/>
              </a:solidFill>
              <a:latin typeface="Calibri"/>
              <a:ea typeface="Calibri"/>
              <a:cs typeface="Calibri"/>
              <a:sym typeface="Calibri"/>
            </a:endParaRPr>
          </a:p>
        </p:txBody>
      </p:sp>
      <p:sp>
        <p:nvSpPr>
          <p:cNvPr id="1784" name="Google Shape;1784;p62"/>
          <p:cNvSpPr/>
          <p:nvPr/>
        </p:nvSpPr>
        <p:spPr>
          <a:xfrm>
            <a:off x="1673352" y="3165348"/>
            <a:ext cx="5733288" cy="5867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3293B"/>
              </a:buClr>
              <a:buSzPts val="1150"/>
              <a:buFont typeface="Calibri"/>
              <a:buNone/>
            </a:pPr>
            <a:r>
              <a:rPr b="0" i="0" lang="en-US" sz="1150" u="none" cap="none" strike="noStrike">
                <a:solidFill>
                  <a:srgbClr val="23293B"/>
                </a:solidFill>
                <a:latin typeface="Calibri"/>
                <a:ea typeface="Calibri"/>
                <a:cs typeface="Calibri"/>
                <a:sym typeface="Calibri"/>
              </a:rPr>
              <a:t>Render 20 training frames with boxes drawn; confirm alignment with your pair</a:t>
            </a:r>
            <a:endParaRPr b="0" i="0" sz="1150" u="none" cap="none" strike="noStrike">
              <a:solidFill>
                <a:schemeClr val="dk1"/>
              </a:solidFill>
              <a:latin typeface="Calibri"/>
              <a:ea typeface="Calibri"/>
              <a:cs typeface="Calibri"/>
              <a:sym typeface="Calibri"/>
            </a:endParaRPr>
          </a:p>
        </p:txBody>
      </p:sp>
      <p:sp>
        <p:nvSpPr>
          <p:cNvPr id="1785" name="Google Shape;1785;p62"/>
          <p:cNvSpPr/>
          <p:nvPr/>
        </p:nvSpPr>
        <p:spPr>
          <a:xfrm>
            <a:off x="502920" y="3944874"/>
            <a:ext cx="274320" cy="274320"/>
          </a:xfrm>
          <a:prstGeom prst="ellipse">
            <a:avLst/>
          </a:prstGeom>
          <a:solidFill>
            <a:srgbClr val="1D2A5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86" name="Google Shape;1786;p62"/>
          <p:cNvSpPr/>
          <p:nvPr/>
        </p:nvSpPr>
        <p:spPr>
          <a:xfrm>
            <a:off x="502920" y="3944874"/>
            <a:ext cx="274320" cy="2743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100"/>
              <a:buFont typeface="Calibri"/>
              <a:buNone/>
            </a:pPr>
            <a:r>
              <a:rPr b="1" i="0" lang="en-US" sz="1100" u="none" cap="none" strike="noStrike">
                <a:solidFill>
                  <a:srgbClr val="FFFFFF"/>
                </a:solidFill>
                <a:latin typeface="Calibri"/>
                <a:ea typeface="Calibri"/>
                <a:cs typeface="Calibri"/>
                <a:sym typeface="Calibri"/>
              </a:rPr>
              <a:t>3</a:t>
            </a:r>
            <a:endParaRPr b="0" i="0" sz="1100" u="none" cap="none" strike="noStrike">
              <a:solidFill>
                <a:schemeClr val="dk1"/>
              </a:solidFill>
              <a:latin typeface="Calibri"/>
              <a:ea typeface="Calibri"/>
              <a:cs typeface="Calibri"/>
              <a:sym typeface="Calibri"/>
            </a:endParaRPr>
          </a:p>
        </p:txBody>
      </p:sp>
      <p:sp>
        <p:nvSpPr>
          <p:cNvPr id="1787" name="Google Shape;1787;p62"/>
          <p:cNvSpPr/>
          <p:nvPr/>
        </p:nvSpPr>
        <p:spPr>
          <a:xfrm>
            <a:off x="886968" y="3944874"/>
            <a:ext cx="658368" cy="274320"/>
          </a:xfrm>
          <a:prstGeom prst="roundRect">
            <a:avLst>
              <a:gd fmla="val 50000" name="adj"/>
            </a:avLst>
          </a:prstGeom>
          <a:solidFill>
            <a:srgbClr val="E9F6F5"/>
          </a:solidFill>
          <a:ln cap="flat" cmpd="sng" w="9525">
            <a:solidFill>
              <a:srgbClr val="00A79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88" name="Google Shape;1788;p62"/>
          <p:cNvSpPr/>
          <p:nvPr/>
        </p:nvSpPr>
        <p:spPr>
          <a:xfrm>
            <a:off x="886968" y="3944874"/>
            <a:ext cx="658368" cy="2743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56A63"/>
              </a:buClr>
              <a:buSzPts val="900"/>
              <a:buFont typeface="Calibri"/>
              <a:buNone/>
            </a:pPr>
            <a:r>
              <a:rPr b="1" i="0" lang="en-US" sz="900" u="none" cap="none" strike="noStrike">
                <a:solidFill>
                  <a:srgbClr val="056A63"/>
                </a:solidFill>
                <a:latin typeface="Calibri"/>
                <a:ea typeface="Calibri"/>
                <a:cs typeface="Calibri"/>
                <a:sym typeface="Calibri"/>
              </a:rPr>
              <a:t>15 min</a:t>
            </a:r>
            <a:endParaRPr b="0" i="0" sz="900" u="none" cap="none" strike="noStrike">
              <a:solidFill>
                <a:schemeClr val="dk1"/>
              </a:solidFill>
              <a:latin typeface="Calibri"/>
              <a:ea typeface="Calibri"/>
              <a:cs typeface="Calibri"/>
              <a:sym typeface="Calibri"/>
            </a:endParaRPr>
          </a:p>
        </p:txBody>
      </p:sp>
      <p:sp>
        <p:nvSpPr>
          <p:cNvPr id="1789" name="Google Shape;1789;p62"/>
          <p:cNvSpPr/>
          <p:nvPr/>
        </p:nvSpPr>
        <p:spPr>
          <a:xfrm>
            <a:off x="1673352" y="3806952"/>
            <a:ext cx="5733288" cy="5867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3293B"/>
              </a:buClr>
              <a:buSzPts val="1150"/>
              <a:buFont typeface="Calibri"/>
              <a:buNone/>
            </a:pPr>
            <a:r>
              <a:rPr b="0" i="0" lang="en-US" sz="1150" u="none" cap="none" strike="noStrike">
                <a:solidFill>
                  <a:srgbClr val="23293B"/>
                </a:solidFill>
                <a:latin typeface="Calibri"/>
                <a:ea typeface="Calibri"/>
                <a:cs typeface="Calibri"/>
                <a:sym typeface="Calibri"/>
              </a:rPr>
              <a:t>Train per train_detector.py; inspect mosaic batches, spot one impossible paste</a:t>
            </a:r>
            <a:endParaRPr b="0" i="0" sz="1150" u="none" cap="none" strike="noStrike">
              <a:solidFill>
                <a:schemeClr val="dk1"/>
              </a:solidFill>
              <a:latin typeface="Calibri"/>
              <a:ea typeface="Calibri"/>
              <a:cs typeface="Calibri"/>
              <a:sym typeface="Calibri"/>
            </a:endParaRPr>
          </a:p>
        </p:txBody>
      </p:sp>
      <p:sp>
        <p:nvSpPr>
          <p:cNvPr id="1790" name="Google Shape;1790;p62"/>
          <p:cNvSpPr/>
          <p:nvPr/>
        </p:nvSpPr>
        <p:spPr>
          <a:xfrm>
            <a:off x="502920" y="4586478"/>
            <a:ext cx="274320" cy="274320"/>
          </a:xfrm>
          <a:prstGeom prst="ellipse">
            <a:avLst/>
          </a:prstGeom>
          <a:solidFill>
            <a:srgbClr val="1D2A5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91" name="Google Shape;1791;p62"/>
          <p:cNvSpPr/>
          <p:nvPr/>
        </p:nvSpPr>
        <p:spPr>
          <a:xfrm>
            <a:off x="502920" y="4586478"/>
            <a:ext cx="274320" cy="2743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100"/>
              <a:buFont typeface="Calibri"/>
              <a:buNone/>
            </a:pPr>
            <a:r>
              <a:rPr b="1" i="0" lang="en-US" sz="1100" u="none" cap="none" strike="noStrike">
                <a:solidFill>
                  <a:srgbClr val="FFFFFF"/>
                </a:solidFill>
                <a:latin typeface="Calibri"/>
                <a:ea typeface="Calibri"/>
                <a:cs typeface="Calibri"/>
                <a:sym typeface="Calibri"/>
              </a:rPr>
              <a:t>4</a:t>
            </a:r>
            <a:endParaRPr b="0" i="0" sz="1100" u="none" cap="none" strike="noStrike">
              <a:solidFill>
                <a:schemeClr val="dk1"/>
              </a:solidFill>
              <a:latin typeface="Calibri"/>
              <a:ea typeface="Calibri"/>
              <a:cs typeface="Calibri"/>
              <a:sym typeface="Calibri"/>
            </a:endParaRPr>
          </a:p>
        </p:txBody>
      </p:sp>
      <p:sp>
        <p:nvSpPr>
          <p:cNvPr id="1792" name="Google Shape;1792;p62"/>
          <p:cNvSpPr/>
          <p:nvPr/>
        </p:nvSpPr>
        <p:spPr>
          <a:xfrm>
            <a:off x="886968" y="4586478"/>
            <a:ext cx="658368" cy="274320"/>
          </a:xfrm>
          <a:prstGeom prst="roundRect">
            <a:avLst>
              <a:gd fmla="val 50000" name="adj"/>
            </a:avLst>
          </a:prstGeom>
          <a:solidFill>
            <a:srgbClr val="E9F6F5"/>
          </a:solidFill>
          <a:ln cap="flat" cmpd="sng" w="9525">
            <a:solidFill>
              <a:srgbClr val="00A79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93" name="Google Shape;1793;p62"/>
          <p:cNvSpPr/>
          <p:nvPr/>
        </p:nvSpPr>
        <p:spPr>
          <a:xfrm>
            <a:off x="886968" y="4586478"/>
            <a:ext cx="658368" cy="2743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56A63"/>
              </a:buClr>
              <a:buSzPts val="900"/>
              <a:buFont typeface="Calibri"/>
              <a:buNone/>
            </a:pPr>
            <a:r>
              <a:rPr b="1" i="0" lang="en-US" sz="900" u="none" cap="none" strike="noStrike">
                <a:solidFill>
                  <a:srgbClr val="056A63"/>
                </a:solidFill>
                <a:latin typeface="Calibri"/>
                <a:ea typeface="Calibri"/>
                <a:cs typeface="Calibri"/>
                <a:sym typeface="Calibri"/>
              </a:rPr>
              <a:t>10 min</a:t>
            </a:r>
            <a:endParaRPr b="0" i="0" sz="900" u="none" cap="none" strike="noStrike">
              <a:solidFill>
                <a:schemeClr val="dk1"/>
              </a:solidFill>
              <a:latin typeface="Calibri"/>
              <a:ea typeface="Calibri"/>
              <a:cs typeface="Calibri"/>
              <a:sym typeface="Calibri"/>
            </a:endParaRPr>
          </a:p>
        </p:txBody>
      </p:sp>
      <p:sp>
        <p:nvSpPr>
          <p:cNvPr id="1794" name="Google Shape;1794;p62"/>
          <p:cNvSpPr/>
          <p:nvPr/>
        </p:nvSpPr>
        <p:spPr>
          <a:xfrm>
            <a:off x="1673352" y="4448556"/>
            <a:ext cx="5733288" cy="5867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3293B"/>
              </a:buClr>
              <a:buSzPts val="1150"/>
              <a:buFont typeface="Calibri"/>
              <a:buNone/>
            </a:pPr>
            <a:r>
              <a:rPr b="0" i="0" lang="en-US" sz="1150" u="none" cap="none" strike="noStrike">
                <a:solidFill>
                  <a:srgbClr val="23293B"/>
                </a:solidFill>
                <a:latin typeface="Calibri"/>
                <a:ea typeface="Calibri"/>
                <a:cs typeface="Calibri"/>
                <a:sym typeface="Calibri"/>
              </a:rPr>
              <a:t>Validate on frozen test split; record per-class mAP@0.5; diagnose weakest class</a:t>
            </a:r>
            <a:endParaRPr b="0" i="0" sz="1150" u="none" cap="none" strike="noStrike">
              <a:solidFill>
                <a:schemeClr val="dk1"/>
              </a:solidFill>
              <a:latin typeface="Calibri"/>
              <a:ea typeface="Calibri"/>
              <a:cs typeface="Calibri"/>
              <a:sym typeface="Calibri"/>
            </a:endParaRPr>
          </a:p>
        </p:txBody>
      </p:sp>
      <p:sp>
        <p:nvSpPr>
          <p:cNvPr id="1795" name="Google Shape;1795;p62"/>
          <p:cNvSpPr/>
          <p:nvPr/>
        </p:nvSpPr>
        <p:spPr>
          <a:xfrm>
            <a:off x="502920" y="5228082"/>
            <a:ext cx="274320" cy="274320"/>
          </a:xfrm>
          <a:prstGeom prst="ellipse">
            <a:avLst/>
          </a:prstGeom>
          <a:solidFill>
            <a:srgbClr val="1D2A5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96" name="Google Shape;1796;p62"/>
          <p:cNvSpPr/>
          <p:nvPr/>
        </p:nvSpPr>
        <p:spPr>
          <a:xfrm>
            <a:off x="502920" y="5228082"/>
            <a:ext cx="274320" cy="2743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100"/>
              <a:buFont typeface="Calibri"/>
              <a:buNone/>
            </a:pPr>
            <a:r>
              <a:rPr b="1" i="0" lang="en-US" sz="1100" u="none" cap="none" strike="noStrike">
                <a:solidFill>
                  <a:srgbClr val="FFFFFF"/>
                </a:solidFill>
                <a:latin typeface="Calibri"/>
                <a:ea typeface="Calibri"/>
                <a:cs typeface="Calibri"/>
                <a:sym typeface="Calibri"/>
              </a:rPr>
              <a:t>5</a:t>
            </a:r>
            <a:endParaRPr b="0" i="0" sz="1100" u="none" cap="none" strike="noStrike">
              <a:solidFill>
                <a:schemeClr val="dk1"/>
              </a:solidFill>
              <a:latin typeface="Calibri"/>
              <a:ea typeface="Calibri"/>
              <a:cs typeface="Calibri"/>
              <a:sym typeface="Calibri"/>
            </a:endParaRPr>
          </a:p>
        </p:txBody>
      </p:sp>
      <p:sp>
        <p:nvSpPr>
          <p:cNvPr id="1797" name="Google Shape;1797;p62"/>
          <p:cNvSpPr/>
          <p:nvPr/>
        </p:nvSpPr>
        <p:spPr>
          <a:xfrm>
            <a:off x="886968" y="5228082"/>
            <a:ext cx="658368" cy="274320"/>
          </a:xfrm>
          <a:prstGeom prst="roundRect">
            <a:avLst>
              <a:gd fmla="val 50000" name="adj"/>
            </a:avLst>
          </a:prstGeom>
          <a:solidFill>
            <a:srgbClr val="E9F6F5"/>
          </a:solidFill>
          <a:ln cap="flat" cmpd="sng" w="9525">
            <a:solidFill>
              <a:srgbClr val="00A79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98" name="Google Shape;1798;p62"/>
          <p:cNvSpPr/>
          <p:nvPr/>
        </p:nvSpPr>
        <p:spPr>
          <a:xfrm>
            <a:off x="886968" y="5228082"/>
            <a:ext cx="658368" cy="2743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56A63"/>
              </a:buClr>
              <a:buSzPts val="900"/>
              <a:buFont typeface="Calibri"/>
              <a:buNone/>
            </a:pPr>
            <a:r>
              <a:rPr b="1" i="0" lang="en-US" sz="900" u="none" cap="none" strike="noStrike">
                <a:solidFill>
                  <a:srgbClr val="056A63"/>
                </a:solidFill>
                <a:latin typeface="Calibri"/>
                <a:ea typeface="Calibri"/>
                <a:cs typeface="Calibri"/>
                <a:sym typeface="Calibri"/>
              </a:rPr>
              <a:t>10 min</a:t>
            </a:r>
            <a:endParaRPr b="0" i="0" sz="900" u="none" cap="none" strike="noStrike">
              <a:solidFill>
                <a:schemeClr val="dk1"/>
              </a:solidFill>
              <a:latin typeface="Calibri"/>
              <a:ea typeface="Calibri"/>
              <a:cs typeface="Calibri"/>
              <a:sym typeface="Calibri"/>
            </a:endParaRPr>
          </a:p>
        </p:txBody>
      </p:sp>
      <p:sp>
        <p:nvSpPr>
          <p:cNvPr id="1799" name="Google Shape;1799;p62"/>
          <p:cNvSpPr/>
          <p:nvPr/>
        </p:nvSpPr>
        <p:spPr>
          <a:xfrm>
            <a:off x="1673352" y="5090160"/>
            <a:ext cx="5733288" cy="5867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3293B"/>
              </a:buClr>
              <a:buSzPts val="1150"/>
              <a:buFont typeface="Calibri"/>
              <a:buNone/>
            </a:pPr>
            <a:r>
              <a:rPr b="0" i="0" lang="en-US" sz="1150" u="none" cap="none" strike="noStrike">
                <a:solidFill>
                  <a:srgbClr val="23293B"/>
                </a:solidFill>
                <a:latin typeface="Calibri"/>
                <a:ea typeface="Calibri"/>
                <a:cs typeface="Calibri"/>
                <a:sym typeface="Calibri"/>
              </a:rPr>
              <a:t>Sweep the operating point vs line spec; per-class thresholds if no single band</a:t>
            </a:r>
            <a:endParaRPr b="0" i="0" sz="1150" u="none" cap="none" strike="noStrike">
              <a:solidFill>
                <a:schemeClr val="dk1"/>
              </a:solidFill>
              <a:latin typeface="Calibri"/>
              <a:ea typeface="Calibri"/>
              <a:cs typeface="Calibri"/>
              <a:sym typeface="Calibri"/>
            </a:endParaRPr>
          </a:p>
        </p:txBody>
      </p:sp>
      <p:sp>
        <p:nvSpPr>
          <p:cNvPr id="1800" name="Google Shape;1800;p62"/>
          <p:cNvSpPr/>
          <p:nvPr/>
        </p:nvSpPr>
        <p:spPr>
          <a:xfrm>
            <a:off x="502920" y="5869686"/>
            <a:ext cx="274320" cy="274320"/>
          </a:xfrm>
          <a:prstGeom prst="ellipse">
            <a:avLst/>
          </a:prstGeom>
          <a:solidFill>
            <a:srgbClr val="1D2A5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1" name="Google Shape;1801;p62"/>
          <p:cNvSpPr/>
          <p:nvPr/>
        </p:nvSpPr>
        <p:spPr>
          <a:xfrm>
            <a:off x="502920" y="5869686"/>
            <a:ext cx="274320" cy="2743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100"/>
              <a:buFont typeface="Calibri"/>
              <a:buNone/>
            </a:pPr>
            <a:r>
              <a:rPr b="1" i="0" lang="en-US" sz="1100" u="none" cap="none" strike="noStrike">
                <a:solidFill>
                  <a:srgbClr val="FFFFFF"/>
                </a:solidFill>
                <a:latin typeface="Calibri"/>
                <a:ea typeface="Calibri"/>
                <a:cs typeface="Calibri"/>
                <a:sym typeface="Calibri"/>
              </a:rPr>
              <a:t>6</a:t>
            </a:r>
            <a:endParaRPr b="0" i="0" sz="1100" u="none" cap="none" strike="noStrike">
              <a:solidFill>
                <a:schemeClr val="dk1"/>
              </a:solidFill>
              <a:latin typeface="Calibri"/>
              <a:ea typeface="Calibri"/>
              <a:cs typeface="Calibri"/>
              <a:sym typeface="Calibri"/>
            </a:endParaRPr>
          </a:p>
        </p:txBody>
      </p:sp>
      <p:sp>
        <p:nvSpPr>
          <p:cNvPr id="1802" name="Google Shape;1802;p62"/>
          <p:cNvSpPr/>
          <p:nvPr/>
        </p:nvSpPr>
        <p:spPr>
          <a:xfrm>
            <a:off x="886968" y="5869686"/>
            <a:ext cx="658368" cy="274320"/>
          </a:xfrm>
          <a:prstGeom prst="roundRect">
            <a:avLst>
              <a:gd fmla="val 50000" name="adj"/>
            </a:avLst>
          </a:prstGeom>
          <a:solidFill>
            <a:srgbClr val="E9F6F5"/>
          </a:solidFill>
          <a:ln cap="flat" cmpd="sng" w="9525">
            <a:solidFill>
              <a:srgbClr val="00A79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3" name="Google Shape;1803;p62"/>
          <p:cNvSpPr/>
          <p:nvPr/>
        </p:nvSpPr>
        <p:spPr>
          <a:xfrm>
            <a:off x="886968" y="5869686"/>
            <a:ext cx="658368" cy="2743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56A63"/>
              </a:buClr>
              <a:buSzPts val="900"/>
              <a:buFont typeface="Calibri"/>
              <a:buNone/>
            </a:pPr>
            <a:r>
              <a:rPr b="1" i="0" lang="en-US" sz="900" u="none" cap="none" strike="noStrike">
                <a:solidFill>
                  <a:srgbClr val="056A63"/>
                </a:solidFill>
                <a:latin typeface="Calibri"/>
                <a:ea typeface="Calibri"/>
                <a:cs typeface="Calibri"/>
                <a:sym typeface="Calibri"/>
              </a:rPr>
              <a:t>2 min</a:t>
            </a:r>
            <a:endParaRPr b="0" i="0" sz="900" u="none" cap="none" strike="noStrike">
              <a:solidFill>
                <a:schemeClr val="dk1"/>
              </a:solidFill>
              <a:latin typeface="Calibri"/>
              <a:ea typeface="Calibri"/>
              <a:cs typeface="Calibri"/>
              <a:sym typeface="Calibri"/>
            </a:endParaRPr>
          </a:p>
        </p:txBody>
      </p:sp>
      <p:sp>
        <p:nvSpPr>
          <p:cNvPr id="1804" name="Google Shape;1804;p62"/>
          <p:cNvSpPr/>
          <p:nvPr/>
        </p:nvSpPr>
        <p:spPr>
          <a:xfrm>
            <a:off x="1673352" y="5731764"/>
            <a:ext cx="5733288" cy="5867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3293B"/>
              </a:buClr>
              <a:buSzPts val="1150"/>
              <a:buFont typeface="Calibri"/>
              <a:buNone/>
            </a:pPr>
            <a:r>
              <a:rPr b="0" i="0" lang="en-US" sz="1150" u="none" cap="none" strike="noStrike">
                <a:solidFill>
                  <a:srgbClr val="23293B"/>
                </a:solidFill>
                <a:latin typeface="Calibri"/>
                <a:ea typeface="Calibri"/>
                <a:cs typeface="Calibri"/>
                <a:sym typeface="Calibri"/>
              </a:rPr>
              <a:t>Commit: feat(detect): YOLO11s defect detector + operating point v1</a:t>
            </a:r>
            <a:endParaRPr b="0" i="0" sz="1150" u="none" cap="none" strike="noStrike">
              <a:solidFill>
                <a:schemeClr val="dk1"/>
              </a:solidFill>
              <a:latin typeface="Calibri"/>
              <a:ea typeface="Calibri"/>
              <a:cs typeface="Calibri"/>
              <a:sym typeface="Calibri"/>
            </a:endParaRPr>
          </a:p>
        </p:txBody>
      </p:sp>
      <p:sp>
        <p:nvSpPr>
          <p:cNvPr id="1805" name="Google Shape;1805;p62"/>
          <p:cNvSpPr/>
          <p:nvPr/>
        </p:nvSpPr>
        <p:spPr>
          <a:xfrm>
            <a:off x="7635240" y="2505456"/>
            <a:ext cx="4050792" cy="3849624"/>
          </a:xfrm>
          <a:prstGeom prst="roundRect">
            <a:avLst>
              <a:gd fmla="val 2375" name="adj"/>
            </a:avLst>
          </a:prstGeom>
          <a:solidFill>
            <a:srgbClr val="0F172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6" name="Google Shape;1806;p62"/>
          <p:cNvSpPr/>
          <p:nvPr/>
        </p:nvSpPr>
        <p:spPr>
          <a:xfrm>
            <a:off x="7818120" y="2615184"/>
            <a:ext cx="3685032" cy="2377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EEAD4"/>
              </a:buClr>
              <a:buSzPts val="900"/>
              <a:buFont typeface="Calibri"/>
              <a:buNone/>
            </a:pPr>
            <a:r>
              <a:rPr b="1" i="0" lang="en-US" sz="900" u="none" cap="none" strike="noStrike">
                <a:solidFill>
                  <a:srgbClr val="5EEAD4"/>
                </a:solidFill>
                <a:latin typeface="Calibri"/>
                <a:ea typeface="Calibri"/>
                <a:cs typeface="Calibri"/>
                <a:sym typeface="Calibri"/>
              </a:rPr>
              <a:t>EXPECTED OUTPUT</a:t>
            </a:r>
            <a:endParaRPr b="0" i="0" sz="900" u="none" cap="none" strike="noStrike">
              <a:solidFill>
                <a:schemeClr val="dk1"/>
              </a:solidFill>
              <a:latin typeface="Calibri"/>
              <a:ea typeface="Calibri"/>
              <a:cs typeface="Calibri"/>
              <a:sym typeface="Calibri"/>
            </a:endParaRPr>
          </a:p>
        </p:txBody>
      </p:sp>
      <p:sp>
        <p:nvSpPr>
          <p:cNvPr id="1807" name="Google Shape;1807;p62"/>
          <p:cNvSpPr/>
          <p:nvPr/>
        </p:nvSpPr>
        <p:spPr>
          <a:xfrm>
            <a:off x="7818120" y="2907792"/>
            <a:ext cx="3703320" cy="3300984"/>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DCE6F5"/>
              </a:buClr>
              <a:buSzPts val="900"/>
              <a:buFont typeface="Courier New"/>
              <a:buNone/>
            </a:pPr>
            <a:r>
              <a:rPr b="0" i="0" lang="en-US" sz="900" u="none" cap="none" strike="noStrike">
                <a:solidFill>
                  <a:srgbClr val="DCE6F5"/>
                </a:solidFill>
                <a:latin typeface="Courier New"/>
                <a:ea typeface="Courier New"/>
                <a:cs typeface="Courier New"/>
                <a:sym typeface="Courier New"/>
              </a:rPr>
              <a:t>$ python scripts/train_detector.py</a:t>
            </a:r>
            <a:endParaRPr b="0" i="0" sz="900" u="none" cap="none" strike="noStrike">
              <a:solidFill>
                <a:schemeClr val="dk1"/>
              </a:solidFill>
              <a:latin typeface="Calibri"/>
              <a:ea typeface="Calibri"/>
              <a:cs typeface="Calibri"/>
              <a:sym typeface="Calibri"/>
            </a:endParaRPr>
          </a:p>
          <a:p>
            <a:pPr indent="0" lvl="0" marL="0" marR="0" rtl="0" algn="l">
              <a:lnSpc>
                <a:spcPct val="130000"/>
              </a:lnSpc>
              <a:spcBef>
                <a:spcPts val="0"/>
              </a:spcBef>
              <a:spcAft>
                <a:spcPts val="0"/>
              </a:spcAft>
              <a:buClr>
                <a:srgbClr val="DCE6F5"/>
              </a:buClr>
              <a:buSzPts val="900"/>
              <a:buFont typeface="Courier New"/>
              <a:buNone/>
            </a:pPr>
            <a:r>
              <a:rPr b="0" i="0" lang="en-US" sz="900" u="none" cap="none" strike="noStrike">
                <a:solidFill>
                  <a:srgbClr val="DCE6F5"/>
                </a:solidFill>
                <a:latin typeface="Courier New"/>
                <a:ea typeface="Courier New"/>
                <a:cs typeface="Courier New"/>
                <a:sym typeface="Courier New"/>
              </a:rPr>
              <a:t>40 epochs completed in 0.19 hours.</a:t>
            </a:r>
            <a:endParaRPr b="0" i="0" sz="900" u="none" cap="none" strike="noStrike">
              <a:solidFill>
                <a:schemeClr val="dk1"/>
              </a:solidFill>
              <a:latin typeface="Calibri"/>
              <a:ea typeface="Calibri"/>
              <a:cs typeface="Calibri"/>
              <a:sym typeface="Calibri"/>
            </a:endParaRPr>
          </a:p>
          <a:p>
            <a:pPr indent="0" lvl="0" marL="0" marR="0" rtl="0" algn="l">
              <a:lnSpc>
                <a:spcPct val="130000"/>
              </a:lnSpc>
              <a:spcBef>
                <a:spcPts val="0"/>
              </a:spcBef>
              <a:spcAft>
                <a:spcPts val="0"/>
              </a:spcAft>
              <a:buClr>
                <a:srgbClr val="DCE6F5"/>
              </a:buClr>
              <a:buSzPts val="900"/>
              <a:buFont typeface="Courier New"/>
              <a:buNone/>
            </a:pPr>
            <a:r>
              <a:rPr b="0" i="0" lang="en-US" sz="900" u="none" cap="none" strike="noStrike">
                <a:solidFill>
                  <a:srgbClr val="DCE6F5"/>
                </a:solidFill>
                <a:latin typeface="Courier New"/>
                <a:ea typeface="Courier New"/>
                <a:cs typeface="Courier New"/>
                <a:sym typeface="Courier New"/>
              </a:rPr>
              <a:t>mAP@0.5=0.872  mAP@0.5:0.95=0.641</a:t>
            </a:r>
            <a:endParaRPr b="0" i="0" sz="900" u="none" cap="none" strike="noStrike">
              <a:solidFill>
                <a:schemeClr val="dk1"/>
              </a:solidFill>
              <a:latin typeface="Calibri"/>
              <a:ea typeface="Calibri"/>
              <a:cs typeface="Calibri"/>
              <a:sym typeface="Calibri"/>
            </a:endParaRPr>
          </a:p>
          <a:p>
            <a:pPr indent="0" lvl="0" marL="0" marR="0" rtl="0" algn="l">
              <a:lnSpc>
                <a:spcPct val="130000"/>
              </a:lnSpc>
              <a:spcBef>
                <a:spcPts val="0"/>
              </a:spcBef>
              <a:spcAft>
                <a:spcPts val="0"/>
              </a:spcAft>
              <a:buClr>
                <a:srgbClr val="DCE6F5"/>
              </a:buClr>
              <a:buSzPts val="900"/>
              <a:buFont typeface="Courier New"/>
              <a:buNone/>
            </a:pPr>
            <a:r>
              <a:rPr b="0" i="0" lang="en-US" sz="900" u="none" cap="none" strike="noStrike">
                <a:solidFill>
                  <a:srgbClr val="DCE6F5"/>
                </a:solidFill>
                <a:latin typeface="Courier New"/>
                <a:ea typeface="Courier New"/>
                <a:cs typeface="Courier New"/>
                <a:sym typeface="Courier New"/>
              </a:rPr>
              <a:t>mould 0.921        skin_split 0.884</a:t>
            </a:r>
            <a:endParaRPr b="0" i="0" sz="900" u="none" cap="none" strike="noStrike">
              <a:solidFill>
                <a:schemeClr val="dk1"/>
              </a:solidFill>
              <a:latin typeface="Calibri"/>
              <a:ea typeface="Calibri"/>
              <a:cs typeface="Calibri"/>
              <a:sym typeface="Calibri"/>
            </a:endParaRPr>
          </a:p>
          <a:p>
            <a:pPr indent="0" lvl="0" marL="0" marR="0" rtl="0" algn="l">
              <a:lnSpc>
                <a:spcPct val="130000"/>
              </a:lnSpc>
              <a:spcBef>
                <a:spcPts val="0"/>
              </a:spcBef>
              <a:spcAft>
                <a:spcPts val="0"/>
              </a:spcAft>
              <a:buClr>
                <a:srgbClr val="DCE6F5"/>
              </a:buClr>
              <a:buSzPts val="900"/>
              <a:buFont typeface="Courier New"/>
              <a:buNone/>
            </a:pPr>
            <a:r>
              <a:rPr b="0" i="0" lang="en-US" sz="900" u="none" cap="none" strike="noStrike">
                <a:solidFill>
                  <a:srgbClr val="DCE6F5"/>
                </a:solidFill>
                <a:latin typeface="Courier New"/>
                <a:ea typeface="Courier New"/>
                <a:cs typeface="Courier New"/>
                <a:sym typeface="Courier New"/>
              </a:rPr>
              <a:t>insect_damage 0.798  sugaring 0.861</a:t>
            </a:r>
            <a:endParaRPr b="0" i="0" sz="900" u="none" cap="none" strike="noStrike">
              <a:solidFill>
                <a:schemeClr val="dk1"/>
              </a:solidFill>
              <a:latin typeface="Calibri"/>
              <a:ea typeface="Calibri"/>
              <a:cs typeface="Calibri"/>
              <a:sym typeface="Calibri"/>
            </a:endParaRPr>
          </a:p>
          <a:p>
            <a:pPr indent="0" lvl="0" marL="0" marR="0" rtl="0" algn="l">
              <a:lnSpc>
                <a:spcPct val="130000"/>
              </a:lnSpc>
              <a:spcBef>
                <a:spcPts val="0"/>
              </a:spcBef>
              <a:spcAft>
                <a:spcPts val="0"/>
              </a:spcAft>
              <a:buClr>
                <a:srgbClr val="DCE6F5"/>
              </a:buClr>
              <a:buSzPts val="900"/>
              <a:buFont typeface="Courier New"/>
              <a:buNone/>
            </a:pPr>
            <a:r>
              <a:rPr b="0" i="0" lang="en-US" sz="900" u="none" cap="none" strike="noStrike">
                <a:solidFill>
                  <a:srgbClr val="DCE6F5"/>
                </a:solidFill>
                <a:latin typeface="Courier New"/>
                <a:ea typeface="Courier New"/>
                <a:cs typeface="Courier New"/>
                <a:sym typeface="Courier New"/>
              </a:rPr>
              <a:t>foreign_object 0.897</a:t>
            </a:r>
            <a:endParaRPr b="0" i="0" sz="900" u="none" cap="none" strike="noStrike">
              <a:solidFill>
                <a:schemeClr val="dk1"/>
              </a:solidFill>
              <a:latin typeface="Calibri"/>
              <a:ea typeface="Calibri"/>
              <a:cs typeface="Calibri"/>
              <a:sym typeface="Calibri"/>
            </a:endParaRPr>
          </a:p>
          <a:p>
            <a:pPr indent="0" lvl="0" marL="0" marR="0" rtl="0" algn="l">
              <a:lnSpc>
                <a:spcPct val="130000"/>
              </a:lnSpc>
              <a:spcBef>
                <a:spcPts val="0"/>
              </a:spcBef>
              <a:spcAft>
                <a:spcPts val="0"/>
              </a:spcAft>
              <a:buClr>
                <a:srgbClr val="DCE6F5"/>
              </a:buClr>
              <a:buSzPts val="900"/>
              <a:buFont typeface="Courier New"/>
              <a:buNone/>
            </a:pPr>
            <a:r>
              <a:rPr b="0" i="0" lang="en-US" sz="900" u="none" cap="none" strike="noStrike">
                <a:solidFill>
                  <a:srgbClr val="DCE6F5"/>
                </a:solidFill>
                <a:latin typeface="Courier New"/>
                <a:ea typeface="Courier New"/>
                <a:cs typeface="Courier New"/>
                <a:sym typeface="Courier New"/>
              </a:rPr>
              <a:t>$ python scripts/tune_operating_point.py</a:t>
            </a:r>
            <a:endParaRPr b="0" i="0" sz="900" u="none" cap="none" strike="noStrike">
              <a:solidFill>
                <a:schemeClr val="dk1"/>
              </a:solidFill>
              <a:latin typeface="Calibri"/>
              <a:ea typeface="Calibri"/>
              <a:cs typeface="Calibri"/>
              <a:sym typeface="Calibri"/>
            </a:endParaRPr>
          </a:p>
          <a:p>
            <a:pPr indent="0" lvl="0" marL="0" marR="0" rtl="0" algn="l">
              <a:lnSpc>
                <a:spcPct val="130000"/>
              </a:lnSpc>
              <a:spcBef>
                <a:spcPts val="0"/>
              </a:spcBef>
              <a:spcAft>
                <a:spcPts val="0"/>
              </a:spcAft>
              <a:buClr>
                <a:srgbClr val="DCE6F5"/>
              </a:buClr>
              <a:buSzPts val="900"/>
              <a:buFont typeface="Courier New"/>
              <a:buNone/>
            </a:pPr>
            <a:r>
              <a:rPr b="0" i="0" lang="en-US" sz="900" u="none" cap="none" strike="noStrike">
                <a:solidFill>
                  <a:srgbClr val="DCE6F5"/>
                </a:solidFill>
                <a:latin typeface="Courier New"/>
                <a:ea typeface="Courier New"/>
                <a:cs typeface="Courier New"/>
                <a:sym typeface="Courier New"/>
              </a:rPr>
              <a:t>conf=0.30  mould_recall=0.993  ...</a:t>
            </a:r>
            <a:endParaRPr b="0" i="0" sz="900" u="none" cap="none" strike="noStrike">
              <a:solidFill>
                <a:schemeClr val="dk1"/>
              </a:solidFill>
              <a:latin typeface="Calibri"/>
              <a:ea typeface="Calibri"/>
              <a:cs typeface="Calibri"/>
              <a:sym typeface="Calibri"/>
            </a:endParaRPr>
          </a:p>
          <a:p>
            <a:pPr indent="0" lvl="0" marL="0" marR="0" rtl="0" algn="l">
              <a:lnSpc>
                <a:spcPct val="130000"/>
              </a:lnSpc>
              <a:spcBef>
                <a:spcPts val="0"/>
              </a:spcBef>
              <a:spcAft>
                <a:spcPts val="0"/>
              </a:spcAft>
              <a:buClr>
                <a:srgbClr val="DCE6F5"/>
              </a:buClr>
              <a:buSzPts val="900"/>
              <a:buFont typeface="Courier New"/>
              <a:buNone/>
            </a:pPr>
            <a:r>
              <a:rPr b="0" i="0" lang="en-US" sz="900" u="none" cap="none" strike="noStrike">
                <a:solidFill>
                  <a:srgbClr val="DCE6F5"/>
                </a:solidFill>
                <a:latin typeface="Courier New"/>
                <a:ea typeface="Courier New"/>
                <a:cs typeface="Courier New"/>
                <a:sym typeface="Courier New"/>
              </a:rPr>
              <a:t>feasible band: ['0.20', '0.25', '0.30']</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6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812" name="Shape 1812"/>
        <p:cNvGrpSpPr/>
        <p:nvPr/>
      </p:nvGrpSpPr>
      <p:grpSpPr>
        <a:xfrm>
          <a:off x="0" y="0"/>
          <a:ext cx="0" cy="0"/>
          <a:chOff x="0" y="0"/>
          <a:chExt cx="0" cy="0"/>
        </a:xfrm>
      </p:grpSpPr>
      <p:sp>
        <p:nvSpPr>
          <p:cNvPr id="1813" name="Google Shape;1813;p63"/>
          <p:cNvSpPr/>
          <p:nvPr/>
        </p:nvSpPr>
        <p:spPr>
          <a:xfrm>
            <a:off x="502920" y="274320"/>
            <a:ext cx="9646920" cy="56692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D2A5C"/>
              </a:buClr>
              <a:buSzPts val="2700"/>
              <a:buFont typeface="Calibri"/>
              <a:buNone/>
            </a:pPr>
            <a:r>
              <a:rPr b="1" i="0" lang="en-US" sz="2700" u="none" cap="none" strike="noStrike">
                <a:solidFill>
                  <a:srgbClr val="1D2A5C"/>
                </a:solidFill>
                <a:latin typeface="Calibri"/>
                <a:ea typeface="Calibri"/>
                <a:cs typeface="Calibri"/>
                <a:sym typeface="Calibri"/>
              </a:rPr>
              <a:t>Lab 3 Troubleshooting</a:t>
            </a:r>
            <a:endParaRPr b="0" i="0" sz="2700" u="none" cap="none" strike="noStrike">
              <a:solidFill>
                <a:schemeClr val="dk1"/>
              </a:solidFill>
              <a:latin typeface="Calibri"/>
              <a:ea typeface="Calibri"/>
              <a:cs typeface="Calibri"/>
              <a:sym typeface="Calibri"/>
            </a:endParaRPr>
          </a:p>
        </p:txBody>
      </p:sp>
      <p:sp>
        <p:nvSpPr>
          <p:cNvPr id="1814" name="Google Shape;1814;p63"/>
          <p:cNvSpPr/>
          <p:nvPr/>
        </p:nvSpPr>
        <p:spPr>
          <a:xfrm>
            <a:off x="502920" y="859536"/>
            <a:ext cx="9646920" cy="31089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F6B7A"/>
              </a:buClr>
              <a:buSzPts val="1250"/>
              <a:buFont typeface="Arial"/>
              <a:buNone/>
            </a:pPr>
            <a:r>
              <a:rPr b="0" i="0" lang="en-US" sz="1250" u="none" cap="none" strike="noStrike">
                <a:solidFill>
                  <a:srgbClr val="5F6B7A"/>
                </a:solidFill>
                <a:latin typeface="Arial"/>
                <a:ea typeface="Arial"/>
                <a:cs typeface="Arial"/>
                <a:sym typeface="Arial"/>
              </a:rPr>
              <a:t>استكشاف أخطاء المختبر 3</a:t>
            </a:r>
            <a:endParaRPr b="0" i="0" sz="1250" u="none" cap="none" strike="noStrike">
              <a:solidFill>
                <a:schemeClr val="dk1"/>
              </a:solidFill>
              <a:latin typeface="Calibri"/>
              <a:ea typeface="Calibri"/>
              <a:cs typeface="Calibri"/>
              <a:sym typeface="Calibri"/>
            </a:endParaRPr>
          </a:p>
        </p:txBody>
      </p:sp>
      <p:pic>
        <p:nvPicPr>
          <p:cNvPr descr="/sessions/blissful-determined-ritchie/build/assets/sdaia_logo.png" id="1815" name="Google Shape;1815;p63"/>
          <p:cNvPicPr preferRelativeResize="0"/>
          <p:nvPr/>
        </p:nvPicPr>
        <p:blipFill rotWithShape="1">
          <a:blip r:embed="rId3">
            <a:alphaModFix/>
          </a:blip>
          <a:srcRect b="0" l="0" r="0" t="0"/>
          <a:stretch/>
        </p:blipFill>
        <p:spPr>
          <a:xfrm>
            <a:off x="10625328" y="310896"/>
            <a:ext cx="1078992" cy="264111"/>
          </a:xfrm>
          <a:prstGeom prst="rect">
            <a:avLst/>
          </a:prstGeom>
          <a:noFill/>
          <a:ln>
            <a:noFill/>
          </a:ln>
        </p:spPr>
      </p:pic>
      <p:sp>
        <p:nvSpPr>
          <p:cNvPr id="1816" name="Google Shape;1816;p63"/>
          <p:cNvSpPr/>
          <p:nvPr/>
        </p:nvSpPr>
        <p:spPr>
          <a:xfrm>
            <a:off x="502920" y="6528816"/>
            <a:ext cx="8686800"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A79D"/>
              </a:buClr>
              <a:buSzPts val="800"/>
              <a:buFont typeface="Calibri"/>
              <a:buNone/>
            </a:pPr>
            <a:r>
              <a:rPr b="1" i="0" lang="en-US" sz="800" u="none" cap="none" strike="noStrike">
                <a:solidFill>
                  <a:srgbClr val="00A79D"/>
                </a:solidFill>
                <a:latin typeface="Calibri"/>
                <a:ea typeface="Calibri"/>
                <a:cs typeface="Calibri"/>
                <a:sym typeface="Calibri"/>
              </a:rPr>
              <a:t>MODULE 3 · LAB   </a:t>
            </a:r>
            <a:r>
              <a:rPr b="0" i="0" lang="en-US" sz="800" u="none" cap="none" strike="noStrike">
                <a:solidFill>
                  <a:srgbClr val="8A96A6"/>
                </a:solidFill>
                <a:latin typeface="Calibri"/>
                <a:ea typeface="Calibri"/>
                <a:cs typeface="Calibri"/>
                <a:sym typeface="Calibri"/>
              </a:rPr>
              <a:t>SDA-AIE-212 · Computer Vision Systems Development</a:t>
            </a:r>
            <a:endParaRPr b="0" i="0" sz="800" u="none" cap="none" strike="noStrike">
              <a:solidFill>
                <a:schemeClr val="dk1"/>
              </a:solidFill>
              <a:latin typeface="Calibri"/>
              <a:ea typeface="Calibri"/>
              <a:cs typeface="Calibri"/>
              <a:sym typeface="Calibri"/>
            </a:endParaRPr>
          </a:p>
        </p:txBody>
      </p:sp>
      <p:sp>
        <p:nvSpPr>
          <p:cNvPr id="1817" name="Google Shape;1817;p63"/>
          <p:cNvSpPr/>
          <p:nvPr/>
        </p:nvSpPr>
        <p:spPr>
          <a:xfrm>
            <a:off x="11292840" y="6528816"/>
            <a:ext cx="411480" cy="219456"/>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8A96A6"/>
              </a:buClr>
              <a:buSzPts val="900"/>
              <a:buFont typeface="Calibri"/>
              <a:buNone/>
            </a:pPr>
            <a:r>
              <a:rPr b="0" i="0" lang="en-US" sz="900" u="none" cap="none" strike="noStrike">
                <a:solidFill>
                  <a:srgbClr val="8A96A6"/>
                </a:solidFill>
                <a:latin typeface="Calibri"/>
                <a:ea typeface="Calibri"/>
                <a:cs typeface="Calibri"/>
                <a:sym typeface="Calibri"/>
              </a:rPr>
              <a:t>63</a:t>
            </a:r>
            <a:endParaRPr b="0" i="0" sz="900" u="none" cap="none" strike="noStrike">
              <a:solidFill>
                <a:schemeClr val="dk1"/>
              </a:solidFill>
              <a:latin typeface="Calibri"/>
              <a:ea typeface="Calibri"/>
              <a:cs typeface="Calibri"/>
              <a:sym typeface="Calibri"/>
            </a:endParaRPr>
          </a:p>
        </p:txBody>
      </p:sp>
      <p:graphicFrame>
        <p:nvGraphicFramePr>
          <p:cNvPr id="1818" name="Google Shape;1818;p63"/>
          <p:cNvGraphicFramePr/>
          <p:nvPr/>
        </p:nvGraphicFramePr>
        <p:xfrm>
          <a:off x="502920" y="1389888"/>
          <a:ext cx="3000000" cy="3000000"/>
        </p:xfrm>
        <a:graphic>
          <a:graphicData uri="http://schemas.openxmlformats.org/drawingml/2006/table">
            <a:tbl>
              <a:tblPr>
                <a:noFill/>
                <a:tableStyleId>{F80342BA-3033-44D6-9F91-622DC7A4C435}</a:tableStyleId>
              </a:tblPr>
              <a:tblGrid>
                <a:gridCol w="3390275"/>
                <a:gridCol w="3802650"/>
                <a:gridCol w="3992900"/>
              </a:tblGrid>
              <a:tr h="713225">
                <a:tc>
                  <a:txBody>
                    <a:bodyPr/>
                    <a:lstStyle/>
                    <a:p>
                      <a:pPr indent="0" lvl="0" marL="0" marR="0" rtl="0" algn="l">
                        <a:spcBef>
                          <a:spcPts val="0"/>
                        </a:spcBef>
                        <a:spcAft>
                          <a:spcPts val="0"/>
                        </a:spcAft>
                        <a:buClr>
                          <a:srgbClr val="FFFFFF"/>
                        </a:buClr>
                        <a:buSzPts val="1150"/>
                        <a:buFont typeface="Calibri"/>
                        <a:buNone/>
                      </a:pPr>
                      <a:r>
                        <a:rPr b="1" lang="en-US" sz="1150" u="none" cap="none" strike="noStrike">
                          <a:solidFill>
                            <a:srgbClr val="FFFFFF"/>
                          </a:solidFill>
                          <a:latin typeface="Calibri"/>
                          <a:ea typeface="Calibri"/>
                          <a:cs typeface="Calibri"/>
                          <a:sym typeface="Calibri"/>
                        </a:rPr>
                        <a:t>Symptom</a:t>
                      </a:r>
                      <a:endParaRPr sz="1150" u="none" cap="none" strike="noStrike">
                        <a:latin typeface="Calibri"/>
                        <a:ea typeface="Calibri"/>
                        <a:cs typeface="Calibri"/>
                        <a:sym typeface="Calibri"/>
                      </a:endParaRPr>
                    </a:p>
                  </a:txBody>
                  <a:tcPr marT="64000" marB="64000" marR="64000" marL="64000" anchor="ctr">
                    <a:lnL cap="flat" cmpd="sng" w="9525">
                      <a:solidFill>
                        <a:srgbClr val="D9E2EA"/>
                      </a:solidFill>
                      <a:prstDash val="solid"/>
                      <a:round/>
                      <a:headEnd len="sm" w="sm" type="none"/>
                      <a:tailEnd len="sm" w="sm" type="none"/>
                    </a:lnL>
                    <a:lnR cap="flat" cmpd="sng" w="9525">
                      <a:solidFill>
                        <a:srgbClr val="D9E2EA"/>
                      </a:solidFill>
                      <a:prstDash val="solid"/>
                      <a:round/>
                      <a:headEnd len="sm" w="sm" type="none"/>
                      <a:tailEnd len="sm" w="sm" type="none"/>
                    </a:lnR>
                    <a:lnT cap="flat" cmpd="sng" w="9525">
                      <a:solidFill>
                        <a:srgbClr val="D9E2EA"/>
                      </a:solidFill>
                      <a:prstDash val="solid"/>
                      <a:round/>
                      <a:headEnd len="sm" w="sm" type="none"/>
                      <a:tailEnd len="sm" w="sm" type="none"/>
                    </a:lnT>
                    <a:lnB cap="flat" cmpd="sng" w="9525">
                      <a:solidFill>
                        <a:srgbClr val="D9E2EA"/>
                      </a:solidFill>
                      <a:prstDash val="solid"/>
                      <a:round/>
                      <a:headEnd len="sm" w="sm" type="none"/>
                      <a:tailEnd len="sm" w="sm" type="none"/>
                    </a:lnB>
                    <a:solidFill>
                      <a:srgbClr val="1D2A5C"/>
                    </a:solidFill>
                  </a:tcPr>
                </a:tc>
                <a:tc>
                  <a:txBody>
                    <a:bodyPr/>
                    <a:lstStyle/>
                    <a:p>
                      <a:pPr indent="0" lvl="0" marL="0" marR="0" rtl="0" algn="l">
                        <a:spcBef>
                          <a:spcPts val="0"/>
                        </a:spcBef>
                        <a:spcAft>
                          <a:spcPts val="0"/>
                        </a:spcAft>
                        <a:buClr>
                          <a:srgbClr val="FFFFFF"/>
                        </a:buClr>
                        <a:buSzPts val="1150"/>
                        <a:buFont typeface="Calibri"/>
                        <a:buNone/>
                      </a:pPr>
                      <a:r>
                        <a:rPr b="1" lang="en-US" sz="1150" u="none" cap="none" strike="noStrike">
                          <a:solidFill>
                            <a:srgbClr val="FFFFFF"/>
                          </a:solidFill>
                          <a:latin typeface="Calibri"/>
                          <a:ea typeface="Calibri"/>
                          <a:cs typeface="Calibri"/>
                          <a:sym typeface="Calibri"/>
                        </a:rPr>
                        <a:t>Cause</a:t>
                      </a:r>
                      <a:endParaRPr sz="1150" u="none" cap="none" strike="noStrike">
                        <a:latin typeface="Calibri"/>
                        <a:ea typeface="Calibri"/>
                        <a:cs typeface="Calibri"/>
                        <a:sym typeface="Calibri"/>
                      </a:endParaRPr>
                    </a:p>
                  </a:txBody>
                  <a:tcPr marT="64000" marB="64000" marR="64000" marL="64000" anchor="ctr">
                    <a:lnL cap="flat" cmpd="sng" w="9525">
                      <a:solidFill>
                        <a:srgbClr val="D9E2EA"/>
                      </a:solidFill>
                      <a:prstDash val="solid"/>
                      <a:round/>
                      <a:headEnd len="sm" w="sm" type="none"/>
                      <a:tailEnd len="sm" w="sm" type="none"/>
                    </a:lnL>
                    <a:lnR cap="flat" cmpd="sng" w="9525">
                      <a:solidFill>
                        <a:srgbClr val="D9E2EA"/>
                      </a:solidFill>
                      <a:prstDash val="solid"/>
                      <a:round/>
                      <a:headEnd len="sm" w="sm" type="none"/>
                      <a:tailEnd len="sm" w="sm" type="none"/>
                    </a:lnR>
                    <a:lnT cap="flat" cmpd="sng" w="9525">
                      <a:solidFill>
                        <a:srgbClr val="D9E2EA"/>
                      </a:solidFill>
                      <a:prstDash val="solid"/>
                      <a:round/>
                      <a:headEnd len="sm" w="sm" type="none"/>
                      <a:tailEnd len="sm" w="sm" type="none"/>
                    </a:lnT>
                    <a:lnB cap="flat" cmpd="sng" w="9525">
                      <a:solidFill>
                        <a:srgbClr val="D9E2EA"/>
                      </a:solidFill>
                      <a:prstDash val="solid"/>
                      <a:round/>
                      <a:headEnd len="sm" w="sm" type="none"/>
                      <a:tailEnd len="sm" w="sm" type="none"/>
                    </a:lnB>
                    <a:solidFill>
                      <a:srgbClr val="1D2A5C"/>
                    </a:solidFill>
                  </a:tcPr>
                </a:tc>
                <a:tc>
                  <a:txBody>
                    <a:bodyPr/>
                    <a:lstStyle/>
                    <a:p>
                      <a:pPr indent="0" lvl="0" marL="0" marR="0" rtl="0" algn="l">
                        <a:spcBef>
                          <a:spcPts val="0"/>
                        </a:spcBef>
                        <a:spcAft>
                          <a:spcPts val="0"/>
                        </a:spcAft>
                        <a:buClr>
                          <a:srgbClr val="FFFFFF"/>
                        </a:buClr>
                        <a:buSzPts val="1150"/>
                        <a:buFont typeface="Calibri"/>
                        <a:buNone/>
                      </a:pPr>
                      <a:r>
                        <a:rPr b="1" lang="en-US" sz="1150" u="none" cap="none" strike="noStrike">
                          <a:solidFill>
                            <a:srgbClr val="FFFFFF"/>
                          </a:solidFill>
                          <a:latin typeface="Calibri"/>
                          <a:ea typeface="Calibri"/>
                          <a:cs typeface="Calibri"/>
                          <a:sym typeface="Calibri"/>
                        </a:rPr>
                        <a:t>Fix</a:t>
                      </a:r>
                      <a:endParaRPr sz="1150" u="none" cap="none" strike="noStrike">
                        <a:latin typeface="Calibri"/>
                        <a:ea typeface="Calibri"/>
                        <a:cs typeface="Calibri"/>
                        <a:sym typeface="Calibri"/>
                      </a:endParaRPr>
                    </a:p>
                  </a:txBody>
                  <a:tcPr marT="64000" marB="64000" marR="64000" marL="64000" anchor="ctr">
                    <a:lnL cap="flat" cmpd="sng" w="9525">
                      <a:solidFill>
                        <a:srgbClr val="D9E2EA"/>
                      </a:solidFill>
                      <a:prstDash val="solid"/>
                      <a:round/>
                      <a:headEnd len="sm" w="sm" type="none"/>
                      <a:tailEnd len="sm" w="sm" type="none"/>
                    </a:lnL>
                    <a:lnR cap="flat" cmpd="sng" w="9525">
                      <a:solidFill>
                        <a:srgbClr val="D9E2EA"/>
                      </a:solidFill>
                      <a:prstDash val="solid"/>
                      <a:round/>
                      <a:headEnd len="sm" w="sm" type="none"/>
                      <a:tailEnd len="sm" w="sm" type="none"/>
                    </a:lnR>
                    <a:lnT cap="flat" cmpd="sng" w="9525">
                      <a:solidFill>
                        <a:srgbClr val="D9E2EA"/>
                      </a:solidFill>
                      <a:prstDash val="solid"/>
                      <a:round/>
                      <a:headEnd len="sm" w="sm" type="none"/>
                      <a:tailEnd len="sm" w="sm" type="none"/>
                    </a:lnT>
                    <a:lnB cap="flat" cmpd="sng" w="9525">
                      <a:solidFill>
                        <a:srgbClr val="D9E2EA"/>
                      </a:solidFill>
                      <a:prstDash val="solid"/>
                      <a:round/>
                      <a:headEnd len="sm" w="sm" type="none"/>
                      <a:tailEnd len="sm" w="sm" type="none"/>
                    </a:lnB>
                    <a:solidFill>
                      <a:srgbClr val="1D2A5C"/>
                    </a:solidFill>
                  </a:tcPr>
                </a:tc>
              </a:tr>
              <a:tr h="713225">
                <a:tc>
                  <a:txBody>
                    <a:bodyPr/>
                    <a:lstStyle/>
                    <a:p>
                      <a:pPr indent="0" lvl="0" marL="0" marR="0" rtl="0" algn="l">
                        <a:spcBef>
                          <a:spcPts val="0"/>
                        </a:spcBef>
                        <a:spcAft>
                          <a:spcPts val="0"/>
                        </a:spcAft>
                        <a:buClr>
                          <a:srgbClr val="1D2A5C"/>
                        </a:buClr>
                        <a:buSzPts val="1150"/>
                        <a:buFont typeface="Calibri"/>
                        <a:buNone/>
                      </a:pPr>
                      <a:r>
                        <a:rPr b="1" lang="en-US" sz="1150" u="none" cap="none" strike="noStrike">
                          <a:solidFill>
                            <a:srgbClr val="1D2A5C"/>
                          </a:solidFill>
                          <a:latin typeface="Calibri"/>
                          <a:ea typeface="Calibri"/>
                          <a:cs typeface="Calibri"/>
                          <a:sym typeface="Calibri"/>
                        </a:rPr>
                        <a:t>'corrupt image/label' warning</a:t>
                      </a:r>
                      <a:endParaRPr sz="1150" u="none" cap="none" strike="noStrike">
                        <a:latin typeface="Calibri"/>
                        <a:ea typeface="Calibri"/>
                        <a:cs typeface="Calibri"/>
                        <a:sym typeface="Calibri"/>
                      </a:endParaRPr>
                    </a:p>
                  </a:txBody>
                  <a:tcPr marT="64000" marB="64000" marR="64000" marL="64000" anchor="ctr">
                    <a:lnL cap="flat" cmpd="sng" w="9525">
                      <a:solidFill>
                        <a:srgbClr val="D9E2EA"/>
                      </a:solidFill>
                      <a:prstDash val="solid"/>
                      <a:round/>
                      <a:headEnd len="sm" w="sm" type="none"/>
                      <a:tailEnd len="sm" w="sm" type="none"/>
                    </a:lnL>
                    <a:lnR cap="flat" cmpd="sng" w="9525">
                      <a:solidFill>
                        <a:srgbClr val="D9E2EA"/>
                      </a:solidFill>
                      <a:prstDash val="solid"/>
                      <a:round/>
                      <a:headEnd len="sm" w="sm" type="none"/>
                      <a:tailEnd len="sm" w="sm" type="none"/>
                    </a:lnR>
                    <a:lnT cap="flat" cmpd="sng" w="9525">
                      <a:solidFill>
                        <a:srgbClr val="D9E2EA"/>
                      </a:solidFill>
                      <a:prstDash val="solid"/>
                      <a:round/>
                      <a:headEnd len="sm" w="sm" type="none"/>
                      <a:tailEnd len="sm" w="sm" type="none"/>
                    </a:lnT>
                    <a:lnB cap="flat" cmpd="sng" w="9525">
                      <a:solidFill>
                        <a:srgbClr val="D9E2EA"/>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23293B"/>
                        </a:buClr>
                        <a:buSzPts val="1150"/>
                        <a:buFont typeface="Calibri"/>
                        <a:buNone/>
                      </a:pPr>
                      <a:r>
                        <a:rPr lang="en-US" sz="1150" u="none" cap="none" strike="noStrike">
                          <a:solidFill>
                            <a:srgbClr val="23293B"/>
                          </a:solidFill>
                          <a:latin typeface="Calibri"/>
                          <a:ea typeface="Calibri"/>
                          <a:cs typeface="Calibri"/>
                          <a:sym typeface="Calibri"/>
                        </a:rPr>
                        <a:t>Un-normalised boxes survived conversion</a:t>
                      </a:r>
                      <a:endParaRPr sz="1150" u="none" cap="none" strike="noStrike">
                        <a:latin typeface="Calibri"/>
                        <a:ea typeface="Calibri"/>
                        <a:cs typeface="Calibri"/>
                        <a:sym typeface="Calibri"/>
                      </a:endParaRPr>
                    </a:p>
                  </a:txBody>
                  <a:tcPr marT="64000" marB="64000" marR="64000" marL="64000" anchor="ctr">
                    <a:lnL cap="flat" cmpd="sng" w="9525">
                      <a:solidFill>
                        <a:srgbClr val="D9E2EA"/>
                      </a:solidFill>
                      <a:prstDash val="solid"/>
                      <a:round/>
                      <a:headEnd len="sm" w="sm" type="none"/>
                      <a:tailEnd len="sm" w="sm" type="none"/>
                    </a:lnL>
                    <a:lnR cap="flat" cmpd="sng" w="9525">
                      <a:solidFill>
                        <a:srgbClr val="D9E2EA"/>
                      </a:solidFill>
                      <a:prstDash val="solid"/>
                      <a:round/>
                      <a:headEnd len="sm" w="sm" type="none"/>
                      <a:tailEnd len="sm" w="sm" type="none"/>
                    </a:lnR>
                    <a:lnT cap="flat" cmpd="sng" w="9525">
                      <a:solidFill>
                        <a:srgbClr val="D9E2EA"/>
                      </a:solidFill>
                      <a:prstDash val="solid"/>
                      <a:round/>
                      <a:headEnd len="sm" w="sm" type="none"/>
                      <a:tailEnd len="sm" w="sm" type="none"/>
                    </a:lnT>
                    <a:lnB cap="flat" cmpd="sng" w="9525">
                      <a:solidFill>
                        <a:srgbClr val="D9E2EA"/>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23293B"/>
                        </a:buClr>
                        <a:buSzPts val="1150"/>
                        <a:buFont typeface="Calibri"/>
                        <a:buNone/>
                      </a:pPr>
                      <a:r>
                        <a:rPr lang="en-US" sz="1150" u="none" cap="none" strike="noStrike">
                          <a:solidFill>
                            <a:srgbClr val="23293B"/>
                          </a:solidFill>
                          <a:latin typeface="Calibri"/>
                          <a:ea typeface="Calibri"/>
                          <a:cs typeface="Calibri"/>
                          <a:sym typeface="Calibri"/>
                        </a:rPr>
                        <a:t>Re-run converter; assert range before write</a:t>
                      </a:r>
                      <a:endParaRPr sz="1150" u="none" cap="none" strike="noStrike">
                        <a:latin typeface="Calibri"/>
                        <a:ea typeface="Calibri"/>
                        <a:cs typeface="Calibri"/>
                        <a:sym typeface="Calibri"/>
                      </a:endParaRPr>
                    </a:p>
                  </a:txBody>
                  <a:tcPr marT="64000" marB="64000" marR="64000" marL="64000" anchor="ctr">
                    <a:lnL cap="flat" cmpd="sng" w="9525">
                      <a:solidFill>
                        <a:srgbClr val="D9E2EA"/>
                      </a:solidFill>
                      <a:prstDash val="solid"/>
                      <a:round/>
                      <a:headEnd len="sm" w="sm" type="none"/>
                      <a:tailEnd len="sm" w="sm" type="none"/>
                    </a:lnL>
                    <a:lnR cap="flat" cmpd="sng" w="9525">
                      <a:solidFill>
                        <a:srgbClr val="D9E2EA"/>
                      </a:solidFill>
                      <a:prstDash val="solid"/>
                      <a:round/>
                      <a:headEnd len="sm" w="sm" type="none"/>
                      <a:tailEnd len="sm" w="sm" type="none"/>
                    </a:lnR>
                    <a:lnT cap="flat" cmpd="sng" w="9525">
                      <a:solidFill>
                        <a:srgbClr val="D9E2EA"/>
                      </a:solidFill>
                      <a:prstDash val="solid"/>
                      <a:round/>
                      <a:headEnd len="sm" w="sm" type="none"/>
                      <a:tailEnd len="sm" w="sm" type="none"/>
                    </a:lnT>
                    <a:lnB cap="flat" cmpd="sng" w="9525">
                      <a:solidFill>
                        <a:srgbClr val="D9E2EA"/>
                      </a:solidFill>
                      <a:prstDash val="solid"/>
                      <a:round/>
                      <a:headEnd len="sm" w="sm" type="none"/>
                      <a:tailEnd len="sm" w="sm" type="none"/>
                    </a:lnB>
                    <a:solidFill>
                      <a:srgbClr val="FFFFFF"/>
                    </a:solidFill>
                  </a:tcPr>
                </a:tc>
              </a:tr>
              <a:tr h="713225">
                <a:tc>
                  <a:txBody>
                    <a:bodyPr/>
                    <a:lstStyle/>
                    <a:p>
                      <a:pPr indent="0" lvl="0" marL="0" marR="0" rtl="0" algn="l">
                        <a:spcBef>
                          <a:spcPts val="0"/>
                        </a:spcBef>
                        <a:spcAft>
                          <a:spcPts val="0"/>
                        </a:spcAft>
                        <a:buClr>
                          <a:srgbClr val="1D2A5C"/>
                        </a:buClr>
                        <a:buSzPts val="1150"/>
                        <a:buFont typeface="Calibri"/>
                        <a:buNone/>
                      </a:pPr>
                      <a:r>
                        <a:rPr b="1" lang="en-US" sz="1150" u="none" cap="none" strike="noStrike">
                          <a:solidFill>
                            <a:srgbClr val="1D2A5C"/>
                          </a:solidFill>
                          <a:latin typeface="Calibri"/>
                          <a:ea typeface="Calibri"/>
                          <a:cs typeface="Calibri"/>
                          <a:sym typeface="Calibri"/>
                        </a:rPr>
                        <a:t>mAP@0.5 stuck ≈ 0.55</a:t>
                      </a:r>
                      <a:endParaRPr sz="1150" u="none" cap="none" strike="noStrike">
                        <a:latin typeface="Calibri"/>
                        <a:ea typeface="Calibri"/>
                        <a:cs typeface="Calibri"/>
                        <a:sym typeface="Calibri"/>
                      </a:endParaRPr>
                    </a:p>
                  </a:txBody>
                  <a:tcPr marT="64000" marB="64000" marR="64000" marL="64000" anchor="ctr">
                    <a:lnL cap="flat" cmpd="sng" w="9525">
                      <a:solidFill>
                        <a:srgbClr val="D9E2EA"/>
                      </a:solidFill>
                      <a:prstDash val="solid"/>
                      <a:round/>
                      <a:headEnd len="sm" w="sm" type="none"/>
                      <a:tailEnd len="sm" w="sm" type="none"/>
                    </a:lnL>
                    <a:lnR cap="flat" cmpd="sng" w="9525">
                      <a:solidFill>
                        <a:srgbClr val="D9E2EA"/>
                      </a:solidFill>
                      <a:prstDash val="solid"/>
                      <a:round/>
                      <a:headEnd len="sm" w="sm" type="none"/>
                      <a:tailEnd len="sm" w="sm" type="none"/>
                    </a:lnR>
                    <a:lnT cap="flat" cmpd="sng" w="9525">
                      <a:solidFill>
                        <a:srgbClr val="D9E2EA"/>
                      </a:solidFill>
                      <a:prstDash val="solid"/>
                      <a:round/>
                      <a:headEnd len="sm" w="sm" type="none"/>
                      <a:tailEnd len="sm" w="sm" type="none"/>
                    </a:lnT>
                    <a:lnB cap="flat" cmpd="sng" w="9525">
                      <a:solidFill>
                        <a:srgbClr val="D9E2EA"/>
                      </a:solidFill>
                      <a:prstDash val="solid"/>
                      <a:round/>
                      <a:headEnd len="sm" w="sm" type="none"/>
                      <a:tailEnd len="sm" w="sm" type="none"/>
                    </a:lnB>
                    <a:solidFill>
                      <a:srgbClr val="F2F6F9"/>
                    </a:solidFill>
                  </a:tcPr>
                </a:tc>
                <a:tc>
                  <a:txBody>
                    <a:bodyPr/>
                    <a:lstStyle/>
                    <a:p>
                      <a:pPr indent="0" lvl="0" marL="0" marR="0" rtl="0" algn="l">
                        <a:spcBef>
                          <a:spcPts val="0"/>
                        </a:spcBef>
                        <a:spcAft>
                          <a:spcPts val="0"/>
                        </a:spcAft>
                        <a:buClr>
                          <a:srgbClr val="23293B"/>
                        </a:buClr>
                        <a:buSzPts val="1150"/>
                        <a:buFont typeface="Calibri"/>
                        <a:buNone/>
                      </a:pPr>
                      <a:r>
                        <a:rPr lang="en-US" sz="1150" u="none" cap="none" strike="noStrike">
                          <a:solidFill>
                            <a:srgbClr val="23293B"/>
                          </a:solidFill>
                          <a:latin typeface="Calibri"/>
                          <a:ea typeface="Calibri"/>
                          <a:cs typeface="Calibri"/>
                          <a:sym typeface="Calibri"/>
                        </a:rPr>
                        <a:t>Trained from scratch (.yaml not .pt)</a:t>
                      </a:r>
                      <a:endParaRPr sz="1150" u="none" cap="none" strike="noStrike">
                        <a:latin typeface="Calibri"/>
                        <a:ea typeface="Calibri"/>
                        <a:cs typeface="Calibri"/>
                        <a:sym typeface="Calibri"/>
                      </a:endParaRPr>
                    </a:p>
                  </a:txBody>
                  <a:tcPr marT="64000" marB="64000" marR="64000" marL="64000" anchor="ctr">
                    <a:lnL cap="flat" cmpd="sng" w="9525">
                      <a:solidFill>
                        <a:srgbClr val="D9E2EA"/>
                      </a:solidFill>
                      <a:prstDash val="solid"/>
                      <a:round/>
                      <a:headEnd len="sm" w="sm" type="none"/>
                      <a:tailEnd len="sm" w="sm" type="none"/>
                    </a:lnL>
                    <a:lnR cap="flat" cmpd="sng" w="9525">
                      <a:solidFill>
                        <a:srgbClr val="D9E2EA"/>
                      </a:solidFill>
                      <a:prstDash val="solid"/>
                      <a:round/>
                      <a:headEnd len="sm" w="sm" type="none"/>
                      <a:tailEnd len="sm" w="sm" type="none"/>
                    </a:lnR>
                    <a:lnT cap="flat" cmpd="sng" w="9525">
                      <a:solidFill>
                        <a:srgbClr val="D9E2EA"/>
                      </a:solidFill>
                      <a:prstDash val="solid"/>
                      <a:round/>
                      <a:headEnd len="sm" w="sm" type="none"/>
                      <a:tailEnd len="sm" w="sm" type="none"/>
                    </a:lnT>
                    <a:lnB cap="flat" cmpd="sng" w="9525">
                      <a:solidFill>
                        <a:srgbClr val="D9E2EA"/>
                      </a:solidFill>
                      <a:prstDash val="solid"/>
                      <a:round/>
                      <a:headEnd len="sm" w="sm" type="none"/>
                      <a:tailEnd len="sm" w="sm" type="none"/>
                    </a:lnB>
                    <a:solidFill>
                      <a:srgbClr val="F2F6F9"/>
                    </a:solidFill>
                  </a:tcPr>
                </a:tc>
                <a:tc>
                  <a:txBody>
                    <a:bodyPr/>
                    <a:lstStyle/>
                    <a:p>
                      <a:pPr indent="0" lvl="0" marL="0" marR="0" rtl="0" algn="l">
                        <a:spcBef>
                          <a:spcPts val="0"/>
                        </a:spcBef>
                        <a:spcAft>
                          <a:spcPts val="0"/>
                        </a:spcAft>
                        <a:buClr>
                          <a:srgbClr val="23293B"/>
                        </a:buClr>
                        <a:buSzPts val="1150"/>
                        <a:buFont typeface="Calibri"/>
                        <a:buNone/>
                      </a:pPr>
                      <a:r>
                        <a:rPr lang="en-US" sz="1150" u="none" cap="none" strike="noStrike">
                          <a:solidFill>
                            <a:srgbClr val="23293B"/>
                          </a:solidFill>
                          <a:latin typeface="Calibri"/>
                          <a:ea typeface="Calibri"/>
                          <a:cs typeface="Calibri"/>
                          <a:sym typeface="Calibri"/>
                        </a:rPr>
                        <a:t>Load COCO weights; restart from lab3-start</a:t>
                      </a:r>
                      <a:endParaRPr sz="1150" u="none" cap="none" strike="noStrike">
                        <a:latin typeface="Calibri"/>
                        <a:ea typeface="Calibri"/>
                        <a:cs typeface="Calibri"/>
                        <a:sym typeface="Calibri"/>
                      </a:endParaRPr>
                    </a:p>
                  </a:txBody>
                  <a:tcPr marT="64000" marB="64000" marR="64000" marL="64000" anchor="ctr">
                    <a:lnL cap="flat" cmpd="sng" w="9525">
                      <a:solidFill>
                        <a:srgbClr val="D9E2EA"/>
                      </a:solidFill>
                      <a:prstDash val="solid"/>
                      <a:round/>
                      <a:headEnd len="sm" w="sm" type="none"/>
                      <a:tailEnd len="sm" w="sm" type="none"/>
                    </a:lnL>
                    <a:lnR cap="flat" cmpd="sng" w="9525">
                      <a:solidFill>
                        <a:srgbClr val="D9E2EA"/>
                      </a:solidFill>
                      <a:prstDash val="solid"/>
                      <a:round/>
                      <a:headEnd len="sm" w="sm" type="none"/>
                      <a:tailEnd len="sm" w="sm" type="none"/>
                    </a:lnR>
                    <a:lnT cap="flat" cmpd="sng" w="9525">
                      <a:solidFill>
                        <a:srgbClr val="D9E2EA"/>
                      </a:solidFill>
                      <a:prstDash val="solid"/>
                      <a:round/>
                      <a:headEnd len="sm" w="sm" type="none"/>
                      <a:tailEnd len="sm" w="sm" type="none"/>
                    </a:lnT>
                    <a:lnB cap="flat" cmpd="sng" w="9525">
                      <a:solidFill>
                        <a:srgbClr val="D9E2EA"/>
                      </a:solidFill>
                      <a:prstDash val="solid"/>
                      <a:round/>
                      <a:headEnd len="sm" w="sm" type="none"/>
                      <a:tailEnd len="sm" w="sm" type="none"/>
                    </a:lnB>
                    <a:solidFill>
                      <a:srgbClr val="F2F6F9"/>
                    </a:solidFill>
                  </a:tcPr>
                </a:tc>
              </a:tr>
              <a:tr h="713225">
                <a:tc>
                  <a:txBody>
                    <a:bodyPr/>
                    <a:lstStyle/>
                    <a:p>
                      <a:pPr indent="0" lvl="0" marL="0" marR="0" rtl="0" algn="l">
                        <a:spcBef>
                          <a:spcPts val="0"/>
                        </a:spcBef>
                        <a:spcAft>
                          <a:spcPts val="0"/>
                        </a:spcAft>
                        <a:buClr>
                          <a:srgbClr val="1D2A5C"/>
                        </a:buClr>
                        <a:buSzPts val="1150"/>
                        <a:buFont typeface="Calibri"/>
                        <a:buNone/>
                      </a:pPr>
                      <a:r>
                        <a:rPr b="1" lang="en-US" sz="1150" u="none" cap="none" strike="noStrike">
                          <a:solidFill>
                            <a:srgbClr val="1D2A5C"/>
                          </a:solidFill>
                          <a:latin typeface="Calibri"/>
                          <a:ea typeface="Calibri"/>
                          <a:cs typeface="Calibri"/>
                          <a:sym typeface="Calibri"/>
                        </a:rPr>
                        <a:t>Every fruit detected twice</a:t>
                      </a:r>
                      <a:endParaRPr sz="1150" u="none" cap="none" strike="noStrike">
                        <a:latin typeface="Calibri"/>
                        <a:ea typeface="Calibri"/>
                        <a:cs typeface="Calibri"/>
                        <a:sym typeface="Calibri"/>
                      </a:endParaRPr>
                    </a:p>
                  </a:txBody>
                  <a:tcPr marT="64000" marB="64000" marR="64000" marL="64000" anchor="ctr">
                    <a:lnL cap="flat" cmpd="sng" w="9525">
                      <a:solidFill>
                        <a:srgbClr val="D9E2EA"/>
                      </a:solidFill>
                      <a:prstDash val="solid"/>
                      <a:round/>
                      <a:headEnd len="sm" w="sm" type="none"/>
                      <a:tailEnd len="sm" w="sm" type="none"/>
                    </a:lnL>
                    <a:lnR cap="flat" cmpd="sng" w="9525">
                      <a:solidFill>
                        <a:srgbClr val="D9E2EA"/>
                      </a:solidFill>
                      <a:prstDash val="solid"/>
                      <a:round/>
                      <a:headEnd len="sm" w="sm" type="none"/>
                      <a:tailEnd len="sm" w="sm" type="none"/>
                    </a:lnR>
                    <a:lnT cap="flat" cmpd="sng" w="9525">
                      <a:solidFill>
                        <a:srgbClr val="D9E2EA"/>
                      </a:solidFill>
                      <a:prstDash val="solid"/>
                      <a:round/>
                      <a:headEnd len="sm" w="sm" type="none"/>
                      <a:tailEnd len="sm" w="sm" type="none"/>
                    </a:lnT>
                    <a:lnB cap="flat" cmpd="sng" w="9525">
                      <a:solidFill>
                        <a:srgbClr val="D9E2EA"/>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23293B"/>
                        </a:buClr>
                        <a:buSzPts val="1150"/>
                        <a:buFont typeface="Calibri"/>
                        <a:buNone/>
                      </a:pPr>
                      <a:r>
                        <a:rPr lang="en-US" sz="1150" u="none" cap="none" strike="noStrike">
                          <a:solidFill>
                            <a:srgbClr val="23293B"/>
                          </a:solidFill>
                          <a:latin typeface="Calibri"/>
                          <a:ea typeface="Calibri"/>
                          <a:cs typeface="Calibri"/>
                          <a:sym typeface="Calibri"/>
                        </a:rPr>
                        <a:t>NMS iou too high for touching fruit</a:t>
                      </a:r>
                      <a:endParaRPr sz="1150" u="none" cap="none" strike="noStrike">
                        <a:latin typeface="Calibri"/>
                        <a:ea typeface="Calibri"/>
                        <a:cs typeface="Calibri"/>
                        <a:sym typeface="Calibri"/>
                      </a:endParaRPr>
                    </a:p>
                  </a:txBody>
                  <a:tcPr marT="64000" marB="64000" marR="64000" marL="64000" anchor="ctr">
                    <a:lnL cap="flat" cmpd="sng" w="9525">
                      <a:solidFill>
                        <a:srgbClr val="D9E2EA"/>
                      </a:solidFill>
                      <a:prstDash val="solid"/>
                      <a:round/>
                      <a:headEnd len="sm" w="sm" type="none"/>
                      <a:tailEnd len="sm" w="sm" type="none"/>
                    </a:lnL>
                    <a:lnR cap="flat" cmpd="sng" w="9525">
                      <a:solidFill>
                        <a:srgbClr val="D9E2EA"/>
                      </a:solidFill>
                      <a:prstDash val="solid"/>
                      <a:round/>
                      <a:headEnd len="sm" w="sm" type="none"/>
                      <a:tailEnd len="sm" w="sm" type="none"/>
                    </a:lnR>
                    <a:lnT cap="flat" cmpd="sng" w="9525">
                      <a:solidFill>
                        <a:srgbClr val="D9E2EA"/>
                      </a:solidFill>
                      <a:prstDash val="solid"/>
                      <a:round/>
                      <a:headEnd len="sm" w="sm" type="none"/>
                      <a:tailEnd len="sm" w="sm" type="none"/>
                    </a:lnT>
                    <a:lnB cap="flat" cmpd="sng" w="9525">
                      <a:solidFill>
                        <a:srgbClr val="D9E2EA"/>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23293B"/>
                        </a:buClr>
                        <a:buSzPts val="1150"/>
                        <a:buFont typeface="Calibri"/>
                        <a:buNone/>
                      </a:pPr>
                      <a:r>
                        <a:rPr lang="en-US" sz="1150" u="none" cap="none" strike="noStrike">
                          <a:solidFill>
                            <a:srgbClr val="23293B"/>
                          </a:solidFill>
                          <a:latin typeface="Calibri"/>
                          <a:ea typeface="Calibri"/>
                          <a:cs typeface="Calibri"/>
                          <a:sym typeface="Calibri"/>
                        </a:rPr>
                        <a:t>Lower to 0.45–0.5; re-sweep counts</a:t>
                      </a:r>
                      <a:endParaRPr sz="1150" u="none" cap="none" strike="noStrike">
                        <a:latin typeface="Calibri"/>
                        <a:ea typeface="Calibri"/>
                        <a:cs typeface="Calibri"/>
                        <a:sym typeface="Calibri"/>
                      </a:endParaRPr>
                    </a:p>
                  </a:txBody>
                  <a:tcPr marT="64000" marB="64000" marR="64000" marL="64000" anchor="ctr">
                    <a:lnL cap="flat" cmpd="sng" w="9525">
                      <a:solidFill>
                        <a:srgbClr val="D9E2EA"/>
                      </a:solidFill>
                      <a:prstDash val="solid"/>
                      <a:round/>
                      <a:headEnd len="sm" w="sm" type="none"/>
                      <a:tailEnd len="sm" w="sm" type="none"/>
                    </a:lnL>
                    <a:lnR cap="flat" cmpd="sng" w="9525">
                      <a:solidFill>
                        <a:srgbClr val="D9E2EA"/>
                      </a:solidFill>
                      <a:prstDash val="solid"/>
                      <a:round/>
                      <a:headEnd len="sm" w="sm" type="none"/>
                      <a:tailEnd len="sm" w="sm" type="none"/>
                    </a:lnR>
                    <a:lnT cap="flat" cmpd="sng" w="9525">
                      <a:solidFill>
                        <a:srgbClr val="D9E2EA"/>
                      </a:solidFill>
                      <a:prstDash val="solid"/>
                      <a:round/>
                      <a:headEnd len="sm" w="sm" type="none"/>
                      <a:tailEnd len="sm" w="sm" type="none"/>
                    </a:lnT>
                    <a:lnB cap="flat" cmpd="sng" w="9525">
                      <a:solidFill>
                        <a:srgbClr val="D9E2EA"/>
                      </a:solidFill>
                      <a:prstDash val="solid"/>
                      <a:round/>
                      <a:headEnd len="sm" w="sm" type="none"/>
                      <a:tailEnd len="sm" w="sm" type="none"/>
                    </a:lnB>
                    <a:solidFill>
                      <a:srgbClr val="FFFFFF"/>
                    </a:solidFill>
                  </a:tcPr>
                </a:tc>
              </a:tr>
              <a:tr h="713225">
                <a:tc>
                  <a:txBody>
                    <a:bodyPr/>
                    <a:lstStyle/>
                    <a:p>
                      <a:pPr indent="0" lvl="0" marL="0" marR="0" rtl="0" algn="l">
                        <a:spcBef>
                          <a:spcPts val="0"/>
                        </a:spcBef>
                        <a:spcAft>
                          <a:spcPts val="0"/>
                        </a:spcAft>
                        <a:buClr>
                          <a:srgbClr val="1D2A5C"/>
                        </a:buClr>
                        <a:buSzPts val="1150"/>
                        <a:buFont typeface="Calibri"/>
                        <a:buNone/>
                      </a:pPr>
                      <a:r>
                        <a:rPr b="1" lang="en-US" sz="1150" u="none" cap="none" strike="noStrike">
                          <a:solidFill>
                            <a:srgbClr val="1D2A5C"/>
                          </a:solidFill>
                          <a:latin typeface="Calibri"/>
                          <a:ea typeface="Calibri"/>
                          <a:cs typeface="Calibri"/>
                          <a:sym typeface="Calibri"/>
                        </a:rPr>
                        <a:t>GPU OOM at batch 16</a:t>
                      </a:r>
                      <a:endParaRPr sz="1150" u="none" cap="none" strike="noStrike">
                        <a:latin typeface="Calibri"/>
                        <a:ea typeface="Calibri"/>
                        <a:cs typeface="Calibri"/>
                        <a:sym typeface="Calibri"/>
                      </a:endParaRPr>
                    </a:p>
                  </a:txBody>
                  <a:tcPr marT="64000" marB="64000" marR="64000" marL="64000" anchor="ctr">
                    <a:lnL cap="flat" cmpd="sng" w="9525">
                      <a:solidFill>
                        <a:srgbClr val="D9E2EA"/>
                      </a:solidFill>
                      <a:prstDash val="solid"/>
                      <a:round/>
                      <a:headEnd len="sm" w="sm" type="none"/>
                      <a:tailEnd len="sm" w="sm" type="none"/>
                    </a:lnL>
                    <a:lnR cap="flat" cmpd="sng" w="9525">
                      <a:solidFill>
                        <a:srgbClr val="D9E2EA"/>
                      </a:solidFill>
                      <a:prstDash val="solid"/>
                      <a:round/>
                      <a:headEnd len="sm" w="sm" type="none"/>
                      <a:tailEnd len="sm" w="sm" type="none"/>
                    </a:lnR>
                    <a:lnT cap="flat" cmpd="sng" w="9525">
                      <a:solidFill>
                        <a:srgbClr val="D9E2EA"/>
                      </a:solidFill>
                      <a:prstDash val="solid"/>
                      <a:round/>
                      <a:headEnd len="sm" w="sm" type="none"/>
                      <a:tailEnd len="sm" w="sm" type="none"/>
                    </a:lnT>
                    <a:lnB cap="flat" cmpd="sng" w="9525">
                      <a:solidFill>
                        <a:srgbClr val="D9E2EA"/>
                      </a:solidFill>
                      <a:prstDash val="solid"/>
                      <a:round/>
                      <a:headEnd len="sm" w="sm" type="none"/>
                      <a:tailEnd len="sm" w="sm" type="none"/>
                    </a:lnB>
                    <a:solidFill>
                      <a:srgbClr val="F2F6F9"/>
                    </a:solidFill>
                  </a:tcPr>
                </a:tc>
                <a:tc>
                  <a:txBody>
                    <a:bodyPr/>
                    <a:lstStyle/>
                    <a:p>
                      <a:pPr indent="0" lvl="0" marL="0" marR="0" rtl="0" algn="l">
                        <a:spcBef>
                          <a:spcPts val="0"/>
                        </a:spcBef>
                        <a:spcAft>
                          <a:spcPts val="0"/>
                        </a:spcAft>
                        <a:buClr>
                          <a:srgbClr val="23293B"/>
                        </a:buClr>
                        <a:buSzPts val="1150"/>
                        <a:buFont typeface="Calibri"/>
                        <a:buNone/>
                      </a:pPr>
                      <a:r>
                        <a:rPr lang="en-US" sz="1150" u="none" cap="none" strike="noStrike">
                          <a:solidFill>
                            <a:srgbClr val="23293B"/>
                          </a:solidFill>
                          <a:latin typeface="Calibri"/>
                          <a:ea typeface="Calibri"/>
                          <a:cs typeface="Calibri"/>
                          <a:sym typeface="Calibri"/>
                        </a:rPr>
                        <a:t>8 GB card + other notebooks open</a:t>
                      </a:r>
                      <a:endParaRPr sz="1150" u="none" cap="none" strike="noStrike">
                        <a:latin typeface="Calibri"/>
                        <a:ea typeface="Calibri"/>
                        <a:cs typeface="Calibri"/>
                        <a:sym typeface="Calibri"/>
                      </a:endParaRPr>
                    </a:p>
                  </a:txBody>
                  <a:tcPr marT="64000" marB="64000" marR="64000" marL="64000" anchor="ctr">
                    <a:lnL cap="flat" cmpd="sng" w="9525">
                      <a:solidFill>
                        <a:srgbClr val="D9E2EA"/>
                      </a:solidFill>
                      <a:prstDash val="solid"/>
                      <a:round/>
                      <a:headEnd len="sm" w="sm" type="none"/>
                      <a:tailEnd len="sm" w="sm" type="none"/>
                    </a:lnL>
                    <a:lnR cap="flat" cmpd="sng" w="9525">
                      <a:solidFill>
                        <a:srgbClr val="D9E2EA"/>
                      </a:solidFill>
                      <a:prstDash val="solid"/>
                      <a:round/>
                      <a:headEnd len="sm" w="sm" type="none"/>
                      <a:tailEnd len="sm" w="sm" type="none"/>
                    </a:lnR>
                    <a:lnT cap="flat" cmpd="sng" w="9525">
                      <a:solidFill>
                        <a:srgbClr val="D9E2EA"/>
                      </a:solidFill>
                      <a:prstDash val="solid"/>
                      <a:round/>
                      <a:headEnd len="sm" w="sm" type="none"/>
                      <a:tailEnd len="sm" w="sm" type="none"/>
                    </a:lnT>
                    <a:lnB cap="flat" cmpd="sng" w="9525">
                      <a:solidFill>
                        <a:srgbClr val="D9E2EA"/>
                      </a:solidFill>
                      <a:prstDash val="solid"/>
                      <a:round/>
                      <a:headEnd len="sm" w="sm" type="none"/>
                      <a:tailEnd len="sm" w="sm" type="none"/>
                    </a:lnB>
                    <a:solidFill>
                      <a:srgbClr val="F2F6F9"/>
                    </a:solidFill>
                  </a:tcPr>
                </a:tc>
                <a:tc>
                  <a:txBody>
                    <a:bodyPr/>
                    <a:lstStyle/>
                    <a:p>
                      <a:pPr indent="0" lvl="0" marL="0" marR="0" rtl="0" algn="l">
                        <a:spcBef>
                          <a:spcPts val="0"/>
                        </a:spcBef>
                        <a:spcAft>
                          <a:spcPts val="0"/>
                        </a:spcAft>
                        <a:buClr>
                          <a:srgbClr val="23293B"/>
                        </a:buClr>
                        <a:buSzPts val="1150"/>
                        <a:buFont typeface="Calibri"/>
                        <a:buNone/>
                      </a:pPr>
                      <a:r>
                        <a:rPr lang="en-US" sz="1150" u="none" cap="none" strike="noStrike">
                          <a:solidFill>
                            <a:srgbClr val="23293B"/>
                          </a:solidFill>
                          <a:latin typeface="Calibri"/>
                          <a:ea typeface="Calibri"/>
                          <a:cs typeface="Calibri"/>
                          <a:sym typeface="Calibri"/>
                        </a:rPr>
                        <a:t>batch=8 or imgsz=512; close notebooks</a:t>
                      </a:r>
                      <a:endParaRPr sz="1150" u="none" cap="none" strike="noStrike">
                        <a:latin typeface="Calibri"/>
                        <a:ea typeface="Calibri"/>
                        <a:cs typeface="Calibri"/>
                        <a:sym typeface="Calibri"/>
                      </a:endParaRPr>
                    </a:p>
                  </a:txBody>
                  <a:tcPr marT="64000" marB="64000" marR="64000" marL="64000" anchor="ctr">
                    <a:lnL cap="flat" cmpd="sng" w="9525">
                      <a:solidFill>
                        <a:srgbClr val="D9E2EA"/>
                      </a:solidFill>
                      <a:prstDash val="solid"/>
                      <a:round/>
                      <a:headEnd len="sm" w="sm" type="none"/>
                      <a:tailEnd len="sm" w="sm" type="none"/>
                    </a:lnL>
                    <a:lnR cap="flat" cmpd="sng" w="9525">
                      <a:solidFill>
                        <a:srgbClr val="D9E2EA"/>
                      </a:solidFill>
                      <a:prstDash val="solid"/>
                      <a:round/>
                      <a:headEnd len="sm" w="sm" type="none"/>
                      <a:tailEnd len="sm" w="sm" type="none"/>
                    </a:lnR>
                    <a:lnT cap="flat" cmpd="sng" w="9525">
                      <a:solidFill>
                        <a:srgbClr val="D9E2EA"/>
                      </a:solidFill>
                      <a:prstDash val="solid"/>
                      <a:round/>
                      <a:headEnd len="sm" w="sm" type="none"/>
                      <a:tailEnd len="sm" w="sm" type="none"/>
                    </a:lnT>
                    <a:lnB cap="flat" cmpd="sng" w="9525">
                      <a:solidFill>
                        <a:srgbClr val="D9E2EA"/>
                      </a:solidFill>
                      <a:prstDash val="solid"/>
                      <a:round/>
                      <a:headEnd len="sm" w="sm" type="none"/>
                      <a:tailEnd len="sm" w="sm" type="none"/>
                    </a:lnB>
                    <a:solidFill>
                      <a:srgbClr val="F2F6F9"/>
                    </a:solidFill>
                  </a:tcPr>
                </a:tc>
              </a:tr>
              <a:tr h="713225">
                <a:tc>
                  <a:txBody>
                    <a:bodyPr/>
                    <a:lstStyle/>
                    <a:p>
                      <a:pPr indent="0" lvl="0" marL="0" marR="0" rtl="0" algn="l">
                        <a:spcBef>
                          <a:spcPts val="0"/>
                        </a:spcBef>
                        <a:spcAft>
                          <a:spcPts val="0"/>
                        </a:spcAft>
                        <a:buClr>
                          <a:srgbClr val="1D2A5C"/>
                        </a:buClr>
                        <a:buSzPts val="1150"/>
                        <a:buFont typeface="Calibri"/>
                        <a:buNone/>
                      </a:pPr>
                      <a:r>
                        <a:rPr b="1" lang="en-US" sz="1150" u="none" cap="none" strike="noStrike">
                          <a:solidFill>
                            <a:srgbClr val="1D2A5C"/>
                          </a:solidFill>
                          <a:latin typeface="Calibri"/>
                          <a:ea typeface="Calibri"/>
                          <a:cs typeface="Calibri"/>
                          <a:sym typeface="Calibri"/>
                        </a:rPr>
                        <a:t>Val numbers change between runs</a:t>
                      </a:r>
                      <a:endParaRPr sz="1150" u="none" cap="none" strike="noStrike">
                        <a:latin typeface="Calibri"/>
                        <a:ea typeface="Calibri"/>
                        <a:cs typeface="Calibri"/>
                        <a:sym typeface="Calibri"/>
                      </a:endParaRPr>
                    </a:p>
                  </a:txBody>
                  <a:tcPr marT="64000" marB="64000" marR="64000" marL="64000" anchor="ctr">
                    <a:lnL cap="flat" cmpd="sng" w="9525">
                      <a:solidFill>
                        <a:srgbClr val="D9E2EA"/>
                      </a:solidFill>
                      <a:prstDash val="solid"/>
                      <a:round/>
                      <a:headEnd len="sm" w="sm" type="none"/>
                      <a:tailEnd len="sm" w="sm" type="none"/>
                    </a:lnL>
                    <a:lnR cap="flat" cmpd="sng" w="9525">
                      <a:solidFill>
                        <a:srgbClr val="D9E2EA"/>
                      </a:solidFill>
                      <a:prstDash val="solid"/>
                      <a:round/>
                      <a:headEnd len="sm" w="sm" type="none"/>
                      <a:tailEnd len="sm" w="sm" type="none"/>
                    </a:lnR>
                    <a:lnT cap="flat" cmpd="sng" w="9525">
                      <a:solidFill>
                        <a:srgbClr val="D9E2EA"/>
                      </a:solidFill>
                      <a:prstDash val="solid"/>
                      <a:round/>
                      <a:headEnd len="sm" w="sm" type="none"/>
                      <a:tailEnd len="sm" w="sm" type="none"/>
                    </a:lnT>
                    <a:lnB cap="flat" cmpd="sng" w="9525">
                      <a:solidFill>
                        <a:srgbClr val="D9E2EA"/>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23293B"/>
                        </a:buClr>
                        <a:buSzPts val="1150"/>
                        <a:buFont typeface="Calibri"/>
                        <a:buNone/>
                      </a:pPr>
                      <a:r>
                        <a:rPr lang="en-US" sz="1150" u="none" cap="none" strike="noStrike">
                          <a:solidFill>
                            <a:srgbClr val="23293B"/>
                          </a:solidFill>
                          <a:latin typeface="Calibri"/>
                          <a:ea typeface="Calibri"/>
                          <a:cs typeface="Calibri"/>
                          <a:sym typeface="Calibri"/>
                        </a:rPr>
                        <a:t>Non-deterministic val or wrong split</a:t>
                      </a:r>
                      <a:endParaRPr sz="1150" u="none" cap="none" strike="noStrike">
                        <a:latin typeface="Calibri"/>
                        <a:ea typeface="Calibri"/>
                        <a:cs typeface="Calibri"/>
                        <a:sym typeface="Calibri"/>
                      </a:endParaRPr>
                    </a:p>
                  </a:txBody>
                  <a:tcPr marT="64000" marB="64000" marR="64000" marL="64000" anchor="ctr">
                    <a:lnL cap="flat" cmpd="sng" w="9525">
                      <a:solidFill>
                        <a:srgbClr val="D9E2EA"/>
                      </a:solidFill>
                      <a:prstDash val="solid"/>
                      <a:round/>
                      <a:headEnd len="sm" w="sm" type="none"/>
                      <a:tailEnd len="sm" w="sm" type="none"/>
                    </a:lnL>
                    <a:lnR cap="flat" cmpd="sng" w="9525">
                      <a:solidFill>
                        <a:srgbClr val="D9E2EA"/>
                      </a:solidFill>
                      <a:prstDash val="solid"/>
                      <a:round/>
                      <a:headEnd len="sm" w="sm" type="none"/>
                      <a:tailEnd len="sm" w="sm" type="none"/>
                    </a:lnR>
                    <a:lnT cap="flat" cmpd="sng" w="9525">
                      <a:solidFill>
                        <a:srgbClr val="D9E2EA"/>
                      </a:solidFill>
                      <a:prstDash val="solid"/>
                      <a:round/>
                      <a:headEnd len="sm" w="sm" type="none"/>
                      <a:tailEnd len="sm" w="sm" type="none"/>
                    </a:lnT>
                    <a:lnB cap="flat" cmpd="sng" w="9525">
                      <a:solidFill>
                        <a:srgbClr val="D9E2EA"/>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23293B"/>
                        </a:buClr>
                        <a:buSzPts val="1150"/>
                        <a:buFont typeface="Calibri"/>
                        <a:buNone/>
                      </a:pPr>
                      <a:r>
                        <a:rPr lang="en-US" sz="1150" u="none" cap="none" strike="noStrike">
                          <a:solidFill>
                            <a:srgbClr val="23293B"/>
                          </a:solidFill>
                          <a:latin typeface="Calibri"/>
                          <a:ea typeface="Calibri"/>
                          <a:cs typeface="Calibri"/>
                          <a:sym typeface="Calibri"/>
                        </a:rPr>
                        <a:t>seed=212, deterministic=True; check YAML</a:t>
                      </a:r>
                      <a:endParaRPr sz="1150" u="none" cap="none" strike="noStrike">
                        <a:latin typeface="Calibri"/>
                        <a:ea typeface="Calibri"/>
                        <a:cs typeface="Calibri"/>
                        <a:sym typeface="Calibri"/>
                      </a:endParaRPr>
                    </a:p>
                  </a:txBody>
                  <a:tcPr marT="64000" marB="64000" marR="64000" marL="64000" anchor="ctr">
                    <a:lnL cap="flat" cmpd="sng" w="9525">
                      <a:solidFill>
                        <a:srgbClr val="D9E2EA"/>
                      </a:solidFill>
                      <a:prstDash val="solid"/>
                      <a:round/>
                      <a:headEnd len="sm" w="sm" type="none"/>
                      <a:tailEnd len="sm" w="sm" type="none"/>
                    </a:lnL>
                    <a:lnR cap="flat" cmpd="sng" w="9525">
                      <a:solidFill>
                        <a:srgbClr val="D9E2EA"/>
                      </a:solidFill>
                      <a:prstDash val="solid"/>
                      <a:round/>
                      <a:headEnd len="sm" w="sm" type="none"/>
                      <a:tailEnd len="sm" w="sm" type="none"/>
                    </a:lnR>
                    <a:lnT cap="flat" cmpd="sng" w="9525">
                      <a:solidFill>
                        <a:srgbClr val="D9E2EA"/>
                      </a:solidFill>
                      <a:prstDash val="solid"/>
                      <a:round/>
                      <a:headEnd len="sm" w="sm" type="none"/>
                      <a:tailEnd len="sm" w="sm" type="none"/>
                    </a:lnT>
                    <a:lnB cap="flat" cmpd="sng" w="9525">
                      <a:solidFill>
                        <a:srgbClr val="D9E2EA"/>
                      </a:solidFill>
                      <a:prstDash val="solid"/>
                      <a:round/>
                      <a:headEnd len="sm" w="sm" type="none"/>
                      <a:tailEnd len="sm" w="sm" type="none"/>
                    </a:lnB>
                    <a:solidFill>
                      <a:srgbClr val="FFFFFF"/>
                    </a:solidFill>
                  </a:tcPr>
                </a:tc>
              </a:tr>
            </a:tbl>
          </a:graphicData>
        </a:graphic>
      </p:graphicFrame>
    </p:spTree>
  </p:cSld>
  <p:clrMapOvr>
    <a:masterClrMapping/>
  </p:clrMapOvr>
</p:sld>
</file>

<file path=ppt/slides/slide6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823" name="Shape 1823"/>
        <p:cNvGrpSpPr/>
        <p:nvPr/>
      </p:nvGrpSpPr>
      <p:grpSpPr>
        <a:xfrm>
          <a:off x="0" y="0"/>
          <a:ext cx="0" cy="0"/>
          <a:chOff x="0" y="0"/>
          <a:chExt cx="0" cy="0"/>
        </a:xfrm>
      </p:grpSpPr>
      <p:sp>
        <p:nvSpPr>
          <p:cNvPr id="1824" name="Google Shape;1824;p64"/>
          <p:cNvSpPr/>
          <p:nvPr/>
        </p:nvSpPr>
        <p:spPr>
          <a:xfrm>
            <a:off x="502920" y="274320"/>
            <a:ext cx="9646920" cy="56692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D2A5C"/>
              </a:buClr>
              <a:buSzPts val="2700"/>
              <a:buFont typeface="Calibri"/>
              <a:buNone/>
            </a:pPr>
            <a:r>
              <a:rPr b="1" i="0" lang="en-US" sz="2700" u="none" cap="none" strike="noStrike">
                <a:solidFill>
                  <a:srgbClr val="1D2A5C"/>
                </a:solidFill>
                <a:latin typeface="Calibri"/>
                <a:ea typeface="Calibri"/>
                <a:cs typeface="Calibri"/>
                <a:sym typeface="Calibri"/>
              </a:rPr>
              <a:t>Module 3 Quiz</a:t>
            </a:r>
            <a:endParaRPr b="0" i="0" sz="2700" u="none" cap="none" strike="noStrike">
              <a:solidFill>
                <a:schemeClr val="dk1"/>
              </a:solidFill>
              <a:latin typeface="Calibri"/>
              <a:ea typeface="Calibri"/>
              <a:cs typeface="Calibri"/>
              <a:sym typeface="Calibri"/>
            </a:endParaRPr>
          </a:p>
        </p:txBody>
      </p:sp>
      <p:sp>
        <p:nvSpPr>
          <p:cNvPr id="1825" name="Google Shape;1825;p64"/>
          <p:cNvSpPr/>
          <p:nvPr/>
        </p:nvSpPr>
        <p:spPr>
          <a:xfrm>
            <a:off x="502920" y="859536"/>
            <a:ext cx="9646920" cy="31089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F6B7A"/>
              </a:buClr>
              <a:buSzPts val="1250"/>
              <a:buFont typeface="Arial"/>
              <a:buNone/>
            </a:pPr>
            <a:r>
              <a:rPr b="0" i="0" lang="en-US" sz="1250" u="none" cap="none" strike="noStrike">
                <a:solidFill>
                  <a:srgbClr val="5F6B7A"/>
                </a:solidFill>
                <a:latin typeface="Arial"/>
                <a:ea typeface="Arial"/>
                <a:cs typeface="Arial"/>
                <a:sym typeface="Arial"/>
              </a:rPr>
              <a:t>اختبار الوحدة الثالثة</a:t>
            </a:r>
            <a:endParaRPr b="0" i="0" sz="1250" u="none" cap="none" strike="noStrike">
              <a:solidFill>
                <a:schemeClr val="dk1"/>
              </a:solidFill>
              <a:latin typeface="Calibri"/>
              <a:ea typeface="Calibri"/>
              <a:cs typeface="Calibri"/>
              <a:sym typeface="Calibri"/>
            </a:endParaRPr>
          </a:p>
        </p:txBody>
      </p:sp>
      <p:pic>
        <p:nvPicPr>
          <p:cNvPr descr="/sessions/blissful-determined-ritchie/build/assets/sdaia_logo.png" id="1826" name="Google Shape;1826;p64"/>
          <p:cNvPicPr preferRelativeResize="0"/>
          <p:nvPr/>
        </p:nvPicPr>
        <p:blipFill rotWithShape="1">
          <a:blip r:embed="rId3">
            <a:alphaModFix/>
          </a:blip>
          <a:srcRect b="0" l="0" r="0" t="0"/>
          <a:stretch/>
        </p:blipFill>
        <p:spPr>
          <a:xfrm>
            <a:off x="10625328" y="310896"/>
            <a:ext cx="1078992" cy="264111"/>
          </a:xfrm>
          <a:prstGeom prst="rect">
            <a:avLst/>
          </a:prstGeom>
          <a:noFill/>
          <a:ln>
            <a:noFill/>
          </a:ln>
        </p:spPr>
      </p:pic>
      <p:sp>
        <p:nvSpPr>
          <p:cNvPr id="1827" name="Google Shape;1827;p64"/>
          <p:cNvSpPr/>
          <p:nvPr/>
        </p:nvSpPr>
        <p:spPr>
          <a:xfrm>
            <a:off x="502920" y="6528816"/>
            <a:ext cx="8686800"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A79D"/>
              </a:buClr>
              <a:buSzPts val="800"/>
              <a:buFont typeface="Calibri"/>
              <a:buNone/>
            </a:pPr>
            <a:r>
              <a:rPr b="1" i="0" lang="en-US" sz="800" u="none" cap="none" strike="noStrike">
                <a:solidFill>
                  <a:srgbClr val="00A79D"/>
                </a:solidFill>
                <a:latin typeface="Calibri"/>
                <a:ea typeface="Calibri"/>
                <a:cs typeface="Calibri"/>
                <a:sym typeface="Calibri"/>
              </a:rPr>
              <a:t>MODULE 3 · QUIZ   </a:t>
            </a:r>
            <a:r>
              <a:rPr b="0" i="0" lang="en-US" sz="800" u="none" cap="none" strike="noStrike">
                <a:solidFill>
                  <a:srgbClr val="8A96A6"/>
                </a:solidFill>
                <a:latin typeface="Calibri"/>
                <a:ea typeface="Calibri"/>
                <a:cs typeface="Calibri"/>
                <a:sym typeface="Calibri"/>
              </a:rPr>
              <a:t>SDA-AIE-212 · Computer Vision Systems Development</a:t>
            </a:r>
            <a:endParaRPr b="0" i="0" sz="800" u="none" cap="none" strike="noStrike">
              <a:solidFill>
                <a:schemeClr val="dk1"/>
              </a:solidFill>
              <a:latin typeface="Calibri"/>
              <a:ea typeface="Calibri"/>
              <a:cs typeface="Calibri"/>
              <a:sym typeface="Calibri"/>
            </a:endParaRPr>
          </a:p>
        </p:txBody>
      </p:sp>
      <p:sp>
        <p:nvSpPr>
          <p:cNvPr id="1828" name="Google Shape;1828;p64"/>
          <p:cNvSpPr/>
          <p:nvPr/>
        </p:nvSpPr>
        <p:spPr>
          <a:xfrm>
            <a:off x="11292840" y="6528816"/>
            <a:ext cx="411480" cy="219456"/>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8A96A6"/>
              </a:buClr>
              <a:buSzPts val="900"/>
              <a:buFont typeface="Calibri"/>
              <a:buNone/>
            </a:pPr>
            <a:r>
              <a:rPr b="0" i="0" lang="en-US" sz="900" u="none" cap="none" strike="noStrike">
                <a:solidFill>
                  <a:srgbClr val="8A96A6"/>
                </a:solidFill>
                <a:latin typeface="Calibri"/>
                <a:ea typeface="Calibri"/>
                <a:cs typeface="Calibri"/>
                <a:sym typeface="Calibri"/>
              </a:rPr>
              <a:t>64</a:t>
            </a:r>
            <a:endParaRPr b="0" i="0" sz="900" u="none" cap="none" strike="noStrike">
              <a:solidFill>
                <a:schemeClr val="dk1"/>
              </a:solidFill>
              <a:latin typeface="Calibri"/>
              <a:ea typeface="Calibri"/>
              <a:cs typeface="Calibri"/>
              <a:sym typeface="Calibri"/>
            </a:endParaRPr>
          </a:p>
        </p:txBody>
      </p:sp>
      <p:sp>
        <p:nvSpPr>
          <p:cNvPr id="1829" name="Google Shape;1829;p64"/>
          <p:cNvSpPr/>
          <p:nvPr/>
        </p:nvSpPr>
        <p:spPr>
          <a:xfrm>
            <a:off x="502920" y="1417320"/>
            <a:ext cx="11183112" cy="801014"/>
          </a:xfrm>
          <a:prstGeom prst="roundRect">
            <a:avLst>
              <a:gd fmla="val 9132" name="adj"/>
            </a:avLst>
          </a:prstGeom>
          <a:solidFill>
            <a:srgbClr val="F2F6F9"/>
          </a:solidFill>
          <a:ln cap="flat" cmpd="sng" w="9525">
            <a:solidFill>
              <a:srgbClr val="D9E2E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30" name="Google Shape;1830;p64"/>
          <p:cNvSpPr/>
          <p:nvPr/>
        </p:nvSpPr>
        <p:spPr>
          <a:xfrm>
            <a:off x="649224" y="1644091"/>
            <a:ext cx="347472" cy="347472"/>
          </a:xfrm>
          <a:prstGeom prst="ellipse">
            <a:avLst/>
          </a:prstGeom>
          <a:solidFill>
            <a:srgbClr val="F5822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31" name="Google Shape;1831;p64"/>
          <p:cNvSpPr/>
          <p:nvPr/>
        </p:nvSpPr>
        <p:spPr>
          <a:xfrm>
            <a:off x="649224" y="1644091"/>
            <a:ext cx="347472" cy="34747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050"/>
              <a:buFont typeface="Calibri"/>
              <a:buNone/>
            </a:pPr>
            <a:r>
              <a:rPr b="1" i="0" lang="en-US" sz="1050" u="none" cap="none" strike="noStrike">
                <a:solidFill>
                  <a:srgbClr val="FFFFFF"/>
                </a:solidFill>
                <a:latin typeface="Calibri"/>
                <a:ea typeface="Calibri"/>
                <a:cs typeface="Calibri"/>
                <a:sym typeface="Calibri"/>
              </a:rPr>
              <a:t>Q1</a:t>
            </a:r>
            <a:endParaRPr b="0" i="0" sz="1050" u="none" cap="none" strike="noStrike">
              <a:solidFill>
                <a:schemeClr val="dk1"/>
              </a:solidFill>
              <a:latin typeface="Calibri"/>
              <a:ea typeface="Calibri"/>
              <a:cs typeface="Calibri"/>
              <a:sym typeface="Calibri"/>
            </a:endParaRPr>
          </a:p>
        </p:txBody>
      </p:sp>
      <p:sp>
        <p:nvSpPr>
          <p:cNvPr id="1832" name="Google Shape;1832;p64"/>
          <p:cNvSpPr/>
          <p:nvPr/>
        </p:nvSpPr>
        <p:spPr>
          <a:xfrm>
            <a:off x="1161288" y="1417320"/>
            <a:ext cx="10332720" cy="80101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3293B"/>
              </a:buClr>
              <a:buSzPts val="1250"/>
              <a:buFont typeface="Calibri"/>
              <a:buNone/>
            </a:pPr>
            <a:r>
              <a:rPr b="0" i="0" lang="en-US" sz="1250" u="none" cap="none" strike="noStrike">
                <a:solidFill>
                  <a:srgbClr val="23293B"/>
                </a:solidFill>
                <a:latin typeface="Calibri"/>
                <a:ea typeface="Calibri"/>
                <a:cs typeface="Calibri"/>
                <a:sym typeface="Calibri"/>
              </a:rPr>
              <a:t>Name the three structural parts of a modern YOLO and one job of each.</a:t>
            </a:r>
            <a:endParaRPr b="0" i="0" sz="1250" u="none" cap="none" strike="noStrike">
              <a:solidFill>
                <a:schemeClr val="dk1"/>
              </a:solidFill>
              <a:latin typeface="Calibri"/>
              <a:ea typeface="Calibri"/>
              <a:cs typeface="Calibri"/>
              <a:sym typeface="Calibri"/>
            </a:endParaRPr>
          </a:p>
        </p:txBody>
      </p:sp>
      <p:sp>
        <p:nvSpPr>
          <p:cNvPr id="1833" name="Google Shape;1833;p64"/>
          <p:cNvSpPr/>
          <p:nvPr/>
        </p:nvSpPr>
        <p:spPr>
          <a:xfrm>
            <a:off x="502920" y="2346350"/>
            <a:ext cx="11183112" cy="801014"/>
          </a:xfrm>
          <a:prstGeom prst="roundRect">
            <a:avLst>
              <a:gd fmla="val 9132" name="adj"/>
            </a:avLst>
          </a:prstGeom>
          <a:solidFill>
            <a:srgbClr val="F2F6F9"/>
          </a:solidFill>
          <a:ln cap="flat" cmpd="sng" w="9525">
            <a:solidFill>
              <a:srgbClr val="D9E2E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34" name="Google Shape;1834;p64"/>
          <p:cNvSpPr/>
          <p:nvPr/>
        </p:nvSpPr>
        <p:spPr>
          <a:xfrm>
            <a:off x="649224" y="2573122"/>
            <a:ext cx="347472" cy="347472"/>
          </a:xfrm>
          <a:prstGeom prst="ellipse">
            <a:avLst/>
          </a:prstGeom>
          <a:solidFill>
            <a:srgbClr val="F5822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35" name="Google Shape;1835;p64"/>
          <p:cNvSpPr/>
          <p:nvPr/>
        </p:nvSpPr>
        <p:spPr>
          <a:xfrm>
            <a:off x="649224" y="2573122"/>
            <a:ext cx="347472" cy="34747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050"/>
              <a:buFont typeface="Calibri"/>
              <a:buNone/>
            </a:pPr>
            <a:r>
              <a:rPr b="1" i="0" lang="en-US" sz="1050" u="none" cap="none" strike="noStrike">
                <a:solidFill>
                  <a:srgbClr val="FFFFFF"/>
                </a:solidFill>
                <a:latin typeface="Calibri"/>
                <a:ea typeface="Calibri"/>
                <a:cs typeface="Calibri"/>
                <a:sym typeface="Calibri"/>
              </a:rPr>
              <a:t>Q2</a:t>
            </a:r>
            <a:endParaRPr b="0" i="0" sz="1050" u="none" cap="none" strike="noStrike">
              <a:solidFill>
                <a:schemeClr val="dk1"/>
              </a:solidFill>
              <a:latin typeface="Calibri"/>
              <a:ea typeface="Calibri"/>
              <a:cs typeface="Calibri"/>
              <a:sym typeface="Calibri"/>
            </a:endParaRPr>
          </a:p>
        </p:txBody>
      </p:sp>
      <p:sp>
        <p:nvSpPr>
          <p:cNvPr id="1836" name="Google Shape;1836;p64"/>
          <p:cNvSpPr/>
          <p:nvPr/>
        </p:nvSpPr>
        <p:spPr>
          <a:xfrm>
            <a:off x="1161288" y="2346350"/>
            <a:ext cx="10332720" cy="80101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3293B"/>
              </a:buClr>
              <a:buSzPts val="1250"/>
              <a:buFont typeface="Calibri"/>
              <a:buNone/>
            </a:pPr>
            <a:r>
              <a:rPr b="0" i="0" lang="en-US" sz="1250" u="none" cap="none" strike="noStrike">
                <a:solidFill>
                  <a:srgbClr val="23293B"/>
                </a:solidFill>
                <a:latin typeface="Calibri"/>
                <a:ea typeface="Calibri"/>
                <a:cs typeface="Calibri"/>
                <a:sym typeface="Calibri"/>
              </a:rPr>
              <a:t>What does NMS do, and what goes wrong on touching fruit if its IoU threshold is too low?</a:t>
            </a:r>
            <a:endParaRPr b="0" i="0" sz="1250" u="none" cap="none" strike="noStrike">
              <a:solidFill>
                <a:schemeClr val="dk1"/>
              </a:solidFill>
              <a:latin typeface="Calibri"/>
              <a:ea typeface="Calibri"/>
              <a:cs typeface="Calibri"/>
              <a:sym typeface="Calibri"/>
            </a:endParaRPr>
          </a:p>
        </p:txBody>
      </p:sp>
      <p:sp>
        <p:nvSpPr>
          <p:cNvPr id="1837" name="Google Shape;1837;p64"/>
          <p:cNvSpPr/>
          <p:nvPr/>
        </p:nvSpPr>
        <p:spPr>
          <a:xfrm>
            <a:off x="502920" y="3275381"/>
            <a:ext cx="11183112" cy="801014"/>
          </a:xfrm>
          <a:prstGeom prst="roundRect">
            <a:avLst>
              <a:gd fmla="val 9132" name="adj"/>
            </a:avLst>
          </a:prstGeom>
          <a:solidFill>
            <a:srgbClr val="F2F6F9"/>
          </a:solidFill>
          <a:ln cap="flat" cmpd="sng" w="9525">
            <a:solidFill>
              <a:srgbClr val="D9E2E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38" name="Google Shape;1838;p64"/>
          <p:cNvSpPr/>
          <p:nvPr/>
        </p:nvSpPr>
        <p:spPr>
          <a:xfrm>
            <a:off x="649224" y="3502152"/>
            <a:ext cx="347472" cy="347472"/>
          </a:xfrm>
          <a:prstGeom prst="ellipse">
            <a:avLst/>
          </a:prstGeom>
          <a:solidFill>
            <a:srgbClr val="F5822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39" name="Google Shape;1839;p64"/>
          <p:cNvSpPr/>
          <p:nvPr/>
        </p:nvSpPr>
        <p:spPr>
          <a:xfrm>
            <a:off x="649224" y="3502152"/>
            <a:ext cx="347472" cy="34747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050"/>
              <a:buFont typeface="Calibri"/>
              <a:buNone/>
            </a:pPr>
            <a:r>
              <a:rPr b="1" i="0" lang="en-US" sz="1050" u="none" cap="none" strike="noStrike">
                <a:solidFill>
                  <a:srgbClr val="FFFFFF"/>
                </a:solidFill>
                <a:latin typeface="Calibri"/>
                <a:ea typeface="Calibri"/>
                <a:cs typeface="Calibri"/>
                <a:sym typeface="Calibri"/>
              </a:rPr>
              <a:t>Q3</a:t>
            </a:r>
            <a:endParaRPr b="0" i="0" sz="1050" u="none" cap="none" strike="noStrike">
              <a:solidFill>
                <a:schemeClr val="dk1"/>
              </a:solidFill>
              <a:latin typeface="Calibri"/>
              <a:ea typeface="Calibri"/>
              <a:cs typeface="Calibri"/>
              <a:sym typeface="Calibri"/>
            </a:endParaRPr>
          </a:p>
        </p:txBody>
      </p:sp>
      <p:sp>
        <p:nvSpPr>
          <p:cNvPr id="1840" name="Google Shape;1840;p64"/>
          <p:cNvSpPr/>
          <p:nvPr/>
        </p:nvSpPr>
        <p:spPr>
          <a:xfrm>
            <a:off x="1161288" y="3275381"/>
            <a:ext cx="10332720" cy="80101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3293B"/>
              </a:buClr>
              <a:buSzPts val="1250"/>
              <a:buFont typeface="Calibri"/>
              <a:buNone/>
            </a:pPr>
            <a:r>
              <a:rPr b="0" i="0" lang="en-US" sz="1250" u="none" cap="none" strike="noStrike">
                <a:solidFill>
                  <a:srgbClr val="23293B"/>
                </a:solidFill>
                <a:latin typeface="Calibri"/>
                <a:ea typeface="Calibri"/>
                <a:cs typeface="Calibri"/>
                <a:sym typeface="Calibri"/>
              </a:rPr>
              <a:t>Why keep ~10% defect-free frames in the training set?</a:t>
            </a:r>
            <a:endParaRPr b="0" i="0" sz="1250" u="none" cap="none" strike="noStrike">
              <a:solidFill>
                <a:schemeClr val="dk1"/>
              </a:solidFill>
              <a:latin typeface="Calibri"/>
              <a:ea typeface="Calibri"/>
              <a:cs typeface="Calibri"/>
              <a:sym typeface="Calibri"/>
            </a:endParaRPr>
          </a:p>
        </p:txBody>
      </p:sp>
      <p:sp>
        <p:nvSpPr>
          <p:cNvPr id="1841" name="Google Shape;1841;p64"/>
          <p:cNvSpPr/>
          <p:nvPr/>
        </p:nvSpPr>
        <p:spPr>
          <a:xfrm>
            <a:off x="502920" y="4204411"/>
            <a:ext cx="11183112" cy="801014"/>
          </a:xfrm>
          <a:prstGeom prst="roundRect">
            <a:avLst>
              <a:gd fmla="val 9132" name="adj"/>
            </a:avLst>
          </a:prstGeom>
          <a:solidFill>
            <a:srgbClr val="F2F6F9"/>
          </a:solidFill>
          <a:ln cap="flat" cmpd="sng" w="9525">
            <a:solidFill>
              <a:srgbClr val="D9E2E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42" name="Google Shape;1842;p64"/>
          <p:cNvSpPr/>
          <p:nvPr/>
        </p:nvSpPr>
        <p:spPr>
          <a:xfrm>
            <a:off x="649224" y="4431182"/>
            <a:ext cx="347472" cy="347472"/>
          </a:xfrm>
          <a:prstGeom prst="ellipse">
            <a:avLst/>
          </a:prstGeom>
          <a:solidFill>
            <a:srgbClr val="F5822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43" name="Google Shape;1843;p64"/>
          <p:cNvSpPr/>
          <p:nvPr/>
        </p:nvSpPr>
        <p:spPr>
          <a:xfrm>
            <a:off x="649224" y="4431182"/>
            <a:ext cx="347472" cy="34747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050"/>
              <a:buFont typeface="Calibri"/>
              <a:buNone/>
            </a:pPr>
            <a:r>
              <a:rPr b="1" i="0" lang="en-US" sz="1050" u="none" cap="none" strike="noStrike">
                <a:solidFill>
                  <a:srgbClr val="FFFFFF"/>
                </a:solidFill>
                <a:latin typeface="Calibri"/>
                <a:ea typeface="Calibri"/>
                <a:cs typeface="Calibri"/>
                <a:sym typeface="Calibri"/>
              </a:rPr>
              <a:t>Q4</a:t>
            </a:r>
            <a:endParaRPr b="0" i="0" sz="1050" u="none" cap="none" strike="noStrike">
              <a:solidFill>
                <a:schemeClr val="dk1"/>
              </a:solidFill>
              <a:latin typeface="Calibri"/>
              <a:ea typeface="Calibri"/>
              <a:cs typeface="Calibri"/>
              <a:sym typeface="Calibri"/>
            </a:endParaRPr>
          </a:p>
        </p:txBody>
      </p:sp>
      <p:sp>
        <p:nvSpPr>
          <p:cNvPr id="1844" name="Google Shape;1844;p64"/>
          <p:cNvSpPr/>
          <p:nvPr/>
        </p:nvSpPr>
        <p:spPr>
          <a:xfrm>
            <a:off x="1161288" y="4204411"/>
            <a:ext cx="10332720" cy="80101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3293B"/>
              </a:buClr>
              <a:buSzPts val="1250"/>
              <a:buFont typeface="Calibri"/>
              <a:buNone/>
            </a:pPr>
            <a:r>
              <a:rPr b="0" i="0" lang="en-US" sz="1250" u="none" cap="none" strike="noStrike">
                <a:solidFill>
                  <a:srgbClr val="23293B"/>
                </a:solidFill>
                <a:latin typeface="Calibri"/>
                <a:ea typeface="Calibri"/>
                <a:cs typeface="Calibri"/>
                <a:sym typeface="Calibri"/>
              </a:rPr>
              <a:t>box_loss plateaus while cls_loss falls. Diagnosis?</a:t>
            </a:r>
            <a:endParaRPr b="0" i="0" sz="1250" u="none" cap="none" strike="noStrike">
              <a:solidFill>
                <a:schemeClr val="dk1"/>
              </a:solidFill>
              <a:latin typeface="Calibri"/>
              <a:ea typeface="Calibri"/>
              <a:cs typeface="Calibri"/>
              <a:sym typeface="Calibri"/>
            </a:endParaRPr>
          </a:p>
        </p:txBody>
      </p:sp>
      <p:sp>
        <p:nvSpPr>
          <p:cNvPr id="1845" name="Google Shape;1845;p64"/>
          <p:cNvSpPr/>
          <p:nvPr/>
        </p:nvSpPr>
        <p:spPr>
          <a:xfrm>
            <a:off x="502920" y="5133442"/>
            <a:ext cx="11183112" cy="801014"/>
          </a:xfrm>
          <a:prstGeom prst="roundRect">
            <a:avLst>
              <a:gd fmla="val 9132" name="adj"/>
            </a:avLst>
          </a:prstGeom>
          <a:solidFill>
            <a:srgbClr val="F2F6F9"/>
          </a:solidFill>
          <a:ln cap="flat" cmpd="sng" w="9525">
            <a:solidFill>
              <a:srgbClr val="D9E2E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46" name="Google Shape;1846;p64"/>
          <p:cNvSpPr/>
          <p:nvPr/>
        </p:nvSpPr>
        <p:spPr>
          <a:xfrm>
            <a:off x="649224" y="5360213"/>
            <a:ext cx="347472" cy="347472"/>
          </a:xfrm>
          <a:prstGeom prst="ellipse">
            <a:avLst/>
          </a:prstGeom>
          <a:solidFill>
            <a:srgbClr val="F5822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47" name="Google Shape;1847;p64"/>
          <p:cNvSpPr/>
          <p:nvPr/>
        </p:nvSpPr>
        <p:spPr>
          <a:xfrm>
            <a:off x="649224" y="5360213"/>
            <a:ext cx="347472" cy="34747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050"/>
              <a:buFont typeface="Calibri"/>
              <a:buNone/>
            </a:pPr>
            <a:r>
              <a:rPr b="1" i="0" lang="en-US" sz="1050" u="none" cap="none" strike="noStrike">
                <a:solidFill>
                  <a:srgbClr val="FFFFFF"/>
                </a:solidFill>
                <a:latin typeface="Calibri"/>
                <a:ea typeface="Calibri"/>
                <a:cs typeface="Calibri"/>
                <a:sym typeface="Calibri"/>
              </a:rPr>
              <a:t>Q5</a:t>
            </a:r>
            <a:endParaRPr b="0" i="0" sz="1050" u="none" cap="none" strike="noStrike">
              <a:solidFill>
                <a:schemeClr val="dk1"/>
              </a:solidFill>
              <a:latin typeface="Calibri"/>
              <a:ea typeface="Calibri"/>
              <a:cs typeface="Calibri"/>
              <a:sym typeface="Calibri"/>
            </a:endParaRPr>
          </a:p>
        </p:txBody>
      </p:sp>
      <p:sp>
        <p:nvSpPr>
          <p:cNvPr id="1848" name="Google Shape;1848;p64"/>
          <p:cNvSpPr/>
          <p:nvPr/>
        </p:nvSpPr>
        <p:spPr>
          <a:xfrm>
            <a:off x="1161288" y="5133442"/>
            <a:ext cx="10332720" cy="80101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3293B"/>
              </a:buClr>
              <a:buSzPts val="1250"/>
              <a:buFont typeface="Calibri"/>
              <a:buNone/>
            </a:pPr>
            <a:r>
              <a:rPr b="0" i="0" lang="en-US" sz="1250" u="none" cap="none" strike="noStrike">
                <a:solidFill>
                  <a:srgbClr val="23293B"/>
                </a:solidFill>
                <a:latin typeface="Calibri"/>
                <a:ea typeface="Calibri"/>
                <a:cs typeface="Calibri"/>
                <a:sym typeface="Calibri"/>
              </a:rPr>
              <a:t>True/False: the deployment confidence threshold must equal the one metrics were reported at.</a:t>
            </a:r>
            <a:endParaRPr b="0" i="0" sz="1250" u="none" cap="none" strike="noStrike">
              <a:solidFill>
                <a:schemeClr val="dk1"/>
              </a:solidFill>
              <a:latin typeface="Calibri"/>
              <a:ea typeface="Calibri"/>
              <a:cs typeface="Calibri"/>
              <a:sym typeface="Calibri"/>
            </a:endParaRPr>
          </a:p>
        </p:txBody>
      </p:sp>
      <p:sp>
        <p:nvSpPr>
          <p:cNvPr id="1849" name="Google Shape;1849;p64"/>
          <p:cNvSpPr/>
          <p:nvPr/>
        </p:nvSpPr>
        <p:spPr>
          <a:xfrm>
            <a:off x="502920" y="6099048"/>
            <a:ext cx="11183112"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8A96A6"/>
              </a:buClr>
              <a:buSzPts val="1000"/>
              <a:buFont typeface="Calibri"/>
              <a:buNone/>
            </a:pPr>
            <a:r>
              <a:rPr b="0" i="1" lang="en-US" sz="1000" u="none" cap="none" strike="noStrike">
                <a:solidFill>
                  <a:srgbClr val="8A96A6"/>
                </a:solidFill>
                <a:latin typeface="Calibri"/>
                <a:ea typeface="Calibri"/>
                <a:cs typeface="Calibri"/>
                <a:sym typeface="Calibri"/>
              </a:rPr>
              <a:t>Answers and marking guidance: speaker notes below ▼</a:t>
            </a:r>
            <a:endParaRPr b="0" i="0" sz="1000" u="none" cap="none" strike="noStrike">
              <a:solidFill>
                <a:schemeClr val="dk1"/>
              </a:solidFill>
              <a:latin typeface="Calibri"/>
              <a:ea typeface="Calibri"/>
              <a:cs typeface="Calibri"/>
              <a:sym typeface="Calibri"/>
            </a:endParaRPr>
          </a:p>
        </p:txBody>
      </p:sp>
    </p:spTree>
  </p:cSld>
  <p:clrMapOvr>
    <a:masterClrMapping/>
  </p:clrMapOvr>
</p:sld>
</file>

<file path=ppt/slides/slide6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854" name="Shape 1854"/>
        <p:cNvGrpSpPr/>
        <p:nvPr/>
      </p:nvGrpSpPr>
      <p:grpSpPr>
        <a:xfrm>
          <a:off x="0" y="0"/>
          <a:ext cx="0" cy="0"/>
          <a:chOff x="0" y="0"/>
          <a:chExt cx="0" cy="0"/>
        </a:xfrm>
      </p:grpSpPr>
      <p:sp>
        <p:nvSpPr>
          <p:cNvPr id="1855" name="Google Shape;1855;p65"/>
          <p:cNvSpPr/>
          <p:nvPr/>
        </p:nvSpPr>
        <p:spPr>
          <a:xfrm>
            <a:off x="502920" y="274320"/>
            <a:ext cx="9646920" cy="56692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D2A5C"/>
              </a:buClr>
              <a:buSzPts val="2700"/>
              <a:buFont typeface="Calibri"/>
              <a:buNone/>
            </a:pPr>
            <a:r>
              <a:rPr b="1" i="0" lang="en-US" sz="2700" u="none" cap="none" strike="noStrike">
                <a:solidFill>
                  <a:srgbClr val="1D2A5C"/>
                </a:solidFill>
                <a:latin typeface="Calibri"/>
                <a:ea typeface="Calibri"/>
                <a:cs typeface="Calibri"/>
                <a:sym typeface="Calibri"/>
              </a:rPr>
              <a:t>Extra Exercises and Discussion</a:t>
            </a:r>
            <a:endParaRPr b="0" i="0" sz="2700" u="none" cap="none" strike="noStrike">
              <a:solidFill>
                <a:schemeClr val="dk1"/>
              </a:solidFill>
              <a:latin typeface="Calibri"/>
              <a:ea typeface="Calibri"/>
              <a:cs typeface="Calibri"/>
              <a:sym typeface="Calibri"/>
            </a:endParaRPr>
          </a:p>
        </p:txBody>
      </p:sp>
      <p:sp>
        <p:nvSpPr>
          <p:cNvPr id="1856" name="Google Shape;1856;p65"/>
          <p:cNvSpPr/>
          <p:nvPr/>
        </p:nvSpPr>
        <p:spPr>
          <a:xfrm>
            <a:off x="502920" y="859536"/>
            <a:ext cx="9646920" cy="31089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F6B7A"/>
              </a:buClr>
              <a:buSzPts val="1250"/>
              <a:buFont typeface="Arial"/>
              <a:buNone/>
            </a:pPr>
            <a:r>
              <a:rPr b="0" i="0" lang="en-US" sz="1250" u="none" cap="none" strike="noStrike">
                <a:solidFill>
                  <a:srgbClr val="5F6B7A"/>
                </a:solidFill>
                <a:latin typeface="Arial"/>
                <a:ea typeface="Arial"/>
                <a:cs typeface="Arial"/>
                <a:sym typeface="Arial"/>
              </a:rPr>
              <a:t>تمارين إضافية ونقاش</a:t>
            </a:r>
            <a:endParaRPr b="0" i="0" sz="1250" u="none" cap="none" strike="noStrike">
              <a:solidFill>
                <a:schemeClr val="dk1"/>
              </a:solidFill>
              <a:latin typeface="Calibri"/>
              <a:ea typeface="Calibri"/>
              <a:cs typeface="Calibri"/>
              <a:sym typeface="Calibri"/>
            </a:endParaRPr>
          </a:p>
        </p:txBody>
      </p:sp>
      <p:pic>
        <p:nvPicPr>
          <p:cNvPr descr="/sessions/blissful-determined-ritchie/build/assets/sdaia_logo.png" id="1857" name="Google Shape;1857;p65"/>
          <p:cNvPicPr preferRelativeResize="0"/>
          <p:nvPr/>
        </p:nvPicPr>
        <p:blipFill rotWithShape="1">
          <a:blip r:embed="rId3">
            <a:alphaModFix/>
          </a:blip>
          <a:srcRect b="0" l="0" r="0" t="0"/>
          <a:stretch/>
        </p:blipFill>
        <p:spPr>
          <a:xfrm>
            <a:off x="10625328" y="310896"/>
            <a:ext cx="1078992" cy="264111"/>
          </a:xfrm>
          <a:prstGeom prst="rect">
            <a:avLst/>
          </a:prstGeom>
          <a:noFill/>
          <a:ln>
            <a:noFill/>
          </a:ln>
        </p:spPr>
      </p:pic>
      <p:sp>
        <p:nvSpPr>
          <p:cNvPr id="1858" name="Google Shape;1858;p65"/>
          <p:cNvSpPr/>
          <p:nvPr/>
        </p:nvSpPr>
        <p:spPr>
          <a:xfrm>
            <a:off x="502920" y="6528816"/>
            <a:ext cx="8686800"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A79D"/>
              </a:buClr>
              <a:buSzPts val="800"/>
              <a:buFont typeface="Calibri"/>
              <a:buNone/>
            </a:pPr>
            <a:r>
              <a:rPr b="1" i="0" lang="en-US" sz="800" u="none" cap="none" strike="noStrike">
                <a:solidFill>
                  <a:srgbClr val="00A79D"/>
                </a:solidFill>
                <a:latin typeface="Calibri"/>
                <a:ea typeface="Calibri"/>
                <a:cs typeface="Calibri"/>
                <a:sym typeface="Calibri"/>
              </a:rPr>
              <a:t>MODULE 3   </a:t>
            </a:r>
            <a:r>
              <a:rPr b="0" i="0" lang="en-US" sz="800" u="none" cap="none" strike="noStrike">
                <a:solidFill>
                  <a:srgbClr val="8A96A6"/>
                </a:solidFill>
                <a:latin typeface="Calibri"/>
                <a:ea typeface="Calibri"/>
                <a:cs typeface="Calibri"/>
                <a:sym typeface="Calibri"/>
              </a:rPr>
              <a:t>SDA-AIE-212 · Computer Vision Systems Development</a:t>
            </a:r>
            <a:endParaRPr b="0" i="0" sz="800" u="none" cap="none" strike="noStrike">
              <a:solidFill>
                <a:schemeClr val="dk1"/>
              </a:solidFill>
              <a:latin typeface="Calibri"/>
              <a:ea typeface="Calibri"/>
              <a:cs typeface="Calibri"/>
              <a:sym typeface="Calibri"/>
            </a:endParaRPr>
          </a:p>
        </p:txBody>
      </p:sp>
      <p:sp>
        <p:nvSpPr>
          <p:cNvPr id="1859" name="Google Shape;1859;p65"/>
          <p:cNvSpPr/>
          <p:nvPr/>
        </p:nvSpPr>
        <p:spPr>
          <a:xfrm>
            <a:off x="11292840" y="6528816"/>
            <a:ext cx="411480" cy="219456"/>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8A96A6"/>
              </a:buClr>
              <a:buSzPts val="900"/>
              <a:buFont typeface="Calibri"/>
              <a:buNone/>
            </a:pPr>
            <a:r>
              <a:rPr b="0" i="0" lang="en-US" sz="900" u="none" cap="none" strike="noStrike">
                <a:solidFill>
                  <a:srgbClr val="8A96A6"/>
                </a:solidFill>
                <a:latin typeface="Calibri"/>
                <a:ea typeface="Calibri"/>
                <a:cs typeface="Calibri"/>
                <a:sym typeface="Calibri"/>
              </a:rPr>
              <a:t>65</a:t>
            </a:r>
            <a:endParaRPr b="0" i="0" sz="900" u="none" cap="none" strike="noStrike">
              <a:solidFill>
                <a:schemeClr val="dk1"/>
              </a:solidFill>
              <a:latin typeface="Calibri"/>
              <a:ea typeface="Calibri"/>
              <a:cs typeface="Calibri"/>
              <a:sym typeface="Calibri"/>
            </a:endParaRPr>
          </a:p>
        </p:txBody>
      </p:sp>
      <p:sp>
        <p:nvSpPr>
          <p:cNvPr id="1860" name="Google Shape;1860;p65"/>
          <p:cNvSpPr/>
          <p:nvPr/>
        </p:nvSpPr>
        <p:spPr>
          <a:xfrm>
            <a:off x="502920" y="1559052"/>
            <a:ext cx="329184" cy="329184"/>
          </a:xfrm>
          <a:prstGeom prst="ellipse">
            <a:avLst/>
          </a:prstGeom>
          <a:solidFill>
            <a:srgbClr val="00A79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61" name="Google Shape;1861;p65"/>
          <p:cNvSpPr/>
          <p:nvPr/>
        </p:nvSpPr>
        <p:spPr>
          <a:xfrm>
            <a:off x="502920" y="1559052"/>
            <a:ext cx="329184" cy="32918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300"/>
              <a:buFont typeface="Calibri"/>
              <a:buNone/>
            </a:pPr>
            <a:r>
              <a:rPr b="1" i="0" lang="en-US" sz="1300" u="none" cap="none" strike="noStrike">
                <a:solidFill>
                  <a:srgbClr val="FFFFFF"/>
                </a:solidFill>
                <a:latin typeface="Calibri"/>
                <a:ea typeface="Calibri"/>
                <a:cs typeface="Calibri"/>
                <a:sym typeface="Calibri"/>
              </a:rPr>
              <a:t>1</a:t>
            </a:r>
            <a:endParaRPr b="0" i="0" sz="1300" u="none" cap="none" strike="noStrike">
              <a:solidFill>
                <a:schemeClr val="dk1"/>
              </a:solidFill>
              <a:latin typeface="Calibri"/>
              <a:ea typeface="Calibri"/>
              <a:cs typeface="Calibri"/>
              <a:sym typeface="Calibri"/>
            </a:endParaRPr>
          </a:p>
        </p:txBody>
      </p:sp>
      <p:sp>
        <p:nvSpPr>
          <p:cNvPr id="1862" name="Google Shape;1862;p65"/>
          <p:cNvSpPr/>
          <p:nvPr/>
        </p:nvSpPr>
        <p:spPr>
          <a:xfrm>
            <a:off x="1005840" y="1495044"/>
            <a:ext cx="10682935"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D2A5C"/>
              </a:buClr>
              <a:buSzPts val="1400"/>
              <a:buFont typeface="Calibri"/>
              <a:buNone/>
            </a:pPr>
            <a:r>
              <a:rPr b="1" i="0" lang="en-US" sz="1400" u="none" cap="none" strike="noStrike">
                <a:solidFill>
                  <a:srgbClr val="1D2A5C"/>
                </a:solidFill>
                <a:latin typeface="Calibri"/>
                <a:ea typeface="Calibri"/>
                <a:cs typeface="Calibri"/>
                <a:sym typeface="Calibri"/>
              </a:rPr>
              <a:t>Debugging: sim-class-shift</a:t>
            </a:r>
            <a:endParaRPr b="0" i="0" sz="1400" u="none" cap="none" strike="noStrike">
              <a:solidFill>
                <a:schemeClr val="dk1"/>
              </a:solidFill>
              <a:latin typeface="Calibri"/>
              <a:ea typeface="Calibri"/>
              <a:cs typeface="Calibri"/>
              <a:sym typeface="Calibri"/>
            </a:endParaRPr>
          </a:p>
        </p:txBody>
      </p:sp>
      <p:sp>
        <p:nvSpPr>
          <p:cNvPr id="1863" name="Google Shape;1863;p65"/>
          <p:cNvSpPr/>
          <p:nvPr/>
        </p:nvSpPr>
        <p:spPr>
          <a:xfrm>
            <a:off x="1005840" y="1796796"/>
            <a:ext cx="10682935" cy="841248"/>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5F6B7A"/>
              </a:buClr>
              <a:buSzPts val="1150"/>
              <a:buFont typeface="Calibri"/>
              <a:buNone/>
            </a:pPr>
            <a:r>
              <a:rPr b="0" i="0" lang="en-US" sz="1150" u="none" cap="none" strike="noStrike">
                <a:solidFill>
                  <a:srgbClr val="5F6B7A"/>
                </a:solidFill>
                <a:latin typeface="Calibri"/>
                <a:ea typeface="Calibri"/>
                <a:cs typeface="Calibri"/>
                <a:sym typeface="Calibri"/>
              </a:rPr>
              <a:t>The YAML lists classes alphabetically; labels were written in taxonomy order. mAP looks plausible (~0.71) but the per-class table is absurd. Catch it by rendering predictions vs GT.</a:t>
            </a:r>
            <a:endParaRPr b="0" i="0" sz="1150" u="none" cap="none" strike="noStrike">
              <a:solidFill>
                <a:schemeClr val="dk1"/>
              </a:solidFill>
              <a:latin typeface="Calibri"/>
              <a:ea typeface="Calibri"/>
              <a:cs typeface="Calibri"/>
              <a:sym typeface="Calibri"/>
            </a:endParaRPr>
          </a:p>
        </p:txBody>
      </p:sp>
      <p:sp>
        <p:nvSpPr>
          <p:cNvPr id="1864" name="Google Shape;1864;p65"/>
          <p:cNvSpPr/>
          <p:nvPr/>
        </p:nvSpPr>
        <p:spPr>
          <a:xfrm>
            <a:off x="502920" y="2747772"/>
            <a:ext cx="329184" cy="329184"/>
          </a:xfrm>
          <a:prstGeom prst="ellipse">
            <a:avLst/>
          </a:prstGeom>
          <a:solidFill>
            <a:srgbClr val="29ABE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65" name="Google Shape;1865;p65"/>
          <p:cNvSpPr/>
          <p:nvPr/>
        </p:nvSpPr>
        <p:spPr>
          <a:xfrm>
            <a:off x="502920" y="2747772"/>
            <a:ext cx="329184" cy="32918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300"/>
              <a:buFont typeface="Calibri"/>
              <a:buNone/>
            </a:pPr>
            <a:r>
              <a:rPr b="1" i="0" lang="en-US" sz="1300" u="none" cap="none" strike="noStrike">
                <a:solidFill>
                  <a:srgbClr val="FFFFFF"/>
                </a:solidFill>
                <a:latin typeface="Calibri"/>
                <a:ea typeface="Calibri"/>
                <a:cs typeface="Calibri"/>
                <a:sym typeface="Calibri"/>
              </a:rPr>
              <a:t>2</a:t>
            </a:r>
            <a:endParaRPr b="0" i="0" sz="1300" u="none" cap="none" strike="noStrike">
              <a:solidFill>
                <a:schemeClr val="dk1"/>
              </a:solidFill>
              <a:latin typeface="Calibri"/>
              <a:ea typeface="Calibri"/>
              <a:cs typeface="Calibri"/>
              <a:sym typeface="Calibri"/>
            </a:endParaRPr>
          </a:p>
        </p:txBody>
      </p:sp>
      <p:sp>
        <p:nvSpPr>
          <p:cNvPr id="1866" name="Google Shape;1866;p65"/>
          <p:cNvSpPr/>
          <p:nvPr/>
        </p:nvSpPr>
        <p:spPr>
          <a:xfrm>
            <a:off x="1005840" y="2683764"/>
            <a:ext cx="10682935"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D2A5C"/>
              </a:buClr>
              <a:buSzPts val="1400"/>
              <a:buFont typeface="Calibri"/>
              <a:buNone/>
            </a:pPr>
            <a:r>
              <a:rPr b="1" i="0" lang="en-US" sz="1400" u="none" cap="none" strike="noStrike">
                <a:solidFill>
                  <a:srgbClr val="1D2A5C"/>
                </a:solidFill>
                <a:latin typeface="Calibri"/>
                <a:ea typeface="Calibri"/>
                <a:cs typeface="Calibri"/>
                <a:sym typeface="Calibri"/>
              </a:rPr>
              <a:t>Code review</a:t>
            </a:r>
            <a:endParaRPr b="0" i="0" sz="1400" u="none" cap="none" strike="noStrike">
              <a:solidFill>
                <a:schemeClr val="dk1"/>
              </a:solidFill>
              <a:latin typeface="Calibri"/>
              <a:ea typeface="Calibri"/>
              <a:cs typeface="Calibri"/>
              <a:sym typeface="Calibri"/>
            </a:endParaRPr>
          </a:p>
        </p:txBody>
      </p:sp>
      <p:sp>
        <p:nvSpPr>
          <p:cNvPr id="1867" name="Google Shape;1867;p65"/>
          <p:cNvSpPr/>
          <p:nvPr/>
        </p:nvSpPr>
        <p:spPr>
          <a:xfrm>
            <a:off x="1005840" y="2985516"/>
            <a:ext cx="10682935" cy="841248"/>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5F6B7A"/>
              </a:buClr>
              <a:buSzPts val="1150"/>
              <a:buFont typeface="Calibri"/>
              <a:buNone/>
            </a:pPr>
            <a:r>
              <a:rPr b="0" i="0" lang="en-US" sz="1150" u="none" cap="none" strike="noStrike">
                <a:solidFill>
                  <a:srgbClr val="5F6B7A"/>
                </a:solidFill>
                <a:latin typeface="Calibri"/>
                <a:ea typeface="Calibri"/>
                <a:cs typeface="Calibri"/>
                <a:sym typeface="Calibri"/>
              </a:rPr>
              <a:t>A PR hard-codes conf=0.25 in the wrapper, evaluates on the training split, and reorders YAML names cosmetically. Three findings, each with its production consequence.</a:t>
            </a:r>
            <a:endParaRPr b="0" i="0" sz="1150" u="none" cap="none" strike="noStrike">
              <a:solidFill>
                <a:schemeClr val="dk1"/>
              </a:solidFill>
              <a:latin typeface="Calibri"/>
              <a:ea typeface="Calibri"/>
              <a:cs typeface="Calibri"/>
              <a:sym typeface="Calibri"/>
            </a:endParaRPr>
          </a:p>
        </p:txBody>
      </p:sp>
      <p:sp>
        <p:nvSpPr>
          <p:cNvPr id="1868" name="Google Shape;1868;p65"/>
          <p:cNvSpPr/>
          <p:nvPr/>
        </p:nvSpPr>
        <p:spPr>
          <a:xfrm>
            <a:off x="502920" y="3936492"/>
            <a:ext cx="329184" cy="329184"/>
          </a:xfrm>
          <a:prstGeom prst="ellipse">
            <a:avLst/>
          </a:prstGeom>
          <a:solidFill>
            <a:srgbClr val="F5822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69" name="Google Shape;1869;p65"/>
          <p:cNvSpPr/>
          <p:nvPr/>
        </p:nvSpPr>
        <p:spPr>
          <a:xfrm>
            <a:off x="502920" y="3936492"/>
            <a:ext cx="329184" cy="32918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300"/>
              <a:buFont typeface="Calibri"/>
              <a:buNone/>
            </a:pPr>
            <a:r>
              <a:rPr b="1" i="0" lang="en-US" sz="1300" u="none" cap="none" strike="noStrike">
                <a:solidFill>
                  <a:srgbClr val="FFFFFF"/>
                </a:solidFill>
                <a:latin typeface="Calibri"/>
                <a:ea typeface="Calibri"/>
                <a:cs typeface="Calibri"/>
                <a:sym typeface="Calibri"/>
              </a:rPr>
              <a:t>3</a:t>
            </a:r>
            <a:endParaRPr b="0" i="0" sz="1300" u="none" cap="none" strike="noStrike">
              <a:solidFill>
                <a:schemeClr val="dk1"/>
              </a:solidFill>
              <a:latin typeface="Calibri"/>
              <a:ea typeface="Calibri"/>
              <a:cs typeface="Calibri"/>
              <a:sym typeface="Calibri"/>
            </a:endParaRPr>
          </a:p>
        </p:txBody>
      </p:sp>
      <p:sp>
        <p:nvSpPr>
          <p:cNvPr id="1870" name="Google Shape;1870;p65"/>
          <p:cNvSpPr/>
          <p:nvPr/>
        </p:nvSpPr>
        <p:spPr>
          <a:xfrm>
            <a:off x="1005840" y="3872484"/>
            <a:ext cx="10682935"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D2A5C"/>
              </a:buClr>
              <a:buSzPts val="1400"/>
              <a:buFont typeface="Calibri"/>
              <a:buNone/>
            </a:pPr>
            <a:r>
              <a:rPr b="1" i="0" lang="en-US" sz="1400" u="none" cap="none" strike="noStrike">
                <a:solidFill>
                  <a:srgbClr val="1D2A5C"/>
                </a:solidFill>
                <a:latin typeface="Calibri"/>
                <a:ea typeface="Calibri"/>
                <a:cs typeface="Calibri"/>
                <a:sym typeface="Calibri"/>
              </a:rPr>
              <a:t>Discussion: 'zero mould escapes'</a:t>
            </a:r>
            <a:endParaRPr b="0" i="0" sz="1400" u="none" cap="none" strike="noStrike">
              <a:solidFill>
                <a:schemeClr val="dk1"/>
              </a:solidFill>
              <a:latin typeface="Calibri"/>
              <a:ea typeface="Calibri"/>
              <a:cs typeface="Calibri"/>
              <a:sym typeface="Calibri"/>
            </a:endParaRPr>
          </a:p>
        </p:txBody>
      </p:sp>
      <p:sp>
        <p:nvSpPr>
          <p:cNvPr id="1871" name="Google Shape;1871;p65"/>
          <p:cNvSpPr/>
          <p:nvPr/>
        </p:nvSpPr>
        <p:spPr>
          <a:xfrm>
            <a:off x="1005840" y="4174236"/>
            <a:ext cx="10682935" cy="841248"/>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5F6B7A"/>
              </a:buClr>
              <a:buSzPts val="1150"/>
              <a:buFont typeface="Calibri"/>
              <a:buNone/>
            </a:pPr>
            <a:r>
              <a:rPr b="0" i="0" lang="en-US" sz="1150" u="none" cap="none" strike="noStrike">
                <a:solidFill>
                  <a:srgbClr val="5F6B7A"/>
                </a:solidFill>
                <a:latin typeface="Calibri"/>
                <a:ea typeface="Calibri"/>
                <a:cs typeface="Calibri"/>
                <a:sym typeface="Calibri"/>
              </a:rPr>
              <a:t>Use the PR curve to show 'zero' is a request for a different system — 100% ejection or a human inspection tier. Negotiate a number.</a:t>
            </a:r>
            <a:endParaRPr b="0" i="0" sz="1150" u="none" cap="none" strike="noStrike">
              <a:solidFill>
                <a:schemeClr val="dk1"/>
              </a:solidFill>
              <a:latin typeface="Calibri"/>
              <a:ea typeface="Calibri"/>
              <a:cs typeface="Calibri"/>
              <a:sym typeface="Calibri"/>
            </a:endParaRPr>
          </a:p>
        </p:txBody>
      </p:sp>
      <p:sp>
        <p:nvSpPr>
          <p:cNvPr id="1872" name="Google Shape;1872;p65"/>
          <p:cNvSpPr/>
          <p:nvPr/>
        </p:nvSpPr>
        <p:spPr>
          <a:xfrm>
            <a:off x="502920" y="5125212"/>
            <a:ext cx="329184" cy="329184"/>
          </a:xfrm>
          <a:prstGeom prst="ellipse">
            <a:avLst/>
          </a:prstGeom>
          <a:solidFill>
            <a:srgbClr val="8DC63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73" name="Google Shape;1873;p65"/>
          <p:cNvSpPr/>
          <p:nvPr/>
        </p:nvSpPr>
        <p:spPr>
          <a:xfrm>
            <a:off x="502920" y="5125212"/>
            <a:ext cx="329184" cy="32918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300"/>
              <a:buFont typeface="Calibri"/>
              <a:buNone/>
            </a:pPr>
            <a:r>
              <a:rPr b="1" i="0" lang="en-US" sz="1300" u="none" cap="none" strike="noStrike">
                <a:solidFill>
                  <a:srgbClr val="FFFFFF"/>
                </a:solidFill>
                <a:latin typeface="Calibri"/>
                <a:ea typeface="Calibri"/>
                <a:cs typeface="Calibri"/>
                <a:sym typeface="Calibri"/>
              </a:rPr>
              <a:t>4</a:t>
            </a:r>
            <a:endParaRPr b="0" i="0" sz="1300" u="none" cap="none" strike="noStrike">
              <a:solidFill>
                <a:schemeClr val="dk1"/>
              </a:solidFill>
              <a:latin typeface="Calibri"/>
              <a:ea typeface="Calibri"/>
              <a:cs typeface="Calibri"/>
              <a:sym typeface="Calibri"/>
            </a:endParaRPr>
          </a:p>
        </p:txBody>
      </p:sp>
      <p:sp>
        <p:nvSpPr>
          <p:cNvPr id="1874" name="Google Shape;1874;p65"/>
          <p:cNvSpPr/>
          <p:nvPr/>
        </p:nvSpPr>
        <p:spPr>
          <a:xfrm>
            <a:off x="1005840" y="5061204"/>
            <a:ext cx="10682935"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D2A5C"/>
              </a:buClr>
              <a:buSzPts val="1400"/>
              <a:buFont typeface="Calibri"/>
              <a:buNone/>
            </a:pPr>
            <a:r>
              <a:rPr b="1" i="0" lang="en-US" sz="1400" u="none" cap="none" strike="noStrike">
                <a:solidFill>
                  <a:srgbClr val="1D2A5C"/>
                </a:solidFill>
                <a:latin typeface="Calibri"/>
                <a:ea typeface="Calibri"/>
                <a:cs typeface="Calibri"/>
                <a:sym typeface="Calibri"/>
              </a:rPr>
              <a:t>Discussion: AGPL-3.0 licensing</a:t>
            </a:r>
            <a:endParaRPr b="0" i="0" sz="1400" u="none" cap="none" strike="noStrike">
              <a:solidFill>
                <a:schemeClr val="dk1"/>
              </a:solidFill>
              <a:latin typeface="Calibri"/>
              <a:ea typeface="Calibri"/>
              <a:cs typeface="Calibri"/>
              <a:sym typeface="Calibri"/>
            </a:endParaRPr>
          </a:p>
        </p:txBody>
      </p:sp>
      <p:sp>
        <p:nvSpPr>
          <p:cNvPr id="1875" name="Google Shape;1875;p65"/>
          <p:cNvSpPr/>
          <p:nvPr/>
        </p:nvSpPr>
        <p:spPr>
          <a:xfrm>
            <a:off x="1005840" y="5362956"/>
            <a:ext cx="10682935" cy="841248"/>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5F6B7A"/>
              </a:buClr>
              <a:buSzPts val="1150"/>
              <a:buFont typeface="Calibri"/>
              <a:buNone/>
            </a:pPr>
            <a:r>
              <a:rPr b="0" i="0" lang="en-US" sz="1150" u="none" cap="none" strike="noStrike">
                <a:solidFill>
                  <a:srgbClr val="5F6B7A"/>
                </a:solidFill>
                <a:latin typeface="Calibri"/>
                <a:ea typeface="Calibri"/>
                <a:cs typeface="Calibri"/>
                <a:sym typeface="Calibri"/>
              </a:rPr>
              <a:t>The plant's software stays closed. Options: commercial licence, AGPL compliance, or rebuild on a permissive stack — legal decides, engineering costs the options.</a:t>
            </a:r>
            <a:endParaRPr b="0" i="0" sz="1150" u="none" cap="none" strike="noStrike">
              <a:solidFill>
                <a:schemeClr val="dk1"/>
              </a:solidFill>
              <a:latin typeface="Calibri"/>
              <a:ea typeface="Calibri"/>
              <a:cs typeface="Calibri"/>
              <a:sym typeface="Calibri"/>
            </a:endParaRPr>
          </a:p>
        </p:txBody>
      </p:sp>
    </p:spTree>
  </p:cSld>
  <p:clrMapOvr>
    <a:masterClrMapping/>
  </p:clrMapOvr>
</p:sld>
</file>

<file path=ppt/slides/slide6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880" name="Shape 1880"/>
        <p:cNvGrpSpPr/>
        <p:nvPr/>
      </p:nvGrpSpPr>
      <p:grpSpPr>
        <a:xfrm>
          <a:off x="0" y="0"/>
          <a:ext cx="0" cy="0"/>
          <a:chOff x="0" y="0"/>
          <a:chExt cx="0" cy="0"/>
        </a:xfrm>
      </p:grpSpPr>
      <p:sp>
        <p:nvSpPr>
          <p:cNvPr id="1881" name="Google Shape;1881;p66"/>
          <p:cNvSpPr/>
          <p:nvPr/>
        </p:nvSpPr>
        <p:spPr>
          <a:xfrm>
            <a:off x="502920" y="274320"/>
            <a:ext cx="9646920" cy="56692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D2A5C"/>
              </a:buClr>
              <a:buSzPts val="2700"/>
              <a:buFont typeface="Calibri"/>
              <a:buNone/>
            </a:pPr>
            <a:r>
              <a:rPr b="1" i="0" lang="en-US" sz="2700" u="none" cap="none" strike="noStrike">
                <a:solidFill>
                  <a:srgbClr val="1D2A5C"/>
                </a:solidFill>
                <a:latin typeface="Calibri"/>
                <a:ea typeface="Calibri"/>
                <a:cs typeface="Calibri"/>
                <a:sym typeface="Calibri"/>
              </a:rPr>
              <a:t>Case Study — PPE Detection at Jubail</a:t>
            </a:r>
            <a:endParaRPr b="0" i="0" sz="2700" u="none" cap="none" strike="noStrike">
              <a:solidFill>
                <a:schemeClr val="dk1"/>
              </a:solidFill>
              <a:latin typeface="Calibri"/>
              <a:ea typeface="Calibri"/>
              <a:cs typeface="Calibri"/>
              <a:sym typeface="Calibri"/>
            </a:endParaRPr>
          </a:p>
        </p:txBody>
      </p:sp>
      <p:sp>
        <p:nvSpPr>
          <p:cNvPr id="1882" name="Google Shape;1882;p66"/>
          <p:cNvSpPr/>
          <p:nvPr/>
        </p:nvSpPr>
        <p:spPr>
          <a:xfrm>
            <a:off x="502920" y="859536"/>
            <a:ext cx="9646920" cy="31089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F6B7A"/>
              </a:buClr>
              <a:buSzPts val="1250"/>
              <a:buFont typeface="Arial"/>
              <a:buNone/>
            </a:pPr>
            <a:r>
              <a:rPr b="0" i="0" lang="en-US" sz="1250" u="none" cap="none" strike="noStrike">
                <a:solidFill>
                  <a:srgbClr val="5F6B7A"/>
                </a:solidFill>
                <a:latin typeface="Arial"/>
                <a:ea typeface="Arial"/>
                <a:cs typeface="Arial"/>
                <a:sym typeface="Arial"/>
              </a:rPr>
              <a:t>دراسة حالة — كشف معدات الحماية في الجبيل</a:t>
            </a:r>
            <a:endParaRPr b="0" i="0" sz="1250" u="none" cap="none" strike="noStrike">
              <a:solidFill>
                <a:schemeClr val="dk1"/>
              </a:solidFill>
              <a:latin typeface="Calibri"/>
              <a:ea typeface="Calibri"/>
              <a:cs typeface="Calibri"/>
              <a:sym typeface="Calibri"/>
            </a:endParaRPr>
          </a:p>
        </p:txBody>
      </p:sp>
      <p:pic>
        <p:nvPicPr>
          <p:cNvPr descr="/sessions/blissful-determined-ritchie/build/assets/sdaia_logo.png" id="1883" name="Google Shape;1883;p66"/>
          <p:cNvPicPr preferRelativeResize="0"/>
          <p:nvPr/>
        </p:nvPicPr>
        <p:blipFill rotWithShape="1">
          <a:blip r:embed="rId3">
            <a:alphaModFix/>
          </a:blip>
          <a:srcRect b="0" l="0" r="0" t="0"/>
          <a:stretch/>
        </p:blipFill>
        <p:spPr>
          <a:xfrm>
            <a:off x="10625328" y="310896"/>
            <a:ext cx="1078992" cy="264111"/>
          </a:xfrm>
          <a:prstGeom prst="rect">
            <a:avLst/>
          </a:prstGeom>
          <a:noFill/>
          <a:ln>
            <a:noFill/>
          </a:ln>
        </p:spPr>
      </p:pic>
      <p:sp>
        <p:nvSpPr>
          <p:cNvPr id="1884" name="Google Shape;1884;p66"/>
          <p:cNvSpPr/>
          <p:nvPr/>
        </p:nvSpPr>
        <p:spPr>
          <a:xfrm>
            <a:off x="502920" y="6528816"/>
            <a:ext cx="8686800"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A79D"/>
              </a:buClr>
              <a:buSzPts val="800"/>
              <a:buFont typeface="Calibri"/>
              <a:buNone/>
            </a:pPr>
            <a:r>
              <a:rPr b="1" i="0" lang="en-US" sz="800" u="none" cap="none" strike="noStrike">
                <a:solidFill>
                  <a:srgbClr val="00A79D"/>
                </a:solidFill>
                <a:latin typeface="Calibri"/>
                <a:ea typeface="Calibri"/>
                <a:cs typeface="Calibri"/>
                <a:sym typeface="Calibri"/>
              </a:rPr>
              <a:t>MODULE 3 · CASE   </a:t>
            </a:r>
            <a:r>
              <a:rPr b="0" i="0" lang="en-US" sz="800" u="none" cap="none" strike="noStrike">
                <a:solidFill>
                  <a:srgbClr val="8A96A6"/>
                </a:solidFill>
                <a:latin typeface="Calibri"/>
                <a:ea typeface="Calibri"/>
                <a:cs typeface="Calibri"/>
                <a:sym typeface="Calibri"/>
              </a:rPr>
              <a:t>SDA-AIE-212 · Computer Vision Systems Development</a:t>
            </a:r>
            <a:endParaRPr b="0" i="0" sz="800" u="none" cap="none" strike="noStrike">
              <a:solidFill>
                <a:schemeClr val="dk1"/>
              </a:solidFill>
              <a:latin typeface="Calibri"/>
              <a:ea typeface="Calibri"/>
              <a:cs typeface="Calibri"/>
              <a:sym typeface="Calibri"/>
            </a:endParaRPr>
          </a:p>
        </p:txBody>
      </p:sp>
      <p:sp>
        <p:nvSpPr>
          <p:cNvPr id="1885" name="Google Shape;1885;p66"/>
          <p:cNvSpPr/>
          <p:nvPr/>
        </p:nvSpPr>
        <p:spPr>
          <a:xfrm>
            <a:off x="11292840" y="6528816"/>
            <a:ext cx="411480" cy="219456"/>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8A96A6"/>
              </a:buClr>
              <a:buSzPts val="900"/>
              <a:buFont typeface="Calibri"/>
              <a:buNone/>
            </a:pPr>
            <a:r>
              <a:rPr b="0" i="0" lang="en-US" sz="900" u="none" cap="none" strike="noStrike">
                <a:solidFill>
                  <a:srgbClr val="8A96A6"/>
                </a:solidFill>
                <a:latin typeface="Calibri"/>
                <a:ea typeface="Calibri"/>
                <a:cs typeface="Calibri"/>
                <a:sym typeface="Calibri"/>
              </a:rPr>
              <a:t>66</a:t>
            </a:r>
            <a:endParaRPr b="0" i="0" sz="900" u="none" cap="none" strike="noStrike">
              <a:solidFill>
                <a:schemeClr val="dk1"/>
              </a:solidFill>
              <a:latin typeface="Calibri"/>
              <a:ea typeface="Calibri"/>
              <a:cs typeface="Calibri"/>
              <a:sym typeface="Calibri"/>
            </a:endParaRPr>
          </a:p>
        </p:txBody>
      </p:sp>
      <p:sp>
        <p:nvSpPr>
          <p:cNvPr id="1886" name="Google Shape;1886;p66"/>
          <p:cNvSpPr/>
          <p:nvPr/>
        </p:nvSpPr>
        <p:spPr>
          <a:xfrm>
            <a:off x="502920" y="1389888"/>
            <a:ext cx="6035040" cy="2377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A79D"/>
              </a:buClr>
              <a:buSzPts val="1000"/>
              <a:buFont typeface="Calibri"/>
              <a:buNone/>
            </a:pPr>
            <a:r>
              <a:rPr b="1" i="0" lang="en-US" sz="1000" u="none" cap="none" strike="noStrike">
                <a:solidFill>
                  <a:srgbClr val="00A79D"/>
                </a:solidFill>
                <a:latin typeface="Calibri"/>
                <a:ea typeface="Calibri"/>
                <a:cs typeface="Calibri"/>
                <a:sym typeface="Calibri"/>
              </a:rPr>
              <a:t>SCENARIO</a:t>
            </a:r>
            <a:endParaRPr b="0" i="0" sz="1000" u="none" cap="none" strike="noStrike">
              <a:solidFill>
                <a:schemeClr val="dk1"/>
              </a:solidFill>
              <a:latin typeface="Calibri"/>
              <a:ea typeface="Calibri"/>
              <a:cs typeface="Calibri"/>
              <a:sym typeface="Calibri"/>
            </a:endParaRPr>
          </a:p>
        </p:txBody>
      </p:sp>
      <p:sp>
        <p:nvSpPr>
          <p:cNvPr id="1887" name="Google Shape;1887;p66"/>
          <p:cNvSpPr/>
          <p:nvPr/>
        </p:nvSpPr>
        <p:spPr>
          <a:xfrm>
            <a:off x="502920" y="1645920"/>
            <a:ext cx="6035040" cy="896112"/>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23293B"/>
              </a:buClr>
              <a:buSzPts val="1150"/>
              <a:buFont typeface="Calibri"/>
              <a:buNone/>
            </a:pPr>
            <a:r>
              <a:rPr b="0" i="0" lang="en-US" sz="1150" u="none" cap="none" strike="noStrike">
                <a:solidFill>
                  <a:srgbClr val="23293B"/>
                </a:solidFill>
                <a:latin typeface="Calibri"/>
                <a:ea typeface="Calibri"/>
                <a:cs typeface="Calibri"/>
                <a:sym typeface="Calibri"/>
              </a:rPr>
              <a:t>A contractor deploys hard-hat, hi-vis and harness detection across 46 fixed cameras on a Jubail petrochemical construction megaproject. The pilot's headline mAP@0.5 of 0.88 impressed management — but in month one the safety office logs 31 missed harness violations at height, while gate cameras raise ~400 false hard-hat alarms per day at shift change.</a:t>
            </a:r>
            <a:endParaRPr b="0" i="0" sz="1150" u="none" cap="none" strike="noStrike">
              <a:solidFill>
                <a:schemeClr val="dk1"/>
              </a:solidFill>
              <a:latin typeface="Calibri"/>
              <a:ea typeface="Calibri"/>
              <a:cs typeface="Calibri"/>
              <a:sym typeface="Calibri"/>
            </a:endParaRPr>
          </a:p>
        </p:txBody>
      </p:sp>
      <p:sp>
        <p:nvSpPr>
          <p:cNvPr id="1888" name="Google Shape;1888;p66"/>
          <p:cNvSpPr/>
          <p:nvPr/>
        </p:nvSpPr>
        <p:spPr>
          <a:xfrm>
            <a:off x="502920" y="2706624"/>
            <a:ext cx="6035040" cy="2377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A79D"/>
              </a:buClr>
              <a:buSzPts val="1000"/>
              <a:buFont typeface="Calibri"/>
              <a:buNone/>
            </a:pPr>
            <a:r>
              <a:rPr b="1" i="0" lang="en-US" sz="1000" u="none" cap="none" strike="noStrike">
                <a:solidFill>
                  <a:srgbClr val="00A79D"/>
                </a:solidFill>
                <a:latin typeface="Calibri"/>
                <a:ea typeface="Calibri"/>
                <a:cs typeface="Calibri"/>
                <a:sym typeface="Calibri"/>
              </a:rPr>
              <a:t>BUSINESS CONTEXT</a:t>
            </a:r>
            <a:endParaRPr b="0" i="0" sz="1000" u="none" cap="none" strike="noStrike">
              <a:solidFill>
                <a:schemeClr val="dk1"/>
              </a:solidFill>
              <a:latin typeface="Calibri"/>
              <a:ea typeface="Calibri"/>
              <a:cs typeface="Calibri"/>
              <a:sym typeface="Calibri"/>
            </a:endParaRPr>
          </a:p>
        </p:txBody>
      </p:sp>
      <p:sp>
        <p:nvSpPr>
          <p:cNvPr id="1889" name="Google Shape;1889;p66"/>
          <p:cNvSpPr/>
          <p:nvPr/>
        </p:nvSpPr>
        <p:spPr>
          <a:xfrm>
            <a:off x="502920" y="2962656"/>
            <a:ext cx="6035040" cy="6858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5F6B7A"/>
              </a:buClr>
              <a:buSzPts val="1150"/>
              <a:buFont typeface="Calibri"/>
              <a:buNone/>
            </a:pPr>
            <a:r>
              <a:rPr b="0" i="0" lang="en-US" sz="1150" u="none" cap="none" strike="noStrike">
                <a:solidFill>
                  <a:srgbClr val="5F6B7A"/>
                </a:solidFill>
                <a:latin typeface="Calibri"/>
                <a:ea typeface="Calibri"/>
                <a:cs typeface="Calibri"/>
                <a:sym typeface="Calibri"/>
              </a:rPr>
              <a:t>Safety-violation statistics feed the client's incentive scheme; missed harness events at height are contractually reportable. Alarm fatigue is real: after two weeks the control room stopped acknowledging hard-hat alerts entirely.</a:t>
            </a:r>
            <a:endParaRPr b="0" i="0" sz="1150" u="none" cap="none" strike="noStrike">
              <a:solidFill>
                <a:schemeClr val="dk1"/>
              </a:solidFill>
              <a:latin typeface="Calibri"/>
              <a:ea typeface="Calibri"/>
              <a:cs typeface="Calibri"/>
              <a:sym typeface="Calibri"/>
            </a:endParaRPr>
          </a:p>
        </p:txBody>
      </p:sp>
      <p:sp>
        <p:nvSpPr>
          <p:cNvPr id="1890" name="Google Shape;1890;p66"/>
          <p:cNvSpPr/>
          <p:nvPr/>
        </p:nvSpPr>
        <p:spPr>
          <a:xfrm>
            <a:off x="502920" y="3813048"/>
            <a:ext cx="6035040" cy="2377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A79D"/>
              </a:buClr>
              <a:buSzPts val="1000"/>
              <a:buFont typeface="Calibri"/>
              <a:buNone/>
            </a:pPr>
            <a:r>
              <a:rPr b="1" i="0" lang="en-US" sz="1000" u="none" cap="none" strike="noStrike">
                <a:solidFill>
                  <a:srgbClr val="00A79D"/>
                </a:solidFill>
                <a:latin typeface="Calibri"/>
                <a:ea typeface="Calibri"/>
                <a:cs typeface="Calibri"/>
                <a:sym typeface="Calibri"/>
              </a:rPr>
              <a:t>TECHNICAL CHALLENGE</a:t>
            </a:r>
            <a:endParaRPr b="0" i="0" sz="1000" u="none" cap="none" strike="noStrike">
              <a:solidFill>
                <a:schemeClr val="dk1"/>
              </a:solidFill>
              <a:latin typeface="Calibri"/>
              <a:ea typeface="Calibri"/>
              <a:cs typeface="Calibri"/>
              <a:sym typeface="Calibri"/>
            </a:endParaRPr>
          </a:p>
        </p:txBody>
      </p:sp>
      <p:sp>
        <p:nvSpPr>
          <p:cNvPr id="1891" name="Google Shape;1891;p66"/>
          <p:cNvSpPr/>
          <p:nvPr/>
        </p:nvSpPr>
        <p:spPr>
          <a:xfrm>
            <a:off x="502920" y="4069080"/>
            <a:ext cx="6035040" cy="475488"/>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5F6B7A"/>
              </a:buClr>
              <a:buSzPts val="1150"/>
              <a:buFont typeface="Calibri"/>
              <a:buNone/>
            </a:pPr>
            <a:r>
              <a:rPr b="0" i="0" lang="en-US" sz="1150" u="none" cap="none" strike="noStrike">
                <a:solidFill>
                  <a:srgbClr val="5F6B7A"/>
                </a:solidFill>
                <a:latin typeface="Calibri"/>
                <a:ea typeface="Calibri"/>
                <a:cs typeface="Calibri"/>
                <a:sym typeface="Calibri"/>
              </a:rPr>
              <a:t>Diagnose why one deployment produces both misses and floods, and re-engineer the operating points per class and per camera zone.</a:t>
            </a:r>
            <a:endParaRPr b="0" i="0" sz="1150" u="none" cap="none" strike="noStrike">
              <a:solidFill>
                <a:schemeClr val="dk1"/>
              </a:solidFill>
              <a:latin typeface="Calibri"/>
              <a:ea typeface="Calibri"/>
              <a:cs typeface="Calibri"/>
              <a:sym typeface="Calibri"/>
            </a:endParaRPr>
          </a:p>
        </p:txBody>
      </p:sp>
      <p:sp>
        <p:nvSpPr>
          <p:cNvPr id="1892" name="Google Shape;1892;p66"/>
          <p:cNvSpPr/>
          <p:nvPr/>
        </p:nvSpPr>
        <p:spPr>
          <a:xfrm>
            <a:off x="6858000" y="1389888"/>
            <a:ext cx="4828032" cy="2184684"/>
          </a:xfrm>
          <a:prstGeom prst="roundRect">
            <a:avLst>
              <a:gd fmla="val 3767" name="adj"/>
            </a:avLst>
          </a:prstGeom>
          <a:solidFill>
            <a:srgbClr val="F2F6F9"/>
          </a:solidFill>
          <a:ln cap="flat" cmpd="sng" w="12700">
            <a:solidFill>
              <a:srgbClr val="D9E2E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93" name="Google Shape;1893;p66"/>
          <p:cNvSpPr/>
          <p:nvPr/>
        </p:nvSpPr>
        <p:spPr>
          <a:xfrm>
            <a:off x="7040880" y="1481328"/>
            <a:ext cx="4462272" cy="2377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58220"/>
              </a:buClr>
              <a:buSzPts val="950"/>
              <a:buFont typeface="Calibri"/>
              <a:buNone/>
            </a:pPr>
            <a:r>
              <a:rPr b="1" i="0" lang="en-US" sz="950" u="none" cap="none" strike="noStrike">
                <a:solidFill>
                  <a:srgbClr val="F58220"/>
                </a:solidFill>
                <a:latin typeface="Calibri"/>
                <a:ea typeface="Calibri"/>
                <a:cs typeface="Calibri"/>
                <a:sym typeface="Calibri"/>
              </a:rPr>
              <a:t>CONSTRAINTS</a:t>
            </a:r>
            <a:endParaRPr b="0" i="0" sz="950" u="none" cap="none" strike="noStrike">
              <a:solidFill>
                <a:schemeClr val="dk1"/>
              </a:solidFill>
              <a:latin typeface="Calibri"/>
              <a:ea typeface="Calibri"/>
              <a:cs typeface="Calibri"/>
              <a:sym typeface="Calibri"/>
            </a:endParaRPr>
          </a:p>
        </p:txBody>
      </p:sp>
      <p:sp>
        <p:nvSpPr>
          <p:cNvPr id="1894" name="Google Shape;1894;p66"/>
          <p:cNvSpPr/>
          <p:nvPr/>
        </p:nvSpPr>
        <p:spPr>
          <a:xfrm>
            <a:off x="7095744" y="1755648"/>
            <a:ext cx="4370832" cy="1681764"/>
          </a:xfrm>
          <a:prstGeom prst="rect">
            <a:avLst/>
          </a:prstGeom>
          <a:noFill/>
          <a:ln>
            <a:noFill/>
          </a:ln>
        </p:spPr>
        <p:txBody>
          <a:bodyPr anchorCtr="0" anchor="t" bIns="0" lIns="0" spcFirstLastPara="1" rIns="0" wrap="square" tIns="0">
            <a:noAutofit/>
          </a:bodyPr>
          <a:lstStyle/>
          <a:p>
            <a:pPr indent="-127000" lvl="0" marL="127000" marR="0" rtl="0" algn="l">
              <a:spcBef>
                <a:spcPts val="0"/>
              </a:spcBef>
              <a:spcAft>
                <a:spcPts val="0"/>
              </a:spcAft>
              <a:buClr>
                <a:srgbClr val="23293B"/>
              </a:buClr>
              <a:buSzPts val="1050"/>
              <a:buFont typeface="Calibri"/>
              <a:buChar char="•"/>
            </a:pPr>
            <a:r>
              <a:rPr b="0" i="0" lang="en-US" sz="1050" u="none" cap="none" strike="noStrike">
                <a:solidFill>
                  <a:srgbClr val="23293B"/>
                </a:solidFill>
                <a:latin typeface="Calibri"/>
                <a:ea typeface="Calibri"/>
                <a:cs typeface="Calibri"/>
                <a:sym typeface="Calibri"/>
              </a:rPr>
              <a:t>Heterogeneous cameras: harness at 18–30 px</a:t>
            </a:r>
            <a:endParaRPr b="0" i="0" sz="1050" u="none" cap="none" strike="noStrike">
              <a:solidFill>
                <a:schemeClr val="dk1"/>
              </a:solidFill>
              <a:latin typeface="Calibri"/>
              <a:ea typeface="Calibri"/>
              <a:cs typeface="Calibri"/>
              <a:sym typeface="Calibri"/>
            </a:endParaRPr>
          </a:p>
          <a:p>
            <a:pPr indent="-127000" lvl="0" marL="127000" marR="0" rtl="0" algn="l">
              <a:spcBef>
                <a:spcPts val="500"/>
              </a:spcBef>
              <a:spcAft>
                <a:spcPts val="0"/>
              </a:spcAft>
              <a:buClr>
                <a:srgbClr val="23293B"/>
              </a:buClr>
              <a:buSzPts val="1050"/>
              <a:buFont typeface="Calibri"/>
              <a:buChar char="•"/>
            </a:pPr>
            <a:r>
              <a:rPr b="0" i="0" lang="en-US" sz="1050" u="none" cap="none" strike="noStrike">
                <a:solidFill>
                  <a:srgbClr val="23293B"/>
                </a:solidFill>
                <a:latin typeface="Calibri"/>
                <a:ea typeface="Calibri"/>
                <a:cs typeface="Calibri"/>
                <a:sym typeface="Calibri"/>
              </a:rPr>
              <a:t>No new cameras this budget year</a:t>
            </a:r>
            <a:endParaRPr b="0" i="0" sz="1050" u="none" cap="none" strike="noStrike">
              <a:solidFill>
                <a:schemeClr val="dk1"/>
              </a:solidFill>
              <a:latin typeface="Calibri"/>
              <a:ea typeface="Calibri"/>
              <a:cs typeface="Calibri"/>
              <a:sym typeface="Calibri"/>
            </a:endParaRPr>
          </a:p>
          <a:p>
            <a:pPr indent="-127000" lvl="0" marL="127000" marR="0" rtl="0" algn="l">
              <a:spcBef>
                <a:spcPts val="500"/>
              </a:spcBef>
              <a:spcAft>
                <a:spcPts val="0"/>
              </a:spcAft>
              <a:buClr>
                <a:srgbClr val="23293B"/>
              </a:buClr>
              <a:buSzPts val="1050"/>
              <a:buFont typeface="Calibri"/>
              <a:buChar char="•"/>
            </a:pPr>
            <a:r>
              <a:rPr b="0" i="0" lang="en-US" sz="1050" u="none" cap="none" strike="noStrike">
                <a:solidFill>
                  <a:srgbClr val="23293B"/>
                </a:solidFill>
                <a:latin typeface="Calibri"/>
                <a:ea typeface="Calibri"/>
                <a:cs typeface="Calibri"/>
                <a:sym typeface="Calibri"/>
              </a:rPr>
              <a:t>Labelling budget: 6,000 boxes</a:t>
            </a:r>
            <a:endParaRPr b="0" i="0" sz="1050" u="none" cap="none" strike="noStrike">
              <a:solidFill>
                <a:schemeClr val="dk1"/>
              </a:solidFill>
              <a:latin typeface="Calibri"/>
              <a:ea typeface="Calibri"/>
              <a:cs typeface="Calibri"/>
              <a:sym typeface="Calibri"/>
            </a:endParaRPr>
          </a:p>
          <a:p>
            <a:pPr indent="-127000" lvl="0" marL="127000" marR="0" rtl="0" algn="l">
              <a:spcBef>
                <a:spcPts val="500"/>
              </a:spcBef>
              <a:spcAft>
                <a:spcPts val="0"/>
              </a:spcAft>
              <a:buClr>
                <a:srgbClr val="23293B"/>
              </a:buClr>
              <a:buSzPts val="1050"/>
              <a:buFont typeface="Calibri"/>
              <a:buChar char="•"/>
            </a:pPr>
            <a:r>
              <a:rPr b="0" i="0" lang="en-US" sz="1050" u="none" cap="none" strike="noStrike">
                <a:solidFill>
                  <a:srgbClr val="23293B"/>
                </a:solidFill>
                <a:latin typeface="Calibri"/>
                <a:ea typeface="Calibri"/>
                <a:cs typeface="Calibri"/>
                <a:sym typeface="Calibri"/>
              </a:rPr>
              <a:t>Control room can act on ~50 alerts/day</a:t>
            </a:r>
            <a:endParaRPr b="0" i="0" sz="1050" u="none" cap="none" strike="noStrike">
              <a:solidFill>
                <a:schemeClr val="dk1"/>
              </a:solidFill>
              <a:latin typeface="Calibri"/>
              <a:ea typeface="Calibri"/>
              <a:cs typeface="Calibri"/>
              <a:sym typeface="Calibri"/>
            </a:endParaRPr>
          </a:p>
        </p:txBody>
      </p:sp>
      <p:sp>
        <p:nvSpPr>
          <p:cNvPr id="1895" name="Google Shape;1895;p66"/>
          <p:cNvSpPr/>
          <p:nvPr/>
        </p:nvSpPr>
        <p:spPr>
          <a:xfrm>
            <a:off x="6858000" y="3803172"/>
            <a:ext cx="4828032" cy="2551908"/>
          </a:xfrm>
          <a:prstGeom prst="roundRect">
            <a:avLst>
              <a:gd fmla="val 3225" name="adj"/>
            </a:avLst>
          </a:prstGeom>
          <a:solidFill>
            <a:srgbClr val="E9F6F5"/>
          </a:solidFill>
          <a:ln cap="flat" cmpd="sng" w="12700">
            <a:solidFill>
              <a:srgbClr val="00A79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96" name="Google Shape;1896;p66"/>
          <p:cNvSpPr/>
          <p:nvPr/>
        </p:nvSpPr>
        <p:spPr>
          <a:xfrm>
            <a:off x="7040880" y="3894612"/>
            <a:ext cx="4462272" cy="2377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A79D"/>
              </a:buClr>
              <a:buSzPts val="950"/>
              <a:buFont typeface="Calibri"/>
              <a:buNone/>
            </a:pPr>
            <a:r>
              <a:rPr b="1" i="0" lang="en-US" sz="950" u="none" cap="none" strike="noStrike">
                <a:solidFill>
                  <a:srgbClr val="00A79D"/>
                </a:solidFill>
                <a:latin typeface="Calibri"/>
                <a:ea typeface="Calibri"/>
                <a:cs typeface="Calibri"/>
                <a:sym typeface="Calibri"/>
              </a:rPr>
              <a:t>DISCUSSION QUESTIONS</a:t>
            </a:r>
            <a:endParaRPr b="0" i="0" sz="950" u="none" cap="none" strike="noStrike">
              <a:solidFill>
                <a:schemeClr val="dk1"/>
              </a:solidFill>
              <a:latin typeface="Calibri"/>
              <a:ea typeface="Calibri"/>
              <a:cs typeface="Calibri"/>
              <a:sym typeface="Calibri"/>
            </a:endParaRPr>
          </a:p>
        </p:txBody>
      </p:sp>
      <p:sp>
        <p:nvSpPr>
          <p:cNvPr id="1897" name="Google Shape;1897;p66"/>
          <p:cNvSpPr/>
          <p:nvPr/>
        </p:nvSpPr>
        <p:spPr>
          <a:xfrm>
            <a:off x="7095744" y="4168932"/>
            <a:ext cx="4370832" cy="2048988"/>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23293B"/>
              </a:buClr>
              <a:buSzPts val="1050"/>
              <a:buFont typeface="Calibri"/>
              <a:buNone/>
            </a:pPr>
            <a:r>
              <a:rPr b="0" i="0" lang="en-US" sz="1050" u="none" cap="none" strike="noStrike">
                <a:solidFill>
                  <a:srgbClr val="23293B"/>
                </a:solidFill>
                <a:latin typeface="Calibri"/>
                <a:ea typeface="Calibri"/>
                <a:cs typeface="Calibri"/>
                <a:sym typeface="Calibri"/>
              </a:rPr>
              <a:t>1.  Why did one fleet-wide mAP number predict neither problem?</a:t>
            </a:r>
            <a:endParaRPr b="0" i="0" sz="1050" u="none" cap="none" strike="noStrike">
              <a:solidFill>
                <a:schemeClr val="dk1"/>
              </a:solidFill>
              <a:latin typeface="Calibri"/>
              <a:ea typeface="Calibri"/>
              <a:cs typeface="Calibri"/>
              <a:sym typeface="Calibri"/>
            </a:endParaRPr>
          </a:p>
          <a:p>
            <a:pPr indent="0" lvl="0" marL="0" marR="0" rtl="0" algn="l">
              <a:spcBef>
                <a:spcPts val="600"/>
              </a:spcBef>
              <a:spcAft>
                <a:spcPts val="0"/>
              </a:spcAft>
              <a:buClr>
                <a:srgbClr val="23293B"/>
              </a:buClr>
              <a:buSzPts val="1050"/>
              <a:buFont typeface="Calibri"/>
              <a:buNone/>
            </a:pPr>
            <a:r>
              <a:rPr b="0" i="0" lang="en-US" sz="1050" u="none" cap="none" strike="noStrike">
                <a:solidFill>
                  <a:srgbClr val="23293B"/>
                </a:solidFill>
                <a:latin typeface="Calibri"/>
                <a:ea typeface="Calibri"/>
                <a:cs typeface="Calibri"/>
                <a:sym typeface="Calibri"/>
              </a:rPr>
              <a:t>2.  Split the 6,000-box labelling budget across the three classes.</a:t>
            </a:r>
            <a:endParaRPr b="0" i="0" sz="1050" u="none" cap="none" strike="noStrike">
              <a:solidFill>
                <a:schemeClr val="dk1"/>
              </a:solidFill>
              <a:latin typeface="Calibri"/>
              <a:ea typeface="Calibri"/>
              <a:cs typeface="Calibri"/>
              <a:sym typeface="Calibri"/>
            </a:endParaRPr>
          </a:p>
          <a:p>
            <a:pPr indent="0" lvl="0" marL="0" marR="0" rtl="0" algn="l">
              <a:spcBef>
                <a:spcPts val="600"/>
              </a:spcBef>
              <a:spcAft>
                <a:spcPts val="0"/>
              </a:spcAft>
              <a:buClr>
                <a:srgbClr val="23293B"/>
              </a:buClr>
              <a:buSzPts val="1050"/>
              <a:buFont typeface="Calibri"/>
              <a:buNone/>
            </a:pPr>
            <a:r>
              <a:rPr b="0" i="0" lang="en-US" sz="1050" u="none" cap="none" strike="noStrike">
                <a:solidFill>
                  <a:srgbClr val="23293B"/>
                </a:solidFill>
                <a:latin typeface="Calibri"/>
                <a:ea typeface="Calibri"/>
                <a:cs typeface="Calibri"/>
                <a:sym typeface="Calibri"/>
              </a:rPr>
              <a:t>3.  Where would a temporal persistence filter be wrong to apply?</a:t>
            </a:r>
            <a:endParaRPr b="0" i="0" sz="1050" u="none" cap="none" strike="noStrike">
              <a:solidFill>
                <a:schemeClr val="dk1"/>
              </a:solidFill>
              <a:latin typeface="Calibri"/>
              <a:ea typeface="Calibri"/>
              <a:cs typeface="Calibri"/>
              <a:sym typeface="Calibri"/>
            </a:endParaRPr>
          </a:p>
          <a:p>
            <a:pPr indent="0" lvl="0" marL="0" marR="0" rtl="0" algn="l">
              <a:spcBef>
                <a:spcPts val="600"/>
              </a:spcBef>
              <a:spcAft>
                <a:spcPts val="0"/>
              </a:spcAft>
              <a:buClr>
                <a:srgbClr val="23293B"/>
              </a:buClr>
              <a:buSzPts val="1050"/>
              <a:buFont typeface="Calibri"/>
              <a:buNone/>
            </a:pPr>
            <a:r>
              <a:rPr b="0" i="0" lang="en-US" sz="1050" u="none" cap="none" strike="noStrike">
                <a:solidFill>
                  <a:srgbClr val="23293B"/>
                </a:solidFill>
                <a:latin typeface="Calibri"/>
                <a:ea typeface="Calibri"/>
                <a:cs typeface="Calibri"/>
                <a:sym typeface="Calibri"/>
              </a:rPr>
              <a:t>4.  What does PDPL imply for footage of identifiable workers?</a:t>
            </a:r>
            <a:endParaRPr b="0" i="0" sz="1050" u="none" cap="none" strike="noStrike">
              <a:solidFill>
                <a:schemeClr val="dk1"/>
              </a:solidFill>
              <a:latin typeface="Calibri"/>
              <a:ea typeface="Calibri"/>
              <a:cs typeface="Calibri"/>
              <a:sym typeface="Calibri"/>
            </a:endParaRPr>
          </a:p>
        </p:txBody>
      </p:sp>
    </p:spTree>
  </p:cSld>
  <p:clrMapOvr>
    <a:masterClrMapping/>
  </p:clrMapOvr>
</p:sld>
</file>

<file path=ppt/slides/slide6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902" name="Shape 1902"/>
        <p:cNvGrpSpPr/>
        <p:nvPr/>
      </p:nvGrpSpPr>
      <p:grpSpPr>
        <a:xfrm>
          <a:off x="0" y="0"/>
          <a:ext cx="0" cy="0"/>
          <a:chOff x="0" y="0"/>
          <a:chExt cx="0" cy="0"/>
        </a:xfrm>
      </p:grpSpPr>
      <p:sp>
        <p:nvSpPr>
          <p:cNvPr id="1903" name="Google Shape;1903;p67"/>
          <p:cNvSpPr/>
          <p:nvPr/>
        </p:nvSpPr>
        <p:spPr>
          <a:xfrm>
            <a:off x="502920" y="274320"/>
            <a:ext cx="9646920" cy="56692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D2A5C"/>
              </a:buClr>
              <a:buSzPts val="2700"/>
              <a:buFont typeface="Calibri"/>
              <a:buNone/>
            </a:pPr>
            <a:r>
              <a:rPr b="1" i="0" lang="en-US" sz="2700" u="none" cap="none" strike="noStrike">
                <a:solidFill>
                  <a:srgbClr val="1D2A5C"/>
                </a:solidFill>
                <a:latin typeface="Calibri"/>
                <a:ea typeface="Calibri"/>
                <a:cs typeface="Calibri"/>
                <a:sym typeface="Calibri"/>
              </a:rPr>
              <a:t>Module 3 Benchmarks and Targets</a:t>
            </a:r>
            <a:endParaRPr b="0" i="0" sz="2700" u="none" cap="none" strike="noStrike">
              <a:solidFill>
                <a:schemeClr val="dk1"/>
              </a:solidFill>
              <a:latin typeface="Calibri"/>
              <a:ea typeface="Calibri"/>
              <a:cs typeface="Calibri"/>
              <a:sym typeface="Calibri"/>
            </a:endParaRPr>
          </a:p>
        </p:txBody>
      </p:sp>
      <p:sp>
        <p:nvSpPr>
          <p:cNvPr id="1904" name="Google Shape;1904;p67"/>
          <p:cNvSpPr/>
          <p:nvPr/>
        </p:nvSpPr>
        <p:spPr>
          <a:xfrm>
            <a:off x="502920" y="859536"/>
            <a:ext cx="9646920" cy="31089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F6B7A"/>
              </a:buClr>
              <a:buSzPts val="1250"/>
              <a:buFont typeface="Arial"/>
              <a:buNone/>
            </a:pPr>
            <a:r>
              <a:rPr b="0" i="0" lang="en-US" sz="1250" u="none" cap="none" strike="noStrike">
                <a:solidFill>
                  <a:srgbClr val="5F6B7A"/>
                </a:solidFill>
                <a:latin typeface="Arial"/>
                <a:ea typeface="Arial"/>
                <a:cs typeface="Arial"/>
                <a:sym typeface="Arial"/>
              </a:rPr>
              <a:t>معايير وأهداف الوحدة الثالثة</a:t>
            </a:r>
            <a:endParaRPr b="0" i="0" sz="1250" u="none" cap="none" strike="noStrike">
              <a:solidFill>
                <a:schemeClr val="dk1"/>
              </a:solidFill>
              <a:latin typeface="Calibri"/>
              <a:ea typeface="Calibri"/>
              <a:cs typeface="Calibri"/>
              <a:sym typeface="Calibri"/>
            </a:endParaRPr>
          </a:p>
        </p:txBody>
      </p:sp>
      <p:pic>
        <p:nvPicPr>
          <p:cNvPr descr="/sessions/blissful-determined-ritchie/build/assets/sdaia_logo.png" id="1905" name="Google Shape;1905;p67"/>
          <p:cNvPicPr preferRelativeResize="0"/>
          <p:nvPr/>
        </p:nvPicPr>
        <p:blipFill rotWithShape="1">
          <a:blip r:embed="rId3">
            <a:alphaModFix/>
          </a:blip>
          <a:srcRect b="0" l="0" r="0" t="0"/>
          <a:stretch/>
        </p:blipFill>
        <p:spPr>
          <a:xfrm>
            <a:off x="10625328" y="310896"/>
            <a:ext cx="1078992" cy="264111"/>
          </a:xfrm>
          <a:prstGeom prst="rect">
            <a:avLst/>
          </a:prstGeom>
          <a:noFill/>
          <a:ln>
            <a:noFill/>
          </a:ln>
        </p:spPr>
      </p:pic>
      <p:sp>
        <p:nvSpPr>
          <p:cNvPr id="1906" name="Google Shape;1906;p67"/>
          <p:cNvSpPr/>
          <p:nvPr/>
        </p:nvSpPr>
        <p:spPr>
          <a:xfrm>
            <a:off x="502920" y="6528816"/>
            <a:ext cx="8686800"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A79D"/>
              </a:buClr>
              <a:buSzPts val="800"/>
              <a:buFont typeface="Calibri"/>
              <a:buNone/>
            </a:pPr>
            <a:r>
              <a:rPr b="1" i="0" lang="en-US" sz="800" u="none" cap="none" strike="noStrike">
                <a:solidFill>
                  <a:srgbClr val="00A79D"/>
                </a:solidFill>
                <a:latin typeface="Calibri"/>
                <a:ea typeface="Calibri"/>
                <a:cs typeface="Calibri"/>
                <a:sym typeface="Calibri"/>
              </a:rPr>
              <a:t>MODULE 3   </a:t>
            </a:r>
            <a:r>
              <a:rPr b="0" i="0" lang="en-US" sz="800" u="none" cap="none" strike="noStrike">
                <a:solidFill>
                  <a:srgbClr val="8A96A6"/>
                </a:solidFill>
                <a:latin typeface="Calibri"/>
                <a:ea typeface="Calibri"/>
                <a:cs typeface="Calibri"/>
                <a:sym typeface="Calibri"/>
              </a:rPr>
              <a:t>SDA-AIE-212 · Computer Vision Systems Development</a:t>
            </a:r>
            <a:endParaRPr b="0" i="0" sz="800" u="none" cap="none" strike="noStrike">
              <a:solidFill>
                <a:schemeClr val="dk1"/>
              </a:solidFill>
              <a:latin typeface="Calibri"/>
              <a:ea typeface="Calibri"/>
              <a:cs typeface="Calibri"/>
              <a:sym typeface="Calibri"/>
            </a:endParaRPr>
          </a:p>
        </p:txBody>
      </p:sp>
      <p:sp>
        <p:nvSpPr>
          <p:cNvPr id="1907" name="Google Shape;1907;p67"/>
          <p:cNvSpPr/>
          <p:nvPr/>
        </p:nvSpPr>
        <p:spPr>
          <a:xfrm>
            <a:off x="11292840" y="6528816"/>
            <a:ext cx="411480" cy="219456"/>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8A96A6"/>
              </a:buClr>
              <a:buSzPts val="900"/>
              <a:buFont typeface="Calibri"/>
              <a:buNone/>
            </a:pPr>
            <a:r>
              <a:rPr b="0" i="0" lang="en-US" sz="900" u="none" cap="none" strike="noStrike">
                <a:solidFill>
                  <a:srgbClr val="8A96A6"/>
                </a:solidFill>
                <a:latin typeface="Calibri"/>
                <a:ea typeface="Calibri"/>
                <a:cs typeface="Calibri"/>
                <a:sym typeface="Calibri"/>
              </a:rPr>
              <a:t>67</a:t>
            </a:r>
            <a:endParaRPr b="0" i="0" sz="900" u="none" cap="none" strike="noStrike">
              <a:solidFill>
                <a:schemeClr val="dk1"/>
              </a:solidFill>
              <a:latin typeface="Calibri"/>
              <a:ea typeface="Calibri"/>
              <a:cs typeface="Calibri"/>
              <a:sym typeface="Calibri"/>
            </a:endParaRPr>
          </a:p>
        </p:txBody>
      </p:sp>
      <p:graphicFrame>
        <p:nvGraphicFramePr>
          <p:cNvPr id="1908" name="Google Shape;1908;p67"/>
          <p:cNvGraphicFramePr/>
          <p:nvPr/>
        </p:nvGraphicFramePr>
        <p:xfrm>
          <a:off x="502920" y="1389888"/>
          <a:ext cx="3000000" cy="3000000"/>
        </p:xfrm>
        <a:graphic>
          <a:graphicData uri="http://schemas.openxmlformats.org/drawingml/2006/table">
            <a:tbl>
              <a:tblPr>
                <a:noFill/>
                <a:tableStyleId>{F80342BA-3033-44D6-9F91-622DC7A4C435}</a:tableStyleId>
              </a:tblPr>
              <a:tblGrid>
                <a:gridCol w="3887550"/>
                <a:gridCol w="3949750"/>
                <a:gridCol w="3348550"/>
              </a:tblGrid>
              <a:tr h="696250">
                <a:tc>
                  <a:txBody>
                    <a:bodyPr/>
                    <a:lstStyle/>
                    <a:p>
                      <a:pPr indent="0" lvl="0" marL="0" marR="0" rtl="0" algn="l">
                        <a:spcBef>
                          <a:spcPts val="0"/>
                        </a:spcBef>
                        <a:spcAft>
                          <a:spcPts val="0"/>
                        </a:spcAft>
                        <a:buClr>
                          <a:srgbClr val="FFFFFF"/>
                        </a:buClr>
                        <a:buSzPts val="1050"/>
                        <a:buFont typeface="Calibri"/>
                        <a:buNone/>
                      </a:pPr>
                      <a:r>
                        <a:rPr b="1" lang="en-US" sz="1050" u="none" cap="none" strike="noStrike">
                          <a:solidFill>
                            <a:srgbClr val="FFFFFF"/>
                          </a:solidFill>
                          <a:latin typeface="Calibri"/>
                          <a:ea typeface="Calibri"/>
                          <a:cs typeface="Calibri"/>
                          <a:sym typeface="Calibri"/>
                        </a:rPr>
                        <a:t>Metric</a:t>
                      </a:r>
                      <a:endParaRPr sz="1050" u="none" cap="none" strike="noStrike">
                        <a:latin typeface="Calibri"/>
                        <a:ea typeface="Calibri"/>
                        <a:cs typeface="Calibri"/>
                        <a:sym typeface="Calibri"/>
                      </a:endParaRPr>
                    </a:p>
                  </a:txBody>
                  <a:tcPr marT="64000" marB="64000" marR="64000" marL="64000" anchor="ctr">
                    <a:lnL cap="flat" cmpd="sng" w="9525">
                      <a:solidFill>
                        <a:srgbClr val="D9E2EA"/>
                      </a:solidFill>
                      <a:prstDash val="solid"/>
                      <a:round/>
                      <a:headEnd len="sm" w="sm" type="none"/>
                      <a:tailEnd len="sm" w="sm" type="none"/>
                    </a:lnL>
                    <a:lnR cap="flat" cmpd="sng" w="9525">
                      <a:solidFill>
                        <a:srgbClr val="D9E2EA"/>
                      </a:solidFill>
                      <a:prstDash val="solid"/>
                      <a:round/>
                      <a:headEnd len="sm" w="sm" type="none"/>
                      <a:tailEnd len="sm" w="sm" type="none"/>
                    </a:lnR>
                    <a:lnT cap="flat" cmpd="sng" w="9525">
                      <a:solidFill>
                        <a:srgbClr val="D9E2EA"/>
                      </a:solidFill>
                      <a:prstDash val="solid"/>
                      <a:round/>
                      <a:headEnd len="sm" w="sm" type="none"/>
                      <a:tailEnd len="sm" w="sm" type="none"/>
                    </a:lnT>
                    <a:lnB cap="flat" cmpd="sng" w="9525">
                      <a:solidFill>
                        <a:srgbClr val="D9E2EA"/>
                      </a:solidFill>
                      <a:prstDash val="solid"/>
                      <a:round/>
                      <a:headEnd len="sm" w="sm" type="none"/>
                      <a:tailEnd len="sm" w="sm" type="none"/>
                    </a:lnB>
                    <a:solidFill>
                      <a:srgbClr val="1D2A5C"/>
                    </a:solidFill>
                  </a:tcPr>
                </a:tc>
                <a:tc>
                  <a:txBody>
                    <a:bodyPr/>
                    <a:lstStyle/>
                    <a:p>
                      <a:pPr indent="0" lvl="0" marL="0" marR="0" rtl="0" algn="l">
                        <a:spcBef>
                          <a:spcPts val="0"/>
                        </a:spcBef>
                        <a:spcAft>
                          <a:spcPts val="0"/>
                        </a:spcAft>
                        <a:buClr>
                          <a:srgbClr val="FFFFFF"/>
                        </a:buClr>
                        <a:buSzPts val="1050"/>
                        <a:buFont typeface="Calibri"/>
                        <a:buNone/>
                      </a:pPr>
                      <a:r>
                        <a:rPr b="1" lang="en-US" sz="1050" u="none" cap="none" strike="noStrike">
                          <a:solidFill>
                            <a:srgbClr val="FFFFFF"/>
                          </a:solidFill>
                          <a:latin typeface="Calibri"/>
                          <a:ea typeface="Calibri"/>
                          <a:cs typeface="Calibri"/>
                          <a:sym typeface="Calibri"/>
                        </a:rPr>
                        <a:t>Target after M3</a:t>
                      </a:r>
                      <a:endParaRPr sz="1050" u="none" cap="none" strike="noStrike">
                        <a:latin typeface="Calibri"/>
                        <a:ea typeface="Calibri"/>
                        <a:cs typeface="Calibri"/>
                        <a:sym typeface="Calibri"/>
                      </a:endParaRPr>
                    </a:p>
                  </a:txBody>
                  <a:tcPr marT="64000" marB="64000" marR="64000" marL="64000" anchor="ctr">
                    <a:lnL cap="flat" cmpd="sng" w="9525">
                      <a:solidFill>
                        <a:srgbClr val="D9E2EA"/>
                      </a:solidFill>
                      <a:prstDash val="solid"/>
                      <a:round/>
                      <a:headEnd len="sm" w="sm" type="none"/>
                      <a:tailEnd len="sm" w="sm" type="none"/>
                    </a:lnL>
                    <a:lnR cap="flat" cmpd="sng" w="9525">
                      <a:solidFill>
                        <a:srgbClr val="D9E2EA"/>
                      </a:solidFill>
                      <a:prstDash val="solid"/>
                      <a:round/>
                      <a:headEnd len="sm" w="sm" type="none"/>
                      <a:tailEnd len="sm" w="sm" type="none"/>
                    </a:lnR>
                    <a:lnT cap="flat" cmpd="sng" w="9525">
                      <a:solidFill>
                        <a:srgbClr val="D9E2EA"/>
                      </a:solidFill>
                      <a:prstDash val="solid"/>
                      <a:round/>
                      <a:headEnd len="sm" w="sm" type="none"/>
                      <a:tailEnd len="sm" w="sm" type="none"/>
                    </a:lnT>
                    <a:lnB cap="flat" cmpd="sng" w="9525">
                      <a:solidFill>
                        <a:srgbClr val="D9E2EA"/>
                      </a:solidFill>
                      <a:prstDash val="solid"/>
                      <a:round/>
                      <a:headEnd len="sm" w="sm" type="none"/>
                      <a:tailEnd len="sm" w="sm" type="none"/>
                    </a:lnB>
                    <a:solidFill>
                      <a:srgbClr val="1D2A5C"/>
                    </a:solidFill>
                  </a:tcPr>
                </a:tc>
                <a:tc>
                  <a:txBody>
                    <a:bodyPr/>
                    <a:lstStyle/>
                    <a:p>
                      <a:pPr indent="0" lvl="0" marL="0" marR="0" rtl="0" algn="l">
                        <a:spcBef>
                          <a:spcPts val="0"/>
                        </a:spcBef>
                        <a:spcAft>
                          <a:spcPts val="0"/>
                        </a:spcAft>
                        <a:buClr>
                          <a:srgbClr val="FFFFFF"/>
                        </a:buClr>
                        <a:buSzPts val="1050"/>
                        <a:buFont typeface="Calibri"/>
                        <a:buNone/>
                      </a:pPr>
                      <a:r>
                        <a:rPr b="1" lang="en-US" sz="1050" u="none" cap="none" strike="noStrike">
                          <a:solidFill>
                            <a:srgbClr val="FFFFFF"/>
                          </a:solidFill>
                          <a:latin typeface="Calibri"/>
                          <a:ea typeface="Calibri"/>
                          <a:cs typeface="Calibri"/>
                          <a:sym typeface="Calibri"/>
                        </a:rPr>
                        <a:t>How measured</a:t>
                      </a:r>
                      <a:endParaRPr sz="1050" u="none" cap="none" strike="noStrike">
                        <a:latin typeface="Calibri"/>
                        <a:ea typeface="Calibri"/>
                        <a:cs typeface="Calibri"/>
                        <a:sym typeface="Calibri"/>
                      </a:endParaRPr>
                    </a:p>
                  </a:txBody>
                  <a:tcPr marT="64000" marB="64000" marR="64000" marL="64000" anchor="ctr">
                    <a:lnL cap="flat" cmpd="sng" w="9525">
                      <a:solidFill>
                        <a:srgbClr val="D9E2EA"/>
                      </a:solidFill>
                      <a:prstDash val="solid"/>
                      <a:round/>
                      <a:headEnd len="sm" w="sm" type="none"/>
                      <a:tailEnd len="sm" w="sm" type="none"/>
                    </a:lnL>
                    <a:lnR cap="flat" cmpd="sng" w="9525">
                      <a:solidFill>
                        <a:srgbClr val="D9E2EA"/>
                      </a:solidFill>
                      <a:prstDash val="solid"/>
                      <a:round/>
                      <a:headEnd len="sm" w="sm" type="none"/>
                      <a:tailEnd len="sm" w="sm" type="none"/>
                    </a:lnR>
                    <a:lnT cap="flat" cmpd="sng" w="9525">
                      <a:solidFill>
                        <a:srgbClr val="D9E2EA"/>
                      </a:solidFill>
                      <a:prstDash val="solid"/>
                      <a:round/>
                      <a:headEnd len="sm" w="sm" type="none"/>
                      <a:tailEnd len="sm" w="sm" type="none"/>
                    </a:lnT>
                    <a:lnB cap="flat" cmpd="sng" w="9525">
                      <a:solidFill>
                        <a:srgbClr val="D9E2EA"/>
                      </a:solidFill>
                      <a:prstDash val="solid"/>
                      <a:round/>
                      <a:headEnd len="sm" w="sm" type="none"/>
                      <a:tailEnd len="sm" w="sm" type="none"/>
                    </a:lnB>
                    <a:solidFill>
                      <a:srgbClr val="1D2A5C"/>
                    </a:solidFill>
                  </a:tcPr>
                </a:tc>
              </a:tr>
              <a:tr h="696250">
                <a:tc>
                  <a:txBody>
                    <a:bodyPr/>
                    <a:lstStyle/>
                    <a:p>
                      <a:pPr indent="0" lvl="0" marL="0" marR="0" rtl="0" algn="l">
                        <a:spcBef>
                          <a:spcPts val="0"/>
                        </a:spcBef>
                        <a:spcAft>
                          <a:spcPts val="0"/>
                        </a:spcAft>
                        <a:buClr>
                          <a:srgbClr val="1D2A5C"/>
                        </a:buClr>
                        <a:buSzPts val="1050"/>
                        <a:buFont typeface="Calibri"/>
                        <a:buNone/>
                      </a:pPr>
                      <a:r>
                        <a:rPr b="1" lang="en-US" sz="1050" u="none" cap="none" strike="noStrike">
                          <a:solidFill>
                            <a:srgbClr val="1D2A5C"/>
                          </a:solidFill>
                          <a:latin typeface="Calibri"/>
                          <a:ea typeface="Calibri"/>
                          <a:cs typeface="Calibri"/>
                          <a:sym typeface="Calibri"/>
                        </a:rPr>
                        <a:t>mAP@0.5 (test split)</a:t>
                      </a:r>
                      <a:endParaRPr sz="1050" u="none" cap="none" strike="noStrike">
                        <a:latin typeface="Calibri"/>
                        <a:ea typeface="Calibri"/>
                        <a:cs typeface="Calibri"/>
                        <a:sym typeface="Calibri"/>
                      </a:endParaRPr>
                    </a:p>
                  </a:txBody>
                  <a:tcPr marT="64000" marB="64000" marR="64000" marL="64000" anchor="ctr">
                    <a:lnL cap="flat" cmpd="sng" w="9525">
                      <a:solidFill>
                        <a:srgbClr val="D9E2EA"/>
                      </a:solidFill>
                      <a:prstDash val="solid"/>
                      <a:round/>
                      <a:headEnd len="sm" w="sm" type="none"/>
                      <a:tailEnd len="sm" w="sm" type="none"/>
                    </a:lnL>
                    <a:lnR cap="flat" cmpd="sng" w="9525">
                      <a:solidFill>
                        <a:srgbClr val="D9E2EA"/>
                      </a:solidFill>
                      <a:prstDash val="solid"/>
                      <a:round/>
                      <a:headEnd len="sm" w="sm" type="none"/>
                      <a:tailEnd len="sm" w="sm" type="none"/>
                    </a:lnR>
                    <a:lnT cap="flat" cmpd="sng" w="9525">
                      <a:solidFill>
                        <a:srgbClr val="D9E2EA"/>
                      </a:solidFill>
                      <a:prstDash val="solid"/>
                      <a:round/>
                      <a:headEnd len="sm" w="sm" type="none"/>
                      <a:tailEnd len="sm" w="sm" type="none"/>
                    </a:lnT>
                    <a:lnB cap="flat" cmpd="sng" w="9525">
                      <a:solidFill>
                        <a:srgbClr val="D9E2EA"/>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23293B"/>
                        </a:buClr>
                        <a:buSzPts val="1050"/>
                        <a:buFont typeface="Calibri"/>
                        <a:buNone/>
                      </a:pPr>
                      <a:r>
                        <a:rPr lang="en-US" sz="1050" u="none" cap="none" strike="noStrike">
                          <a:solidFill>
                            <a:srgbClr val="23293B"/>
                          </a:solidFill>
                          <a:latin typeface="Calibri"/>
                          <a:ea typeface="Calibri"/>
                          <a:cs typeface="Calibri"/>
                          <a:sym typeface="Calibri"/>
                        </a:rPr>
                        <a:t>≥ 0.85</a:t>
                      </a:r>
                      <a:endParaRPr sz="1050" u="none" cap="none" strike="noStrike">
                        <a:latin typeface="Calibri"/>
                        <a:ea typeface="Calibri"/>
                        <a:cs typeface="Calibri"/>
                        <a:sym typeface="Calibri"/>
                      </a:endParaRPr>
                    </a:p>
                  </a:txBody>
                  <a:tcPr marT="64000" marB="64000" marR="64000" marL="64000" anchor="ctr">
                    <a:lnL cap="flat" cmpd="sng" w="9525">
                      <a:solidFill>
                        <a:srgbClr val="D9E2EA"/>
                      </a:solidFill>
                      <a:prstDash val="solid"/>
                      <a:round/>
                      <a:headEnd len="sm" w="sm" type="none"/>
                      <a:tailEnd len="sm" w="sm" type="none"/>
                    </a:lnL>
                    <a:lnR cap="flat" cmpd="sng" w="9525">
                      <a:solidFill>
                        <a:srgbClr val="D9E2EA"/>
                      </a:solidFill>
                      <a:prstDash val="solid"/>
                      <a:round/>
                      <a:headEnd len="sm" w="sm" type="none"/>
                      <a:tailEnd len="sm" w="sm" type="none"/>
                    </a:lnR>
                    <a:lnT cap="flat" cmpd="sng" w="9525">
                      <a:solidFill>
                        <a:srgbClr val="D9E2EA"/>
                      </a:solidFill>
                      <a:prstDash val="solid"/>
                      <a:round/>
                      <a:headEnd len="sm" w="sm" type="none"/>
                      <a:tailEnd len="sm" w="sm" type="none"/>
                    </a:lnT>
                    <a:lnB cap="flat" cmpd="sng" w="9525">
                      <a:solidFill>
                        <a:srgbClr val="D9E2EA"/>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23293B"/>
                        </a:buClr>
                        <a:buSzPts val="1050"/>
                        <a:buFont typeface="Calibri"/>
                        <a:buNone/>
                      </a:pPr>
                      <a:r>
                        <a:rPr lang="en-US" sz="1050" u="none" cap="none" strike="noStrike">
                          <a:solidFill>
                            <a:srgbClr val="23293B"/>
                          </a:solidFill>
                          <a:latin typeface="Calibri"/>
                          <a:ea typeface="Calibri"/>
                          <a:cs typeface="Calibri"/>
                          <a:sym typeface="Calibri"/>
                        </a:rPr>
                        <a:t>model.val(split='test')</a:t>
                      </a:r>
                      <a:endParaRPr sz="1050" u="none" cap="none" strike="noStrike">
                        <a:latin typeface="Calibri"/>
                        <a:ea typeface="Calibri"/>
                        <a:cs typeface="Calibri"/>
                        <a:sym typeface="Calibri"/>
                      </a:endParaRPr>
                    </a:p>
                  </a:txBody>
                  <a:tcPr marT="64000" marB="64000" marR="64000" marL="64000" anchor="ctr">
                    <a:lnL cap="flat" cmpd="sng" w="9525">
                      <a:solidFill>
                        <a:srgbClr val="D9E2EA"/>
                      </a:solidFill>
                      <a:prstDash val="solid"/>
                      <a:round/>
                      <a:headEnd len="sm" w="sm" type="none"/>
                      <a:tailEnd len="sm" w="sm" type="none"/>
                    </a:lnL>
                    <a:lnR cap="flat" cmpd="sng" w="9525">
                      <a:solidFill>
                        <a:srgbClr val="D9E2EA"/>
                      </a:solidFill>
                      <a:prstDash val="solid"/>
                      <a:round/>
                      <a:headEnd len="sm" w="sm" type="none"/>
                      <a:tailEnd len="sm" w="sm" type="none"/>
                    </a:lnR>
                    <a:lnT cap="flat" cmpd="sng" w="9525">
                      <a:solidFill>
                        <a:srgbClr val="D9E2EA"/>
                      </a:solidFill>
                      <a:prstDash val="solid"/>
                      <a:round/>
                      <a:headEnd len="sm" w="sm" type="none"/>
                      <a:tailEnd len="sm" w="sm" type="none"/>
                    </a:lnT>
                    <a:lnB cap="flat" cmpd="sng" w="9525">
                      <a:solidFill>
                        <a:srgbClr val="D9E2EA"/>
                      </a:solidFill>
                      <a:prstDash val="solid"/>
                      <a:round/>
                      <a:headEnd len="sm" w="sm" type="none"/>
                      <a:tailEnd len="sm" w="sm" type="none"/>
                    </a:lnB>
                    <a:solidFill>
                      <a:srgbClr val="FFFFFF"/>
                    </a:solidFill>
                  </a:tcPr>
                </a:tc>
              </a:tr>
              <a:tr h="696250">
                <a:tc>
                  <a:txBody>
                    <a:bodyPr/>
                    <a:lstStyle/>
                    <a:p>
                      <a:pPr indent="0" lvl="0" marL="0" marR="0" rtl="0" algn="l">
                        <a:spcBef>
                          <a:spcPts val="0"/>
                        </a:spcBef>
                        <a:spcAft>
                          <a:spcPts val="0"/>
                        </a:spcAft>
                        <a:buClr>
                          <a:srgbClr val="1D2A5C"/>
                        </a:buClr>
                        <a:buSzPts val="1050"/>
                        <a:buFont typeface="Calibri"/>
                        <a:buNone/>
                      </a:pPr>
                      <a:r>
                        <a:rPr b="1" lang="en-US" sz="1050" u="none" cap="none" strike="noStrike">
                          <a:solidFill>
                            <a:srgbClr val="1D2A5C"/>
                          </a:solidFill>
                          <a:latin typeface="Calibri"/>
                          <a:ea typeface="Calibri"/>
                          <a:cs typeface="Calibri"/>
                          <a:sym typeface="Calibri"/>
                        </a:rPr>
                        <a:t>mAP@0.5:0.95 (test split)</a:t>
                      </a:r>
                      <a:endParaRPr sz="1050" u="none" cap="none" strike="noStrike">
                        <a:latin typeface="Calibri"/>
                        <a:ea typeface="Calibri"/>
                        <a:cs typeface="Calibri"/>
                        <a:sym typeface="Calibri"/>
                      </a:endParaRPr>
                    </a:p>
                  </a:txBody>
                  <a:tcPr marT="64000" marB="64000" marR="64000" marL="64000" anchor="ctr">
                    <a:lnL cap="flat" cmpd="sng" w="9525">
                      <a:solidFill>
                        <a:srgbClr val="D9E2EA"/>
                      </a:solidFill>
                      <a:prstDash val="solid"/>
                      <a:round/>
                      <a:headEnd len="sm" w="sm" type="none"/>
                      <a:tailEnd len="sm" w="sm" type="none"/>
                    </a:lnL>
                    <a:lnR cap="flat" cmpd="sng" w="9525">
                      <a:solidFill>
                        <a:srgbClr val="D9E2EA"/>
                      </a:solidFill>
                      <a:prstDash val="solid"/>
                      <a:round/>
                      <a:headEnd len="sm" w="sm" type="none"/>
                      <a:tailEnd len="sm" w="sm" type="none"/>
                    </a:lnR>
                    <a:lnT cap="flat" cmpd="sng" w="9525">
                      <a:solidFill>
                        <a:srgbClr val="D9E2EA"/>
                      </a:solidFill>
                      <a:prstDash val="solid"/>
                      <a:round/>
                      <a:headEnd len="sm" w="sm" type="none"/>
                      <a:tailEnd len="sm" w="sm" type="none"/>
                    </a:lnT>
                    <a:lnB cap="flat" cmpd="sng" w="9525">
                      <a:solidFill>
                        <a:srgbClr val="D9E2EA"/>
                      </a:solidFill>
                      <a:prstDash val="solid"/>
                      <a:round/>
                      <a:headEnd len="sm" w="sm" type="none"/>
                      <a:tailEnd len="sm" w="sm" type="none"/>
                    </a:lnB>
                    <a:solidFill>
                      <a:srgbClr val="F2F6F9"/>
                    </a:solidFill>
                  </a:tcPr>
                </a:tc>
                <a:tc>
                  <a:txBody>
                    <a:bodyPr/>
                    <a:lstStyle/>
                    <a:p>
                      <a:pPr indent="0" lvl="0" marL="0" marR="0" rtl="0" algn="l">
                        <a:spcBef>
                          <a:spcPts val="0"/>
                        </a:spcBef>
                        <a:spcAft>
                          <a:spcPts val="0"/>
                        </a:spcAft>
                        <a:buClr>
                          <a:srgbClr val="23293B"/>
                        </a:buClr>
                        <a:buSzPts val="1050"/>
                        <a:buFont typeface="Calibri"/>
                        <a:buNone/>
                      </a:pPr>
                      <a:r>
                        <a:rPr lang="en-US" sz="1050" u="none" cap="none" strike="noStrike">
                          <a:solidFill>
                            <a:srgbClr val="23293B"/>
                          </a:solidFill>
                          <a:latin typeface="Calibri"/>
                          <a:ea typeface="Calibri"/>
                          <a:cs typeface="Calibri"/>
                          <a:sym typeface="Calibri"/>
                        </a:rPr>
                        <a:t>≥ 0.60</a:t>
                      </a:r>
                      <a:endParaRPr sz="1050" u="none" cap="none" strike="noStrike">
                        <a:latin typeface="Calibri"/>
                        <a:ea typeface="Calibri"/>
                        <a:cs typeface="Calibri"/>
                        <a:sym typeface="Calibri"/>
                      </a:endParaRPr>
                    </a:p>
                  </a:txBody>
                  <a:tcPr marT="64000" marB="64000" marR="64000" marL="64000" anchor="ctr">
                    <a:lnL cap="flat" cmpd="sng" w="9525">
                      <a:solidFill>
                        <a:srgbClr val="D9E2EA"/>
                      </a:solidFill>
                      <a:prstDash val="solid"/>
                      <a:round/>
                      <a:headEnd len="sm" w="sm" type="none"/>
                      <a:tailEnd len="sm" w="sm" type="none"/>
                    </a:lnL>
                    <a:lnR cap="flat" cmpd="sng" w="9525">
                      <a:solidFill>
                        <a:srgbClr val="D9E2EA"/>
                      </a:solidFill>
                      <a:prstDash val="solid"/>
                      <a:round/>
                      <a:headEnd len="sm" w="sm" type="none"/>
                      <a:tailEnd len="sm" w="sm" type="none"/>
                    </a:lnR>
                    <a:lnT cap="flat" cmpd="sng" w="9525">
                      <a:solidFill>
                        <a:srgbClr val="D9E2EA"/>
                      </a:solidFill>
                      <a:prstDash val="solid"/>
                      <a:round/>
                      <a:headEnd len="sm" w="sm" type="none"/>
                      <a:tailEnd len="sm" w="sm" type="none"/>
                    </a:lnT>
                    <a:lnB cap="flat" cmpd="sng" w="9525">
                      <a:solidFill>
                        <a:srgbClr val="D9E2EA"/>
                      </a:solidFill>
                      <a:prstDash val="solid"/>
                      <a:round/>
                      <a:headEnd len="sm" w="sm" type="none"/>
                      <a:tailEnd len="sm" w="sm" type="none"/>
                    </a:lnB>
                    <a:solidFill>
                      <a:srgbClr val="F2F6F9"/>
                    </a:solidFill>
                  </a:tcPr>
                </a:tc>
                <a:tc>
                  <a:txBody>
                    <a:bodyPr/>
                    <a:lstStyle/>
                    <a:p>
                      <a:pPr indent="0" lvl="0" marL="0" marR="0" rtl="0" algn="l">
                        <a:spcBef>
                          <a:spcPts val="0"/>
                        </a:spcBef>
                        <a:spcAft>
                          <a:spcPts val="0"/>
                        </a:spcAft>
                        <a:buClr>
                          <a:srgbClr val="23293B"/>
                        </a:buClr>
                        <a:buSzPts val="1050"/>
                        <a:buFont typeface="Calibri"/>
                        <a:buNone/>
                      </a:pPr>
                      <a:r>
                        <a:rPr lang="en-US" sz="1050" u="none" cap="none" strike="noStrike">
                          <a:solidFill>
                            <a:srgbClr val="23293B"/>
                          </a:solidFill>
                          <a:latin typeface="Calibri"/>
                          <a:ea typeface="Calibri"/>
                          <a:cs typeface="Calibri"/>
                          <a:sym typeface="Calibri"/>
                        </a:rPr>
                        <a:t>same call</a:t>
                      </a:r>
                      <a:endParaRPr sz="1050" u="none" cap="none" strike="noStrike">
                        <a:latin typeface="Calibri"/>
                        <a:ea typeface="Calibri"/>
                        <a:cs typeface="Calibri"/>
                        <a:sym typeface="Calibri"/>
                      </a:endParaRPr>
                    </a:p>
                  </a:txBody>
                  <a:tcPr marT="64000" marB="64000" marR="64000" marL="64000" anchor="ctr">
                    <a:lnL cap="flat" cmpd="sng" w="9525">
                      <a:solidFill>
                        <a:srgbClr val="D9E2EA"/>
                      </a:solidFill>
                      <a:prstDash val="solid"/>
                      <a:round/>
                      <a:headEnd len="sm" w="sm" type="none"/>
                      <a:tailEnd len="sm" w="sm" type="none"/>
                    </a:lnL>
                    <a:lnR cap="flat" cmpd="sng" w="9525">
                      <a:solidFill>
                        <a:srgbClr val="D9E2EA"/>
                      </a:solidFill>
                      <a:prstDash val="solid"/>
                      <a:round/>
                      <a:headEnd len="sm" w="sm" type="none"/>
                      <a:tailEnd len="sm" w="sm" type="none"/>
                    </a:lnR>
                    <a:lnT cap="flat" cmpd="sng" w="9525">
                      <a:solidFill>
                        <a:srgbClr val="D9E2EA"/>
                      </a:solidFill>
                      <a:prstDash val="solid"/>
                      <a:round/>
                      <a:headEnd len="sm" w="sm" type="none"/>
                      <a:tailEnd len="sm" w="sm" type="none"/>
                    </a:lnT>
                    <a:lnB cap="flat" cmpd="sng" w="9525">
                      <a:solidFill>
                        <a:srgbClr val="D9E2EA"/>
                      </a:solidFill>
                      <a:prstDash val="solid"/>
                      <a:round/>
                      <a:headEnd len="sm" w="sm" type="none"/>
                      <a:tailEnd len="sm" w="sm" type="none"/>
                    </a:lnB>
                    <a:solidFill>
                      <a:srgbClr val="F2F6F9"/>
                    </a:solidFill>
                  </a:tcPr>
                </a:tc>
              </a:tr>
              <a:tr h="696250">
                <a:tc>
                  <a:txBody>
                    <a:bodyPr/>
                    <a:lstStyle/>
                    <a:p>
                      <a:pPr indent="0" lvl="0" marL="0" marR="0" rtl="0" algn="l">
                        <a:spcBef>
                          <a:spcPts val="0"/>
                        </a:spcBef>
                        <a:spcAft>
                          <a:spcPts val="0"/>
                        </a:spcAft>
                        <a:buClr>
                          <a:srgbClr val="1D2A5C"/>
                        </a:buClr>
                        <a:buSzPts val="1050"/>
                        <a:buFont typeface="Calibri"/>
                        <a:buNone/>
                      </a:pPr>
                      <a:r>
                        <a:rPr b="1" lang="en-US" sz="1050" u="none" cap="none" strike="noStrike">
                          <a:solidFill>
                            <a:srgbClr val="1D2A5C"/>
                          </a:solidFill>
                          <a:latin typeface="Calibri"/>
                          <a:ea typeface="Calibri"/>
                          <a:cs typeface="Calibri"/>
                          <a:sym typeface="Calibri"/>
                        </a:rPr>
                        <a:t>Mould recall at deployed point</a:t>
                      </a:r>
                      <a:endParaRPr sz="1050" u="none" cap="none" strike="noStrike">
                        <a:latin typeface="Calibri"/>
                        <a:ea typeface="Calibri"/>
                        <a:cs typeface="Calibri"/>
                        <a:sym typeface="Calibri"/>
                      </a:endParaRPr>
                    </a:p>
                  </a:txBody>
                  <a:tcPr marT="64000" marB="64000" marR="64000" marL="64000" anchor="ctr">
                    <a:lnL cap="flat" cmpd="sng" w="9525">
                      <a:solidFill>
                        <a:srgbClr val="D9E2EA"/>
                      </a:solidFill>
                      <a:prstDash val="solid"/>
                      <a:round/>
                      <a:headEnd len="sm" w="sm" type="none"/>
                      <a:tailEnd len="sm" w="sm" type="none"/>
                    </a:lnL>
                    <a:lnR cap="flat" cmpd="sng" w="9525">
                      <a:solidFill>
                        <a:srgbClr val="D9E2EA"/>
                      </a:solidFill>
                      <a:prstDash val="solid"/>
                      <a:round/>
                      <a:headEnd len="sm" w="sm" type="none"/>
                      <a:tailEnd len="sm" w="sm" type="none"/>
                    </a:lnR>
                    <a:lnT cap="flat" cmpd="sng" w="9525">
                      <a:solidFill>
                        <a:srgbClr val="D9E2EA"/>
                      </a:solidFill>
                      <a:prstDash val="solid"/>
                      <a:round/>
                      <a:headEnd len="sm" w="sm" type="none"/>
                      <a:tailEnd len="sm" w="sm" type="none"/>
                    </a:lnT>
                    <a:lnB cap="flat" cmpd="sng" w="9525">
                      <a:solidFill>
                        <a:srgbClr val="D9E2EA"/>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23293B"/>
                        </a:buClr>
                        <a:buSzPts val="1050"/>
                        <a:buFont typeface="Calibri"/>
                        <a:buNone/>
                      </a:pPr>
                      <a:r>
                        <a:rPr lang="en-US" sz="1050" u="none" cap="none" strike="noStrike">
                          <a:solidFill>
                            <a:srgbClr val="23293B"/>
                          </a:solidFill>
                          <a:latin typeface="Calibri"/>
                          <a:ea typeface="Calibri"/>
                          <a:cs typeface="Calibri"/>
                          <a:sym typeface="Calibri"/>
                        </a:rPr>
                        <a:t>≥ 0.99</a:t>
                      </a:r>
                      <a:endParaRPr sz="1050" u="none" cap="none" strike="noStrike">
                        <a:latin typeface="Calibri"/>
                        <a:ea typeface="Calibri"/>
                        <a:cs typeface="Calibri"/>
                        <a:sym typeface="Calibri"/>
                      </a:endParaRPr>
                    </a:p>
                  </a:txBody>
                  <a:tcPr marT="64000" marB="64000" marR="64000" marL="64000" anchor="ctr">
                    <a:lnL cap="flat" cmpd="sng" w="9525">
                      <a:solidFill>
                        <a:srgbClr val="D9E2EA"/>
                      </a:solidFill>
                      <a:prstDash val="solid"/>
                      <a:round/>
                      <a:headEnd len="sm" w="sm" type="none"/>
                      <a:tailEnd len="sm" w="sm" type="none"/>
                    </a:lnL>
                    <a:lnR cap="flat" cmpd="sng" w="9525">
                      <a:solidFill>
                        <a:srgbClr val="D9E2EA"/>
                      </a:solidFill>
                      <a:prstDash val="solid"/>
                      <a:round/>
                      <a:headEnd len="sm" w="sm" type="none"/>
                      <a:tailEnd len="sm" w="sm" type="none"/>
                    </a:lnR>
                    <a:lnT cap="flat" cmpd="sng" w="9525">
                      <a:solidFill>
                        <a:srgbClr val="D9E2EA"/>
                      </a:solidFill>
                      <a:prstDash val="solid"/>
                      <a:round/>
                      <a:headEnd len="sm" w="sm" type="none"/>
                      <a:tailEnd len="sm" w="sm" type="none"/>
                    </a:lnT>
                    <a:lnB cap="flat" cmpd="sng" w="9525">
                      <a:solidFill>
                        <a:srgbClr val="D9E2EA"/>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23293B"/>
                        </a:buClr>
                        <a:buSzPts val="1050"/>
                        <a:buFont typeface="Calibri"/>
                        <a:buNone/>
                      </a:pPr>
                      <a:r>
                        <a:rPr lang="en-US" sz="1050" u="none" cap="none" strike="noStrike">
                          <a:solidFill>
                            <a:srgbClr val="23293B"/>
                          </a:solidFill>
                          <a:latin typeface="Calibri"/>
                          <a:ea typeface="Calibri"/>
                          <a:cs typeface="Calibri"/>
                          <a:sym typeface="Calibri"/>
                        </a:rPr>
                        <a:t>operating-point sweep</a:t>
                      </a:r>
                      <a:endParaRPr sz="1050" u="none" cap="none" strike="noStrike">
                        <a:latin typeface="Calibri"/>
                        <a:ea typeface="Calibri"/>
                        <a:cs typeface="Calibri"/>
                        <a:sym typeface="Calibri"/>
                      </a:endParaRPr>
                    </a:p>
                  </a:txBody>
                  <a:tcPr marT="64000" marB="64000" marR="64000" marL="64000" anchor="ctr">
                    <a:lnL cap="flat" cmpd="sng" w="9525">
                      <a:solidFill>
                        <a:srgbClr val="D9E2EA"/>
                      </a:solidFill>
                      <a:prstDash val="solid"/>
                      <a:round/>
                      <a:headEnd len="sm" w="sm" type="none"/>
                      <a:tailEnd len="sm" w="sm" type="none"/>
                    </a:lnL>
                    <a:lnR cap="flat" cmpd="sng" w="9525">
                      <a:solidFill>
                        <a:srgbClr val="D9E2EA"/>
                      </a:solidFill>
                      <a:prstDash val="solid"/>
                      <a:round/>
                      <a:headEnd len="sm" w="sm" type="none"/>
                      <a:tailEnd len="sm" w="sm" type="none"/>
                    </a:lnR>
                    <a:lnT cap="flat" cmpd="sng" w="9525">
                      <a:solidFill>
                        <a:srgbClr val="D9E2EA"/>
                      </a:solidFill>
                      <a:prstDash val="solid"/>
                      <a:round/>
                      <a:headEnd len="sm" w="sm" type="none"/>
                      <a:tailEnd len="sm" w="sm" type="none"/>
                    </a:lnT>
                    <a:lnB cap="flat" cmpd="sng" w="9525">
                      <a:solidFill>
                        <a:srgbClr val="D9E2EA"/>
                      </a:solidFill>
                      <a:prstDash val="solid"/>
                      <a:round/>
                      <a:headEnd len="sm" w="sm" type="none"/>
                      <a:tailEnd len="sm" w="sm" type="none"/>
                    </a:lnB>
                    <a:solidFill>
                      <a:srgbClr val="FFFFFF"/>
                    </a:solidFill>
                  </a:tcPr>
                </a:tc>
              </a:tr>
              <a:tr h="696250">
                <a:tc>
                  <a:txBody>
                    <a:bodyPr/>
                    <a:lstStyle/>
                    <a:p>
                      <a:pPr indent="0" lvl="0" marL="0" marR="0" rtl="0" algn="l">
                        <a:spcBef>
                          <a:spcPts val="0"/>
                        </a:spcBef>
                        <a:spcAft>
                          <a:spcPts val="0"/>
                        </a:spcAft>
                        <a:buClr>
                          <a:srgbClr val="1D2A5C"/>
                        </a:buClr>
                        <a:buSzPts val="1050"/>
                        <a:buFont typeface="Calibri"/>
                        <a:buNone/>
                      </a:pPr>
                      <a:r>
                        <a:rPr b="1" lang="en-US" sz="1050" u="none" cap="none" strike="noStrike">
                          <a:solidFill>
                            <a:srgbClr val="1D2A5C"/>
                          </a:solidFill>
                          <a:latin typeface="Calibri"/>
                          <a:ea typeface="Calibri"/>
                          <a:cs typeface="Calibri"/>
                          <a:sym typeface="Calibri"/>
                        </a:rPr>
                        <a:t>Training wall-clock (40 epochs)</a:t>
                      </a:r>
                      <a:endParaRPr sz="1050" u="none" cap="none" strike="noStrike">
                        <a:latin typeface="Calibri"/>
                        <a:ea typeface="Calibri"/>
                        <a:cs typeface="Calibri"/>
                        <a:sym typeface="Calibri"/>
                      </a:endParaRPr>
                    </a:p>
                  </a:txBody>
                  <a:tcPr marT="64000" marB="64000" marR="64000" marL="64000" anchor="ctr">
                    <a:lnL cap="flat" cmpd="sng" w="9525">
                      <a:solidFill>
                        <a:srgbClr val="D9E2EA"/>
                      </a:solidFill>
                      <a:prstDash val="solid"/>
                      <a:round/>
                      <a:headEnd len="sm" w="sm" type="none"/>
                      <a:tailEnd len="sm" w="sm" type="none"/>
                    </a:lnL>
                    <a:lnR cap="flat" cmpd="sng" w="9525">
                      <a:solidFill>
                        <a:srgbClr val="D9E2EA"/>
                      </a:solidFill>
                      <a:prstDash val="solid"/>
                      <a:round/>
                      <a:headEnd len="sm" w="sm" type="none"/>
                      <a:tailEnd len="sm" w="sm" type="none"/>
                    </a:lnR>
                    <a:lnT cap="flat" cmpd="sng" w="9525">
                      <a:solidFill>
                        <a:srgbClr val="D9E2EA"/>
                      </a:solidFill>
                      <a:prstDash val="solid"/>
                      <a:round/>
                      <a:headEnd len="sm" w="sm" type="none"/>
                      <a:tailEnd len="sm" w="sm" type="none"/>
                    </a:lnT>
                    <a:lnB cap="flat" cmpd="sng" w="9525">
                      <a:solidFill>
                        <a:srgbClr val="D9E2EA"/>
                      </a:solidFill>
                      <a:prstDash val="solid"/>
                      <a:round/>
                      <a:headEnd len="sm" w="sm" type="none"/>
                      <a:tailEnd len="sm" w="sm" type="none"/>
                    </a:lnB>
                    <a:solidFill>
                      <a:srgbClr val="F2F6F9"/>
                    </a:solidFill>
                  </a:tcPr>
                </a:tc>
                <a:tc>
                  <a:txBody>
                    <a:bodyPr/>
                    <a:lstStyle/>
                    <a:p>
                      <a:pPr indent="0" lvl="0" marL="0" marR="0" rtl="0" algn="l">
                        <a:spcBef>
                          <a:spcPts val="0"/>
                        </a:spcBef>
                        <a:spcAft>
                          <a:spcPts val="0"/>
                        </a:spcAft>
                        <a:buClr>
                          <a:srgbClr val="23293B"/>
                        </a:buClr>
                        <a:buSzPts val="1050"/>
                        <a:buFont typeface="Calibri"/>
                        <a:buNone/>
                      </a:pPr>
                      <a:r>
                        <a:rPr lang="en-US" sz="1050" u="none" cap="none" strike="noStrike">
                          <a:solidFill>
                            <a:srgbClr val="23293B"/>
                          </a:solidFill>
                          <a:latin typeface="Calibri"/>
                          <a:ea typeface="Calibri"/>
                          <a:cs typeface="Calibri"/>
                          <a:sym typeface="Calibri"/>
                        </a:rPr>
                        <a:t>≤ 15 min on GPU</a:t>
                      </a:r>
                      <a:endParaRPr sz="1050" u="none" cap="none" strike="noStrike">
                        <a:latin typeface="Calibri"/>
                        <a:ea typeface="Calibri"/>
                        <a:cs typeface="Calibri"/>
                        <a:sym typeface="Calibri"/>
                      </a:endParaRPr>
                    </a:p>
                  </a:txBody>
                  <a:tcPr marT="64000" marB="64000" marR="64000" marL="64000" anchor="ctr">
                    <a:lnL cap="flat" cmpd="sng" w="9525">
                      <a:solidFill>
                        <a:srgbClr val="D9E2EA"/>
                      </a:solidFill>
                      <a:prstDash val="solid"/>
                      <a:round/>
                      <a:headEnd len="sm" w="sm" type="none"/>
                      <a:tailEnd len="sm" w="sm" type="none"/>
                    </a:lnL>
                    <a:lnR cap="flat" cmpd="sng" w="9525">
                      <a:solidFill>
                        <a:srgbClr val="D9E2EA"/>
                      </a:solidFill>
                      <a:prstDash val="solid"/>
                      <a:round/>
                      <a:headEnd len="sm" w="sm" type="none"/>
                      <a:tailEnd len="sm" w="sm" type="none"/>
                    </a:lnR>
                    <a:lnT cap="flat" cmpd="sng" w="9525">
                      <a:solidFill>
                        <a:srgbClr val="D9E2EA"/>
                      </a:solidFill>
                      <a:prstDash val="solid"/>
                      <a:round/>
                      <a:headEnd len="sm" w="sm" type="none"/>
                      <a:tailEnd len="sm" w="sm" type="none"/>
                    </a:lnT>
                    <a:lnB cap="flat" cmpd="sng" w="9525">
                      <a:solidFill>
                        <a:srgbClr val="D9E2EA"/>
                      </a:solidFill>
                      <a:prstDash val="solid"/>
                      <a:round/>
                      <a:headEnd len="sm" w="sm" type="none"/>
                      <a:tailEnd len="sm" w="sm" type="none"/>
                    </a:lnB>
                    <a:solidFill>
                      <a:srgbClr val="F2F6F9"/>
                    </a:solidFill>
                  </a:tcPr>
                </a:tc>
                <a:tc>
                  <a:txBody>
                    <a:bodyPr/>
                    <a:lstStyle/>
                    <a:p>
                      <a:pPr indent="0" lvl="0" marL="0" marR="0" rtl="0" algn="l">
                        <a:spcBef>
                          <a:spcPts val="0"/>
                        </a:spcBef>
                        <a:spcAft>
                          <a:spcPts val="0"/>
                        </a:spcAft>
                        <a:buClr>
                          <a:srgbClr val="23293B"/>
                        </a:buClr>
                        <a:buSzPts val="1050"/>
                        <a:buFont typeface="Calibri"/>
                        <a:buNone/>
                      </a:pPr>
                      <a:r>
                        <a:rPr lang="en-US" sz="1050" u="none" cap="none" strike="noStrike">
                          <a:solidFill>
                            <a:srgbClr val="23293B"/>
                          </a:solidFill>
                          <a:latin typeface="Calibri"/>
                          <a:ea typeface="Calibri"/>
                          <a:cs typeface="Calibri"/>
                          <a:sym typeface="Calibri"/>
                        </a:rPr>
                        <a:t>run logs</a:t>
                      </a:r>
                      <a:endParaRPr sz="1050" u="none" cap="none" strike="noStrike">
                        <a:latin typeface="Calibri"/>
                        <a:ea typeface="Calibri"/>
                        <a:cs typeface="Calibri"/>
                        <a:sym typeface="Calibri"/>
                      </a:endParaRPr>
                    </a:p>
                  </a:txBody>
                  <a:tcPr marT="64000" marB="64000" marR="64000" marL="64000" anchor="ctr">
                    <a:lnL cap="flat" cmpd="sng" w="9525">
                      <a:solidFill>
                        <a:srgbClr val="D9E2EA"/>
                      </a:solidFill>
                      <a:prstDash val="solid"/>
                      <a:round/>
                      <a:headEnd len="sm" w="sm" type="none"/>
                      <a:tailEnd len="sm" w="sm" type="none"/>
                    </a:lnL>
                    <a:lnR cap="flat" cmpd="sng" w="9525">
                      <a:solidFill>
                        <a:srgbClr val="D9E2EA"/>
                      </a:solidFill>
                      <a:prstDash val="solid"/>
                      <a:round/>
                      <a:headEnd len="sm" w="sm" type="none"/>
                      <a:tailEnd len="sm" w="sm" type="none"/>
                    </a:lnR>
                    <a:lnT cap="flat" cmpd="sng" w="9525">
                      <a:solidFill>
                        <a:srgbClr val="D9E2EA"/>
                      </a:solidFill>
                      <a:prstDash val="solid"/>
                      <a:round/>
                      <a:headEnd len="sm" w="sm" type="none"/>
                      <a:tailEnd len="sm" w="sm" type="none"/>
                    </a:lnT>
                    <a:lnB cap="flat" cmpd="sng" w="9525">
                      <a:solidFill>
                        <a:srgbClr val="D9E2EA"/>
                      </a:solidFill>
                      <a:prstDash val="solid"/>
                      <a:round/>
                      <a:headEnd len="sm" w="sm" type="none"/>
                      <a:tailEnd len="sm" w="sm" type="none"/>
                    </a:lnB>
                    <a:solidFill>
                      <a:srgbClr val="F2F6F9"/>
                    </a:solidFill>
                  </a:tcPr>
                </a:tc>
              </a:tr>
              <a:tr h="696250">
                <a:tc>
                  <a:txBody>
                    <a:bodyPr/>
                    <a:lstStyle/>
                    <a:p>
                      <a:pPr indent="0" lvl="0" marL="0" marR="0" rtl="0" algn="l">
                        <a:spcBef>
                          <a:spcPts val="0"/>
                        </a:spcBef>
                        <a:spcAft>
                          <a:spcPts val="0"/>
                        </a:spcAft>
                        <a:buClr>
                          <a:srgbClr val="1D2A5C"/>
                        </a:buClr>
                        <a:buSzPts val="1050"/>
                        <a:buFont typeface="Calibri"/>
                        <a:buNone/>
                      </a:pPr>
                      <a:r>
                        <a:rPr b="1" lang="en-US" sz="1050" u="none" cap="none" strike="noStrike">
                          <a:solidFill>
                            <a:srgbClr val="1D2A5C"/>
                          </a:solidFill>
                          <a:latin typeface="Calibri"/>
                          <a:ea typeface="Calibri"/>
                          <a:cs typeface="Calibri"/>
                          <a:sym typeface="Calibri"/>
                        </a:rPr>
                        <a:t>Label-format validation</a:t>
                      </a:r>
                      <a:endParaRPr sz="1050" u="none" cap="none" strike="noStrike">
                        <a:latin typeface="Calibri"/>
                        <a:ea typeface="Calibri"/>
                        <a:cs typeface="Calibri"/>
                        <a:sym typeface="Calibri"/>
                      </a:endParaRPr>
                    </a:p>
                  </a:txBody>
                  <a:tcPr marT="64000" marB="64000" marR="64000" marL="64000" anchor="ctr">
                    <a:lnL cap="flat" cmpd="sng" w="9525">
                      <a:solidFill>
                        <a:srgbClr val="D9E2EA"/>
                      </a:solidFill>
                      <a:prstDash val="solid"/>
                      <a:round/>
                      <a:headEnd len="sm" w="sm" type="none"/>
                      <a:tailEnd len="sm" w="sm" type="none"/>
                    </a:lnL>
                    <a:lnR cap="flat" cmpd="sng" w="9525">
                      <a:solidFill>
                        <a:srgbClr val="D9E2EA"/>
                      </a:solidFill>
                      <a:prstDash val="solid"/>
                      <a:round/>
                      <a:headEnd len="sm" w="sm" type="none"/>
                      <a:tailEnd len="sm" w="sm" type="none"/>
                    </a:lnR>
                    <a:lnT cap="flat" cmpd="sng" w="9525">
                      <a:solidFill>
                        <a:srgbClr val="D9E2EA"/>
                      </a:solidFill>
                      <a:prstDash val="solid"/>
                      <a:round/>
                      <a:headEnd len="sm" w="sm" type="none"/>
                      <a:tailEnd len="sm" w="sm" type="none"/>
                    </a:lnT>
                    <a:lnB cap="flat" cmpd="sng" w="9525">
                      <a:solidFill>
                        <a:srgbClr val="D9E2EA"/>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23293B"/>
                        </a:buClr>
                        <a:buSzPts val="1050"/>
                        <a:buFont typeface="Calibri"/>
                        <a:buNone/>
                      </a:pPr>
                      <a:r>
                        <a:rPr lang="en-US" sz="1050" u="none" cap="none" strike="noStrike">
                          <a:solidFill>
                            <a:srgbClr val="23293B"/>
                          </a:solidFill>
                          <a:latin typeface="Calibri"/>
                          <a:ea typeface="Calibri"/>
                          <a:cs typeface="Calibri"/>
                          <a:sym typeface="Calibri"/>
                        </a:rPr>
                        <a:t>0 corrupt labels</a:t>
                      </a:r>
                      <a:endParaRPr sz="1050" u="none" cap="none" strike="noStrike">
                        <a:latin typeface="Calibri"/>
                        <a:ea typeface="Calibri"/>
                        <a:cs typeface="Calibri"/>
                        <a:sym typeface="Calibri"/>
                      </a:endParaRPr>
                    </a:p>
                  </a:txBody>
                  <a:tcPr marT="64000" marB="64000" marR="64000" marL="64000" anchor="ctr">
                    <a:lnL cap="flat" cmpd="sng" w="9525">
                      <a:solidFill>
                        <a:srgbClr val="D9E2EA"/>
                      </a:solidFill>
                      <a:prstDash val="solid"/>
                      <a:round/>
                      <a:headEnd len="sm" w="sm" type="none"/>
                      <a:tailEnd len="sm" w="sm" type="none"/>
                    </a:lnL>
                    <a:lnR cap="flat" cmpd="sng" w="9525">
                      <a:solidFill>
                        <a:srgbClr val="D9E2EA"/>
                      </a:solidFill>
                      <a:prstDash val="solid"/>
                      <a:round/>
                      <a:headEnd len="sm" w="sm" type="none"/>
                      <a:tailEnd len="sm" w="sm" type="none"/>
                    </a:lnR>
                    <a:lnT cap="flat" cmpd="sng" w="9525">
                      <a:solidFill>
                        <a:srgbClr val="D9E2EA"/>
                      </a:solidFill>
                      <a:prstDash val="solid"/>
                      <a:round/>
                      <a:headEnd len="sm" w="sm" type="none"/>
                      <a:tailEnd len="sm" w="sm" type="none"/>
                    </a:lnT>
                    <a:lnB cap="flat" cmpd="sng" w="9525">
                      <a:solidFill>
                        <a:srgbClr val="D9E2EA"/>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23293B"/>
                        </a:buClr>
                        <a:buSzPts val="1050"/>
                        <a:buFont typeface="Calibri"/>
                        <a:buNone/>
                      </a:pPr>
                      <a:r>
                        <a:rPr lang="en-US" sz="1050" u="none" cap="none" strike="noStrike">
                          <a:solidFill>
                            <a:srgbClr val="23293B"/>
                          </a:solidFill>
                          <a:latin typeface="Calibri"/>
                          <a:ea typeface="Calibri"/>
                          <a:cs typeface="Calibri"/>
                          <a:sym typeface="Calibri"/>
                        </a:rPr>
                        <a:t>Ultralytics scan output</a:t>
                      </a:r>
                      <a:endParaRPr sz="1050" u="none" cap="none" strike="noStrike">
                        <a:latin typeface="Calibri"/>
                        <a:ea typeface="Calibri"/>
                        <a:cs typeface="Calibri"/>
                        <a:sym typeface="Calibri"/>
                      </a:endParaRPr>
                    </a:p>
                  </a:txBody>
                  <a:tcPr marT="64000" marB="64000" marR="64000" marL="64000" anchor="ctr">
                    <a:lnL cap="flat" cmpd="sng" w="9525">
                      <a:solidFill>
                        <a:srgbClr val="D9E2EA"/>
                      </a:solidFill>
                      <a:prstDash val="solid"/>
                      <a:round/>
                      <a:headEnd len="sm" w="sm" type="none"/>
                      <a:tailEnd len="sm" w="sm" type="none"/>
                    </a:lnL>
                    <a:lnR cap="flat" cmpd="sng" w="9525">
                      <a:solidFill>
                        <a:srgbClr val="D9E2EA"/>
                      </a:solidFill>
                      <a:prstDash val="solid"/>
                      <a:round/>
                      <a:headEnd len="sm" w="sm" type="none"/>
                      <a:tailEnd len="sm" w="sm" type="none"/>
                    </a:lnR>
                    <a:lnT cap="flat" cmpd="sng" w="9525">
                      <a:solidFill>
                        <a:srgbClr val="D9E2EA"/>
                      </a:solidFill>
                      <a:prstDash val="solid"/>
                      <a:round/>
                      <a:headEnd len="sm" w="sm" type="none"/>
                      <a:tailEnd len="sm" w="sm" type="none"/>
                    </a:lnT>
                    <a:lnB cap="flat" cmpd="sng" w="9525">
                      <a:solidFill>
                        <a:srgbClr val="D9E2EA"/>
                      </a:solidFill>
                      <a:prstDash val="solid"/>
                      <a:round/>
                      <a:headEnd len="sm" w="sm" type="none"/>
                      <a:tailEnd len="sm" w="sm" type="none"/>
                    </a:lnB>
                    <a:solidFill>
                      <a:srgbClr val="FFFFFF"/>
                    </a:solidFill>
                  </a:tcPr>
                </a:tc>
              </a:tr>
              <a:tr h="696250">
                <a:tc>
                  <a:txBody>
                    <a:bodyPr/>
                    <a:lstStyle/>
                    <a:p>
                      <a:pPr indent="0" lvl="0" marL="0" marR="0" rtl="0" algn="l">
                        <a:spcBef>
                          <a:spcPts val="0"/>
                        </a:spcBef>
                        <a:spcAft>
                          <a:spcPts val="0"/>
                        </a:spcAft>
                        <a:buClr>
                          <a:srgbClr val="1D2A5C"/>
                        </a:buClr>
                        <a:buSzPts val="1050"/>
                        <a:buFont typeface="Calibri"/>
                        <a:buNone/>
                      </a:pPr>
                      <a:r>
                        <a:rPr b="1" lang="en-US" sz="1050" u="none" cap="none" strike="noStrike">
                          <a:solidFill>
                            <a:srgbClr val="1D2A5C"/>
                          </a:solidFill>
                          <a:latin typeface="Calibri"/>
                          <a:ea typeface="Calibri"/>
                          <a:cs typeface="Calibri"/>
                          <a:sym typeface="Calibri"/>
                        </a:rPr>
                        <a:t>Operating point documented</a:t>
                      </a:r>
                      <a:endParaRPr sz="1050" u="none" cap="none" strike="noStrike">
                        <a:latin typeface="Calibri"/>
                        <a:ea typeface="Calibri"/>
                        <a:cs typeface="Calibri"/>
                        <a:sym typeface="Calibri"/>
                      </a:endParaRPr>
                    </a:p>
                  </a:txBody>
                  <a:tcPr marT="64000" marB="64000" marR="64000" marL="64000" anchor="ctr">
                    <a:lnL cap="flat" cmpd="sng" w="9525">
                      <a:solidFill>
                        <a:srgbClr val="D9E2EA"/>
                      </a:solidFill>
                      <a:prstDash val="solid"/>
                      <a:round/>
                      <a:headEnd len="sm" w="sm" type="none"/>
                      <a:tailEnd len="sm" w="sm" type="none"/>
                    </a:lnL>
                    <a:lnR cap="flat" cmpd="sng" w="9525">
                      <a:solidFill>
                        <a:srgbClr val="D9E2EA"/>
                      </a:solidFill>
                      <a:prstDash val="solid"/>
                      <a:round/>
                      <a:headEnd len="sm" w="sm" type="none"/>
                      <a:tailEnd len="sm" w="sm" type="none"/>
                    </a:lnR>
                    <a:lnT cap="flat" cmpd="sng" w="9525">
                      <a:solidFill>
                        <a:srgbClr val="D9E2EA"/>
                      </a:solidFill>
                      <a:prstDash val="solid"/>
                      <a:round/>
                      <a:headEnd len="sm" w="sm" type="none"/>
                      <a:tailEnd len="sm" w="sm" type="none"/>
                    </a:lnT>
                    <a:lnB cap="flat" cmpd="sng" w="9525">
                      <a:solidFill>
                        <a:srgbClr val="D9E2EA"/>
                      </a:solidFill>
                      <a:prstDash val="solid"/>
                      <a:round/>
                      <a:headEnd len="sm" w="sm" type="none"/>
                      <a:tailEnd len="sm" w="sm" type="none"/>
                    </a:lnB>
                    <a:solidFill>
                      <a:srgbClr val="F2F6F9"/>
                    </a:solidFill>
                  </a:tcPr>
                </a:tc>
                <a:tc>
                  <a:txBody>
                    <a:bodyPr/>
                    <a:lstStyle/>
                    <a:p>
                      <a:pPr indent="0" lvl="0" marL="0" marR="0" rtl="0" algn="l">
                        <a:spcBef>
                          <a:spcPts val="0"/>
                        </a:spcBef>
                        <a:spcAft>
                          <a:spcPts val="0"/>
                        </a:spcAft>
                        <a:buClr>
                          <a:srgbClr val="23293B"/>
                        </a:buClr>
                        <a:buSzPts val="1050"/>
                        <a:buFont typeface="Calibri"/>
                        <a:buNone/>
                      </a:pPr>
                      <a:r>
                        <a:rPr lang="en-US" sz="1050" u="none" cap="none" strike="noStrike">
                          <a:solidFill>
                            <a:srgbClr val="23293B"/>
                          </a:solidFill>
                          <a:latin typeface="Calibri"/>
                          <a:ea typeface="Calibri"/>
                          <a:cs typeface="Calibri"/>
                          <a:sym typeface="Calibri"/>
                        </a:rPr>
                        <a:t>per-class conf + iou + rationale</a:t>
                      </a:r>
                      <a:endParaRPr sz="1050" u="none" cap="none" strike="noStrike">
                        <a:latin typeface="Calibri"/>
                        <a:ea typeface="Calibri"/>
                        <a:cs typeface="Calibri"/>
                        <a:sym typeface="Calibri"/>
                      </a:endParaRPr>
                    </a:p>
                  </a:txBody>
                  <a:tcPr marT="64000" marB="64000" marR="64000" marL="64000" anchor="ctr">
                    <a:lnL cap="flat" cmpd="sng" w="9525">
                      <a:solidFill>
                        <a:srgbClr val="D9E2EA"/>
                      </a:solidFill>
                      <a:prstDash val="solid"/>
                      <a:round/>
                      <a:headEnd len="sm" w="sm" type="none"/>
                      <a:tailEnd len="sm" w="sm" type="none"/>
                    </a:lnL>
                    <a:lnR cap="flat" cmpd="sng" w="9525">
                      <a:solidFill>
                        <a:srgbClr val="D9E2EA"/>
                      </a:solidFill>
                      <a:prstDash val="solid"/>
                      <a:round/>
                      <a:headEnd len="sm" w="sm" type="none"/>
                      <a:tailEnd len="sm" w="sm" type="none"/>
                    </a:lnR>
                    <a:lnT cap="flat" cmpd="sng" w="9525">
                      <a:solidFill>
                        <a:srgbClr val="D9E2EA"/>
                      </a:solidFill>
                      <a:prstDash val="solid"/>
                      <a:round/>
                      <a:headEnd len="sm" w="sm" type="none"/>
                      <a:tailEnd len="sm" w="sm" type="none"/>
                    </a:lnT>
                    <a:lnB cap="flat" cmpd="sng" w="9525">
                      <a:solidFill>
                        <a:srgbClr val="D9E2EA"/>
                      </a:solidFill>
                      <a:prstDash val="solid"/>
                      <a:round/>
                      <a:headEnd len="sm" w="sm" type="none"/>
                      <a:tailEnd len="sm" w="sm" type="none"/>
                    </a:lnB>
                    <a:solidFill>
                      <a:srgbClr val="F2F6F9"/>
                    </a:solidFill>
                  </a:tcPr>
                </a:tc>
                <a:tc>
                  <a:txBody>
                    <a:bodyPr/>
                    <a:lstStyle/>
                    <a:p>
                      <a:pPr indent="0" lvl="0" marL="0" marR="0" rtl="0" algn="l">
                        <a:spcBef>
                          <a:spcPts val="0"/>
                        </a:spcBef>
                        <a:spcAft>
                          <a:spcPts val="0"/>
                        </a:spcAft>
                        <a:buClr>
                          <a:srgbClr val="23293B"/>
                        </a:buClr>
                        <a:buSzPts val="1050"/>
                        <a:buFont typeface="Calibri"/>
                        <a:buNone/>
                      </a:pPr>
                      <a:r>
                        <a:rPr lang="en-US" sz="1050" u="none" cap="none" strike="noStrike">
                          <a:solidFill>
                            <a:srgbClr val="23293B"/>
                          </a:solidFill>
                          <a:latin typeface="Calibri"/>
                          <a:ea typeface="Calibri"/>
                          <a:cs typeface="Calibri"/>
                          <a:sym typeface="Calibri"/>
                        </a:rPr>
                        <a:t>model-card review</a:t>
                      </a:r>
                      <a:endParaRPr sz="1050" u="none" cap="none" strike="noStrike">
                        <a:latin typeface="Calibri"/>
                        <a:ea typeface="Calibri"/>
                        <a:cs typeface="Calibri"/>
                        <a:sym typeface="Calibri"/>
                      </a:endParaRPr>
                    </a:p>
                  </a:txBody>
                  <a:tcPr marT="64000" marB="64000" marR="64000" marL="64000" anchor="ctr">
                    <a:lnL cap="flat" cmpd="sng" w="9525">
                      <a:solidFill>
                        <a:srgbClr val="D9E2EA"/>
                      </a:solidFill>
                      <a:prstDash val="solid"/>
                      <a:round/>
                      <a:headEnd len="sm" w="sm" type="none"/>
                      <a:tailEnd len="sm" w="sm" type="none"/>
                    </a:lnL>
                    <a:lnR cap="flat" cmpd="sng" w="9525">
                      <a:solidFill>
                        <a:srgbClr val="D9E2EA"/>
                      </a:solidFill>
                      <a:prstDash val="solid"/>
                      <a:round/>
                      <a:headEnd len="sm" w="sm" type="none"/>
                      <a:tailEnd len="sm" w="sm" type="none"/>
                    </a:lnR>
                    <a:lnT cap="flat" cmpd="sng" w="9525">
                      <a:solidFill>
                        <a:srgbClr val="D9E2EA"/>
                      </a:solidFill>
                      <a:prstDash val="solid"/>
                      <a:round/>
                      <a:headEnd len="sm" w="sm" type="none"/>
                      <a:tailEnd len="sm" w="sm" type="none"/>
                    </a:lnT>
                    <a:lnB cap="flat" cmpd="sng" w="9525">
                      <a:solidFill>
                        <a:srgbClr val="D9E2EA"/>
                      </a:solidFill>
                      <a:prstDash val="solid"/>
                      <a:round/>
                      <a:headEnd len="sm" w="sm" type="none"/>
                      <a:tailEnd len="sm" w="sm" type="none"/>
                    </a:lnB>
                    <a:solidFill>
                      <a:srgbClr val="F2F6F9"/>
                    </a:solidFill>
                  </a:tcPr>
                </a:tc>
              </a:tr>
            </a:tbl>
          </a:graphicData>
        </a:graphic>
      </p:graphicFrame>
    </p:spTree>
  </p:cSld>
  <p:clrMapOvr>
    <a:masterClrMapping/>
  </p:clrMapOvr>
</p:sld>
</file>

<file path=ppt/slides/slide6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41F49"/>
        </a:solidFill>
      </p:bgPr>
    </p:bg>
    <p:spTree>
      <p:nvGrpSpPr>
        <p:cNvPr id="1913" name="Shape 1913"/>
        <p:cNvGrpSpPr/>
        <p:nvPr/>
      </p:nvGrpSpPr>
      <p:grpSpPr>
        <a:xfrm>
          <a:off x="0" y="0"/>
          <a:ext cx="0" cy="0"/>
          <a:chOff x="0" y="0"/>
          <a:chExt cx="0" cy="0"/>
        </a:xfrm>
      </p:grpSpPr>
      <p:sp>
        <p:nvSpPr>
          <p:cNvPr id="1914" name="Google Shape;1914;p68"/>
          <p:cNvSpPr/>
          <p:nvPr/>
        </p:nvSpPr>
        <p:spPr>
          <a:xfrm>
            <a:off x="9418320" y="6149340"/>
            <a:ext cx="411480" cy="356616"/>
          </a:xfrm>
          <a:prstGeom prst="triangle">
            <a:avLst>
              <a:gd fmla="val 50000" name="adj"/>
            </a:avLst>
          </a:prstGeom>
          <a:solidFill>
            <a:srgbClr val="00A79D">
              <a:alpha val="18039"/>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15" name="Google Shape;1915;p68"/>
          <p:cNvSpPr/>
          <p:nvPr/>
        </p:nvSpPr>
        <p:spPr>
          <a:xfrm rot="10800000">
            <a:off x="9857232" y="5806440"/>
            <a:ext cx="411480" cy="356616"/>
          </a:xfrm>
          <a:prstGeom prst="triangle">
            <a:avLst>
              <a:gd fmla="val 50000" name="adj"/>
            </a:avLst>
          </a:prstGeom>
          <a:solidFill>
            <a:srgbClr val="29ABE2">
              <a:alpha val="18039"/>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16" name="Google Shape;1916;p68"/>
          <p:cNvSpPr/>
          <p:nvPr/>
        </p:nvSpPr>
        <p:spPr>
          <a:xfrm rot="10800000">
            <a:off x="9857232" y="6492240"/>
            <a:ext cx="411480" cy="356616"/>
          </a:xfrm>
          <a:prstGeom prst="triangle">
            <a:avLst>
              <a:gd fmla="val 50000" name="adj"/>
            </a:avLst>
          </a:prstGeom>
          <a:solidFill>
            <a:srgbClr val="F58220">
              <a:alpha val="18039"/>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17" name="Google Shape;1917;p68"/>
          <p:cNvSpPr/>
          <p:nvPr/>
        </p:nvSpPr>
        <p:spPr>
          <a:xfrm>
            <a:off x="10296144" y="6149340"/>
            <a:ext cx="411480" cy="356616"/>
          </a:xfrm>
          <a:prstGeom prst="triangle">
            <a:avLst>
              <a:gd fmla="val 50000" name="adj"/>
            </a:avLst>
          </a:prstGeom>
          <a:solidFill>
            <a:srgbClr val="8DC63F">
              <a:alpha val="18039"/>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18" name="Google Shape;1918;p68"/>
          <p:cNvSpPr/>
          <p:nvPr/>
        </p:nvSpPr>
        <p:spPr>
          <a:xfrm>
            <a:off x="10296144" y="5463540"/>
            <a:ext cx="411480" cy="356616"/>
          </a:xfrm>
          <a:prstGeom prst="triangle">
            <a:avLst>
              <a:gd fmla="val 50000" name="adj"/>
            </a:avLst>
          </a:prstGeom>
          <a:solidFill>
            <a:srgbClr val="1D2A5C">
              <a:alpha val="18039"/>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19" name="Google Shape;1919;p68"/>
          <p:cNvSpPr/>
          <p:nvPr/>
        </p:nvSpPr>
        <p:spPr>
          <a:xfrm rot="10800000">
            <a:off x="10735056" y="5806440"/>
            <a:ext cx="411480" cy="356616"/>
          </a:xfrm>
          <a:prstGeom prst="triangle">
            <a:avLst>
              <a:gd fmla="val 50000" name="adj"/>
            </a:avLst>
          </a:prstGeom>
          <a:solidFill>
            <a:srgbClr val="29ABE2">
              <a:alpha val="18039"/>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20" name="Google Shape;1920;p68"/>
          <p:cNvSpPr/>
          <p:nvPr/>
        </p:nvSpPr>
        <p:spPr>
          <a:xfrm>
            <a:off x="10735056" y="6492240"/>
            <a:ext cx="411480" cy="356616"/>
          </a:xfrm>
          <a:prstGeom prst="triangle">
            <a:avLst>
              <a:gd fmla="val 50000" name="adj"/>
            </a:avLst>
          </a:prstGeom>
          <a:solidFill>
            <a:srgbClr val="00A79D">
              <a:alpha val="18039"/>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21" name="Google Shape;1921;p68"/>
          <p:cNvSpPr/>
          <p:nvPr/>
        </p:nvSpPr>
        <p:spPr>
          <a:xfrm rot="10800000">
            <a:off x="11173968" y="6149340"/>
            <a:ext cx="411480" cy="356616"/>
          </a:xfrm>
          <a:prstGeom prst="triangle">
            <a:avLst>
              <a:gd fmla="val 50000" name="adj"/>
            </a:avLst>
          </a:prstGeom>
          <a:solidFill>
            <a:srgbClr val="F58220">
              <a:alpha val="18039"/>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22" name="Google Shape;1922;p68"/>
          <p:cNvSpPr/>
          <p:nvPr/>
        </p:nvSpPr>
        <p:spPr>
          <a:xfrm>
            <a:off x="365760" y="747522"/>
            <a:ext cx="233172" cy="202082"/>
          </a:xfrm>
          <a:prstGeom prst="triangle">
            <a:avLst>
              <a:gd fmla="val 50000" name="adj"/>
            </a:avLst>
          </a:prstGeom>
          <a:solidFill>
            <a:srgbClr val="00A79D">
              <a:alpha val="18039"/>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23" name="Google Shape;1923;p68"/>
          <p:cNvSpPr/>
          <p:nvPr/>
        </p:nvSpPr>
        <p:spPr>
          <a:xfrm rot="10800000">
            <a:off x="614477" y="553212"/>
            <a:ext cx="233172" cy="202082"/>
          </a:xfrm>
          <a:prstGeom prst="triangle">
            <a:avLst>
              <a:gd fmla="val 50000" name="adj"/>
            </a:avLst>
          </a:prstGeom>
          <a:solidFill>
            <a:srgbClr val="29ABE2">
              <a:alpha val="18039"/>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24" name="Google Shape;1924;p68"/>
          <p:cNvSpPr/>
          <p:nvPr/>
        </p:nvSpPr>
        <p:spPr>
          <a:xfrm rot="10800000">
            <a:off x="614477" y="941832"/>
            <a:ext cx="233172" cy="202082"/>
          </a:xfrm>
          <a:prstGeom prst="triangle">
            <a:avLst>
              <a:gd fmla="val 50000" name="adj"/>
            </a:avLst>
          </a:prstGeom>
          <a:solidFill>
            <a:srgbClr val="F58220">
              <a:alpha val="18039"/>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25" name="Google Shape;1925;p68"/>
          <p:cNvSpPr/>
          <p:nvPr/>
        </p:nvSpPr>
        <p:spPr>
          <a:xfrm>
            <a:off x="863194" y="747522"/>
            <a:ext cx="233172" cy="202082"/>
          </a:xfrm>
          <a:prstGeom prst="triangle">
            <a:avLst>
              <a:gd fmla="val 50000" name="adj"/>
            </a:avLst>
          </a:prstGeom>
          <a:solidFill>
            <a:srgbClr val="8DC63F">
              <a:alpha val="18039"/>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26" name="Google Shape;1926;p68"/>
          <p:cNvSpPr/>
          <p:nvPr/>
        </p:nvSpPr>
        <p:spPr>
          <a:xfrm>
            <a:off x="863194" y="358902"/>
            <a:ext cx="233172" cy="202082"/>
          </a:xfrm>
          <a:prstGeom prst="triangle">
            <a:avLst>
              <a:gd fmla="val 50000" name="adj"/>
            </a:avLst>
          </a:prstGeom>
          <a:solidFill>
            <a:srgbClr val="1D2A5C">
              <a:alpha val="18039"/>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27" name="Google Shape;1927;p68"/>
          <p:cNvSpPr/>
          <p:nvPr/>
        </p:nvSpPr>
        <p:spPr>
          <a:xfrm rot="10800000">
            <a:off x="1111910" y="553212"/>
            <a:ext cx="233172" cy="202082"/>
          </a:xfrm>
          <a:prstGeom prst="triangle">
            <a:avLst>
              <a:gd fmla="val 50000" name="adj"/>
            </a:avLst>
          </a:prstGeom>
          <a:solidFill>
            <a:srgbClr val="29ABE2">
              <a:alpha val="18039"/>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28" name="Google Shape;1928;p68"/>
          <p:cNvSpPr/>
          <p:nvPr/>
        </p:nvSpPr>
        <p:spPr>
          <a:xfrm>
            <a:off x="1111910" y="941832"/>
            <a:ext cx="233172" cy="202082"/>
          </a:xfrm>
          <a:prstGeom prst="triangle">
            <a:avLst>
              <a:gd fmla="val 50000" name="adj"/>
            </a:avLst>
          </a:prstGeom>
          <a:solidFill>
            <a:srgbClr val="00A79D">
              <a:alpha val="18039"/>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29" name="Google Shape;1929;p68"/>
          <p:cNvSpPr/>
          <p:nvPr/>
        </p:nvSpPr>
        <p:spPr>
          <a:xfrm rot="10800000">
            <a:off x="1360627" y="747522"/>
            <a:ext cx="233172" cy="202082"/>
          </a:xfrm>
          <a:prstGeom prst="triangle">
            <a:avLst>
              <a:gd fmla="val 50000" name="adj"/>
            </a:avLst>
          </a:prstGeom>
          <a:solidFill>
            <a:srgbClr val="F58220">
              <a:alpha val="18039"/>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30" name="Google Shape;1930;p68"/>
          <p:cNvSpPr/>
          <p:nvPr/>
        </p:nvSpPr>
        <p:spPr>
          <a:xfrm>
            <a:off x="10332720" y="347472"/>
            <a:ext cx="1481328" cy="566928"/>
          </a:xfrm>
          <a:prstGeom prst="roundRect">
            <a:avLst>
              <a:gd fmla="val 14516" name="adj"/>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sessions/blissful-determined-ritchie/build/assets/sdaia_logo.png" id="1931" name="Google Shape;1931;p68"/>
          <p:cNvPicPr preferRelativeResize="0"/>
          <p:nvPr/>
        </p:nvPicPr>
        <p:blipFill rotWithShape="1">
          <a:blip r:embed="rId3">
            <a:alphaModFix/>
          </a:blip>
          <a:srcRect b="0" l="0" r="0" t="0"/>
          <a:stretch/>
        </p:blipFill>
        <p:spPr>
          <a:xfrm>
            <a:off x="10442448" y="438912"/>
            <a:ext cx="1261872" cy="308876"/>
          </a:xfrm>
          <a:prstGeom prst="rect">
            <a:avLst/>
          </a:prstGeom>
          <a:noFill/>
          <a:ln>
            <a:noFill/>
          </a:ln>
        </p:spPr>
      </p:pic>
      <p:sp>
        <p:nvSpPr>
          <p:cNvPr id="1932" name="Google Shape;1932;p68"/>
          <p:cNvSpPr/>
          <p:nvPr/>
        </p:nvSpPr>
        <p:spPr>
          <a:xfrm>
            <a:off x="777240" y="1325880"/>
            <a:ext cx="548640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A79D"/>
              </a:buClr>
              <a:buSzPts val="2000"/>
              <a:buFont typeface="Calibri"/>
              <a:buNone/>
            </a:pPr>
            <a:r>
              <a:rPr b="1" i="0" lang="en-US" sz="2000" u="none" cap="none" strike="noStrike">
                <a:solidFill>
                  <a:srgbClr val="00A79D"/>
                </a:solidFill>
                <a:latin typeface="Calibri"/>
                <a:ea typeface="Calibri"/>
                <a:cs typeface="Calibri"/>
                <a:sym typeface="Calibri"/>
              </a:rPr>
              <a:t>MODULE 4</a:t>
            </a:r>
            <a:endParaRPr b="0" i="0" sz="2000" u="none" cap="none" strike="noStrike">
              <a:solidFill>
                <a:schemeClr val="dk1"/>
              </a:solidFill>
              <a:latin typeface="Calibri"/>
              <a:ea typeface="Calibri"/>
              <a:cs typeface="Calibri"/>
              <a:sym typeface="Calibri"/>
            </a:endParaRPr>
          </a:p>
        </p:txBody>
      </p:sp>
      <p:sp>
        <p:nvSpPr>
          <p:cNvPr id="1933" name="Google Shape;1933;p68"/>
          <p:cNvSpPr/>
          <p:nvPr/>
        </p:nvSpPr>
        <p:spPr>
          <a:xfrm>
            <a:off x="749808" y="1828800"/>
            <a:ext cx="7589520" cy="13716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FFFFFF"/>
              </a:buClr>
              <a:buSzPts val="3600"/>
              <a:buFont typeface="Calibri"/>
              <a:buNone/>
            </a:pPr>
            <a:r>
              <a:rPr b="1" i="0" lang="en-US" sz="3600" u="none" cap="none" strike="noStrike">
                <a:solidFill>
                  <a:srgbClr val="FFFFFF"/>
                </a:solidFill>
                <a:latin typeface="Calibri"/>
                <a:ea typeface="Calibri"/>
                <a:cs typeface="Calibri"/>
                <a:sym typeface="Calibri"/>
              </a:rPr>
              <a:t>Semantic and Instance Segmentation</a:t>
            </a:r>
            <a:endParaRPr b="0" i="0" sz="3600" u="none" cap="none" strike="noStrike">
              <a:solidFill>
                <a:schemeClr val="dk1"/>
              </a:solidFill>
              <a:latin typeface="Calibri"/>
              <a:ea typeface="Calibri"/>
              <a:cs typeface="Calibri"/>
              <a:sym typeface="Calibri"/>
            </a:endParaRPr>
          </a:p>
        </p:txBody>
      </p:sp>
      <p:sp>
        <p:nvSpPr>
          <p:cNvPr id="1934" name="Google Shape;1934;p68"/>
          <p:cNvSpPr/>
          <p:nvPr/>
        </p:nvSpPr>
        <p:spPr>
          <a:xfrm>
            <a:off x="777240" y="3127248"/>
            <a:ext cx="758952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B9C8E8"/>
              </a:buClr>
              <a:buSzPts val="1700"/>
              <a:buFont typeface="Arial"/>
              <a:buNone/>
            </a:pPr>
            <a:r>
              <a:rPr b="0" i="0" lang="en-US" sz="1700" u="none" cap="none" strike="noStrike">
                <a:solidFill>
                  <a:srgbClr val="B9C8E8"/>
                </a:solidFill>
                <a:latin typeface="Arial"/>
                <a:ea typeface="Arial"/>
                <a:cs typeface="Arial"/>
                <a:sym typeface="Arial"/>
              </a:rPr>
              <a:t>التجزئة الدلالية وتجزئة المثيلات</a:t>
            </a:r>
            <a:endParaRPr b="0" i="0" sz="1700" u="none" cap="none" strike="noStrike">
              <a:solidFill>
                <a:schemeClr val="dk1"/>
              </a:solidFill>
              <a:latin typeface="Calibri"/>
              <a:ea typeface="Calibri"/>
              <a:cs typeface="Calibri"/>
              <a:sym typeface="Calibri"/>
            </a:endParaRPr>
          </a:p>
        </p:txBody>
      </p:sp>
      <p:sp>
        <p:nvSpPr>
          <p:cNvPr id="1935" name="Google Shape;1935;p68"/>
          <p:cNvSpPr/>
          <p:nvPr/>
        </p:nvSpPr>
        <p:spPr>
          <a:xfrm>
            <a:off x="804672" y="3703320"/>
            <a:ext cx="6949440" cy="2560320"/>
          </a:xfrm>
          <a:prstGeom prst="rect">
            <a:avLst/>
          </a:prstGeom>
          <a:noFill/>
          <a:ln>
            <a:noFill/>
          </a:ln>
        </p:spPr>
        <p:txBody>
          <a:bodyPr anchorCtr="0" anchor="t" bIns="0" lIns="0" spcFirstLastPara="1" rIns="0" wrap="square" tIns="0">
            <a:noAutofit/>
          </a:bodyPr>
          <a:lstStyle/>
          <a:p>
            <a:pPr indent="-177800" lvl="0" marL="177800" marR="0" rtl="0" algn="l">
              <a:spcBef>
                <a:spcPts val="0"/>
              </a:spcBef>
              <a:spcAft>
                <a:spcPts val="0"/>
              </a:spcAft>
              <a:buClr>
                <a:srgbClr val="DCE6F8"/>
              </a:buClr>
              <a:buSzPts val="1300"/>
              <a:buFont typeface="Calibri"/>
              <a:buChar char="▪"/>
            </a:pPr>
            <a:r>
              <a:rPr b="0" i="0" lang="en-US" sz="1300" u="none" cap="none" strike="noStrike">
                <a:solidFill>
                  <a:srgbClr val="DCE6F8"/>
                </a:solidFill>
                <a:latin typeface="Calibri"/>
                <a:ea typeface="Calibri"/>
                <a:cs typeface="Calibri"/>
                <a:sym typeface="Calibri"/>
              </a:rPr>
              <a:t>Three segmentation tasks — and how to choose</a:t>
            </a:r>
            <a:endParaRPr b="0" i="0" sz="1300" u="none" cap="none" strike="noStrike">
              <a:solidFill>
                <a:schemeClr val="dk1"/>
              </a:solidFill>
              <a:latin typeface="Calibri"/>
              <a:ea typeface="Calibri"/>
              <a:cs typeface="Calibri"/>
              <a:sym typeface="Calibri"/>
            </a:endParaRPr>
          </a:p>
          <a:p>
            <a:pPr indent="-177800" lvl="0" marL="177800" marR="0" rtl="0" algn="l">
              <a:spcBef>
                <a:spcPts val="800"/>
              </a:spcBef>
              <a:spcAft>
                <a:spcPts val="0"/>
              </a:spcAft>
              <a:buClr>
                <a:srgbClr val="DCE6F8"/>
              </a:buClr>
              <a:buSzPts val="1300"/>
              <a:buFont typeface="Calibri"/>
              <a:buChar char="▪"/>
            </a:pPr>
            <a:r>
              <a:rPr b="0" i="0" lang="en-US" sz="1300" u="none" cap="none" strike="noStrike">
                <a:solidFill>
                  <a:srgbClr val="DCE6F8"/>
                </a:solidFill>
                <a:latin typeface="Calibri"/>
                <a:ea typeface="Calibri"/>
                <a:cs typeface="Calibri"/>
                <a:sym typeface="Calibri"/>
              </a:rPr>
              <a:t>Encoder-decoder and mask-head architectures</a:t>
            </a:r>
            <a:endParaRPr b="0" i="0" sz="1300" u="none" cap="none" strike="noStrike">
              <a:solidFill>
                <a:schemeClr val="dk1"/>
              </a:solidFill>
              <a:latin typeface="Calibri"/>
              <a:ea typeface="Calibri"/>
              <a:cs typeface="Calibri"/>
              <a:sym typeface="Calibri"/>
            </a:endParaRPr>
          </a:p>
          <a:p>
            <a:pPr indent="-177800" lvl="0" marL="177800" marR="0" rtl="0" algn="l">
              <a:spcBef>
                <a:spcPts val="800"/>
              </a:spcBef>
              <a:spcAft>
                <a:spcPts val="0"/>
              </a:spcAft>
              <a:buClr>
                <a:srgbClr val="DCE6F8"/>
              </a:buClr>
              <a:buSzPts val="1300"/>
              <a:buFont typeface="Calibri"/>
              <a:buChar char="▪"/>
            </a:pPr>
            <a:r>
              <a:rPr b="0" i="0" lang="en-US" sz="1300" u="none" cap="none" strike="noStrike">
                <a:solidFill>
                  <a:srgbClr val="DCE6F8"/>
                </a:solidFill>
                <a:latin typeface="Calibri"/>
                <a:ea typeface="Calibri"/>
                <a:cs typeface="Calibri"/>
                <a:sym typeface="Calibri"/>
              </a:rPr>
              <a:t>Training YOLO11s-seg on polygon annotations</a:t>
            </a:r>
            <a:endParaRPr b="0" i="0" sz="1300" u="none" cap="none" strike="noStrike">
              <a:solidFill>
                <a:schemeClr val="dk1"/>
              </a:solidFill>
              <a:latin typeface="Calibri"/>
              <a:ea typeface="Calibri"/>
              <a:cs typeface="Calibri"/>
              <a:sym typeface="Calibri"/>
            </a:endParaRPr>
          </a:p>
          <a:p>
            <a:pPr indent="-177800" lvl="0" marL="177800" marR="0" rtl="0" algn="l">
              <a:spcBef>
                <a:spcPts val="800"/>
              </a:spcBef>
              <a:spcAft>
                <a:spcPts val="0"/>
              </a:spcAft>
              <a:buClr>
                <a:srgbClr val="DCE6F8"/>
              </a:buClr>
              <a:buSzPts val="1300"/>
              <a:buFont typeface="Calibri"/>
              <a:buChar char="▪"/>
            </a:pPr>
            <a:r>
              <a:rPr b="0" i="0" lang="en-US" sz="1300" u="none" cap="none" strike="noStrike">
                <a:solidFill>
                  <a:srgbClr val="DCE6F8"/>
                </a:solidFill>
                <a:latin typeface="Calibri"/>
                <a:ea typeface="Calibri"/>
                <a:cs typeface="Calibri"/>
                <a:sym typeface="Calibri"/>
              </a:rPr>
              <a:t>Masks into calibrated business measurements</a:t>
            </a:r>
            <a:endParaRPr b="0" i="0" sz="1300" u="none" cap="none" strike="noStrike">
              <a:solidFill>
                <a:schemeClr val="dk1"/>
              </a:solidFill>
              <a:latin typeface="Calibri"/>
              <a:ea typeface="Calibri"/>
              <a:cs typeface="Calibri"/>
              <a:sym typeface="Calibri"/>
            </a:endParaRPr>
          </a:p>
        </p:txBody>
      </p:sp>
      <p:sp>
        <p:nvSpPr>
          <p:cNvPr id="1936" name="Google Shape;1936;p68"/>
          <p:cNvSpPr/>
          <p:nvPr/>
        </p:nvSpPr>
        <p:spPr>
          <a:xfrm>
            <a:off x="8366760" y="3520440"/>
            <a:ext cx="3383280" cy="2286000"/>
          </a:xfrm>
          <a:prstGeom prst="roundRect">
            <a:avLst>
              <a:gd fmla="val 4000" name="adj"/>
            </a:avLst>
          </a:prstGeom>
          <a:solidFill>
            <a:srgbClr val="1C2C63"/>
          </a:solidFill>
          <a:ln cap="flat" cmpd="sng" w="15875">
            <a:solidFill>
              <a:srgbClr val="00A79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37" name="Google Shape;1937;p68"/>
          <p:cNvSpPr/>
          <p:nvPr/>
        </p:nvSpPr>
        <p:spPr>
          <a:xfrm>
            <a:off x="8595360" y="3703320"/>
            <a:ext cx="292608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A79D"/>
              </a:buClr>
              <a:buSzPts val="1000"/>
              <a:buFont typeface="Calibri"/>
              <a:buNone/>
            </a:pPr>
            <a:r>
              <a:rPr b="1" i="0" lang="en-US" sz="1000" u="none" cap="none" strike="noStrike">
                <a:solidFill>
                  <a:srgbClr val="00A79D"/>
                </a:solidFill>
                <a:latin typeface="Calibri"/>
                <a:ea typeface="Calibri"/>
                <a:cs typeface="Calibri"/>
                <a:sym typeface="Calibri"/>
              </a:rPr>
              <a:t>MODULE OUTCOME</a:t>
            </a:r>
            <a:endParaRPr b="0" i="0" sz="1000" u="none" cap="none" strike="noStrike">
              <a:solidFill>
                <a:schemeClr val="dk1"/>
              </a:solidFill>
              <a:latin typeface="Calibri"/>
              <a:ea typeface="Calibri"/>
              <a:cs typeface="Calibri"/>
              <a:sym typeface="Calibri"/>
            </a:endParaRPr>
          </a:p>
        </p:txBody>
      </p:sp>
      <p:sp>
        <p:nvSpPr>
          <p:cNvPr id="1938" name="Google Shape;1938;p68"/>
          <p:cNvSpPr/>
          <p:nvPr/>
        </p:nvSpPr>
        <p:spPr>
          <a:xfrm>
            <a:off x="8595360" y="4041648"/>
            <a:ext cx="2971800" cy="16002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FFFFFF"/>
              </a:buClr>
              <a:buSzPts val="1250"/>
              <a:buFont typeface="Calibri"/>
              <a:buNone/>
            </a:pPr>
            <a:r>
              <a:rPr b="0" i="0" lang="en-US" sz="1250" u="none" cap="none" strike="noStrike">
                <a:solidFill>
                  <a:srgbClr val="FFFFFF"/>
                </a:solidFill>
                <a:latin typeface="Calibri"/>
                <a:ea typeface="Calibri"/>
                <a:cs typeface="Calibri"/>
                <a:sym typeface="Calibri"/>
              </a:rPr>
              <a:t>A surface-defect segmenter (mask mAP@0.5 ≥ 0.80) producing a per-fruit defect-area report with quantified measurement error</a:t>
            </a:r>
            <a:endParaRPr b="0" i="0" sz="1250" u="none" cap="none" strike="noStrike">
              <a:solidFill>
                <a:schemeClr val="dk1"/>
              </a:solidFill>
              <a:latin typeface="Calibri"/>
              <a:ea typeface="Calibri"/>
              <a:cs typeface="Calibri"/>
              <a:sym typeface="Calibri"/>
            </a:endParaRPr>
          </a:p>
        </p:txBody>
      </p:sp>
      <p:sp>
        <p:nvSpPr>
          <p:cNvPr id="1939" name="Google Shape;1939;p68"/>
          <p:cNvSpPr/>
          <p:nvPr/>
        </p:nvSpPr>
        <p:spPr>
          <a:xfrm>
            <a:off x="11292840" y="6528816"/>
            <a:ext cx="411480" cy="219456"/>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5A6A96"/>
              </a:buClr>
              <a:buSzPts val="900"/>
              <a:buFont typeface="Calibri"/>
              <a:buNone/>
            </a:pPr>
            <a:r>
              <a:rPr b="0" i="0" lang="en-US" sz="900" u="none" cap="none" strike="noStrike">
                <a:solidFill>
                  <a:srgbClr val="5A6A96"/>
                </a:solidFill>
                <a:latin typeface="Calibri"/>
                <a:ea typeface="Calibri"/>
                <a:cs typeface="Calibri"/>
                <a:sym typeface="Calibri"/>
              </a:rPr>
              <a:t>68</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6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944" name="Shape 1944"/>
        <p:cNvGrpSpPr/>
        <p:nvPr/>
      </p:nvGrpSpPr>
      <p:grpSpPr>
        <a:xfrm>
          <a:off x="0" y="0"/>
          <a:ext cx="0" cy="0"/>
          <a:chOff x="0" y="0"/>
          <a:chExt cx="0" cy="0"/>
        </a:xfrm>
      </p:grpSpPr>
      <p:sp>
        <p:nvSpPr>
          <p:cNvPr id="1945" name="Google Shape;1945;p69"/>
          <p:cNvSpPr/>
          <p:nvPr/>
        </p:nvSpPr>
        <p:spPr>
          <a:xfrm>
            <a:off x="502920" y="274320"/>
            <a:ext cx="9646920" cy="56692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D2A5C"/>
              </a:buClr>
              <a:buSzPts val="2700"/>
              <a:buFont typeface="Calibri"/>
              <a:buNone/>
            </a:pPr>
            <a:r>
              <a:rPr b="1" i="0" lang="en-US" sz="2700" u="none" cap="none" strike="noStrike">
                <a:solidFill>
                  <a:srgbClr val="1D2A5C"/>
                </a:solidFill>
                <a:latin typeface="Calibri"/>
                <a:ea typeface="Calibri"/>
                <a:cs typeface="Calibri"/>
                <a:sym typeface="Calibri"/>
              </a:rPr>
              <a:t>Why Segmentation: Measurement, Not Recognition</a:t>
            </a:r>
            <a:endParaRPr b="0" i="0" sz="2700" u="none" cap="none" strike="noStrike">
              <a:solidFill>
                <a:schemeClr val="dk1"/>
              </a:solidFill>
              <a:latin typeface="Calibri"/>
              <a:ea typeface="Calibri"/>
              <a:cs typeface="Calibri"/>
              <a:sym typeface="Calibri"/>
            </a:endParaRPr>
          </a:p>
        </p:txBody>
      </p:sp>
      <p:sp>
        <p:nvSpPr>
          <p:cNvPr id="1946" name="Google Shape;1946;p69"/>
          <p:cNvSpPr/>
          <p:nvPr/>
        </p:nvSpPr>
        <p:spPr>
          <a:xfrm>
            <a:off x="502920" y="859536"/>
            <a:ext cx="9646920" cy="31089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F6B7A"/>
              </a:buClr>
              <a:buSzPts val="1250"/>
              <a:buFont typeface="Arial"/>
              <a:buNone/>
            </a:pPr>
            <a:r>
              <a:rPr b="0" i="0" lang="en-US" sz="1250" u="none" cap="none" strike="noStrike">
                <a:solidFill>
                  <a:srgbClr val="5F6B7A"/>
                </a:solidFill>
                <a:latin typeface="Arial"/>
                <a:ea typeface="Arial"/>
                <a:cs typeface="Arial"/>
                <a:sym typeface="Arial"/>
              </a:rPr>
              <a:t>لماذا التجزئة: قياس لا تعرف</a:t>
            </a:r>
            <a:endParaRPr b="0" i="0" sz="1250" u="none" cap="none" strike="noStrike">
              <a:solidFill>
                <a:schemeClr val="dk1"/>
              </a:solidFill>
              <a:latin typeface="Calibri"/>
              <a:ea typeface="Calibri"/>
              <a:cs typeface="Calibri"/>
              <a:sym typeface="Calibri"/>
            </a:endParaRPr>
          </a:p>
        </p:txBody>
      </p:sp>
      <p:pic>
        <p:nvPicPr>
          <p:cNvPr descr="/sessions/blissful-determined-ritchie/build/assets/sdaia_logo.png" id="1947" name="Google Shape;1947;p69"/>
          <p:cNvPicPr preferRelativeResize="0"/>
          <p:nvPr/>
        </p:nvPicPr>
        <p:blipFill rotWithShape="1">
          <a:blip r:embed="rId3">
            <a:alphaModFix/>
          </a:blip>
          <a:srcRect b="0" l="0" r="0" t="0"/>
          <a:stretch/>
        </p:blipFill>
        <p:spPr>
          <a:xfrm>
            <a:off x="10625328" y="310896"/>
            <a:ext cx="1078992" cy="264111"/>
          </a:xfrm>
          <a:prstGeom prst="rect">
            <a:avLst/>
          </a:prstGeom>
          <a:noFill/>
          <a:ln>
            <a:noFill/>
          </a:ln>
        </p:spPr>
      </p:pic>
      <p:sp>
        <p:nvSpPr>
          <p:cNvPr id="1948" name="Google Shape;1948;p69"/>
          <p:cNvSpPr/>
          <p:nvPr/>
        </p:nvSpPr>
        <p:spPr>
          <a:xfrm>
            <a:off x="502920" y="6528816"/>
            <a:ext cx="8686800"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A79D"/>
              </a:buClr>
              <a:buSzPts val="800"/>
              <a:buFont typeface="Calibri"/>
              <a:buNone/>
            </a:pPr>
            <a:r>
              <a:rPr b="1" i="0" lang="en-US" sz="800" u="none" cap="none" strike="noStrike">
                <a:solidFill>
                  <a:srgbClr val="00A79D"/>
                </a:solidFill>
                <a:latin typeface="Calibri"/>
                <a:ea typeface="Calibri"/>
                <a:cs typeface="Calibri"/>
                <a:sym typeface="Calibri"/>
              </a:rPr>
              <a:t>MODULE 4   </a:t>
            </a:r>
            <a:r>
              <a:rPr b="0" i="0" lang="en-US" sz="800" u="none" cap="none" strike="noStrike">
                <a:solidFill>
                  <a:srgbClr val="8A96A6"/>
                </a:solidFill>
                <a:latin typeface="Calibri"/>
                <a:ea typeface="Calibri"/>
                <a:cs typeface="Calibri"/>
                <a:sym typeface="Calibri"/>
              </a:rPr>
              <a:t>SDA-AIE-212 · Computer Vision Systems Development</a:t>
            </a:r>
            <a:endParaRPr b="0" i="0" sz="800" u="none" cap="none" strike="noStrike">
              <a:solidFill>
                <a:schemeClr val="dk1"/>
              </a:solidFill>
              <a:latin typeface="Calibri"/>
              <a:ea typeface="Calibri"/>
              <a:cs typeface="Calibri"/>
              <a:sym typeface="Calibri"/>
            </a:endParaRPr>
          </a:p>
        </p:txBody>
      </p:sp>
      <p:sp>
        <p:nvSpPr>
          <p:cNvPr id="1949" name="Google Shape;1949;p69"/>
          <p:cNvSpPr/>
          <p:nvPr/>
        </p:nvSpPr>
        <p:spPr>
          <a:xfrm>
            <a:off x="11292840" y="6528816"/>
            <a:ext cx="411480" cy="219456"/>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8A96A6"/>
              </a:buClr>
              <a:buSzPts val="900"/>
              <a:buFont typeface="Calibri"/>
              <a:buNone/>
            </a:pPr>
            <a:r>
              <a:rPr b="0" i="0" lang="en-US" sz="900" u="none" cap="none" strike="noStrike">
                <a:solidFill>
                  <a:srgbClr val="8A96A6"/>
                </a:solidFill>
                <a:latin typeface="Calibri"/>
                <a:ea typeface="Calibri"/>
                <a:cs typeface="Calibri"/>
                <a:sym typeface="Calibri"/>
              </a:rPr>
              <a:t>69</a:t>
            </a:r>
            <a:endParaRPr b="0" i="0" sz="900" u="none" cap="none" strike="noStrike">
              <a:solidFill>
                <a:schemeClr val="dk1"/>
              </a:solidFill>
              <a:latin typeface="Calibri"/>
              <a:ea typeface="Calibri"/>
              <a:cs typeface="Calibri"/>
              <a:sym typeface="Calibri"/>
            </a:endParaRPr>
          </a:p>
        </p:txBody>
      </p:sp>
      <p:sp>
        <p:nvSpPr>
          <p:cNvPr id="1950" name="Google Shape;1950;p69"/>
          <p:cNvSpPr/>
          <p:nvPr/>
        </p:nvSpPr>
        <p:spPr>
          <a:xfrm>
            <a:off x="502920" y="1389888"/>
            <a:ext cx="11185855" cy="384048"/>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5F6B7A"/>
              </a:buClr>
              <a:buSzPts val="1250"/>
              <a:buFont typeface="Calibri"/>
              <a:buNone/>
            </a:pPr>
            <a:r>
              <a:rPr b="0" i="1" lang="en-US" sz="1250" u="none" cap="none" strike="noStrike">
                <a:solidFill>
                  <a:srgbClr val="5F6B7A"/>
                </a:solidFill>
                <a:latin typeface="Calibri"/>
                <a:ea typeface="Calibri"/>
                <a:cs typeface="Calibri"/>
                <a:sym typeface="Calibri"/>
              </a:rPr>
              <a:t>A surprising amount of vision value is measurement — area thresholds, invoiced m², dosage. Boxes cannot produce these numbers.</a:t>
            </a:r>
            <a:endParaRPr b="0" i="0" sz="1250" u="none" cap="none" strike="noStrike">
              <a:solidFill>
                <a:schemeClr val="dk1"/>
              </a:solidFill>
              <a:latin typeface="Calibri"/>
              <a:ea typeface="Calibri"/>
              <a:cs typeface="Calibri"/>
              <a:sym typeface="Calibri"/>
            </a:endParaRPr>
          </a:p>
        </p:txBody>
      </p:sp>
      <p:sp>
        <p:nvSpPr>
          <p:cNvPr id="1951" name="Google Shape;1951;p69"/>
          <p:cNvSpPr/>
          <p:nvPr/>
        </p:nvSpPr>
        <p:spPr>
          <a:xfrm>
            <a:off x="502920" y="3026664"/>
            <a:ext cx="2556434" cy="2194560"/>
          </a:xfrm>
          <a:prstGeom prst="roundRect">
            <a:avLst>
              <a:gd fmla="val 3750" name="adj"/>
            </a:avLst>
          </a:prstGeom>
          <a:solidFill>
            <a:srgbClr val="E9F6F5"/>
          </a:solidFill>
          <a:ln cap="flat" cmpd="sng" w="12700">
            <a:solidFill>
              <a:srgbClr val="D9E2E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52" name="Google Shape;1952;p69"/>
          <p:cNvSpPr/>
          <p:nvPr/>
        </p:nvSpPr>
        <p:spPr>
          <a:xfrm>
            <a:off x="594360" y="3136392"/>
            <a:ext cx="2373554" cy="96560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0A79D"/>
              </a:buClr>
              <a:buSzPts val="3800"/>
              <a:buFont typeface="Calibri"/>
              <a:buNone/>
            </a:pPr>
            <a:r>
              <a:rPr b="1" i="0" lang="en-US" sz="3800" u="none" cap="none" strike="noStrike">
                <a:solidFill>
                  <a:srgbClr val="00A79D"/>
                </a:solidFill>
                <a:latin typeface="Calibri"/>
                <a:ea typeface="Calibri"/>
                <a:cs typeface="Calibri"/>
                <a:sym typeface="Calibri"/>
              </a:rPr>
              <a:t>8%</a:t>
            </a:r>
            <a:endParaRPr b="0" i="0" sz="3800" u="none" cap="none" strike="noStrike">
              <a:solidFill>
                <a:schemeClr val="dk1"/>
              </a:solidFill>
              <a:latin typeface="Calibri"/>
              <a:ea typeface="Calibri"/>
              <a:cs typeface="Calibri"/>
              <a:sym typeface="Calibri"/>
            </a:endParaRPr>
          </a:p>
        </p:txBody>
      </p:sp>
      <p:sp>
        <p:nvSpPr>
          <p:cNvPr id="1953" name="Google Shape;1953;p69"/>
          <p:cNvSpPr/>
          <p:nvPr/>
        </p:nvSpPr>
        <p:spPr>
          <a:xfrm>
            <a:off x="640080" y="4167835"/>
            <a:ext cx="2282114" cy="32004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D2A5C"/>
              </a:buClr>
              <a:buSzPts val="1250"/>
              <a:buFont typeface="Calibri"/>
              <a:buNone/>
            </a:pPr>
            <a:r>
              <a:rPr b="1" i="0" lang="en-US" sz="1250" u="none" cap="none" strike="noStrike">
                <a:solidFill>
                  <a:srgbClr val="1D2A5C"/>
                </a:solidFill>
                <a:latin typeface="Calibri"/>
                <a:ea typeface="Calibri"/>
                <a:cs typeface="Calibri"/>
                <a:sym typeface="Calibri"/>
              </a:rPr>
              <a:t>grading area rule</a:t>
            </a:r>
            <a:endParaRPr b="0" i="0" sz="1250" u="none" cap="none" strike="noStrike">
              <a:solidFill>
                <a:schemeClr val="dk1"/>
              </a:solidFill>
              <a:latin typeface="Calibri"/>
              <a:ea typeface="Calibri"/>
              <a:cs typeface="Calibri"/>
              <a:sym typeface="Calibri"/>
            </a:endParaRPr>
          </a:p>
        </p:txBody>
      </p:sp>
      <p:sp>
        <p:nvSpPr>
          <p:cNvPr id="1954" name="Google Shape;1954;p69"/>
          <p:cNvSpPr/>
          <p:nvPr/>
        </p:nvSpPr>
        <p:spPr>
          <a:xfrm>
            <a:off x="640080" y="4515307"/>
            <a:ext cx="2282114" cy="658368"/>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rgbClr val="5F6B7A"/>
              </a:buClr>
              <a:buSzPts val="1000"/>
              <a:buFont typeface="Calibri"/>
              <a:buNone/>
            </a:pPr>
            <a:r>
              <a:rPr b="0" i="0" lang="en-US" sz="1000" u="none" cap="none" strike="noStrike">
                <a:solidFill>
                  <a:srgbClr val="5F6B7A"/>
                </a:solidFill>
                <a:latin typeface="Calibri"/>
                <a:ea typeface="Calibri"/>
                <a:cs typeface="Calibri"/>
                <a:sym typeface="Calibri"/>
              </a:rPr>
              <a:t>reject if defect area &gt; 8% of visible surface</a:t>
            </a:r>
            <a:endParaRPr b="0" i="0" sz="1000" u="none" cap="none" strike="noStrike">
              <a:solidFill>
                <a:schemeClr val="dk1"/>
              </a:solidFill>
              <a:latin typeface="Calibri"/>
              <a:ea typeface="Calibri"/>
              <a:cs typeface="Calibri"/>
              <a:sym typeface="Calibri"/>
            </a:endParaRPr>
          </a:p>
        </p:txBody>
      </p:sp>
      <p:sp>
        <p:nvSpPr>
          <p:cNvPr id="1955" name="Google Shape;1955;p69"/>
          <p:cNvSpPr/>
          <p:nvPr/>
        </p:nvSpPr>
        <p:spPr>
          <a:xfrm>
            <a:off x="3379394" y="3026664"/>
            <a:ext cx="2556434" cy="2194560"/>
          </a:xfrm>
          <a:prstGeom prst="roundRect">
            <a:avLst>
              <a:gd fmla="val 3750" name="adj"/>
            </a:avLst>
          </a:prstGeom>
          <a:solidFill>
            <a:srgbClr val="F2F6F9"/>
          </a:solidFill>
          <a:ln cap="flat" cmpd="sng" w="12700">
            <a:solidFill>
              <a:srgbClr val="D9E2E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56" name="Google Shape;1956;p69"/>
          <p:cNvSpPr/>
          <p:nvPr/>
        </p:nvSpPr>
        <p:spPr>
          <a:xfrm>
            <a:off x="3470834" y="3136392"/>
            <a:ext cx="2373554" cy="96560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E8503A"/>
              </a:buClr>
              <a:buSzPts val="3800"/>
              <a:buFont typeface="Calibri"/>
              <a:buNone/>
            </a:pPr>
            <a:r>
              <a:rPr b="1" i="0" lang="en-US" sz="3800" u="none" cap="none" strike="noStrike">
                <a:solidFill>
                  <a:srgbClr val="E8503A"/>
                </a:solidFill>
                <a:latin typeface="Calibri"/>
                <a:ea typeface="Calibri"/>
                <a:cs typeface="Calibri"/>
                <a:sym typeface="Calibri"/>
              </a:rPr>
              <a:t>2–4×</a:t>
            </a:r>
            <a:endParaRPr b="0" i="0" sz="3800" u="none" cap="none" strike="noStrike">
              <a:solidFill>
                <a:schemeClr val="dk1"/>
              </a:solidFill>
              <a:latin typeface="Calibri"/>
              <a:ea typeface="Calibri"/>
              <a:cs typeface="Calibri"/>
              <a:sym typeface="Calibri"/>
            </a:endParaRPr>
          </a:p>
        </p:txBody>
      </p:sp>
      <p:sp>
        <p:nvSpPr>
          <p:cNvPr id="1957" name="Google Shape;1957;p69"/>
          <p:cNvSpPr/>
          <p:nvPr/>
        </p:nvSpPr>
        <p:spPr>
          <a:xfrm>
            <a:off x="3516554" y="4167835"/>
            <a:ext cx="2282114" cy="32004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D2A5C"/>
              </a:buClr>
              <a:buSzPts val="1250"/>
              <a:buFont typeface="Calibri"/>
              <a:buNone/>
            </a:pPr>
            <a:r>
              <a:rPr b="1" i="0" lang="en-US" sz="1250" u="none" cap="none" strike="noStrike">
                <a:solidFill>
                  <a:srgbClr val="1D2A5C"/>
                </a:solidFill>
                <a:latin typeface="Calibri"/>
                <a:ea typeface="Calibri"/>
                <a:cs typeface="Calibri"/>
                <a:sym typeface="Calibri"/>
              </a:rPr>
              <a:t>box-area overestimate</a:t>
            </a:r>
            <a:endParaRPr b="0" i="0" sz="1250" u="none" cap="none" strike="noStrike">
              <a:solidFill>
                <a:schemeClr val="dk1"/>
              </a:solidFill>
              <a:latin typeface="Calibri"/>
              <a:ea typeface="Calibri"/>
              <a:cs typeface="Calibri"/>
              <a:sym typeface="Calibri"/>
            </a:endParaRPr>
          </a:p>
        </p:txBody>
      </p:sp>
      <p:sp>
        <p:nvSpPr>
          <p:cNvPr id="1958" name="Google Shape;1958;p69"/>
          <p:cNvSpPr/>
          <p:nvPr/>
        </p:nvSpPr>
        <p:spPr>
          <a:xfrm>
            <a:off x="3516554" y="4515307"/>
            <a:ext cx="2282114" cy="658368"/>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rgbClr val="5F6B7A"/>
              </a:buClr>
              <a:buSzPts val="1000"/>
              <a:buFont typeface="Calibri"/>
              <a:buNone/>
            </a:pPr>
            <a:r>
              <a:rPr b="0" i="0" lang="en-US" sz="1000" u="none" cap="none" strike="noStrike">
                <a:solidFill>
                  <a:srgbClr val="5F6B7A"/>
                </a:solidFill>
                <a:latin typeface="Calibri"/>
                <a:ea typeface="Calibri"/>
                <a:cs typeface="Calibri"/>
                <a:sym typeface="Calibri"/>
              </a:rPr>
              <a:t>boxes overstate crescent-shaped defects</a:t>
            </a:r>
            <a:endParaRPr b="0" i="0" sz="1000" u="none" cap="none" strike="noStrike">
              <a:solidFill>
                <a:schemeClr val="dk1"/>
              </a:solidFill>
              <a:latin typeface="Calibri"/>
              <a:ea typeface="Calibri"/>
              <a:cs typeface="Calibri"/>
              <a:sym typeface="Calibri"/>
            </a:endParaRPr>
          </a:p>
        </p:txBody>
      </p:sp>
      <p:sp>
        <p:nvSpPr>
          <p:cNvPr id="1959" name="Google Shape;1959;p69"/>
          <p:cNvSpPr/>
          <p:nvPr/>
        </p:nvSpPr>
        <p:spPr>
          <a:xfrm>
            <a:off x="6255868" y="3026664"/>
            <a:ext cx="2556434" cy="2194560"/>
          </a:xfrm>
          <a:prstGeom prst="roundRect">
            <a:avLst>
              <a:gd fmla="val 3750" name="adj"/>
            </a:avLst>
          </a:prstGeom>
          <a:solidFill>
            <a:srgbClr val="F2F6F9"/>
          </a:solidFill>
          <a:ln cap="flat" cmpd="sng" w="12700">
            <a:solidFill>
              <a:srgbClr val="D9E2E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60" name="Google Shape;1960;p69"/>
          <p:cNvSpPr/>
          <p:nvPr/>
        </p:nvSpPr>
        <p:spPr>
          <a:xfrm>
            <a:off x="6347308" y="3136392"/>
            <a:ext cx="2373554" cy="96560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58220"/>
              </a:buClr>
              <a:buSzPts val="3800"/>
              <a:buFont typeface="Calibri"/>
              <a:buNone/>
            </a:pPr>
            <a:r>
              <a:rPr b="1" i="0" lang="en-US" sz="3800" u="none" cap="none" strike="noStrike">
                <a:solidFill>
                  <a:srgbClr val="F58220"/>
                </a:solidFill>
                <a:latin typeface="Calibri"/>
                <a:ea typeface="Calibri"/>
                <a:cs typeface="Calibri"/>
                <a:sym typeface="Calibri"/>
              </a:rPr>
              <a:t>35–90 s</a:t>
            </a:r>
            <a:endParaRPr b="0" i="0" sz="3800" u="none" cap="none" strike="noStrike">
              <a:solidFill>
                <a:schemeClr val="dk1"/>
              </a:solidFill>
              <a:latin typeface="Calibri"/>
              <a:ea typeface="Calibri"/>
              <a:cs typeface="Calibri"/>
              <a:sym typeface="Calibri"/>
            </a:endParaRPr>
          </a:p>
        </p:txBody>
      </p:sp>
      <p:sp>
        <p:nvSpPr>
          <p:cNvPr id="1961" name="Google Shape;1961;p69"/>
          <p:cNvSpPr/>
          <p:nvPr/>
        </p:nvSpPr>
        <p:spPr>
          <a:xfrm>
            <a:off x="6393028" y="4167835"/>
            <a:ext cx="2282114" cy="32004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D2A5C"/>
              </a:buClr>
              <a:buSzPts val="1250"/>
              <a:buFont typeface="Calibri"/>
              <a:buNone/>
            </a:pPr>
            <a:r>
              <a:rPr b="1" i="0" lang="en-US" sz="1250" u="none" cap="none" strike="noStrike">
                <a:solidFill>
                  <a:srgbClr val="1D2A5C"/>
                </a:solidFill>
                <a:latin typeface="Calibri"/>
                <a:ea typeface="Calibri"/>
                <a:cs typeface="Calibri"/>
                <a:sym typeface="Calibri"/>
              </a:rPr>
              <a:t>per polygon</a:t>
            </a:r>
            <a:endParaRPr b="0" i="0" sz="1250" u="none" cap="none" strike="noStrike">
              <a:solidFill>
                <a:schemeClr val="dk1"/>
              </a:solidFill>
              <a:latin typeface="Calibri"/>
              <a:ea typeface="Calibri"/>
              <a:cs typeface="Calibri"/>
              <a:sym typeface="Calibri"/>
            </a:endParaRPr>
          </a:p>
        </p:txBody>
      </p:sp>
      <p:sp>
        <p:nvSpPr>
          <p:cNvPr id="1962" name="Google Shape;1962;p69"/>
          <p:cNvSpPr/>
          <p:nvPr/>
        </p:nvSpPr>
        <p:spPr>
          <a:xfrm>
            <a:off x="6393028" y="4515307"/>
            <a:ext cx="2282114" cy="658368"/>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rgbClr val="5F6B7A"/>
              </a:buClr>
              <a:buSzPts val="1000"/>
              <a:buFont typeface="Calibri"/>
              <a:buNone/>
            </a:pPr>
            <a:r>
              <a:rPr b="0" i="0" lang="en-US" sz="1000" u="none" cap="none" strike="noStrike">
                <a:solidFill>
                  <a:srgbClr val="5F6B7A"/>
                </a:solidFill>
                <a:latin typeface="Calibri"/>
                <a:ea typeface="Calibri"/>
                <a:cs typeface="Calibri"/>
                <a:sym typeface="Calibri"/>
              </a:rPr>
              <a:t>vs ~7 s per box — segmentation must be earned</a:t>
            </a:r>
            <a:endParaRPr b="0" i="0" sz="1000" u="none" cap="none" strike="noStrike">
              <a:solidFill>
                <a:schemeClr val="dk1"/>
              </a:solidFill>
              <a:latin typeface="Calibri"/>
              <a:ea typeface="Calibri"/>
              <a:cs typeface="Calibri"/>
              <a:sym typeface="Calibri"/>
            </a:endParaRPr>
          </a:p>
        </p:txBody>
      </p:sp>
      <p:sp>
        <p:nvSpPr>
          <p:cNvPr id="1963" name="Google Shape;1963;p69"/>
          <p:cNvSpPr/>
          <p:nvPr/>
        </p:nvSpPr>
        <p:spPr>
          <a:xfrm>
            <a:off x="9132341" y="3026664"/>
            <a:ext cx="2556434" cy="2194560"/>
          </a:xfrm>
          <a:prstGeom prst="roundRect">
            <a:avLst>
              <a:gd fmla="val 3750" name="adj"/>
            </a:avLst>
          </a:prstGeom>
          <a:solidFill>
            <a:srgbClr val="F2F6F9"/>
          </a:solidFill>
          <a:ln cap="flat" cmpd="sng" w="12700">
            <a:solidFill>
              <a:srgbClr val="D9E2E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64" name="Google Shape;1964;p69"/>
          <p:cNvSpPr/>
          <p:nvPr/>
        </p:nvSpPr>
        <p:spPr>
          <a:xfrm>
            <a:off x="9223781" y="3136392"/>
            <a:ext cx="2373554" cy="96560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8DC63F"/>
              </a:buClr>
              <a:buSzPts val="3800"/>
              <a:buFont typeface="Calibri"/>
              <a:buNone/>
            </a:pPr>
            <a:r>
              <a:rPr b="1" i="0" lang="en-US" sz="3800" u="none" cap="none" strike="noStrike">
                <a:solidFill>
                  <a:srgbClr val="8DC63F"/>
                </a:solidFill>
                <a:latin typeface="Calibri"/>
                <a:ea typeface="Calibri"/>
                <a:cs typeface="Calibri"/>
                <a:sym typeface="Calibri"/>
              </a:rPr>
              <a:t>m²</a:t>
            </a:r>
            <a:endParaRPr b="0" i="0" sz="3800" u="none" cap="none" strike="noStrike">
              <a:solidFill>
                <a:schemeClr val="dk1"/>
              </a:solidFill>
              <a:latin typeface="Calibri"/>
              <a:ea typeface="Calibri"/>
              <a:cs typeface="Calibri"/>
              <a:sym typeface="Calibri"/>
            </a:endParaRPr>
          </a:p>
        </p:txBody>
      </p:sp>
      <p:sp>
        <p:nvSpPr>
          <p:cNvPr id="1965" name="Google Shape;1965;p69"/>
          <p:cNvSpPr/>
          <p:nvPr/>
        </p:nvSpPr>
        <p:spPr>
          <a:xfrm>
            <a:off x="9269501" y="4167835"/>
            <a:ext cx="2282114" cy="32004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D2A5C"/>
              </a:buClr>
              <a:buSzPts val="1250"/>
              <a:buFont typeface="Calibri"/>
              <a:buNone/>
            </a:pPr>
            <a:r>
              <a:rPr b="1" i="0" lang="en-US" sz="1250" u="none" cap="none" strike="noStrike">
                <a:solidFill>
                  <a:srgbClr val="1D2A5C"/>
                </a:solidFill>
                <a:latin typeface="Calibri"/>
                <a:ea typeface="Calibri"/>
                <a:cs typeface="Calibri"/>
                <a:sym typeface="Calibri"/>
              </a:rPr>
              <a:t>the invoice unit</a:t>
            </a:r>
            <a:endParaRPr b="0" i="0" sz="1250" u="none" cap="none" strike="noStrike">
              <a:solidFill>
                <a:schemeClr val="dk1"/>
              </a:solidFill>
              <a:latin typeface="Calibri"/>
              <a:ea typeface="Calibri"/>
              <a:cs typeface="Calibri"/>
              <a:sym typeface="Calibri"/>
            </a:endParaRPr>
          </a:p>
        </p:txBody>
      </p:sp>
      <p:sp>
        <p:nvSpPr>
          <p:cNvPr id="1966" name="Google Shape;1966;p69"/>
          <p:cNvSpPr/>
          <p:nvPr/>
        </p:nvSpPr>
        <p:spPr>
          <a:xfrm>
            <a:off x="9269501" y="4515307"/>
            <a:ext cx="2282114" cy="658368"/>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rgbClr val="5F6B7A"/>
              </a:buClr>
              <a:buSzPts val="1000"/>
              <a:buFont typeface="Calibri"/>
              <a:buNone/>
            </a:pPr>
            <a:r>
              <a:rPr b="0" i="0" lang="en-US" sz="1000" u="none" cap="none" strike="noStrike">
                <a:solidFill>
                  <a:srgbClr val="5F6B7A"/>
                </a:solidFill>
                <a:latin typeface="Calibri"/>
                <a:ea typeface="Calibri"/>
                <a:cs typeface="Calibri"/>
                <a:sym typeface="Calibri"/>
              </a:rPr>
              <a:t>road-crack repair is priced per verified m²</a:t>
            </a:r>
            <a:endParaRPr b="0" i="0" sz="1000" u="none" cap="none" strike="noStrike">
              <a:solidFill>
                <a:schemeClr val="dk1"/>
              </a:solidFill>
              <a:latin typeface="Calibri"/>
              <a:ea typeface="Calibri"/>
              <a:cs typeface="Calibri"/>
              <a:sym typeface="Calibri"/>
            </a:endParaRPr>
          </a:p>
        </p:txBody>
      </p:sp>
    </p:spTree>
  </p:cSld>
  <p:clrMapOvr>
    <a:masterClrMapping/>
  </p:clrMapOvr>
</p:sld>
</file>

<file path=ppt/slides/slide7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971" name="Shape 1971"/>
        <p:cNvGrpSpPr/>
        <p:nvPr/>
      </p:nvGrpSpPr>
      <p:grpSpPr>
        <a:xfrm>
          <a:off x="0" y="0"/>
          <a:ext cx="0" cy="0"/>
          <a:chOff x="0" y="0"/>
          <a:chExt cx="0" cy="0"/>
        </a:xfrm>
      </p:grpSpPr>
      <p:sp>
        <p:nvSpPr>
          <p:cNvPr id="1972" name="Google Shape;1972;p70"/>
          <p:cNvSpPr/>
          <p:nvPr/>
        </p:nvSpPr>
        <p:spPr>
          <a:xfrm>
            <a:off x="502920" y="274320"/>
            <a:ext cx="9646920" cy="56692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D2A5C"/>
              </a:buClr>
              <a:buSzPts val="2700"/>
              <a:buFont typeface="Calibri"/>
              <a:buNone/>
            </a:pPr>
            <a:r>
              <a:rPr b="1" i="0" lang="en-US" sz="2700" u="none" cap="none" strike="noStrike">
                <a:solidFill>
                  <a:srgbClr val="1D2A5C"/>
                </a:solidFill>
                <a:latin typeface="Calibri"/>
                <a:ea typeface="Calibri"/>
                <a:cs typeface="Calibri"/>
                <a:sym typeface="Calibri"/>
              </a:rPr>
              <a:t>Industry Use Cases</a:t>
            </a:r>
            <a:endParaRPr b="0" i="0" sz="2700" u="none" cap="none" strike="noStrike">
              <a:solidFill>
                <a:schemeClr val="dk1"/>
              </a:solidFill>
              <a:latin typeface="Calibri"/>
              <a:ea typeface="Calibri"/>
              <a:cs typeface="Calibri"/>
              <a:sym typeface="Calibri"/>
            </a:endParaRPr>
          </a:p>
        </p:txBody>
      </p:sp>
      <p:sp>
        <p:nvSpPr>
          <p:cNvPr id="1973" name="Google Shape;1973;p70"/>
          <p:cNvSpPr/>
          <p:nvPr/>
        </p:nvSpPr>
        <p:spPr>
          <a:xfrm>
            <a:off x="502920" y="859536"/>
            <a:ext cx="9646920" cy="31089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F6B7A"/>
              </a:buClr>
              <a:buSzPts val="1250"/>
              <a:buFont typeface="Arial"/>
              <a:buNone/>
            </a:pPr>
            <a:r>
              <a:rPr b="0" i="0" lang="en-US" sz="1250" u="none" cap="none" strike="noStrike">
                <a:solidFill>
                  <a:srgbClr val="5F6B7A"/>
                </a:solidFill>
                <a:latin typeface="Arial"/>
                <a:ea typeface="Arial"/>
                <a:cs typeface="Arial"/>
                <a:sym typeface="Arial"/>
              </a:rPr>
              <a:t>حالات استخدام صناعية</a:t>
            </a:r>
            <a:endParaRPr b="0" i="0" sz="1250" u="none" cap="none" strike="noStrike">
              <a:solidFill>
                <a:schemeClr val="dk1"/>
              </a:solidFill>
              <a:latin typeface="Calibri"/>
              <a:ea typeface="Calibri"/>
              <a:cs typeface="Calibri"/>
              <a:sym typeface="Calibri"/>
            </a:endParaRPr>
          </a:p>
        </p:txBody>
      </p:sp>
      <p:pic>
        <p:nvPicPr>
          <p:cNvPr descr="/sessions/blissful-determined-ritchie/build/assets/sdaia_logo.png" id="1974" name="Google Shape;1974;p70"/>
          <p:cNvPicPr preferRelativeResize="0"/>
          <p:nvPr/>
        </p:nvPicPr>
        <p:blipFill rotWithShape="1">
          <a:blip r:embed="rId3">
            <a:alphaModFix/>
          </a:blip>
          <a:srcRect b="0" l="0" r="0" t="0"/>
          <a:stretch/>
        </p:blipFill>
        <p:spPr>
          <a:xfrm>
            <a:off x="10625328" y="310896"/>
            <a:ext cx="1078992" cy="264111"/>
          </a:xfrm>
          <a:prstGeom prst="rect">
            <a:avLst/>
          </a:prstGeom>
          <a:noFill/>
          <a:ln>
            <a:noFill/>
          </a:ln>
        </p:spPr>
      </p:pic>
      <p:sp>
        <p:nvSpPr>
          <p:cNvPr id="1975" name="Google Shape;1975;p70"/>
          <p:cNvSpPr/>
          <p:nvPr/>
        </p:nvSpPr>
        <p:spPr>
          <a:xfrm>
            <a:off x="502920" y="6528816"/>
            <a:ext cx="8686800"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A79D"/>
              </a:buClr>
              <a:buSzPts val="800"/>
              <a:buFont typeface="Calibri"/>
              <a:buNone/>
            </a:pPr>
            <a:r>
              <a:rPr b="1" i="0" lang="en-US" sz="800" u="none" cap="none" strike="noStrike">
                <a:solidFill>
                  <a:srgbClr val="00A79D"/>
                </a:solidFill>
                <a:latin typeface="Calibri"/>
                <a:ea typeface="Calibri"/>
                <a:cs typeface="Calibri"/>
                <a:sym typeface="Calibri"/>
              </a:rPr>
              <a:t>MODULE 4   </a:t>
            </a:r>
            <a:r>
              <a:rPr b="0" i="0" lang="en-US" sz="800" u="none" cap="none" strike="noStrike">
                <a:solidFill>
                  <a:srgbClr val="8A96A6"/>
                </a:solidFill>
                <a:latin typeface="Calibri"/>
                <a:ea typeface="Calibri"/>
                <a:cs typeface="Calibri"/>
                <a:sym typeface="Calibri"/>
              </a:rPr>
              <a:t>SDA-AIE-212 · Computer Vision Systems Development</a:t>
            </a:r>
            <a:endParaRPr b="0" i="0" sz="800" u="none" cap="none" strike="noStrike">
              <a:solidFill>
                <a:schemeClr val="dk1"/>
              </a:solidFill>
              <a:latin typeface="Calibri"/>
              <a:ea typeface="Calibri"/>
              <a:cs typeface="Calibri"/>
              <a:sym typeface="Calibri"/>
            </a:endParaRPr>
          </a:p>
        </p:txBody>
      </p:sp>
      <p:sp>
        <p:nvSpPr>
          <p:cNvPr id="1976" name="Google Shape;1976;p70"/>
          <p:cNvSpPr/>
          <p:nvPr/>
        </p:nvSpPr>
        <p:spPr>
          <a:xfrm>
            <a:off x="11292840" y="6528816"/>
            <a:ext cx="411480" cy="219456"/>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8A96A6"/>
              </a:buClr>
              <a:buSzPts val="900"/>
              <a:buFont typeface="Calibri"/>
              <a:buNone/>
            </a:pPr>
            <a:r>
              <a:rPr b="0" i="0" lang="en-US" sz="900" u="none" cap="none" strike="noStrike">
                <a:solidFill>
                  <a:srgbClr val="8A96A6"/>
                </a:solidFill>
                <a:latin typeface="Calibri"/>
                <a:ea typeface="Calibri"/>
                <a:cs typeface="Calibri"/>
                <a:sym typeface="Calibri"/>
              </a:rPr>
              <a:t>70</a:t>
            </a:r>
            <a:endParaRPr b="0" i="0" sz="900" u="none" cap="none" strike="noStrike">
              <a:solidFill>
                <a:schemeClr val="dk1"/>
              </a:solidFill>
              <a:latin typeface="Calibri"/>
              <a:ea typeface="Calibri"/>
              <a:cs typeface="Calibri"/>
              <a:sym typeface="Calibri"/>
            </a:endParaRPr>
          </a:p>
        </p:txBody>
      </p:sp>
      <p:sp>
        <p:nvSpPr>
          <p:cNvPr id="1977" name="Google Shape;1977;p70"/>
          <p:cNvSpPr/>
          <p:nvPr/>
        </p:nvSpPr>
        <p:spPr>
          <a:xfrm>
            <a:off x="502920" y="1389888"/>
            <a:ext cx="5455768" cy="2354580"/>
          </a:xfrm>
          <a:prstGeom prst="roundRect">
            <a:avLst>
              <a:gd fmla="val 3107" name="adj"/>
            </a:avLst>
          </a:prstGeom>
          <a:solidFill>
            <a:srgbClr val="F2F6F9"/>
          </a:solidFill>
          <a:ln cap="flat" cmpd="sng" w="12700">
            <a:solidFill>
              <a:srgbClr val="D9E2E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78" name="Google Shape;1978;p70"/>
          <p:cNvSpPr/>
          <p:nvPr/>
        </p:nvSpPr>
        <p:spPr>
          <a:xfrm>
            <a:off x="667512" y="1536192"/>
            <a:ext cx="310896" cy="310896"/>
          </a:xfrm>
          <a:prstGeom prst="ellipse">
            <a:avLst/>
          </a:prstGeom>
          <a:solidFill>
            <a:srgbClr val="00A79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79" name="Google Shape;1979;p70"/>
          <p:cNvSpPr/>
          <p:nvPr/>
        </p:nvSpPr>
        <p:spPr>
          <a:xfrm>
            <a:off x="667512" y="1536192"/>
            <a:ext cx="310896" cy="31089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200"/>
              <a:buFont typeface="Calibri"/>
              <a:buNone/>
            </a:pPr>
            <a:r>
              <a:rPr b="1" i="0" lang="en-US" sz="1200" u="none" cap="none" strike="noStrike">
                <a:solidFill>
                  <a:srgbClr val="FFFFFF"/>
                </a:solidFill>
                <a:latin typeface="Calibri"/>
                <a:ea typeface="Calibri"/>
                <a:cs typeface="Calibri"/>
                <a:sym typeface="Calibri"/>
              </a:rPr>
              <a:t>1</a:t>
            </a:r>
            <a:endParaRPr b="0" i="0" sz="1200" u="none" cap="none" strike="noStrike">
              <a:solidFill>
                <a:schemeClr val="dk1"/>
              </a:solidFill>
              <a:latin typeface="Calibri"/>
              <a:ea typeface="Calibri"/>
              <a:cs typeface="Calibri"/>
              <a:sym typeface="Calibri"/>
            </a:endParaRPr>
          </a:p>
        </p:txBody>
      </p:sp>
      <p:sp>
        <p:nvSpPr>
          <p:cNvPr id="1980" name="Google Shape;1980;p70"/>
          <p:cNvSpPr/>
          <p:nvPr/>
        </p:nvSpPr>
        <p:spPr>
          <a:xfrm>
            <a:off x="1088136" y="1499616"/>
            <a:ext cx="4724248" cy="38404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D2A5C"/>
              </a:buClr>
              <a:buSzPts val="1250"/>
              <a:buFont typeface="Calibri"/>
              <a:buNone/>
            </a:pPr>
            <a:r>
              <a:rPr b="1" i="0" lang="en-US" sz="1250" u="none" cap="none" strike="noStrike">
                <a:solidFill>
                  <a:srgbClr val="1D2A5C"/>
                </a:solidFill>
                <a:latin typeface="Calibri"/>
                <a:ea typeface="Calibri"/>
                <a:cs typeface="Calibri"/>
                <a:sym typeface="Calibri"/>
              </a:rPr>
              <a:t>Tamr Vision segmenter</a:t>
            </a:r>
            <a:endParaRPr b="0" i="0" sz="1250" u="none" cap="none" strike="noStrike">
              <a:solidFill>
                <a:schemeClr val="dk1"/>
              </a:solidFill>
              <a:latin typeface="Calibri"/>
              <a:ea typeface="Calibri"/>
              <a:cs typeface="Calibri"/>
              <a:sym typeface="Calibri"/>
            </a:endParaRPr>
          </a:p>
        </p:txBody>
      </p:sp>
      <p:sp>
        <p:nvSpPr>
          <p:cNvPr id="1981" name="Google Shape;1981;p70"/>
          <p:cNvSpPr/>
          <p:nvPr/>
        </p:nvSpPr>
        <p:spPr>
          <a:xfrm>
            <a:off x="685800" y="1920240"/>
            <a:ext cx="5090008" cy="17145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5F6B7A"/>
              </a:buClr>
              <a:buSzPts val="1100"/>
              <a:buFont typeface="Calibri"/>
              <a:buNone/>
            </a:pPr>
            <a:r>
              <a:rPr b="0" i="0" lang="en-US" sz="1100" u="none" cap="none" strike="noStrike">
                <a:solidFill>
                  <a:srgbClr val="5F6B7A"/>
                </a:solidFill>
                <a:latin typeface="Calibri"/>
                <a:ea typeface="Calibri"/>
                <a:cs typeface="Calibri"/>
                <a:sym typeface="Calibri"/>
              </a:rPr>
              <a:t>YOLO11s-seg masks sugaring and mould regions to apply the 8%-of-visible-surface reject rule that boxes systematically overstate.</a:t>
            </a:r>
            <a:endParaRPr b="0" i="0" sz="1100" u="none" cap="none" strike="noStrike">
              <a:solidFill>
                <a:schemeClr val="dk1"/>
              </a:solidFill>
              <a:latin typeface="Calibri"/>
              <a:ea typeface="Calibri"/>
              <a:cs typeface="Calibri"/>
              <a:sym typeface="Calibri"/>
            </a:endParaRPr>
          </a:p>
        </p:txBody>
      </p:sp>
      <p:sp>
        <p:nvSpPr>
          <p:cNvPr id="1982" name="Google Shape;1982;p70"/>
          <p:cNvSpPr/>
          <p:nvPr/>
        </p:nvSpPr>
        <p:spPr>
          <a:xfrm>
            <a:off x="6233008" y="1389888"/>
            <a:ext cx="5455768" cy="2354580"/>
          </a:xfrm>
          <a:prstGeom prst="roundRect">
            <a:avLst>
              <a:gd fmla="val 3107" name="adj"/>
            </a:avLst>
          </a:prstGeom>
          <a:solidFill>
            <a:srgbClr val="F2F6F9"/>
          </a:solidFill>
          <a:ln cap="flat" cmpd="sng" w="12700">
            <a:solidFill>
              <a:srgbClr val="D9E2E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83" name="Google Shape;1983;p70"/>
          <p:cNvSpPr/>
          <p:nvPr/>
        </p:nvSpPr>
        <p:spPr>
          <a:xfrm>
            <a:off x="6397600" y="1536192"/>
            <a:ext cx="310896" cy="310896"/>
          </a:xfrm>
          <a:prstGeom prst="ellipse">
            <a:avLst/>
          </a:prstGeom>
          <a:solidFill>
            <a:srgbClr val="29ABE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84" name="Google Shape;1984;p70"/>
          <p:cNvSpPr/>
          <p:nvPr/>
        </p:nvSpPr>
        <p:spPr>
          <a:xfrm>
            <a:off x="6397600" y="1536192"/>
            <a:ext cx="310896" cy="31089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200"/>
              <a:buFont typeface="Calibri"/>
              <a:buNone/>
            </a:pPr>
            <a:r>
              <a:rPr b="1" i="0" lang="en-US" sz="1200" u="none" cap="none" strike="noStrike">
                <a:solidFill>
                  <a:srgbClr val="FFFFFF"/>
                </a:solidFill>
                <a:latin typeface="Calibri"/>
                <a:ea typeface="Calibri"/>
                <a:cs typeface="Calibri"/>
                <a:sym typeface="Calibri"/>
              </a:rPr>
              <a:t>2</a:t>
            </a:r>
            <a:endParaRPr b="0" i="0" sz="1200" u="none" cap="none" strike="noStrike">
              <a:solidFill>
                <a:schemeClr val="dk1"/>
              </a:solidFill>
              <a:latin typeface="Calibri"/>
              <a:ea typeface="Calibri"/>
              <a:cs typeface="Calibri"/>
              <a:sym typeface="Calibri"/>
            </a:endParaRPr>
          </a:p>
        </p:txBody>
      </p:sp>
      <p:sp>
        <p:nvSpPr>
          <p:cNvPr id="1985" name="Google Shape;1985;p70"/>
          <p:cNvSpPr/>
          <p:nvPr/>
        </p:nvSpPr>
        <p:spPr>
          <a:xfrm>
            <a:off x="6818224" y="1499616"/>
            <a:ext cx="4724248" cy="38404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D2A5C"/>
              </a:buClr>
              <a:buSzPts val="1250"/>
              <a:buFont typeface="Calibri"/>
              <a:buNone/>
            </a:pPr>
            <a:r>
              <a:rPr b="1" i="0" lang="en-US" sz="1250" u="none" cap="none" strike="noStrike">
                <a:solidFill>
                  <a:srgbClr val="1D2A5C"/>
                </a:solidFill>
                <a:latin typeface="Calibri"/>
                <a:ea typeface="Calibri"/>
                <a:cs typeface="Calibri"/>
                <a:sym typeface="Calibri"/>
              </a:rPr>
              <a:t>Road cracks — Riyadh</a:t>
            </a:r>
            <a:endParaRPr b="0" i="0" sz="1250" u="none" cap="none" strike="noStrike">
              <a:solidFill>
                <a:schemeClr val="dk1"/>
              </a:solidFill>
              <a:latin typeface="Calibri"/>
              <a:ea typeface="Calibri"/>
              <a:cs typeface="Calibri"/>
              <a:sym typeface="Calibri"/>
            </a:endParaRPr>
          </a:p>
        </p:txBody>
      </p:sp>
      <p:sp>
        <p:nvSpPr>
          <p:cNvPr id="1986" name="Google Shape;1986;p70"/>
          <p:cNvSpPr/>
          <p:nvPr/>
        </p:nvSpPr>
        <p:spPr>
          <a:xfrm>
            <a:off x="6415888" y="1920240"/>
            <a:ext cx="5090008" cy="17145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5F6B7A"/>
              </a:buClr>
              <a:buSzPts val="1100"/>
              <a:buFont typeface="Calibri"/>
              <a:buNone/>
            </a:pPr>
            <a:r>
              <a:rPr b="0" i="0" lang="en-US" sz="1100" u="none" cap="none" strike="noStrike">
                <a:solidFill>
                  <a:srgbClr val="5F6B7A"/>
                </a:solidFill>
                <a:latin typeface="Calibri"/>
                <a:ea typeface="Calibri"/>
                <a:cs typeface="Calibri"/>
                <a:sym typeface="Calibri"/>
              </a:rPr>
              <a:t>Crack area from vehicle-mounted cameras; the contractor is paid per verified m² — masks are the invoice evidence.</a:t>
            </a:r>
            <a:endParaRPr b="0" i="0" sz="1100" u="none" cap="none" strike="noStrike">
              <a:solidFill>
                <a:schemeClr val="dk1"/>
              </a:solidFill>
              <a:latin typeface="Calibri"/>
              <a:ea typeface="Calibri"/>
              <a:cs typeface="Calibri"/>
              <a:sym typeface="Calibri"/>
            </a:endParaRPr>
          </a:p>
        </p:txBody>
      </p:sp>
      <p:sp>
        <p:nvSpPr>
          <p:cNvPr id="1987" name="Google Shape;1987;p70"/>
          <p:cNvSpPr/>
          <p:nvPr/>
        </p:nvSpPr>
        <p:spPr>
          <a:xfrm>
            <a:off x="502920" y="4000500"/>
            <a:ext cx="5455768" cy="2354580"/>
          </a:xfrm>
          <a:prstGeom prst="roundRect">
            <a:avLst>
              <a:gd fmla="val 3107" name="adj"/>
            </a:avLst>
          </a:prstGeom>
          <a:solidFill>
            <a:srgbClr val="F2F6F9"/>
          </a:solidFill>
          <a:ln cap="flat" cmpd="sng" w="12700">
            <a:solidFill>
              <a:srgbClr val="D9E2E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88" name="Google Shape;1988;p70"/>
          <p:cNvSpPr/>
          <p:nvPr/>
        </p:nvSpPr>
        <p:spPr>
          <a:xfrm>
            <a:off x="667512" y="4146804"/>
            <a:ext cx="310896" cy="310896"/>
          </a:xfrm>
          <a:prstGeom prst="ellipse">
            <a:avLst/>
          </a:prstGeom>
          <a:solidFill>
            <a:srgbClr val="F5822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89" name="Google Shape;1989;p70"/>
          <p:cNvSpPr/>
          <p:nvPr/>
        </p:nvSpPr>
        <p:spPr>
          <a:xfrm>
            <a:off x="667512" y="4146804"/>
            <a:ext cx="310896" cy="31089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200"/>
              <a:buFont typeface="Calibri"/>
              <a:buNone/>
            </a:pPr>
            <a:r>
              <a:rPr b="1" i="0" lang="en-US" sz="1200" u="none" cap="none" strike="noStrike">
                <a:solidFill>
                  <a:srgbClr val="FFFFFF"/>
                </a:solidFill>
                <a:latin typeface="Calibri"/>
                <a:ea typeface="Calibri"/>
                <a:cs typeface="Calibri"/>
                <a:sym typeface="Calibri"/>
              </a:rPr>
              <a:t>3</a:t>
            </a:r>
            <a:endParaRPr b="0" i="0" sz="1200" u="none" cap="none" strike="noStrike">
              <a:solidFill>
                <a:schemeClr val="dk1"/>
              </a:solidFill>
              <a:latin typeface="Calibri"/>
              <a:ea typeface="Calibri"/>
              <a:cs typeface="Calibri"/>
              <a:sym typeface="Calibri"/>
            </a:endParaRPr>
          </a:p>
        </p:txBody>
      </p:sp>
      <p:sp>
        <p:nvSpPr>
          <p:cNvPr id="1990" name="Google Shape;1990;p70"/>
          <p:cNvSpPr/>
          <p:nvPr/>
        </p:nvSpPr>
        <p:spPr>
          <a:xfrm>
            <a:off x="1088136" y="4110228"/>
            <a:ext cx="4724248" cy="38404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D2A5C"/>
              </a:buClr>
              <a:buSzPts val="1250"/>
              <a:buFont typeface="Calibri"/>
              <a:buNone/>
            </a:pPr>
            <a:r>
              <a:rPr b="1" i="0" lang="en-US" sz="1250" u="none" cap="none" strike="noStrike">
                <a:solidFill>
                  <a:srgbClr val="1D2A5C"/>
                </a:solidFill>
                <a:latin typeface="Calibri"/>
                <a:ea typeface="Calibri"/>
                <a:cs typeface="Calibri"/>
                <a:sym typeface="Calibri"/>
              </a:rPr>
              <a:t>Solar soiling — Sakaka</a:t>
            </a:r>
            <a:endParaRPr b="0" i="0" sz="1250" u="none" cap="none" strike="noStrike">
              <a:solidFill>
                <a:schemeClr val="dk1"/>
              </a:solidFill>
              <a:latin typeface="Calibri"/>
              <a:ea typeface="Calibri"/>
              <a:cs typeface="Calibri"/>
              <a:sym typeface="Calibri"/>
            </a:endParaRPr>
          </a:p>
        </p:txBody>
      </p:sp>
      <p:sp>
        <p:nvSpPr>
          <p:cNvPr id="1991" name="Google Shape;1991;p70"/>
          <p:cNvSpPr/>
          <p:nvPr/>
        </p:nvSpPr>
        <p:spPr>
          <a:xfrm>
            <a:off x="685800" y="4530852"/>
            <a:ext cx="5090008" cy="17145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5F6B7A"/>
              </a:buClr>
              <a:buSzPts val="1100"/>
              <a:buFont typeface="Calibri"/>
              <a:buNone/>
            </a:pPr>
            <a:r>
              <a:rPr b="0" i="0" lang="en-US" sz="1100" u="none" cap="none" strike="noStrike">
                <a:solidFill>
                  <a:srgbClr val="5F6B7A"/>
                </a:solidFill>
                <a:latin typeface="Calibri"/>
                <a:ea typeface="Calibri"/>
                <a:cs typeface="Calibri"/>
                <a:sym typeface="Calibri"/>
              </a:rPr>
              <a:t>Per-panel soiling fraction from drone sweeps triggers cleaning only where economically justified.</a:t>
            </a:r>
            <a:endParaRPr b="0" i="0" sz="1100" u="none" cap="none" strike="noStrike">
              <a:solidFill>
                <a:schemeClr val="dk1"/>
              </a:solidFill>
              <a:latin typeface="Calibri"/>
              <a:ea typeface="Calibri"/>
              <a:cs typeface="Calibri"/>
              <a:sym typeface="Calibri"/>
            </a:endParaRPr>
          </a:p>
        </p:txBody>
      </p:sp>
      <p:sp>
        <p:nvSpPr>
          <p:cNvPr id="1992" name="Google Shape;1992;p70"/>
          <p:cNvSpPr/>
          <p:nvPr/>
        </p:nvSpPr>
        <p:spPr>
          <a:xfrm>
            <a:off x="6233008" y="4000500"/>
            <a:ext cx="5455768" cy="2354580"/>
          </a:xfrm>
          <a:prstGeom prst="roundRect">
            <a:avLst>
              <a:gd fmla="val 3107" name="adj"/>
            </a:avLst>
          </a:prstGeom>
          <a:solidFill>
            <a:srgbClr val="F2F6F9"/>
          </a:solidFill>
          <a:ln cap="flat" cmpd="sng" w="12700">
            <a:solidFill>
              <a:srgbClr val="D9E2E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93" name="Google Shape;1993;p70"/>
          <p:cNvSpPr/>
          <p:nvPr/>
        </p:nvSpPr>
        <p:spPr>
          <a:xfrm>
            <a:off x="6397600" y="4146804"/>
            <a:ext cx="310896" cy="310896"/>
          </a:xfrm>
          <a:prstGeom prst="ellipse">
            <a:avLst/>
          </a:prstGeom>
          <a:solidFill>
            <a:srgbClr val="8DC63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94" name="Google Shape;1994;p70"/>
          <p:cNvSpPr/>
          <p:nvPr/>
        </p:nvSpPr>
        <p:spPr>
          <a:xfrm>
            <a:off x="6397600" y="4146804"/>
            <a:ext cx="310896" cy="31089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200"/>
              <a:buFont typeface="Calibri"/>
              <a:buNone/>
            </a:pPr>
            <a:r>
              <a:rPr b="1" i="0" lang="en-US" sz="1200" u="none" cap="none" strike="noStrike">
                <a:solidFill>
                  <a:srgbClr val="FFFFFF"/>
                </a:solidFill>
                <a:latin typeface="Calibri"/>
                <a:ea typeface="Calibri"/>
                <a:cs typeface="Calibri"/>
                <a:sym typeface="Calibri"/>
              </a:rPr>
              <a:t>4</a:t>
            </a:r>
            <a:endParaRPr b="0" i="0" sz="1200" u="none" cap="none" strike="noStrike">
              <a:solidFill>
                <a:schemeClr val="dk1"/>
              </a:solidFill>
              <a:latin typeface="Calibri"/>
              <a:ea typeface="Calibri"/>
              <a:cs typeface="Calibri"/>
              <a:sym typeface="Calibri"/>
            </a:endParaRPr>
          </a:p>
        </p:txBody>
      </p:sp>
      <p:sp>
        <p:nvSpPr>
          <p:cNvPr id="1995" name="Google Shape;1995;p70"/>
          <p:cNvSpPr/>
          <p:nvPr/>
        </p:nvSpPr>
        <p:spPr>
          <a:xfrm>
            <a:off x="6818224" y="4110228"/>
            <a:ext cx="4724248" cy="38404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D2A5C"/>
              </a:buClr>
              <a:buSzPts val="1250"/>
              <a:buFont typeface="Calibri"/>
              <a:buNone/>
            </a:pPr>
            <a:r>
              <a:rPr b="1" i="0" lang="en-US" sz="1250" u="none" cap="none" strike="noStrike">
                <a:solidFill>
                  <a:srgbClr val="1D2A5C"/>
                </a:solidFill>
                <a:latin typeface="Calibri"/>
                <a:ea typeface="Calibri"/>
                <a:cs typeface="Calibri"/>
                <a:sym typeface="Calibri"/>
              </a:rPr>
              <a:t>The common pattern</a:t>
            </a:r>
            <a:endParaRPr b="0" i="0" sz="1250" u="none" cap="none" strike="noStrike">
              <a:solidFill>
                <a:schemeClr val="dk1"/>
              </a:solidFill>
              <a:latin typeface="Calibri"/>
              <a:ea typeface="Calibri"/>
              <a:cs typeface="Calibri"/>
              <a:sym typeface="Calibri"/>
            </a:endParaRPr>
          </a:p>
        </p:txBody>
      </p:sp>
      <p:sp>
        <p:nvSpPr>
          <p:cNvPr id="1996" name="Google Shape;1996;p70"/>
          <p:cNvSpPr/>
          <p:nvPr/>
        </p:nvSpPr>
        <p:spPr>
          <a:xfrm>
            <a:off x="6415888" y="4530852"/>
            <a:ext cx="5090008" cy="17145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5F6B7A"/>
              </a:buClr>
              <a:buSzPts val="1100"/>
              <a:buFont typeface="Calibri"/>
              <a:buNone/>
            </a:pPr>
            <a:r>
              <a:rPr b="0" i="0" lang="en-US" sz="1100" u="none" cap="none" strike="noStrike">
                <a:solidFill>
                  <a:srgbClr val="5F6B7A"/>
                </a:solidFill>
                <a:latin typeface="Calibri"/>
                <a:ea typeface="Calibri"/>
                <a:cs typeface="Calibri"/>
                <a:sym typeface="Calibri"/>
              </a:rPr>
              <a:t>Grading standards, invoices and dosage all reference area. Only masks produce area — if the calibration is engineered.</a:t>
            </a:r>
            <a:endParaRPr b="0" i="0" sz="1100" u="none" cap="none" strike="noStrike">
              <a:solidFill>
                <a:schemeClr val="dk1"/>
              </a:solidFill>
              <a:latin typeface="Calibri"/>
              <a:ea typeface="Calibri"/>
              <a:cs typeface="Calibri"/>
              <a:sym typeface="Calibri"/>
            </a:endParaRPr>
          </a:p>
        </p:txBody>
      </p:sp>
    </p:spTree>
  </p:cSld>
  <p:clrMapOvr>
    <a:masterClrMapping/>
  </p:clrMapOvr>
</p:sld>
</file>

<file path=ppt/slides/slide7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001" name="Shape 2001"/>
        <p:cNvGrpSpPr/>
        <p:nvPr/>
      </p:nvGrpSpPr>
      <p:grpSpPr>
        <a:xfrm>
          <a:off x="0" y="0"/>
          <a:ext cx="0" cy="0"/>
          <a:chOff x="0" y="0"/>
          <a:chExt cx="0" cy="0"/>
        </a:xfrm>
      </p:grpSpPr>
      <p:sp>
        <p:nvSpPr>
          <p:cNvPr id="2002" name="Google Shape;2002;p71"/>
          <p:cNvSpPr/>
          <p:nvPr/>
        </p:nvSpPr>
        <p:spPr>
          <a:xfrm>
            <a:off x="502920" y="274320"/>
            <a:ext cx="9646920" cy="56692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D2A5C"/>
              </a:buClr>
              <a:buSzPts val="2700"/>
              <a:buFont typeface="Calibri"/>
              <a:buNone/>
            </a:pPr>
            <a:r>
              <a:rPr b="1" i="0" lang="en-US" sz="2700" u="none" cap="none" strike="noStrike">
                <a:solidFill>
                  <a:srgbClr val="1D2A5C"/>
                </a:solidFill>
                <a:latin typeface="Calibri"/>
                <a:ea typeface="Calibri"/>
                <a:cs typeface="Calibri"/>
                <a:sym typeface="Calibri"/>
              </a:rPr>
              <a:t>Module 4 Learning Objectives</a:t>
            </a:r>
            <a:endParaRPr b="0" i="0" sz="2700" u="none" cap="none" strike="noStrike">
              <a:solidFill>
                <a:schemeClr val="dk1"/>
              </a:solidFill>
              <a:latin typeface="Calibri"/>
              <a:ea typeface="Calibri"/>
              <a:cs typeface="Calibri"/>
              <a:sym typeface="Calibri"/>
            </a:endParaRPr>
          </a:p>
        </p:txBody>
      </p:sp>
      <p:sp>
        <p:nvSpPr>
          <p:cNvPr id="2003" name="Google Shape;2003;p71"/>
          <p:cNvSpPr/>
          <p:nvPr/>
        </p:nvSpPr>
        <p:spPr>
          <a:xfrm>
            <a:off x="502920" y="859536"/>
            <a:ext cx="9646920" cy="31089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F6B7A"/>
              </a:buClr>
              <a:buSzPts val="1250"/>
              <a:buFont typeface="Arial"/>
              <a:buNone/>
            </a:pPr>
            <a:r>
              <a:rPr b="0" i="0" lang="en-US" sz="1250" u="none" cap="none" strike="noStrike">
                <a:solidFill>
                  <a:srgbClr val="5F6B7A"/>
                </a:solidFill>
                <a:latin typeface="Arial"/>
                <a:ea typeface="Arial"/>
                <a:cs typeface="Arial"/>
                <a:sym typeface="Arial"/>
              </a:rPr>
              <a:t>أهداف التعلم للوحدة الرابعة</a:t>
            </a:r>
            <a:endParaRPr b="0" i="0" sz="1250" u="none" cap="none" strike="noStrike">
              <a:solidFill>
                <a:schemeClr val="dk1"/>
              </a:solidFill>
              <a:latin typeface="Calibri"/>
              <a:ea typeface="Calibri"/>
              <a:cs typeface="Calibri"/>
              <a:sym typeface="Calibri"/>
            </a:endParaRPr>
          </a:p>
        </p:txBody>
      </p:sp>
      <p:pic>
        <p:nvPicPr>
          <p:cNvPr descr="/sessions/blissful-determined-ritchie/build/assets/sdaia_logo.png" id="2004" name="Google Shape;2004;p71"/>
          <p:cNvPicPr preferRelativeResize="0"/>
          <p:nvPr/>
        </p:nvPicPr>
        <p:blipFill rotWithShape="1">
          <a:blip r:embed="rId3">
            <a:alphaModFix/>
          </a:blip>
          <a:srcRect b="0" l="0" r="0" t="0"/>
          <a:stretch/>
        </p:blipFill>
        <p:spPr>
          <a:xfrm>
            <a:off x="10625328" y="310896"/>
            <a:ext cx="1078992" cy="264111"/>
          </a:xfrm>
          <a:prstGeom prst="rect">
            <a:avLst/>
          </a:prstGeom>
          <a:noFill/>
          <a:ln>
            <a:noFill/>
          </a:ln>
        </p:spPr>
      </p:pic>
      <p:sp>
        <p:nvSpPr>
          <p:cNvPr id="2005" name="Google Shape;2005;p71"/>
          <p:cNvSpPr/>
          <p:nvPr/>
        </p:nvSpPr>
        <p:spPr>
          <a:xfrm>
            <a:off x="502920" y="6528816"/>
            <a:ext cx="8686800"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A79D"/>
              </a:buClr>
              <a:buSzPts val="800"/>
              <a:buFont typeface="Calibri"/>
              <a:buNone/>
            </a:pPr>
            <a:r>
              <a:rPr b="1" i="0" lang="en-US" sz="800" u="none" cap="none" strike="noStrike">
                <a:solidFill>
                  <a:srgbClr val="00A79D"/>
                </a:solidFill>
                <a:latin typeface="Calibri"/>
                <a:ea typeface="Calibri"/>
                <a:cs typeface="Calibri"/>
                <a:sym typeface="Calibri"/>
              </a:rPr>
              <a:t>MODULE 4   </a:t>
            </a:r>
            <a:r>
              <a:rPr b="0" i="0" lang="en-US" sz="800" u="none" cap="none" strike="noStrike">
                <a:solidFill>
                  <a:srgbClr val="8A96A6"/>
                </a:solidFill>
                <a:latin typeface="Calibri"/>
                <a:ea typeface="Calibri"/>
                <a:cs typeface="Calibri"/>
                <a:sym typeface="Calibri"/>
              </a:rPr>
              <a:t>SDA-AIE-212 · Computer Vision Systems Development</a:t>
            </a:r>
            <a:endParaRPr b="0" i="0" sz="800" u="none" cap="none" strike="noStrike">
              <a:solidFill>
                <a:schemeClr val="dk1"/>
              </a:solidFill>
              <a:latin typeface="Calibri"/>
              <a:ea typeface="Calibri"/>
              <a:cs typeface="Calibri"/>
              <a:sym typeface="Calibri"/>
            </a:endParaRPr>
          </a:p>
        </p:txBody>
      </p:sp>
      <p:sp>
        <p:nvSpPr>
          <p:cNvPr id="2006" name="Google Shape;2006;p71"/>
          <p:cNvSpPr/>
          <p:nvPr/>
        </p:nvSpPr>
        <p:spPr>
          <a:xfrm>
            <a:off x="11292840" y="6528816"/>
            <a:ext cx="411480" cy="219456"/>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8A96A6"/>
              </a:buClr>
              <a:buSzPts val="900"/>
              <a:buFont typeface="Calibri"/>
              <a:buNone/>
            </a:pPr>
            <a:r>
              <a:rPr b="0" i="0" lang="en-US" sz="900" u="none" cap="none" strike="noStrike">
                <a:solidFill>
                  <a:srgbClr val="8A96A6"/>
                </a:solidFill>
                <a:latin typeface="Calibri"/>
                <a:ea typeface="Calibri"/>
                <a:cs typeface="Calibri"/>
                <a:sym typeface="Calibri"/>
              </a:rPr>
              <a:t>71</a:t>
            </a:r>
            <a:endParaRPr b="0" i="0" sz="900" u="none" cap="none" strike="noStrike">
              <a:solidFill>
                <a:schemeClr val="dk1"/>
              </a:solidFill>
              <a:latin typeface="Calibri"/>
              <a:ea typeface="Calibri"/>
              <a:cs typeface="Calibri"/>
              <a:sym typeface="Calibri"/>
            </a:endParaRPr>
          </a:p>
        </p:txBody>
      </p:sp>
      <p:sp>
        <p:nvSpPr>
          <p:cNvPr id="2007" name="Google Shape;2007;p71"/>
          <p:cNvSpPr/>
          <p:nvPr/>
        </p:nvSpPr>
        <p:spPr>
          <a:xfrm>
            <a:off x="502920" y="1499616"/>
            <a:ext cx="11183112" cy="832104"/>
          </a:xfrm>
          <a:prstGeom prst="roundRect">
            <a:avLst>
              <a:gd fmla="val 7692" name="adj"/>
            </a:avLst>
          </a:prstGeom>
          <a:solidFill>
            <a:srgbClr val="FAFCFE"/>
          </a:solidFill>
          <a:ln cap="flat" cmpd="sng" w="9525">
            <a:solidFill>
              <a:srgbClr val="D9E2E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08" name="Google Shape;2008;p71"/>
          <p:cNvSpPr/>
          <p:nvPr/>
        </p:nvSpPr>
        <p:spPr>
          <a:xfrm>
            <a:off x="649224" y="1751076"/>
            <a:ext cx="329184" cy="329184"/>
          </a:xfrm>
          <a:prstGeom prst="ellipse">
            <a:avLst/>
          </a:prstGeom>
          <a:solidFill>
            <a:srgbClr val="00A79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09" name="Google Shape;2009;p71"/>
          <p:cNvSpPr/>
          <p:nvPr/>
        </p:nvSpPr>
        <p:spPr>
          <a:xfrm>
            <a:off x="649224" y="1751076"/>
            <a:ext cx="329184" cy="32918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150"/>
              <a:buFont typeface="Calibri"/>
              <a:buNone/>
            </a:pPr>
            <a:r>
              <a:rPr b="1" i="0" lang="en-US" sz="1150" u="none" cap="none" strike="noStrike">
                <a:solidFill>
                  <a:srgbClr val="FFFFFF"/>
                </a:solidFill>
                <a:latin typeface="Calibri"/>
                <a:ea typeface="Calibri"/>
                <a:cs typeface="Calibri"/>
                <a:sym typeface="Calibri"/>
              </a:rPr>
              <a:t>4.1</a:t>
            </a:r>
            <a:endParaRPr b="0" i="0" sz="1150" u="none" cap="none" strike="noStrike">
              <a:solidFill>
                <a:schemeClr val="dk1"/>
              </a:solidFill>
              <a:latin typeface="Calibri"/>
              <a:ea typeface="Calibri"/>
              <a:cs typeface="Calibri"/>
              <a:sym typeface="Calibri"/>
            </a:endParaRPr>
          </a:p>
        </p:txBody>
      </p:sp>
      <p:sp>
        <p:nvSpPr>
          <p:cNvPr id="2010" name="Google Shape;2010;p71"/>
          <p:cNvSpPr/>
          <p:nvPr/>
        </p:nvSpPr>
        <p:spPr>
          <a:xfrm>
            <a:off x="1143000" y="1499616"/>
            <a:ext cx="8321040" cy="83210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3293B"/>
              </a:buClr>
              <a:buSzPts val="1250"/>
              <a:buFont typeface="Calibri"/>
              <a:buNone/>
            </a:pPr>
            <a:r>
              <a:rPr b="0" i="0" lang="en-US" sz="1250" u="none" cap="none" strike="noStrike">
                <a:solidFill>
                  <a:srgbClr val="23293B"/>
                </a:solidFill>
                <a:latin typeface="Calibri"/>
                <a:ea typeface="Calibri"/>
                <a:cs typeface="Calibri"/>
                <a:sym typeface="Calibri"/>
              </a:rPr>
              <a:t>Select semantic vs instance vs panoptic from the business question and annotation budget</a:t>
            </a:r>
            <a:endParaRPr b="0" i="0" sz="1250" u="none" cap="none" strike="noStrike">
              <a:solidFill>
                <a:schemeClr val="dk1"/>
              </a:solidFill>
              <a:latin typeface="Calibri"/>
              <a:ea typeface="Calibri"/>
              <a:cs typeface="Calibri"/>
              <a:sym typeface="Calibri"/>
            </a:endParaRPr>
          </a:p>
        </p:txBody>
      </p:sp>
      <p:sp>
        <p:nvSpPr>
          <p:cNvPr id="2011" name="Google Shape;2011;p71"/>
          <p:cNvSpPr/>
          <p:nvPr/>
        </p:nvSpPr>
        <p:spPr>
          <a:xfrm>
            <a:off x="9646920" y="1741932"/>
            <a:ext cx="658368" cy="310896"/>
          </a:xfrm>
          <a:prstGeom prst="roundRect">
            <a:avLst>
              <a:gd fmla="val 50000" name="adj"/>
            </a:avLst>
          </a:prstGeom>
          <a:solidFill>
            <a:srgbClr val="E9F6F5"/>
          </a:solidFill>
          <a:ln cap="flat" cmpd="sng" w="9525">
            <a:solidFill>
              <a:srgbClr val="00A79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12" name="Google Shape;2012;p71"/>
          <p:cNvSpPr/>
          <p:nvPr/>
        </p:nvSpPr>
        <p:spPr>
          <a:xfrm>
            <a:off x="9646920" y="1741932"/>
            <a:ext cx="658368" cy="31089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56A63"/>
              </a:buClr>
              <a:buSzPts val="950"/>
              <a:buFont typeface="Calibri"/>
              <a:buNone/>
            </a:pPr>
            <a:r>
              <a:rPr b="1" i="0" lang="en-US" sz="950" u="none" cap="none" strike="noStrike">
                <a:solidFill>
                  <a:srgbClr val="056A63"/>
                </a:solidFill>
                <a:latin typeface="Calibri"/>
                <a:ea typeface="Calibri"/>
                <a:cs typeface="Calibri"/>
                <a:sym typeface="Calibri"/>
              </a:rPr>
              <a:t>LO2</a:t>
            </a:r>
            <a:endParaRPr b="0" i="0" sz="950" u="none" cap="none" strike="noStrike">
              <a:solidFill>
                <a:schemeClr val="dk1"/>
              </a:solidFill>
              <a:latin typeface="Calibri"/>
              <a:ea typeface="Calibri"/>
              <a:cs typeface="Calibri"/>
              <a:sym typeface="Calibri"/>
            </a:endParaRPr>
          </a:p>
        </p:txBody>
      </p:sp>
      <p:sp>
        <p:nvSpPr>
          <p:cNvPr id="2013" name="Google Shape;2013;p71"/>
          <p:cNvSpPr/>
          <p:nvPr/>
        </p:nvSpPr>
        <p:spPr>
          <a:xfrm>
            <a:off x="10360152" y="1741932"/>
            <a:ext cx="658368" cy="310896"/>
          </a:xfrm>
          <a:prstGeom prst="roundRect">
            <a:avLst>
              <a:gd fmla="val 50000" name="adj"/>
            </a:avLst>
          </a:prstGeom>
          <a:solidFill>
            <a:srgbClr val="E9F6F5"/>
          </a:solidFill>
          <a:ln cap="flat" cmpd="sng" w="9525">
            <a:solidFill>
              <a:srgbClr val="00A79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14" name="Google Shape;2014;p71"/>
          <p:cNvSpPr/>
          <p:nvPr/>
        </p:nvSpPr>
        <p:spPr>
          <a:xfrm>
            <a:off x="10360152" y="1741932"/>
            <a:ext cx="658368" cy="31089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56A63"/>
              </a:buClr>
              <a:buSzPts val="950"/>
              <a:buFont typeface="Calibri"/>
              <a:buNone/>
            </a:pPr>
            <a:r>
              <a:rPr b="1" i="0" lang="en-US" sz="950" u="none" cap="none" strike="noStrike">
                <a:solidFill>
                  <a:srgbClr val="056A63"/>
                </a:solidFill>
                <a:latin typeface="Calibri"/>
                <a:ea typeface="Calibri"/>
                <a:cs typeface="Calibri"/>
                <a:sym typeface="Calibri"/>
              </a:rPr>
              <a:t>LO3</a:t>
            </a:r>
            <a:endParaRPr b="0" i="0" sz="950" u="none" cap="none" strike="noStrike">
              <a:solidFill>
                <a:schemeClr val="dk1"/>
              </a:solidFill>
              <a:latin typeface="Calibri"/>
              <a:ea typeface="Calibri"/>
              <a:cs typeface="Calibri"/>
              <a:sym typeface="Calibri"/>
            </a:endParaRPr>
          </a:p>
        </p:txBody>
      </p:sp>
      <p:sp>
        <p:nvSpPr>
          <p:cNvPr id="2015" name="Google Shape;2015;p71"/>
          <p:cNvSpPr/>
          <p:nvPr/>
        </p:nvSpPr>
        <p:spPr>
          <a:xfrm>
            <a:off x="502920" y="2459736"/>
            <a:ext cx="11183112" cy="832104"/>
          </a:xfrm>
          <a:prstGeom prst="roundRect">
            <a:avLst>
              <a:gd fmla="val 7692" name="adj"/>
            </a:avLst>
          </a:prstGeom>
          <a:solidFill>
            <a:srgbClr val="F2F6F9"/>
          </a:solidFill>
          <a:ln cap="flat" cmpd="sng" w="9525">
            <a:solidFill>
              <a:srgbClr val="D9E2E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16" name="Google Shape;2016;p71"/>
          <p:cNvSpPr/>
          <p:nvPr/>
        </p:nvSpPr>
        <p:spPr>
          <a:xfrm>
            <a:off x="649224" y="2711196"/>
            <a:ext cx="329184" cy="329184"/>
          </a:xfrm>
          <a:prstGeom prst="ellipse">
            <a:avLst/>
          </a:prstGeom>
          <a:solidFill>
            <a:srgbClr val="00A79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17" name="Google Shape;2017;p71"/>
          <p:cNvSpPr/>
          <p:nvPr/>
        </p:nvSpPr>
        <p:spPr>
          <a:xfrm>
            <a:off x="649224" y="2711196"/>
            <a:ext cx="329184" cy="32918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150"/>
              <a:buFont typeface="Calibri"/>
              <a:buNone/>
            </a:pPr>
            <a:r>
              <a:rPr b="1" i="0" lang="en-US" sz="1150" u="none" cap="none" strike="noStrike">
                <a:solidFill>
                  <a:srgbClr val="FFFFFF"/>
                </a:solidFill>
                <a:latin typeface="Calibri"/>
                <a:ea typeface="Calibri"/>
                <a:cs typeface="Calibri"/>
                <a:sym typeface="Calibri"/>
              </a:rPr>
              <a:t>4.2</a:t>
            </a:r>
            <a:endParaRPr b="0" i="0" sz="1150" u="none" cap="none" strike="noStrike">
              <a:solidFill>
                <a:schemeClr val="dk1"/>
              </a:solidFill>
              <a:latin typeface="Calibri"/>
              <a:ea typeface="Calibri"/>
              <a:cs typeface="Calibri"/>
              <a:sym typeface="Calibri"/>
            </a:endParaRPr>
          </a:p>
        </p:txBody>
      </p:sp>
      <p:sp>
        <p:nvSpPr>
          <p:cNvPr id="2018" name="Google Shape;2018;p71"/>
          <p:cNvSpPr/>
          <p:nvPr/>
        </p:nvSpPr>
        <p:spPr>
          <a:xfrm>
            <a:off x="1143000" y="2459736"/>
            <a:ext cx="8321040" cy="83210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3293B"/>
              </a:buClr>
              <a:buSzPts val="1250"/>
              <a:buFont typeface="Calibri"/>
              <a:buNone/>
            </a:pPr>
            <a:r>
              <a:rPr b="0" i="0" lang="en-US" sz="1250" u="none" cap="none" strike="noStrike">
                <a:solidFill>
                  <a:srgbClr val="23293B"/>
                </a:solidFill>
                <a:latin typeface="Calibri"/>
                <a:ea typeface="Calibri"/>
                <a:cs typeface="Calibri"/>
                <a:sym typeface="Calibri"/>
              </a:rPr>
              <a:t>Explain encoder-decoder and mask-head architectures and their speed/quality trade-offs</a:t>
            </a:r>
            <a:endParaRPr b="0" i="0" sz="1250" u="none" cap="none" strike="noStrike">
              <a:solidFill>
                <a:schemeClr val="dk1"/>
              </a:solidFill>
              <a:latin typeface="Calibri"/>
              <a:ea typeface="Calibri"/>
              <a:cs typeface="Calibri"/>
              <a:sym typeface="Calibri"/>
            </a:endParaRPr>
          </a:p>
        </p:txBody>
      </p:sp>
      <p:sp>
        <p:nvSpPr>
          <p:cNvPr id="2019" name="Google Shape;2019;p71"/>
          <p:cNvSpPr/>
          <p:nvPr/>
        </p:nvSpPr>
        <p:spPr>
          <a:xfrm>
            <a:off x="9646920" y="2702052"/>
            <a:ext cx="658368" cy="310896"/>
          </a:xfrm>
          <a:prstGeom prst="roundRect">
            <a:avLst>
              <a:gd fmla="val 50000" name="adj"/>
            </a:avLst>
          </a:prstGeom>
          <a:solidFill>
            <a:srgbClr val="E9F6F5"/>
          </a:solidFill>
          <a:ln cap="flat" cmpd="sng" w="9525">
            <a:solidFill>
              <a:srgbClr val="00A79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20" name="Google Shape;2020;p71"/>
          <p:cNvSpPr/>
          <p:nvPr/>
        </p:nvSpPr>
        <p:spPr>
          <a:xfrm>
            <a:off x="9646920" y="2702052"/>
            <a:ext cx="658368" cy="31089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56A63"/>
              </a:buClr>
              <a:buSzPts val="950"/>
              <a:buFont typeface="Calibri"/>
              <a:buNone/>
            </a:pPr>
            <a:r>
              <a:rPr b="1" i="0" lang="en-US" sz="950" u="none" cap="none" strike="noStrike">
                <a:solidFill>
                  <a:srgbClr val="056A63"/>
                </a:solidFill>
                <a:latin typeface="Calibri"/>
                <a:ea typeface="Calibri"/>
                <a:cs typeface="Calibri"/>
                <a:sym typeface="Calibri"/>
              </a:rPr>
              <a:t>LO2</a:t>
            </a:r>
            <a:endParaRPr b="0" i="0" sz="950" u="none" cap="none" strike="noStrike">
              <a:solidFill>
                <a:schemeClr val="dk1"/>
              </a:solidFill>
              <a:latin typeface="Calibri"/>
              <a:ea typeface="Calibri"/>
              <a:cs typeface="Calibri"/>
              <a:sym typeface="Calibri"/>
            </a:endParaRPr>
          </a:p>
        </p:txBody>
      </p:sp>
      <p:sp>
        <p:nvSpPr>
          <p:cNvPr id="2021" name="Google Shape;2021;p71"/>
          <p:cNvSpPr/>
          <p:nvPr/>
        </p:nvSpPr>
        <p:spPr>
          <a:xfrm>
            <a:off x="502920" y="3419856"/>
            <a:ext cx="11183112" cy="832104"/>
          </a:xfrm>
          <a:prstGeom prst="roundRect">
            <a:avLst>
              <a:gd fmla="val 7692" name="adj"/>
            </a:avLst>
          </a:prstGeom>
          <a:solidFill>
            <a:srgbClr val="FAFCFE"/>
          </a:solidFill>
          <a:ln cap="flat" cmpd="sng" w="9525">
            <a:solidFill>
              <a:srgbClr val="D9E2E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22" name="Google Shape;2022;p71"/>
          <p:cNvSpPr/>
          <p:nvPr/>
        </p:nvSpPr>
        <p:spPr>
          <a:xfrm>
            <a:off x="649224" y="3671316"/>
            <a:ext cx="329184" cy="329184"/>
          </a:xfrm>
          <a:prstGeom prst="ellipse">
            <a:avLst/>
          </a:prstGeom>
          <a:solidFill>
            <a:srgbClr val="00A79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23" name="Google Shape;2023;p71"/>
          <p:cNvSpPr/>
          <p:nvPr/>
        </p:nvSpPr>
        <p:spPr>
          <a:xfrm>
            <a:off x="649224" y="3671316"/>
            <a:ext cx="329184" cy="32918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150"/>
              <a:buFont typeface="Calibri"/>
              <a:buNone/>
            </a:pPr>
            <a:r>
              <a:rPr b="1" i="0" lang="en-US" sz="1150" u="none" cap="none" strike="noStrike">
                <a:solidFill>
                  <a:srgbClr val="FFFFFF"/>
                </a:solidFill>
                <a:latin typeface="Calibri"/>
                <a:ea typeface="Calibri"/>
                <a:cs typeface="Calibri"/>
                <a:sym typeface="Calibri"/>
              </a:rPr>
              <a:t>4.3</a:t>
            </a:r>
            <a:endParaRPr b="0" i="0" sz="1150" u="none" cap="none" strike="noStrike">
              <a:solidFill>
                <a:schemeClr val="dk1"/>
              </a:solidFill>
              <a:latin typeface="Calibri"/>
              <a:ea typeface="Calibri"/>
              <a:cs typeface="Calibri"/>
              <a:sym typeface="Calibri"/>
            </a:endParaRPr>
          </a:p>
        </p:txBody>
      </p:sp>
      <p:sp>
        <p:nvSpPr>
          <p:cNvPr id="2024" name="Google Shape;2024;p71"/>
          <p:cNvSpPr/>
          <p:nvPr/>
        </p:nvSpPr>
        <p:spPr>
          <a:xfrm>
            <a:off x="1143000" y="3419856"/>
            <a:ext cx="8321040" cy="83210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3293B"/>
              </a:buClr>
              <a:buSzPts val="1250"/>
              <a:buFont typeface="Calibri"/>
              <a:buNone/>
            </a:pPr>
            <a:r>
              <a:rPr b="0" i="0" lang="en-US" sz="1250" u="none" cap="none" strike="noStrike">
                <a:solidFill>
                  <a:srgbClr val="23293B"/>
                </a:solidFill>
                <a:latin typeface="Calibri"/>
                <a:ea typeface="Calibri"/>
                <a:cs typeface="Calibri"/>
                <a:sym typeface="Calibri"/>
              </a:rPr>
              <a:t>Train an instance segmentation model (YOLO11s-seg) on custom polygon annotations</a:t>
            </a:r>
            <a:endParaRPr b="0" i="0" sz="1250" u="none" cap="none" strike="noStrike">
              <a:solidFill>
                <a:schemeClr val="dk1"/>
              </a:solidFill>
              <a:latin typeface="Calibri"/>
              <a:ea typeface="Calibri"/>
              <a:cs typeface="Calibri"/>
              <a:sym typeface="Calibri"/>
            </a:endParaRPr>
          </a:p>
        </p:txBody>
      </p:sp>
      <p:sp>
        <p:nvSpPr>
          <p:cNvPr id="2025" name="Google Shape;2025;p71"/>
          <p:cNvSpPr/>
          <p:nvPr/>
        </p:nvSpPr>
        <p:spPr>
          <a:xfrm>
            <a:off x="9646920" y="3662172"/>
            <a:ext cx="658368" cy="310896"/>
          </a:xfrm>
          <a:prstGeom prst="roundRect">
            <a:avLst>
              <a:gd fmla="val 50000" name="adj"/>
            </a:avLst>
          </a:prstGeom>
          <a:solidFill>
            <a:srgbClr val="E9F6F5"/>
          </a:solidFill>
          <a:ln cap="flat" cmpd="sng" w="9525">
            <a:solidFill>
              <a:srgbClr val="00A79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26" name="Google Shape;2026;p71"/>
          <p:cNvSpPr/>
          <p:nvPr/>
        </p:nvSpPr>
        <p:spPr>
          <a:xfrm>
            <a:off x="9646920" y="3662172"/>
            <a:ext cx="658368" cy="31089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56A63"/>
              </a:buClr>
              <a:buSzPts val="950"/>
              <a:buFont typeface="Calibri"/>
              <a:buNone/>
            </a:pPr>
            <a:r>
              <a:rPr b="1" i="0" lang="en-US" sz="950" u="none" cap="none" strike="noStrike">
                <a:solidFill>
                  <a:srgbClr val="056A63"/>
                </a:solidFill>
                <a:latin typeface="Calibri"/>
                <a:ea typeface="Calibri"/>
                <a:cs typeface="Calibri"/>
                <a:sym typeface="Calibri"/>
              </a:rPr>
              <a:t>LO2</a:t>
            </a:r>
            <a:endParaRPr b="0" i="0" sz="950" u="none" cap="none" strike="noStrike">
              <a:solidFill>
                <a:schemeClr val="dk1"/>
              </a:solidFill>
              <a:latin typeface="Calibri"/>
              <a:ea typeface="Calibri"/>
              <a:cs typeface="Calibri"/>
              <a:sym typeface="Calibri"/>
            </a:endParaRPr>
          </a:p>
        </p:txBody>
      </p:sp>
      <p:sp>
        <p:nvSpPr>
          <p:cNvPr id="2027" name="Google Shape;2027;p71"/>
          <p:cNvSpPr/>
          <p:nvPr/>
        </p:nvSpPr>
        <p:spPr>
          <a:xfrm>
            <a:off x="10360152" y="3662172"/>
            <a:ext cx="658368" cy="310896"/>
          </a:xfrm>
          <a:prstGeom prst="roundRect">
            <a:avLst>
              <a:gd fmla="val 50000" name="adj"/>
            </a:avLst>
          </a:prstGeom>
          <a:solidFill>
            <a:srgbClr val="E9F6F5"/>
          </a:solidFill>
          <a:ln cap="flat" cmpd="sng" w="9525">
            <a:solidFill>
              <a:srgbClr val="00A79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28" name="Google Shape;2028;p71"/>
          <p:cNvSpPr/>
          <p:nvPr/>
        </p:nvSpPr>
        <p:spPr>
          <a:xfrm>
            <a:off x="10360152" y="3662172"/>
            <a:ext cx="658368" cy="31089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56A63"/>
              </a:buClr>
              <a:buSzPts val="950"/>
              <a:buFont typeface="Calibri"/>
              <a:buNone/>
            </a:pPr>
            <a:r>
              <a:rPr b="1" i="0" lang="en-US" sz="950" u="none" cap="none" strike="noStrike">
                <a:solidFill>
                  <a:srgbClr val="056A63"/>
                </a:solidFill>
                <a:latin typeface="Calibri"/>
                <a:ea typeface="Calibri"/>
                <a:cs typeface="Calibri"/>
                <a:sym typeface="Calibri"/>
              </a:rPr>
              <a:t>LO4</a:t>
            </a:r>
            <a:endParaRPr b="0" i="0" sz="950" u="none" cap="none" strike="noStrike">
              <a:solidFill>
                <a:schemeClr val="dk1"/>
              </a:solidFill>
              <a:latin typeface="Calibri"/>
              <a:ea typeface="Calibri"/>
              <a:cs typeface="Calibri"/>
              <a:sym typeface="Calibri"/>
            </a:endParaRPr>
          </a:p>
        </p:txBody>
      </p:sp>
      <p:sp>
        <p:nvSpPr>
          <p:cNvPr id="2029" name="Google Shape;2029;p71"/>
          <p:cNvSpPr/>
          <p:nvPr/>
        </p:nvSpPr>
        <p:spPr>
          <a:xfrm>
            <a:off x="502920" y="4379976"/>
            <a:ext cx="11183112" cy="832104"/>
          </a:xfrm>
          <a:prstGeom prst="roundRect">
            <a:avLst>
              <a:gd fmla="val 7692" name="adj"/>
            </a:avLst>
          </a:prstGeom>
          <a:solidFill>
            <a:srgbClr val="F2F6F9"/>
          </a:solidFill>
          <a:ln cap="flat" cmpd="sng" w="9525">
            <a:solidFill>
              <a:srgbClr val="D9E2E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30" name="Google Shape;2030;p71"/>
          <p:cNvSpPr/>
          <p:nvPr/>
        </p:nvSpPr>
        <p:spPr>
          <a:xfrm>
            <a:off x="649224" y="4631436"/>
            <a:ext cx="329184" cy="329184"/>
          </a:xfrm>
          <a:prstGeom prst="ellipse">
            <a:avLst/>
          </a:prstGeom>
          <a:solidFill>
            <a:srgbClr val="00A79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31" name="Google Shape;2031;p71"/>
          <p:cNvSpPr/>
          <p:nvPr/>
        </p:nvSpPr>
        <p:spPr>
          <a:xfrm>
            <a:off x="649224" y="4631436"/>
            <a:ext cx="329184" cy="32918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150"/>
              <a:buFont typeface="Calibri"/>
              <a:buNone/>
            </a:pPr>
            <a:r>
              <a:rPr b="1" i="0" lang="en-US" sz="1150" u="none" cap="none" strike="noStrike">
                <a:solidFill>
                  <a:srgbClr val="FFFFFF"/>
                </a:solidFill>
                <a:latin typeface="Calibri"/>
                <a:ea typeface="Calibri"/>
                <a:cs typeface="Calibri"/>
                <a:sym typeface="Calibri"/>
              </a:rPr>
              <a:t>4.4</a:t>
            </a:r>
            <a:endParaRPr b="0" i="0" sz="1150" u="none" cap="none" strike="noStrike">
              <a:solidFill>
                <a:schemeClr val="dk1"/>
              </a:solidFill>
              <a:latin typeface="Calibri"/>
              <a:ea typeface="Calibri"/>
              <a:cs typeface="Calibri"/>
              <a:sym typeface="Calibri"/>
            </a:endParaRPr>
          </a:p>
        </p:txBody>
      </p:sp>
      <p:sp>
        <p:nvSpPr>
          <p:cNvPr id="2032" name="Google Shape;2032;p71"/>
          <p:cNvSpPr/>
          <p:nvPr/>
        </p:nvSpPr>
        <p:spPr>
          <a:xfrm>
            <a:off x="1143000" y="4379976"/>
            <a:ext cx="8321040" cy="83210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3293B"/>
              </a:buClr>
              <a:buSzPts val="1250"/>
              <a:buFont typeface="Calibri"/>
              <a:buNone/>
            </a:pPr>
            <a:r>
              <a:rPr b="0" i="0" lang="en-US" sz="1250" u="none" cap="none" strike="noStrike">
                <a:solidFill>
                  <a:srgbClr val="23293B"/>
                </a:solidFill>
                <a:latin typeface="Calibri"/>
                <a:ea typeface="Calibri"/>
                <a:cs typeface="Calibri"/>
                <a:sym typeface="Calibri"/>
              </a:rPr>
              <a:t>Evaluate masks with mIoU and mask mAP; diagnose boundary vs region errors</a:t>
            </a:r>
            <a:endParaRPr b="0" i="0" sz="1250" u="none" cap="none" strike="noStrike">
              <a:solidFill>
                <a:schemeClr val="dk1"/>
              </a:solidFill>
              <a:latin typeface="Calibri"/>
              <a:ea typeface="Calibri"/>
              <a:cs typeface="Calibri"/>
              <a:sym typeface="Calibri"/>
            </a:endParaRPr>
          </a:p>
        </p:txBody>
      </p:sp>
      <p:sp>
        <p:nvSpPr>
          <p:cNvPr id="2033" name="Google Shape;2033;p71"/>
          <p:cNvSpPr/>
          <p:nvPr/>
        </p:nvSpPr>
        <p:spPr>
          <a:xfrm>
            <a:off x="9646920" y="4622292"/>
            <a:ext cx="658368" cy="310896"/>
          </a:xfrm>
          <a:prstGeom prst="roundRect">
            <a:avLst>
              <a:gd fmla="val 50000" name="adj"/>
            </a:avLst>
          </a:prstGeom>
          <a:solidFill>
            <a:srgbClr val="E9F6F5"/>
          </a:solidFill>
          <a:ln cap="flat" cmpd="sng" w="9525">
            <a:solidFill>
              <a:srgbClr val="00A79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34" name="Google Shape;2034;p71"/>
          <p:cNvSpPr/>
          <p:nvPr/>
        </p:nvSpPr>
        <p:spPr>
          <a:xfrm>
            <a:off x="9646920" y="4622292"/>
            <a:ext cx="658368" cy="31089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56A63"/>
              </a:buClr>
              <a:buSzPts val="950"/>
              <a:buFont typeface="Calibri"/>
              <a:buNone/>
            </a:pPr>
            <a:r>
              <a:rPr b="1" i="0" lang="en-US" sz="950" u="none" cap="none" strike="noStrike">
                <a:solidFill>
                  <a:srgbClr val="056A63"/>
                </a:solidFill>
                <a:latin typeface="Calibri"/>
                <a:ea typeface="Calibri"/>
                <a:cs typeface="Calibri"/>
                <a:sym typeface="Calibri"/>
              </a:rPr>
              <a:t>LO5</a:t>
            </a:r>
            <a:endParaRPr b="0" i="0" sz="950" u="none" cap="none" strike="noStrike">
              <a:solidFill>
                <a:schemeClr val="dk1"/>
              </a:solidFill>
              <a:latin typeface="Calibri"/>
              <a:ea typeface="Calibri"/>
              <a:cs typeface="Calibri"/>
              <a:sym typeface="Calibri"/>
            </a:endParaRPr>
          </a:p>
        </p:txBody>
      </p:sp>
      <p:sp>
        <p:nvSpPr>
          <p:cNvPr id="2035" name="Google Shape;2035;p71"/>
          <p:cNvSpPr/>
          <p:nvPr/>
        </p:nvSpPr>
        <p:spPr>
          <a:xfrm>
            <a:off x="502920" y="5340096"/>
            <a:ext cx="11183112" cy="832104"/>
          </a:xfrm>
          <a:prstGeom prst="roundRect">
            <a:avLst>
              <a:gd fmla="val 7692" name="adj"/>
            </a:avLst>
          </a:prstGeom>
          <a:solidFill>
            <a:srgbClr val="FAFCFE"/>
          </a:solidFill>
          <a:ln cap="flat" cmpd="sng" w="9525">
            <a:solidFill>
              <a:srgbClr val="D9E2E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36" name="Google Shape;2036;p71"/>
          <p:cNvSpPr/>
          <p:nvPr/>
        </p:nvSpPr>
        <p:spPr>
          <a:xfrm>
            <a:off x="649224" y="5591556"/>
            <a:ext cx="329184" cy="329184"/>
          </a:xfrm>
          <a:prstGeom prst="ellipse">
            <a:avLst/>
          </a:prstGeom>
          <a:solidFill>
            <a:srgbClr val="00A79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37" name="Google Shape;2037;p71"/>
          <p:cNvSpPr/>
          <p:nvPr/>
        </p:nvSpPr>
        <p:spPr>
          <a:xfrm>
            <a:off x="649224" y="5591556"/>
            <a:ext cx="329184" cy="32918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150"/>
              <a:buFont typeface="Calibri"/>
              <a:buNone/>
            </a:pPr>
            <a:r>
              <a:rPr b="1" i="0" lang="en-US" sz="1150" u="none" cap="none" strike="noStrike">
                <a:solidFill>
                  <a:srgbClr val="FFFFFF"/>
                </a:solidFill>
                <a:latin typeface="Calibri"/>
                <a:ea typeface="Calibri"/>
                <a:cs typeface="Calibri"/>
                <a:sym typeface="Calibri"/>
              </a:rPr>
              <a:t>4.5</a:t>
            </a:r>
            <a:endParaRPr b="0" i="0" sz="1150" u="none" cap="none" strike="noStrike">
              <a:solidFill>
                <a:schemeClr val="dk1"/>
              </a:solidFill>
              <a:latin typeface="Calibri"/>
              <a:ea typeface="Calibri"/>
              <a:cs typeface="Calibri"/>
              <a:sym typeface="Calibri"/>
            </a:endParaRPr>
          </a:p>
        </p:txBody>
      </p:sp>
      <p:sp>
        <p:nvSpPr>
          <p:cNvPr id="2038" name="Google Shape;2038;p71"/>
          <p:cNvSpPr/>
          <p:nvPr/>
        </p:nvSpPr>
        <p:spPr>
          <a:xfrm>
            <a:off x="1143000" y="5340096"/>
            <a:ext cx="8321040" cy="83210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3293B"/>
              </a:buClr>
              <a:buSzPts val="1250"/>
              <a:buFont typeface="Calibri"/>
              <a:buNone/>
            </a:pPr>
            <a:r>
              <a:rPr b="0" i="0" lang="en-US" sz="1250" u="none" cap="none" strike="noStrike">
                <a:solidFill>
                  <a:srgbClr val="23293B"/>
                </a:solidFill>
                <a:latin typeface="Calibri"/>
                <a:ea typeface="Calibri"/>
                <a:cs typeface="Calibri"/>
                <a:sym typeface="Calibri"/>
              </a:rPr>
              <a:t>Convert masks into calibrated real-world measurements with documented assumptions</a:t>
            </a:r>
            <a:endParaRPr b="0" i="0" sz="1250" u="none" cap="none" strike="noStrike">
              <a:solidFill>
                <a:schemeClr val="dk1"/>
              </a:solidFill>
              <a:latin typeface="Calibri"/>
              <a:ea typeface="Calibri"/>
              <a:cs typeface="Calibri"/>
              <a:sym typeface="Calibri"/>
            </a:endParaRPr>
          </a:p>
        </p:txBody>
      </p:sp>
      <p:sp>
        <p:nvSpPr>
          <p:cNvPr id="2039" name="Google Shape;2039;p71"/>
          <p:cNvSpPr/>
          <p:nvPr/>
        </p:nvSpPr>
        <p:spPr>
          <a:xfrm>
            <a:off x="9646920" y="5582412"/>
            <a:ext cx="658368" cy="310896"/>
          </a:xfrm>
          <a:prstGeom prst="roundRect">
            <a:avLst>
              <a:gd fmla="val 50000" name="adj"/>
            </a:avLst>
          </a:prstGeom>
          <a:solidFill>
            <a:srgbClr val="E9F6F5"/>
          </a:solidFill>
          <a:ln cap="flat" cmpd="sng" w="9525">
            <a:solidFill>
              <a:srgbClr val="00A79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40" name="Google Shape;2040;p71"/>
          <p:cNvSpPr/>
          <p:nvPr/>
        </p:nvSpPr>
        <p:spPr>
          <a:xfrm>
            <a:off x="9646920" y="5582412"/>
            <a:ext cx="658368" cy="31089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56A63"/>
              </a:buClr>
              <a:buSzPts val="950"/>
              <a:buFont typeface="Calibri"/>
              <a:buNone/>
            </a:pPr>
            <a:r>
              <a:rPr b="1" i="0" lang="en-US" sz="950" u="none" cap="none" strike="noStrike">
                <a:solidFill>
                  <a:srgbClr val="056A63"/>
                </a:solidFill>
                <a:latin typeface="Calibri"/>
                <a:ea typeface="Calibri"/>
                <a:cs typeface="Calibri"/>
                <a:sym typeface="Calibri"/>
              </a:rPr>
              <a:t>LO2</a:t>
            </a:r>
            <a:endParaRPr b="0" i="0" sz="950" u="none" cap="none" strike="noStrike">
              <a:solidFill>
                <a:schemeClr val="dk1"/>
              </a:solidFill>
              <a:latin typeface="Calibri"/>
              <a:ea typeface="Calibri"/>
              <a:cs typeface="Calibri"/>
              <a:sym typeface="Calibri"/>
            </a:endParaRPr>
          </a:p>
        </p:txBody>
      </p:sp>
      <p:sp>
        <p:nvSpPr>
          <p:cNvPr id="2041" name="Google Shape;2041;p71"/>
          <p:cNvSpPr/>
          <p:nvPr/>
        </p:nvSpPr>
        <p:spPr>
          <a:xfrm>
            <a:off x="10360152" y="5582412"/>
            <a:ext cx="658368" cy="310896"/>
          </a:xfrm>
          <a:prstGeom prst="roundRect">
            <a:avLst>
              <a:gd fmla="val 50000" name="adj"/>
            </a:avLst>
          </a:prstGeom>
          <a:solidFill>
            <a:srgbClr val="E9F6F5"/>
          </a:solidFill>
          <a:ln cap="flat" cmpd="sng" w="9525">
            <a:solidFill>
              <a:srgbClr val="00A79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42" name="Google Shape;2042;p71"/>
          <p:cNvSpPr/>
          <p:nvPr/>
        </p:nvSpPr>
        <p:spPr>
          <a:xfrm>
            <a:off x="10360152" y="5582412"/>
            <a:ext cx="658368" cy="31089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56A63"/>
              </a:buClr>
              <a:buSzPts val="950"/>
              <a:buFont typeface="Calibri"/>
              <a:buNone/>
            </a:pPr>
            <a:r>
              <a:rPr b="1" i="0" lang="en-US" sz="950" u="none" cap="none" strike="noStrike">
                <a:solidFill>
                  <a:srgbClr val="056A63"/>
                </a:solidFill>
                <a:latin typeface="Calibri"/>
                <a:ea typeface="Calibri"/>
                <a:cs typeface="Calibri"/>
                <a:sym typeface="Calibri"/>
              </a:rPr>
              <a:t>LO6</a:t>
            </a:r>
            <a:endParaRPr b="0" i="0" sz="950" u="none" cap="none" strike="noStrike">
              <a:solidFill>
                <a:schemeClr val="dk1"/>
              </a:solidFill>
              <a:latin typeface="Calibri"/>
              <a:ea typeface="Calibri"/>
              <a:cs typeface="Calibri"/>
              <a:sym typeface="Calibri"/>
            </a:endParaRPr>
          </a:p>
        </p:txBody>
      </p:sp>
    </p:spTree>
  </p:cSld>
  <p:clrMapOvr>
    <a:masterClrMapping/>
  </p:clrMapOvr>
</p:sld>
</file>

<file path=ppt/slides/slide7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047" name="Shape 2047"/>
        <p:cNvGrpSpPr/>
        <p:nvPr/>
      </p:nvGrpSpPr>
      <p:grpSpPr>
        <a:xfrm>
          <a:off x="0" y="0"/>
          <a:ext cx="0" cy="0"/>
          <a:chOff x="0" y="0"/>
          <a:chExt cx="0" cy="0"/>
        </a:xfrm>
      </p:grpSpPr>
      <p:sp>
        <p:nvSpPr>
          <p:cNvPr id="2048" name="Google Shape;2048;p72"/>
          <p:cNvSpPr/>
          <p:nvPr/>
        </p:nvSpPr>
        <p:spPr>
          <a:xfrm>
            <a:off x="502920" y="274320"/>
            <a:ext cx="9646920" cy="56692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D2A5C"/>
              </a:buClr>
              <a:buSzPts val="2700"/>
              <a:buFont typeface="Calibri"/>
              <a:buNone/>
            </a:pPr>
            <a:r>
              <a:rPr b="1" i="0" lang="en-US" sz="2700" u="none" cap="none" strike="noStrike">
                <a:solidFill>
                  <a:srgbClr val="1D2A5C"/>
                </a:solidFill>
                <a:latin typeface="Calibri"/>
                <a:ea typeface="Calibri"/>
                <a:cs typeface="Calibri"/>
                <a:sym typeface="Calibri"/>
              </a:rPr>
              <a:t>Three Tasks, One Word</a:t>
            </a:r>
            <a:endParaRPr b="0" i="0" sz="2700" u="none" cap="none" strike="noStrike">
              <a:solidFill>
                <a:schemeClr val="dk1"/>
              </a:solidFill>
              <a:latin typeface="Calibri"/>
              <a:ea typeface="Calibri"/>
              <a:cs typeface="Calibri"/>
              <a:sym typeface="Calibri"/>
            </a:endParaRPr>
          </a:p>
        </p:txBody>
      </p:sp>
      <p:sp>
        <p:nvSpPr>
          <p:cNvPr id="2049" name="Google Shape;2049;p72"/>
          <p:cNvSpPr/>
          <p:nvPr/>
        </p:nvSpPr>
        <p:spPr>
          <a:xfrm>
            <a:off x="502920" y="859536"/>
            <a:ext cx="9646920" cy="31089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F6B7A"/>
              </a:buClr>
              <a:buSzPts val="1250"/>
              <a:buFont typeface="Arial"/>
              <a:buNone/>
            </a:pPr>
            <a:r>
              <a:rPr b="0" i="0" lang="en-US" sz="1250" u="none" cap="none" strike="noStrike">
                <a:solidFill>
                  <a:srgbClr val="5F6B7A"/>
                </a:solidFill>
                <a:latin typeface="Arial"/>
                <a:ea typeface="Arial"/>
                <a:cs typeface="Arial"/>
                <a:sym typeface="Arial"/>
              </a:rPr>
              <a:t>ثلاث مهام بكلمة واحدة</a:t>
            </a:r>
            <a:endParaRPr b="0" i="0" sz="1250" u="none" cap="none" strike="noStrike">
              <a:solidFill>
                <a:schemeClr val="dk1"/>
              </a:solidFill>
              <a:latin typeface="Calibri"/>
              <a:ea typeface="Calibri"/>
              <a:cs typeface="Calibri"/>
              <a:sym typeface="Calibri"/>
            </a:endParaRPr>
          </a:p>
        </p:txBody>
      </p:sp>
      <p:pic>
        <p:nvPicPr>
          <p:cNvPr descr="/sessions/blissful-determined-ritchie/build/assets/sdaia_logo.png" id="2050" name="Google Shape;2050;p72"/>
          <p:cNvPicPr preferRelativeResize="0"/>
          <p:nvPr/>
        </p:nvPicPr>
        <p:blipFill rotWithShape="1">
          <a:blip r:embed="rId3">
            <a:alphaModFix/>
          </a:blip>
          <a:srcRect b="0" l="0" r="0" t="0"/>
          <a:stretch/>
        </p:blipFill>
        <p:spPr>
          <a:xfrm>
            <a:off x="10625328" y="310896"/>
            <a:ext cx="1078992" cy="264111"/>
          </a:xfrm>
          <a:prstGeom prst="rect">
            <a:avLst/>
          </a:prstGeom>
          <a:noFill/>
          <a:ln>
            <a:noFill/>
          </a:ln>
        </p:spPr>
      </p:pic>
      <p:sp>
        <p:nvSpPr>
          <p:cNvPr id="2051" name="Google Shape;2051;p72"/>
          <p:cNvSpPr/>
          <p:nvPr/>
        </p:nvSpPr>
        <p:spPr>
          <a:xfrm>
            <a:off x="502920" y="6528816"/>
            <a:ext cx="8686800"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A79D"/>
              </a:buClr>
              <a:buSzPts val="800"/>
              <a:buFont typeface="Calibri"/>
              <a:buNone/>
            </a:pPr>
            <a:r>
              <a:rPr b="1" i="0" lang="en-US" sz="800" u="none" cap="none" strike="noStrike">
                <a:solidFill>
                  <a:srgbClr val="00A79D"/>
                </a:solidFill>
                <a:latin typeface="Calibri"/>
                <a:ea typeface="Calibri"/>
                <a:cs typeface="Calibri"/>
                <a:sym typeface="Calibri"/>
              </a:rPr>
              <a:t>MODULE 4   </a:t>
            </a:r>
            <a:r>
              <a:rPr b="0" i="0" lang="en-US" sz="800" u="none" cap="none" strike="noStrike">
                <a:solidFill>
                  <a:srgbClr val="8A96A6"/>
                </a:solidFill>
                <a:latin typeface="Calibri"/>
                <a:ea typeface="Calibri"/>
                <a:cs typeface="Calibri"/>
                <a:sym typeface="Calibri"/>
              </a:rPr>
              <a:t>SDA-AIE-212 · Computer Vision Systems Development</a:t>
            </a:r>
            <a:endParaRPr b="0" i="0" sz="800" u="none" cap="none" strike="noStrike">
              <a:solidFill>
                <a:schemeClr val="dk1"/>
              </a:solidFill>
              <a:latin typeface="Calibri"/>
              <a:ea typeface="Calibri"/>
              <a:cs typeface="Calibri"/>
              <a:sym typeface="Calibri"/>
            </a:endParaRPr>
          </a:p>
        </p:txBody>
      </p:sp>
      <p:sp>
        <p:nvSpPr>
          <p:cNvPr id="2052" name="Google Shape;2052;p72"/>
          <p:cNvSpPr/>
          <p:nvPr/>
        </p:nvSpPr>
        <p:spPr>
          <a:xfrm>
            <a:off x="11292840" y="6528816"/>
            <a:ext cx="411480" cy="219456"/>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8A96A6"/>
              </a:buClr>
              <a:buSzPts val="900"/>
              <a:buFont typeface="Calibri"/>
              <a:buNone/>
            </a:pPr>
            <a:r>
              <a:rPr b="0" i="0" lang="en-US" sz="900" u="none" cap="none" strike="noStrike">
                <a:solidFill>
                  <a:srgbClr val="8A96A6"/>
                </a:solidFill>
                <a:latin typeface="Calibri"/>
                <a:ea typeface="Calibri"/>
                <a:cs typeface="Calibri"/>
                <a:sym typeface="Calibri"/>
              </a:rPr>
              <a:t>72</a:t>
            </a:r>
            <a:endParaRPr b="0" i="0" sz="900" u="none" cap="none" strike="noStrike">
              <a:solidFill>
                <a:schemeClr val="dk1"/>
              </a:solidFill>
              <a:latin typeface="Calibri"/>
              <a:ea typeface="Calibri"/>
              <a:cs typeface="Calibri"/>
              <a:sym typeface="Calibri"/>
            </a:endParaRPr>
          </a:p>
        </p:txBody>
      </p:sp>
      <p:sp>
        <p:nvSpPr>
          <p:cNvPr id="2053" name="Google Shape;2053;p72"/>
          <p:cNvSpPr/>
          <p:nvPr/>
        </p:nvSpPr>
        <p:spPr>
          <a:xfrm>
            <a:off x="502920" y="1389888"/>
            <a:ext cx="11185855" cy="3657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5F6B7A"/>
              </a:buClr>
              <a:buSzPts val="1216"/>
              <a:buFont typeface="Calibri"/>
              <a:buNone/>
            </a:pPr>
            <a:r>
              <a:rPr b="0" i="1" lang="en-US" sz="1216" u="none" cap="none" strike="noStrike">
                <a:solidFill>
                  <a:srgbClr val="5F6B7A"/>
                </a:solidFill>
                <a:latin typeface="Calibri"/>
                <a:ea typeface="Calibri"/>
                <a:cs typeface="Calibri"/>
                <a:sym typeface="Calibri"/>
              </a:rPr>
              <a:t>The cost gradient is real: a box takes ~7 s to annotate, a decent polygon 35–90 s. Choose the cheapest formulation that produces the required number.</a:t>
            </a:r>
            <a:endParaRPr b="0" i="0" sz="1216" u="none" cap="none" strike="noStrike">
              <a:solidFill>
                <a:schemeClr val="dk1"/>
              </a:solidFill>
              <a:latin typeface="Calibri"/>
              <a:ea typeface="Calibri"/>
              <a:cs typeface="Calibri"/>
              <a:sym typeface="Calibri"/>
            </a:endParaRPr>
          </a:p>
        </p:txBody>
      </p:sp>
      <p:graphicFrame>
        <p:nvGraphicFramePr>
          <p:cNvPr id="2054" name="Google Shape;2054;p72"/>
          <p:cNvGraphicFramePr/>
          <p:nvPr/>
        </p:nvGraphicFramePr>
        <p:xfrm>
          <a:off x="502920" y="1865376"/>
          <a:ext cx="3000000" cy="3000000"/>
        </p:xfrm>
        <a:graphic>
          <a:graphicData uri="http://schemas.openxmlformats.org/drawingml/2006/table">
            <a:tbl>
              <a:tblPr>
                <a:noFill/>
                <a:tableStyleId>{F80342BA-3033-44D6-9F91-622DC7A4C435}</a:tableStyleId>
              </a:tblPr>
              <a:tblGrid>
                <a:gridCol w="2312575"/>
                <a:gridCol w="4354450"/>
                <a:gridCol w="4518825"/>
              </a:tblGrid>
              <a:tr h="713225">
                <a:tc>
                  <a:txBody>
                    <a:bodyPr/>
                    <a:lstStyle/>
                    <a:p>
                      <a:pPr indent="0" lvl="0" marL="0" marR="0" rtl="0" algn="l">
                        <a:spcBef>
                          <a:spcPts val="0"/>
                        </a:spcBef>
                        <a:spcAft>
                          <a:spcPts val="0"/>
                        </a:spcAft>
                        <a:buClr>
                          <a:srgbClr val="FFFFFF"/>
                        </a:buClr>
                        <a:buSzPts val="1150"/>
                        <a:buFont typeface="Calibri"/>
                        <a:buNone/>
                      </a:pPr>
                      <a:r>
                        <a:rPr b="1" lang="en-US" sz="1150" u="none" cap="none" strike="noStrike">
                          <a:solidFill>
                            <a:srgbClr val="FFFFFF"/>
                          </a:solidFill>
                          <a:latin typeface="Calibri"/>
                          <a:ea typeface="Calibri"/>
                          <a:cs typeface="Calibri"/>
                          <a:sym typeface="Calibri"/>
                        </a:rPr>
                        <a:t>Formulation</a:t>
                      </a:r>
                      <a:endParaRPr sz="1150" u="none" cap="none" strike="noStrike">
                        <a:latin typeface="Calibri"/>
                        <a:ea typeface="Calibri"/>
                        <a:cs typeface="Calibri"/>
                        <a:sym typeface="Calibri"/>
                      </a:endParaRPr>
                    </a:p>
                  </a:txBody>
                  <a:tcPr marT="64000" marB="64000" marR="64000" marL="64000" anchor="ctr">
                    <a:lnL cap="flat" cmpd="sng" w="9525">
                      <a:solidFill>
                        <a:srgbClr val="D9E2EA"/>
                      </a:solidFill>
                      <a:prstDash val="solid"/>
                      <a:round/>
                      <a:headEnd len="sm" w="sm" type="none"/>
                      <a:tailEnd len="sm" w="sm" type="none"/>
                    </a:lnL>
                    <a:lnR cap="flat" cmpd="sng" w="9525">
                      <a:solidFill>
                        <a:srgbClr val="D9E2EA"/>
                      </a:solidFill>
                      <a:prstDash val="solid"/>
                      <a:round/>
                      <a:headEnd len="sm" w="sm" type="none"/>
                      <a:tailEnd len="sm" w="sm" type="none"/>
                    </a:lnR>
                    <a:lnT cap="flat" cmpd="sng" w="9525">
                      <a:solidFill>
                        <a:srgbClr val="D9E2EA"/>
                      </a:solidFill>
                      <a:prstDash val="solid"/>
                      <a:round/>
                      <a:headEnd len="sm" w="sm" type="none"/>
                      <a:tailEnd len="sm" w="sm" type="none"/>
                    </a:lnT>
                    <a:lnB cap="flat" cmpd="sng" w="9525">
                      <a:solidFill>
                        <a:srgbClr val="D9E2EA"/>
                      </a:solidFill>
                      <a:prstDash val="solid"/>
                      <a:round/>
                      <a:headEnd len="sm" w="sm" type="none"/>
                      <a:tailEnd len="sm" w="sm" type="none"/>
                    </a:lnB>
                    <a:solidFill>
                      <a:srgbClr val="1D2A5C"/>
                    </a:solidFill>
                  </a:tcPr>
                </a:tc>
                <a:tc>
                  <a:txBody>
                    <a:bodyPr/>
                    <a:lstStyle/>
                    <a:p>
                      <a:pPr indent="0" lvl="0" marL="0" marR="0" rtl="0" algn="l">
                        <a:spcBef>
                          <a:spcPts val="0"/>
                        </a:spcBef>
                        <a:spcAft>
                          <a:spcPts val="0"/>
                        </a:spcAft>
                        <a:buClr>
                          <a:srgbClr val="FFFFFF"/>
                        </a:buClr>
                        <a:buSzPts val="1150"/>
                        <a:buFont typeface="Calibri"/>
                        <a:buNone/>
                      </a:pPr>
                      <a:r>
                        <a:rPr b="1" lang="en-US" sz="1150" u="none" cap="none" strike="noStrike">
                          <a:solidFill>
                            <a:srgbClr val="FFFFFF"/>
                          </a:solidFill>
                          <a:latin typeface="Calibri"/>
                          <a:ea typeface="Calibri"/>
                          <a:cs typeface="Calibri"/>
                          <a:sym typeface="Calibri"/>
                        </a:rPr>
                        <a:t>Output</a:t>
                      </a:r>
                      <a:endParaRPr sz="1150" u="none" cap="none" strike="noStrike">
                        <a:latin typeface="Calibri"/>
                        <a:ea typeface="Calibri"/>
                        <a:cs typeface="Calibri"/>
                        <a:sym typeface="Calibri"/>
                      </a:endParaRPr>
                    </a:p>
                  </a:txBody>
                  <a:tcPr marT="64000" marB="64000" marR="64000" marL="64000" anchor="ctr">
                    <a:lnL cap="flat" cmpd="sng" w="9525">
                      <a:solidFill>
                        <a:srgbClr val="D9E2EA"/>
                      </a:solidFill>
                      <a:prstDash val="solid"/>
                      <a:round/>
                      <a:headEnd len="sm" w="sm" type="none"/>
                      <a:tailEnd len="sm" w="sm" type="none"/>
                    </a:lnL>
                    <a:lnR cap="flat" cmpd="sng" w="9525">
                      <a:solidFill>
                        <a:srgbClr val="D9E2EA"/>
                      </a:solidFill>
                      <a:prstDash val="solid"/>
                      <a:round/>
                      <a:headEnd len="sm" w="sm" type="none"/>
                      <a:tailEnd len="sm" w="sm" type="none"/>
                    </a:lnR>
                    <a:lnT cap="flat" cmpd="sng" w="9525">
                      <a:solidFill>
                        <a:srgbClr val="D9E2EA"/>
                      </a:solidFill>
                      <a:prstDash val="solid"/>
                      <a:round/>
                      <a:headEnd len="sm" w="sm" type="none"/>
                      <a:tailEnd len="sm" w="sm" type="none"/>
                    </a:lnT>
                    <a:lnB cap="flat" cmpd="sng" w="9525">
                      <a:solidFill>
                        <a:srgbClr val="D9E2EA"/>
                      </a:solidFill>
                      <a:prstDash val="solid"/>
                      <a:round/>
                      <a:headEnd len="sm" w="sm" type="none"/>
                      <a:tailEnd len="sm" w="sm" type="none"/>
                    </a:lnB>
                    <a:solidFill>
                      <a:srgbClr val="1D2A5C"/>
                    </a:solidFill>
                  </a:tcPr>
                </a:tc>
                <a:tc>
                  <a:txBody>
                    <a:bodyPr/>
                    <a:lstStyle/>
                    <a:p>
                      <a:pPr indent="0" lvl="0" marL="0" marR="0" rtl="0" algn="l">
                        <a:spcBef>
                          <a:spcPts val="0"/>
                        </a:spcBef>
                        <a:spcAft>
                          <a:spcPts val="0"/>
                        </a:spcAft>
                        <a:buClr>
                          <a:srgbClr val="FFFFFF"/>
                        </a:buClr>
                        <a:buSzPts val="1150"/>
                        <a:buFont typeface="Calibri"/>
                        <a:buNone/>
                      </a:pPr>
                      <a:r>
                        <a:rPr b="1" lang="en-US" sz="1150" u="none" cap="none" strike="noStrike">
                          <a:solidFill>
                            <a:srgbClr val="FFFFFF"/>
                          </a:solidFill>
                          <a:latin typeface="Calibri"/>
                          <a:ea typeface="Calibri"/>
                          <a:cs typeface="Calibri"/>
                          <a:sym typeface="Calibri"/>
                        </a:rPr>
                        <a:t>Right when</a:t>
                      </a:r>
                      <a:endParaRPr sz="1150" u="none" cap="none" strike="noStrike">
                        <a:latin typeface="Calibri"/>
                        <a:ea typeface="Calibri"/>
                        <a:cs typeface="Calibri"/>
                        <a:sym typeface="Calibri"/>
                      </a:endParaRPr>
                    </a:p>
                  </a:txBody>
                  <a:tcPr marT="64000" marB="64000" marR="64000" marL="64000" anchor="ctr">
                    <a:lnL cap="flat" cmpd="sng" w="9525">
                      <a:solidFill>
                        <a:srgbClr val="D9E2EA"/>
                      </a:solidFill>
                      <a:prstDash val="solid"/>
                      <a:round/>
                      <a:headEnd len="sm" w="sm" type="none"/>
                      <a:tailEnd len="sm" w="sm" type="none"/>
                    </a:lnL>
                    <a:lnR cap="flat" cmpd="sng" w="9525">
                      <a:solidFill>
                        <a:srgbClr val="D9E2EA"/>
                      </a:solidFill>
                      <a:prstDash val="solid"/>
                      <a:round/>
                      <a:headEnd len="sm" w="sm" type="none"/>
                      <a:tailEnd len="sm" w="sm" type="none"/>
                    </a:lnR>
                    <a:lnT cap="flat" cmpd="sng" w="9525">
                      <a:solidFill>
                        <a:srgbClr val="D9E2EA"/>
                      </a:solidFill>
                      <a:prstDash val="solid"/>
                      <a:round/>
                      <a:headEnd len="sm" w="sm" type="none"/>
                      <a:tailEnd len="sm" w="sm" type="none"/>
                    </a:lnT>
                    <a:lnB cap="flat" cmpd="sng" w="9525">
                      <a:solidFill>
                        <a:srgbClr val="D9E2EA"/>
                      </a:solidFill>
                      <a:prstDash val="solid"/>
                      <a:round/>
                      <a:headEnd len="sm" w="sm" type="none"/>
                      <a:tailEnd len="sm" w="sm" type="none"/>
                    </a:lnB>
                    <a:solidFill>
                      <a:srgbClr val="1D2A5C"/>
                    </a:solidFill>
                  </a:tcPr>
                </a:tc>
              </a:tr>
              <a:tr h="713225">
                <a:tc>
                  <a:txBody>
                    <a:bodyPr/>
                    <a:lstStyle/>
                    <a:p>
                      <a:pPr indent="0" lvl="0" marL="0" marR="0" rtl="0" algn="l">
                        <a:spcBef>
                          <a:spcPts val="0"/>
                        </a:spcBef>
                        <a:spcAft>
                          <a:spcPts val="0"/>
                        </a:spcAft>
                        <a:buClr>
                          <a:srgbClr val="1D2A5C"/>
                        </a:buClr>
                        <a:buSzPts val="1150"/>
                        <a:buFont typeface="Calibri"/>
                        <a:buNone/>
                      </a:pPr>
                      <a:r>
                        <a:rPr b="1" lang="en-US" sz="1150" u="none" cap="none" strike="noStrike">
                          <a:solidFill>
                            <a:srgbClr val="1D2A5C"/>
                          </a:solidFill>
                          <a:latin typeface="Calibri"/>
                          <a:ea typeface="Calibri"/>
                          <a:cs typeface="Calibri"/>
                          <a:sym typeface="Calibri"/>
                        </a:rPr>
                        <a:t>Semantic</a:t>
                      </a:r>
                      <a:endParaRPr sz="1150" u="none" cap="none" strike="noStrike">
                        <a:latin typeface="Calibri"/>
                        <a:ea typeface="Calibri"/>
                        <a:cs typeface="Calibri"/>
                        <a:sym typeface="Calibri"/>
                      </a:endParaRPr>
                    </a:p>
                  </a:txBody>
                  <a:tcPr marT="64000" marB="64000" marR="64000" marL="64000" anchor="ctr">
                    <a:lnL cap="flat" cmpd="sng" w="9525">
                      <a:solidFill>
                        <a:srgbClr val="D9E2EA"/>
                      </a:solidFill>
                      <a:prstDash val="solid"/>
                      <a:round/>
                      <a:headEnd len="sm" w="sm" type="none"/>
                      <a:tailEnd len="sm" w="sm" type="none"/>
                    </a:lnL>
                    <a:lnR cap="flat" cmpd="sng" w="9525">
                      <a:solidFill>
                        <a:srgbClr val="D9E2EA"/>
                      </a:solidFill>
                      <a:prstDash val="solid"/>
                      <a:round/>
                      <a:headEnd len="sm" w="sm" type="none"/>
                      <a:tailEnd len="sm" w="sm" type="none"/>
                    </a:lnR>
                    <a:lnT cap="flat" cmpd="sng" w="9525">
                      <a:solidFill>
                        <a:srgbClr val="D9E2EA"/>
                      </a:solidFill>
                      <a:prstDash val="solid"/>
                      <a:round/>
                      <a:headEnd len="sm" w="sm" type="none"/>
                      <a:tailEnd len="sm" w="sm" type="none"/>
                    </a:lnT>
                    <a:lnB cap="flat" cmpd="sng" w="9525">
                      <a:solidFill>
                        <a:srgbClr val="D9E2EA"/>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23293B"/>
                        </a:buClr>
                        <a:buSzPts val="1150"/>
                        <a:buFont typeface="Calibri"/>
                        <a:buNone/>
                      </a:pPr>
                      <a:r>
                        <a:rPr lang="en-US" sz="1150" u="none" cap="none" strike="noStrike">
                          <a:solidFill>
                            <a:srgbClr val="23293B"/>
                          </a:solidFill>
                          <a:latin typeface="Calibri"/>
                          <a:ea typeface="Calibri"/>
                          <a:cs typeface="Calibri"/>
                          <a:sym typeface="Calibri"/>
                        </a:rPr>
                        <a:t>Every pixel classed; instances merged</a:t>
                      </a:r>
                      <a:endParaRPr sz="1150" u="none" cap="none" strike="noStrike">
                        <a:latin typeface="Calibri"/>
                        <a:ea typeface="Calibri"/>
                        <a:cs typeface="Calibri"/>
                        <a:sym typeface="Calibri"/>
                      </a:endParaRPr>
                    </a:p>
                  </a:txBody>
                  <a:tcPr marT="64000" marB="64000" marR="64000" marL="64000" anchor="ctr">
                    <a:lnL cap="flat" cmpd="sng" w="9525">
                      <a:solidFill>
                        <a:srgbClr val="D9E2EA"/>
                      </a:solidFill>
                      <a:prstDash val="solid"/>
                      <a:round/>
                      <a:headEnd len="sm" w="sm" type="none"/>
                      <a:tailEnd len="sm" w="sm" type="none"/>
                    </a:lnL>
                    <a:lnR cap="flat" cmpd="sng" w="9525">
                      <a:solidFill>
                        <a:srgbClr val="D9E2EA"/>
                      </a:solidFill>
                      <a:prstDash val="solid"/>
                      <a:round/>
                      <a:headEnd len="sm" w="sm" type="none"/>
                      <a:tailEnd len="sm" w="sm" type="none"/>
                    </a:lnR>
                    <a:lnT cap="flat" cmpd="sng" w="9525">
                      <a:solidFill>
                        <a:srgbClr val="D9E2EA"/>
                      </a:solidFill>
                      <a:prstDash val="solid"/>
                      <a:round/>
                      <a:headEnd len="sm" w="sm" type="none"/>
                      <a:tailEnd len="sm" w="sm" type="none"/>
                    </a:lnT>
                    <a:lnB cap="flat" cmpd="sng" w="9525">
                      <a:solidFill>
                        <a:srgbClr val="D9E2EA"/>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23293B"/>
                        </a:buClr>
                        <a:buSzPts val="1150"/>
                        <a:buFont typeface="Calibri"/>
                        <a:buNone/>
                      </a:pPr>
                      <a:r>
                        <a:rPr lang="en-US" sz="1150" u="none" cap="none" strike="noStrike">
                          <a:solidFill>
                            <a:srgbClr val="23293B"/>
                          </a:solidFill>
                          <a:latin typeface="Calibri"/>
                          <a:ea typeface="Calibri"/>
                          <a:cs typeface="Calibri"/>
                          <a:sym typeface="Calibri"/>
                        </a:rPr>
                        <a:t>Total area per class: crack m², soiling</a:t>
                      </a:r>
                      <a:endParaRPr sz="1150" u="none" cap="none" strike="noStrike">
                        <a:latin typeface="Calibri"/>
                        <a:ea typeface="Calibri"/>
                        <a:cs typeface="Calibri"/>
                        <a:sym typeface="Calibri"/>
                      </a:endParaRPr>
                    </a:p>
                  </a:txBody>
                  <a:tcPr marT="64000" marB="64000" marR="64000" marL="64000" anchor="ctr">
                    <a:lnL cap="flat" cmpd="sng" w="9525">
                      <a:solidFill>
                        <a:srgbClr val="D9E2EA"/>
                      </a:solidFill>
                      <a:prstDash val="solid"/>
                      <a:round/>
                      <a:headEnd len="sm" w="sm" type="none"/>
                      <a:tailEnd len="sm" w="sm" type="none"/>
                    </a:lnL>
                    <a:lnR cap="flat" cmpd="sng" w="9525">
                      <a:solidFill>
                        <a:srgbClr val="D9E2EA"/>
                      </a:solidFill>
                      <a:prstDash val="solid"/>
                      <a:round/>
                      <a:headEnd len="sm" w="sm" type="none"/>
                      <a:tailEnd len="sm" w="sm" type="none"/>
                    </a:lnR>
                    <a:lnT cap="flat" cmpd="sng" w="9525">
                      <a:solidFill>
                        <a:srgbClr val="D9E2EA"/>
                      </a:solidFill>
                      <a:prstDash val="solid"/>
                      <a:round/>
                      <a:headEnd len="sm" w="sm" type="none"/>
                      <a:tailEnd len="sm" w="sm" type="none"/>
                    </a:lnT>
                    <a:lnB cap="flat" cmpd="sng" w="9525">
                      <a:solidFill>
                        <a:srgbClr val="D9E2EA"/>
                      </a:solidFill>
                      <a:prstDash val="solid"/>
                      <a:round/>
                      <a:headEnd len="sm" w="sm" type="none"/>
                      <a:tailEnd len="sm" w="sm" type="none"/>
                    </a:lnB>
                    <a:solidFill>
                      <a:srgbClr val="FFFFFF"/>
                    </a:solidFill>
                  </a:tcPr>
                </a:tc>
              </a:tr>
              <a:tr h="713225">
                <a:tc>
                  <a:txBody>
                    <a:bodyPr/>
                    <a:lstStyle/>
                    <a:p>
                      <a:pPr indent="0" lvl="0" marL="0" marR="0" rtl="0" algn="l">
                        <a:spcBef>
                          <a:spcPts val="0"/>
                        </a:spcBef>
                        <a:spcAft>
                          <a:spcPts val="0"/>
                        </a:spcAft>
                        <a:buClr>
                          <a:srgbClr val="1D2A5C"/>
                        </a:buClr>
                        <a:buSzPts val="1150"/>
                        <a:buFont typeface="Calibri"/>
                        <a:buNone/>
                      </a:pPr>
                      <a:r>
                        <a:rPr b="1" lang="en-US" sz="1150" u="none" cap="none" strike="noStrike">
                          <a:solidFill>
                            <a:srgbClr val="1D2A5C"/>
                          </a:solidFill>
                          <a:latin typeface="Calibri"/>
                          <a:ea typeface="Calibri"/>
                          <a:cs typeface="Calibri"/>
                          <a:sym typeface="Calibri"/>
                        </a:rPr>
                        <a:t>Instance</a:t>
                      </a:r>
                      <a:endParaRPr sz="1150" u="none" cap="none" strike="noStrike">
                        <a:latin typeface="Calibri"/>
                        <a:ea typeface="Calibri"/>
                        <a:cs typeface="Calibri"/>
                        <a:sym typeface="Calibri"/>
                      </a:endParaRPr>
                    </a:p>
                  </a:txBody>
                  <a:tcPr marT="64000" marB="64000" marR="64000" marL="64000" anchor="ctr">
                    <a:lnL cap="flat" cmpd="sng" w="9525">
                      <a:solidFill>
                        <a:srgbClr val="D9E2EA"/>
                      </a:solidFill>
                      <a:prstDash val="solid"/>
                      <a:round/>
                      <a:headEnd len="sm" w="sm" type="none"/>
                      <a:tailEnd len="sm" w="sm" type="none"/>
                    </a:lnL>
                    <a:lnR cap="flat" cmpd="sng" w="9525">
                      <a:solidFill>
                        <a:srgbClr val="D9E2EA"/>
                      </a:solidFill>
                      <a:prstDash val="solid"/>
                      <a:round/>
                      <a:headEnd len="sm" w="sm" type="none"/>
                      <a:tailEnd len="sm" w="sm" type="none"/>
                    </a:lnR>
                    <a:lnT cap="flat" cmpd="sng" w="9525">
                      <a:solidFill>
                        <a:srgbClr val="D9E2EA"/>
                      </a:solidFill>
                      <a:prstDash val="solid"/>
                      <a:round/>
                      <a:headEnd len="sm" w="sm" type="none"/>
                      <a:tailEnd len="sm" w="sm" type="none"/>
                    </a:lnT>
                    <a:lnB cap="flat" cmpd="sng" w="9525">
                      <a:solidFill>
                        <a:srgbClr val="D9E2EA"/>
                      </a:solidFill>
                      <a:prstDash val="solid"/>
                      <a:round/>
                      <a:headEnd len="sm" w="sm" type="none"/>
                      <a:tailEnd len="sm" w="sm" type="none"/>
                    </a:lnB>
                    <a:solidFill>
                      <a:srgbClr val="F2F6F9"/>
                    </a:solidFill>
                  </a:tcPr>
                </a:tc>
                <a:tc>
                  <a:txBody>
                    <a:bodyPr/>
                    <a:lstStyle/>
                    <a:p>
                      <a:pPr indent="0" lvl="0" marL="0" marR="0" rtl="0" algn="l">
                        <a:spcBef>
                          <a:spcPts val="0"/>
                        </a:spcBef>
                        <a:spcAft>
                          <a:spcPts val="0"/>
                        </a:spcAft>
                        <a:buClr>
                          <a:srgbClr val="23293B"/>
                        </a:buClr>
                        <a:buSzPts val="1150"/>
                        <a:buFont typeface="Calibri"/>
                        <a:buNone/>
                      </a:pPr>
                      <a:r>
                        <a:rPr lang="en-US" sz="1150" u="none" cap="none" strike="noStrike">
                          <a:solidFill>
                            <a:srgbClr val="23293B"/>
                          </a:solidFill>
                          <a:latin typeface="Calibri"/>
                          <a:ea typeface="Calibri"/>
                          <a:cs typeface="Calibri"/>
                          <a:sym typeface="Calibri"/>
                        </a:rPr>
                        <a:t>Per-object mask + class + confidence</a:t>
                      </a:r>
                      <a:endParaRPr sz="1150" u="none" cap="none" strike="noStrike">
                        <a:latin typeface="Calibri"/>
                        <a:ea typeface="Calibri"/>
                        <a:cs typeface="Calibri"/>
                        <a:sym typeface="Calibri"/>
                      </a:endParaRPr>
                    </a:p>
                  </a:txBody>
                  <a:tcPr marT="64000" marB="64000" marR="64000" marL="64000" anchor="ctr">
                    <a:lnL cap="flat" cmpd="sng" w="9525">
                      <a:solidFill>
                        <a:srgbClr val="D9E2EA"/>
                      </a:solidFill>
                      <a:prstDash val="solid"/>
                      <a:round/>
                      <a:headEnd len="sm" w="sm" type="none"/>
                      <a:tailEnd len="sm" w="sm" type="none"/>
                    </a:lnL>
                    <a:lnR cap="flat" cmpd="sng" w="9525">
                      <a:solidFill>
                        <a:srgbClr val="D9E2EA"/>
                      </a:solidFill>
                      <a:prstDash val="solid"/>
                      <a:round/>
                      <a:headEnd len="sm" w="sm" type="none"/>
                      <a:tailEnd len="sm" w="sm" type="none"/>
                    </a:lnR>
                    <a:lnT cap="flat" cmpd="sng" w="9525">
                      <a:solidFill>
                        <a:srgbClr val="D9E2EA"/>
                      </a:solidFill>
                      <a:prstDash val="solid"/>
                      <a:round/>
                      <a:headEnd len="sm" w="sm" type="none"/>
                      <a:tailEnd len="sm" w="sm" type="none"/>
                    </a:lnT>
                    <a:lnB cap="flat" cmpd="sng" w="9525">
                      <a:solidFill>
                        <a:srgbClr val="D9E2EA"/>
                      </a:solidFill>
                      <a:prstDash val="solid"/>
                      <a:round/>
                      <a:headEnd len="sm" w="sm" type="none"/>
                      <a:tailEnd len="sm" w="sm" type="none"/>
                    </a:lnB>
                    <a:solidFill>
                      <a:srgbClr val="F2F6F9"/>
                    </a:solidFill>
                  </a:tcPr>
                </a:tc>
                <a:tc>
                  <a:txBody>
                    <a:bodyPr/>
                    <a:lstStyle/>
                    <a:p>
                      <a:pPr indent="0" lvl="0" marL="0" marR="0" rtl="0" algn="l">
                        <a:spcBef>
                          <a:spcPts val="0"/>
                        </a:spcBef>
                        <a:spcAft>
                          <a:spcPts val="0"/>
                        </a:spcAft>
                        <a:buClr>
                          <a:srgbClr val="23293B"/>
                        </a:buClr>
                        <a:buSzPts val="1150"/>
                        <a:buFont typeface="Calibri"/>
                        <a:buNone/>
                      </a:pPr>
                      <a:r>
                        <a:rPr lang="en-US" sz="1150" u="none" cap="none" strike="noStrike">
                          <a:solidFill>
                            <a:srgbClr val="23293B"/>
                          </a:solidFill>
                          <a:latin typeface="Calibri"/>
                          <a:ea typeface="Calibri"/>
                          <a:cs typeface="Calibri"/>
                          <a:sym typeface="Calibri"/>
                        </a:rPr>
                        <a:t>Per-object measures: defect area per fruit</a:t>
                      </a:r>
                      <a:endParaRPr sz="1150" u="none" cap="none" strike="noStrike">
                        <a:latin typeface="Calibri"/>
                        <a:ea typeface="Calibri"/>
                        <a:cs typeface="Calibri"/>
                        <a:sym typeface="Calibri"/>
                      </a:endParaRPr>
                    </a:p>
                  </a:txBody>
                  <a:tcPr marT="64000" marB="64000" marR="64000" marL="64000" anchor="ctr">
                    <a:lnL cap="flat" cmpd="sng" w="9525">
                      <a:solidFill>
                        <a:srgbClr val="D9E2EA"/>
                      </a:solidFill>
                      <a:prstDash val="solid"/>
                      <a:round/>
                      <a:headEnd len="sm" w="sm" type="none"/>
                      <a:tailEnd len="sm" w="sm" type="none"/>
                    </a:lnL>
                    <a:lnR cap="flat" cmpd="sng" w="9525">
                      <a:solidFill>
                        <a:srgbClr val="D9E2EA"/>
                      </a:solidFill>
                      <a:prstDash val="solid"/>
                      <a:round/>
                      <a:headEnd len="sm" w="sm" type="none"/>
                      <a:tailEnd len="sm" w="sm" type="none"/>
                    </a:lnR>
                    <a:lnT cap="flat" cmpd="sng" w="9525">
                      <a:solidFill>
                        <a:srgbClr val="D9E2EA"/>
                      </a:solidFill>
                      <a:prstDash val="solid"/>
                      <a:round/>
                      <a:headEnd len="sm" w="sm" type="none"/>
                      <a:tailEnd len="sm" w="sm" type="none"/>
                    </a:lnT>
                    <a:lnB cap="flat" cmpd="sng" w="9525">
                      <a:solidFill>
                        <a:srgbClr val="D9E2EA"/>
                      </a:solidFill>
                      <a:prstDash val="solid"/>
                      <a:round/>
                      <a:headEnd len="sm" w="sm" type="none"/>
                      <a:tailEnd len="sm" w="sm" type="none"/>
                    </a:lnB>
                    <a:solidFill>
                      <a:srgbClr val="F2F6F9"/>
                    </a:solidFill>
                  </a:tcPr>
                </a:tc>
              </a:tr>
              <a:tr h="713225">
                <a:tc>
                  <a:txBody>
                    <a:bodyPr/>
                    <a:lstStyle/>
                    <a:p>
                      <a:pPr indent="0" lvl="0" marL="0" marR="0" rtl="0" algn="l">
                        <a:spcBef>
                          <a:spcPts val="0"/>
                        </a:spcBef>
                        <a:spcAft>
                          <a:spcPts val="0"/>
                        </a:spcAft>
                        <a:buClr>
                          <a:srgbClr val="1D2A5C"/>
                        </a:buClr>
                        <a:buSzPts val="1150"/>
                        <a:buFont typeface="Calibri"/>
                        <a:buNone/>
                      </a:pPr>
                      <a:r>
                        <a:rPr b="1" lang="en-US" sz="1150" u="none" cap="none" strike="noStrike">
                          <a:solidFill>
                            <a:srgbClr val="1D2A5C"/>
                          </a:solidFill>
                          <a:latin typeface="Calibri"/>
                          <a:ea typeface="Calibri"/>
                          <a:cs typeface="Calibri"/>
                          <a:sym typeface="Calibri"/>
                        </a:rPr>
                        <a:t>Panoptic</a:t>
                      </a:r>
                      <a:endParaRPr sz="1150" u="none" cap="none" strike="noStrike">
                        <a:latin typeface="Calibri"/>
                        <a:ea typeface="Calibri"/>
                        <a:cs typeface="Calibri"/>
                        <a:sym typeface="Calibri"/>
                      </a:endParaRPr>
                    </a:p>
                  </a:txBody>
                  <a:tcPr marT="64000" marB="64000" marR="64000" marL="64000" anchor="ctr">
                    <a:lnL cap="flat" cmpd="sng" w="9525">
                      <a:solidFill>
                        <a:srgbClr val="D9E2EA"/>
                      </a:solidFill>
                      <a:prstDash val="solid"/>
                      <a:round/>
                      <a:headEnd len="sm" w="sm" type="none"/>
                      <a:tailEnd len="sm" w="sm" type="none"/>
                    </a:lnL>
                    <a:lnR cap="flat" cmpd="sng" w="9525">
                      <a:solidFill>
                        <a:srgbClr val="D9E2EA"/>
                      </a:solidFill>
                      <a:prstDash val="solid"/>
                      <a:round/>
                      <a:headEnd len="sm" w="sm" type="none"/>
                      <a:tailEnd len="sm" w="sm" type="none"/>
                    </a:lnR>
                    <a:lnT cap="flat" cmpd="sng" w="9525">
                      <a:solidFill>
                        <a:srgbClr val="D9E2EA"/>
                      </a:solidFill>
                      <a:prstDash val="solid"/>
                      <a:round/>
                      <a:headEnd len="sm" w="sm" type="none"/>
                      <a:tailEnd len="sm" w="sm" type="none"/>
                    </a:lnT>
                    <a:lnB cap="flat" cmpd="sng" w="9525">
                      <a:solidFill>
                        <a:srgbClr val="D9E2EA"/>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23293B"/>
                        </a:buClr>
                        <a:buSzPts val="1150"/>
                        <a:buFont typeface="Calibri"/>
                        <a:buNone/>
                      </a:pPr>
                      <a:r>
                        <a:rPr lang="en-US" sz="1150" u="none" cap="none" strike="noStrike">
                          <a:solidFill>
                            <a:srgbClr val="23293B"/>
                          </a:solidFill>
                          <a:latin typeface="Calibri"/>
                          <a:ea typeface="Calibri"/>
                          <a:cs typeface="Calibri"/>
                          <a:sym typeface="Calibri"/>
                        </a:rPr>
                        <a:t>All pixels + countable things instanced</a:t>
                      </a:r>
                      <a:endParaRPr sz="1150" u="none" cap="none" strike="noStrike">
                        <a:latin typeface="Calibri"/>
                        <a:ea typeface="Calibri"/>
                        <a:cs typeface="Calibri"/>
                        <a:sym typeface="Calibri"/>
                      </a:endParaRPr>
                    </a:p>
                  </a:txBody>
                  <a:tcPr marT="64000" marB="64000" marR="64000" marL="64000" anchor="ctr">
                    <a:lnL cap="flat" cmpd="sng" w="9525">
                      <a:solidFill>
                        <a:srgbClr val="D9E2EA"/>
                      </a:solidFill>
                      <a:prstDash val="solid"/>
                      <a:round/>
                      <a:headEnd len="sm" w="sm" type="none"/>
                      <a:tailEnd len="sm" w="sm" type="none"/>
                    </a:lnL>
                    <a:lnR cap="flat" cmpd="sng" w="9525">
                      <a:solidFill>
                        <a:srgbClr val="D9E2EA"/>
                      </a:solidFill>
                      <a:prstDash val="solid"/>
                      <a:round/>
                      <a:headEnd len="sm" w="sm" type="none"/>
                      <a:tailEnd len="sm" w="sm" type="none"/>
                    </a:lnR>
                    <a:lnT cap="flat" cmpd="sng" w="9525">
                      <a:solidFill>
                        <a:srgbClr val="D9E2EA"/>
                      </a:solidFill>
                      <a:prstDash val="solid"/>
                      <a:round/>
                      <a:headEnd len="sm" w="sm" type="none"/>
                      <a:tailEnd len="sm" w="sm" type="none"/>
                    </a:lnT>
                    <a:lnB cap="flat" cmpd="sng" w="9525">
                      <a:solidFill>
                        <a:srgbClr val="D9E2EA"/>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23293B"/>
                        </a:buClr>
                        <a:buSzPts val="1150"/>
                        <a:buFont typeface="Calibri"/>
                        <a:buNone/>
                      </a:pPr>
                      <a:r>
                        <a:rPr lang="en-US" sz="1150" u="none" cap="none" strike="noStrike">
                          <a:solidFill>
                            <a:srgbClr val="23293B"/>
                          </a:solidFill>
                          <a:latin typeface="Calibri"/>
                          <a:ea typeface="Calibri"/>
                          <a:cs typeface="Calibri"/>
                          <a:sym typeface="Calibri"/>
                        </a:rPr>
                        <a:t>Rich, expensive, rarely the applied answer</a:t>
                      </a:r>
                      <a:endParaRPr sz="1150" u="none" cap="none" strike="noStrike">
                        <a:latin typeface="Calibri"/>
                        <a:ea typeface="Calibri"/>
                        <a:cs typeface="Calibri"/>
                        <a:sym typeface="Calibri"/>
                      </a:endParaRPr>
                    </a:p>
                  </a:txBody>
                  <a:tcPr marT="64000" marB="64000" marR="64000" marL="64000" anchor="ctr">
                    <a:lnL cap="flat" cmpd="sng" w="9525">
                      <a:solidFill>
                        <a:srgbClr val="D9E2EA"/>
                      </a:solidFill>
                      <a:prstDash val="solid"/>
                      <a:round/>
                      <a:headEnd len="sm" w="sm" type="none"/>
                      <a:tailEnd len="sm" w="sm" type="none"/>
                    </a:lnL>
                    <a:lnR cap="flat" cmpd="sng" w="9525">
                      <a:solidFill>
                        <a:srgbClr val="D9E2EA"/>
                      </a:solidFill>
                      <a:prstDash val="solid"/>
                      <a:round/>
                      <a:headEnd len="sm" w="sm" type="none"/>
                      <a:tailEnd len="sm" w="sm" type="none"/>
                    </a:lnR>
                    <a:lnT cap="flat" cmpd="sng" w="9525">
                      <a:solidFill>
                        <a:srgbClr val="D9E2EA"/>
                      </a:solidFill>
                      <a:prstDash val="solid"/>
                      <a:round/>
                      <a:headEnd len="sm" w="sm" type="none"/>
                      <a:tailEnd len="sm" w="sm" type="none"/>
                    </a:lnT>
                    <a:lnB cap="flat" cmpd="sng" w="9525">
                      <a:solidFill>
                        <a:srgbClr val="D9E2EA"/>
                      </a:solidFill>
                      <a:prstDash val="solid"/>
                      <a:round/>
                      <a:headEnd len="sm" w="sm" type="none"/>
                      <a:tailEnd len="sm" w="sm" type="none"/>
                    </a:lnB>
                    <a:solidFill>
                      <a:srgbClr val="FFFFFF"/>
                    </a:solidFill>
                  </a:tcPr>
                </a:tc>
              </a:tr>
            </a:tbl>
          </a:graphicData>
        </a:graphic>
      </p:graphicFrame>
    </p:spTree>
  </p:cSld>
  <p:clrMapOvr>
    <a:masterClrMapping/>
  </p:clrMapOvr>
</p:sld>
</file>

<file path=ppt/slides/slide7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059" name="Shape 2059"/>
        <p:cNvGrpSpPr/>
        <p:nvPr/>
      </p:nvGrpSpPr>
      <p:grpSpPr>
        <a:xfrm>
          <a:off x="0" y="0"/>
          <a:ext cx="0" cy="0"/>
          <a:chOff x="0" y="0"/>
          <a:chExt cx="0" cy="0"/>
        </a:xfrm>
      </p:grpSpPr>
      <p:sp>
        <p:nvSpPr>
          <p:cNvPr id="2060" name="Google Shape;2060;p73"/>
          <p:cNvSpPr/>
          <p:nvPr/>
        </p:nvSpPr>
        <p:spPr>
          <a:xfrm>
            <a:off x="502920" y="274320"/>
            <a:ext cx="9646920" cy="56692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D2A5C"/>
              </a:buClr>
              <a:buSzPts val="2700"/>
              <a:buFont typeface="Calibri"/>
              <a:buNone/>
            </a:pPr>
            <a:r>
              <a:rPr b="1" i="0" lang="en-US" sz="2700" u="none" cap="none" strike="noStrike">
                <a:solidFill>
                  <a:srgbClr val="1D2A5C"/>
                </a:solidFill>
                <a:latin typeface="Calibri"/>
                <a:ea typeface="Calibri"/>
                <a:cs typeface="Calibri"/>
                <a:sym typeface="Calibri"/>
              </a:rPr>
              <a:t>Encoder-Decoder: U-Net and DeepLab</a:t>
            </a:r>
            <a:endParaRPr b="0" i="0" sz="2700" u="none" cap="none" strike="noStrike">
              <a:solidFill>
                <a:schemeClr val="dk1"/>
              </a:solidFill>
              <a:latin typeface="Calibri"/>
              <a:ea typeface="Calibri"/>
              <a:cs typeface="Calibri"/>
              <a:sym typeface="Calibri"/>
            </a:endParaRPr>
          </a:p>
        </p:txBody>
      </p:sp>
      <p:sp>
        <p:nvSpPr>
          <p:cNvPr id="2061" name="Google Shape;2061;p73"/>
          <p:cNvSpPr/>
          <p:nvPr/>
        </p:nvSpPr>
        <p:spPr>
          <a:xfrm>
            <a:off x="502920" y="859536"/>
            <a:ext cx="9646920" cy="31089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F6B7A"/>
              </a:buClr>
              <a:buSzPts val="1250"/>
              <a:buFont typeface="Arial"/>
              <a:buNone/>
            </a:pPr>
            <a:r>
              <a:rPr b="0" i="0" lang="en-US" sz="1250" u="none" cap="none" strike="noStrike">
                <a:solidFill>
                  <a:srgbClr val="5F6B7A"/>
                </a:solidFill>
                <a:latin typeface="Arial"/>
                <a:ea typeface="Arial"/>
                <a:cs typeface="Arial"/>
                <a:sym typeface="Arial"/>
              </a:rPr>
              <a:t>المشفر وفك التشفير: U-Net و DeepLab</a:t>
            </a:r>
            <a:endParaRPr b="0" i="0" sz="1250" u="none" cap="none" strike="noStrike">
              <a:solidFill>
                <a:schemeClr val="dk1"/>
              </a:solidFill>
              <a:latin typeface="Calibri"/>
              <a:ea typeface="Calibri"/>
              <a:cs typeface="Calibri"/>
              <a:sym typeface="Calibri"/>
            </a:endParaRPr>
          </a:p>
        </p:txBody>
      </p:sp>
      <p:pic>
        <p:nvPicPr>
          <p:cNvPr descr="/sessions/blissful-determined-ritchie/build/assets/sdaia_logo.png" id="2062" name="Google Shape;2062;p73"/>
          <p:cNvPicPr preferRelativeResize="0"/>
          <p:nvPr/>
        </p:nvPicPr>
        <p:blipFill rotWithShape="1">
          <a:blip r:embed="rId3">
            <a:alphaModFix/>
          </a:blip>
          <a:srcRect b="0" l="0" r="0" t="0"/>
          <a:stretch/>
        </p:blipFill>
        <p:spPr>
          <a:xfrm>
            <a:off x="10625328" y="310896"/>
            <a:ext cx="1078992" cy="264111"/>
          </a:xfrm>
          <a:prstGeom prst="rect">
            <a:avLst/>
          </a:prstGeom>
          <a:noFill/>
          <a:ln>
            <a:noFill/>
          </a:ln>
        </p:spPr>
      </p:pic>
      <p:sp>
        <p:nvSpPr>
          <p:cNvPr id="2063" name="Google Shape;2063;p73"/>
          <p:cNvSpPr/>
          <p:nvPr/>
        </p:nvSpPr>
        <p:spPr>
          <a:xfrm>
            <a:off x="502920" y="6528816"/>
            <a:ext cx="8686800"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A79D"/>
              </a:buClr>
              <a:buSzPts val="800"/>
              <a:buFont typeface="Calibri"/>
              <a:buNone/>
            </a:pPr>
            <a:r>
              <a:rPr b="1" i="0" lang="en-US" sz="800" u="none" cap="none" strike="noStrike">
                <a:solidFill>
                  <a:srgbClr val="00A79D"/>
                </a:solidFill>
                <a:latin typeface="Calibri"/>
                <a:ea typeface="Calibri"/>
                <a:cs typeface="Calibri"/>
                <a:sym typeface="Calibri"/>
              </a:rPr>
              <a:t>MODULE 4   </a:t>
            </a:r>
            <a:r>
              <a:rPr b="0" i="0" lang="en-US" sz="800" u="none" cap="none" strike="noStrike">
                <a:solidFill>
                  <a:srgbClr val="8A96A6"/>
                </a:solidFill>
                <a:latin typeface="Calibri"/>
                <a:ea typeface="Calibri"/>
                <a:cs typeface="Calibri"/>
                <a:sym typeface="Calibri"/>
              </a:rPr>
              <a:t>SDA-AIE-212 · Computer Vision Systems Development</a:t>
            </a:r>
            <a:endParaRPr b="0" i="0" sz="800" u="none" cap="none" strike="noStrike">
              <a:solidFill>
                <a:schemeClr val="dk1"/>
              </a:solidFill>
              <a:latin typeface="Calibri"/>
              <a:ea typeface="Calibri"/>
              <a:cs typeface="Calibri"/>
              <a:sym typeface="Calibri"/>
            </a:endParaRPr>
          </a:p>
        </p:txBody>
      </p:sp>
      <p:sp>
        <p:nvSpPr>
          <p:cNvPr id="2064" name="Google Shape;2064;p73"/>
          <p:cNvSpPr/>
          <p:nvPr/>
        </p:nvSpPr>
        <p:spPr>
          <a:xfrm>
            <a:off x="11292840" y="6528816"/>
            <a:ext cx="411480" cy="219456"/>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8A96A6"/>
              </a:buClr>
              <a:buSzPts val="900"/>
              <a:buFont typeface="Calibri"/>
              <a:buNone/>
            </a:pPr>
            <a:r>
              <a:rPr b="0" i="0" lang="en-US" sz="900" u="none" cap="none" strike="noStrike">
                <a:solidFill>
                  <a:srgbClr val="8A96A6"/>
                </a:solidFill>
                <a:latin typeface="Calibri"/>
                <a:ea typeface="Calibri"/>
                <a:cs typeface="Calibri"/>
                <a:sym typeface="Calibri"/>
              </a:rPr>
              <a:t>73</a:t>
            </a:r>
            <a:endParaRPr b="0" i="0" sz="900" u="none" cap="none" strike="noStrike">
              <a:solidFill>
                <a:schemeClr val="dk1"/>
              </a:solidFill>
              <a:latin typeface="Calibri"/>
              <a:ea typeface="Calibri"/>
              <a:cs typeface="Calibri"/>
              <a:sym typeface="Calibri"/>
            </a:endParaRPr>
          </a:p>
        </p:txBody>
      </p:sp>
      <p:sp>
        <p:nvSpPr>
          <p:cNvPr id="2065" name="Google Shape;2065;p73"/>
          <p:cNvSpPr/>
          <p:nvPr/>
        </p:nvSpPr>
        <p:spPr>
          <a:xfrm>
            <a:off x="502920" y="1389888"/>
            <a:ext cx="11185855" cy="384048"/>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5F6B7A"/>
              </a:buClr>
              <a:buSzPts val="1250"/>
              <a:buFont typeface="Calibri"/>
              <a:buNone/>
            </a:pPr>
            <a:r>
              <a:rPr b="0" i="1" lang="en-US" sz="1250" u="none" cap="none" strike="noStrike">
                <a:solidFill>
                  <a:srgbClr val="5F6B7A"/>
                </a:solidFill>
                <a:latin typeface="Calibri"/>
                <a:ea typeface="Calibri"/>
                <a:cs typeface="Calibri"/>
                <a:sym typeface="Calibri"/>
              </a:rPr>
              <a:t>Without skip connections, masks look like melted wax. U-Net variants still dominate medical and industrial semantic tasks.</a:t>
            </a:r>
            <a:endParaRPr b="0" i="0" sz="1250" u="none" cap="none" strike="noStrike">
              <a:solidFill>
                <a:schemeClr val="dk1"/>
              </a:solidFill>
              <a:latin typeface="Calibri"/>
              <a:ea typeface="Calibri"/>
              <a:cs typeface="Calibri"/>
              <a:sym typeface="Calibri"/>
            </a:endParaRPr>
          </a:p>
        </p:txBody>
      </p:sp>
      <p:sp>
        <p:nvSpPr>
          <p:cNvPr id="2066" name="Google Shape;2066;p73"/>
          <p:cNvSpPr/>
          <p:nvPr/>
        </p:nvSpPr>
        <p:spPr>
          <a:xfrm>
            <a:off x="502920" y="2194560"/>
            <a:ext cx="11185855" cy="868680"/>
          </a:xfrm>
          <a:prstGeom prst="roundRect">
            <a:avLst>
              <a:gd fmla="val 6316" name="adj"/>
            </a:avLst>
          </a:prstGeom>
          <a:solidFill>
            <a:srgbClr val="1D2A5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67" name="Google Shape;2067;p73"/>
          <p:cNvSpPr/>
          <p:nvPr/>
        </p:nvSpPr>
        <p:spPr>
          <a:xfrm>
            <a:off x="685800" y="2194560"/>
            <a:ext cx="4698059" cy="8686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300"/>
              <a:buFont typeface="Calibri"/>
              <a:buNone/>
            </a:pPr>
            <a:r>
              <a:rPr b="1" i="0" lang="en-US" sz="1300" u="none" cap="none" strike="noStrike">
                <a:solidFill>
                  <a:srgbClr val="FFFFFF"/>
                </a:solidFill>
                <a:latin typeface="Calibri"/>
                <a:ea typeface="Calibri"/>
                <a:cs typeface="Calibri"/>
                <a:sym typeface="Calibri"/>
              </a:rPr>
              <a:t>Encoder</a:t>
            </a:r>
            <a:endParaRPr b="0" i="0" sz="1300" u="none" cap="none" strike="noStrike">
              <a:solidFill>
                <a:schemeClr val="dk1"/>
              </a:solidFill>
              <a:latin typeface="Calibri"/>
              <a:ea typeface="Calibri"/>
              <a:cs typeface="Calibri"/>
              <a:sym typeface="Calibri"/>
            </a:endParaRPr>
          </a:p>
        </p:txBody>
      </p:sp>
      <p:sp>
        <p:nvSpPr>
          <p:cNvPr id="2068" name="Google Shape;2068;p73"/>
          <p:cNvSpPr/>
          <p:nvPr/>
        </p:nvSpPr>
        <p:spPr>
          <a:xfrm>
            <a:off x="5424696" y="2194560"/>
            <a:ext cx="5928503" cy="8686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D9E4F5"/>
              </a:buClr>
              <a:buSzPts val="1050"/>
              <a:buFont typeface="Calibri"/>
              <a:buNone/>
            </a:pPr>
            <a:r>
              <a:rPr b="0" i="0" lang="en-US" sz="1050" u="none" cap="none" strike="noStrike">
                <a:solidFill>
                  <a:srgbClr val="D9E4F5"/>
                </a:solidFill>
                <a:latin typeface="Calibri"/>
                <a:ea typeface="Calibri"/>
                <a:cs typeface="Calibri"/>
                <a:sym typeface="Calibri"/>
              </a:rPr>
              <a:t>familiar backbone downsampling to rich, low-resolution features</a:t>
            </a:r>
            <a:endParaRPr b="0" i="0" sz="1050" u="none" cap="none" strike="noStrike">
              <a:solidFill>
                <a:schemeClr val="dk1"/>
              </a:solidFill>
              <a:latin typeface="Calibri"/>
              <a:ea typeface="Calibri"/>
              <a:cs typeface="Calibri"/>
              <a:sym typeface="Calibri"/>
            </a:endParaRPr>
          </a:p>
        </p:txBody>
      </p:sp>
      <p:sp>
        <p:nvSpPr>
          <p:cNvPr id="2069" name="Google Shape;2069;p73"/>
          <p:cNvSpPr/>
          <p:nvPr/>
        </p:nvSpPr>
        <p:spPr>
          <a:xfrm>
            <a:off x="758952" y="3191256"/>
            <a:ext cx="10673791" cy="868680"/>
          </a:xfrm>
          <a:prstGeom prst="roundRect">
            <a:avLst>
              <a:gd fmla="val 6316" name="adj"/>
            </a:avLst>
          </a:prstGeom>
          <a:solidFill>
            <a:srgbClr val="24437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70" name="Google Shape;2070;p73"/>
          <p:cNvSpPr/>
          <p:nvPr/>
        </p:nvSpPr>
        <p:spPr>
          <a:xfrm>
            <a:off x="941832" y="3191256"/>
            <a:ext cx="4482992" cy="8686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300"/>
              <a:buFont typeface="Calibri"/>
              <a:buNone/>
            </a:pPr>
            <a:r>
              <a:rPr b="1" i="0" lang="en-US" sz="1300" u="none" cap="none" strike="noStrike">
                <a:solidFill>
                  <a:srgbClr val="FFFFFF"/>
                </a:solidFill>
                <a:latin typeface="Calibri"/>
                <a:ea typeface="Calibri"/>
                <a:cs typeface="Calibri"/>
                <a:sym typeface="Calibri"/>
              </a:rPr>
              <a:t>Skip connections</a:t>
            </a:r>
            <a:endParaRPr b="0" i="0" sz="1300" u="none" cap="none" strike="noStrike">
              <a:solidFill>
                <a:schemeClr val="dk1"/>
              </a:solidFill>
              <a:latin typeface="Calibri"/>
              <a:ea typeface="Calibri"/>
              <a:cs typeface="Calibri"/>
              <a:sym typeface="Calibri"/>
            </a:endParaRPr>
          </a:p>
        </p:txBody>
      </p:sp>
      <p:sp>
        <p:nvSpPr>
          <p:cNvPr id="2071" name="Google Shape;2071;p73"/>
          <p:cNvSpPr/>
          <p:nvPr/>
        </p:nvSpPr>
        <p:spPr>
          <a:xfrm>
            <a:off x="5455420" y="3191256"/>
            <a:ext cx="5657109" cy="8686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D9E4F5"/>
              </a:buClr>
              <a:buSzPts val="1050"/>
              <a:buFont typeface="Calibri"/>
              <a:buNone/>
            </a:pPr>
            <a:r>
              <a:rPr b="0" i="0" lang="en-US" sz="1050" u="none" cap="none" strike="noStrike">
                <a:solidFill>
                  <a:srgbClr val="D9E4F5"/>
                </a:solidFill>
                <a:latin typeface="Calibri"/>
                <a:ea typeface="Calibri"/>
                <a:cs typeface="Calibri"/>
                <a:sym typeface="Calibri"/>
              </a:rPr>
              <a:t>shallow high-res features concatenated in — boundaries stay sharp</a:t>
            </a:r>
            <a:endParaRPr b="0" i="0" sz="1050" u="none" cap="none" strike="noStrike">
              <a:solidFill>
                <a:schemeClr val="dk1"/>
              </a:solidFill>
              <a:latin typeface="Calibri"/>
              <a:ea typeface="Calibri"/>
              <a:cs typeface="Calibri"/>
              <a:sym typeface="Calibri"/>
            </a:endParaRPr>
          </a:p>
        </p:txBody>
      </p:sp>
      <p:sp>
        <p:nvSpPr>
          <p:cNvPr id="2072" name="Google Shape;2072;p73"/>
          <p:cNvSpPr/>
          <p:nvPr/>
        </p:nvSpPr>
        <p:spPr>
          <a:xfrm>
            <a:off x="1014984" y="4187952"/>
            <a:ext cx="10161727" cy="868680"/>
          </a:xfrm>
          <a:prstGeom prst="roundRect">
            <a:avLst>
              <a:gd fmla="val 6316" name="adj"/>
            </a:avLst>
          </a:prstGeom>
          <a:solidFill>
            <a:srgbClr val="2A5CA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73" name="Google Shape;2073;p73"/>
          <p:cNvSpPr/>
          <p:nvPr/>
        </p:nvSpPr>
        <p:spPr>
          <a:xfrm>
            <a:off x="1197864" y="4187952"/>
            <a:ext cx="4267925" cy="8686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300"/>
              <a:buFont typeface="Calibri"/>
              <a:buNone/>
            </a:pPr>
            <a:r>
              <a:rPr b="1" i="0" lang="en-US" sz="1300" u="none" cap="none" strike="noStrike">
                <a:solidFill>
                  <a:srgbClr val="FFFFFF"/>
                </a:solidFill>
                <a:latin typeface="Calibri"/>
                <a:ea typeface="Calibri"/>
                <a:cs typeface="Calibri"/>
                <a:sym typeface="Calibri"/>
              </a:rPr>
              <a:t>Decoder</a:t>
            </a:r>
            <a:endParaRPr b="0" i="0" sz="1300" u="none" cap="none" strike="noStrike">
              <a:solidFill>
                <a:schemeClr val="dk1"/>
              </a:solidFill>
              <a:latin typeface="Calibri"/>
              <a:ea typeface="Calibri"/>
              <a:cs typeface="Calibri"/>
              <a:sym typeface="Calibri"/>
            </a:endParaRPr>
          </a:p>
        </p:txBody>
      </p:sp>
      <p:sp>
        <p:nvSpPr>
          <p:cNvPr id="2074" name="Google Shape;2074;p73"/>
          <p:cNvSpPr/>
          <p:nvPr/>
        </p:nvSpPr>
        <p:spPr>
          <a:xfrm>
            <a:off x="5486144" y="4187952"/>
            <a:ext cx="5385715" cy="8686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D9E4F5"/>
              </a:buClr>
              <a:buSzPts val="1050"/>
              <a:buFont typeface="Calibri"/>
              <a:buNone/>
            </a:pPr>
            <a:r>
              <a:rPr b="0" i="0" lang="en-US" sz="1050" u="none" cap="none" strike="noStrike">
                <a:solidFill>
                  <a:srgbClr val="D9E4F5"/>
                </a:solidFill>
                <a:latin typeface="Calibri"/>
                <a:ea typeface="Calibri"/>
                <a:cs typeface="Calibri"/>
                <a:sym typeface="Calibri"/>
              </a:rPr>
              <a:t>upsamples back to full resolution for per-pixel prediction</a:t>
            </a:r>
            <a:endParaRPr b="0" i="0" sz="1050" u="none" cap="none" strike="noStrike">
              <a:solidFill>
                <a:schemeClr val="dk1"/>
              </a:solidFill>
              <a:latin typeface="Calibri"/>
              <a:ea typeface="Calibri"/>
              <a:cs typeface="Calibri"/>
              <a:sym typeface="Calibri"/>
            </a:endParaRPr>
          </a:p>
        </p:txBody>
      </p:sp>
      <p:sp>
        <p:nvSpPr>
          <p:cNvPr id="2075" name="Google Shape;2075;p73"/>
          <p:cNvSpPr/>
          <p:nvPr/>
        </p:nvSpPr>
        <p:spPr>
          <a:xfrm>
            <a:off x="1271016" y="5184648"/>
            <a:ext cx="9649663" cy="868680"/>
          </a:xfrm>
          <a:prstGeom prst="roundRect">
            <a:avLst>
              <a:gd fmla="val 6316" name="adj"/>
            </a:avLst>
          </a:prstGeom>
          <a:solidFill>
            <a:srgbClr val="1F7FB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76" name="Google Shape;2076;p73"/>
          <p:cNvSpPr/>
          <p:nvPr/>
        </p:nvSpPr>
        <p:spPr>
          <a:xfrm>
            <a:off x="1453896" y="5184648"/>
            <a:ext cx="4052859" cy="8686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300"/>
              <a:buFont typeface="Calibri"/>
              <a:buNone/>
            </a:pPr>
            <a:r>
              <a:rPr b="1" i="0" lang="en-US" sz="1300" u="none" cap="none" strike="noStrike">
                <a:solidFill>
                  <a:srgbClr val="FFFFFF"/>
                </a:solidFill>
                <a:latin typeface="Calibri"/>
                <a:ea typeface="Calibri"/>
                <a:cs typeface="Calibri"/>
                <a:sym typeface="Calibri"/>
              </a:rPr>
              <a:t>DeepLab: atrous + ASPP</a:t>
            </a:r>
            <a:endParaRPr b="0" i="0" sz="1300" u="none" cap="none" strike="noStrike">
              <a:solidFill>
                <a:schemeClr val="dk1"/>
              </a:solidFill>
              <a:latin typeface="Calibri"/>
              <a:ea typeface="Calibri"/>
              <a:cs typeface="Calibri"/>
              <a:sym typeface="Calibri"/>
            </a:endParaRPr>
          </a:p>
        </p:txBody>
      </p:sp>
      <p:sp>
        <p:nvSpPr>
          <p:cNvPr id="2077" name="Google Shape;2077;p73"/>
          <p:cNvSpPr/>
          <p:nvPr/>
        </p:nvSpPr>
        <p:spPr>
          <a:xfrm>
            <a:off x="5516868" y="5184648"/>
            <a:ext cx="5114321" cy="8686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D9E4F5"/>
              </a:buClr>
              <a:buSzPts val="1050"/>
              <a:buFont typeface="Calibri"/>
              <a:buNone/>
            </a:pPr>
            <a:r>
              <a:rPr b="0" i="0" lang="en-US" sz="1050" u="none" cap="none" strike="noStrike">
                <a:solidFill>
                  <a:srgbClr val="D9E4F5"/>
                </a:solidFill>
                <a:latin typeface="Calibri"/>
                <a:ea typeface="Calibri"/>
                <a:cs typeface="Calibri"/>
                <a:sym typeface="Calibri"/>
              </a:rPr>
              <a:t>dilated convs enlarge receptive fields without losing resolution</a:t>
            </a:r>
            <a:endParaRPr b="0" i="0" sz="1050" u="none" cap="none" strike="noStrike">
              <a:solidFill>
                <a:schemeClr val="dk1"/>
              </a:solidFill>
              <a:latin typeface="Calibri"/>
              <a:ea typeface="Calibri"/>
              <a:cs typeface="Calibri"/>
              <a:sym typeface="Calibri"/>
            </a:endParaRPr>
          </a:p>
        </p:txBody>
      </p:sp>
    </p:spTree>
  </p:cSld>
  <p:clrMapOvr>
    <a:masterClrMapping/>
  </p:clrMapOvr>
</p:sld>
</file>

<file path=ppt/slides/slide7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082" name="Shape 2082"/>
        <p:cNvGrpSpPr/>
        <p:nvPr/>
      </p:nvGrpSpPr>
      <p:grpSpPr>
        <a:xfrm>
          <a:off x="0" y="0"/>
          <a:ext cx="0" cy="0"/>
          <a:chOff x="0" y="0"/>
          <a:chExt cx="0" cy="0"/>
        </a:xfrm>
      </p:grpSpPr>
      <p:sp>
        <p:nvSpPr>
          <p:cNvPr id="2083" name="Google Shape;2083;p74"/>
          <p:cNvSpPr/>
          <p:nvPr/>
        </p:nvSpPr>
        <p:spPr>
          <a:xfrm>
            <a:off x="502920" y="274320"/>
            <a:ext cx="9646920" cy="56692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D2A5C"/>
              </a:buClr>
              <a:buSzPts val="2700"/>
              <a:buFont typeface="Calibri"/>
              <a:buNone/>
            </a:pPr>
            <a:r>
              <a:rPr b="1" i="0" lang="en-US" sz="2700" u="none" cap="none" strike="noStrike">
                <a:solidFill>
                  <a:srgbClr val="1D2A5C"/>
                </a:solidFill>
                <a:latin typeface="Calibri"/>
                <a:ea typeface="Calibri"/>
                <a:cs typeface="Calibri"/>
                <a:sym typeface="Calibri"/>
              </a:rPr>
              <a:t>Mask Heads on Detectors</a:t>
            </a:r>
            <a:endParaRPr b="0" i="0" sz="2700" u="none" cap="none" strike="noStrike">
              <a:solidFill>
                <a:schemeClr val="dk1"/>
              </a:solidFill>
              <a:latin typeface="Calibri"/>
              <a:ea typeface="Calibri"/>
              <a:cs typeface="Calibri"/>
              <a:sym typeface="Calibri"/>
            </a:endParaRPr>
          </a:p>
        </p:txBody>
      </p:sp>
      <p:sp>
        <p:nvSpPr>
          <p:cNvPr id="2084" name="Google Shape;2084;p74"/>
          <p:cNvSpPr/>
          <p:nvPr/>
        </p:nvSpPr>
        <p:spPr>
          <a:xfrm>
            <a:off x="502920" y="859536"/>
            <a:ext cx="9646920" cy="31089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F6B7A"/>
              </a:buClr>
              <a:buSzPts val="1250"/>
              <a:buFont typeface="Arial"/>
              <a:buNone/>
            </a:pPr>
            <a:r>
              <a:rPr b="0" i="0" lang="en-US" sz="1250" u="none" cap="none" strike="noStrike">
                <a:solidFill>
                  <a:srgbClr val="5F6B7A"/>
                </a:solidFill>
                <a:latin typeface="Arial"/>
                <a:ea typeface="Arial"/>
                <a:cs typeface="Arial"/>
                <a:sym typeface="Arial"/>
              </a:rPr>
              <a:t>رؤوس الأقنعة على الكواشف</a:t>
            </a:r>
            <a:endParaRPr b="0" i="0" sz="1250" u="none" cap="none" strike="noStrike">
              <a:solidFill>
                <a:schemeClr val="dk1"/>
              </a:solidFill>
              <a:latin typeface="Calibri"/>
              <a:ea typeface="Calibri"/>
              <a:cs typeface="Calibri"/>
              <a:sym typeface="Calibri"/>
            </a:endParaRPr>
          </a:p>
        </p:txBody>
      </p:sp>
      <p:pic>
        <p:nvPicPr>
          <p:cNvPr descr="/sessions/blissful-determined-ritchie/build/assets/sdaia_logo.png" id="2085" name="Google Shape;2085;p74"/>
          <p:cNvPicPr preferRelativeResize="0"/>
          <p:nvPr/>
        </p:nvPicPr>
        <p:blipFill rotWithShape="1">
          <a:blip r:embed="rId3">
            <a:alphaModFix/>
          </a:blip>
          <a:srcRect b="0" l="0" r="0" t="0"/>
          <a:stretch/>
        </p:blipFill>
        <p:spPr>
          <a:xfrm>
            <a:off x="10625328" y="310896"/>
            <a:ext cx="1078992" cy="264111"/>
          </a:xfrm>
          <a:prstGeom prst="rect">
            <a:avLst/>
          </a:prstGeom>
          <a:noFill/>
          <a:ln>
            <a:noFill/>
          </a:ln>
        </p:spPr>
      </p:pic>
      <p:sp>
        <p:nvSpPr>
          <p:cNvPr id="2086" name="Google Shape;2086;p74"/>
          <p:cNvSpPr/>
          <p:nvPr/>
        </p:nvSpPr>
        <p:spPr>
          <a:xfrm>
            <a:off x="502920" y="6528816"/>
            <a:ext cx="8686800"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A79D"/>
              </a:buClr>
              <a:buSzPts val="800"/>
              <a:buFont typeface="Calibri"/>
              <a:buNone/>
            </a:pPr>
            <a:r>
              <a:rPr b="1" i="0" lang="en-US" sz="800" u="none" cap="none" strike="noStrike">
                <a:solidFill>
                  <a:srgbClr val="00A79D"/>
                </a:solidFill>
                <a:latin typeface="Calibri"/>
                <a:ea typeface="Calibri"/>
                <a:cs typeface="Calibri"/>
                <a:sym typeface="Calibri"/>
              </a:rPr>
              <a:t>MODULE 4   </a:t>
            </a:r>
            <a:r>
              <a:rPr b="0" i="0" lang="en-US" sz="800" u="none" cap="none" strike="noStrike">
                <a:solidFill>
                  <a:srgbClr val="8A96A6"/>
                </a:solidFill>
                <a:latin typeface="Calibri"/>
                <a:ea typeface="Calibri"/>
                <a:cs typeface="Calibri"/>
                <a:sym typeface="Calibri"/>
              </a:rPr>
              <a:t>SDA-AIE-212 · Computer Vision Systems Development</a:t>
            </a:r>
            <a:endParaRPr b="0" i="0" sz="800" u="none" cap="none" strike="noStrike">
              <a:solidFill>
                <a:schemeClr val="dk1"/>
              </a:solidFill>
              <a:latin typeface="Calibri"/>
              <a:ea typeface="Calibri"/>
              <a:cs typeface="Calibri"/>
              <a:sym typeface="Calibri"/>
            </a:endParaRPr>
          </a:p>
        </p:txBody>
      </p:sp>
      <p:sp>
        <p:nvSpPr>
          <p:cNvPr id="2087" name="Google Shape;2087;p74"/>
          <p:cNvSpPr/>
          <p:nvPr/>
        </p:nvSpPr>
        <p:spPr>
          <a:xfrm>
            <a:off x="11292840" y="6528816"/>
            <a:ext cx="411480" cy="219456"/>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8A96A6"/>
              </a:buClr>
              <a:buSzPts val="900"/>
              <a:buFont typeface="Calibri"/>
              <a:buNone/>
            </a:pPr>
            <a:r>
              <a:rPr b="0" i="0" lang="en-US" sz="900" u="none" cap="none" strike="noStrike">
                <a:solidFill>
                  <a:srgbClr val="8A96A6"/>
                </a:solidFill>
                <a:latin typeface="Calibri"/>
                <a:ea typeface="Calibri"/>
                <a:cs typeface="Calibri"/>
                <a:sym typeface="Calibri"/>
              </a:rPr>
              <a:t>74</a:t>
            </a:r>
            <a:endParaRPr b="0" i="0" sz="900" u="none" cap="none" strike="noStrike">
              <a:solidFill>
                <a:schemeClr val="dk1"/>
              </a:solidFill>
              <a:latin typeface="Calibri"/>
              <a:ea typeface="Calibri"/>
              <a:cs typeface="Calibri"/>
              <a:sym typeface="Calibri"/>
            </a:endParaRPr>
          </a:p>
        </p:txBody>
      </p:sp>
      <p:sp>
        <p:nvSpPr>
          <p:cNvPr id="2088" name="Google Shape;2088;p74"/>
          <p:cNvSpPr/>
          <p:nvPr/>
        </p:nvSpPr>
        <p:spPr>
          <a:xfrm>
            <a:off x="502920" y="1389888"/>
            <a:ext cx="5432908" cy="2459736"/>
          </a:xfrm>
          <a:prstGeom prst="roundRect">
            <a:avLst>
              <a:gd fmla="val 3346" name="adj"/>
            </a:avLst>
          </a:prstGeom>
          <a:solidFill>
            <a:srgbClr val="F2F6F9"/>
          </a:solidFill>
          <a:ln cap="flat" cmpd="sng" w="12700">
            <a:solidFill>
              <a:srgbClr val="D9E2E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89" name="Google Shape;2089;p74"/>
          <p:cNvSpPr/>
          <p:nvPr/>
        </p:nvSpPr>
        <p:spPr>
          <a:xfrm>
            <a:off x="704088" y="1581912"/>
            <a:ext cx="146304" cy="146304"/>
          </a:xfrm>
          <a:prstGeom prst="ellipse">
            <a:avLst/>
          </a:prstGeom>
          <a:solidFill>
            <a:srgbClr val="00A79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90" name="Google Shape;2090;p74"/>
          <p:cNvSpPr/>
          <p:nvPr/>
        </p:nvSpPr>
        <p:spPr>
          <a:xfrm>
            <a:off x="960120" y="1481328"/>
            <a:ext cx="4838548"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D2A5C"/>
              </a:buClr>
              <a:buSzPts val="1400"/>
              <a:buFont typeface="Calibri"/>
              <a:buNone/>
            </a:pPr>
            <a:r>
              <a:rPr b="1" i="0" lang="en-US" sz="1400" u="none" cap="none" strike="noStrike">
                <a:solidFill>
                  <a:srgbClr val="1D2A5C"/>
                </a:solidFill>
                <a:latin typeface="Calibri"/>
                <a:ea typeface="Calibri"/>
                <a:cs typeface="Calibri"/>
                <a:sym typeface="Calibri"/>
              </a:rPr>
              <a:t>Mask R-CNN (two-stage)</a:t>
            </a:r>
            <a:endParaRPr b="0" i="0" sz="1400" u="none" cap="none" strike="noStrike">
              <a:solidFill>
                <a:schemeClr val="dk1"/>
              </a:solidFill>
              <a:latin typeface="Calibri"/>
              <a:ea typeface="Calibri"/>
              <a:cs typeface="Calibri"/>
              <a:sym typeface="Calibri"/>
            </a:endParaRPr>
          </a:p>
        </p:txBody>
      </p:sp>
      <p:sp>
        <p:nvSpPr>
          <p:cNvPr id="2091" name="Google Shape;2091;p74"/>
          <p:cNvSpPr/>
          <p:nvPr/>
        </p:nvSpPr>
        <p:spPr>
          <a:xfrm>
            <a:off x="758952" y="1920240"/>
            <a:ext cx="4975708" cy="1801368"/>
          </a:xfrm>
          <a:prstGeom prst="rect">
            <a:avLst/>
          </a:prstGeom>
          <a:noFill/>
          <a:ln>
            <a:noFill/>
          </a:ln>
        </p:spPr>
        <p:txBody>
          <a:bodyPr anchorCtr="0" anchor="t" bIns="0" lIns="0" spcFirstLastPara="1" rIns="0" wrap="square" tIns="0">
            <a:noAutofit/>
          </a:bodyPr>
          <a:lstStyle/>
          <a:p>
            <a:pPr indent="-152400" lvl="0" marL="152400" marR="0" rtl="0" algn="l">
              <a:spcBef>
                <a:spcPts val="0"/>
              </a:spcBef>
              <a:spcAft>
                <a:spcPts val="0"/>
              </a:spcAft>
              <a:buClr>
                <a:srgbClr val="23293B"/>
              </a:buClr>
              <a:buSzPts val="1150"/>
              <a:buFont typeface="Calibri"/>
              <a:buChar char="•"/>
            </a:pPr>
            <a:r>
              <a:rPr b="0" i="0" lang="en-US" sz="1150" u="none" cap="none" strike="noStrike">
                <a:solidFill>
                  <a:srgbClr val="23293B"/>
                </a:solidFill>
                <a:latin typeface="Calibri"/>
                <a:ea typeface="Calibri"/>
                <a:cs typeface="Calibri"/>
                <a:sym typeface="Calibri"/>
              </a:rPr>
              <a:t>Per-region FCN predicts a binary mask</a:t>
            </a:r>
            <a:endParaRPr b="0" i="0" sz="1150" u="none" cap="none" strike="noStrike">
              <a:solidFill>
                <a:schemeClr val="dk1"/>
              </a:solidFill>
              <a:latin typeface="Calibri"/>
              <a:ea typeface="Calibri"/>
              <a:cs typeface="Calibri"/>
              <a:sym typeface="Calibri"/>
            </a:endParaRPr>
          </a:p>
          <a:p>
            <a:pPr indent="-152400" lvl="0" marL="152400" marR="0" rtl="0" algn="l">
              <a:spcBef>
                <a:spcPts val="700"/>
              </a:spcBef>
              <a:spcAft>
                <a:spcPts val="0"/>
              </a:spcAft>
              <a:buClr>
                <a:srgbClr val="23293B"/>
              </a:buClr>
              <a:buSzPts val="1150"/>
              <a:buFont typeface="Calibri"/>
              <a:buChar char="•"/>
            </a:pPr>
            <a:r>
              <a:rPr b="0" i="0" lang="en-US" sz="1150" u="none" cap="none" strike="noStrike">
                <a:solidFill>
                  <a:srgbClr val="23293B"/>
                </a:solidFill>
                <a:latin typeface="Calibri"/>
                <a:ea typeface="Calibri"/>
                <a:cs typeface="Calibri"/>
                <a:sym typeface="Calibri"/>
              </a:rPr>
              <a:t>RoIAlign made pixel-accurate masks possible</a:t>
            </a:r>
            <a:endParaRPr b="0" i="0" sz="1150" u="none" cap="none" strike="noStrike">
              <a:solidFill>
                <a:schemeClr val="dk1"/>
              </a:solidFill>
              <a:latin typeface="Calibri"/>
              <a:ea typeface="Calibri"/>
              <a:cs typeface="Calibri"/>
              <a:sym typeface="Calibri"/>
            </a:endParaRPr>
          </a:p>
          <a:p>
            <a:pPr indent="-152400" lvl="0" marL="152400" marR="0" rtl="0" algn="l">
              <a:spcBef>
                <a:spcPts val="700"/>
              </a:spcBef>
              <a:spcAft>
                <a:spcPts val="0"/>
              </a:spcAft>
              <a:buClr>
                <a:srgbClr val="23293B"/>
              </a:buClr>
              <a:buSzPts val="1150"/>
              <a:buFont typeface="Calibri"/>
              <a:buChar char="•"/>
            </a:pPr>
            <a:r>
              <a:rPr b="0" i="0" lang="en-US" sz="1150" u="none" cap="none" strike="noStrike">
                <a:solidFill>
                  <a:srgbClr val="23293B"/>
                </a:solidFill>
                <a:latin typeface="Calibri"/>
                <a:ea typeface="Calibri"/>
                <a:cs typeface="Calibri"/>
                <a:sym typeface="Calibri"/>
              </a:rPr>
              <a:t>A favourite interview question</a:t>
            </a:r>
            <a:endParaRPr b="0" i="0" sz="1150" u="none" cap="none" strike="noStrike">
              <a:solidFill>
                <a:schemeClr val="dk1"/>
              </a:solidFill>
              <a:latin typeface="Calibri"/>
              <a:ea typeface="Calibri"/>
              <a:cs typeface="Calibri"/>
              <a:sym typeface="Calibri"/>
            </a:endParaRPr>
          </a:p>
          <a:p>
            <a:pPr indent="-152400" lvl="0" marL="152400" marR="0" rtl="0" algn="l">
              <a:spcBef>
                <a:spcPts val="700"/>
              </a:spcBef>
              <a:spcAft>
                <a:spcPts val="0"/>
              </a:spcAft>
              <a:buClr>
                <a:srgbClr val="23293B"/>
              </a:buClr>
              <a:buSzPts val="1150"/>
              <a:buFont typeface="Calibri"/>
              <a:buChar char="•"/>
            </a:pPr>
            <a:r>
              <a:rPr b="0" i="0" lang="en-US" sz="1150" u="none" cap="none" strike="noStrike">
                <a:solidFill>
                  <a:srgbClr val="23293B"/>
                </a:solidFill>
                <a:latin typeface="Calibri"/>
                <a:ea typeface="Calibri"/>
                <a:cs typeface="Calibri"/>
                <a:sym typeface="Calibri"/>
              </a:rPr>
              <a:t>The two-stage reference you must discuss</a:t>
            </a:r>
            <a:endParaRPr b="0" i="0" sz="1150" u="none" cap="none" strike="noStrike">
              <a:solidFill>
                <a:schemeClr val="dk1"/>
              </a:solidFill>
              <a:latin typeface="Calibri"/>
              <a:ea typeface="Calibri"/>
              <a:cs typeface="Calibri"/>
              <a:sym typeface="Calibri"/>
            </a:endParaRPr>
          </a:p>
        </p:txBody>
      </p:sp>
      <p:sp>
        <p:nvSpPr>
          <p:cNvPr id="2092" name="Google Shape;2092;p74"/>
          <p:cNvSpPr/>
          <p:nvPr/>
        </p:nvSpPr>
        <p:spPr>
          <a:xfrm>
            <a:off x="6255868" y="1389888"/>
            <a:ext cx="5432908" cy="2459736"/>
          </a:xfrm>
          <a:prstGeom prst="roundRect">
            <a:avLst>
              <a:gd fmla="val 3346" name="adj"/>
            </a:avLst>
          </a:prstGeom>
          <a:solidFill>
            <a:srgbClr val="F2F6F9"/>
          </a:solidFill>
          <a:ln cap="flat" cmpd="sng" w="12700">
            <a:solidFill>
              <a:srgbClr val="D9E2E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93" name="Google Shape;2093;p74"/>
          <p:cNvSpPr/>
          <p:nvPr/>
        </p:nvSpPr>
        <p:spPr>
          <a:xfrm>
            <a:off x="6457036" y="1581912"/>
            <a:ext cx="146304" cy="146304"/>
          </a:xfrm>
          <a:prstGeom prst="ellipse">
            <a:avLst/>
          </a:prstGeom>
          <a:solidFill>
            <a:srgbClr val="29ABE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94" name="Google Shape;2094;p74"/>
          <p:cNvSpPr/>
          <p:nvPr/>
        </p:nvSpPr>
        <p:spPr>
          <a:xfrm>
            <a:off x="6713068" y="1481328"/>
            <a:ext cx="4838548"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D2A5C"/>
              </a:buClr>
              <a:buSzPts val="1400"/>
              <a:buFont typeface="Calibri"/>
              <a:buNone/>
            </a:pPr>
            <a:r>
              <a:rPr b="1" i="0" lang="en-US" sz="1400" u="none" cap="none" strike="noStrike">
                <a:solidFill>
                  <a:srgbClr val="1D2A5C"/>
                </a:solidFill>
                <a:latin typeface="Calibri"/>
                <a:ea typeface="Calibri"/>
                <a:cs typeface="Calibri"/>
                <a:sym typeface="Calibri"/>
              </a:rPr>
              <a:t>YOLO11s-seg (single-stage)</a:t>
            </a:r>
            <a:endParaRPr b="0" i="0" sz="1400" u="none" cap="none" strike="noStrike">
              <a:solidFill>
                <a:schemeClr val="dk1"/>
              </a:solidFill>
              <a:latin typeface="Calibri"/>
              <a:ea typeface="Calibri"/>
              <a:cs typeface="Calibri"/>
              <a:sym typeface="Calibri"/>
            </a:endParaRPr>
          </a:p>
        </p:txBody>
      </p:sp>
      <p:sp>
        <p:nvSpPr>
          <p:cNvPr id="2095" name="Google Shape;2095;p74"/>
          <p:cNvSpPr/>
          <p:nvPr/>
        </p:nvSpPr>
        <p:spPr>
          <a:xfrm>
            <a:off x="6511900" y="1920240"/>
            <a:ext cx="4975708" cy="1801368"/>
          </a:xfrm>
          <a:prstGeom prst="rect">
            <a:avLst/>
          </a:prstGeom>
          <a:noFill/>
          <a:ln>
            <a:noFill/>
          </a:ln>
        </p:spPr>
        <p:txBody>
          <a:bodyPr anchorCtr="0" anchor="t" bIns="0" lIns="0" spcFirstLastPara="1" rIns="0" wrap="square" tIns="0">
            <a:noAutofit/>
          </a:bodyPr>
          <a:lstStyle/>
          <a:p>
            <a:pPr indent="-152400" lvl="0" marL="152400" marR="0" rtl="0" algn="l">
              <a:spcBef>
                <a:spcPts val="0"/>
              </a:spcBef>
              <a:spcAft>
                <a:spcPts val="0"/>
              </a:spcAft>
              <a:buClr>
                <a:srgbClr val="23293B"/>
              </a:buClr>
              <a:buSzPts val="1150"/>
              <a:buFont typeface="Calibri"/>
              <a:buChar char="•"/>
            </a:pPr>
            <a:r>
              <a:rPr b="0" i="0" lang="en-US" sz="1150" u="none" cap="none" strike="noStrike">
                <a:solidFill>
                  <a:srgbClr val="23293B"/>
                </a:solidFill>
                <a:latin typeface="Calibri"/>
                <a:ea typeface="Calibri"/>
                <a:cs typeface="Calibri"/>
                <a:sym typeface="Calibri"/>
              </a:rPr>
              <a:t>Prototype masks + per-instance coefficients</a:t>
            </a:r>
            <a:endParaRPr b="0" i="0" sz="1150" u="none" cap="none" strike="noStrike">
              <a:solidFill>
                <a:schemeClr val="dk1"/>
              </a:solidFill>
              <a:latin typeface="Calibri"/>
              <a:ea typeface="Calibri"/>
              <a:cs typeface="Calibri"/>
              <a:sym typeface="Calibri"/>
            </a:endParaRPr>
          </a:p>
          <a:p>
            <a:pPr indent="-152400" lvl="0" marL="152400" marR="0" rtl="0" algn="l">
              <a:spcBef>
                <a:spcPts val="700"/>
              </a:spcBef>
              <a:spcAft>
                <a:spcPts val="0"/>
              </a:spcAft>
              <a:buClr>
                <a:srgbClr val="23293B"/>
              </a:buClr>
              <a:buSzPts val="1150"/>
              <a:buFont typeface="Calibri"/>
              <a:buChar char="•"/>
            </a:pPr>
            <a:r>
              <a:rPr b="0" i="0" lang="en-US" sz="1150" u="none" cap="none" strike="noStrike">
                <a:solidFill>
                  <a:srgbClr val="23293B"/>
                </a:solidFill>
                <a:latin typeface="Calibri"/>
                <a:ea typeface="Calibri"/>
                <a:cs typeface="Calibri"/>
                <a:sym typeface="Calibri"/>
              </a:rPr>
              <a:t>The YOLACT idea: linear combination</a:t>
            </a:r>
            <a:endParaRPr b="0" i="0" sz="1150" u="none" cap="none" strike="noStrike">
              <a:solidFill>
                <a:schemeClr val="dk1"/>
              </a:solidFill>
              <a:latin typeface="Calibri"/>
              <a:ea typeface="Calibri"/>
              <a:cs typeface="Calibri"/>
              <a:sym typeface="Calibri"/>
            </a:endParaRPr>
          </a:p>
          <a:p>
            <a:pPr indent="-152400" lvl="0" marL="152400" marR="0" rtl="0" algn="l">
              <a:spcBef>
                <a:spcPts val="700"/>
              </a:spcBef>
              <a:spcAft>
                <a:spcPts val="0"/>
              </a:spcAft>
              <a:buClr>
                <a:srgbClr val="23293B"/>
              </a:buClr>
              <a:buSzPts val="1150"/>
              <a:buFont typeface="Calibri"/>
              <a:buChar char="•"/>
            </a:pPr>
            <a:r>
              <a:rPr b="0" i="0" lang="en-US" sz="1150" u="none" cap="none" strike="noStrike">
                <a:solidFill>
                  <a:srgbClr val="23293B"/>
                </a:solidFill>
                <a:latin typeface="Calibri"/>
                <a:ea typeface="Calibri"/>
                <a:cs typeface="Calibri"/>
                <a:sym typeface="Calibri"/>
              </a:rPr>
              <a:t>Near-detector speed, softer boundaries</a:t>
            </a:r>
            <a:endParaRPr b="0" i="0" sz="1150" u="none" cap="none" strike="noStrike">
              <a:solidFill>
                <a:schemeClr val="dk1"/>
              </a:solidFill>
              <a:latin typeface="Calibri"/>
              <a:ea typeface="Calibri"/>
              <a:cs typeface="Calibri"/>
              <a:sym typeface="Calibri"/>
            </a:endParaRPr>
          </a:p>
          <a:p>
            <a:pPr indent="-152400" lvl="0" marL="152400" marR="0" rtl="0" algn="l">
              <a:spcBef>
                <a:spcPts val="700"/>
              </a:spcBef>
              <a:spcAft>
                <a:spcPts val="0"/>
              </a:spcAft>
              <a:buClr>
                <a:srgbClr val="23293B"/>
              </a:buClr>
              <a:buSzPts val="1150"/>
              <a:buFont typeface="Calibri"/>
              <a:buChar char="•"/>
            </a:pPr>
            <a:r>
              <a:rPr b="0" i="0" lang="en-US" sz="1150" u="none" cap="none" strike="noStrike">
                <a:solidFill>
                  <a:srgbClr val="23293B"/>
                </a:solidFill>
                <a:latin typeface="Calibri"/>
                <a:ea typeface="Calibri"/>
                <a:cs typeface="Calibri"/>
                <a:sym typeface="Calibri"/>
              </a:rPr>
              <a:t>Course choice: one workflow, golden thread</a:t>
            </a:r>
            <a:endParaRPr b="0" i="0" sz="1150" u="none" cap="none" strike="noStrike">
              <a:solidFill>
                <a:schemeClr val="dk1"/>
              </a:solidFill>
              <a:latin typeface="Calibri"/>
              <a:ea typeface="Calibri"/>
              <a:cs typeface="Calibri"/>
              <a:sym typeface="Calibri"/>
            </a:endParaRPr>
          </a:p>
        </p:txBody>
      </p:sp>
      <p:sp>
        <p:nvSpPr>
          <p:cNvPr id="2096" name="Google Shape;2096;p74"/>
          <p:cNvSpPr/>
          <p:nvPr/>
        </p:nvSpPr>
        <p:spPr>
          <a:xfrm>
            <a:off x="2522830" y="4014216"/>
            <a:ext cx="7146036" cy="457200"/>
          </a:xfrm>
          <a:prstGeom prst="roundRect">
            <a:avLst>
              <a:gd fmla="val 50000" name="adj"/>
            </a:avLst>
          </a:prstGeom>
          <a:solidFill>
            <a:srgbClr val="FEF3E7"/>
          </a:solidFill>
          <a:ln cap="flat" cmpd="sng" w="15875">
            <a:solidFill>
              <a:srgbClr val="F5822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97" name="Google Shape;2097;p74"/>
          <p:cNvSpPr/>
          <p:nvPr/>
        </p:nvSpPr>
        <p:spPr>
          <a:xfrm>
            <a:off x="2614270" y="4014216"/>
            <a:ext cx="6963156"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B35A0F"/>
              </a:buClr>
              <a:buSzPts val="1185"/>
              <a:buFont typeface="Calibri"/>
              <a:buNone/>
            </a:pPr>
            <a:r>
              <a:rPr b="1" i="0" lang="en-US" sz="1185" u="none" cap="none" strike="noStrike">
                <a:solidFill>
                  <a:srgbClr val="B35A0F"/>
                </a:solidFill>
                <a:latin typeface="Calibri"/>
                <a:ea typeface="Calibri"/>
                <a:cs typeface="Calibri"/>
                <a:sym typeface="Calibri"/>
              </a:rPr>
              <a:t>Transformers: SAM matters for annotation economics (M5), not as the line model.</a:t>
            </a:r>
            <a:endParaRPr b="0" i="0" sz="1185" u="none" cap="none" strike="noStrike">
              <a:solidFill>
                <a:schemeClr val="dk1"/>
              </a:solidFill>
              <a:latin typeface="Calibri"/>
              <a:ea typeface="Calibri"/>
              <a:cs typeface="Calibri"/>
              <a:sym typeface="Calibri"/>
            </a:endParaRPr>
          </a:p>
        </p:txBody>
      </p:sp>
    </p:spTree>
  </p:cSld>
  <p:clrMapOvr>
    <a:masterClrMapping/>
  </p:clrMapOvr>
</p:sld>
</file>

<file path=ppt/slides/slide7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102" name="Shape 2102"/>
        <p:cNvGrpSpPr/>
        <p:nvPr/>
      </p:nvGrpSpPr>
      <p:grpSpPr>
        <a:xfrm>
          <a:off x="0" y="0"/>
          <a:ext cx="0" cy="0"/>
          <a:chOff x="0" y="0"/>
          <a:chExt cx="0" cy="0"/>
        </a:xfrm>
      </p:grpSpPr>
      <p:sp>
        <p:nvSpPr>
          <p:cNvPr id="2103" name="Google Shape;2103;p75"/>
          <p:cNvSpPr/>
          <p:nvPr/>
        </p:nvSpPr>
        <p:spPr>
          <a:xfrm>
            <a:off x="502920" y="274320"/>
            <a:ext cx="9646920" cy="56692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D2A5C"/>
              </a:buClr>
              <a:buSzPts val="2700"/>
              <a:buFont typeface="Calibri"/>
              <a:buNone/>
            </a:pPr>
            <a:r>
              <a:rPr b="1" i="0" lang="en-US" sz="2700" u="none" cap="none" strike="noStrike">
                <a:solidFill>
                  <a:srgbClr val="1D2A5C"/>
                </a:solidFill>
                <a:latin typeface="Calibri"/>
                <a:ea typeface="Calibri"/>
                <a:cs typeface="Calibri"/>
                <a:sym typeface="Calibri"/>
              </a:rPr>
              <a:t>Training Mechanics, Losses, and What Metrics Hide</a:t>
            </a:r>
            <a:endParaRPr b="0" i="0" sz="2700" u="none" cap="none" strike="noStrike">
              <a:solidFill>
                <a:schemeClr val="dk1"/>
              </a:solidFill>
              <a:latin typeface="Calibri"/>
              <a:ea typeface="Calibri"/>
              <a:cs typeface="Calibri"/>
              <a:sym typeface="Calibri"/>
            </a:endParaRPr>
          </a:p>
        </p:txBody>
      </p:sp>
      <p:sp>
        <p:nvSpPr>
          <p:cNvPr id="2104" name="Google Shape;2104;p75"/>
          <p:cNvSpPr/>
          <p:nvPr/>
        </p:nvSpPr>
        <p:spPr>
          <a:xfrm>
            <a:off x="502920" y="859536"/>
            <a:ext cx="9646920" cy="31089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F6B7A"/>
              </a:buClr>
              <a:buSzPts val="1250"/>
              <a:buFont typeface="Arial"/>
              <a:buNone/>
            </a:pPr>
            <a:r>
              <a:rPr b="0" i="0" lang="en-US" sz="1250" u="none" cap="none" strike="noStrike">
                <a:solidFill>
                  <a:srgbClr val="5F6B7A"/>
                </a:solidFill>
                <a:latin typeface="Arial"/>
                <a:ea typeface="Arial"/>
                <a:cs typeface="Arial"/>
                <a:sym typeface="Arial"/>
              </a:rPr>
              <a:t>آليات التدريب والخسائر وما تخفيه المقاييس</a:t>
            </a:r>
            <a:endParaRPr b="0" i="0" sz="1250" u="none" cap="none" strike="noStrike">
              <a:solidFill>
                <a:schemeClr val="dk1"/>
              </a:solidFill>
              <a:latin typeface="Calibri"/>
              <a:ea typeface="Calibri"/>
              <a:cs typeface="Calibri"/>
              <a:sym typeface="Calibri"/>
            </a:endParaRPr>
          </a:p>
        </p:txBody>
      </p:sp>
      <p:pic>
        <p:nvPicPr>
          <p:cNvPr descr="/sessions/blissful-determined-ritchie/build/assets/sdaia_logo.png" id="2105" name="Google Shape;2105;p75"/>
          <p:cNvPicPr preferRelativeResize="0"/>
          <p:nvPr/>
        </p:nvPicPr>
        <p:blipFill rotWithShape="1">
          <a:blip r:embed="rId3">
            <a:alphaModFix/>
          </a:blip>
          <a:srcRect b="0" l="0" r="0" t="0"/>
          <a:stretch/>
        </p:blipFill>
        <p:spPr>
          <a:xfrm>
            <a:off x="10625328" y="310896"/>
            <a:ext cx="1078992" cy="264111"/>
          </a:xfrm>
          <a:prstGeom prst="rect">
            <a:avLst/>
          </a:prstGeom>
          <a:noFill/>
          <a:ln>
            <a:noFill/>
          </a:ln>
        </p:spPr>
      </p:pic>
      <p:sp>
        <p:nvSpPr>
          <p:cNvPr id="2106" name="Google Shape;2106;p75"/>
          <p:cNvSpPr/>
          <p:nvPr/>
        </p:nvSpPr>
        <p:spPr>
          <a:xfrm>
            <a:off x="502920" y="6528816"/>
            <a:ext cx="8686800"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A79D"/>
              </a:buClr>
              <a:buSzPts val="800"/>
              <a:buFont typeface="Calibri"/>
              <a:buNone/>
            </a:pPr>
            <a:r>
              <a:rPr b="1" i="0" lang="en-US" sz="800" u="none" cap="none" strike="noStrike">
                <a:solidFill>
                  <a:srgbClr val="00A79D"/>
                </a:solidFill>
                <a:latin typeface="Calibri"/>
                <a:ea typeface="Calibri"/>
                <a:cs typeface="Calibri"/>
                <a:sym typeface="Calibri"/>
              </a:rPr>
              <a:t>MODULE 4   </a:t>
            </a:r>
            <a:r>
              <a:rPr b="0" i="0" lang="en-US" sz="800" u="none" cap="none" strike="noStrike">
                <a:solidFill>
                  <a:srgbClr val="8A96A6"/>
                </a:solidFill>
                <a:latin typeface="Calibri"/>
                <a:ea typeface="Calibri"/>
                <a:cs typeface="Calibri"/>
                <a:sym typeface="Calibri"/>
              </a:rPr>
              <a:t>SDA-AIE-212 · Computer Vision Systems Development</a:t>
            </a:r>
            <a:endParaRPr b="0" i="0" sz="800" u="none" cap="none" strike="noStrike">
              <a:solidFill>
                <a:schemeClr val="dk1"/>
              </a:solidFill>
              <a:latin typeface="Calibri"/>
              <a:ea typeface="Calibri"/>
              <a:cs typeface="Calibri"/>
              <a:sym typeface="Calibri"/>
            </a:endParaRPr>
          </a:p>
        </p:txBody>
      </p:sp>
      <p:sp>
        <p:nvSpPr>
          <p:cNvPr id="2107" name="Google Shape;2107;p75"/>
          <p:cNvSpPr/>
          <p:nvPr/>
        </p:nvSpPr>
        <p:spPr>
          <a:xfrm>
            <a:off x="11292840" y="6528816"/>
            <a:ext cx="411480" cy="219456"/>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8A96A6"/>
              </a:buClr>
              <a:buSzPts val="900"/>
              <a:buFont typeface="Calibri"/>
              <a:buNone/>
            </a:pPr>
            <a:r>
              <a:rPr b="0" i="0" lang="en-US" sz="900" u="none" cap="none" strike="noStrike">
                <a:solidFill>
                  <a:srgbClr val="8A96A6"/>
                </a:solidFill>
                <a:latin typeface="Calibri"/>
                <a:ea typeface="Calibri"/>
                <a:cs typeface="Calibri"/>
                <a:sym typeface="Calibri"/>
              </a:rPr>
              <a:t>75</a:t>
            </a:r>
            <a:endParaRPr b="0" i="0" sz="900" u="none" cap="none" strike="noStrike">
              <a:solidFill>
                <a:schemeClr val="dk1"/>
              </a:solidFill>
              <a:latin typeface="Calibri"/>
              <a:ea typeface="Calibri"/>
              <a:cs typeface="Calibri"/>
              <a:sym typeface="Calibri"/>
            </a:endParaRPr>
          </a:p>
        </p:txBody>
      </p:sp>
      <p:sp>
        <p:nvSpPr>
          <p:cNvPr id="2108" name="Google Shape;2108;p75"/>
          <p:cNvSpPr/>
          <p:nvPr/>
        </p:nvSpPr>
        <p:spPr>
          <a:xfrm>
            <a:off x="502920" y="1453896"/>
            <a:ext cx="329184" cy="329184"/>
          </a:xfrm>
          <a:prstGeom prst="ellipse">
            <a:avLst/>
          </a:prstGeom>
          <a:solidFill>
            <a:srgbClr val="00A79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09" name="Google Shape;2109;p75"/>
          <p:cNvSpPr/>
          <p:nvPr/>
        </p:nvSpPr>
        <p:spPr>
          <a:xfrm>
            <a:off x="502920" y="1453896"/>
            <a:ext cx="329184" cy="32918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300"/>
              <a:buFont typeface="Calibri"/>
              <a:buNone/>
            </a:pPr>
            <a:r>
              <a:rPr b="1" i="0" lang="en-US" sz="1300" u="none" cap="none" strike="noStrike">
                <a:solidFill>
                  <a:srgbClr val="FFFFFF"/>
                </a:solidFill>
                <a:latin typeface="Calibri"/>
                <a:ea typeface="Calibri"/>
                <a:cs typeface="Calibri"/>
                <a:sym typeface="Calibri"/>
              </a:rPr>
              <a:t>1</a:t>
            </a:r>
            <a:endParaRPr b="0" i="0" sz="1300" u="none" cap="none" strike="noStrike">
              <a:solidFill>
                <a:schemeClr val="dk1"/>
              </a:solidFill>
              <a:latin typeface="Calibri"/>
              <a:ea typeface="Calibri"/>
              <a:cs typeface="Calibri"/>
              <a:sym typeface="Calibri"/>
            </a:endParaRPr>
          </a:p>
        </p:txBody>
      </p:sp>
      <p:sp>
        <p:nvSpPr>
          <p:cNvPr id="2110" name="Google Shape;2110;p75"/>
          <p:cNvSpPr/>
          <p:nvPr/>
        </p:nvSpPr>
        <p:spPr>
          <a:xfrm>
            <a:off x="1005840" y="1389888"/>
            <a:ext cx="10682935"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D2A5C"/>
              </a:buClr>
              <a:buSzPts val="1400"/>
              <a:buFont typeface="Calibri"/>
              <a:buNone/>
            </a:pPr>
            <a:r>
              <a:rPr b="1" i="0" lang="en-US" sz="1400" u="none" cap="none" strike="noStrike">
                <a:solidFill>
                  <a:srgbClr val="1D2A5C"/>
                </a:solidFill>
                <a:latin typeface="Calibri"/>
                <a:ea typeface="Calibri"/>
                <a:cs typeface="Calibri"/>
                <a:sym typeface="Calibri"/>
              </a:rPr>
              <a:t>Polygon labels, new pitfalls</a:t>
            </a:r>
            <a:endParaRPr b="0" i="0" sz="1400" u="none" cap="none" strike="noStrike">
              <a:solidFill>
                <a:schemeClr val="dk1"/>
              </a:solidFill>
              <a:latin typeface="Calibri"/>
              <a:ea typeface="Calibri"/>
              <a:cs typeface="Calibri"/>
              <a:sym typeface="Calibri"/>
            </a:endParaRPr>
          </a:p>
        </p:txBody>
      </p:sp>
      <p:sp>
        <p:nvSpPr>
          <p:cNvPr id="2111" name="Google Shape;2111;p75"/>
          <p:cNvSpPr/>
          <p:nvPr/>
        </p:nvSpPr>
        <p:spPr>
          <a:xfrm>
            <a:off x="1005840" y="1691640"/>
            <a:ext cx="10682935" cy="645566"/>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5F6B7A"/>
              </a:buClr>
              <a:buSzPts val="1150"/>
              <a:buFont typeface="Calibri"/>
              <a:buNone/>
            </a:pPr>
            <a:r>
              <a:rPr b="0" i="0" lang="en-US" sz="1150" u="none" cap="none" strike="noStrike">
                <a:solidFill>
                  <a:srgbClr val="5F6B7A"/>
                </a:solidFill>
                <a:latin typeface="Calibri"/>
                <a:ea typeface="Calibri"/>
                <a:cs typeface="Calibri"/>
                <a:sym typeface="Calibri"/>
              </a:rPr>
              <a:t>class x1 y1 x2 y2 ... normalised, one instance per line. New failure modes: self-intersecting polygons and holes — the spec says 'annotate outer boundary; holes ignored'.</a:t>
            </a:r>
            <a:endParaRPr b="0" i="0" sz="1150" u="none" cap="none" strike="noStrike">
              <a:solidFill>
                <a:schemeClr val="dk1"/>
              </a:solidFill>
              <a:latin typeface="Calibri"/>
              <a:ea typeface="Calibri"/>
              <a:cs typeface="Calibri"/>
              <a:sym typeface="Calibri"/>
            </a:endParaRPr>
          </a:p>
        </p:txBody>
      </p:sp>
      <p:sp>
        <p:nvSpPr>
          <p:cNvPr id="2112" name="Google Shape;2112;p75"/>
          <p:cNvSpPr/>
          <p:nvPr/>
        </p:nvSpPr>
        <p:spPr>
          <a:xfrm>
            <a:off x="502920" y="2446934"/>
            <a:ext cx="329184" cy="329184"/>
          </a:xfrm>
          <a:prstGeom prst="ellipse">
            <a:avLst/>
          </a:prstGeom>
          <a:solidFill>
            <a:srgbClr val="29ABE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13" name="Google Shape;2113;p75"/>
          <p:cNvSpPr/>
          <p:nvPr/>
        </p:nvSpPr>
        <p:spPr>
          <a:xfrm>
            <a:off x="502920" y="2446934"/>
            <a:ext cx="329184" cy="32918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300"/>
              <a:buFont typeface="Calibri"/>
              <a:buNone/>
            </a:pPr>
            <a:r>
              <a:rPr b="1" i="0" lang="en-US" sz="1300" u="none" cap="none" strike="noStrike">
                <a:solidFill>
                  <a:srgbClr val="FFFFFF"/>
                </a:solidFill>
                <a:latin typeface="Calibri"/>
                <a:ea typeface="Calibri"/>
                <a:cs typeface="Calibri"/>
                <a:sym typeface="Calibri"/>
              </a:rPr>
              <a:t>2</a:t>
            </a:r>
            <a:endParaRPr b="0" i="0" sz="1300" u="none" cap="none" strike="noStrike">
              <a:solidFill>
                <a:schemeClr val="dk1"/>
              </a:solidFill>
              <a:latin typeface="Calibri"/>
              <a:ea typeface="Calibri"/>
              <a:cs typeface="Calibri"/>
              <a:sym typeface="Calibri"/>
            </a:endParaRPr>
          </a:p>
        </p:txBody>
      </p:sp>
      <p:sp>
        <p:nvSpPr>
          <p:cNvPr id="2114" name="Google Shape;2114;p75"/>
          <p:cNvSpPr/>
          <p:nvPr/>
        </p:nvSpPr>
        <p:spPr>
          <a:xfrm>
            <a:off x="1005840" y="2382926"/>
            <a:ext cx="10682935"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D2A5C"/>
              </a:buClr>
              <a:buSzPts val="1400"/>
              <a:buFont typeface="Calibri"/>
              <a:buNone/>
            </a:pPr>
            <a:r>
              <a:rPr b="1" i="0" lang="en-US" sz="1400" u="none" cap="none" strike="noStrike">
                <a:solidFill>
                  <a:srgbClr val="1D2A5C"/>
                </a:solidFill>
                <a:latin typeface="Calibri"/>
                <a:ea typeface="Calibri"/>
                <a:cs typeface="Calibri"/>
                <a:sym typeface="Calibri"/>
              </a:rPr>
              <a:t>Dice loss beats BCE at 2% pixels</a:t>
            </a:r>
            <a:endParaRPr b="0" i="0" sz="1400" u="none" cap="none" strike="noStrike">
              <a:solidFill>
                <a:schemeClr val="dk1"/>
              </a:solidFill>
              <a:latin typeface="Calibri"/>
              <a:ea typeface="Calibri"/>
              <a:cs typeface="Calibri"/>
              <a:sym typeface="Calibri"/>
            </a:endParaRPr>
          </a:p>
        </p:txBody>
      </p:sp>
      <p:sp>
        <p:nvSpPr>
          <p:cNvPr id="2115" name="Google Shape;2115;p75"/>
          <p:cNvSpPr/>
          <p:nvPr/>
        </p:nvSpPr>
        <p:spPr>
          <a:xfrm>
            <a:off x="1005840" y="2684678"/>
            <a:ext cx="10682935" cy="645566"/>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5F6B7A"/>
              </a:buClr>
              <a:buSzPts val="1150"/>
              <a:buFont typeface="Calibri"/>
              <a:buNone/>
            </a:pPr>
            <a:r>
              <a:rPr b="0" i="0" lang="en-US" sz="1150" u="none" cap="none" strike="noStrike">
                <a:solidFill>
                  <a:srgbClr val="5F6B7A"/>
                </a:solidFill>
                <a:latin typeface="Calibri"/>
                <a:ea typeface="Calibri"/>
                <a:cs typeface="Calibri"/>
                <a:sym typeface="Calibri"/>
              </a:rPr>
              <a:t>Plain BCE reaches 98% pixel accuracy by predicting 'no defect' everywhere; Dice optimises overlap directly, usually summed with BCE.</a:t>
            </a:r>
            <a:endParaRPr b="0" i="0" sz="1150" u="none" cap="none" strike="noStrike">
              <a:solidFill>
                <a:schemeClr val="dk1"/>
              </a:solidFill>
              <a:latin typeface="Calibri"/>
              <a:ea typeface="Calibri"/>
              <a:cs typeface="Calibri"/>
              <a:sym typeface="Calibri"/>
            </a:endParaRPr>
          </a:p>
        </p:txBody>
      </p:sp>
      <p:sp>
        <p:nvSpPr>
          <p:cNvPr id="2116" name="Google Shape;2116;p75"/>
          <p:cNvSpPr/>
          <p:nvPr/>
        </p:nvSpPr>
        <p:spPr>
          <a:xfrm>
            <a:off x="502920" y="3439973"/>
            <a:ext cx="329184" cy="329184"/>
          </a:xfrm>
          <a:prstGeom prst="ellipse">
            <a:avLst/>
          </a:prstGeom>
          <a:solidFill>
            <a:srgbClr val="F5822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17" name="Google Shape;2117;p75"/>
          <p:cNvSpPr/>
          <p:nvPr/>
        </p:nvSpPr>
        <p:spPr>
          <a:xfrm>
            <a:off x="502920" y="3439973"/>
            <a:ext cx="329184" cy="32918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300"/>
              <a:buFont typeface="Calibri"/>
              <a:buNone/>
            </a:pPr>
            <a:r>
              <a:rPr b="1" i="0" lang="en-US" sz="1300" u="none" cap="none" strike="noStrike">
                <a:solidFill>
                  <a:srgbClr val="FFFFFF"/>
                </a:solidFill>
                <a:latin typeface="Calibri"/>
                <a:ea typeface="Calibri"/>
                <a:cs typeface="Calibri"/>
                <a:sym typeface="Calibri"/>
              </a:rPr>
              <a:t>3</a:t>
            </a:r>
            <a:endParaRPr b="0" i="0" sz="1300" u="none" cap="none" strike="noStrike">
              <a:solidFill>
                <a:schemeClr val="dk1"/>
              </a:solidFill>
              <a:latin typeface="Calibri"/>
              <a:ea typeface="Calibri"/>
              <a:cs typeface="Calibri"/>
              <a:sym typeface="Calibri"/>
            </a:endParaRPr>
          </a:p>
        </p:txBody>
      </p:sp>
      <p:sp>
        <p:nvSpPr>
          <p:cNvPr id="2118" name="Google Shape;2118;p75"/>
          <p:cNvSpPr/>
          <p:nvPr/>
        </p:nvSpPr>
        <p:spPr>
          <a:xfrm>
            <a:off x="1005840" y="3375965"/>
            <a:ext cx="10682935"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D2A5C"/>
              </a:buClr>
              <a:buSzPts val="1400"/>
              <a:buFont typeface="Calibri"/>
              <a:buNone/>
            </a:pPr>
            <a:r>
              <a:rPr b="1" i="0" lang="en-US" sz="1400" u="none" cap="none" strike="noStrike">
                <a:solidFill>
                  <a:srgbClr val="1D2A5C"/>
                </a:solidFill>
                <a:latin typeface="Calibri"/>
                <a:ea typeface="Calibri"/>
                <a:cs typeface="Calibri"/>
                <a:sym typeface="Calibri"/>
              </a:rPr>
              <a:t>Resolution discipline</a:t>
            </a:r>
            <a:endParaRPr b="0" i="0" sz="1400" u="none" cap="none" strike="noStrike">
              <a:solidFill>
                <a:schemeClr val="dk1"/>
              </a:solidFill>
              <a:latin typeface="Calibri"/>
              <a:ea typeface="Calibri"/>
              <a:cs typeface="Calibri"/>
              <a:sym typeface="Calibri"/>
            </a:endParaRPr>
          </a:p>
        </p:txBody>
      </p:sp>
      <p:sp>
        <p:nvSpPr>
          <p:cNvPr id="2119" name="Google Shape;2119;p75"/>
          <p:cNvSpPr/>
          <p:nvPr/>
        </p:nvSpPr>
        <p:spPr>
          <a:xfrm>
            <a:off x="1005840" y="3677717"/>
            <a:ext cx="10682935" cy="645566"/>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5F6B7A"/>
              </a:buClr>
              <a:buSzPts val="1150"/>
              <a:buFont typeface="Calibri"/>
              <a:buNone/>
            </a:pPr>
            <a:r>
              <a:rPr b="0" i="0" lang="en-US" sz="1150" u="none" cap="none" strike="noStrike">
                <a:solidFill>
                  <a:srgbClr val="5F6B7A"/>
                </a:solidFill>
                <a:latin typeface="Calibri"/>
                <a:ea typeface="Calibri"/>
                <a:cs typeface="Calibri"/>
                <a:sym typeface="Calibri"/>
              </a:rPr>
              <a:t>A 3-px skin split at 1280² becomes sub-pixel noise at 320². Train at 640; document the minimum defect width (~6 px) in the model card.</a:t>
            </a:r>
            <a:endParaRPr b="0" i="0" sz="1150" u="none" cap="none" strike="noStrike">
              <a:solidFill>
                <a:schemeClr val="dk1"/>
              </a:solidFill>
              <a:latin typeface="Calibri"/>
              <a:ea typeface="Calibri"/>
              <a:cs typeface="Calibri"/>
              <a:sym typeface="Calibri"/>
            </a:endParaRPr>
          </a:p>
        </p:txBody>
      </p:sp>
      <p:sp>
        <p:nvSpPr>
          <p:cNvPr id="2120" name="Google Shape;2120;p75"/>
          <p:cNvSpPr/>
          <p:nvPr/>
        </p:nvSpPr>
        <p:spPr>
          <a:xfrm>
            <a:off x="502920" y="4433011"/>
            <a:ext cx="329184" cy="329184"/>
          </a:xfrm>
          <a:prstGeom prst="ellipse">
            <a:avLst/>
          </a:prstGeom>
          <a:solidFill>
            <a:srgbClr val="8DC63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21" name="Google Shape;2121;p75"/>
          <p:cNvSpPr/>
          <p:nvPr/>
        </p:nvSpPr>
        <p:spPr>
          <a:xfrm>
            <a:off x="502920" y="4433011"/>
            <a:ext cx="329184" cy="32918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300"/>
              <a:buFont typeface="Calibri"/>
              <a:buNone/>
            </a:pPr>
            <a:r>
              <a:rPr b="1" i="0" lang="en-US" sz="1300" u="none" cap="none" strike="noStrike">
                <a:solidFill>
                  <a:srgbClr val="FFFFFF"/>
                </a:solidFill>
                <a:latin typeface="Calibri"/>
                <a:ea typeface="Calibri"/>
                <a:cs typeface="Calibri"/>
                <a:sym typeface="Calibri"/>
              </a:rPr>
              <a:t>4</a:t>
            </a:r>
            <a:endParaRPr b="0" i="0" sz="1300" u="none" cap="none" strike="noStrike">
              <a:solidFill>
                <a:schemeClr val="dk1"/>
              </a:solidFill>
              <a:latin typeface="Calibri"/>
              <a:ea typeface="Calibri"/>
              <a:cs typeface="Calibri"/>
              <a:sym typeface="Calibri"/>
            </a:endParaRPr>
          </a:p>
        </p:txBody>
      </p:sp>
      <p:sp>
        <p:nvSpPr>
          <p:cNvPr id="2122" name="Google Shape;2122;p75"/>
          <p:cNvSpPr/>
          <p:nvPr/>
        </p:nvSpPr>
        <p:spPr>
          <a:xfrm>
            <a:off x="1005840" y="4369003"/>
            <a:ext cx="10682935"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D2A5C"/>
              </a:buClr>
              <a:buSzPts val="1400"/>
              <a:buFont typeface="Calibri"/>
              <a:buNone/>
            </a:pPr>
            <a:r>
              <a:rPr b="1" i="0" lang="en-US" sz="1400" u="none" cap="none" strike="noStrike">
                <a:solidFill>
                  <a:srgbClr val="1D2A5C"/>
                </a:solidFill>
                <a:latin typeface="Calibri"/>
                <a:ea typeface="Calibri"/>
                <a:cs typeface="Calibri"/>
                <a:sym typeface="Calibri"/>
              </a:rPr>
              <a:t>What mIoU hides</a:t>
            </a:r>
            <a:endParaRPr b="0" i="0" sz="1400" u="none" cap="none" strike="noStrike">
              <a:solidFill>
                <a:schemeClr val="dk1"/>
              </a:solidFill>
              <a:latin typeface="Calibri"/>
              <a:ea typeface="Calibri"/>
              <a:cs typeface="Calibri"/>
              <a:sym typeface="Calibri"/>
            </a:endParaRPr>
          </a:p>
        </p:txBody>
      </p:sp>
      <p:sp>
        <p:nvSpPr>
          <p:cNvPr id="2123" name="Google Shape;2123;p75"/>
          <p:cNvSpPr/>
          <p:nvPr/>
        </p:nvSpPr>
        <p:spPr>
          <a:xfrm>
            <a:off x="1005840" y="4670755"/>
            <a:ext cx="10682935" cy="645566"/>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5F6B7A"/>
              </a:buClr>
              <a:buSzPts val="1150"/>
              <a:buFont typeface="Calibri"/>
              <a:buNone/>
            </a:pPr>
            <a:r>
              <a:rPr b="0" i="0" lang="en-US" sz="1150" u="none" cap="none" strike="noStrike">
                <a:solidFill>
                  <a:srgbClr val="5F6B7A"/>
                </a:solidFill>
                <a:latin typeface="Calibri"/>
                <a:ea typeface="Calibri"/>
                <a:cs typeface="Calibri"/>
                <a:sym typeface="Calibri"/>
              </a:rPr>
              <a:t>A mask 3 px too fat everywhere scores well yet breaks area measurement by 15% on small defects — add measurement-level tests.</a:t>
            </a:r>
            <a:endParaRPr b="0" i="0" sz="1150" u="none" cap="none" strike="noStrike">
              <a:solidFill>
                <a:schemeClr val="dk1"/>
              </a:solidFill>
              <a:latin typeface="Calibri"/>
              <a:ea typeface="Calibri"/>
              <a:cs typeface="Calibri"/>
              <a:sym typeface="Calibri"/>
            </a:endParaRPr>
          </a:p>
        </p:txBody>
      </p:sp>
      <p:sp>
        <p:nvSpPr>
          <p:cNvPr id="2124" name="Google Shape;2124;p75"/>
          <p:cNvSpPr/>
          <p:nvPr/>
        </p:nvSpPr>
        <p:spPr>
          <a:xfrm>
            <a:off x="502920" y="5426050"/>
            <a:ext cx="329184" cy="329184"/>
          </a:xfrm>
          <a:prstGeom prst="ellipse">
            <a:avLst/>
          </a:prstGeom>
          <a:solidFill>
            <a:srgbClr val="1D2A5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25" name="Google Shape;2125;p75"/>
          <p:cNvSpPr/>
          <p:nvPr/>
        </p:nvSpPr>
        <p:spPr>
          <a:xfrm>
            <a:off x="502920" y="5426050"/>
            <a:ext cx="329184" cy="32918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300"/>
              <a:buFont typeface="Calibri"/>
              <a:buNone/>
            </a:pPr>
            <a:r>
              <a:rPr b="1" i="0" lang="en-US" sz="1300" u="none" cap="none" strike="noStrike">
                <a:solidFill>
                  <a:srgbClr val="FFFFFF"/>
                </a:solidFill>
                <a:latin typeface="Calibri"/>
                <a:ea typeface="Calibri"/>
                <a:cs typeface="Calibri"/>
                <a:sym typeface="Calibri"/>
              </a:rPr>
              <a:t>5</a:t>
            </a:r>
            <a:endParaRPr b="0" i="0" sz="1300" u="none" cap="none" strike="noStrike">
              <a:solidFill>
                <a:schemeClr val="dk1"/>
              </a:solidFill>
              <a:latin typeface="Calibri"/>
              <a:ea typeface="Calibri"/>
              <a:cs typeface="Calibri"/>
              <a:sym typeface="Calibri"/>
            </a:endParaRPr>
          </a:p>
        </p:txBody>
      </p:sp>
      <p:sp>
        <p:nvSpPr>
          <p:cNvPr id="2126" name="Google Shape;2126;p75"/>
          <p:cNvSpPr/>
          <p:nvPr/>
        </p:nvSpPr>
        <p:spPr>
          <a:xfrm>
            <a:off x="1005840" y="5362042"/>
            <a:ext cx="10682935"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D2A5C"/>
              </a:buClr>
              <a:buSzPts val="1400"/>
              <a:buFont typeface="Calibri"/>
              <a:buNone/>
            </a:pPr>
            <a:r>
              <a:rPr b="1" i="0" lang="en-US" sz="1400" u="none" cap="none" strike="noStrike">
                <a:solidFill>
                  <a:srgbClr val="1D2A5C"/>
                </a:solidFill>
                <a:latin typeface="Calibri"/>
                <a:ea typeface="Calibri"/>
                <a:cs typeface="Calibri"/>
                <a:sym typeface="Calibri"/>
              </a:rPr>
              <a:t>Confidence describes the detection, not the mask</a:t>
            </a:r>
            <a:endParaRPr b="0" i="0" sz="1400" u="none" cap="none" strike="noStrike">
              <a:solidFill>
                <a:schemeClr val="dk1"/>
              </a:solidFill>
              <a:latin typeface="Calibri"/>
              <a:ea typeface="Calibri"/>
              <a:cs typeface="Calibri"/>
              <a:sym typeface="Calibri"/>
            </a:endParaRPr>
          </a:p>
        </p:txBody>
      </p:sp>
      <p:sp>
        <p:nvSpPr>
          <p:cNvPr id="2127" name="Google Shape;2127;p75"/>
          <p:cNvSpPr/>
          <p:nvPr/>
        </p:nvSpPr>
        <p:spPr>
          <a:xfrm>
            <a:off x="1005840" y="5663794"/>
            <a:ext cx="10682935" cy="645566"/>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5F6B7A"/>
              </a:buClr>
              <a:buSzPts val="1150"/>
              <a:buFont typeface="Calibri"/>
              <a:buNone/>
            </a:pPr>
            <a:r>
              <a:rPr b="0" i="0" lang="en-US" sz="1150" u="none" cap="none" strike="noStrike">
                <a:solidFill>
                  <a:srgbClr val="5F6B7A"/>
                </a:solidFill>
                <a:latin typeface="Calibri"/>
                <a:ea typeface="Calibri"/>
                <a:cs typeface="Calibri"/>
                <a:sym typeface="Calibri"/>
              </a:rPr>
              <a:t>Low-quality masks on confident detections are a distinct, auditable failure mode.</a:t>
            </a:r>
            <a:endParaRPr b="0" i="0" sz="1150" u="none" cap="none" strike="noStrike">
              <a:solidFill>
                <a:schemeClr val="dk1"/>
              </a:solidFill>
              <a:latin typeface="Calibri"/>
              <a:ea typeface="Calibri"/>
              <a:cs typeface="Calibri"/>
              <a:sym typeface="Calibri"/>
            </a:endParaRPr>
          </a:p>
        </p:txBody>
      </p:sp>
    </p:spTree>
  </p:cSld>
  <p:clrMapOvr>
    <a:masterClrMapping/>
  </p:clrMapOvr>
</p:sld>
</file>

<file path=ppt/slides/slide7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132" name="Shape 2132"/>
        <p:cNvGrpSpPr/>
        <p:nvPr/>
      </p:nvGrpSpPr>
      <p:grpSpPr>
        <a:xfrm>
          <a:off x="0" y="0"/>
          <a:ext cx="0" cy="0"/>
          <a:chOff x="0" y="0"/>
          <a:chExt cx="0" cy="0"/>
        </a:xfrm>
      </p:grpSpPr>
      <p:sp>
        <p:nvSpPr>
          <p:cNvPr id="2133" name="Google Shape;2133;p76"/>
          <p:cNvSpPr/>
          <p:nvPr/>
        </p:nvSpPr>
        <p:spPr>
          <a:xfrm>
            <a:off x="502920" y="274320"/>
            <a:ext cx="9646920" cy="56692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D2A5C"/>
              </a:buClr>
              <a:buSzPts val="2700"/>
              <a:buFont typeface="Calibri"/>
              <a:buNone/>
            </a:pPr>
            <a:r>
              <a:rPr b="1" i="0" lang="en-US" sz="2700" u="none" cap="none" strike="noStrike">
                <a:solidFill>
                  <a:srgbClr val="1D2A5C"/>
                </a:solidFill>
                <a:latin typeface="Calibri"/>
                <a:ea typeface="Calibri"/>
                <a:cs typeface="Calibri"/>
                <a:sym typeface="Calibri"/>
              </a:rPr>
              <a:t>From Masks to Measurements</a:t>
            </a:r>
            <a:endParaRPr b="0" i="0" sz="2700" u="none" cap="none" strike="noStrike">
              <a:solidFill>
                <a:schemeClr val="dk1"/>
              </a:solidFill>
              <a:latin typeface="Calibri"/>
              <a:ea typeface="Calibri"/>
              <a:cs typeface="Calibri"/>
              <a:sym typeface="Calibri"/>
            </a:endParaRPr>
          </a:p>
        </p:txBody>
      </p:sp>
      <p:sp>
        <p:nvSpPr>
          <p:cNvPr id="2134" name="Google Shape;2134;p76"/>
          <p:cNvSpPr/>
          <p:nvPr/>
        </p:nvSpPr>
        <p:spPr>
          <a:xfrm>
            <a:off x="502920" y="859536"/>
            <a:ext cx="9646920" cy="31089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F6B7A"/>
              </a:buClr>
              <a:buSzPts val="1250"/>
              <a:buFont typeface="Arial"/>
              <a:buNone/>
            </a:pPr>
            <a:r>
              <a:rPr b="0" i="0" lang="en-US" sz="1250" u="none" cap="none" strike="noStrike">
                <a:solidFill>
                  <a:srgbClr val="5F6B7A"/>
                </a:solidFill>
                <a:latin typeface="Arial"/>
                <a:ea typeface="Arial"/>
                <a:cs typeface="Arial"/>
                <a:sym typeface="Arial"/>
              </a:rPr>
              <a:t>من الأقنعة إلى القياسات</a:t>
            </a:r>
            <a:endParaRPr b="0" i="0" sz="1250" u="none" cap="none" strike="noStrike">
              <a:solidFill>
                <a:schemeClr val="dk1"/>
              </a:solidFill>
              <a:latin typeface="Calibri"/>
              <a:ea typeface="Calibri"/>
              <a:cs typeface="Calibri"/>
              <a:sym typeface="Calibri"/>
            </a:endParaRPr>
          </a:p>
        </p:txBody>
      </p:sp>
      <p:pic>
        <p:nvPicPr>
          <p:cNvPr descr="/sessions/blissful-determined-ritchie/build/assets/sdaia_logo.png" id="2135" name="Google Shape;2135;p76"/>
          <p:cNvPicPr preferRelativeResize="0"/>
          <p:nvPr/>
        </p:nvPicPr>
        <p:blipFill rotWithShape="1">
          <a:blip r:embed="rId3">
            <a:alphaModFix/>
          </a:blip>
          <a:srcRect b="0" l="0" r="0" t="0"/>
          <a:stretch/>
        </p:blipFill>
        <p:spPr>
          <a:xfrm>
            <a:off x="10625328" y="310896"/>
            <a:ext cx="1078992" cy="264111"/>
          </a:xfrm>
          <a:prstGeom prst="rect">
            <a:avLst/>
          </a:prstGeom>
          <a:noFill/>
          <a:ln>
            <a:noFill/>
          </a:ln>
        </p:spPr>
      </p:pic>
      <p:sp>
        <p:nvSpPr>
          <p:cNvPr id="2136" name="Google Shape;2136;p76"/>
          <p:cNvSpPr/>
          <p:nvPr/>
        </p:nvSpPr>
        <p:spPr>
          <a:xfrm>
            <a:off x="502920" y="6528816"/>
            <a:ext cx="8686800"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A79D"/>
              </a:buClr>
              <a:buSzPts val="800"/>
              <a:buFont typeface="Calibri"/>
              <a:buNone/>
            </a:pPr>
            <a:r>
              <a:rPr b="1" i="0" lang="en-US" sz="800" u="none" cap="none" strike="noStrike">
                <a:solidFill>
                  <a:srgbClr val="00A79D"/>
                </a:solidFill>
                <a:latin typeface="Calibri"/>
                <a:ea typeface="Calibri"/>
                <a:cs typeface="Calibri"/>
                <a:sym typeface="Calibri"/>
              </a:rPr>
              <a:t>MODULE 4   </a:t>
            </a:r>
            <a:r>
              <a:rPr b="0" i="0" lang="en-US" sz="800" u="none" cap="none" strike="noStrike">
                <a:solidFill>
                  <a:srgbClr val="8A96A6"/>
                </a:solidFill>
                <a:latin typeface="Calibri"/>
                <a:ea typeface="Calibri"/>
                <a:cs typeface="Calibri"/>
                <a:sym typeface="Calibri"/>
              </a:rPr>
              <a:t>SDA-AIE-212 · Computer Vision Systems Development</a:t>
            </a:r>
            <a:endParaRPr b="0" i="0" sz="800" u="none" cap="none" strike="noStrike">
              <a:solidFill>
                <a:schemeClr val="dk1"/>
              </a:solidFill>
              <a:latin typeface="Calibri"/>
              <a:ea typeface="Calibri"/>
              <a:cs typeface="Calibri"/>
              <a:sym typeface="Calibri"/>
            </a:endParaRPr>
          </a:p>
        </p:txBody>
      </p:sp>
      <p:sp>
        <p:nvSpPr>
          <p:cNvPr id="2137" name="Google Shape;2137;p76"/>
          <p:cNvSpPr/>
          <p:nvPr/>
        </p:nvSpPr>
        <p:spPr>
          <a:xfrm>
            <a:off x="11292840" y="6528816"/>
            <a:ext cx="411480" cy="219456"/>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8A96A6"/>
              </a:buClr>
              <a:buSzPts val="900"/>
              <a:buFont typeface="Calibri"/>
              <a:buNone/>
            </a:pPr>
            <a:r>
              <a:rPr b="0" i="0" lang="en-US" sz="900" u="none" cap="none" strike="noStrike">
                <a:solidFill>
                  <a:srgbClr val="8A96A6"/>
                </a:solidFill>
                <a:latin typeface="Calibri"/>
                <a:ea typeface="Calibri"/>
                <a:cs typeface="Calibri"/>
                <a:sym typeface="Calibri"/>
              </a:rPr>
              <a:t>76</a:t>
            </a:r>
            <a:endParaRPr b="0" i="0" sz="900" u="none" cap="none" strike="noStrike">
              <a:solidFill>
                <a:schemeClr val="dk1"/>
              </a:solidFill>
              <a:latin typeface="Calibri"/>
              <a:ea typeface="Calibri"/>
              <a:cs typeface="Calibri"/>
              <a:sym typeface="Calibri"/>
            </a:endParaRPr>
          </a:p>
        </p:txBody>
      </p:sp>
      <p:sp>
        <p:nvSpPr>
          <p:cNvPr id="2138" name="Google Shape;2138;p76"/>
          <p:cNvSpPr/>
          <p:nvPr/>
        </p:nvSpPr>
        <p:spPr>
          <a:xfrm>
            <a:off x="502920" y="1389888"/>
            <a:ext cx="11185855" cy="384048"/>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5F6B7A"/>
              </a:buClr>
              <a:buSzPts val="1250"/>
              <a:buFont typeface="Calibri"/>
              <a:buNone/>
            </a:pPr>
            <a:r>
              <a:rPr b="0" i="1" lang="en-US" sz="1250" u="none" cap="none" strike="noStrike">
                <a:solidFill>
                  <a:srgbClr val="5F6B7A"/>
                </a:solidFill>
                <a:latin typeface="Calibri"/>
                <a:ea typeface="Calibri"/>
                <a:cs typeface="Calibri"/>
                <a:sym typeface="Calibri"/>
              </a:rPr>
              <a:t>Where segmentation pilots quietly fail. Every vision measurement embeds an approximation — write it down or it becomes a dispute.</a:t>
            </a:r>
            <a:endParaRPr b="0" i="0" sz="1250" u="none" cap="none" strike="noStrike">
              <a:solidFill>
                <a:schemeClr val="dk1"/>
              </a:solidFill>
              <a:latin typeface="Calibri"/>
              <a:ea typeface="Calibri"/>
              <a:cs typeface="Calibri"/>
              <a:sym typeface="Calibri"/>
            </a:endParaRPr>
          </a:p>
        </p:txBody>
      </p:sp>
      <p:sp>
        <p:nvSpPr>
          <p:cNvPr id="2139" name="Google Shape;2139;p76"/>
          <p:cNvSpPr/>
          <p:nvPr/>
        </p:nvSpPr>
        <p:spPr>
          <a:xfrm>
            <a:off x="502920" y="3118104"/>
            <a:ext cx="2508428" cy="1371600"/>
          </a:xfrm>
          <a:prstGeom prst="roundRect">
            <a:avLst>
              <a:gd fmla="val 4667" name="adj"/>
            </a:avLst>
          </a:prstGeom>
          <a:solidFill>
            <a:srgbClr val="F2F6F9"/>
          </a:solidFill>
          <a:ln cap="flat" cmpd="sng" w="15875">
            <a:solidFill>
              <a:srgbClr val="00A79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40" name="Google Shape;2140;p76"/>
          <p:cNvSpPr/>
          <p:nvPr/>
        </p:nvSpPr>
        <p:spPr>
          <a:xfrm>
            <a:off x="576072" y="3172968"/>
            <a:ext cx="2362124" cy="6172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D2A5C"/>
              </a:buClr>
              <a:buSzPts val="1250"/>
              <a:buFont typeface="Calibri"/>
              <a:buNone/>
            </a:pPr>
            <a:r>
              <a:rPr b="1" i="0" lang="en-US" sz="1250" u="none" cap="none" strike="noStrike">
                <a:solidFill>
                  <a:srgbClr val="1D2A5C"/>
                </a:solidFill>
                <a:latin typeface="Calibri"/>
                <a:ea typeface="Calibri"/>
                <a:cs typeface="Calibri"/>
                <a:sym typeface="Calibri"/>
              </a:rPr>
              <a:t>Attribution</a:t>
            </a:r>
            <a:endParaRPr b="0" i="0" sz="1250" u="none" cap="none" strike="noStrike">
              <a:solidFill>
                <a:schemeClr val="dk1"/>
              </a:solidFill>
              <a:latin typeface="Calibri"/>
              <a:ea typeface="Calibri"/>
              <a:cs typeface="Calibri"/>
              <a:sym typeface="Calibri"/>
            </a:endParaRPr>
          </a:p>
        </p:txBody>
      </p:sp>
      <p:sp>
        <p:nvSpPr>
          <p:cNvPr id="2141" name="Google Shape;2141;p76"/>
          <p:cNvSpPr/>
          <p:nvPr/>
        </p:nvSpPr>
        <p:spPr>
          <a:xfrm>
            <a:off x="576072" y="3776472"/>
            <a:ext cx="2362124" cy="658368"/>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rgbClr val="5F6B7A"/>
              </a:buClr>
              <a:buSzPts val="950"/>
              <a:buFont typeface="Calibri"/>
              <a:buNone/>
            </a:pPr>
            <a:r>
              <a:rPr b="0" i="0" lang="en-US" sz="950" u="none" cap="none" strike="noStrike">
                <a:solidFill>
                  <a:srgbClr val="5F6B7A"/>
                </a:solidFill>
                <a:latin typeface="Calibri"/>
                <a:ea typeface="Calibri"/>
                <a:cs typeface="Calibri"/>
                <a:sym typeface="Calibri"/>
              </a:rPr>
              <a:t>defect ∩ fruit, majority-overlap rule</a:t>
            </a:r>
            <a:endParaRPr b="0" i="0" sz="950" u="none" cap="none" strike="noStrike">
              <a:solidFill>
                <a:schemeClr val="dk1"/>
              </a:solidFill>
              <a:latin typeface="Calibri"/>
              <a:ea typeface="Calibri"/>
              <a:cs typeface="Calibri"/>
              <a:sym typeface="Calibri"/>
            </a:endParaRPr>
          </a:p>
        </p:txBody>
      </p:sp>
      <p:cxnSp>
        <p:nvCxnSpPr>
          <p:cNvPr id="2142" name="Google Shape;2142;p76"/>
          <p:cNvCxnSpPr/>
          <p:nvPr/>
        </p:nvCxnSpPr>
        <p:spPr>
          <a:xfrm>
            <a:off x="3066212" y="3803904"/>
            <a:ext cx="274320" cy="0"/>
          </a:xfrm>
          <a:prstGeom prst="straightConnector1">
            <a:avLst/>
          </a:prstGeom>
          <a:noFill/>
          <a:ln cap="flat" cmpd="sng" w="19050">
            <a:solidFill>
              <a:srgbClr val="8A96A6"/>
            </a:solidFill>
            <a:prstDash val="solid"/>
            <a:round/>
            <a:headEnd len="sm" w="sm" type="none"/>
            <a:tailEnd len="med" w="med" type="triangle"/>
          </a:ln>
        </p:spPr>
      </p:cxnSp>
      <p:sp>
        <p:nvSpPr>
          <p:cNvPr id="2143" name="Google Shape;2143;p76"/>
          <p:cNvSpPr/>
          <p:nvPr/>
        </p:nvSpPr>
        <p:spPr>
          <a:xfrm>
            <a:off x="3395396" y="3118104"/>
            <a:ext cx="2508428" cy="1371600"/>
          </a:xfrm>
          <a:prstGeom prst="roundRect">
            <a:avLst>
              <a:gd fmla="val 4667" name="adj"/>
            </a:avLst>
          </a:prstGeom>
          <a:solidFill>
            <a:srgbClr val="F2F6F9"/>
          </a:solidFill>
          <a:ln cap="flat" cmpd="sng" w="15875">
            <a:solidFill>
              <a:srgbClr val="00A79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44" name="Google Shape;2144;p76"/>
          <p:cNvSpPr/>
          <p:nvPr/>
        </p:nvSpPr>
        <p:spPr>
          <a:xfrm>
            <a:off x="3468548" y="3172968"/>
            <a:ext cx="2362124" cy="6172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D2A5C"/>
              </a:buClr>
              <a:buSzPts val="1250"/>
              <a:buFont typeface="Calibri"/>
              <a:buNone/>
            </a:pPr>
            <a:r>
              <a:rPr b="1" i="0" lang="en-US" sz="1250" u="none" cap="none" strike="noStrike">
                <a:solidFill>
                  <a:srgbClr val="1D2A5C"/>
                </a:solidFill>
                <a:latin typeface="Calibri"/>
                <a:ea typeface="Calibri"/>
                <a:cs typeface="Calibri"/>
                <a:sym typeface="Calibri"/>
              </a:rPr>
              <a:t>Area ratio %</a:t>
            </a:r>
            <a:endParaRPr b="0" i="0" sz="1250" u="none" cap="none" strike="noStrike">
              <a:solidFill>
                <a:schemeClr val="dk1"/>
              </a:solidFill>
              <a:latin typeface="Calibri"/>
              <a:ea typeface="Calibri"/>
              <a:cs typeface="Calibri"/>
              <a:sym typeface="Calibri"/>
            </a:endParaRPr>
          </a:p>
        </p:txBody>
      </p:sp>
      <p:sp>
        <p:nvSpPr>
          <p:cNvPr id="2145" name="Google Shape;2145;p76"/>
          <p:cNvSpPr/>
          <p:nvPr/>
        </p:nvSpPr>
        <p:spPr>
          <a:xfrm>
            <a:off x="3468548" y="3776472"/>
            <a:ext cx="2362124" cy="658368"/>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rgbClr val="5F6B7A"/>
              </a:buClr>
              <a:buSzPts val="950"/>
              <a:buFont typeface="Calibri"/>
              <a:buNone/>
            </a:pPr>
            <a:r>
              <a:rPr b="0" i="0" lang="en-US" sz="950" u="none" cap="none" strike="noStrike">
                <a:solidFill>
                  <a:srgbClr val="5F6B7A"/>
                </a:solidFill>
                <a:latin typeface="Calibri"/>
                <a:ea typeface="Calibri"/>
                <a:cs typeface="Calibri"/>
                <a:sym typeface="Calibri"/>
              </a:rPr>
              <a:t>scale-free — no calibration needed</a:t>
            </a:r>
            <a:endParaRPr b="0" i="0" sz="950" u="none" cap="none" strike="noStrike">
              <a:solidFill>
                <a:schemeClr val="dk1"/>
              </a:solidFill>
              <a:latin typeface="Calibri"/>
              <a:ea typeface="Calibri"/>
              <a:cs typeface="Calibri"/>
              <a:sym typeface="Calibri"/>
            </a:endParaRPr>
          </a:p>
        </p:txBody>
      </p:sp>
      <p:cxnSp>
        <p:nvCxnSpPr>
          <p:cNvPr id="2146" name="Google Shape;2146;p76"/>
          <p:cNvCxnSpPr/>
          <p:nvPr/>
        </p:nvCxnSpPr>
        <p:spPr>
          <a:xfrm>
            <a:off x="5958688" y="3803904"/>
            <a:ext cx="274320" cy="0"/>
          </a:xfrm>
          <a:prstGeom prst="straightConnector1">
            <a:avLst/>
          </a:prstGeom>
          <a:noFill/>
          <a:ln cap="flat" cmpd="sng" w="19050">
            <a:solidFill>
              <a:srgbClr val="8A96A6"/>
            </a:solidFill>
            <a:prstDash val="solid"/>
            <a:round/>
            <a:headEnd len="sm" w="sm" type="none"/>
            <a:tailEnd len="med" w="med" type="triangle"/>
          </a:ln>
        </p:spPr>
      </p:cxnSp>
      <p:sp>
        <p:nvSpPr>
          <p:cNvPr id="2147" name="Google Shape;2147;p76"/>
          <p:cNvSpPr/>
          <p:nvPr/>
        </p:nvSpPr>
        <p:spPr>
          <a:xfrm>
            <a:off x="6287872" y="3118104"/>
            <a:ext cx="2508428" cy="1371600"/>
          </a:xfrm>
          <a:prstGeom prst="roundRect">
            <a:avLst>
              <a:gd fmla="val 4667" name="adj"/>
            </a:avLst>
          </a:prstGeom>
          <a:solidFill>
            <a:srgbClr val="F2F6F9"/>
          </a:solidFill>
          <a:ln cap="flat" cmpd="sng" w="15875">
            <a:solidFill>
              <a:srgbClr val="00A79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48" name="Google Shape;2148;p76"/>
          <p:cNvSpPr/>
          <p:nvPr/>
        </p:nvSpPr>
        <p:spPr>
          <a:xfrm>
            <a:off x="6361024" y="3172968"/>
            <a:ext cx="2362124" cy="6172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D2A5C"/>
              </a:buClr>
              <a:buSzPts val="1250"/>
              <a:buFont typeface="Calibri"/>
              <a:buNone/>
            </a:pPr>
            <a:r>
              <a:rPr b="1" i="0" lang="en-US" sz="1250" u="none" cap="none" strike="noStrike">
                <a:solidFill>
                  <a:srgbClr val="1D2A5C"/>
                </a:solidFill>
                <a:latin typeface="Calibri"/>
                <a:ea typeface="Calibri"/>
                <a:cs typeface="Calibri"/>
                <a:sym typeface="Calibri"/>
              </a:rPr>
              <a:t>Absolute m²</a:t>
            </a:r>
            <a:endParaRPr b="0" i="0" sz="1250" u="none" cap="none" strike="noStrike">
              <a:solidFill>
                <a:schemeClr val="dk1"/>
              </a:solidFill>
              <a:latin typeface="Calibri"/>
              <a:ea typeface="Calibri"/>
              <a:cs typeface="Calibri"/>
              <a:sym typeface="Calibri"/>
            </a:endParaRPr>
          </a:p>
        </p:txBody>
      </p:sp>
      <p:sp>
        <p:nvSpPr>
          <p:cNvPr id="2149" name="Google Shape;2149;p76"/>
          <p:cNvSpPr/>
          <p:nvPr/>
        </p:nvSpPr>
        <p:spPr>
          <a:xfrm>
            <a:off x="6361024" y="3776472"/>
            <a:ext cx="2362124" cy="658368"/>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rgbClr val="5F6B7A"/>
              </a:buClr>
              <a:buSzPts val="950"/>
              <a:buFont typeface="Calibri"/>
              <a:buNone/>
            </a:pPr>
            <a:r>
              <a:rPr b="0" i="0" lang="en-US" sz="950" u="none" cap="none" strike="noStrike">
                <a:solidFill>
                  <a:srgbClr val="5F6B7A"/>
                </a:solidFill>
                <a:latin typeface="Calibri"/>
                <a:ea typeface="Calibri"/>
                <a:cs typeface="Calibri"/>
                <a:sym typeface="Calibri"/>
              </a:rPr>
              <a:t>needs pixel→mm calibration + error bound</a:t>
            </a:r>
            <a:endParaRPr b="0" i="0" sz="950" u="none" cap="none" strike="noStrike">
              <a:solidFill>
                <a:schemeClr val="dk1"/>
              </a:solidFill>
              <a:latin typeface="Calibri"/>
              <a:ea typeface="Calibri"/>
              <a:cs typeface="Calibri"/>
              <a:sym typeface="Calibri"/>
            </a:endParaRPr>
          </a:p>
        </p:txBody>
      </p:sp>
      <p:cxnSp>
        <p:nvCxnSpPr>
          <p:cNvPr id="2150" name="Google Shape;2150;p76"/>
          <p:cNvCxnSpPr/>
          <p:nvPr/>
        </p:nvCxnSpPr>
        <p:spPr>
          <a:xfrm>
            <a:off x="8851163" y="3803904"/>
            <a:ext cx="274320" cy="0"/>
          </a:xfrm>
          <a:prstGeom prst="straightConnector1">
            <a:avLst/>
          </a:prstGeom>
          <a:noFill/>
          <a:ln cap="flat" cmpd="sng" w="19050">
            <a:solidFill>
              <a:srgbClr val="8A96A6"/>
            </a:solidFill>
            <a:prstDash val="solid"/>
            <a:round/>
            <a:headEnd len="sm" w="sm" type="none"/>
            <a:tailEnd len="med" w="med" type="triangle"/>
          </a:ln>
        </p:spPr>
      </p:cxnSp>
      <p:cxnSp>
        <p:nvCxnSpPr>
          <p:cNvPr id="2151" name="Google Shape;2151;p76"/>
          <p:cNvCxnSpPr/>
          <p:nvPr/>
        </p:nvCxnSpPr>
        <p:spPr>
          <a:xfrm>
            <a:off x="7542086" y="4489704"/>
            <a:ext cx="0" cy="274320"/>
          </a:xfrm>
          <a:prstGeom prst="straightConnector1">
            <a:avLst/>
          </a:prstGeom>
          <a:noFill/>
          <a:ln cap="flat" cmpd="sng" w="15875">
            <a:solidFill>
              <a:srgbClr val="E8503A"/>
            </a:solidFill>
            <a:prstDash val="dash"/>
            <a:round/>
            <a:headEnd len="sm" w="sm" type="none"/>
            <a:tailEnd len="sm" w="sm" type="none"/>
          </a:ln>
        </p:spPr>
      </p:cxnSp>
      <p:sp>
        <p:nvSpPr>
          <p:cNvPr id="2152" name="Google Shape;2152;p76"/>
          <p:cNvSpPr/>
          <p:nvPr/>
        </p:nvSpPr>
        <p:spPr>
          <a:xfrm>
            <a:off x="6242152" y="4764024"/>
            <a:ext cx="2599868" cy="475488"/>
          </a:xfrm>
          <a:prstGeom prst="roundRect">
            <a:avLst>
              <a:gd fmla="val 11538" name="adj"/>
            </a:avLst>
          </a:prstGeom>
          <a:solidFill>
            <a:srgbClr val="FDEDEA"/>
          </a:solidFill>
          <a:ln cap="flat" cmpd="sng" w="12700">
            <a:solidFill>
              <a:srgbClr val="E8503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53" name="Google Shape;2153;p76"/>
          <p:cNvSpPr/>
          <p:nvPr/>
        </p:nvSpPr>
        <p:spPr>
          <a:xfrm>
            <a:off x="6287872" y="4764024"/>
            <a:ext cx="2508428" cy="47548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E8503A"/>
              </a:buClr>
              <a:buSzPts val="950"/>
              <a:buFont typeface="Calibri"/>
              <a:buNone/>
            </a:pPr>
            <a:r>
              <a:rPr b="1" i="0" lang="en-US" sz="950" u="none" cap="none" strike="noStrike">
                <a:solidFill>
                  <a:srgbClr val="E8503A"/>
                </a:solidFill>
                <a:latin typeface="Calibri"/>
                <a:ea typeface="Calibri"/>
                <a:cs typeface="Calibri"/>
                <a:sym typeface="Calibri"/>
              </a:rPr>
              <a:t>any camera move triggers recalibration</a:t>
            </a:r>
            <a:endParaRPr b="0" i="0" sz="950" u="none" cap="none" strike="noStrike">
              <a:solidFill>
                <a:schemeClr val="dk1"/>
              </a:solidFill>
              <a:latin typeface="Calibri"/>
              <a:ea typeface="Calibri"/>
              <a:cs typeface="Calibri"/>
              <a:sym typeface="Calibri"/>
            </a:endParaRPr>
          </a:p>
        </p:txBody>
      </p:sp>
      <p:sp>
        <p:nvSpPr>
          <p:cNvPr id="2154" name="Google Shape;2154;p76"/>
          <p:cNvSpPr/>
          <p:nvPr/>
        </p:nvSpPr>
        <p:spPr>
          <a:xfrm>
            <a:off x="9180347" y="3118104"/>
            <a:ext cx="2508428" cy="1371600"/>
          </a:xfrm>
          <a:prstGeom prst="roundRect">
            <a:avLst>
              <a:gd fmla="val 4667" name="adj"/>
            </a:avLst>
          </a:prstGeom>
          <a:solidFill>
            <a:srgbClr val="1D2A5C"/>
          </a:solidFill>
          <a:ln cap="flat" cmpd="sng" w="15875">
            <a:solidFill>
              <a:srgbClr val="00A79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55" name="Google Shape;2155;p76"/>
          <p:cNvSpPr/>
          <p:nvPr/>
        </p:nvSpPr>
        <p:spPr>
          <a:xfrm>
            <a:off x="9253499" y="3172968"/>
            <a:ext cx="2362124" cy="6172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250"/>
              <a:buFont typeface="Calibri"/>
              <a:buNone/>
            </a:pPr>
            <a:r>
              <a:rPr b="1" i="0" lang="en-US" sz="1250" u="none" cap="none" strike="noStrike">
                <a:solidFill>
                  <a:srgbClr val="FFFFFF"/>
                </a:solidFill>
                <a:latin typeface="Calibri"/>
                <a:ea typeface="Calibri"/>
                <a:cs typeface="Calibri"/>
                <a:sym typeface="Calibri"/>
              </a:rPr>
              <a:t>Grading decision</a:t>
            </a:r>
            <a:endParaRPr b="0" i="0" sz="1250" u="none" cap="none" strike="noStrike">
              <a:solidFill>
                <a:schemeClr val="dk1"/>
              </a:solidFill>
              <a:latin typeface="Calibri"/>
              <a:ea typeface="Calibri"/>
              <a:cs typeface="Calibri"/>
              <a:sym typeface="Calibri"/>
            </a:endParaRPr>
          </a:p>
        </p:txBody>
      </p:sp>
      <p:sp>
        <p:nvSpPr>
          <p:cNvPr id="2156" name="Google Shape;2156;p76"/>
          <p:cNvSpPr/>
          <p:nvPr/>
        </p:nvSpPr>
        <p:spPr>
          <a:xfrm>
            <a:off x="9253499" y="3776472"/>
            <a:ext cx="2362124" cy="658368"/>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rgbClr val="B9C8E8"/>
              </a:buClr>
              <a:buSzPts val="950"/>
              <a:buFont typeface="Calibri"/>
              <a:buNone/>
            </a:pPr>
            <a:r>
              <a:rPr b="0" i="0" lang="en-US" sz="950" u="none" cap="none" strike="noStrike">
                <a:solidFill>
                  <a:srgbClr val="B9C8E8"/>
                </a:solidFill>
                <a:latin typeface="Calibri"/>
                <a:ea typeface="Calibri"/>
                <a:cs typeface="Calibri"/>
                <a:sym typeface="Calibri"/>
              </a:rPr>
              <a:t>reject if total defect &gt; 8% visible</a:t>
            </a:r>
            <a:endParaRPr b="0" i="0" sz="950" u="none" cap="none" strike="noStrike">
              <a:solidFill>
                <a:schemeClr val="dk1"/>
              </a:solidFill>
              <a:latin typeface="Calibri"/>
              <a:ea typeface="Calibri"/>
              <a:cs typeface="Calibri"/>
              <a:sym typeface="Calibri"/>
            </a:endParaRPr>
          </a:p>
        </p:txBody>
      </p:sp>
      <p:cxnSp>
        <p:nvCxnSpPr>
          <p:cNvPr id="2157" name="Google Shape;2157;p76"/>
          <p:cNvCxnSpPr/>
          <p:nvPr/>
        </p:nvCxnSpPr>
        <p:spPr>
          <a:xfrm>
            <a:off x="10434561" y="4489704"/>
            <a:ext cx="0" cy="274320"/>
          </a:xfrm>
          <a:prstGeom prst="straightConnector1">
            <a:avLst/>
          </a:prstGeom>
          <a:noFill/>
          <a:ln cap="flat" cmpd="sng" w="15875">
            <a:solidFill>
              <a:srgbClr val="E8503A"/>
            </a:solidFill>
            <a:prstDash val="dash"/>
            <a:round/>
            <a:headEnd len="sm" w="sm" type="none"/>
            <a:tailEnd len="sm" w="sm" type="none"/>
          </a:ln>
        </p:spPr>
      </p:cxnSp>
      <p:sp>
        <p:nvSpPr>
          <p:cNvPr id="2158" name="Google Shape;2158;p76"/>
          <p:cNvSpPr/>
          <p:nvPr/>
        </p:nvSpPr>
        <p:spPr>
          <a:xfrm>
            <a:off x="9134627" y="4764024"/>
            <a:ext cx="2599868" cy="475488"/>
          </a:xfrm>
          <a:prstGeom prst="roundRect">
            <a:avLst>
              <a:gd fmla="val 11538" name="adj"/>
            </a:avLst>
          </a:prstGeom>
          <a:solidFill>
            <a:srgbClr val="FDEDEA"/>
          </a:solidFill>
          <a:ln cap="flat" cmpd="sng" w="12700">
            <a:solidFill>
              <a:srgbClr val="E8503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59" name="Google Shape;2159;p76"/>
          <p:cNvSpPr/>
          <p:nvPr/>
        </p:nvSpPr>
        <p:spPr>
          <a:xfrm>
            <a:off x="9180347" y="4764024"/>
            <a:ext cx="2508428" cy="47548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E8503A"/>
              </a:buClr>
              <a:buSzPts val="857"/>
              <a:buFont typeface="Calibri"/>
              <a:buNone/>
            </a:pPr>
            <a:r>
              <a:rPr b="1" i="0" lang="en-US" sz="857" u="none" cap="none" strike="noStrike">
                <a:solidFill>
                  <a:srgbClr val="E8503A"/>
                </a:solidFill>
                <a:latin typeface="Calibri"/>
                <a:ea typeface="Calibri"/>
                <a:cs typeface="Calibri"/>
                <a:sym typeface="Calibri"/>
              </a:rPr>
              <a:t>'8% of visible surface, single view' — a signed approximation</a:t>
            </a:r>
            <a:endParaRPr b="0" i="0" sz="857" u="none" cap="none" strike="noStrike">
              <a:solidFill>
                <a:schemeClr val="dk1"/>
              </a:solidFill>
              <a:latin typeface="Calibri"/>
              <a:ea typeface="Calibri"/>
              <a:cs typeface="Calibri"/>
              <a:sym typeface="Calibri"/>
            </a:endParaRPr>
          </a:p>
        </p:txBody>
      </p:sp>
    </p:spTree>
  </p:cSld>
  <p:clrMapOvr>
    <a:masterClrMapping/>
  </p:clrMapOvr>
</p:sld>
</file>

<file path=ppt/slides/slide7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164" name="Shape 2164"/>
        <p:cNvGrpSpPr/>
        <p:nvPr/>
      </p:nvGrpSpPr>
      <p:grpSpPr>
        <a:xfrm>
          <a:off x="0" y="0"/>
          <a:ext cx="0" cy="0"/>
          <a:chOff x="0" y="0"/>
          <a:chExt cx="0" cy="0"/>
        </a:xfrm>
      </p:grpSpPr>
      <p:sp>
        <p:nvSpPr>
          <p:cNvPr id="2165" name="Google Shape;2165;p77"/>
          <p:cNvSpPr/>
          <p:nvPr/>
        </p:nvSpPr>
        <p:spPr>
          <a:xfrm>
            <a:off x="502920" y="274320"/>
            <a:ext cx="9646920" cy="56692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D2A5C"/>
              </a:buClr>
              <a:buSzPts val="2700"/>
              <a:buFont typeface="Calibri"/>
              <a:buNone/>
            </a:pPr>
            <a:r>
              <a:rPr b="1" i="0" lang="en-US" sz="2700" u="none" cap="none" strike="noStrike">
                <a:solidFill>
                  <a:srgbClr val="1D2A5C"/>
                </a:solidFill>
                <a:latin typeface="Calibri"/>
                <a:ea typeface="Calibri"/>
                <a:cs typeface="Calibri"/>
                <a:sym typeface="Calibri"/>
              </a:rPr>
              <a:t>Common Mistakes and Their Defences</a:t>
            </a:r>
            <a:endParaRPr b="0" i="0" sz="2700" u="none" cap="none" strike="noStrike">
              <a:solidFill>
                <a:schemeClr val="dk1"/>
              </a:solidFill>
              <a:latin typeface="Calibri"/>
              <a:ea typeface="Calibri"/>
              <a:cs typeface="Calibri"/>
              <a:sym typeface="Calibri"/>
            </a:endParaRPr>
          </a:p>
        </p:txBody>
      </p:sp>
      <p:sp>
        <p:nvSpPr>
          <p:cNvPr id="2166" name="Google Shape;2166;p77"/>
          <p:cNvSpPr/>
          <p:nvPr/>
        </p:nvSpPr>
        <p:spPr>
          <a:xfrm>
            <a:off x="502920" y="859536"/>
            <a:ext cx="9646920" cy="31089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F6B7A"/>
              </a:buClr>
              <a:buSzPts val="1250"/>
              <a:buFont typeface="Arial"/>
              <a:buNone/>
            </a:pPr>
            <a:r>
              <a:rPr b="0" i="0" lang="en-US" sz="1250" u="none" cap="none" strike="noStrike">
                <a:solidFill>
                  <a:srgbClr val="5F6B7A"/>
                </a:solidFill>
                <a:latin typeface="Arial"/>
                <a:ea typeface="Arial"/>
                <a:cs typeface="Arial"/>
                <a:sym typeface="Arial"/>
              </a:rPr>
              <a:t>الأخطاء الشائعة ودفاعاتها</a:t>
            </a:r>
            <a:endParaRPr b="0" i="0" sz="1250" u="none" cap="none" strike="noStrike">
              <a:solidFill>
                <a:schemeClr val="dk1"/>
              </a:solidFill>
              <a:latin typeface="Calibri"/>
              <a:ea typeface="Calibri"/>
              <a:cs typeface="Calibri"/>
              <a:sym typeface="Calibri"/>
            </a:endParaRPr>
          </a:p>
        </p:txBody>
      </p:sp>
      <p:pic>
        <p:nvPicPr>
          <p:cNvPr descr="/sessions/blissful-determined-ritchie/build/assets/sdaia_logo.png" id="2167" name="Google Shape;2167;p77"/>
          <p:cNvPicPr preferRelativeResize="0"/>
          <p:nvPr/>
        </p:nvPicPr>
        <p:blipFill rotWithShape="1">
          <a:blip r:embed="rId3">
            <a:alphaModFix/>
          </a:blip>
          <a:srcRect b="0" l="0" r="0" t="0"/>
          <a:stretch/>
        </p:blipFill>
        <p:spPr>
          <a:xfrm>
            <a:off x="10625328" y="310896"/>
            <a:ext cx="1078992" cy="264111"/>
          </a:xfrm>
          <a:prstGeom prst="rect">
            <a:avLst/>
          </a:prstGeom>
          <a:noFill/>
          <a:ln>
            <a:noFill/>
          </a:ln>
        </p:spPr>
      </p:pic>
      <p:sp>
        <p:nvSpPr>
          <p:cNvPr id="2168" name="Google Shape;2168;p77"/>
          <p:cNvSpPr/>
          <p:nvPr/>
        </p:nvSpPr>
        <p:spPr>
          <a:xfrm>
            <a:off x="502920" y="6528816"/>
            <a:ext cx="8686800"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A79D"/>
              </a:buClr>
              <a:buSzPts val="800"/>
              <a:buFont typeface="Calibri"/>
              <a:buNone/>
            </a:pPr>
            <a:r>
              <a:rPr b="1" i="0" lang="en-US" sz="800" u="none" cap="none" strike="noStrike">
                <a:solidFill>
                  <a:srgbClr val="00A79D"/>
                </a:solidFill>
                <a:latin typeface="Calibri"/>
                <a:ea typeface="Calibri"/>
                <a:cs typeface="Calibri"/>
                <a:sym typeface="Calibri"/>
              </a:rPr>
              <a:t>MODULE 4   </a:t>
            </a:r>
            <a:r>
              <a:rPr b="0" i="0" lang="en-US" sz="800" u="none" cap="none" strike="noStrike">
                <a:solidFill>
                  <a:srgbClr val="8A96A6"/>
                </a:solidFill>
                <a:latin typeface="Calibri"/>
                <a:ea typeface="Calibri"/>
                <a:cs typeface="Calibri"/>
                <a:sym typeface="Calibri"/>
              </a:rPr>
              <a:t>SDA-AIE-212 · Computer Vision Systems Development</a:t>
            </a:r>
            <a:endParaRPr b="0" i="0" sz="800" u="none" cap="none" strike="noStrike">
              <a:solidFill>
                <a:schemeClr val="dk1"/>
              </a:solidFill>
              <a:latin typeface="Calibri"/>
              <a:ea typeface="Calibri"/>
              <a:cs typeface="Calibri"/>
              <a:sym typeface="Calibri"/>
            </a:endParaRPr>
          </a:p>
        </p:txBody>
      </p:sp>
      <p:sp>
        <p:nvSpPr>
          <p:cNvPr id="2169" name="Google Shape;2169;p77"/>
          <p:cNvSpPr/>
          <p:nvPr/>
        </p:nvSpPr>
        <p:spPr>
          <a:xfrm>
            <a:off x="11292840" y="6528816"/>
            <a:ext cx="411480" cy="219456"/>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8A96A6"/>
              </a:buClr>
              <a:buSzPts val="900"/>
              <a:buFont typeface="Calibri"/>
              <a:buNone/>
            </a:pPr>
            <a:r>
              <a:rPr b="0" i="0" lang="en-US" sz="900" u="none" cap="none" strike="noStrike">
                <a:solidFill>
                  <a:srgbClr val="8A96A6"/>
                </a:solidFill>
                <a:latin typeface="Calibri"/>
                <a:ea typeface="Calibri"/>
                <a:cs typeface="Calibri"/>
                <a:sym typeface="Calibri"/>
              </a:rPr>
              <a:t>77</a:t>
            </a:r>
            <a:endParaRPr b="0" i="0" sz="900" u="none" cap="none" strike="noStrike">
              <a:solidFill>
                <a:schemeClr val="dk1"/>
              </a:solidFill>
              <a:latin typeface="Calibri"/>
              <a:ea typeface="Calibri"/>
              <a:cs typeface="Calibri"/>
              <a:sym typeface="Calibri"/>
            </a:endParaRPr>
          </a:p>
        </p:txBody>
      </p:sp>
      <p:graphicFrame>
        <p:nvGraphicFramePr>
          <p:cNvPr id="2170" name="Google Shape;2170;p77"/>
          <p:cNvGraphicFramePr/>
          <p:nvPr/>
        </p:nvGraphicFramePr>
        <p:xfrm>
          <a:off x="502920" y="1389888"/>
          <a:ext cx="3000000" cy="3000000"/>
        </p:xfrm>
        <a:graphic>
          <a:graphicData uri="http://schemas.openxmlformats.org/drawingml/2006/table">
            <a:tbl>
              <a:tblPr>
                <a:noFill/>
                <a:tableStyleId>{F80342BA-3033-44D6-9F91-622DC7A4C435}</a:tableStyleId>
              </a:tblPr>
              <a:tblGrid>
                <a:gridCol w="3668225"/>
                <a:gridCol w="3758825"/>
                <a:gridCol w="3758825"/>
              </a:tblGrid>
              <a:tr h="696250">
                <a:tc>
                  <a:txBody>
                    <a:bodyPr/>
                    <a:lstStyle/>
                    <a:p>
                      <a:pPr indent="0" lvl="0" marL="0" marR="0" rtl="0" algn="l">
                        <a:spcBef>
                          <a:spcPts val="0"/>
                        </a:spcBef>
                        <a:spcAft>
                          <a:spcPts val="0"/>
                        </a:spcAft>
                        <a:buClr>
                          <a:srgbClr val="FFFFFF"/>
                        </a:buClr>
                        <a:buSzPts val="1050"/>
                        <a:buFont typeface="Calibri"/>
                        <a:buNone/>
                      </a:pPr>
                      <a:r>
                        <a:rPr b="1" lang="en-US" sz="1050" u="none" cap="none" strike="noStrike">
                          <a:solidFill>
                            <a:srgbClr val="FFFFFF"/>
                          </a:solidFill>
                          <a:latin typeface="Calibri"/>
                          <a:ea typeface="Calibri"/>
                          <a:cs typeface="Calibri"/>
                          <a:sym typeface="Calibri"/>
                        </a:rPr>
                        <a:t>Mistake</a:t>
                      </a:r>
                      <a:endParaRPr sz="1050" u="none" cap="none" strike="noStrike">
                        <a:latin typeface="Calibri"/>
                        <a:ea typeface="Calibri"/>
                        <a:cs typeface="Calibri"/>
                        <a:sym typeface="Calibri"/>
                      </a:endParaRPr>
                    </a:p>
                  </a:txBody>
                  <a:tcPr marT="64000" marB="64000" marR="64000" marL="64000" anchor="ctr">
                    <a:lnL cap="flat" cmpd="sng" w="9525">
                      <a:solidFill>
                        <a:srgbClr val="D9E2EA"/>
                      </a:solidFill>
                      <a:prstDash val="solid"/>
                      <a:round/>
                      <a:headEnd len="sm" w="sm" type="none"/>
                      <a:tailEnd len="sm" w="sm" type="none"/>
                    </a:lnL>
                    <a:lnR cap="flat" cmpd="sng" w="9525">
                      <a:solidFill>
                        <a:srgbClr val="D9E2EA"/>
                      </a:solidFill>
                      <a:prstDash val="solid"/>
                      <a:round/>
                      <a:headEnd len="sm" w="sm" type="none"/>
                      <a:tailEnd len="sm" w="sm" type="none"/>
                    </a:lnR>
                    <a:lnT cap="flat" cmpd="sng" w="9525">
                      <a:solidFill>
                        <a:srgbClr val="D9E2EA"/>
                      </a:solidFill>
                      <a:prstDash val="solid"/>
                      <a:round/>
                      <a:headEnd len="sm" w="sm" type="none"/>
                      <a:tailEnd len="sm" w="sm" type="none"/>
                    </a:lnT>
                    <a:lnB cap="flat" cmpd="sng" w="9525">
                      <a:solidFill>
                        <a:srgbClr val="D9E2EA"/>
                      </a:solidFill>
                      <a:prstDash val="solid"/>
                      <a:round/>
                      <a:headEnd len="sm" w="sm" type="none"/>
                      <a:tailEnd len="sm" w="sm" type="none"/>
                    </a:lnB>
                    <a:solidFill>
                      <a:srgbClr val="1D2A5C"/>
                    </a:solidFill>
                  </a:tcPr>
                </a:tc>
                <a:tc>
                  <a:txBody>
                    <a:bodyPr/>
                    <a:lstStyle/>
                    <a:p>
                      <a:pPr indent="0" lvl="0" marL="0" marR="0" rtl="0" algn="l">
                        <a:spcBef>
                          <a:spcPts val="0"/>
                        </a:spcBef>
                        <a:spcAft>
                          <a:spcPts val="0"/>
                        </a:spcAft>
                        <a:buClr>
                          <a:srgbClr val="FFFFFF"/>
                        </a:buClr>
                        <a:buSzPts val="1050"/>
                        <a:buFont typeface="Calibri"/>
                        <a:buNone/>
                      </a:pPr>
                      <a:r>
                        <a:rPr b="1" lang="en-US" sz="1050" u="none" cap="none" strike="noStrike">
                          <a:solidFill>
                            <a:srgbClr val="FFFFFF"/>
                          </a:solidFill>
                          <a:latin typeface="Calibri"/>
                          <a:ea typeface="Calibri"/>
                          <a:cs typeface="Calibri"/>
                          <a:sym typeface="Calibri"/>
                        </a:rPr>
                        <a:t>Consequence</a:t>
                      </a:r>
                      <a:endParaRPr sz="1050" u="none" cap="none" strike="noStrike">
                        <a:latin typeface="Calibri"/>
                        <a:ea typeface="Calibri"/>
                        <a:cs typeface="Calibri"/>
                        <a:sym typeface="Calibri"/>
                      </a:endParaRPr>
                    </a:p>
                  </a:txBody>
                  <a:tcPr marT="64000" marB="64000" marR="64000" marL="64000" anchor="ctr">
                    <a:lnL cap="flat" cmpd="sng" w="9525">
                      <a:solidFill>
                        <a:srgbClr val="D9E2EA"/>
                      </a:solidFill>
                      <a:prstDash val="solid"/>
                      <a:round/>
                      <a:headEnd len="sm" w="sm" type="none"/>
                      <a:tailEnd len="sm" w="sm" type="none"/>
                    </a:lnL>
                    <a:lnR cap="flat" cmpd="sng" w="9525">
                      <a:solidFill>
                        <a:srgbClr val="D9E2EA"/>
                      </a:solidFill>
                      <a:prstDash val="solid"/>
                      <a:round/>
                      <a:headEnd len="sm" w="sm" type="none"/>
                      <a:tailEnd len="sm" w="sm" type="none"/>
                    </a:lnR>
                    <a:lnT cap="flat" cmpd="sng" w="9525">
                      <a:solidFill>
                        <a:srgbClr val="D9E2EA"/>
                      </a:solidFill>
                      <a:prstDash val="solid"/>
                      <a:round/>
                      <a:headEnd len="sm" w="sm" type="none"/>
                      <a:tailEnd len="sm" w="sm" type="none"/>
                    </a:lnT>
                    <a:lnB cap="flat" cmpd="sng" w="9525">
                      <a:solidFill>
                        <a:srgbClr val="D9E2EA"/>
                      </a:solidFill>
                      <a:prstDash val="solid"/>
                      <a:round/>
                      <a:headEnd len="sm" w="sm" type="none"/>
                      <a:tailEnd len="sm" w="sm" type="none"/>
                    </a:lnB>
                    <a:solidFill>
                      <a:srgbClr val="1D2A5C"/>
                    </a:solidFill>
                  </a:tcPr>
                </a:tc>
                <a:tc>
                  <a:txBody>
                    <a:bodyPr/>
                    <a:lstStyle/>
                    <a:p>
                      <a:pPr indent="0" lvl="0" marL="0" marR="0" rtl="0" algn="l">
                        <a:spcBef>
                          <a:spcPts val="0"/>
                        </a:spcBef>
                        <a:spcAft>
                          <a:spcPts val="0"/>
                        </a:spcAft>
                        <a:buClr>
                          <a:srgbClr val="FFFFFF"/>
                        </a:buClr>
                        <a:buSzPts val="1050"/>
                        <a:buFont typeface="Calibri"/>
                        <a:buNone/>
                      </a:pPr>
                      <a:r>
                        <a:rPr b="1" lang="en-US" sz="1050" u="none" cap="none" strike="noStrike">
                          <a:solidFill>
                            <a:srgbClr val="FFFFFF"/>
                          </a:solidFill>
                          <a:latin typeface="Calibri"/>
                          <a:ea typeface="Calibri"/>
                          <a:cs typeface="Calibri"/>
                          <a:sym typeface="Calibri"/>
                        </a:rPr>
                        <a:t>Defence</a:t>
                      </a:r>
                      <a:endParaRPr sz="1050" u="none" cap="none" strike="noStrike">
                        <a:latin typeface="Calibri"/>
                        <a:ea typeface="Calibri"/>
                        <a:cs typeface="Calibri"/>
                        <a:sym typeface="Calibri"/>
                      </a:endParaRPr>
                    </a:p>
                  </a:txBody>
                  <a:tcPr marT="64000" marB="64000" marR="64000" marL="64000" anchor="ctr">
                    <a:lnL cap="flat" cmpd="sng" w="9525">
                      <a:solidFill>
                        <a:srgbClr val="D9E2EA"/>
                      </a:solidFill>
                      <a:prstDash val="solid"/>
                      <a:round/>
                      <a:headEnd len="sm" w="sm" type="none"/>
                      <a:tailEnd len="sm" w="sm" type="none"/>
                    </a:lnL>
                    <a:lnR cap="flat" cmpd="sng" w="9525">
                      <a:solidFill>
                        <a:srgbClr val="D9E2EA"/>
                      </a:solidFill>
                      <a:prstDash val="solid"/>
                      <a:round/>
                      <a:headEnd len="sm" w="sm" type="none"/>
                      <a:tailEnd len="sm" w="sm" type="none"/>
                    </a:lnR>
                    <a:lnT cap="flat" cmpd="sng" w="9525">
                      <a:solidFill>
                        <a:srgbClr val="D9E2EA"/>
                      </a:solidFill>
                      <a:prstDash val="solid"/>
                      <a:round/>
                      <a:headEnd len="sm" w="sm" type="none"/>
                      <a:tailEnd len="sm" w="sm" type="none"/>
                    </a:lnT>
                    <a:lnB cap="flat" cmpd="sng" w="9525">
                      <a:solidFill>
                        <a:srgbClr val="D9E2EA"/>
                      </a:solidFill>
                      <a:prstDash val="solid"/>
                      <a:round/>
                      <a:headEnd len="sm" w="sm" type="none"/>
                      <a:tailEnd len="sm" w="sm" type="none"/>
                    </a:lnB>
                    <a:solidFill>
                      <a:srgbClr val="1D2A5C"/>
                    </a:solidFill>
                  </a:tcPr>
                </a:tc>
              </a:tr>
              <a:tr h="696250">
                <a:tc>
                  <a:txBody>
                    <a:bodyPr/>
                    <a:lstStyle/>
                    <a:p>
                      <a:pPr indent="0" lvl="0" marL="0" marR="0" rtl="0" algn="l">
                        <a:spcBef>
                          <a:spcPts val="0"/>
                        </a:spcBef>
                        <a:spcAft>
                          <a:spcPts val="0"/>
                        </a:spcAft>
                        <a:buClr>
                          <a:srgbClr val="1D2A5C"/>
                        </a:buClr>
                        <a:buSzPts val="1050"/>
                        <a:buFont typeface="Calibri"/>
                        <a:buNone/>
                      </a:pPr>
                      <a:r>
                        <a:rPr b="1" lang="en-US" sz="1050" u="none" cap="none" strike="noStrike">
                          <a:solidFill>
                            <a:srgbClr val="1D2A5C"/>
                          </a:solidFill>
                          <a:latin typeface="Calibri"/>
                          <a:ea typeface="Calibri"/>
                          <a:cs typeface="Calibri"/>
                          <a:sym typeface="Calibri"/>
                        </a:rPr>
                        <a:t>Pixel accuracy on imbalanced masks</a:t>
                      </a:r>
                      <a:endParaRPr sz="1050" u="none" cap="none" strike="noStrike">
                        <a:latin typeface="Calibri"/>
                        <a:ea typeface="Calibri"/>
                        <a:cs typeface="Calibri"/>
                        <a:sym typeface="Calibri"/>
                      </a:endParaRPr>
                    </a:p>
                  </a:txBody>
                  <a:tcPr marT="64000" marB="64000" marR="64000" marL="64000" anchor="ctr">
                    <a:lnL cap="flat" cmpd="sng" w="9525">
                      <a:solidFill>
                        <a:srgbClr val="D9E2EA"/>
                      </a:solidFill>
                      <a:prstDash val="solid"/>
                      <a:round/>
                      <a:headEnd len="sm" w="sm" type="none"/>
                      <a:tailEnd len="sm" w="sm" type="none"/>
                    </a:lnL>
                    <a:lnR cap="flat" cmpd="sng" w="9525">
                      <a:solidFill>
                        <a:srgbClr val="D9E2EA"/>
                      </a:solidFill>
                      <a:prstDash val="solid"/>
                      <a:round/>
                      <a:headEnd len="sm" w="sm" type="none"/>
                      <a:tailEnd len="sm" w="sm" type="none"/>
                    </a:lnR>
                    <a:lnT cap="flat" cmpd="sng" w="9525">
                      <a:solidFill>
                        <a:srgbClr val="D9E2EA"/>
                      </a:solidFill>
                      <a:prstDash val="solid"/>
                      <a:round/>
                      <a:headEnd len="sm" w="sm" type="none"/>
                      <a:tailEnd len="sm" w="sm" type="none"/>
                    </a:lnT>
                    <a:lnB cap="flat" cmpd="sng" w="9525">
                      <a:solidFill>
                        <a:srgbClr val="D9E2EA"/>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23293B"/>
                        </a:buClr>
                        <a:buSzPts val="1050"/>
                        <a:buFont typeface="Calibri"/>
                        <a:buNone/>
                      </a:pPr>
                      <a:r>
                        <a:rPr lang="en-US" sz="1050" u="none" cap="none" strike="noStrike">
                          <a:solidFill>
                            <a:srgbClr val="23293B"/>
                          </a:solidFill>
                          <a:latin typeface="Calibri"/>
                          <a:ea typeface="Calibri"/>
                          <a:cs typeface="Calibri"/>
                          <a:sym typeface="Calibri"/>
                        </a:rPr>
                        <a:t>98% by predicting nothing</a:t>
                      </a:r>
                      <a:endParaRPr sz="1050" u="none" cap="none" strike="noStrike">
                        <a:latin typeface="Calibri"/>
                        <a:ea typeface="Calibri"/>
                        <a:cs typeface="Calibri"/>
                        <a:sym typeface="Calibri"/>
                      </a:endParaRPr>
                    </a:p>
                  </a:txBody>
                  <a:tcPr marT="64000" marB="64000" marR="64000" marL="64000" anchor="ctr">
                    <a:lnL cap="flat" cmpd="sng" w="9525">
                      <a:solidFill>
                        <a:srgbClr val="D9E2EA"/>
                      </a:solidFill>
                      <a:prstDash val="solid"/>
                      <a:round/>
                      <a:headEnd len="sm" w="sm" type="none"/>
                      <a:tailEnd len="sm" w="sm" type="none"/>
                    </a:lnL>
                    <a:lnR cap="flat" cmpd="sng" w="9525">
                      <a:solidFill>
                        <a:srgbClr val="D9E2EA"/>
                      </a:solidFill>
                      <a:prstDash val="solid"/>
                      <a:round/>
                      <a:headEnd len="sm" w="sm" type="none"/>
                      <a:tailEnd len="sm" w="sm" type="none"/>
                    </a:lnR>
                    <a:lnT cap="flat" cmpd="sng" w="9525">
                      <a:solidFill>
                        <a:srgbClr val="D9E2EA"/>
                      </a:solidFill>
                      <a:prstDash val="solid"/>
                      <a:round/>
                      <a:headEnd len="sm" w="sm" type="none"/>
                      <a:tailEnd len="sm" w="sm" type="none"/>
                    </a:lnT>
                    <a:lnB cap="flat" cmpd="sng" w="9525">
                      <a:solidFill>
                        <a:srgbClr val="D9E2EA"/>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23293B"/>
                        </a:buClr>
                        <a:buSzPts val="1050"/>
                        <a:buFont typeface="Calibri"/>
                        <a:buNone/>
                      </a:pPr>
                      <a:r>
                        <a:rPr lang="en-US" sz="1050" u="none" cap="none" strike="noStrike">
                          <a:solidFill>
                            <a:srgbClr val="23293B"/>
                          </a:solidFill>
                          <a:latin typeface="Calibri"/>
                          <a:ea typeface="Calibri"/>
                          <a:cs typeface="Calibri"/>
                          <a:sym typeface="Calibri"/>
                        </a:rPr>
                        <a:t>mIoU or Dice, always</a:t>
                      </a:r>
                      <a:endParaRPr sz="1050" u="none" cap="none" strike="noStrike">
                        <a:latin typeface="Calibri"/>
                        <a:ea typeface="Calibri"/>
                        <a:cs typeface="Calibri"/>
                        <a:sym typeface="Calibri"/>
                      </a:endParaRPr>
                    </a:p>
                  </a:txBody>
                  <a:tcPr marT="64000" marB="64000" marR="64000" marL="64000" anchor="ctr">
                    <a:lnL cap="flat" cmpd="sng" w="9525">
                      <a:solidFill>
                        <a:srgbClr val="D9E2EA"/>
                      </a:solidFill>
                      <a:prstDash val="solid"/>
                      <a:round/>
                      <a:headEnd len="sm" w="sm" type="none"/>
                      <a:tailEnd len="sm" w="sm" type="none"/>
                    </a:lnL>
                    <a:lnR cap="flat" cmpd="sng" w="9525">
                      <a:solidFill>
                        <a:srgbClr val="D9E2EA"/>
                      </a:solidFill>
                      <a:prstDash val="solid"/>
                      <a:round/>
                      <a:headEnd len="sm" w="sm" type="none"/>
                      <a:tailEnd len="sm" w="sm" type="none"/>
                    </a:lnR>
                    <a:lnT cap="flat" cmpd="sng" w="9525">
                      <a:solidFill>
                        <a:srgbClr val="D9E2EA"/>
                      </a:solidFill>
                      <a:prstDash val="solid"/>
                      <a:round/>
                      <a:headEnd len="sm" w="sm" type="none"/>
                      <a:tailEnd len="sm" w="sm" type="none"/>
                    </a:lnT>
                    <a:lnB cap="flat" cmpd="sng" w="9525">
                      <a:solidFill>
                        <a:srgbClr val="D9E2EA"/>
                      </a:solidFill>
                      <a:prstDash val="solid"/>
                      <a:round/>
                      <a:headEnd len="sm" w="sm" type="none"/>
                      <a:tailEnd len="sm" w="sm" type="none"/>
                    </a:lnB>
                    <a:solidFill>
                      <a:srgbClr val="FFFFFF"/>
                    </a:solidFill>
                  </a:tcPr>
                </a:tc>
              </a:tr>
              <a:tr h="696250">
                <a:tc>
                  <a:txBody>
                    <a:bodyPr/>
                    <a:lstStyle/>
                    <a:p>
                      <a:pPr indent="0" lvl="0" marL="0" marR="0" rtl="0" algn="l">
                        <a:spcBef>
                          <a:spcPts val="0"/>
                        </a:spcBef>
                        <a:spcAft>
                          <a:spcPts val="0"/>
                        </a:spcAft>
                        <a:buClr>
                          <a:srgbClr val="1D2A5C"/>
                        </a:buClr>
                        <a:buSzPts val="1050"/>
                        <a:buFont typeface="Calibri"/>
                        <a:buNone/>
                      </a:pPr>
                      <a:r>
                        <a:rPr b="1" lang="en-US" sz="1050" u="none" cap="none" strike="noStrike">
                          <a:solidFill>
                            <a:srgbClr val="1D2A5C"/>
                          </a:solidFill>
                          <a:latin typeface="Calibri"/>
                          <a:ea typeface="Calibri"/>
                          <a:cs typeface="Calibri"/>
                          <a:sym typeface="Calibri"/>
                        </a:rPr>
                        <a:t>Box area as a proxy for defect area</a:t>
                      </a:r>
                      <a:endParaRPr sz="1050" u="none" cap="none" strike="noStrike">
                        <a:latin typeface="Calibri"/>
                        <a:ea typeface="Calibri"/>
                        <a:cs typeface="Calibri"/>
                        <a:sym typeface="Calibri"/>
                      </a:endParaRPr>
                    </a:p>
                  </a:txBody>
                  <a:tcPr marT="64000" marB="64000" marR="64000" marL="64000" anchor="ctr">
                    <a:lnL cap="flat" cmpd="sng" w="9525">
                      <a:solidFill>
                        <a:srgbClr val="D9E2EA"/>
                      </a:solidFill>
                      <a:prstDash val="solid"/>
                      <a:round/>
                      <a:headEnd len="sm" w="sm" type="none"/>
                      <a:tailEnd len="sm" w="sm" type="none"/>
                    </a:lnL>
                    <a:lnR cap="flat" cmpd="sng" w="9525">
                      <a:solidFill>
                        <a:srgbClr val="D9E2EA"/>
                      </a:solidFill>
                      <a:prstDash val="solid"/>
                      <a:round/>
                      <a:headEnd len="sm" w="sm" type="none"/>
                      <a:tailEnd len="sm" w="sm" type="none"/>
                    </a:lnR>
                    <a:lnT cap="flat" cmpd="sng" w="9525">
                      <a:solidFill>
                        <a:srgbClr val="D9E2EA"/>
                      </a:solidFill>
                      <a:prstDash val="solid"/>
                      <a:round/>
                      <a:headEnd len="sm" w="sm" type="none"/>
                      <a:tailEnd len="sm" w="sm" type="none"/>
                    </a:lnT>
                    <a:lnB cap="flat" cmpd="sng" w="9525">
                      <a:solidFill>
                        <a:srgbClr val="D9E2EA"/>
                      </a:solidFill>
                      <a:prstDash val="solid"/>
                      <a:round/>
                      <a:headEnd len="sm" w="sm" type="none"/>
                      <a:tailEnd len="sm" w="sm" type="none"/>
                    </a:lnB>
                    <a:solidFill>
                      <a:srgbClr val="F2F6F9"/>
                    </a:solidFill>
                  </a:tcPr>
                </a:tc>
                <a:tc>
                  <a:txBody>
                    <a:bodyPr/>
                    <a:lstStyle/>
                    <a:p>
                      <a:pPr indent="0" lvl="0" marL="0" marR="0" rtl="0" algn="l">
                        <a:spcBef>
                          <a:spcPts val="0"/>
                        </a:spcBef>
                        <a:spcAft>
                          <a:spcPts val="0"/>
                        </a:spcAft>
                        <a:buClr>
                          <a:srgbClr val="23293B"/>
                        </a:buClr>
                        <a:buSzPts val="1050"/>
                        <a:buFont typeface="Calibri"/>
                        <a:buNone/>
                      </a:pPr>
                      <a:r>
                        <a:rPr lang="en-US" sz="1050" u="none" cap="none" strike="noStrike">
                          <a:solidFill>
                            <a:srgbClr val="23293B"/>
                          </a:solidFill>
                          <a:latin typeface="Calibri"/>
                          <a:ea typeface="Calibri"/>
                          <a:cs typeface="Calibri"/>
                          <a:sym typeface="Calibri"/>
                        </a:rPr>
                        <a:t>Overstates crescent defects 2–4×</a:t>
                      </a:r>
                      <a:endParaRPr sz="1050" u="none" cap="none" strike="noStrike">
                        <a:latin typeface="Calibri"/>
                        <a:ea typeface="Calibri"/>
                        <a:cs typeface="Calibri"/>
                        <a:sym typeface="Calibri"/>
                      </a:endParaRPr>
                    </a:p>
                  </a:txBody>
                  <a:tcPr marT="64000" marB="64000" marR="64000" marL="64000" anchor="ctr">
                    <a:lnL cap="flat" cmpd="sng" w="9525">
                      <a:solidFill>
                        <a:srgbClr val="D9E2EA"/>
                      </a:solidFill>
                      <a:prstDash val="solid"/>
                      <a:round/>
                      <a:headEnd len="sm" w="sm" type="none"/>
                      <a:tailEnd len="sm" w="sm" type="none"/>
                    </a:lnL>
                    <a:lnR cap="flat" cmpd="sng" w="9525">
                      <a:solidFill>
                        <a:srgbClr val="D9E2EA"/>
                      </a:solidFill>
                      <a:prstDash val="solid"/>
                      <a:round/>
                      <a:headEnd len="sm" w="sm" type="none"/>
                      <a:tailEnd len="sm" w="sm" type="none"/>
                    </a:lnR>
                    <a:lnT cap="flat" cmpd="sng" w="9525">
                      <a:solidFill>
                        <a:srgbClr val="D9E2EA"/>
                      </a:solidFill>
                      <a:prstDash val="solid"/>
                      <a:round/>
                      <a:headEnd len="sm" w="sm" type="none"/>
                      <a:tailEnd len="sm" w="sm" type="none"/>
                    </a:lnT>
                    <a:lnB cap="flat" cmpd="sng" w="9525">
                      <a:solidFill>
                        <a:srgbClr val="D9E2EA"/>
                      </a:solidFill>
                      <a:prstDash val="solid"/>
                      <a:round/>
                      <a:headEnd len="sm" w="sm" type="none"/>
                      <a:tailEnd len="sm" w="sm" type="none"/>
                    </a:lnB>
                    <a:solidFill>
                      <a:srgbClr val="F2F6F9"/>
                    </a:solidFill>
                  </a:tcPr>
                </a:tc>
                <a:tc>
                  <a:txBody>
                    <a:bodyPr/>
                    <a:lstStyle/>
                    <a:p>
                      <a:pPr indent="0" lvl="0" marL="0" marR="0" rtl="0" algn="l">
                        <a:spcBef>
                          <a:spcPts val="0"/>
                        </a:spcBef>
                        <a:spcAft>
                          <a:spcPts val="0"/>
                        </a:spcAft>
                        <a:buClr>
                          <a:srgbClr val="23293B"/>
                        </a:buClr>
                        <a:buSzPts val="1050"/>
                        <a:buFont typeface="Calibri"/>
                        <a:buNone/>
                      </a:pPr>
                      <a:r>
                        <a:rPr lang="en-US" sz="1050" u="none" cap="none" strike="noStrike">
                          <a:solidFill>
                            <a:srgbClr val="23293B"/>
                          </a:solidFill>
                          <a:latin typeface="Calibri"/>
                          <a:ea typeface="Calibri"/>
                          <a:cs typeface="Calibri"/>
                          <a:sym typeface="Calibri"/>
                        </a:rPr>
                        <a:t>Masks — the module's money argument</a:t>
                      </a:r>
                      <a:endParaRPr sz="1050" u="none" cap="none" strike="noStrike">
                        <a:latin typeface="Calibri"/>
                        <a:ea typeface="Calibri"/>
                        <a:cs typeface="Calibri"/>
                        <a:sym typeface="Calibri"/>
                      </a:endParaRPr>
                    </a:p>
                  </a:txBody>
                  <a:tcPr marT="64000" marB="64000" marR="64000" marL="64000" anchor="ctr">
                    <a:lnL cap="flat" cmpd="sng" w="9525">
                      <a:solidFill>
                        <a:srgbClr val="D9E2EA"/>
                      </a:solidFill>
                      <a:prstDash val="solid"/>
                      <a:round/>
                      <a:headEnd len="sm" w="sm" type="none"/>
                      <a:tailEnd len="sm" w="sm" type="none"/>
                    </a:lnL>
                    <a:lnR cap="flat" cmpd="sng" w="9525">
                      <a:solidFill>
                        <a:srgbClr val="D9E2EA"/>
                      </a:solidFill>
                      <a:prstDash val="solid"/>
                      <a:round/>
                      <a:headEnd len="sm" w="sm" type="none"/>
                      <a:tailEnd len="sm" w="sm" type="none"/>
                    </a:lnR>
                    <a:lnT cap="flat" cmpd="sng" w="9525">
                      <a:solidFill>
                        <a:srgbClr val="D9E2EA"/>
                      </a:solidFill>
                      <a:prstDash val="solid"/>
                      <a:round/>
                      <a:headEnd len="sm" w="sm" type="none"/>
                      <a:tailEnd len="sm" w="sm" type="none"/>
                    </a:lnT>
                    <a:lnB cap="flat" cmpd="sng" w="9525">
                      <a:solidFill>
                        <a:srgbClr val="D9E2EA"/>
                      </a:solidFill>
                      <a:prstDash val="solid"/>
                      <a:round/>
                      <a:headEnd len="sm" w="sm" type="none"/>
                      <a:tailEnd len="sm" w="sm" type="none"/>
                    </a:lnB>
                    <a:solidFill>
                      <a:srgbClr val="F2F6F9"/>
                    </a:solidFill>
                  </a:tcPr>
                </a:tc>
              </a:tr>
              <a:tr h="696250">
                <a:tc>
                  <a:txBody>
                    <a:bodyPr/>
                    <a:lstStyle/>
                    <a:p>
                      <a:pPr indent="0" lvl="0" marL="0" marR="0" rtl="0" algn="l">
                        <a:spcBef>
                          <a:spcPts val="0"/>
                        </a:spcBef>
                        <a:spcAft>
                          <a:spcPts val="0"/>
                        </a:spcAft>
                        <a:buClr>
                          <a:srgbClr val="1D2A5C"/>
                        </a:buClr>
                        <a:buSzPts val="1050"/>
                        <a:buFont typeface="Calibri"/>
                        <a:buNone/>
                      </a:pPr>
                      <a:r>
                        <a:rPr b="1" lang="en-US" sz="1050" u="none" cap="none" strike="noStrike">
                          <a:solidFill>
                            <a:srgbClr val="1D2A5C"/>
                          </a:solidFill>
                          <a:latin typeface="Calibri"/>
                          <a:ea typeface="Calibri"/>
                          <a:cs typeface="Calibri"/>
                          <a:sym typeface="Calibri"/>
                        </a:rPr>
                        <a:t>Downsampling until thin defects vanish</a:t>
                      </a:r>
                      <a:endParaRPr sz="1050" u="none" cap="none" strike="noStrike">
                        <a:latin typeface="Calibri"/>
                        <a:ea typeface="Calibri"/>
                        <a:cs typeface="Calibri"/>
                        <a:sym typeface="Calibri"/>
                      </a:endParaRPr>
                    </a:p>
                  </a:txBody>
                  <a:tcPr marT="64000" marB="64000" marR="64000" marL="64000" anchor="ctr">
                    <a:lnL cap="flat" cmpd="sng" w="9525">
                      <a:solidFill>
                        <a:srgbClr val="D9E2EA"/>
                      </a:solidFill>
                      <a:prstDash val="solid"/>
                      <a:round/>
                      <a:headEnd len="sm" w="sm" type="none"/>
                      <a:tailEnd len="sm" w="sm" type="none"/>
                    </a:lnL>
                    <a:lnR cap="flat" cmpd="sng" w="9525">
                      <a:solidFill>
                        <a:srgbClr val="D9E2EA"/>
                      </a:solidFill>
                      <a:prstDash val="solid"/>
                      <a:round/>
                      <a:headEnd len="sm" w="sm" type="none"/>
                      <a:tailEnd len="sm" w="sm" type="none"/>
                    </a:lnR>
                    <a:lnT cap="flat" cmpd="sng" w="9525">
                      <a:solidFill>
                        <a:srgbClr val="D9E2EA"/>
                      </a:solidFill>
                      <a:prstDash val="solid"/>
                      <a:round/>
                      <a:headEnd len="sm" w="sm" type="none"/>
                      <a:tailEnd len="sm" w="sm" type="none"/>
                    </a:lnT>
                    <a:lnB cap="flat" cmpd="sng" w="9525">
                      <a:solidFill>
                        <a:srgbClr val="D9E2EA"/>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23293B"/>
                        </a:buClr>
                        <a:buSzPts val="1050"/>
                        <a:buFont typeface="Calibri"/>
                        <a:buNone/>
                      </a:pPr>
                      <a:r>
                        <a:rPr lang="en-US" sz="1050" u="none" cap="none" strike="noStrike">
                          <a:solidFill>
                            <a:srgbClr val="23293B"/>
                          </a:solidFill>
                          <a:latin typeface="Calibri"/>
                          <a:ea typeface="Calibri"/>
                          <a:cs typeface="Calibri"/>
                          <a:sym typeface="Calibri"/>
                        </a:rPr>
                        <a:t>Model blamed for a resolution decision</a:t>
                      </a:r>
                      <a:endParaRPr sz="1050" u="none" cap="none" strike="noStrike">
                        <a:latin typeface="Calibri"/>
                        <a:ea typeface="Calibri"/>
                        <a:cs typeface="Calibri"/>
                        <a:sym typeface="Calibri"/>
                      </a:endParaRPr>
                    </a:p>
                  </a:txBody>
                  <a:tcPr marT="64000" marB="64000" marR="64000" marL="64000" anchor="ctr">
                    <a:lnL cap="flat" cmpd="sng" w="9525">
                      <a:solidFill>
                        <a:srgbClr val="D9E2EA"/>
                      </a:solidFill>
                      <a:prstDash val="solid"/>
                      <a:round/>
                      <a:headEnd len="sm" w="sm" type="none"/>
                      <a:tailEnd len="sm" w="sm" type="none"/>
                    </a:lnL>
                    <a:lnR cap="flat" cmpd="sng" w="9525">
                      <a:solidFill>
                        <a:srgbClr val="D9E2EA"/>
                      </a:solidFill>
                      <a:prstDash val="solid"/>
                      <a:round/>
                      <a:headEnd len="sm" w="sm" type="none"/>
                      <a:tailEnd len="sm" w="sm" type="none"/>
                    </a:lnR>
                    <a:lnT cap="flat" cmpd="sng" w="9525">
                      <a:solidFill>
                        <a:srgbClr val="D9E2EA"/>
                      </a:solidFill>
                      <a:prstDash val="solid"/>
                      <a:round/>
                      <a:headEnd len="sm" w="sm" type="none"/>
                      <a:tailEnd len="sm" w="sm" type="none"/>
                    </a:lnT>
                    <a:lnB cap="flat" cmpd="sng" w="9525">
                      <a:solidFill>
                        <a:srgbClr val="D9E2EA"/>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23293B"/>
                        </a:buClr>
                        <a:buSzPts val="1050"/>
                        <a:buFont typeface="Calibri"/>
                        <a:buNone/>
                      </a:pPr>
                      <a:r>
                        <a:rPr lang="en-US" sz="1050" u="none" cap="none" strike="noStrike">
                          <a:solidFill>
                            <a:srgbClr val="23293B"/>
                          </a:solidFill>
                          <a:latin typeface="Calibri"/>
                          <a:ea typeface="Calibri"/>
                          <a:cs typeface="Calibri"/>
                          <a:sym typeface="Calibri"/>
                        </a:rPr>
                        <a:t>Check minimum-feature-width survival first</a:t>
                      </a:r>
                      <a:endParaRPr sz="1050" u="none" cap="none" strike="noStrike">
                        <a:latin typeface="Calibri"/>
                        <a:ea typeface="Calibri"/>
                        <a:cs typeface="Calibri"/>
                        <a:sym typeface="Calibri"/>
                      </a:endParaRPr>
                    </a:p>
                  </a:txBody>
                  <a:tcPr marT="64000" marB="64000" marR="64000" marL="64000" anchor="ctr">
                    <a:lnL cap="flat" cmpd="sng" w="9525">
                      <a:solidFill>
                        <a:srgbClr val="D9E2EA"/>
                      </a:solidFill>
                      <a:prstDash val="solid"/>
                      <a:round/>
                      <a:headEnd len="sm" w="sm" type="none"/>
                      <a:tailEnd len="sm" w="sm" type="none"/>
                    </a:lnL>
                    <a:lnR cap="flat" cmpd="sng" w="9525">
                      <a:solidFill>
                        <a:srgbClr val="D9E2EA"/>
                      </a:solidFill>
                      <a:prstDash val="solid"/>
                      <a:round/>
                      <a:headEnd len="sm" w="sm" type="none"/>
                      <a:tailEnd len="sm" w="sm" type="none"/>
                    </a:lnR>
                    <a:lnT cap="flat" cmpd="sng" w="9525">
                      <a:solidFill>
                        <a:srgbClr val="D9E2EA"/>
                      </a:solidFill>
                      <a:prstDash val="solid"/>
                      <a:round/>
                      <a:headEnd len="sm" w="sm" type="none"/>
                      <a:tailEnd len="sm" w="sm" type="none"/>
                    </a:lnT>
                    <a:lnB cap="flat" cmpd="sng" w="9525">
                      <a:solidFill>
                        <a:srgbClr val="D9E2EA"/>
                      </a:solidFill>
                      <a:prstDash val="solid"/>
                      <a:round/>
                      <a:headEnd len="sm" w="sm" type="none"/>
                      <a:tailEnd len="sm" w="sm" type="none"/>
                    </a:lnB>
                    <a:solidFill>
                      <a:srgbClr val="FFFFFF"/>
                    </a:solidFill>
                  </a:tcPr>
                </a:tc>
              </a:tr>
              <a:tr h="696250">
                <a:tc>
                  <a:txBody>
                    <a:bodyPr/>
                    <a:lstStyle/>
                    <a:p>
                      <a:pPr indent="0" lvl="0" marL="0" marR="0" rtl="0" algn="l">
                        <a:spcBef>
                          <a:spcPts val="0"/>
                        </a:spcBef>
                        <a:spcAft>
                          <a:spcPts val="0"/>
                        </a:spcAft>
                        <a:buClr>
                          <a:srgbClr val="1D2A5C"/>
                        </a:buClr>
                        <a:buSzPts val="1050"/>
                        <a:buFont typeface="Calibri"/>
                        <a:buNone/>
                      </a:pPr>
                      <a:r>
                        <a:rPr b="1" lang="en-US" sz="1050" u="none" cap="none" strike="noStrike">
                          <a:solidFill>
                            <a:srgbClr val="1D2A5C"/>
                          </a:solidFill>
                          <a:latin typeface="Calibri"/>
                          <a:ea typeface="Calibri"/>
                          <a:cs typeface="Calibri"/>
                          <a:sym typeface="Calibri"/>
                        </a:rPr>
                        <a:t>No boundary rules in the annotation spec</a:t>
                      </a:r>
                      <a:endParaRPr sz="1050" u="none" cap="none" strike="noStrike">
                        <a:latin typeface="Calibri"/>
                        <a:ea typeface="Calibri"/>
                        <a:cs typeface="Calibri"/>
                        <a:sym typeface="Calibri"/>
                      </a:endParaRPr>
                    </a:p>
                  </a:txBody>
                  <a:tcPr marT="64000" marB="64000" marR="64000" marL="64000" anchor="ctr">
                    <a:lnL cap="flat" cmpd="sng" w="9525">
                      <a:solidFill>
                        <a:srgbClr val="D9E2EA"/>
                      </a:solidFill>
                      <a:prstDash val="solid"/>
                      <a:round/>
                      <a:headEnd len="sm" w="sm" type="none"/>
                      <a:tailEnd len="sm" w="sm" type="none"/>
                    </a:lnL>
                    <a:lnR cap="flat" cmpd="sng" w="9525">
                      <a:solidFill>
                        <a:srgbClr val="D9E2EA"/>
                      </a:solidFill>
                      <a:prstDash val="solid"/>
                      <a:round/>
                      <a:headEnd len="sm" w="sm" type="none"/>
                      <a:tailEnd len="sm" w="sm" type="none"/>
                    </a:lnR>
                    <a:lnT cap="flat" cmpd="sng" w="9525">
                      <a:solidFill>
                        <a:srgbClr val="D9E2EA"/>
                      </a:solidFill>
                      <a:prstDash val="solid"/>
                      <a:round/>
                      <a:headEnd len="sm" w="sm" type="none"/>
                      <a:tailEnd len="sm" w="sm" type="none"/>
                    </a:lnT>
                    <a:lnB cap="flat" cmpd="sng" w="9525">
                      <a:solidFill>
                        <a:srgbClr val="D9E2EA"/>
                      </a:solidFill>
                      <a:prstDash val="solid"/>
                      <a:round/>
                      <a:headEnd len="sm" w="sm" type="none"/>
                      <a:tailEnd len="sm" w="sm" type="none"/>
                    </a:lnB>
                    <a:solidFill>
                      <a:srgbClr val="F2F6F9"/>
                    </a:solidFill>
                  </a:tcPr>
                </a:tc>
                <a:tc>
                  <a:txBody>
                    <a:bodyPr/>
                    <a:lstStyle/>
                    <a:p>
                      <a:pPr indent="0" lvl="0" marL="0" marR="0" rtl="0" algn="l">
                        <a:spcBef>
                          <a:spcPts val="0"/>
                        </a:spcBef>
                        <a:spcAft>
                          <a:spcPts val="0"/>
                        </a:spcAft>
                        <a:buClr>
                          <a:srgbClr val="23293B"/>
                        </a:buClr>
                        <a:buSzPts val="1050"/>
                        <a:buFont typeface="Calibri"/>
                        <a:buNone/>
                      </a:pPr>
                      <a:r>
                        <a:rPr lang="en-US" sz="1050" u="none" cap="none" strike="noStrike">
                          <a:solidFill>
                            <a:srgbClr val="23293B"/>
                          </a:solidFill>
                          <a:latin typeface="Calibri"/>
                          <a:ea typeface="Calibri"/>
                          <a:cs typeface="Calibri"/>
                          <a:sym typeface="Calibri"/>
                        </a:rPr>
                        <a:t>Boundary noise no model can learn through</a:t>
                      </a:r>
                      <a:endParaRPr sz="1050" u="none" cap="none" strike="noStrike">
                        <a:latin typeface="Calibri"/>
                        <a:ea typeface="Calibri"/>
                        <a:cs typeface="Calibri"/>
                        <a:sym typeface="Calibri"/>
                      </a:endParaRPr>
                    </a:p>
                  </a:txBody>
                  <a:tcPr marT="64000" marB="64000" marR="64000" marL="64000" anchor="ctr">
                    <a:lnL cap="flat" cmpd="sng" w="9525">
                      <a:solidFill>
                        <a:srgbClr val="D9E2EA"/>
                      </a:solidFill>
                      <a:prstDash val="solid"/>
                      <a:round/>
                      <a:headEnd len="sm" w="sm" type="none"/>
                      <a:tailEnd len="sm" w="sm" type="none"/>
                    </a:lnL>
                    <a:lnR cap="flat" cmpd="sng" w="9525">
                      <a:solidFill>
                        <a:srgbClr val="D9E2EA"/>
                      </a:solidFill>
                      <a:prstDash val="solid"/>
                      <a:round/>
                      <a:headEnd len="sm" w="sm" type="none"/>
                      <a:tailEnd len="sm" w="sm" type="none"/>
                    </a:lnR>
                    <a:lnT cap="flat" cmpd="sng" w="9525">
                      <a:solidFill>
                        <a:srgbClr val="D9E2EA"/>
                      </a:solidFill>
                      <a:prstDash val="solid"/>
                      <a:round/>
                      <a:headEnd len="sm" w="sm" type="none"/>
                      <a:tailEnd len="sm" w="sm" type="none"/>
                    </a:lnT>
                    <a:lnB cap="flat" cmpd="sng" w="9525">
                      <a:solidFill>
                        <a:srgbClr val="D9E2EA"/>
                      </a:solidFill>
                      <a:prstDash val="solid"/>
                      <a:round/>
                      <a:headEnd len="sm" w="sm" type="none"/>
                      <a:tailEnd len="sm" w="sm" type="none"/>
                    </a:lnB>
                    <a:solidFill>
                      <a:srgbClr val="F2F6F9"/>
                    </a:solidFill>
                  </a:tcPr>
                </a:tc>
                <a:tc>
                  <a:txBody>
                    <a:bodyPr/>
                    <a:lstStyle/>
                    <a:p>
                      <a:pPr indent="0" lvl="0" marL="0" marR="0" rtl="0" algn="l">
                        <a:spcBef>
                          <a:spcPts val="0"/>
                        </a:spcBef>
                        <a:spcAft>
                          <a:spcPts val="0"/>
                        </a:spcAft>
                        <a:buClr>
                          <a:srgbClr val="23293B"/>
                        </a:buClr>
                        <a:buSzPts val="1050"/>
                        <a:buFont typeface="Calibri"/>
                        <a:buNone/>
                      </a:pPr>
                      <a:r>
                        <a:rPr lang="en-US" sz="1050" u="none" cap="none" strike="noStrike">
                          <a:solidFill>
                            <a:srgbClr val="23293B"/>
                          </a:solidFill>
                          <a:latin typeface="Calibri"/>
                          <a:ea typeface="Calibri"/>
                          <a:cs typeface="Calibri"/>
                          <a:sym typeface="Calibri"/>
                        </a:rPr>
                        <a:t>Write the rule; measure annotator IoU (M5)</a:t>
                      </a:r>
                      <a:endParaRPr sz="1050" u="none" cap="none" strike="noStrike">
                        <a:latin typeface="Calibri"/>
                        <a:ea typeface="Calibri"/>
                        <a:cs typeface="Calibri"/>
                        <a:sym typeface="Calibri"/>
                      </a:endParaRPr>
                    </a:p>
                  </a:txBody>
                  <a:tcPr marT="64000" marB="64000" marR="64000" marL="64000" anchor="ctr">
                    <a:lnL cap="flat" cmpd="sng" w="9525">
                      <a:solidFill>
                        <a:srgbClr val="D9E2EA"/>
                      </a:solidFill>
                      <a:prstDash val="solid"/>
                      <a:round/>
                      <a:headEnd len="sm" w="sm" type="none"/>
                      <a:tailEnd len="sm" w="sm" type="none"/>
                    </a:lnL>
                    <a:lnR cap="flat" cmpd="sng" w="9525">
                      <a:solidFill>
                        <a:srgbClr val="D9E2EA"/>
                      </a:solidFill>
                      <a:prstDash val="solid"/>
                      <a:round/>
                      <a:headEnd len="sm" w="sm" type="none"/>
                      <a:tailEnd len="sm" w="sm" type="none"/>
                    </a:lnR>
                    <a:lnT cap="flat" cmpd="sng" w="9525">
                      <a:solidFill>
                        <a:srgbClr val="D9E2EA"/>
                      </a:solidFill>
                      <a:prstDash val="solid"/>
                      <a:round/>
                      <a:headEnd len="sm" w="sm" type="none"/>
                      <a:tailEnd len="sm" w="sm" type="none"/>
                    </a:lnT>
                    <a:lnB cap="flat" cmpd="sng" w="9525">
                      <a:solidFill>
                        <a:srgbClr val="D9E2EA"/>
                      </a:solidFill>
                      <a:prstDash val="solid"/>
                      <a:round/>
                      <a:headEnd len="sm" w="sm" type="none"/>
                      <a:tailEnd len="sm" w="sm" type="none"/>
                    </a:lnB>
                    <a:solidFill>
                      <a:srgbClr val="F2F6F9"/>
                    </a:solidFill>
                  </a:tcPr>
                </a:tc>
              </a:tr>
              <a:tr h="696250">
                <a:tc>
                  <a:txBody>
                    <a:bodyPr/>
                    <a:lstStyle/>
                    <a:p>
                      <a:pPr indent="0" lvl="0" marL="0" marR="0" rtl="0" algn="l">
                        <a:spcBef>
                          <a:spcPts val="0"/>
                        </a:spcBef>
                        <a:spcAft>
                          <a:spcPts val="0"/>
                        </a:spcAft>
                        <a:buClr>
                          <a:srgbClr val="1D2A5C"/>
                        </a:buClr>
                        <a:buSzPts val="1050"/>
                        <a:buFont typeface="Calibri"/>
                        <a:buNone/>
                      </a:pPr>
                      <a:r>
                        <a:rPr b="1" lang="en-US" sz="1050" u="none" cap="none" strike="noStrike">
                          <a:solidFill>
                            <a:srgbClr val="1D2A5C"/>
                          </a:solidFill>
                          <a:latin typeface="Calibri"/>
                          <a:ea typeface="Calibri"/>
                          <a:cs typeface="Calibri"/>
                          <a:sym typeface="Calibri"/>
                        </a:rPr>
                        <a:t>Holes / multi-part instances undecided</a:t>
                      </a:r>
                      <a:endParaRPr sz="1050" u="none" cap="none" strike="noStrike">
                        <a:latin typeface="Calibri"/>
                        <a:ea typeface="Calibri"/>
                        <a:cs typeface="Calibri"/>
                        <a:sym typeface="Calibri"/>
                      </a:endParaRPr>
                    </a:p>
                  </a:txBody>
                  <a:tcPr marT="64000" marB="64000" marR="64000" marL="64000" anchor="ctr">
                    <a:lnL cap="flat" cmpd="sng" w="9525">
                      <a:solidFill>
                        <a:srgbClr val="D9E2EA"/>
                      </a:solidFill>
                      <a:prstDash val="solid"/>
                      <a:round/>
                      <a:headEnd len="sm" w="sm" type="none"/>
                      <a:tailEnd len="sm" w="sm" type="none"/>
                    </a:lnL>
                    <a:lnR cap="flat" cmpd="sng" w="9525">
                      <a:solidFill>
                        <a:srgbClr val="D9E2EA"/>
                      </a:solidFill>
                      <a:prstDash val="solid"/>
                      <a:round/>
                      <a:headEnd len="sm" w="sm" type="none"/>
                      <a:tailEnd len="sm" w="sm" type="none"/>
                    </a:lnR>
                    <a:lnT cap="flat" cmpd="sng" w="9525">
                      <a:solidFill>
                        <a:srgbClr val="D9E2EA"/>
                      </a:solidFill>
                      <a:prstDash val="solid"/>
                      <a:round/>
                      <a:headEnd len="sm" w="sm" type="none"/>
                      <a:tailEnd len="sm" w="sm" type="none"/>
                    </a:lnT>
                    <a:lnB cap="flat" cmpd="sng" w="9525">
                      <a:solidFill>
                        <a:srgbClr val="D9E2EA"/>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23293B"/>
                        </a:buClr>
                        <a:buSzPts val="1050"/>
                        <a:buFont typeface="Calibri"/>
                        <a:buNone/>
                      </a:pPr>
                      <a:r>
                        <a:rPr lang="en-US" sz="1050" u="none" cap="none" strike="noStrike">
                          <a:solidFill>
                            <a:srgbClr val="23293B"/>
                          </a:solidFill>
                          <a:latin typeface="Calibri"/>
                          <a:ea typeface="Calibri"/>
                          <a:cs typeface="Calibri"/>
                          <a:sym typeface="Calibri"/>
                        </a:rPr>
                        <a:t>Converter behaviour undefined</a:t>
                      </a:r>
                      <a:endParaRPr sz="1050" u="none" cap="none" strike="noStrike">
                        <a:latin typeface="Calibri"/>
                        <a:ea typeface="Calibri"/>
                        <a:cs typeface="Calibri"/>
                        <a:sym typeface="Calibri"/>
                      </a:endParaRPr>
                    </a:p>
                  </a:txBody>
                  <a:tcPr marT="64000" marB="64000" marR="64000" marL="64000" anchor="ctr">
                    <a:lnL cap="flat" cmpd="sng" w="9525">
                      <a:solidFill>
                        <a:srgbClr val="D9E2EA"/>
                      </a:solidFill>
                      <a:prstDash val="solid"/>
                      <a:round/>
                      <a:headEnd len="sm" w="sm" type="none"/>
                      <a:tailEnd len="sm" w="sm" type="none"/>
                    </a:lnL>
                    <a:lnR cap="flat" cmpd="sng" w="9525">
                      <a:solidFill>
                        <a:srgbClr val="D9E2EA"/>
                      </a:solidFill>
                      <a:prstDash val="solid"/>
                      <a:round/>
                      <a:headEnd len="sm" w="sm" type="none"/>
                      <a:tailEnd len="sm" w="sm" type="none"/>
                    </a:lnR>
                    <a:lnT cap="flat" cmpd="sng" w="9525">
                      <a:solidFill>
                        <a:srgbClr val="D9E2EA"/>
                      </a:solidFill>
                      <a:prstDash val="solid"/>
                      <a:round/>
                      <a:headEnd len="sm" w="sm" type="none"/>
                      <a:tailEnd len="sm" w="sm" type="none"/>
                    </a:lnT>
                    <a:lnB cap="flat" cmpd="sng" w="9525">
                      <a:solidFill>
                        <a:srgbClr val="D9E2EA"/>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23293B"/>
                        </a:buClr>
                        <a:buSzPts val="1050"/>
                        <a:buFont typeface="Calibri"/>
                        <a:buNone/>
                      </a:pPr>
                      <a:r>
                        <a:rPr lang="en-US" sz="1050" u="none" cap="none" strike="noStrike">
                          <a:solidFill>
                            <a:srgbClr val="23293B"/>
                          </a:solidFill>
                          <a:latin typeface="Calibri"/>
                          <a:ea typeface="Calibri"/>
                          <a:cs typeface="Calibri"/>
                          <a:sym typeface="Calibri"/>
                        </a:rPr>
                        <a:t>Decide, document, enforce in the converter</a:t>
                      </a:r>
                      <a:endParaRPr sz="1050" u="none" cap="none" strike="noStrike">
                        <a:latin typeface="Calibri"/>
                        <a:ea typeface="Calibri"/>
                        <a:cs typeface="Calibri"/>
                        <a:sym typeface="Calibri"/>
                      </a:endParaRPr>
                    </a:p>
                  </a:txBody>
                  <a:tcPr marT="64000" marB="64000" marR="64000" marL="64000" anchor="ctr">
                    <a:lnL cap="flat" cmpd="sng" w="9525">
                      <a:solidFill>
                        <a:srgbClr val="D9E2EA"/>
                      </a:solidFill>
                      <a:prstDash val="solid"/>
                      <a:round/>
                      <a:headEnd len="sm" w="sm" type="none"/>
                      <a:tailEnd len="sm" w="sm" type="none"/>
                    </a:lnL>
                    <a:lnR cap="flat" cmpd="sng" w="9525">
                      <a:solidFill>
                        <a:srgbClr val="D9E2EA"/>
                      </a:solidFill>
                      <a:prstDash val="solid"/>
                      <a:round/>
                      <a:headEnd len="sm" w="sm" type="none"/>
                      <a:tailEnd len="sm" w="sm" type="none"/>
                    </a:lnR>
                    <a:lnT cap="flat" cmpd="sng" w="9525">
                      <a:solidFill>
                        <a:srgbClr val="D9E2EA"/>
                      </a:solidFill>
                      <a:prstDash val="solid"/>
                      <a:round/>
                      <a:headEnd len="sm" w="sm" type="none"/>
                      <a:tailEnd len="sm" w="sm" type="none"/>
                    </a:lnT>
                    <a:lnB cap="flat" cmpd="sng" w="9525">
                      <a:solidFill>
                        <a:srgbClr val="D9E2EA"/>
                      </a:solidFill>
                      <a:prstDash val="solid"/>
                      <a:round/>
                      <a:headEnd len="sm" w="sm" type="none"/>
                      <a:tailEnd len="sm" w="sm" type="none"/>
                    </a:lnB>
                    <a:solidFill>
                      <a:srgbClr val="FFFFFF"/>
                    </a:solidFill>
                  </a:tcPr>
                </a:tc>
              </a:tr>
              <a:tr h="696250">
                <a:tc>
                  <a:txBody>
                    <a:bodyPr/>
                    <a:lstStyle/>
                    <a:p>
                      <a:pPr indent="0" lvl="0" marL="0" marR="0" rtl="0" algn="l">
                        <a:spcBef>
                          <a:spcPts val="0"/>
                        </a:spcBef>
                        <a:spcAft>
                          <a:spcPts val="0"/>
                        </a:spcAft>
                        <a:buClr>
                          <a:srgbClr val="1D2A5C"/>
                        </a:buClr>
                        <a:buSzPts val="1050"/>
                        <a:buFont typeface="Calibri"/>
                        <a:buNone/>
                      </a:pPr>
                      <a:r>
                        <a:rPr b="1" lang="en-US" sz="1050" u="none" cap="none" strike="noStrike">
                          <a:solidFill>
                            <a:srgbClr val="1D2A5C"/>
                          </a:solidFill>
                          <a:latin typeface="Calibri"/>
                          <a:ea typeface="Calibri"/>
                          <a:cs typeface="Calibri"/>
                          <a:sym typeface="Calibri"/>
                        </a:rPr>
                        <a:t>No calibration governance</a:t>
                      </a:r>
                      <a:endParaRPr sz="1050" u="none" cap="none" strike="noStrike">
                        <a:latin typeface="Calibri"/>
                        <a:ea typeface="Calibri"/>
                        <a:cs typeface="Calibri"/>
                        <a:sym typeface="Calibri"/>
                      </a:endParaRPr>
                    </a:p>
                  </a:txBody>
                  <a:tcPr marT="64000" marB="64000" marR="64000" marL="64000" anchor="ctr">
                    <a:lnL cap="flat" cmpd="sng" w="9525">
                      <a:solidFill>
                        <a:srgbClr val="D9E2EA"/>
                      </a:solidFill>
                      <a:prstDash val="solid"/>
                      <a:round/>
                      <a:headEnd len="sm" w="sm" type="none"/>
                      <a:tailEnd len="sm" w="sm" type="none"/>
                    </a:lnL>
                    <a:lnR cap="flat" cmpd="sng" w="9525">
                      <a:solidFill>
                        <a:srgbClr val="D9E2EA"/>
                      </a:solidFill>
                      <a:prstDash val="solid"/>
                      <a:round/>
                      <a:headEnd len="sm" w="sm" type="none"/>
                      <a:tailEnd len="sm" w="sm" type="none"/>
                    </a:lnR>
                    <a:lnT cap="flat" cmpd="sng" w="9525">
                      <a:solidFill>
                        <a:srgbClr val="D9E2EA"/>
                      </a:solidFill>
                      <a:prstDash val="solid"/>
                      <a:round/>
                      <a:headEnd len="sm" w="sm" type="none"/>
                      <a:tailEnd len="sm" w="sm" type="none"/>
                    </a:lnT>
                    <a:lnB cap="flat" cmpd="sng" w="9525">
                      <a:solidFill>
                        <a:srgbClr val="D9E2EA"/>
                      </a:solidFill>
                      <a:prstDash val="solid"/>
                      <a:round/>
                      <a:headEnd len="sm" w="sm" type="none"/>
                      <a:tailEnd len="sm" w="sm" type="none"/>
                    </a:lnB>
                    <a:solidFill>
                      <a:srgbClr val="F2F6F9"/>
                    </a:solidFill>
                  </a:tcPr>
                </a:tc>
                <a:tc>
                  <a:txBody>
                    <a:bodyPr/>
                    <a:lstStyle/>
                    <a:p>
                      <a:pPr indent="0" lvl="0" marL="0" marR="0" rtl="0" algn="l">
                        <a:spcBef>
                          <a:spcPts val="0"/>
                        </a:spcBef>
                        <a:spcAft>
                          <a:spcPts val="0"/>
                        </a:spcAft>
                        <a:buClr>
                          <a:srgbClr val="23293B"/>
                        </a:buClr>
                        <a:buSzPts val="1050"/>
                        <a:buFont typeface="Calibri"/>
                        <a:buNone/>
                      </a:pPr>
                      <a:r>
                        <a:rPr lang="en-US" sz="1050" u="none" cap="none" strike="noStrike">
                          <a:solidFill>
                            <a:srgbClr val="23293B"/>
                          </a:solidFill>
                          <a:latin typeface="Calibri"/>
                          <a:ea typeface="Calibri"/>
                          <a:cs typeface="Calibri"/>
                          <a:sym typeface="Calibri"/>
                        </a:rPr>
                        <a:t>A camera bumped 5 cm changes every invoice</a:t>
                      </a:r>
                      <a:endParaRPr sz="1050" u="none" cap="none" strike="noStrike">
                        <a:latin typeface="Calibri"/>
                        <a:ea typeface="Calibri"/>
                        <a:cs typeface="Calibri"/>
                        <a:sym typeface="Calibri"/>
                      </a:endParaRPr>
                    </a:p>
                  </a:txBody>
                  <a:tcPr marT="64000" marB="64000" marR="64000" marL="64000" anchor="ctr">
                    <a:lnL cap="flat" cmpd="sng" w="9525">
                      <a:solidFill>
                        <a:srgbClr val="D9E2EA"/>
                      </a:solidFill>
                      <a:prstDash val="solid"/>
                      <a:round/>
                      <a:headEnd len="sm" w="sm" type="none"/>
                      <a:tailEnd len="sm" w="sm" type="none"/>
                    </a:lnL>
                    <a:lnR cap="flat" cmpd="sng" w="9525">
                      <a:solidFill>
                        <a:srgbClr val="D9E2EA"/>
                      </a:solidFill>
                      <a:prstDash val="solid"/>
                      <a:round/>
                      <a:headEnd len="sm" w="sm" type="none"/>
                      <a:tailEnd len="sm" w="sm" type="none"/>
                    </a:lnR>
                    <a:lnT cap="flat" cmpd="sng" w="9525">
                      <a:solidFill>
                        <a:srgbClr val="D9E2EA"/>
                      </a:solidFill>
                      <a:prstDash val="solid"/>
                      <a:round/>
                      <a:headEnd len="sm" w="sm" type="none"/>
                      <a:tailEnd len="sm" w="sm" type="none"/>
                    </a:lnT>
                    <a:lnB cap="flat" cmpd="sng" w="9525">
                      <a:solidFill>
                        <a:srgbClr val="D9E2EA"/>
                      </a:solidFill>
                      <a:prstDash val="solid"/>
                      <a:round/>
                      <a:headEnd len="sm" w="sm" type="none"/>
                      <a:tailEnd len="sm" w="sm" type="none"/>
                    </a:lnB>
                    <a:solidFill>
                      <a:srgbClr val="F2F6F9"/>
                    </a:solidFill>
                  </a:tcPr>
                </a:tc>
                <a:tc>
                  <a:txBody>
                    <a:bodyPr/>
                    <a:lstStyle/>
                    <a:p>
                      <a:pPr indent="0" lvl="0" marL="0" marR="0" rtl="0" algn="l">
                        <a:spcBef>
                          <a:spcPts val="0"/>
                        </a:spcBef>
                        <a:spcAft>
                          <a:spcPts val="0"/>
                        </a:spcAft>
                        <a:buClr>
                          <a:srgbClr val="23293B"/>
                        </a:buClr>
                        <a:buSzPts val="1050"/>
                        <a:buFont typeface="Calibri"/>
                        <a:buNone/>
                      </a:pPr>
                      <a:r>
                        <a:rPr lang="en-US" sz="1050" u="none" cap="none" strike="noStrike">
                          <a:solidFill>
                            <a:srgbClr val="23293B"/>
                          </a:solidFill>
                          <a:latin typeface="Calibri"/>
                          <a:ea typeface="Calibri"/>
                          <a:cs typeface="Calibri"/>
                          <a:sym typeface="Calibri"/>
                        </a:rPr>
                        <a:t>Calibration checks in the runbook (M7)</a:t>
                      </a:r>
                      <a:endParaRPr sz="1050" u="none" cap="none" strike="noStrike">
                        <a:latin typeface="Calibri"/>
                        <a:ea typeface="Calibri"/>
                        <a:cs typeface="Calibri"/>
                        <a:sym typeface="Calibri"/>
                      </a:endParaRPr>
                    </a:p>
                  </a:txBody>
                  <a:tcPr marT="64000" marB="64000" marR="64000" marL="64000" anchor="ctr">
                    <a:lnL cap="flat" cmpd="sng" w="9525">
                      <a:solidFill>
                        <a:srgbClr val="D9E2EA"/>
                      </a:solidFill>
                      <a:prstDash val="solid"/>
                      <a:round/>
                      <a:headEnd len="sm" w="sm" type="none"/>
                      <a:tailEnd len="sm" w="sm" type="none"/>
                    </a:lnL>
                    <a:lnR cap="flat" cmpd="sng" w="9525">
                      <a:solidFill>
                        <a:srgbClr val="D9E2EA"/>
                      </a:solidFill>
                      <a:prstDash val="solid"/>
                      <a:round/>
                      <a:headEnd len="sm" w="sm" type="none"/>
                      <a:tailEnd len="sm" w="sm" type="none"/>
                    </a:lnR>
                    <a:lnT cap="flat" cmpd="sng" w="9525">
                      <a:solidFill>
                        <a:srgbClr val="D9E2EA"/>
                      </a:solidFill>
                      <a:prstDash val="solid"/>
                      <a:round/>
                      <a:headEnd len="sm" w="sm" type="none"/>
                      <a:tailEnd len="sm" w="sm" type="none"/>
                    </a:lnT>
                    <a:lnB cap="flat" cmpd="sng" w="9525">
                      <a:solidFill>
                        <a:srgbClr val="D9E2EA"/>
                      </a:solidFill>
                      <a:prstDash val="solid"/>
                      <a:round/>
                      <a:headEnd len="sm" w="sm" type="none"/>
                      <a:tailEnd len="sm" w="sm" type="none"/>
                    </a:lnB>
                    <a:solidFill>
                      <a:srgbClr val="F2F6F9"/>
                    </a:solidFill>
                  </a:tcPr>
                </a:tc>
              </a:tr>
            </a:tbl>
          </a:graphicData>
        </a:graphic>
      </p:graphicFrame>
    </p:spTree>
  </p:cSld>
  <p:clrMapOvr>
    <a:masterClrMapping/>
  </p:clrMapOvr>
</p:sld>
</file>

<file path=ppt/slides/slide7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175" name="Shape 2175"/>
        <p:cNvGrpSpPr/>
        <p:nvPr/>
      </p:nvGrpSpPr>
      <p:grpSpPr>
        <a:xfrm>
          <a:off x="0" y="0"/>
          <a:ext cx="0" cy="0"/>
          <a:chOff x="0" y="0"/>
          <a:chExt cx="0" cy="0"/>
        </a:xfrm>
      </p:grpSpPr>
      <p:sp>
        <p:nvSpPr>
          <p:cNvPr id="2176" name="Google Shape;2176;p78"/>
          <p:cNvSpPr/>
          <p:nvPr/>
        </p:nvSpPr>
        <p:spPr>
          <a:xfrm>
            <a:off x="502920" y="274320"/>
            <a:ext cx="9646920" cy="56692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D2A5C"/>
              </a:buClr>
              <a:buSzPts val="2700"/>
              <a:buFont typeface="Calibri"/>
              <a:buNone/>
            </a:pPr>
            <a:r>
              <a:rPr b="1" i="0" lang="en-US" sz="2700" u="none" cap="none" strike="noStrike">
                <a:solidFill>
                  <a:srgbClr val="1D2A5C"/>
                </a:solidFill>
                <a:latin typeface="Calibri"/>
                <a:ea typeface="Calibri"/>
                <a:cs typeface="Calibri"/>
                <a:sym typeface="Calibri"/>
              </a:rPr>
              <a:t>Training the Surface-Defect Segmenter</a:t>
            </a:r>
            <a:endParaRPr b="0" i="0" sz="2700" u="none" cap="none" strike="noStrike">
              <a:solidFill>
                <a:schemeClr val="dk1"/>
              </a:solidFill>
              <a:latin typeface="Calibri"/>
              <a:ea typeface="Calibri"/>
              <a:cs typeface="Calibri"/>
              <a:sym typeface="Calibri"/>
            </a:endParaRPr>
          </a:p>
        </p:txBody>
      </p:sp>
      <p:sp>
        <p:nvSpPr>
          <p:cNvPr id="2177" name="Google Shape;2177;p78"/>
          <p:cNvSpPr/>
          <p:nvPr/>
        </p:nvSpPr>
        <p:spPr>
          <a:xfrm>
            <a:off x="502920" y="859536"/>
            <a:ext cx="9646920" cy="31089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F6B7A"/>
              </a:buClr>
              <a:buSzPts val="1250"/>
              <a:buFont typeface="Arial"/>
              <a:buNone/>
            </a:pPr>
            <a:r>
              <a:rPr b="0" i="0" lang="en-US" sz="1250" u="none" cap="none" strike="noStrike">
                <a:solidFill>
                  <a:srgbClr val="5F6B7A"/>
                </a:solidFill>
                <a:latin typeface="Arial"/>
                <a:ea typeface="Arial"/>
                <a:cs typeface="Arial"/>
                <a:sym typeface="Arial"/>
              </a:rPr>
              <a:t>تدريب مجزئ عيوب السطح</a:t>
            </a:r>
            <a:endParaRPr b="0" i="0" sz="1250" u="none" cap="none" strike="noStrike">
              <a:solidFill>
                <a:schemeClr val="dk1"/>
              </a:solidFill>
              <a:latin typeface="Calibri"/>
              <a:ea typeface="Calibri"/>
              <a:cs typeface="Calibri"/>
              <a:sym typeface="Calibri"/>
            </a:endParaRPr>
          </a:p>
        </p:txBody>
      </p:sp>
      <p:pic>
        <p:nvPicPr>
          <p:cNvPr descr="/sessions/blissful-determined-ritchie/build/assets/sdaia_logo.png" id="2178" name="Google Shape;2178;p78"/>
          <p:cNvPicPr preferRelativeResize="0"/>
          <p:nvPr/>
        </p:nvPicPr>
        <p:blipFill rotWithShape="1">
          <a:blip r:embed="rId3">
            <a:alphaModFix/>
          </a:blip>
          <a:srcRect b="0" l="0" r="0" t="0"/>
          <a:stretch/>
        </p:blipFill>
        <p:spPr>
          <a:xfrm>
            <a:off x="10625328" y="310896"/>
            <a:ext cx="1078992" cy="264111"/>
          </a:xfrm>
          <a:prstGeom prst="rect">
            <a:avLst/>
          </a:prstGeom>
          <a:noFill/>
          <a:ln>
            <a:noFill/>
          </a:ln>
        </p:spPr>
      </p:pic>
      <p:sp>
        <p:nvSpPr>
          <p:cNvPr id="2179" name="Google Shape;2179;p78"/>
          <p:cNvSpPr/>
          <p:nvPr/>
        </p:nvSpPr>
        <p:spPr>
          <a:xfrm>
            <a:off x="502920" y="6528816"/>
            <a:ext cx="8686800"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A79D"/>
              </a:buClr>
              <a:buSzPts val="800"/>
              <a:buFont typeface="Calibri"/>
              <a:buNone/>
            </a:pPr>
            <a:r>
              <a:rPr b="1" i="0" lang="en-US" sz="800" u="none" cap="none" strike="noStrike">
                <a:solidFill>
                  <a:srgbClr val="00A79D"/>
                </a:solidFill>
                <a:latin typeface="Calibri"/>
                <a:ea typeface="Calibri"/>
                <a:cs typeface="Calibri"/>
                <a:sym typeface="Calibri"/>
              </a:rPr>
              <a:t>MODULE 4   </a:t>
            </a:r>
            <a:r>
              <a:rPr b="0" i="0" lang="en-US" sz="800" u="none" cap="none" strike="noStrike">
                <a:solidFill>
                  <a:srgbClr val="8A96A6"/>
                </a:solidFill>
                <a:latin typeface="Calibri"/>
                <a:ea typeface="Calibri"/>
                <a:cs typeface="Calibri"/>
                <a:sym typeface="Calibri"/>
              </a:rPr>
              <a:t>SDA-AIE-212 · Computer Vision Systems Development</a:t>
            </a:r>
            <a:endParaRPr b="0" i="0" sz="800" u="none" cap="none" strike="noStrike">
              <a:solidFill>
                <a:schemeClr val="dk1"/>
              </a:solidFill>
              <a:latin typeface="Calibri"/>
              <a:ea typeface="Calibri"/>
              <a:cs typeface="Calibri"/>
              <a:sym typeface="Calibri"/>
            </a:endParaRPr>
          </a:p>
        </p:txBody>
      </p:sp>
      <p:sp>
        <p:nvSpPr>
          <p:cNvPr id="2180" name="Google Shape;2180;p78"/>
          <p:cNvSpPr/>
          <p:nvPr/>
        </p:nvSpPr>
        <p:spPr>
          <a:xfrm>
            <a:off x="11292840" y="6528816"/>
            <a:ext cx="411480" cy="219456"/>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8A96A6"/>
              </a:buClr>
              <a:buSzPts val="900"/>
              <a:buFont typeface="Calibri"/>
              <a:buNone/>
            </a:pPr>
            <a:r>
              <a:rPr b="0" i="0" lang="en-US" sz="900" u="none" cap="none" strike="noStrike">
                <a:solidFill>
                  <a:srgbClr val="8A96A6"/>
                </a:solidFill>
                <a:latin typeface="Calibri"/>
                <a:ea typeface="Calibri"/>
                <a:cs typeface="Calibri"/>
                <a:sym typeface="Calibri"/>
              </a:rPr>
              <a:t>78</a:t>
            </a:r>
            <a:endParaRPr b="0" i="0" sz="900" u="none" cap="none" strike="noStrike">
              <a:solidFill>
                <a:schemeClr val="dk1"/>
              </a:solidFill>
              <a:latin typeface="Calibri"/>
              <a:ea typeface="Calibri"/>
              <a:cs typeface="Calibri"/>
              <a:sym typeface="Calibri"/>
            </a:endParaRPr>
          </a:p>
        </p:txBody>
      </p:sp>
      <p:sp>
        <p:nvSpPr>
          <p:cNvPr id="2181" name="Google Shape;2181;p78"/>
          <p:cNvSpPr/>
          <p:nvPr/>
        </p:nvSpPr>
        <p:spPr>
          <a:xfrm>
            <a:off x="502920" y="1389888"/>
            <a:ext cx="7178040" cy="4965192"/>
          </a:xfrm>
          <a:prstGeom prst="roundRect">
            <a:avLst>
              <a:gd fmla="val 1842" name="adj"/>
            </a:avLst>
          </a:prstGeom>
          <a:solidFill>
            <a:srgbClr val="0F172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82" name="Google Shape;2182;p78"/>
          <p:cNvSpPr/>
          <p:nvPr/>
        </p:nvSpPr>
        <p:spPr>
          <a:xfrm>
            <a:off x="704088" y="1536192"/>
            <a:ext cx="2128723" cy="292608"/>
          </a:xfrm>
          <a:prstGeom prst="roundRect">
            <a:avLst>
              <a:gd fmla="val 18750" name="adj"/>
            </a:avLst>
          </a:prstGeom>
          <a:solidFill>
            <a:srgbClr val="1E293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83" name="Google Shape;2183;p78"/>
          <p:cNvSpPr/>
          <p:nvPr/>
        </p:nvSpPr>
        <p:spPr>
          <a:xfrm>
            <a:off x="795528" y="1536192"/>
            <a:ext cx="662940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EEAD4"/>
              </a:buClr>
              <a:buSzPts val="950"/>
              <a:buFont typeface="Courier New"/>
              <a:buNone/>
            </a:pPr>
            <a:r>
              <a:rPr b="0" i="0" lang="en-US" sz="950" u="none" cap="none" strike="noStrike">
                <a:solidFill>
                  <a:srgbClr val="5EEAD4"/>
                </a:solidFill>
                <a:latin typeface="Courier New"/>
                <a:ea typeface="Courier New"/>
                <a:cs typeface="Courier New"/>
                <a:sym typeface="Courier New"/>
              </a:rPr>
              <a:t>scripts/train_segmenter.py</a:t>
            </a:r>
            <a:endParaRPr b="0" i="0" sz="950" u="none" cap="none" strike="noStrike">
              <a:solidFill>
                <a:schemeClr val="dk1"/>
              </a:solidFill>
              <a:latin typeface="Calibri"/>
              <a:ea typeface="Calibri"/>
              <a:cs typeface="Calibri"/>
              <a:sym typeface="Calibri"/>
            </a:endParaRPr>
          </a:p>
        </p:txBody>
      </p:sp>
      <p:sp>
        <p:nvSpPr>
          <p:cNvPr id="2184" name="Google Shape;2184;p78"/>
          <p:cNvSpPr/>
          <p:nvPr/>
        </p:nvSpPr>
        <p:spPr>
          <a:xfrm>
            <a:off x="758952" y="1920240"/>
            <a:ext cx="6720840" cy="4279392"/>
          </a:xfrm>
          <a:prstGeom prst="rect">
            <a:avLst/>
          </a:prstGeom>
          <a:noFill/>
          <a:ln>
            <a:noFill/>
          </a:ln>
        </p:spPr>
        <p:txBody>
          <a:bodyPr anchorCtr="0" anchor="t" bIns="0" lIns="0" spcFirstLastPara="1" rIns="0" wrap="square" tIns="0">
            <a:noAutofit/>
          </a:bodyPr>
          <a:lstStyle/>
          <a:p>
            <a:pPr indent="0" lvl="0" marL="0" marR="0" rtl="0" algn="l">
              <a:lnSpc>
                <a:spcPct val="128000"/>
              </a:lnSpc>
              <a:spcBef>
                <a:spcPts val="0"/>
              </a:spcBef>
              <a:spcAft>
                <a:spcPts val="0"/>
              </a:spcAft>
              <a:buClr>
                <a:srgbClr val="DCE6F5"/>
              </a:buClr>
              <a:buSzPts val="900"/>
              <a:buFont typeface="Courier New"/>
              <a:buNone/>
            </a:pPr>
            <a:r>
              <a:rPr b="0" i="0" lang="en-US" sz="900" u="none" cap="none" strike="noStrike">
                <a:solidFill>
                  <a:srgbClr val="DCE6F5"/>
                </a:solidFill>
                <a:latin typeface="Courier New"/>
                <a:ea typeface="Courier New"/>
                <a:cs typeface="Courier New"/>
                <a:sym typeface="Courier New"/>
              </a:rPr>
              <a:t>from ultralytics import YOLO</a:t>
            </a:r>
            <a:endParaRPr b="0" i="0" sz="900" u="none" cap="none" strike="noStrike">
              <a:solidFill>
                <a:schemeClr val="dk1"/>
              </a:solidFill>
              <a:latin typeface="Calibri"/>
              <a:ea typeface="Calibri"/>
              <a:cs typeface="Calibri"/>
              <a:sym typeface="Calibri"/>
            </a:endParaRPr>
          </a:p>
          <a:p>
            <a:pPr indent="0" lvl="0" marL="0" marR="0" rtl="0" algn="l">
              <a:lnSpc>
                <a:spcPct val="128000"/>
              </a:lnSpc>
              <a:spcBef>
                <a:spcPts val="0"/>
              </a:spcBef>
              <a:spcAft>
                <a:spcPts val="0"/>
              </a:spcAft>
              <a:buClr>
                <a:srgbClr val="DCE6F5"/>
              </a:buClr>
              <a:buSzPts val="900"/>
              <a:buFont typeface="Courier New"/>
              <a:buNone/>
            </a:pPr>
            <a:r>
              <a:rPr b="0" i="0" lang="en-US" sz="900" u="none" cap="none" strike="noStrike">
                <a:solidFill>
                  <a:srgbClr val="DCE6F5"/>
                </a:solidFill>
                <a:latin typeface="Courier New"/>
                <a:ea typeface="Courier New"/>
                <a:cs typeface="Courier New"/>
                <a:sym typeface="Courier New"/>
              </a:rPr>
              <a:t> </a:t>
            </a:r>
            <a:endParaRPr b="0" i="0" sz="900" u="none" cap="none" strike="noStrike">
              <a:solidFill>
                <a:schemeClr val="dk1"/>
              </a:solidFill>
              <a:latin typeface="Calibri"/>
              <a:ea typeface="Calibri"/>
              <a:cs typeface="Calibri"/>
              <a:sym typeface="Calibri"/>
            </a:endParaRPr>
          </a:p>
          <a:p>
            <a:pPr indent="0" lvl="0" marL="0" marR="0" rtl="0" algn="l">
              <a:lnSpc>
                <a:spcPct val="128000"/>
              </a:lnSpc>
              <a:spcBef>
                <a:spcPts val="0"/>
              </a:spcBef>
              <a:spcAft>
                <a:spcPts val="0"/>
              </a:spcAft>
              <a:buClr>
                <a:srgbClr val="DCE6F5"/>
              </a:buClr>
              <a:buSzPts val="900"/>
              <a:buFont typeface="Courier New"/>
              <a:buNone/>
            </a:pPr>
            <a:r>
              <a:rPr b="0" i="0" lang="en-US" sz="900" u="none" cap="none" strike="noStrike">
                <a:solidFill>
                  <a:srgbClr val="DCE6F5"/>
                </a:solidFill>
                <a:latin typeface="Courier New"/>
                <a:ea typeface="Courier New"/>
                <a:cs typeface="Courier New"/>
                <a:sym typeface="Courier New"/>
              </a:rPr>
              <a:t>model = YOLO("yolo11s-seg.pt")           # COCO-seg pre-trained</a:t>
            </a:r>
            <a:endParaRPr b="0" i="0" sz="900" u="none" cap="none" strike="noStrike">
              <a:solidFill>
                <a:schemeClr val="dk1"/>
              </a:solidFill>
              <a:latin typeface="Calibri"/>
              <a:ea typeface="Calibri"/>
              <a:cs typeface="Calibri"/>
              <a:sym typeface="Calibri"/>
            </a:endParaRPr>
          </a:p>
          <a:p>
            <a:pPr indent="0" lvl="0" marL="0" marR="0" rtl="0" algn="l">
              <a:lnSpc>
                <a:spcPct val="128000"/>
              </a:lnSpc>
              <a:spcBef>
                <a:spcPts val="0"/>
              </a:spcBef>
              <a:spcAft>
                <a:spcPts val="0"/>
              </a:spcAft>
              <a:buClr>
                <a:srgbClr val="DCE6F5"/>
              </a:buClr>
              <a:buSzPts val="900"/>
              <a:buFont typeface="Courier New"/>
              <a:buNone/>
            </a:pPr>
            <a:r>
              <a:rPr b="0" i="0" lang="en-US" sz="900" u="none" cap="none" strike="noStrike">
                <a:solidFill>
                  <a:srgbClr val="DCE6F5"/>
                </a:solidFill>
                <a:latin typeface="Courier New"/>
                <a:ea typeface="Courier New"/>
                <a:cs typeface="Courier New"/>
                <a:sym typeface="Courier New"/>
              </a:rPr>
              <a:t>model.train(</a:t>
            </a:r>
            <a:endParaRPr b="0" i="0" sz="900" u="none" cap="none" strike="noStrike">
              <a:solidFill>
                <a:schemeClr val="dk1"/>
              </a:solidFill>
              <a:latin typeface="Calibri"/>
              <a:ea typeface="Calibri"/>
              <a:cs typeface="Calibri"/>
              <a:sym typeface="Calibri"/>
            </a:endParaRPr>
          </a:p>
          <a:p>
            <a:pPr indent="0" lvl="0" marL="0" marR="0" rtl="0" algn="l">
              <a:lnSpc>
                <a:spcPct val="128000"/>
              </a:lnSpc>
              <a:spcBef>
                <a:spcPts val="0"/>
              </a:spcBef>
              <a:spcAft>
                <a:spcPts val="0"/>
              </a:spcAft>
              <a:buClr>
                <a:srgbClr val="DCE6F5"/>
              </a:buClr>
              <a:buSzPts val="900"/>
              <a:buFont typeface="Courier New"/>
              <a:buNone/>
            </a:pPr>
            <a:r>
              <a:rPr b="0" i="0" lang="en-US" sz="900" u="none" cap="none" strike="noStrike">
                <a:solidFill>
                  <a:srgbClr val="DCE6F5"/>
                </a:solidFill>
                <a:latin typeface="Courier New"/>
                <a:ea typeface="Courier New"/>
                <a:cs typeface="Courier New"/>
                <a:sym typeface="Courier New"/>
              </a:rPr>
              <a:t>    data="data/dates-seg/dates-seg.yaml",  # fruit + 5 defects</a:t>
            </a:r>
            <a:endParaRPr b="0" i="0" sz="900" u="none" cap="none" strike="noStrike">
              <a:solidFill>
                <a:schemeClr val="dk1"/>
              </a:solidFill>
              <a:latin typeface="Calibri"/>
              <a:ea typeface="Calibri"/>
              <a:cs typeface="Calibri"/>
              <a:sym typeface="Calibri"/>
            </a:endParaRPr>
          </a:p>
          <a:p>
            <a:pPr indent="0" lvl="0" marL="0" marR="0" rtl="0" algn="l">
              <a:lnSpc>
                <a:spcPct val="128000"/>
              </a:lnSpc>
              <a:spcBef>
                <a:spcPts val="0"/>
              </a:spcBef>
              <a:spcAft>
                <a:spcPts val="0"/>
              </a:spcAft>
              <a:buClr>
                <a:srgbClr val="DCE6F5"/>
              </a:buClr>
              <a:buSzPts val="900"/>
              <a:buFont typeface="Courier New"/>
              <a:buNone/>
            </a:pPr>
            <a:r>
              <a:rPr b="0" i="0" lang="en-US" sz="900" u="none" cap="none" strike="noStrike">
                <a:solidFill>
                  <a:srgbClr val="DCE6F5"/>
                </a:solidFill>
                <a:latin typeface="Courier New"/>
                <a:ea typeface="Courier New"/>
                <a:cs typeface="Courier New"/>
                <a:sym typeface="Courier New"/>
              </a:rPr>
              <a:t>    epochs=40, imgsz=640, batch=12,       # masks cost VRAM: 12 not 16</a:t>
            </a:r>
            <a:endParaRPr b="0" i="0" sz="900" u="none" cap="none" strike="noStrike">
              <a:solidFill>
                <a:schemeClr val="dk1"/>
              </a:solidFill>
              <a:latin typeface="Calibri"/>
              <a:ea typeface="Calibri"/>
              <a:cs typeface="Calibri"/>
              <a:sym typeface="Calibri"/>
            </a:endParaRPr>
          </a:p>
          <a:p>
            <a:pPr indent="0" lvl="0" marL="0" marR="0" rtl="0" algn="l">
              <a:lnSpc>
                <a:spcPct val="128000"/>
              </a:lnSpc>
              <a:spcBef>
                <a:spcPts val="0"/>
              </a:spcBef>
              <a:spcAft>
                <a:spcPts val="0"/>
              </a:spcAft>
              <a:buClr>
                <a:srgbClr val="DCE6F5"/>
              </a:buClr>
              <a:buSzPts val="900"/>
              <a:buFont typeface="Courier New"/>
              <a:buNone/>
            </a:pPr>
            <a:r>
              <a:rPr b="0" i="0" lang="en-US" sz="900" u="none" cap="none" strike="noStrike">
                <a:solidFill>
                  <a:srgbClr val="DCE6F5"/>
                </a:solidFill>
                <a:latin typeface="Courier New"/>
                <a:ea typeface="Courier New"/>
                <a:cs typeface="Courier New"/>
                <a:sym typeface="Courier New"/>
              </a:rPr>
              <a:t>    patience=10, close_mosaic=10, copy_paste=0.3,</a:t>
            </a:r>
            <a:endParaRPr b="0" i="0" sz="900" u="none" cap="none" strike="noStrike">
              <a:solidFill>
                <a:schemeClr val="dk1"/>
              </a:solidFill>
              <a:latin typeface="Calibri"/>
              <a:ea typeface="Calibri"/>
              <a:cs typeface="Calibri"/>
              <a:sym typeface="Calibri"/>
            </a:endParaRPr>
          </a:p>
          <a:p>
            <a:pPr indent="0" lvl="0" marL="0" marR="0" rtl="0" algn="l">
              <a:lnSpc>
                <a:spcPct val="128000"/>
              </a:lnSpc>
              <a:spcBef>
                <a:spcPts val="0"/>
              </a:spcBef>
              <a:spcAft>
                <a:spcPts val="0"/>
              </a:spcAft>
              <a:buClr>
                <a:srgbClr val="DCE6F5"/>
              </a:buClr>
              <a:buSzPts val="900"/>
              <a:buFont typeface="Courier New"/>
              <a:buNone/>
            </a:pPr>
            <a:r>
              <a:rPr b="0" i="0" lang="en-US" sz="900" u="none" cap="none" strike="noStrike">
                <a:solidFill>
                  <a:srgbClr val="DCE6F5"/>
                </a:solidFill>
                <a:latin typeface="Courier New"/>
                <a:ea typeface="Courier New"/>
                <a:cs typeface="Courier New"/>
                <a:sym typeface="Courier New"/>
              </a:rPr>
              <a:t>    degrees=180, flipud=0.5, fliplr=0.5,</a:t>
            </a:r>
            <a:endParaRPr b="0" i="0" sz="900" u="none" cap="none" strike="noStrike">
              <a:solidFill>
                <a:schemeClr val="dk1"/>
              </a:solidFill>
              <a:latin typeface="Calibri"/>
              <a:ea typeface="Calibri"/>
              <a:cs typeface="Calibri"/>
              <a:sym typeface="Calibri"/>
            </a:endParaRPr>
          </a:p>
          <a:p>
            <a:pPr indent="0" lvl="0" marL="0" marR="0" rtl="0" algn="l">
              <a:lnSpc>
                <a:spcPct val="128000"/>
              </a:lnSpc>
              <a:spcBef>
                <a:spcPts val="0"/>
              </a:spcBef>
              <a:spcAft>
                <a:spcPts val="0"/>
              </a:spcAft>
              <a:buClr>
                <a:srgbClr val="DCE6F5"/>
              </a:buClr>
              <a:buSzPts val="900"/>
              <a:buFont typeface="Courier New"/>
              <a:buNone/>
            </a:pPr>
            <a:r>
              <a:rPr b="0" i="0" lang="en-US" sz="900" u="none" cap="none" strike="noStrike">
                <a:solidFill>
                  <a:srgbClr val="DCE6F5"/>
                </a:solidFill>
                <a:latin typeface="Courier New"/>
                <a:ea typeface="Courier New"/>
                <a:cs typeface="Courier New"/>
                <a:sym typeface="Courier New"/>
              </a:rPr>
              <a:t>    project="runs/seg", name="defect_y11s_seg",</a:t>
            </a:r>
            <a:endParaRPr b="0" i="0" sz="900" u="none" cap="none" strike="noStrike">
              <a:solidFill>
                <a:schemeClr val="dk1"/>
              </a:solidFill>
              <a:latin typeface="Calibri"/>
              <a:ea typeface="Calibri"/>
              <a:cs typeface="Calibri"/>
              <a:sym typeface="Calibri"/>
            </a:endParaRPr>
          </a:p>
          <a:p>
            <a:pPr indent="0" lvl="0" marL="0" marR="0" rtl="0" algn="l">
              <a:lnSpc>
                <a:spcPct val="128000"/>
              </a:lnSpc>
              <a:spcBef>
                <a:spcPts val="0"/>
              </a:spcBef>
              <a:spcAft>
                <a:spcPts val="0"/>
              </a:spcAft>
              <a:buClr>
                <a:srgbClr val="DCE6F5"/>
              </a:buClr>
              <a:buSzPts val="900"/>
              <a:buFont typeface="Courier New"/>
              <a:buNone/>
            </a:pPr>
            <a:r>
              <a:rPr b="0" i="0" lang="en-US" sz="900" u="none" cap="none" strike="noStrike">
                <a:solidFill>
                  <a:srgbClr val="DCE6F5"/>
                </a:solidFill>
                <a:latin typeface="Courier New"/>
                <a:ea typeface="Courier New"/>
                <a:cs typeface="Courier New"/>
                <a:sym typeface="Courier New"/>
              </a:rPr>
              <a:t>    seed=212, deterministic=True,</a:t>
            </a:r>
            <a:endParaRPr b="0" i="0" sz="900" u="none" cap="none" strike="noStrike">
              <a:solidFill>
                <a:schemeClr val="dk1"/>
              </a:solidFill>
              <a:latin typeface="Calibri"/>
              <a:ea typeface="Calibri"/>
              <a:cs typeface="Calibri"/>
              <a:sym typeface="Calibri"/>
            </a:endParaRPr>
          </a:p>
          <a:p>
            <a:pPr indent="0" lvl="0" marL="0" marR="0" rtl="0" algn="l">
              <a:lnSpc>
                <a:spcPct val="128000"/>
              </a:lnSpc>
              <a:spcBef>
                <a:spcPts val="0"/>
              </a:spcBef>
              <a:spcAft>
                <a:spcPts val="0"/>
              </a:spcAft>
              <a:buClr>
                <a:srgbClr val="DCE6F5"/>
              </a:buClr>
              <a:buSzPts val="900"/>
              <a:buFont typeface="Courier New"/>
              <a:buNone/>
            </a:pPr>
            <a:r>
              <a:rPr b="0" i="0" lang="en-US" sz="900" u="none" cap="none" strike="noStrike">
                <a:solidFill>
                  <a:srgbClr val="DCE6F5"/>
                </a:solidFill>
                <a:latin typeface="Courier New"/>
                <a:ea typeface="Courier New"/>
                <a:cs typeface="Courier New"/>
                <a:sym typeface="Courier New"/>
              </a:rPr>
              <a:t>)</a:t>
            </a:r>
            <a:endParaRPr b="0" i="0" sz="900" u="none" cap="none" strike="noStrike">
              <a:solidFill>
                <a:schemeClr val="dk1"/>
              </a:solidFill>
              <a:latin typeface="Calibri"/>
              <a:ea typeface="Calibri"/>
              <a:cs typeface="Calibri"/>
              <a:sym typeface="Calibri"/>
            </a:endParaRPr>
          </a:p>
          <a:p>
            <a:pPr indent="0" lvl="0" marL="0" marR="0" rtl="0" algn="l">
              <a:lnSpc>
                <a:spcPct val="128000"/>
              </a:lnSpc>
              <a:spcBef>
                <a:spcPts val="0"/>
              </a:spcBef>
              <a:spcAft>
                <a:spcPts val="0"/>
              </a:spcAft>
              <a:buClr>
                <a:srgbClr val="DCE6F5"/>
              </a:buClr>
              <a:buSzPts val="900"/>
              <a:buFont typeface="Courier New"/>
              <a:buNone/>
            </a:pPr>
            <a:r>
              <a:rPr b="0" i="0" lang="en-US" sz="900" u="none" cap="none" strike="noStrike">
                <a:solidFill>
                  <a:srgbClr val="DCE6F5"/>
                </a:solidFill>
                <a:latin typeface="Courier New"/>
                <a:ea typeface="Courier New"/>
                <a:cs typeface="Courier New"/>
                <a:sym typeface="Courier New"/>
              </a:rPr>
              <a:t>m = model.val(split="test")</a:t>
            </a:r>
            <a:endParaRPr b="0" i="0" sz="900" u="none" cap="none" strike="noStrike">
              <a:solidFill>
                <a:schemeClr val="dk1"/>
              </a:solidFill>
              <a:latin typeface="Calibri"/>
              <a:ea typeface="Calibri"/>
              <a:cs typeface="Calibri"/>
              <a:sym typeface="Calibri"/>
            </a:endParaRPr>
          </a:p>
          <a:p>
            <a:pPr indent="0" lvl="0" marL="0" marR="0" rtl="0" algn="l">
              <a:lnSpc>
                <a:spcPct val="128000"/>
              </a:lnSpc>
              <a:spcBef>
                <a:spcPts val="0"/>
              </a:spcBef>
              <a:spcAft>
                <a:spcPts val="0"/>
              </a:spcAft>
              <a:buClr>
                <a:srgbClr val="DCE6F5"/>
              </a:buClr>
              <a:buSzPts val="900"/>
              <a:buFont typeface="Courier New"/>
              <a:buNone/>
            </a:pPr>
            <a:r>
              <a:rPr b="0" i="0" lang="en-US" sz="900" u="none" cap="none" strike="noStrike">
                <a:solidFill>
                  <a:srgbClr val="DCE6F5"/>
                </a:solidFill>
                <a:latin typeface="Courier New"/>
                <a:ea typeface="Courier New"/>
                <a:cs typeface="Courier New"/>
                <a:sym typeface="Courier New"/>
              </a:rPr>
              <a:t>print(f"box mAP@0.5={m.box.map50:.3f}")</a:t>
            </a:r>
            <a:endParaRPr b="0" i="0" sz="900" u="none" cap="none" strike="noStrike">
              <a:solidFill>
                <a:schemeClr val="dk1"/>
              </a:solidFill>
              <a:latin typeface="Calibri"/>
              <a:ea typeface="Calibri"/>
              <a:cs typeface="Calibri"/>
              <a:sym typeface="Calibri"/>
            </a:endParaRPr>
          </a:p>
          <a:p>
            <a:pPr indent="0" lvl="0" marL="0" marR="0" rtl="0" algn="l">
              <a:lnSpc>
                <a:spcPct val="128000"/>
              </a:lnSpc>
              <a:spcBef>
                <a:spcPts val="0"/>
              </a:spcBef>
              <a:spcAft>
                <a:spcPts val="0"/>
              </a:spcAft>
              <a:buClr>
                <a:srgbClr val="DCE6F5"/>
              </a:buClr>
              <a:buSzPts val="900"/>
              <a:buFont typeface="Courier New"/>
              <a:buNone/>
            </a:pPr>
            <a:r>
              <a:rPr b="0" i="0" lang="en-US" sz="900" u="none" cap="none" strike="noStrike">
                <a:solidFill>
                  <a:srgbClr val="DCE6F5"/>
                </a:solidFill>
                <a:latin typeface="Courier New"/>
                <a:ea typeface="Courier New"/>
                <a:cs typeface="Courier New"/>
                <a:sym typeface="Courier New"/>
              </a:rPr>
              <a:t>print(f"MASK mAP@0.5={m.seg.map50:.3f}")</a:t>
            </a:r>
            <a:endParaRPr b="0" i="0" sz="900" u="none" cap="none" strike="noStrike">
              <a:solidFill>
                <a:schemeClr val="dk1"/>
              </a:solidFill>
              <a:latin typeface="Calibri"/>
              <a:ea typeface="Calibri"/>
              <a:cs typeface="Calibri"/>
              <a:sym typeface="Calibri"/>
            </a:endParaRPr>
          </a:p>
        </p:txBody>
      </p:sp>
      <p:sp>
        <p:nvSpPr>
          <p:cNvPr id="2185" name="Google Shape;2185;p78"/>
          <p:cNvSpPr/>
          <p:nvPr/>
        </p:nvSpPr>
        <p:spPr>
          <a:xfrm>
            <a:off x="7973568" y="1389888"/>
            <a:ext cx="3712464" cy="1090422"/>
          </a:xfrm>
          <a:prstGeom prst="roundRect">
            <a:avLst>
              <a:gd fmla="val 5870" name="adj"/>
            </a:avLst>
          </a:prstGeom>
          <a:solidFill>
            <a:srgbClr val="F2F6F9"/>
          </a:solidFill>
          <a:ln cap="flat" cmpd="sng" w="12700">
            <a:solidFill>
              <a:srgbClr val="D9E2E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86" name="Google Shape;2186;p78"/>
          <p:cNvSpPr/>
          <p:nvPr/>
        </p:nvSpPr>
        <p:spPr>
          <a:xfrm>
            <a:off x="8101584" y="1508760"/>
            <a:ext cx="237744" cy="237744"/>
          </a:xfrm>
          <a:prstGeom prst="ellipse">
            <a:avLst/>
          </a:prstGeom>
          <a:solidFill>
            <a:srgbClr val="00A79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87" name="Google Shape;2187;p78"/>
          <p:cNvSpPr/>
          <p:nvPr/>
        </p:nvSpPr>
        <p:spPr>
          <a:xfrm>
            <a:off x="8101584" y="1508760"/>
            <a:ext cx="237744" cy="23774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000"/>
              <a:buFont typeface="Calibri"/>
              <a:buNone/>
            </a:pPr>
            <a:r>
              <a:rPr b="1" i="0" lang="en-US" sz="1000" u="none" cap="none" strike="noStrike">
                <a:solidFill>
                  <a:srgbClr val="FFFFFF"/>
                </a:solidFill>
                <a:latin typeface="Calibri"/>
                <a:ea typeface="Calibri"/>
                <a:cs typeface="Calibri"/>
                <a:sym typeface="Calibri"/>
              </a:rPr>
              <a:t>1</a:t>
            </a:r>
            <a:endParaRPr b="0" i="0" sz="1000" u="none" cap="none" strike="noStrike">
              <a:solidFill>
                <a:schemeClr val="dk1"/>
              </a:solidFill>
              <a:latin typeface="Calibri"/>
              <a:ea typeface="Calibri"/>
              <a:cs typeface="Calibri"/>
              <a:sym typeface="Calibri"/>
            </a:endParaRPr>
          </a:p>
        </p:txBody>
      </p:sp>
      <p:sp>
        <p:nvSpPr>
          <p:cNvPr id="2188" name="Google Shape;2188;p78"/>
          <p:cNvSpPr/>
          <p:nvPr/>
        </p:nvSpPr>
        <p:spPr>
          <a:xfrm>
            <a:off x="8430768" y="1444752"/>
            <a:ext cx="3145536"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D2A5C"/>
              </a:buClr>
              <a:buSzPts val="1150"/>
              <a:buFont typeface="Calibri"/>
              <a:buNone/>
            </a:pPr>
            <a:r>
              <a:rPr b="1" i="0" lang="en-US" sz="1150" u="none" cap="none" strike="noStrike">
                <a:solidFill>
                  <a:srgbClr val="1D2A5C"/>
                </a:solidFill>
                <a:latin typeface="Calibri"/>
                <a:ea typeface="Calibri"/>
                <a:cs typeface="Calibri"/>
                <a:sym typeface="Calibri"/>
              </a:rPr>
              <a:t>Same workflow as M3</a:t>
            </a:r>
            <a:endParaRPr b="0" i="0" sz="1150" u="none" cap="none" strike="noStrike">
              <a:solidFill>
                <a:schemeClr val="dk1"/>
              </a:solidFill>
              <a:latin typeface="Calibri"/>
              <a:ea typeface="Calibri"/>
              <a:cs typeface="Calibri"/>
              <a:sym typeface="Calibri"/>
            </a:endParaRPr>
          </a:p>
        </p:txBody>
      </p:sp>
      <p:sp>
        <p:nvSpPr>
          <p:cNvPr id="2189" name="Google Shape;2189;p78"/>
          <p:cNvSpPr/>
          <p:nvPr/>
        </p:nvSpPr>
        <p:spPr>
          <a:xfrm>
            <a:off x="8430768" y="1719072"/>
            <a:ext cx="3145536" cy="688086"/>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5F6B7A"/>
              </a:buClr>
              <a:buSzPts val="1000"/>
              <a:buFont typeface="Calibri"/>
              <a:buNone/>
            </a:pPr>
            <a:r>
              <a:rPr b="0" i="0" lang="en-US" sz="1000" u="none" cap="none" strike="noStrike">
                <a:solidFill>
                  <a:srgbClr val="5F6B7A"/>
                </a:solidFill>
                <a:latin typeface="Calibri"/>
                <a:ea typeface="Calibri"/>
                <a:cs typeface="Calibri"/>
                <a:sym typeface="Calibri"/>
              </a:rPr>
              <a:t>Segmentation adds masks to the head, not complexity to your day</a:t>
            </a:r>
            <a:endParaRPr b="0" i="0" sz="1000" u="none" cap="none" strike="noStrike">
              <a:solidFill>
                <a:schemeClr val="dk1"/>
              </a:solidFill>
              <a:latin typeface="Calibri"/>
              <a:ea typeface="Calibri"/>
              <a:cs typeface="Calibri"/>
              <a:sym typeface="Calibri"/>
            </a:endParaRPr>
          </a:p>
        </p:txBody>
      </p:sp>
      <p:sp>
        <p:nvSpPr>
          <p:cNvPr id="2190" name="Google Shape;2190;p78"/>
          <p:cNvSpPr/>
          <p:nvPr/>
        </p:nvSpPr>
        <p:spPr>
          <a:xfrm>
            <a:off x="7973568" y="2681478"/>
            <a:ext cx="3712464" cy="1090422"/>
          </a:xfrm>
          <a:prstGeom prst="roundRect">
            <a:avLst>
              <a:gd fmla="val 5870" name="adj"/>
            </a:avLst>
          </a:prstGeom>
          <a:solidFill>
            <a:srgbClr val="F2F6F9"/>
          </a:solidFill>
          <a:ln cap="flat" cmpd="sng" w="12700">
            <a:solidFill>
              <a:srgbClr val="D9E2E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91" name="Google Shape;2191;p78"/>
          <p:cNvSpPr/>
          <p:nvPr/>
        </p:nvSpPr>
        <p:spPr>
          <a:xfrm>
            <a:off x="8101584" y="2800350"/>
            <a:ext cx="237744" cy="237744"/>
          </a:xfrm>
          <a:prstGeom prst="ellipse">
            <a:avLst/>
          </a:prstGeom>
          <a:solidFill>
            <a:srgbClr val="29ABE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92" name="Google Shape;2192;p78"/>
          <p:cNvSpPr/>
          <p:nvPr/>
        </p:nvSpPr>
        <p:spPr>
          <a:xfrm>
            <a:off x="8101584" y="2800350"/>
            <a:ext cx="237744" cy="23774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000"/>
              <a:buFont typeface="Calibri"/>
              <a:buNone/>
            </a:pPr>
            <a:r>
              <a:rPr b="1" i="0" lang="en-US" sz="1000" u="none" cap="none" strike="noStrike">
                <a:solidFill>
                  <a:srgbClr val="FFFFFF"/>
                </a:solidFill>
                <a:latin typeface="Calibri"/>
                <a:ea typeface="Calibri"/>
                <a:cs typeface="Calibri"/>
                <a:sym typeface="Calibri"/>
              </a:rPr>
              <a:t>2</a:t>
            </a:r>
            <a:endParaRPr b="0" i="0" sz="1000" u="none" cap="none" strike="noStrike">
              <a:solidFill>
                <a:schemeClr val="dk1"/>
              </a:solidFill>
              <a:latin typeface="Calibri"/>
              <a:ea typeface="Calibri"/>
              <a:cs typeface="Calibri"/>
              <a:sym typeface="Calibri"/>
            </a:endParaRPr>
          </a:p>
        </p:txBody>
      </p:sp>
      <p:sp>
        <p:nvSpPr>
          <p:cNvPr id="2193" name="Google Shape;2193;p78"/>
          <p:cNvSpPr/>
          <p:nvPr/>
        </p:nvSpPr>
        <p:spPr>
          <a:xfrm>
            <a:off x="8430768" y="2736342"/>
            <a:ext cx="3145536"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D2A5C"/>
              </a:buClr>
              <a:buSzPts val="1150"/>
              <a:buFont typeface="Calibri"/>
              <a:buNone/>
            </a:pPr>
            <a:r>
              <a:rPr b="1" i="0" lang="en-US" sz="1150" u="none" cap="none" strike="noStrike">
                <a:solidFill>
                  <a:srgbClr val="1D2A5C"/>
                </a:solidFill>
                <a:latin typeface="Calibri"/>
                <a:ea typeface="Calibri"/>
                <a:cs typeface="Calibri"/>
                <a:sym typeface="Calibri"/>
              </a:rPr>
              <a:t>batch=12, not 16</a:t>
            </a:r>
            <a:endParaRPr b="0" i="0" sz="1150" u="none" cap="none" strike="noStrike">
              <a:solidFill>
                <a:schemeClr val="dk1"/>
              </a:solidFill>
              <a:latin typeface="Calibri"/>
              <a:ea typeface="Calibri"/>
              <a:cs typeface="Calibri"/>
              <a:sym typeface="Calibri"/>
            </a:endParaRPr>
          </a:p>
        </p:txBody>
      </p:sp>
      <p:sp>
        <p:nvSpPr>
          <p:cNvPr id="2194" name="Google Shape;2194;p78"/>
          <p:cNvSpPr/>
          <p:nvPr/>
        </p:nvSpPr>
        <p:spPr>
          <a:xfrm>
            <a:off x="8430768" y="3010662"/>
            <a:ext cx="3145536" cy="688086"/>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5F6B7A"/>
              </a:buClr>
              <a:buSzPts val="1000"/>
              <a:buFont typeface="Calibri"/>
              <a:buNone/>
            </a:pPr>
            <a:r>
              <a:rPr b="0" i="0" lang="en-US" sz="1000" u="none" cap="none" strike="noStrike">
                <a:solidFill>
                  <a:srgbClr val="5F6B7A"/>
                </a:solidFill>
                <a:latin typeface="Calibri"/>
                <a:ea typeface="Calibri"/>
                <a:cs typeface="Calibri"/>
                <a:sym typeface="Calibri"/>
              </a:rPr>
              <a:t>Prototype masks cost VRAM; on 8 GB drop batch before sacrificing imgsz</a:t>
            </a:r>
            <a:endParaRPr b="0" i="0" sz="1000" u="none" cap="none" strike="noStrike">
              <a:solidFill>
                <a:schemeClr val="dk1"/>
              </a:solidFill>
              <a:latin typeface="Calibri"/>
              <a:ea typeface="Calibri"/>
              <a:cs typeface="Calibri"/>
              <a:sym typeface="Calibri"/>
            </a:endParaRPr>
          </a:p>
        </p:txBody>
      </p:sp>
      <p:sp>
        <p:nvSpPr>
          <p:cNvPr id="2195" name="Google Shape;2195;p78"/>
          <p:cNvSpPr/>
          <p:nvPr/>
        </p:nvSpPr>
        <p:spPr>
          <a:xfrm>
            <a:off x="7973568" y="3973068"/>
            <a:ext cx="3712464" cy="1090422"/>
          </a:xfrm>
          <a:prstGeom prst="roundRect">
            <a:avLst>
              <a:gd fmla="val 5870" name="adj"/>
            </a:avLst>
          </a:prstGeom>
          <a:solidFill>
            <a:srgbClr val="F2F6F9"/>
          </a:solidFill>
          <a:ln cap="flat" cmpd="sng" w="12700">
            <a:solidFill>
              <a:srgbClr val="D9E2E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96" name="Google Shape;2196;p78"/>
          <p:cNvSpPr/>
          <p:nvPr/>
        </p:nvSpPr>
        <p:spPr>
          <a:xfrm>
            <a:off x="8101584" y="4091940"/>
            <a:ext cx="237744" cy="237744"/>
          </a:xfrm>
          <a:prstGeom prst="ellipse">
            <a:avLst/>
          </a:prstGeom>
          <a:solidFill>
            <a:srgbClr val="F5822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97" name="Google Shape;2197;p78"/>
          <p:cNvSpPr/>
          <p:nvPr/>
        </p:nvSpPr>
        <p:spPr>
          <a:xfrm>
            <a:off x="8101584" y="4091940"/>
            <a:ext cx="237744" cy="23774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000"/>
              <a:buFont typeface="Calibri"/>
              <a:buNone/>
            </a:pPr>
            <a:r>
              <a:rPr b="1" i="0" lang="en-US" sz="1000" u="none" cap="none" strike="noStrike">
                <a:solidFill>
                  <a:srgbClr val="FFFFFF"/>
                </a:solidFill>
                <a:latin typeface="Calibri"/>
                <a:ea typeface="Calibri"/>
                <a:cs typeface="Calibri"/>
                <a:sym typeface="Calibri"/>
              </a:rPr>
              <a:t>3</a:t>
            </a:r>
            <a:endParaRPr b="0" i="0" sz="1000" u="none" cap="none" strike="noStrike">
              <a:solidFill>
                <a:schemeClr val="dk1"/>
              </a:solidFill>
              <a:latin typeface="Calibri"/>
              <a:ea typeface="Calibri"/>
              <a:cs typeface="Calibri"/>
              <a:sym typeface="Calibri"/>
            </a:endParaRPr>
          </a:p>
        </p:txBody>
      </p:sp>
      <p:sp>
        <p:nvSpPr>
          <p:cNvPr id="2198" name="Google Shape;2198;p78"/>
          <p:cNvSpPr/>
          <p:nvPr/>
        </p:nvSpPr>
        <p:spPr>
          <a:xfrm>
            <a:off x="8430768" y="4027932"/>
            <a:ext cx="3145536"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D2A5C"/>
              </a:buClr>
              <a:buSzPts val="1150"/>
              <a:buFont typeface="Calibri"/>
              <a:buNone/>
            </a:pPr>
            <a:r>
              <a:rPr b="1" i="0" lang="en-US" sz="1150" u="none" cap="none" strike="noStrike">
                <a:solidFill>
                  <a:srgbClr val="1D2A5C"/>
                </a:solidFill>
                <a:latin typeface="Calibri"/>
                <a:ea typeface="Calibri"/>
                <a:cs typeface="Calibri"/>
                <a:sym typeface="Calibri"/>
              </a:rPr>
              <a:t>copy_paste=0.3</a:t>
            </a:r>
            <a:endParaRPr b="0" i="0" sz="1150" u="none" cap="none" strike="noStrike">
              <a:solidFill>
                <a:schemeClr val="dk1"/>
              </a:solidFill>
              <a:latin typeface="Calibri"/>
              <a:ea typeface="Calibri"/>
              <a:cs typeface="Calibri"/>
              <a:sym typeface="Calibri"/>
            </a:endParaRPr>
          </a:p>
        </p:txBody>
      </p:sp>
      <p:sp>
        <p:nvSpPr>
          <p:cNvPr id="2199" name="Google Shape;2199;p78"/>
          <p:cNvSpPr/>
          <p:nvPr/>
        </p:nvSpPr>
        <p:spPr>
          <a:xfrm>
            <a:off x="8430768" y="4302252"/>
            <a:ext cx="3145536" cy="688086"/>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5F6B7A"/>
              </a:buClr>
              <a:buSzPts val="1000"/>
              <a:buFont typeface="Calibri"/>
              <a:buNone/>
            </a:pPr>
            <a:r>
              <a:rPr b="0" i="0" lang="en-US" sz="1000" u="none" cap="none" strike="noStrike">
                <a:solidFill>
                  <a:srgbClr val="5F6B7A"/>
                </a:solidFill>
                <a:latin typeface="Calibri"/>
                <a:ea typeface="Calibri"/>
                <a:cs typeface="Calibri"/>
                <a:sym typeface="Calibri"/>
              </a:rPr>
              <a:t>Stronger for segmentation — masked instances composite cleanly</a:t>
            </a:r>
            <a:endParaRPr b="0" i="0" sz="1000" u="none" cap="none" strike="noStrike">
              <a:solidFill>
                <a:schemeClr val="dk1"/>
              </a:solidFill>
              <a:latin typeface="Calibri"/>
              <a:ea typeface="Calibri"/>
              <a:cs typeface="Calibri"/>
              <a:sym typeface="Calibri"/>
            </a:endParaRPr>
          </a:p>
        </p:txBody>
      </p:sp>
      <p:sp>
        <p:nvSpPr>
          <p:cNvPr id="2200" name="Google Shape;2200;p78"/>
          <p:cNvSpPr/>
          <p:nvPr/>
        </p:nvSpPr>
        <p:spPr>
          <a:xfrm>
            <a:off x="7973568" y="5264658"/>
            <a:ext cx="3712464" cy="1090422"/>
          </a:xfrm>
          <a:prstGeom prst="roundRect">
            <a:avLst>
              <a:gd fmla="val 5870" name="adj"/>
            </a:avLst>
          </a:prstGeom>
          <a:solidFill>
            <a:srgbClr val="F2F6F9"/>
          </a:solidFill>
          <a:ln cap="flat" cmpd="sng" w="12700">
            <a:solidFill>
              <a:srgbClr val="D9E2E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01" name="Google Shape;2201;p78"/>
          <p:cNvSpPr/>
          <p:nvPr/>
        </p:nvSpPr>
        <p:spPr>
          <a:xfrm>
            <a:off x="8101584" y="5383530"/>
            <a:ext cx="237744" cy="237744"/>
          </a:xfrm>
          <a:prstGeom prst="ellipse">
            <a:avLst/>
          </a:prstGeom>
          <a:solidFill>
            <a:srgbClr val="8DC63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02" name="Google Shape;2202;p78"/>
          <p:cNvSpPr/>
          <p:nvPr/>
        </p:nvSpPr>
        <p:spPr>
          <a:xfrm>
            <a:off x="8101584" y="5383530"/>
            <a:ext cx="237744" cy="23774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000"/>
              <a:buFont typeface="Calibri"/>
              <a:buNone/>
            </a:pPr>
            <a:r>
              <a:rPr b="1" i="0" lang="en-US" sz="1000" u="none" cap="none" strike="noStrike">
                <a:solidFill>
                  <a:srgbClr val="FFFFFF"/>
                </a:solidFill>
                <a:latin typeface="Calibri"/>
                <a:ea typeface="Calibri"/>
                <a:cs typeface="Calibri"/>
                <a:sym typeface="Calibri"/>
              </a:rPr>
              <a:t>4</a:t>
            </a:r>
            <a:endParaRPr b="0" i="0" sz="1000" u="none" cap="none" strike="noStrike">
              <a:solidFill>
                <a:schemeClr val="dk1"/>
              </a:solidFill>
              <a:latin typeface="Calibri"/>
              <a:ea typeface="Calibri"/>
              <a:cs typeface="Calibri"/>
              <a:sym typeface="Calibri"/>
            </a:endParaRPr>
          </a:p>
        </p:txBody>
      </p:sp>
      <p:sp>
        <p:nvSpPr>
          <p:cNvPr id="2203" name="Google Shape;2203;p78"/>
          <p:cNvSpPr/>
          <p:nvPr/>
        </p:nvSpPr>
        <p:spPr>
          <a:xfrm>
            <a:off x="8430768" y="5319522"/>
            <a:ext cx="3145536"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D2A5C"/>
              </a:buClr>
              <a:buSzPts val="1150"/>
              <a:buFont typeface="Calibri"/>
              <a:buNone/>
            </a:pPr>
            <a:r>
              <a:rPr b="1" i="0" lang="en-US" sz="1150" u="none" cap="none" strike="noStrike">
                <a:solidFill>
                  <a:srgbClr val="1D2A5C"/>
                </a:solidFill>
                <a:latin typeface="Calibri"/>
                <a:ea typeface="Calibri"/>
                <a:cs typeface="Calibri"/>
                <a:sym typeface="Calibri"/>
              </a:rPr>
              <a:t>Read m.seg, not m.box</a:t>
            </a:r>
            <a:endParaRPr b="0" i="0" sz="1150" u="none" cap="none" strike="noStrike">
              <a:solidFill>
                <a:schemeClr val="dk1"/>
              </a:solidFill>
              <a:latin typeface="Calibri"/>
              <a:ea typeface="Calibri"/>
              <a:cs typeface="Calibri"/>
              <a:sym typeface="Calibri"/>
            </a:endParaRPr>
          </a:p>
        </p:txBody>
      </p:sp>
      <p:sp>
        <p:nvSpPr>
          <p:cNvPr id="2204" name="Google Shape;2204;p78"/>
          <p:cNvSpPr/>
          <p:nvPr/>
        </p:nvSpPr>
        <p:spPr>
          <a:xfrm>
            <a:off x="8430768" y="5593842"/>
            <a:ext cx="3145536" cy="688086"/>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5F6B7A"/>
              </a:buClr>
              <a:buSzPts val="1000"/>
              <a:buFont typeface="Calibri"/>
              <a:buNone/>
            </a:pPr>
            <a:r>
              <a:rPr b="0" i="0" lang="en-US" sz="1000" u="none" cap="none" strike="noStrike">
                <a:solidFill>
                  <a:srgbClr val="5F6B7A"/>
                </a:solidFill>
                <a:latin typeface="Calibri"/>
                <a:ea typeface="Calibri"/>
                <a:cs typeface="Calibri"/>
                <a:sym typeface="Calibri"/>
              </a:rPr>
              <a:t>Mask mAP equal to box mAP exactly means you evaluated boxes twice</a:t>
            </a:r>
            <a:endParaRPr b="0" i="0" sz="1000" u="none" cap="none" strike="noStrike">
              <a:solidFill>
                <a:schemeClr val="dk1"/>
              </a:solidFill>
              <a:latin typeface="Calibri"/>
              <a:ea typeface="Calibri"/>
              <a:cs typeface="Calibri"/>
              <a:sym typeface="Calibri"/>
            </a:endParaRPr>
          </a:p>
        </p:txBody>
      </p:sp>
    </p:spTree>
  </p:cSld>
  <p:clrMapOvr>
    <a:masterClrMapping/>
  </p:clrMapOvr>
</p:sld>
</file>

<file path=ppt/slides/slide7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209" name="Shape 2209"/>
        <p:cNvGrpSpPr/>
        <p:nvPr/>
      </p:nvGrpSpPr>
      <p:grpSpPr>
        <a:xfrm>
          <a:off x="0" y="0"/>
          <a:ext cx="0" cy="0"/>
          <a:chOff x="0" y="0"/>
          <a:chExt cx="0" cy="0"/>
        </a:xfrm>
      </p:grpSpPr>
      <p:sp>
        <p:nvSpPr>
          <p:cNvPr id="2210" name="Google Shape;2210;p79"/>
          <p:cNvSpPr/>
          <p:nvPr/>
        </p:nvSpPr>
        <p:spPr>
          <a:xfrm>
            <a:off x="502920" y="274320"/>
            <a:ext cx="9646920" cy="56692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D2A5C"/>
              </a:buClr>
              <a:buSzPts val="2700"/>
              <a:buFont typeface="Calibri"/>
              <a:buNone/>
            </a:pPr>
            <a:r>
              <a:rPr b="1" i="0" lang="en-US" sz="2700" u="none" cap="none" strike="noStrike">
                <a:solidFill>
                  <a:srgbClr val="1D2A5C"/>
                </a:solidFill>
                <a:latin typeface="Calibri"/>
                <a:ea typeface="Calibri"/>
                <a:cs typeface="Calibri"/>
                <a:sym typeface="Calibri"/>
              </a:rPr>
              <a:t>The Business Number: Defect Area per Fruit</a:t>
            </a:r>
            <a:endParaRPr b="0" i="0" sz="2700" u="none" cap="none" strike="noStrike">
              <a:solidFill>
                <a:schemeClr val="dk1"/>
              </a:solidFill>
              <a:latin typeface="Calibri"/>
              <a:ea typeface="Calibri"/>
              <a:cs typeface="Calibri"/>
              <a:sym typeface="Calibri"/>
            </a:endParaRPr>
          </a:p>
        </p:txBody>
      </p:sp>
      <p:sp>
        <p:nvSpPr>
          <p:cNvPr id="2211" name="Google Shape;2211;p79"/>
          <p:cNvSpPr/>
          <p:nvPr/>
        </p:nvSpPr>
        <p:spPr>
          <a:xfrm>
            <a:off x="502920" y="859536"/>
            <a:ext cx="9646920" cy="31089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F6B7A"/>
              </a:buClr>
              <a:buSzPts val="1250"/>
              <a:buFont typeface="Arial"/>
              <a:buNone/>
            </a:pPr>
            <a:r>
              <a:rPr b="0" i="0" lang="en-US" sz="1250" u="none" cap="none" strike="noStrike">
                <a:solidFill>
                  <a:srgbClr val="5F6B7A"/>
                </a:solidFill>
                <a:latin typeface="Arial"/>
                <a:ea typeface="Arial"/>
                <a:cs typeface="Arial"/>
                <a:sym typeface="Arial"/>
              </a:rPr>
              <a:t>الرقم التجاري: مساحة العيب لكل ثمرة</a:t>
            </a:r>
            <a:endParaRPr b="0" i="0" sz="1250" u="none" cap="none" strike="noStrike">
              <a:solidFill>
                <a:schemeClr val="dk1"/>
              </a:solidFill>
              <a:latin typeface="Calibri"/>
              <a:ea typeface="Calibri"/>
              <a:cs typeface="Calibri"/>
              <a:sym typeface="Calibri"/>
            </a:endParaRPr>
          </a:p>
        </p:txBody>
      </p:sp>
      <p:pic>
        <p:nvPicPr>
          <p:cNvPr descr="/sessions/blissful-determined-ritchie/build/assets/sdaia_logo.png" id="2212" name="Google Shape;2212;p79"/>
          <p:cNvPicPr preferRelativeResize="0"/>
          <p:nvPr/>
        </p:nvPicPr>
        <p:blipFill rotWithShape="1">
          <a:blip r:embed="rId3">
            <a:alphaModFix/>
          </a:blip>
          <a:srcRect b="0" l="0" r="0" t="0"/>
          <a:stretch/>
        </p:blipFill>
        <p:spPr>
          <a:xfrm>
            <a:off x="10625328" y="310896"/>
            <a:ext cx="1078992" cy="264111"/>
          </a:xfrm>
          <a:prstGeom prst="rect">
            <a:avLst/>
          </a:prstGeom>
          <a:noFill/>
          <a:ln>
            <a:noFill/>
          </a:ln>
        </p:spPr>
      </p:pic>
      <p:sp>
        <p:nvSpPr>
          <p:cNvPr id="2213" name="Google Shape;2213;p79"/>
          <p:cNvSpPr/>
          <p:nvPr/>
        </p:nvSpPr>
        <p:spPr>
          <a:xfrm>
            <a:off x="502920" y="6528816"/>
            <a:ext cx="8686800"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A79D"/>
              </a:buClr>
              <a:buSzPts val="800"/>
              <a:buFont typeface="Calibri"/>
              <a:buNone/>
            </a:pPr>
            <a:r>
              <a:rPr b="1" i="0" lang="en-US" sz="800" u="none" cap="none" strike="noStrike">
                <a:solidFill>
                  <a:srgbClr val="00A79D"/>
                </a:solidFill>
                <a:latin typeface="Calibri"/>
                <a:ea typeface="Calibri"/>
                <a:cs typeface="Calibri"/>
                <a:sym typeface="Calibri"/>
              </a:rPr>
              <a:t>MODULE 4   </a:t>
            </a:r>
            <a:r>
              <a:rPr b="0" i="0" lang="en-US" sz="800" u="none" cap="none" strike="noStrike">
                <a:solidFill>
                  <a:srgbClr val="8A96A6"/>
                </a:solidFill>
                <a:latin typeface="Calibri"/>
                <a:ea typeface="Calibri"/>
                <a:cs typeface="Calibri"/>
                <a:sym typeface="Calibri"/>
              </a:rPr>
              <a:t>SDA-AIE-212 · Computer Vision Systems Development</a:t>
            </a:r>
            <a:endParaRPr b="0" i="0" sz="800" u="none" cap="none" strike="noStrike">
              <a:solidFill>
                <a:schemeClr val="dk1"/>
              </a:solidFill>
              <a:latin typeface="Calibri"/>
              <a:ea typeface="Calibri"/>
              <a:cs typeface="Calibri"/>
              <a:sym typeface="Calibri"/>
            </a:endParaRPr>
          </a:p>
        </p:txBody>
      </p:sp>
      <p:sp>
        <p:nvSpPr>
          <p:cNvPr id="2214" name="Google Shape;2214;p79"/>
          <p:cNvSpPr/>
          <p:nvPr/>
        </p:nvSpPr>
        <p:spPr>
          <a:xfrm>
            <a:off x="11292840" y="6528816"/>
            <a:ext cx="411480" cy="219456"/>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8A96A6"/>
              </a:buClr>
              <a:buSzPts val="900"/>
              <a:buFont typeface="Calibri"/>
              <a:buNone/>
            </a:pPr>
            <a:r>
              <a:rPr b="0" i="0" lang="en-US" sz="900" u="none" cap="none" strike="noStrike">
                <a:solidFill>
                  <a:srgbClr val="8A96A6"/>
                </a:solidFill>
                <a:latin typeface="Calibri"/>
                <a:ea typeface="Calibri"/>
                <a:cs typeface="Calibri"/>
                <a:sym typeface="Calibri"/>
              </a:rPr>
              <a:t>79</a:t>
            </a:r>
            <a:endParaRPr b="0" i="0" sz="900" u="none" cap="none" strike="noStrike">
              <a:solidFill>
                <a:schemeClr val="dk1"/>
              </a:solidFill>
              <a:latin typeface="Calibri"/>
              <a:ea typeface="Calibri"/>
              <a:cs typeface="Calibri"/>
              <a:sym typeface="Calibri"/>
            </a:endParaRPr>
          </a:p>
        </p:txBody>
      </p:sp>
      <p:sp>
        <p:nvSpPr>
          <p:cNvPr id="2215" name="Google Shape;2215;p79"/>
          <p:cNvSpPr/>
          <p:nvPr/>
        </p:nvSpPr>
        <p:spPr>
          <a:xfrm>
            <a:off x="502920" y="1389888"/>
            <a:ext cx="7178040" cy="4965192"/>
          </a:xfrm>
          <a:prstGeom prst="roundRect">
            <a:avLst>
              <a:gd fmla="val 1842" name="adj"/>
            </a:avLst>
          </a:prstGeom>
          <a:solidFill>
            <a:srgbClr val="0F172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16" name="Google Shape;2216;p79"/>
          <p:cNvSpPr/>
          <p:nvPr/>
        </p:nvSpPr>
        <p:spPr>
          <a:xfrm>
            <a:off x="704088" y="1536192"/>
            <a:ext cx="2414016" cy="292608"/>
          </a:xfrm>
          <a:prstGeom prst="roundRect">
            <a:avLst>
              <a:gd fmla="val 18750" name="adj"/>
            </a:avLst>
          </a:prstGeom>
          <a:solidFill>
            <a:srgbClr val="1E293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17" name="Google Shape;2217;p79"/>
          <p:cNvSpPr/>
          <p:nvPr/>
        </p:nvSpPr>
        <p:spPr>
          <a:xfrm>
            <a:off x="795528" y="1536192"/>
            <a:ext cx="662940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EEAD4"/>
              </a:buClr>
              <a:buSzPts val="950"/>
              <a:buFont typeface="Courier New"/>
              <a:buNone/>
            </a:pPr>
            <a:r>
              <a:rPr b="0" i="0" lang="en-US" sz="950" u="none" cap="none" strike="noStrike">
                <a:solidFill>
                  <a:srgbClr val="5EEAD4"/>
                </a:solidFill>
                <a:latin typeface="Courier New"/>
                <a:ea typeface="Courier New"/>
                <a:cs typeface="Courier New"/>
                <a:sym typeface="Courier New"/>
              </a:rPr>
              <a:t>src/tamr_vision/seg/measure.py</a:t>
            </a:r>
            <a:endParaRPr b="0" i="0" sz="950" u="none" cap="none" strike="noStrike">
              <a:solidFill>
                <a:schemeClr val="dk1"/>
              </a:solidFill>
              <a:latin typeface="Calibri"/>
              <a:ea typeface="Calibri"/>
              <a:cs typeface="Calibri"/>
              <a:sym typeface="Calibri"/>
            </a:endParaRPr>
          </a:p>
        </p:txBody>
      </p:sp>
      <p:sp>
        <p:nvSpPr>
          <p:cNvPr id="2218" name="Google Shape;2218;p79"/>
          <p:cNvSpPr/>
          <p:nvPr/>
        </p:nvSpPr>
        <p:spPr>
          <a:xfrm>
            <a:off x="758952" y="1920240"/>
            <a:ext cx="6720840" cy="4279392"/>
          </a:xfrm>
          <a:prstGeom prst="rect">
            <a:avLst/>
          </a:prstGeom>
          <a:noFill/>
          <a:ln>
            <a:noFill/>
          </a:ln>
        </p:spPr>
        <p:txBody>
          <a:bodyPr anchorCtr="0" anchor="t" bIns="0" lIns="0" spcFirstLastPara="1" rIns="0" wrap="square" tIns="0">
            <a:noAutofit/>
          </a:bodyPr>
          <a:lstStyle/>
          <a:p>
            <a:pPr indent="0" lvl="0" marL="0" marR="0" rtl="0" algn="l">
              <a:lnSpc>
                <a:spcPct val="128000"/>
              </a:lnSpc>
              <a:spcBef>
                <a:spcPts val="0"/>
              </a:spcBef>
              <a:spcAft>
                <a:spcPts val="0"/>
              </a:spcAft>
              <a:buClr>
                <a:srgbClr val="DCE6F5"/>
              </a:buClr>
              <a:buSzPts val="1000"/>
              <a:buFont typeface="Courier New"/>
              <a:buNone/>
            </a:pPr>
            <a:r>
              <a:rPr b="0" i="0" lang="en-US" sz="1000" u="none" cap="none" strike="noStrike">
                <a:solidFill>
                  <a:srgbClr val="DCE6F5"/>
                </a:solidFill>
                <a:latin typeface="Courier New"/>
                <a:ea typeface="Courier New"/>
                <a:cs typeface="Courier New"/>
                <a:sym typeface="Courier New"/>
              </a:rPr>
              <a:t>DEFECT_CLASSES = {"mould", "skin_split",</a:t>
            </a:r>
            <a:endParaRPr b="0" i="0" sz="1000" u="none" cap="none" strike="noStrike">
              <a:solidFill>
                <a:schemeClr val="dk1"/>
              </a:solidFill>
              <a:latin typeface="Calibri"/>
              <a:ea typeface="Calibri"/>
              <a:cs typeface="Calibri"/>
              <a:sym typeface="Calibri"/>
            </a:endParaRPr>
          </a:p>
          <a:p>
            <a:pPr indent="0" lvl="0" marL="0" marR="0" rtl="0" algn="l">
              <a:lnSpc>
                <a:spcPct val="128000"/>
              </a:lnSpc>
              <a:spcBef>
                <a:spcPts val="0"/>
              </a:spcBef>
              <a:spcAft>
                <a:spcPts val="0"/>
              </a:spcAft>
              <a:buClr>
                <a:srgbClr val="DCE6F5"/>
              </a:buClr>
              <a:buSzPts val="1000"/>
              <a:buFont typeface="Courier New"/>
              <a:buNone/>
            </a:pPr>
            <a:r>
              <a:rPr b="0" i="0" lang="en-US" sz="1000" u="none" cap="none" strike="noStrike">
                <a:solidFill>
                  <a:srgbClr val="DCE6F5"/>
                </a:solidFill>
                <a:latin typeface="Courier New"/>
                <a:ea typeface="Courier New"/>
                <a:cs typeface="Courier New"/>
                <a:sym typeface="Courier New"/>
              </a:rPr>
              <a:t>                  "insect_damage", "sugaring"}</a:t>
            </a:r>
            <a:endParaRPr b="0" i="0" sz="1000" u="none" cap="none" strike="noStrike">
              <a:solidFill>
                <a:schemeClr val="dk1"/>
              </a:solidFill>
              <a:latin typeface="Calibri"/>
              <a:ea typeface="Calibri"/>
              <a:cs typeface="Calibri"/>
              <a:sym typeface="Calibri"/>
            </a:endParaRPr>
          </a:p>
          <a:p>
            <a:pPr indent="0" lvl="0" marL="0" marR="0" rtl="0" algn="l">
              <a:lnSpc>
                <a:spcPct val="128000"/>
              </a:lnSpc>
              <a:spcBef>
                <a:spcPts val="0"/>
              </a:spcBef>
              <a:spcAft>
                <a:spcPts val="0"/>
              </a:spcAft>
              <a:buClr>
                <a:srgbClr val="DCE6F5"/>
              </a:buClr>
              <a:buSzPts val="1000"/>
              <a:buFont typeface="Courier New"/>
              <a:buNone/>
            </a:pPr>
            <a:r>
              <a:rPr b="0" i="0" lang="en-US" sz="1000" u="none" cap="none" strike="noStrike">
                <a:solidFill>
                  <a:srgbClr val="DCE6F5"/>
                </a:solidFill>
                <a:latin typeface="Courier New"/>
                <a:ea typeface="Courier New"/>
                <a:cs typeface="Courier New"/>
                <a:sym typeface="Courier New"/>
              </a:rPr>
              <a:t> </a:t>
            </a:r>
            <a:endParaRPr b="0" i="0" sz="1000" u="none" cap="none" strike="noStrike">
              <a:solidFill>
                <a:schemeClr val="dk1"/>
              </a:solidFill>
              <a:latin typeface="Calibri"/>
              <a:ea typeface="Calibri"/>
              <a:cs typeface="Calibri"/>
              <a:sym typeface="Calibri"/>
            </a:endParaRPr>
          </a:p>
          <a:p>
            <a:pPr indent="0" lvl="0" marL="0" marR="0" rtl="0" algn="l">
              <a:lnSpc>
                <a:spcPct val="128000"/>
              </a:lnSpc>
              <a:spcBef>
                <a:spcPts val="0"/>
              </a:spcBef>
              <a:spcAft>
                <a:spcPts val="0"/>
              </a:spcAft>
              <a:buClr>
                <a:srgbClr val="DCE6F5"/>
              </a:buClr>
              <a:buSzPts val="1000"/>
              <a:buFont typeface="Courier New"/>
              <a:buNone/>
            </a:pPr>
            <a:r>
              <a:rPr b="0" i="0" lang="en-US" sz="1000" u="none" cap="none" strike="noStrike">
                <a:solidFill>
                  <a:srgbClr val="DCE6F5"/>
                </a:solidFill>
                <a:latin typeface="Courier New"/>
                <a:ea typeface="Courier New"/>
                <a:cs typeface="Courier New"/>
                <a:sym typeface="Courier New"/>
              </a:rPr>
              <a:t>def defect_area_report(result) -&gt; list[dict]:</a:t>
            </a:r>
            <a:endParaRPr b="0" i="0" sz="1000" u="none" cap="none" strike="noStrike">
              <a:solidFill>
                <a:schemeClr val="dk1"/>
              </a:solidFill>
              <a:latin typeface="Calibri"/>
              <a:ea typeface="Calibri"/>
              <a:cs typeface="Calibri"/>
              <a:sym typeface="Calibri"/>
            </a:endParaRPr>
          </a:p>
          <a:p>
            <a:pPr indent="0" lvl="0" marL="0" marR="0" rtl="0" algn="l">
              <a:lnSpc>
                <a:spcPct val="128000"/>
              </a:lnSpc>
              <a:spcBef>
                <a:spcPts val="0"/>
              </a:spcBef>
              <a:spcAft>
                <a:spcPts val="0"/>
              </a:spcAft>
              <a:buClr>
                <a:srgbClr val="DCE6F5"/>
              </a:buClr>
              <a:buSzPts val="1000"/>
              <a:buFont typeface="Courier New"/>
              <a:buNone/>
            </a:pPr>
            <a:r>
              <a:rPr b="0" i="0" lang="en-US" sz="1000" u="none" cap="none" strike="noStrike">
                <a:solidFill>
                  <a:srgbClr val="DCE6F5"/>
                </a:solidFill>
                <a:latin typeface="Courier New"/>
                <a:ea typeface="Courier New"/>
                <a:cs typeface="Courier New"/>
                <a:sym typeface="Courier New"/>
              </a:rPr>
              <a:t>    names = result.names</a:t>
            </a:r>
            <a:endParaRPr b="0" i="0" sz="1000" u="none" cap="none" strike="noStrike">
              <a:solidFill>
                <a:schemeClr val="dk1"/>
              </a:solidFill>
              <a:latin typeface="Calibri"/>
              <a:ea typeface="Calibri"/>
              <a:cs typeface="Calibri"/>
              <a:sym typeface="Calibri"/>
            </a:endParaRPr>
          </a:p>
          <a:p>
            <a:pPr indent="0" lvl="0" marL="0" marR="0" rtl="0" algn="l">
              <a:lnSpc>
                <a:spcPct val="128000"/>
              </a:lnSpc>
              <a:spcBef>
                <a:spcPts val="0"/>
              </a:spcBef>
              <a:spcAft>
                <a:spcPts val="0"/>
              </a:spcAft>
              <a:buClr>
                <a:srgbClr val="DCE6F5"/>
              </a:buClr>
              <a:buSzPts val="1000"/>
              <a:buFont typeface="Courier New"/>
              <a:buNone/>
            </a:pPr>
            <a:r>
              <a:rPr b="0" i="0" lang="en-US" sz="1000" u="none" cap="none" strike="noStrike">
                <a:solidFill>
                  <a:srgbClr val="DCE6F5"/>
                </a:solidFill>
                <a:latin typeface="Courier New"/>
                <a:ea typeface="Courier New"/>
                <a:cs typeface="Courier New"/>
                <a:sym typeface="Courier New"/>
              </a:rPr>
              <a:t>    masks = result.masks.data.cpu().numpy().astype(bool)</a:t>
            </a:r>
            <a:endParaRPr b="0" i="0" sz="1000" u="none" cap="none" strike="noStrike">
              <a:solidFill>
                <a:schemeClr val="dk1"/>
              </a:solidFill>
              <a:latin typeface="Calibri"/>
              <a:ea typeface="Calibri"/>
              <a:cs typeface="Calibri"/>
              <a:sym typeface="Calibri"/>
            </a:endParaRPr>
          </a:p>
          <a:p>
            <a:pPr indent="0" lvl="0" marL="0" marR="0" rtl="0" algn="l">
              <a:lnSpc>
                <a:spcPct val="128000"/>
              </a:lnSpc>
              <a:spcBef>
                <a:spcPts val="0"/>
              </a:spcBef>
              <a:spcAft>
                <a:spcPts val="0"/>
              </a:spcAft>
              <a:buClr>
                <a:srgbClr val="DCE6F5"/>
              </a:buClr>
              <a:buSzPts val="1000"/>
              <a:buFont typeface="Courier New"/>
              <a:buNone/>
            </a:pPr>
            <a:r>
              <a:rPr b="0" i="0" lang="en-US" sz="1000" u="none" cap="none" strike="noStrike">
                <a:solidFill>
                  <a:srgbClr val="DCE6F5"/>
                </a:solidFill>
                <a:latin typeface="Courier New"/>
                <a:ea typeface="Courier New"/>
                <a:cs typeface="Courier New"/>
                <a:sym typeface="Courier New"/>
              </a:rPr>
              <a:t>    classes = [names[int(c)] for c in result.boxes.cls]</a:t>
            </a:r>
            <a:endParaRPr b="0" i="0" sz="1000" u="none" cap="none" strike="noStrike">
              <a:solidFill>
                <a:schemeClr val="dk1"/>
              </a:solidFill>
              <a:latin typeface="Calibri"/>
              <a:ea typeface="Calibri"/>
              <a:cs typeface="Calibri"/>
              <a:sym typeface="Calibri"/>
            </a:endParaRPr>
          </a:p>
          <a:p>
            <a:pPr indent="0" lvl="0" marL="0" marR="0" rtl="0" algn="l">
              <a:lnSpc>
                <a:spcPct val="128000"/>
              </a:lnSpc>
              <a:spcBef>
                <a:spcPts val="0"/>
              </a:spcBef>
              <a:spcAft>
                <a:spcPts val="0"/>
              </a:spcAft>
              <a:buClr>
                <a:srgbClr val="DCE6F5"/>
              </a:buClr>
              <a:buSzPts val="1000"/>
              <a:buFont typeface="Courier New"/>
              <a:buNone/>
            </a:pPr>
            <a:r>
              <a:rPr b="0" i="0" lang="en-US" sz="1000" u="none" cap="none" strike="noStrike">
                <a:solidFill>
                  <a:srgbClr val="DCE6F5"/>
                </a:solidFill>
                <a:latin typeface="Courier New"/>
                <a:ea typeface="Courier New"/>
                <a:cs typeface="Courier New"/>
                <a:sym typeface="Courier New"/>
              </a:rPr>
              <a:t>    fruit = [i for i, c in enumerate(classes) if c == "fruit"]</a:t>
            </a:r>
            <a:endParaRPr b="0" i="0" sz="1000" u="none" cap="none" strike="noStrike">
              <a:solidFill>
                <a:schemeClr val="dk1"/>
              </a:solidFill>
              <a:latin typeface="Calibri"/>
              <a:ea typeface="Calibri"/>
              <a:cs typeface="Calibri"/>
              <a:sym typeface="Calibri"/>
            </a:endParaRPr>
          </a:p>
          <a:p>
            <a:pPr indent="0" lvl="0" marL="0" marR="0" rtl="0" algn="l">
              <a:lnSpc>
                <a:spcPct val="128000"/>
              </a:lnSpc>
              <a:spcBef>
                <a:spcPts val="0"/>
              </a:spcBef>
              <a:spcAft>
                <a:spcPts val="0"/>
              </a:spcAft>
              <a:buClr>
                <a:srgbClr val="DCE6F5"/>
              </a:buClr>
              <a:buSzPts val="1000"/>
              <a:buFont typeface="Courier New"/>
              <a:buNone/>
            </a:pPr>
            <a:r>
              <a:rPr b="0" i="0" lang="en-US" sz="1000" u="none" cap="none" strike="noStrike">
                <a:solidFill>
                  <a:srgbClr val="DCE6F5"/>
                </a:solidFill>
                <a:latin typeface="Courier New"/>
                <a:ea typeface="Courier New"/>
                <a:cs typeface="Courier New"/>
                <a:sym typeface="Courier New"/>
              </a:rPr>
              <a:t>    defects = [i for i, c in enumerate(classes)</a:t>
            </a:r>
            <a:endParaRPr b="0" i="0" sz="1000" u="none" cap="none" strike="noStrike">
              <a:solidFill>
                <a:schemeClr val="dk1"/>
              </a:solidFill>
              <a:latin typeface="Calibri"/>
              <a:ea typeface="Calibri"/>
              <a:cs typeface="Calibri"/>
              <a:sym typeface="Calibri"/>
            </a:endParaRPr>
          </a:p>
          <a:p>
            <a:pPr indent="0" lvl="0" marL="0" marR="0" rtl="0" algn="l">
              <a:lnSpc>
                <a:spcPct val="128000"/>
              </a:lnSpc>
              <a:spcBef>
                <a:spcPts val="0"/>
              </a:spcBef>
              <a:spcAft>
                <a:spcPts val="0"/>
              </a:spcAft>
              <a:buClr>
                <a:srgbClr val="DCE6F5"/>
              </a:buClr>
              <a:buSzPts val="1000"/>
              <a:buFont typeface="Courier New"/>
              <a:buNone/>
            </a:pPr>
            <a:r>
              <a:rPr b="0" i="0" lang="en-US" sz="1000" u="none" cap="none" strike="noStrike">
                <a:solidFill>
                  <a:srgbClr val="DCE6F5"/>
                </a:solidFill>
                <a:latin typeface="Courier New"/>
                <a:ea typeface="Courier New"/>
                <a:cs typeface="Courier New"/>
                <a:sym typeface="Courier New"/>
              </a:rPr>
              <a:t>               if c in DEFECT_CLASSES]</a:t>
            </a:r>
            <a:endParaRPr b="0" i="0" sz="1000" u="none" cap="none" strike="noStrike">
              <a:solidFill>
                <a:schemeClr val="dk1"/>
              </a:solidFill>
              <a:latin typeface="Calibri"/>
              <a:ea typeface="Calibri"/>
              <a:cs typeface="Calibri"/>
              <a:sym typeface="Calibri"/>
            </a:endParaRPr>
          </a:p>
          <a:p>
            <a:pPr indent="0" lvl="0" marL="0" marR="0" rtl="0" algn="l">
              <a:lnSpc>
                <a:spcPct val="128000"/>
              </a:lnSpc>
              <a:spcBef>
                <a:spcPts val="0"/>
              </a:spcBef>
              <a:spcAft>
                <a:spcPts val="0"/>
              </a:spcAft>
              <a:buClr>
                <a:srgbClr val="DCE6F5"/>
              </a:buClr>
              <a:buSzPts val="1000"/>
              <a:buFont typeface="Courier New"/>
              <a:buNone/>
            </a:pPr>
            <a:r>
              <a:rPr b="0" i="0" lang="en-US" sz="1000" u="none" cap="none" strike="noStrike">
                <a:solidFill>
                  <a:srgbClr val="DCE6F5"/>
                </a:solidFill>
                <a:latin typeface="Courier New"/>
                <a:ea typeface="Courier New"/>
                <a:cs typeface="Courier New"/>
                <a:sym typeface="Courier New"/>
              </a:rPr>
              <a:t>    report = []</a:t>
            </a:r>
            <a:endParaRPr b="0" i="0" sz="1000" u="none" cap="none" strike="noStrike">
              <a:solidFill>
                <a:schemeClr val="dk1"/>
              </a:solidFill>
              <a:latin typeface="Calibri"/>
              <a:ea typeface="Calibri"/>
              <a:cs typeface="Calibri"/>
              <a:sym typeface="Calibri"/>
            </a:endParaRPr>
          </a:p>
          <a:p>
            <a:pPr indent="0" lvl="0" marL="0" marR="0" rtl="0" algn="l">
              <a:lnSpc>
                <a:spcPct val="128000"/>
              </a:lnSpc>
              <a:spcBef>
                <a:spcPts val="0"/>
              </a:spcBef>
              <a:spcAft>
                <a:spcPts val="0"/>
              </a:spcAft>
              <a:buClr>
                <a:srgbClr val="DCE6F5"/>
              </a:buClr>
              <a:buSzPts val="1000"/>
              <a:buFont typeface="Courier New"/>
              <a:buNone/>
            </a:pPr>
            <a:r>
              <a:rPr b="0" i="0" lang="en-US" sz="1000" u="none" cap="none" strike="noStrike">
                <a:solidFill>
                  <a:srgbClr val="DCE6F5"/>
                </a:solidFill>
                <a:latin typeface="Courier New"/>
                <a:ea typeface="Courier New"/>
                <a:cs typeface="Courier New"/>
                <a:sym typeface="Courier New"/>
              </a:rPr>
              <a:t>    for fi in fruit:</a:t>
            </a:r>
            <a:endParaRPr b="0" i="0" sz="1000" u="none" cap="none" strike="noStrike">
              <a:solidFill>
                <a:schemeClr val="dk1"/>
              </a:solidFill>
              <a:latin typeface="Calibri"/>
              <a:ea typeface="Calibri"/>
              <a:cs typeface="Calibri"/>
              <a:sym typeface="Calibri"/>
            </a:endParaRPr>
          </a:p>
          <a:p>
            <a:pPr indent="0" lvl="0" marL="0" marR="0" rtl="0" algn="l">
              <a:lnSpc>
                <a:spcPct val="128000"/>
              </a:lnSpc>
              <a:spcBef>
                <a:spcPts val="0"/>
              </a:spcBef>
              <a:spcAft>
                <a:spcPts val="0"/>
              </a:spcAft>
              <a:buClr>
                <a:srgbClr val="DCE6F5"/>
              </a:buClr>
              <a:buSzPts val="1000"/>
              <a:buFont typeface="Courier New"/>
              <a:buNone/>
            </a:pPr>
            <a:r>
              <a:rPr b="0" i="0" lang="en-US" sz="1000" u="none" cap="none" strike="noStrike">
                <a:solidFill>
                  <a:srgbClr val="DCE6F5"/>
                </a:solidFill>
                <a:latin typeface="Courier New"/>
                <a:ea typeface="Courier New"/>
                <a:cs typeface="Courier New"/>
                <a:sym typeface="Courier New"/>
              </a:rPr>
              <a:t>        fruit_px = masks[fi].sum()</a:t>
            </a:r>
            <a:endParaRPr b="0" i="0" sz="1000" u="none" cap="none" strike="noStrike">
              <a:solidFill>
                <a:schemeClr val="dk1"/>
              </a:solidFill>
              <a:latin typeface="Calibri"/>
              <a:ea typeface="Calibri"/>
              <a:cs typeface="Calibri"/>
              <a:sym typeface="Calibri"/>
            </a:endParaRPr>
          </a:p>
          <a:p>
            <a:pPr indent="0" lvl="0" marL="0" marR="0" rtl="0" algn="l">
              <a:lnSpc>
                <a:spcPct val="128000"/>
              </a:lnSpc>
              <a:spcBef>
                <a:spcPts val="0"/>
              </a:spcBef>
              <a:spcAft>
                <a:spcPts val="0"/>
              </a:spcAft>
              <a:buClr>
                <a:srgbClr val="DCE6F5"/>
              </a:buClr>
              <a:buSzPts val="1000"/>
              <a:buFont typeface="Courier New"/>
              <a:buNone/>
            </a:pPr>
            <a:r>
              <a:rPr b="0" i="0" lang="en-US" sz="1000" u="none" cap="none" strike="noStrike">
                <a:solidFill>
                  <a:srgbClr val="DCE6F5"/>
                </a:solidFill>
                <a:latin typeface="Courier New"/>
                <a:ea typeface="Courier New"/>
                <a:cs typeface="Courier New"/>
                <a:sym typeface="Courier New"/>
              </a:rPr>
              <a:t>        if fruit_px == 0:</a:t>
            </a:r>
            <a:endParaRPr b="0" i="0" sz="1000" u="none" cap="none" strike="noStrike">
              <a:solidFill>
                <a:schemeClr val="dk1"/>
              </a:solidFill>
              <a:latin typeface="Calibri"/>
              <a:ea typeface="Calibri"/>
              <a:cs typeface="Calibri"/>
              <a:sym typeface="Calibri"/>
            </a:endParaRPr>
          </a:p>
          <a:p>
            <a:pPr indent="0" lvl="0" marL="0" marR="0" rtl="0" algn="l">
              <a:lnSpc>
                <a:spcPct val="128000"/>
              </a:lnSpc>
              <a:spcBef>
                <a:spcPts val="0"/>
              </a:spcBef>
              <a:spcAft>
                <a:spcPts val="0"/>
              </a:spcAft>
              <a:buClr>
                <a:srgbClr val="DCE6F5"/>
              </a:buClr>
              <a:buSzPts val="1000"/>
              <a:buFont typeface="Courier New"/>
              <a:buNone/>
            </a:pPr>
            <a:r>
              <a:rPr b="0" i="0" lang="en-US" sz="1000" u="none" cap="none" strike="noStrike">
                <a:solidFill>
                  <a:srgbClr val="DCE6F5"/>
                </a:solidFill>
                <a:latin typeface="Courier New"/>
                <a:ea typeface="Courier New"/>
                <a:cs typeface="Courier New"/>
                <a:sym typeface="Courier New"/>
              </a:rPr>
              <a:t>            continue          # degenerate mask: log upstream</a:t>
            </a:r>
            <a:endParaRPr b="0" i="0" sz="1000" u="none" cap="none" strike="noStrike">
              <a:solidFill>
                <a:schemeClr val="dk1"/>
              </a:solidFill>
              <a:latin typeface="Calibri"/>
              <a:ea typeface="Calibri"/>
              <a:cs typeface="Calibri"/>
              <a:sym typeface="Calibri"/>
            </a:endParaRPr>
          </a:p>
          <a:p>
            <a:pPr indent="0" lvl="0" marL="0" marR="0" rtl="0" algn="l">
              <a:lnSpc>
                <a:spcPct val="128000"/>
              </a:lnSpc>
              <a:spcBef>
                <a:spcPts val="0"/>
              </a:spcBef>
              <a:spcAft>
                <a:spcPts val="0"/>
              </a:spcAft>
              <a:buClr>
                <a:srgbClr val="DCE6F5"/>
              </a:buClr>
              <a:buSzPts val="1000"/>
              <a:buFont typeface="Courier New"/>
              <a:buNone/>
            </a:pPr>
            <a:r>
              <a:rPr b="0" i="0" lang="en-US" sz="1000" u="none" cap="none" strike="noStrike">
                <a:solidFill>
                  <a:srgbClr val="DCE6F5"/>
                </a:solidFill>
                <a:latin typeface="Courier New"/>
                <a:ea typeface="Courier New"/>
                <a:cs typeface="Courier New"/>
                <a:sym typeface="Courier New"/>
              </a:rPr>
              <a:t>        areas = {c: 0.0 for c in DEFECT_CLASSES}</a:t>
            </a:r>
            <a:endParaRPr b="0" i="0" sz="1000" u="none" cap="none" strike="noStrike">
              <a:solidFill>
                <a:schemeClr val="dk1"/>
              </a:solidFill>
              <a:latin typeface="Calibri"/>
              <a:ea typeface="Calibri"/>
              <a:cs typeface="Calibri"/>
              <a:sym typeface="Calibri"/>
            </a:endParaRPr>
          </a:p>
          <a:p>
            <a:pPr indent="0" lvl="0" marL="0" marR="0" rtl="0" algn="l">
              <a:lnSpc>
                <a:spcPct val="128000"/>
              </a:lnSpc>
              <a:spcBef>
                <a:spcPts val="0"/>
              </a:spcBef>
              <a:spcAft>
                <a:spcPts val="0"/>
              </a:spcAft>
              <a:buClr>
                <a:srgbClr val="DCE6F5"/>
              </a:buClr>
              <a:buSzPts val="1000"/>
              <a:buFont typeface="Courier New"/>
              <a:buNone/>
            </a:pPr>
            <a:r>
              <a:rPr b="0" i="0" lang="en-US" sz="1000" u="none" cap="none" strike="noStrike">
                <a:solidFill>
                  <a:srgbClr val="DCE6F5"/>
                </a:solidFill>
                <a:latin typeface="Courier New"/>
                <a:ea typeface="Courier New"/>
                <a:cs typeface="Courier New"/>
                <a:sym typeface="Courier New"/>
              </a:rPr>
              <a:t>        for di in defects:</a:t>
            </a:r>
            <a:endParaRPr b="0" i="0" sz="1000" u="none" cap="none" strike="noStrike">
              <a:solidFill>
                <a:schemeClr val="dk1"/>
              </a:solidFill>
              <a:latin typeface="Calibri"/>
              <a:ea typeface="Calibri"/>
              <a:cs typeface="Calibri"/>
              <a:sym typeface="Calibri"/>
            </a:endParaRPr>
          </a:p>
          <a:p>
            <a:pPr indent="0" lvl="0" marL="0" marR="0" rtl="0" algn="l">
              <a:lnSpc>
                <a:spcPct val="128000"/>
              </a:lnSpc>
              <a:spcBef>
                <a:spcPts val="0"/>
              </a:spcBef>
              <a:spcAft>
                <a:spcPts val="0"/>
              </a:spcAft>
              <a:buClr>
                <a:srgbClr val="DCE6F5"/>
              </a:buClr>
              <a:buSzPts val="1000"/>
              <a:buFont typeface="Courier New"/>
              <a:buNone/>
            </a:pPr>
            <a:r>
              <a:rPr b="0" i="0" lang="en-US" sz="1000" u="none" cap="none" strike="noStrike">
                <a:solidFill>
                  <a:srgbClr val="DCE6F5"/>
                </a:solidFill>
                <a:latin typeface="Courier New"/>
                <a:ea typeface="Courier New"/>
                <a:cs typeface="Courier New"/>
                <a:sym typeface="Courier New"/>
              </a:rPr>
              <a:t>            overlap = (masks[di] &amp; masks[fi]).sum()</a:t>
            </a:r>
            <a:endParaRPr b="0" i="0" sz="1000" u="none" cap="none" strike="noStrike">
              <a:solidFill>
                <a:schemeClr val="dk1"/>
              </a:solidFill>
              <a:latin typeface="Calibri"/>
              <a:ea typeface="Calibri"/>
              <a:cs typeface="Calibri"/>
              <a:sym typeface="Calibri"/>
            </a:endParaRPr>
          </a:p>
          <a:p>
            <a:pPr indent="0" lvl="0" marL="0" marR="0" rtl="0" algn="l">
              <a:lnSpc>
                <a:spcPct val="128000"/>
              </a:lnSpc>
              <a:spcBef>
                <a:spcPts val="0"/>
              </a:spcBef>
              <a:spcAft>
                <a:spcPts val="0"/>
              </a:spcAft>
              <a:buClr>
                <a:srgbClr val="DCE6F5"/>
              </a:buClr>
              <a:buSzPts val="1000"/>
              <a:buFont typeface="Courier New"/>
              <a:buNone/>
            </a:pPr>
            <a:r>
              <a:rPr b="0" i="0" lang="en-US" sz="1000" u="none" cap="none" strike="noStrike">
                <a:solidFill>
                  <a:srgbClr val="DCE6F5"/>
                </a:solidFill>
                <a:latin typeface="Courier New"/>
                <a:ea typeface="Courier New"/>
                <a:cs typeface="Courier New"/>
                <a:sym typeface="Courier New"/>
              </a:rPr>
              <a:t>            if overlap / max(masks[di].sum(), 1) &gt;= 0.5:</a:t>
            </a:r>
            <a:endParaRPr b="0" i="0" sz="1000" u="none" cap="none" strike="noStrike">
              <a:solidFill>
                <a:schemeClr val="dk1"/>
              </a:solidFill>
              <a:latin typeface="Calibri"/>
              <a:ea typeface="Calibri"/>
              <a:cs typeface="Calibri"/>
              <a:sym typeface="Calibri"/>
            </a:endParaRPr>
          </a:p>
          <a:p>
            <a:pPr indent="0" lvl="0" marL="0" marR="0" rtl="0" algn="l">
              <a:lnSpc>
                <a:spcPct val="128000"/>
              </a:lnSpc>
              <a:spcBef>
                <a:spcPts val="0"/>
              </a:spcBef>
              <a:spcAft>
                <a:spcPts val="0"/>
              </a:spcAft>
              <a:buClr>
                <a:srgbClr val="DCE6F5"/>
              </a:buClr>
              <a:buSzPts val="1000"/>
              <a:buFont typeface="Courier New"/>
              <a:buNone/>
            </a:pPr>
            <a:r>
              <a:rPr b="0" i="0" lang="en-US" sz="1000" u="none" cap="none" strike="noStrike">
                <a:solidFill>
                  <a:srgbClr val="DCE6F5"/>
                </a:solidFill>
                <a:latin typeface="Courier New"/>
                <a:ea typeface="Courier New"/>
                <a:cs typeface="Courier New"/>
                <a:sym typeface="Courier New"/>
              </a:rPr>
              <a:t>                areas[classes[di]] += overlap / fruit_px</a:t>
            </a:r>
            <a:endParaRPr b="0" i="0" sz="1000" u="none" cap="none" strike="noStrike">
              <a:solidFill>
                <a:schemeClr val="dk1"/>
              </a:solidFill>
              <a:latin typeface="Calibri"/>
              <a:ea typeface="Calibri"/>
              <a:cs typeface="Calibri"/>
              <a:sym typeface="Calibri"/>
            </a:endParaRPr>
          </a:p>
          <a:p>
            <a:pPr indent="0" lvl="0" marL="0" marR="0" rtl="0" algn="l">
              <a:lnSpc>
                <a:spcPct val="128000"/>
              </a:lnSpc>
              <a:spcBef>
                <a:spcPts val="0"/>
              </a:spcBef>
              <a:spcAft>
                <a:spcPts val="0"/>
              </a:spcAft>
              <a:buClr>
                <a:srgbClr val="DCE6F5"/>
              </a:buClr>
              <a:buSzPts val="1000"/>
              <a:buFont typeface="Courier New"/>
              <a:buNone/>
            </a:pPr>
            <a:r>
              <a:rPr b="0" i="0" lang="en-US" sz="1000" u="none" cap="none" strike="noStrike">
                <a:solidFill>
                  <a:srgbClr val="DCE6F5"/>
                </a:solidFill>
                <a:latin typeface="Courier New"/>
                <a:ea typeface="Courier New"/>
                <a:cs typeface="Courier New"/>
                <a:sym typeface="Courier New"/>
              </a:rPr>
              <a:t>        report.append({"fruit_id": fi, "total_defect_pct":</a:t>
            </a:r>
            <a:endParaRPr b="0" i="0" sz="1000" u="none" cap="none" strike="noStrike">
              <a:solidFill>
                <a:schemeClr val="dk1"/>
              </a:solidFill>
              <a:latin typeface="Calibri"/>
              <a:ea typeface="Calibri"/>
              <a:cs typeface="Calibri"/>
              <a:sym typeface="Calibri"/>
            </a:endParaRPr>
          </a:p>
          <a:p>
            <a:pPr indent="0" lvl="0" marL="0" marR="0" rtl="0" algn="l">
              <a:lnSpc>
                <a:spcPct val="128000"/>
              </a:lnSpc>
              <a:spcBef>
                <a:spcPts val="0"/>
              </a:spcBef>
              <a:spcAft>
                <a:spcPts val="0"/>
              </a:spcAft>
              <a:buClr>
                <a:srgbClr val="DCE6F5"/>
              </a:buClr>
              <a:buSzPts val="1000"/>
              <a:buFont typeface="Courier New"/>
              <a:buNone/>
            </a:pPr>
            <a:r>
              <a:rPr b="0" i="0" lang="en-US" sz="1000" u="none" cap="none" strike="noStrike">
                <a:solidFill>
                  <a:srgbClr val="DCE6F5"/>
                </a:solidFill>
                <a:latin typeface="Courier New"/>
                <a:ea typeface="Courier New"/>
                <a:cs typeface="Courier New"/>
                <a:sym typeface="Courier New"/>
              </a:rPr>
              <a:t>            round(100 * sum(areas.values()), 2)})</a:t>
            </a:r>
            <a:endParaRPr b="0" i="0" sz="1000" u="none" cap="none" strike="noStrike">
              <a:solidFill>
                <a:schemeClr val="dk1"/>
              </a:solidFill>
              <a:latin typeface="Calibri"/>
              <a:ea typeface="Calibri"/>
              <a:cs typeface="Calibri"/>
              <a:sym typeface="Calibri"/>
            </a:endParaRPr>
          </a:p>
          <a:p>
            <a:pPr indent="0" lvl="0" marL="0" marR="0" rtl="0" algn="l">
              <a:lnSpc>
                <a:spcPct val="128000"/>
              </a:lnSpc>
              <a:spcBef>
                <a:spcPts val="0"/>
              </a:spcBef>
              <a:spcAft>
                <a:spcPts val="0"/>
              </a:spcAft>
              <a:buClr>
                <a:srgbClr val="DCE6F5"/>
              </a:buClr>
              <a:buSzPts val="1000"/>
              <a:buFont typeface="Courier New"/>
              <a:buNone/>
            </a:pPr>
            <a:r>
              <a:rPr b="0" i="0" lang="en-US" sz="1000" u="none" cap="none" strike="noStrike">
                <a:solidFill>
                  <a:srgbClr val="DCE6F5"/>
                </a:solidFill>
                <a:latin typeface="Courier New"/>
                <a:ea typeface="Courier New"/>
                <a:cs typeface="Courier New"/>
                <a:sym typeface="Courier New"/>
              </a:rPr>
              <a:t>    return report   # downstream rule: reject if total &gt; 8.0</a:t>
            </a:r>
            <a:endParaRPr b="0" i="0" sz="1000" u="none" cap="none" strike="noStrike">
              <a:solidFill>
                <a:schemeClr val="dk1"/>
              </a:solidFill>
              <a:latin typeface="Calibri"/>
              <a:ea typeface="Calibri"/>
              <a:cs typeface="Calibri"/>
              <a:sym typeface="Calibri"/>
            </a:endParaRPr>
          </a:p>
        </p:txBody>
      </p:sp>
      <p:sp>
        <p:nvSpPr>
          <p:cNvPr id="2219" name="Google Shape;2219;p79"/>
          <p:cNvSpPr/>
          <p:nvPr/>
        </p:nvSpPr>
        <p:spPr>
          <a:xfrm>
            <a:off x="7973568" y="1389888"/>
            <a:ext cx="3712464" cy="1090422"/>
          </a:xfrm>
          <a:prstGeom prst="roundRect">
            <a:avLst>
              <a:gd fmla="val 5870" name="adj"/>
            </a:avLst>
          </a:prstGeom>
          <a:solidFill>
            <a:srgbClr val="F2F6F9"/>
          </a:solidFill>
          <a:ln cap="flat" cmpd="sng" w="12700">
            <a:solidFill>
              <a:srgbClr val="D9E2E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20" name="Google Shape;2220;p79"/>
          <p:cNvSpPr/>
          <p:nvPr/>
        </p:nvSpPr>
        <p:spPr>
          <a:xfrm>
            <a:off x="8101584" y="1508760"/>
            <a:ext cx="237744" cy="237744"/>
          </a:xfrm>
          <a:prstGeom prst="ellipse">
            <a:avLst/>
          </a:prstGeom>
          <a:solidFill>
            <a:srgbClr val="00A79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21" name="Google Shape;2221;p79"/>
          <p:cNvSpPr/>
          <p:nvPr/>
        </p:nvSpPr>
        <p:spPr>
          <a:xfrm>
            <a:off x="8101584" y="1508760"/>
            <a:ext cx="237744" cy="23774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000"/>
              <a:buFont typeface="Calibri"/>
              <a:buNone/>
            </a:pPr>
            <a:r>
              <a:rPr b="1" i="0" lang="en-US" sz="1000" u="none" cap="none" strike="noStrike">
                <a:solidFill>
                  <a:srgbClr val="FFFFFF"/>
                </a:solidFill>
                <a:latin typeface="Calibri"/>
                <a:ea typeface="Calibri"/>
                <a:cs typeface="Calibri"/>
                <a:sym typeface="Calibri"/>
              </a:rPr>
              <a:t>1</a:t>
            </a:r>
            <a:endParaRPr b="0" i="0" sz="1000" u="none" cap="none" strike="noStrike">
              <a:solidFill>
                <a:schemeClr val="dk1"/>
              </a:solidFill>
              <a:latin typeface="Calibri"/>
              <a:ea typeface="Calibri"/>
              <a:cs typeface="Calibri"/>
              <a:sym typeface="Calibri"/>
            </a:endParaRPr>
          </a:p>
        </p:txBody>
      </p:sp>
      <p:sp>
        <p:nvSpPr>
          <p:cNvPr id="2222" name="Google Shape;2222;p79"/>
          <p:cNvSpPr/>
          <p:nvPr/>
        </p:nvSpPr>
        <p:spPr>
          <a:xfrm>
            <a:off x="8430768" y="1444752"/>
            <a:ext cx="3145536"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D2A5C"/>
              </a:buClr>
              <a:buSzPts val="1150"/>
              <a:buFont typeface="Calibri"/>
              <a:buNone/>
            </a:pPr>
            <a:r>
              <a:rPr b="1" i="0" lang="en-US" sz="1150" u="none" cap="none" strike="noStrike">
                <a:solidFill>
                  <a:srgbClr val="1D2A5C"/>
                </a:solidFill>
                <a:latin typeface="Calibri"/>
                <a:ea typeface="Calibri"/>
                <a:cs typeface="Calibri"/>
                <a:sym typeface="Calibri"/>
              </a:rPr>
              <a:t>The business number</a:t>
            </a:r>
            <a:endParaRPr b="0" i="0" sz="1150" u="none" cap="none" strike="noStrike">
              <a:solidFill>
                <a:schemeClr val="dk1"/>
              </a:solidFill>
              <a:latin typeface="Calibri"/>
              <a:ea typeface="Calibri"/>
              <a:cs typeface="Calibri"/>
              <a:sym typeface="Calibri"/>
            </a:endParaRPr>
          </a:p>
        </p:txBody>
      </p:sp>
      <p:sp>
        <p:nvSpPr>
          <p:cNvPr id="2223" name="Google Shape;2223;p79"/>
          <p:cNvSpPr/>
          <p:nvPr/>
        </p:nvSpPr>
        <p:spPr>
          <a:xfrm>
            <a:off x="8430768" y="1719072"/>
            <a:ext cx="3145536" cy="688086"/>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5F6B7A"/>
              </a:buClr>
              <a:buSzPts val="1000"/>
              <a:buFont typeface="Calibri"/>
              <a:buNone/>
            </a:pPr>
            <a:r>
              <a:rPr b="0" i="0" lang="en-US" sz="1000" u="none" cap="none" strike="noStrike">
                <a:solidFill>
                  <a:srgbClr val="5F6B7A"/>
                </a:solidFill>
                <a:latin typeface="Calibri"/>
                <a:ea typeface="Calibri"/>
                <a:cs typeface="Calibri"/>
                <a:sym typeface="Calibri"/>
              </a:rPr>
              <a:t>Defect-area % per fruit is what the grading standard references — not mAP</a:t>
            </a:r>
            <a:endParaRPr b="0" i="0" sz="1000" u="none" cap="none" strike="noStrike">
              <a:solidFill>
                <a:schemeClr val="dk1"/>
              </a:solidFill>
              <a:latin typeface="Calibri"/>
              <a:ea typeface="Calibri"/>
              <a:cs typeface="Calibri"/>
              <a:sym typeface="Calibri"/>
            </a:endParaRPr>
          </a:p>
        </p:txBody>
      </p:sp>
      <p:sp>
        <p:nvSpPr>
          <p:cNvPr id="2224" name="Google Shape;2224;p79"/>
          <p:cNvSpPr/>
          <p:nvPr/>
        </p:nvSpPr>
        <p:spPr>
          <a:xfrm>
            <a:off x="7973568" y="2681478"/>
            <a:ext cx="3712464" cy="1090422"/>
          </a:xfrm>
          <a:prstGeom prst="roundRect">
            <a:avLst>
              <a:gd fmla="val 5870" name="adj"/>
            </a:avLst>
          </a:prstGeom>
          <a:solidFill>
            <a:srgbClr val="F2F6F9"/>
          </a:solidFill>
          <a:ln cap="flat" cmpd="sng" w="12700">
            <a:solidFill>
              <a:srgbClr val="D9E2E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25" name="Google Shape;2225;p79"/>
          <p:cNvSpPr/>
          <p:nvPr/>
        </p:nvSpPr>
        <p:spPr>
          <a:xfrm>
            <a:off x="8101584" y="2800350"/>
            <a:ext cx="237744" cy="237744"/>
          </a:xfrm>
          <a:prstGeom prst="ellipse">
            <a:avLst/>
          </a:prstGeom>
          <a:solidFill>
            <a:srgbClr val="29ABE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26" name="Google Shape;2226;p79"/>
          <p:cNvSpPr/>
          <p:nvPr/>
        </p:nvSpPr>
        <p:spPr>
          <a:xfrm>
            <a:off x="8101584" y="2800350"/>
            <a:ext cx="237744" cy="23774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000"/>
              <a:buFont typeface="Calibri"/>
              <a:buNone/>
            </a:pPr>
            <a:r>
              <a:rPr b="1" i="0" lang="en-US" sz="1000" u="none" cap="none" strike="noStrike">
                <a:solidFill>
                  <a:srgbClr val="FFFFFF"/>
                </a:solidFill>
                <a:latin typeface="Calibri"/>
                <a:ea typeface="Calibri"/>
                <a:cs typeface="Calibri"/>
                <a:sym typeface="Calibri"/>
              </a:rPr>
              <a:t>2</a:t>
            </a:r>
            <a:endParaRPr b="0" i="0" sz="1000" u="none" cap="none" strike="noStrike">
              <a:solidFill>
                <a:schemeClr val="dk1"/>
              </a:solidFill>
              <a:latin typeface="Calibri"/>
              <a:ea typeface="Calibri"/>
              <a:cs typeface="Calibri"/>
              <a:sym typeface="Calibri"/>
            </a:endParaRPr>
          </a:p>
        </p:txBody>
      </p:sp>
      <p:sp>
        <p:nvSpPr>
          <p:cNvPr id="2227" name="Google Shape;2227;p79"/>
          <p:cNvSpPr/>
          <p:nvPr/>
        </p:nvSpPr>
        <p:spPr>
          <a:xfrm>
            <a:off x="8430768" y="2736342"/>
            <a:ext cx="3145536"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D2A5C"/>
              </a:buClr>
              <a:buSzPts val="1150"/>
              <a:buFont typeface="Calibri"/>
              <a:buNone/>
            </a:pPr>
            <a:r>
              <a:rPr b="1" i="0" lang="en-US" sz="1150" u="none" cap="none" strike="noStrike">
                <a:solidFill>
                  <a:srgbClr val="1D2A5C"/>
                </a:solidFill>
                <a:latin typeface="Calibri"/>
                <a:ea typeface="Calibri"/>
                <a:cs typeface="Calibri"/>
                <a:sym typeface="Calibri"/>
              </a:rPr>
              <a:t>Majority-overlap rule</a:t>
            </a:r>
            <a:endParaRPr b="0" i="0" sz="1150" u="none" cap="none" strike="noStrike">
              <a:solidFill>
                <a:schemeClr val="dk1"/>
              </a:solidFill>
              <a:latin typeface="Calibri"/>
              <a:ea typeface="Calibri"/>
              <a:cs typeface="Calibri"/>
              <a:sym typeface="Calibri"/>
            </a:endParaRPr>
          </a:p>
        </p:txBody>
      </p:sp>
      <p:sp>
        <p:nvSpPr>
          <p:cNvPr id="2228" name="Google Shape;2228;p79"/>
          <p:cNvSpPr/>
          <p:nvPr/>
        </p:nvSpPr>
        <p:spPr>
          <a:xfrm>
            <a:off x="8430768" y="3010662"/>
            <a:ext cx="3145536" cy="688086"/>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5F6B7A"/>
              </a:buClr>
              <a:buSzPts val="1000"/>
              <a:buFont typeface="Calibri"/>
              <a:buNone/>
            </a:pPr>
            <a:r>
              <a:rPr b="0" i="0" lang="en-US" sz="1000" u="none" cap="none" strike="noStrike">
                <a:solidFill>
                  <a:srgbClr val="5F6B7A"/>
                </a:solidFill>
                <a:latin typeface="Calibri"/>
                <a:ea typeface="Calibri"/>
                <a:cs typeface="Calibri"/>
                <a:sym typeface="Calibri"/>
              </a:rPr>
              <a:t>A defect belongs to the fruit holding ≥ 50% of its pixels; ties logged</a:t>
            </a:r>
            <a:endParaRPr b="0" i="0" sz="1000" u="none" cap="none" strike="noStrike">
              <a:solidFill>
                <a:schemeClr val="dk1"/>
              </a:solidFill>
              <a:latin typeface="Calibri"/>
              <a:ea typeface="Calibri"/>
              <a:cs typeface="Calibri"/>
              <a:sym typeface="Calibri"/>
            </a:endParaRPr>
          </a:p>
        </p:txBody>
      </p:sp>
      <p:sp>
        <p:nvSpPr>
          <p:cNvPr id="2229" name="Google Shape;2229;p79"/>
          <p:cNvSpPr/>
          <p:nvPr/>
        </p:nvSpPr>
        <p:spPr>
          <a:xfrm>
            <a:off x="7973568" y="3973068"/>
            <a:ext cx="3712464" cy="1090422"/>
          </a:xfrm>
          <a:prstGeom prst="roundRect">
            <a:avLst>
              <a:gd fmla="val 5870" name="adj"/>
            </a:avLst>
          </a:prstGeom>
          <a:solidFill>
            <a:srgbClr val="F2F6F9"/>
          </a:solidFill>
          <a:ln cap="flat" cmpd="sng" w="12700">
            <a:solidFill>
              <a:srgbClr val="D9E2E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30" name="Google Shape;2230;p79"/>
          <p:cNvSpPr/>
          <p:nvPr/>
        </p:nvSpPr>
        <p:spPr>
          <a:xfrm>
            <a:off x="8101584" y="4091940"/>
            <a:ext cx="237744" cy="237744"/>
          </a:xfrm>
          <a:prstGeom prst="ellipse">
            <a:avLst/>
          </a:prstGeom>
          <a:solidFill>
            <a:srgbClr val="F5822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31" name="Google Shape;2231;p79"/>
          <p:cNvSpPr/>
          <p:nvPr/>
        </p:nvSpPr>
        <p:spPr>
          <a:xfrm>
            <a:off x="8101584" y="4091940"/>
            <a:ext cx="237744" cy="23774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000"/>
              <a:buFont typeface="Calibri"/>
              <a:buNone/>
            </a:pPr>
            <a:r>
              <a:rPr b="1" i="0" lang="en-US" sz="1000" u="none" cap="none" strike="noStrike">
                <a:solidFill>
                  <a:srgbClr val="FFFFFF"/>
                </a:solidFill>
                <a:latin typeface="Calibri"/>
                <a:ea typeface="Calibri"/>
                <a:cs typeface="Calibri"/>
                <a:sym typeface="Calibri"/>
              </a:rPr>
              <a:t>3</a:t>
            </a:r>
            <a:endParaRPr b="0" i="0" sz="1000" u="none" cap="none" strike="noStrike">
              <a:solidFill>
                <a:schemeClr val="dk1"/>
              </a:solidFill>
              <a:latin typeface="Calibri"/>
              <a:ea typeface="Calibri"/>
              <a:cs typeface="Calibri"/>
              <a:sym typeface="Calibri"/>
            </a:endParaRPr>
          </a:p>
        </p:txBody>
      </p:sp>
      <p:sp>
        <p:nvSpPr>
          <p:cNvPr id="2232" name="Google Shape;2232;p79"/>
          <p:cNvSpPr/>
          <p:nvPr/>
        </p:nvSpPr>
        <p:spPr>
          <a:xfrm>
            <a:off x="8430768" y="4027932"/>
            <a:ext cx="3145536"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D2A5C"/>
              </a:buClr>
              <a:buSzPts val="1150"/>
              <a:buFont typeface="Calibri"/>
              <a:buNone/>
            </a:pPr>
            <a:r>
              <a:rPr b="1" i="0" lang="en-US" sz="1150" u="none" cap="none" strike="noStrike">
                <a:solidFill>
                  <a:srgbClr val="1D2A5C"/>
                </a:solidFill>
                <a:latin typeface="Calibri"/>
                <a:ea typeface="Calibri"/>
                <a:cs typeface="Calibri"/>
                <a:sym typeface="Calibri"/>
              </a:rPr>
              <a:t>Ratios are scale-free</a:t>
            </a:r>
            <a:endParaRPr b="0" i="0" sz="1150" u="none" cap="none" strike="noStrike">
              <a:solidFill>
                <a:schemeClr val="dk1"/>
              </a:solidFill>
              <a:latin typeface="Calibri"/>
              <a:ea typeface="Calibri"/>
              <a:cs typeface="Calibri"/>
              <a:sym typeface="Calibri"/>
            </a:endParaRPr>
          </a:p>
        </p:txBody>
      </p:sp>
      <p:sp>
        <p:nvSpPr>
          <p:cNvPr id="2233" name="Google Shape;2233;p79"/>
          <p:cNvSpPr/>
          <p:nvPr/>
        </p:nvSpPr>
        <p:spPr>
          <a:xfrm>
            <a:off x="8430768" y="4302252"/>
            <a:ext cx="3145536" cy="688086"/>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5F6B7A"/>
              </a:buClr>
              <a:buSzPts val="1000"/>
              <a:buFont typeface="Calibri"/>
              <a:buNone/>
            </a:pPr>
            <a:r>
              <a:rPr b="0" i="0" lang="en-US" sz="1000" u="none" cap="none" strike="noStrike">
                <a:solidFill>
                  <a:srgbClr val="5F6B7A"/>
                </a:solidFill>
                <a:latin typeface="Calibri"/>
                <a:ea typeface="Calibri"/>
                <a:cs typeface="Calibri"/>
                <a:sym typeface="Calibri"/>
              </a:rPr>
              <a:t>No pixel-to-mm calibration — why the rule was negotiated as a percentage</a:t>
            </a:r>
            <a:endParaRPr b="0" i="0" sz="1000" u="none" cap="none" strike="noStrike">
              <a:solidFill>
                <a:schemeClr val="dk1"/>
              </a:solidFill>
              <a:latin typeface="Calibri"/>
              <a:ea typeface="Calibri"/>
              <a:cs typeface="Calibri"/>
              <a:sym typeface="Calibri"/>
            </a:endParaRPr>
          </a:p>
        </p:txBody>
      </p:sp>
      <p:sp>
        <p:nvSpPr>
          <p:cNvPr id="2234" name="Google Shape;2234;p79"/>
          <p:cNvSpPr/>
          <p:nvPr/>
        </p:nvSpPr>
        <p:spPr>
          <a:xfrm>
            <a:off x="7973568" y="5264658"/>
            <a:ext cx="3712464" cy="1090422"/>
          </a:xfrm>
          <a:prstGeom prst="roundRect">
            <a:avLst>
              <a:gd fmla="val 5870" name="adj"/>
            </a:avLst>
          </a:prstGeom>
          <a:solidFill>
            <a:srgbClr val="F2F6F9"/>
          </a:solidFill>
          <a:ln cap="flat" cmpd="sng" w="12700">
            <a:solidFill>
              <a:srgbClr val="D9E2E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35" name="Google Shape;2235;p79"/>
          <p:cNvSpPr/>
          <p:nvPr/>
        </p:nvSpPr>
        <p:spPr>
          <a:xfrm>
            <a:off x="8101584" y="5383530"/>
            <a:ext cx="237744" cy="237744"/>
          </a:xfrm>
          <a:prstGeom prst="ellipse">
            <a:avLst/>
          </a:prstGeom>
          <a:solidFill>
            <a:srgbClr val="8DC63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36" name="Google Shape;2236;p79"/>
          <p:cNvSpPr/>
          <p:nvPr/>
        </p:nvSpPr>
        <p:spPr>
          <a:xfrm>
            <a:off x="8101584" y="5383530"/>
            <a:ext cx="237744" cy="23774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000"/>
              <a:buFont typeface="Calibri"/>
              <a:buNone/>
            </a:pPr>
            <a:r>
              <a:rPr b="1" i="0" lang="en-US" sz="1000" u="none" cap="none" strike="noStrike">
                <a:solidFill>
                  <a:srgbClr val="FFFFFF"/>
                </a:solidFill>
                <a:latin typeface="Calibri"/>
                <a:ea typeface="Calibri"/>
                <a:cs typeface="Calibri"/>
                <a:sym typeface="Calibri"/>
              </a:rPr>
              <a:t>4</a:t>
            </a:r>
            <a:endParaRPr b="0" i="0" sz="1000" u="none" cap="none" strike="noStrike">
              <a:solidFill>
                <a:schemeClr val="dk1"/>
              </a:solidFill>
              <a:latin typeface="Calibri"/>
              <a:ea typeface="Calibri"/>
              <a:cs typeface="Calibri"/>
              <a:sym typeface="Calibri"/>
            </a:endParaRPr>
          </a:p>
        </p:txBody>
      </p:sp>
      <p:sp>
        <p:nvSpPr>
          <p:cNvPr id="2237" name="Google Shape;2237;p79"/>
          <p:cNvSpPr/>
          <p:nvPr/>
        </p:nvSpPr>
        <p:spPr>
          <a:xfrm>
            <a:off x="8430768" y="5319522"/>
            <a:ext cx="3145536"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D2A5C"/>
              </a:buClr>
              <a:buSzPts val="1150"/>
              <a:buFont typeface="Calibri"/>
              <a:buNone/>
            </a:pPr>
            <a:r>
              <a:rPr b="1" i="0" lang="en-US" sz="1150" u="none" cap="none" strike="noStrike">
                <a:solidFill>
                  <a:srgbClr val="1D2A5C"/>
                </a:solidFill>
                <a:latin typeface="Calibri"/>
                <a:ea typeface="Calibri"/>
                <a:cs typeface="Calibri"/>
                <a:sym typeface="Calibri"/>
              </a:rPr>
              <a:t>Threshold lives in config</a:t>
            </a:r>
            <a:endParaRPr b="0" i="0" sz="1150" u="none" cap="none" strike="noStrike">
              <a:solidFill>
                <a:schemeClr val="dk1"/>
              </a:solidFill>
              <a:latin typeface="Calibri"/>
              <a:ea typeface="Calibri"/>
              <a:cs typeface="Calibri"/>
              <a:sym typeface="Calibri"/>
            </a:endParaRPr>
          </a:p>
        </p:txBody>
      </p:sp>
      <p:sp>
        <p:nvSpPr>
          <p:cNvPr id="2238" name="Google Shape;2238;p79"/>
          <p:cNvSpPr/>
          <p:nvPr/>
        </p:nvSpPr>
        <p:spPr>
          <a:xfrm>
            <a:off x="8430768" y="5593842"/>
            <a:ext cx="3145536" cy="688086"/>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5F6B7A"/>
              </a:buClr>
              <a:buSzPts val="1000"/>
              <a:buFont typeface="Calibri"/>
              <a:buNone/>
            </a:pPr>
            <a:r>
              <a:rPr b="0" i="0" lang="en-US" sz="1000" u="none" cap="none" strike="noStrike">
                <a:solidFill>
                  <a:srgbClr val="5F6B7A"/>
                </a:solidFill>
                <a:latin typeface="Calibri"/>
                <a:ea typeface="Calibri"/>
                <a:cs typeface="Calibri"/>
                <a:sym typeface="Calibri"/>
              </a:rPr>
              <a:t>The 8% rule is applied downstream, never hard-coded in measure.py</a:t>
            </a:r>
            <a:endParaRPr b="0" i="0" sz="1000" u="none" cap="none" strike="noStrike">
              <a:solidFill>
                <a:schemeClr val="dk1"/>
              </a:solidFill>
              <a:latin typeface="Calibri"/>
              <a:ea typeface="Calibri"/>
              <a:cs typeface="Calibri"/>
              <a:sym typeface="Calibri"/>
            </a:endParaRPr>
          </a:p>
        </p:txBody>
      </p:sp>
    </p:spTree>
  </p:cSld>
  <p:clrMapOvr>
    <a:masterClrMapping/>
  </p:clrMapOvr>
</p:sld>
</file>

<file path=ppt/slides/slide8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243" name="Shape 2243"/>
        <p:cNvGrpSpPr/>
        <p:nvPr/>
      </p:nvGrpSpPr>
      <p:grpSpPr>
        <a:xfrm>
          <a:off x="0" y="0"/>
          <a:ext cx="0" cy="0"/>
          <a:chOff x="0" y="0"/>
          <a:chExt cx="0" cy="0"/>
        </a:xfrm>
      </p:grpSpPr>
      <p:sp>
        <p:nvSpPr>
          <p:cNvPr id="2244" name="Google Shape;2244;p80"/>
          <p:cNvSpPr/>
          <p:nvPr/>
        </p:nvSpPr>
        <p:spPr>
          <a:xfrm>
            <a:off x="502920" y="274320"/>
            <a:ext cx="9646920" cy="56692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D2A5C"/>
              </a:buClr>
              <a:buSzPts val="2700"/>
              <a:buFont typeface="Calibri"/>
              <a:buNone/>
            </a:pPr>
            <a:r>
              <a:rPr b="1" i="0" lang="en-US" sz="2700" u="none" cap="none" strike="noStrike">
                <a:solidFill>
                  <a:srgbClr val="1D2A5C"/>
                </a:solidFill>
                <a:latin typeface="Calibri"/>
                <a:ea typeface="Calibri"/>
                <a:cs typeface="Calibri"/>
                <a:sym typeface="Calibri"/>
              </a:rPr>
              <a:t>Lab 4 — Segment Surface Defects</a:t>
            </a:r>
            <a:endParaRPr b="0" i="0" sz="2700" u="none" cap="none" strike="noStrike">
              <a:solidFill>
                <a:schemeClr val="dk1"/>
              </a:solidFill>
              <a:latin typeface="Calibri"/>
              <a:ea typeface="Calibri"/>
              <a:cs typeface="Calibri"/>
              <a:sym typeface="Calibri"/>
            </a:endParaRPr>
          </a:p>
        </p:txBody>
      </p:sp>
      <p:sp>
        <p:nvSpPr>
          <p:cNvPr id="2245" name="Google Shape;2245;p80"/>
          <p:cNvSpPr/>
          <p:nvPr/>
        </p:nvSpPr>
        <p:spPr>
          <a:xfrm>
            <a:off x="502920" y="859536"/>
            <a:ext cx="9646920" cy="31089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F6B7A"/>
              </a:buClr>
              <a:buSzPts val="1250"/>
              <a:buFont typeface="Arial"/>
              <a:buNone/>
            </a:pPr>
            <a:r>
              <a:rPr b="0" i="0" lang="en-US" sz="1250" u="none" cap="none" strike="noStrike">
                <a:solidFill>
                  <a:srgbClr val="5F6B7A"/>
                </a:solidFill>
                <a:latin typeface="Arial"/>
                <a:ea typeface="Arial"/>
                <a:cs typeface="Arial"/>
                <a:sym typeface="Arial"/>
              </a:rPr>
              <a:t>المختبر 4 — تجزئة عيوب السطح</a:t>
            </a:r>
            <a:endParaRPr b="0" i="0" sz="1250" u="none" cap="none" strike="noStrike">
              <a:solidFill>
                <a:schemeClr val="dk1"/>
              </a:solidFill>
              <a:latin typeface="Calibri"/>
              <a:ea typeface="Calibri"/>
              <a:cs typeface="Calibri"/>
              <a:sym typeface="Calibri"/>
            </a:endParaRPr>
          </a:p>
        </p:txBody>
      </p:sp>
      <p:pic>
        <p:nvPicPr>
          <p:cNvPr descr="/sessions/blissful-determined-ritchie/build/assets/sdaia_logo.png" id="2246" name="Google Shape;2246;p80"/>
          <p:cNvPicPr preferRelativeResize="0"/>
          <p:nvPr/>
        </p:nvPicPr>
        <p:blipFill rotWithShape="1">
          <a:blip r:embed="rId3">
            <a:alphaModFix/>
          </a:blip>
          <a:srcRect b="0" l="0" r="0" t="0"/>
          <a:stretch/>
        </p:blipFill>
        <p:spPr>
          <a:xfrm>
            <a:off x="10625328" y="310896"/>
            <a:ext cx="1078992" cy="264111"/>
          </a:xfrm>
          <a:prstGeom prst="rect">
            <a:avLst/>
          </a:prstGeom>
          <a:noFill/>
          <a:ln>
            <a:noFill/>
          </a:ln>
        </p:spPr>
      </p:pic>
      <p:sp>
        <p:nvSpPr>
          <p:cNvPr id="2247" name="Google Shape;2247;p80"/>
          <p:cNvSpPr/>
          <p:nvPr/>
        </p:nvSpPr>
        <p:spPr>
          <a:xfrm>
            <a:off x="502920" y="6528816"/>
            <a:ext cx="8686800"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A79D"/>
              </a:buClr>
              <a:buSzPts val="800"/>
              <a:buFont typeface="Calibri"/>
              <a:buNone/>
            </a:pPr>
            <a:r>
              <a:rPr b="1" i="0" lang="en-US" sz="800" u="none" cap="none" strike="noStrike">
                <a:solidFill>
                  <a:srgbClr val="00A79D"/>
                </a:solidFill>
                <a:latin typeface="Calibri"/>
                <a:ea typeface="Calibri"/>
                <a:cs typeface="Calibri"/>
                <a:sym typeface="Calibri"/>
              </a:rPr>
              <a:t>MODULE 4 · LAB   </a:t>
            </a:r>
            <a:r>
              <a:rPr b="0" i="0" lang="en-US" sz="800" u="none" cap="none" strike="noStrike">
                <a:solidFill>
                  <a:srgbClr val="8A96A6"/>
                </a:solidFill>
                <a:latin typeface="Calibri"/>
                <a:ea typeface="Calibri"/>
                <a:cs typeface="Calibri"/>
                <a:sym typeface="Calibri"/>
              </a:rPr>
              <a:t>SDA-AIE-212 · Computer Vision Systems Development</a:t>
            </a:r>
            <a:endParaRPr b="0" i="0" sz="800" u="none" cap="none" strike="noStrike">
              <a:solidFill>
                <a:schemeClr val="dk1"/>
              </a:solidFill>
              <a:latin typeface="Calibri"/>
              <a:ea typeface="Calibri"/>
              <a:cs typeface="Calibri"/>
              <a:sym typeface="Calibri"/>
            </a:endParaRPr>
          </a:p>
        </p:txBody>
      </p:sp>
      <p:sp>
        <p:nvSpPr>
          <p:cNvPr id="2248" name="Google Shape;2248;p80"/>
          <p:cNvSpPr/>
          <p:nvPr/>
        </p:nvSpPr>
        <p:spPr>
          <a:xfrm>
            <a:off x="11292840" y="6528816"/>
            <a:ext cx="411480" cy="219456"/>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8A96A6"/>
              </a:buClr>
              <a:buSzPts val="900"/>
              <a:buFont typeface="Calibri"/>
              <a:buNone/>
            </a:pPr>
            <a:r>
              <a:rPr b="0" i="0" lang="en-US" sz="900" u="none" cap="none" strike="noStrike">
                <a:solidFill>
                  <a:srgbClr val="8A96A6"/>
                </a:solidFill>
                <a:latin typeface="Calibri"/>
                <a:ea typeface="Calibri"/>
                <a:cs typeface="Calibri"/>
                <a:sym typeface="Calibri"/>
              </a:rPr>
              <a:t>80</a:t>
            </a:r>
            <a:endParaRPr b="0" i="0" sz="900" u="none" cap="none" strike="noStrike">
              <a:solidFill>
                <a:schemeClr val="dk1"/>
              </a:solidFill>
              <a:latin typeface="Calibri"/>
              <a:ea typeface="Calibri"/>
              <a:cs typeface="Calibri"/>
              <a:sym typeface="Calibri"/>
            </a:endParaRPr>
          </a:p>
        </p:txBody>
      </p:sp>
      <p:sp>
        <p:nvSpPr>
          <p:cNvPr id="2249" name="Google Shape;2249;p80"/>
          <p:cNvSpPr/>
          <p:nvPr/>
        </p:nvSpPr>
        <p:spPr>
          <a:xfrm>
            <a:off x="502920" y="1389888"/>
            <a:ext cx="5806440" cy="932688"/>
          </a:xfrm>
          <a:prstGeom prst="roundRect">
            <a:avLst>
              <a:gd fmla="val 7843" name="adj"/>
            </a:avLst>
          </a:prstGeom>
          <a:solidFill>
            <a:srgbClr val="E9F6F5"/>
          </a:solidFill>
          <a:ln cap="flat" cmpd="sng" w="12700">
            <a:solidFill>
              <a:srgbClr val="00A79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50" name="Google Shape;2250;p80"/>
          <p:cNvSpPr/>
          <p:nvPr/>
        </p:nvSpPr>
        <p:spPr>
          <a:xfrm>
            <a:off x="649224" y="1463040"/>
            <a:ext cx="5532120"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A79D"/>
              </a:buClr>
              <a:buSzPts val="900"/>
              <a:buFont typeface="Calibri"/>
              <a:buNone/>
            </a:pPr>
            <a:r>
              <a:rPr b="1" i="0" lang="en-US" sz="900" u="none" cap="none" strike="noStrike">
                <a:solidFill>
                  <a:srgbClr val="00A79D"/>
                </a:solidFill>
                <a:latin typeface="Calibri"/>
                <a:ea typeface="Calibri"/>
                <a:cs typeface="Calibri"/>
                <a:sym typeface="Calibri"/>
              </a:rPr>
              <a:t>OBJECTIVE</a:t>
            </a:r>
            <a:endParaRPr b="0" i="0" sz="900" u="none" cap="none" strike="noStrike">
              <a:solidFill>
                <a:schemeClr val="dk1"/>
              </a:solidFill>
              <a:latin typeface="Calibri"/>
              <a:ea typeface="Calibri"/>
              <a:cs typeface="Calibri"/>
              <a:sym typeface="Calibri"/>
            </a:endParaRPr>
          </a:p>
        </p:txBody>
      </p:sp>
      <p:sp>
        <p:nvSpPr>
          <p:cNvPr id="2251" name="Google Shape;2251;p80"/>
          <p:cNvSpPr/>
          <p:nvPr/>
        </p:nvSpPr>
        <p:spPr>
          <a:xfrm>
            <a:off x="649224" y="1682496"/>
            <a:ext cx="5532120" cy="585216"/>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23293B"/>
              </a:buClr>
              <a:buSzPts val="1050"/>
              <a:buFont typeface="Calibri"/>
              <a:buNone/>
            </a:pPr>
            <a:r>
              <a:rPr b="0" i="0" lang="en-US" sz="1050" u="none" cap="none" strike="noStrike">
                <a:solidFill>
                  <a:srgbClr val="23293B"/>
                </a:solidFill>
                <a:latin typeface="Calibri"/>
                <a:ea typeface="Calibri"/>
                <a:cs typeface="Calibri"/>
                <a:sym typeface="Calibri"/>
              </a:rPr>
              <a:t>Train YOLO11s-seg on the polygon set, reach mask mAP@0.5 ≥ 0.80, and produce a per-fruit area report with quantified error</a:t>
            </a:r>
            <a:endParaRPr b="0" i="0" sz="1050" u="none" cap="none" strike="noStrike">
              <a:solidFill>
                <a:schemeClr val="dk1"/>
              </a:solidFill>
              <a:latin typeface="Calibri"/>
              <a:ea typeface="Calibri"/>
              <a:cs typeface="Calibri"/>
              <a:sym typeface="Calibri"/>
            </a:endParaRPr>
          </a:p>
        </p:txBody>
      </p:sp>
      <p:sp>
        <p:nvSpPr>
          <p:cNvPr id="2252" name="Google Shape;2252;p80"/>
          <p:cNvSpPr/>
          <p:nvPr/>
        </p:nvSpPr>
        <p:spPr>
          <a:xfrm>
            <a:off x="6510528" y="1389888"/>
            <a:ext cx="1600200" cy="932688"/>
          </a:xfrm>
          <a:prstGeom prst="roundRect">
            <a:avLst>
              <a:gd fmla="val 7843" name="adj"/>
            </a:avLst>
          </a:prstGeom>
          <a:solidFill>
            <a:srgbClr val="F2F6F9"/>
          </a:solidFill>
          <a:ln cap="flat" cmpd="sng" w="12700">
            <a:solidFill>
              <a:srgbClr val="D9E2E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53" name="Google Shape;2253;p80"/>
          <p:cNvSpPr/>
          <p:nvPr/>
        </p:nvSpPr>
        <p:spPr>
          <a:xfrm>
            <a:off x="6656832" y="1463040"/>
            <a:ext cx="1325880"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A79D"/>
              </a:buClr>
              <a:buSzPts val="900"/>
              <a:buFont typeface="Calibri"/>
              <a:buNone/>
            </a:pPr>
            <a:r>
              <a:rPr b="1" i="0" lang="en-US" sz="900" u="none" cap="none" strike="noStrike">
                <a:solidFill>
                  <a:srgbClr val="00A79D"/>
                </a:solidFill>
                <a:latin typeface="Calibri"/>
                <a:ea typeface="Calibri"/>
                <a:cs typeface="Calibri"/>
                <a:sym typeface="Calibri"/>
              </a:rPr>
              <a:t>DURATION</a:t>
            </a:r>
            <a:endParaRPr b="0" i="0" sz="900" u="none" cap="none" strike="noStrike">
              <a:solidFill>
                <a:schemeClr val="dk1"/>
              </a:solidFill>
              <a:latin typeface="Calibri"/>
              <a:ea typeface="Calibri"/>
              <a:cs typeface="Calibri"/>
              <a:sym typeface="Calibri"/>
            </a:endParaRPr>
          </a:p>
        </p:txBody>
      </p:sp>
      <p:sp>
        <p:nvSpPr>
          <p:cNvPr id="2254" name="Google Shape;2254;p80"/>
          <p:cNvSpPr/>
          <p:nvPr/>
        </p:nvSpPr>
        <p:spPr>
          <a:xfrm>
            <a:off x="6656832" y="1682496"/>
            <a:ext cx="1325880" cy="585216"/>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23293B"/>
              </a:buClr>
              <a:buSzPts val="1050"/>
              <a:buFont typeface="Calibri"/>
              <a:buNone/>
            </a:pPr>
            <a:r>
              <a:rPr b="0" i="0" lang="en-US" sz="1050" u="none" cap="none" strike="noStrike">
                <a:solidFill>
                  <a:srgbClr val="23293B"/>
                </a:solidFill>
                <a:latin typeface="Calibri"/>
                <a:ea typeface="Calibri"/>
                <a:cs typeface="Calibri"/>
                <a:sym typeface="Calibri"/>
              </a:rPr>
              <a:t>50 minutes</a:t>
            </a:r>
            <a:endParaRPr b="0" i="0" sz="1050" u="none" cap="none" strike="noStrike">
              <a:solidFill>
                <a:schemeClr val="dk1"/>
              </a:solidFill>
              <a:latin typeface="Calibri"/>
              <a:ea typeface="Calibri"/>
              <a:cs typeface="Calibri"/>
              <a:sym typeface="Calibri"/>
            </a:endParaRPr>
          </a:p>
        </p:txBody>
      </p:sp>
      <p:sp>
        <p:nvSpPr>
          <p:cNvPr id="2255" name="Google Shape;2255;p80"/>
          <p:cNvSpPr/>
          <p:nvPr/>
        </p:nvSpPr>
        <p:spPr>
          <a:xfrm>
            <a:off x="8311896" y="1389888"/>
            <a:ext cx="3383280" cy="932688"/>
          </a:xfrm>
          <a:prstGeom prst="roundRect">
            <a:avLst>
              <a:gd fmla="val 7843" name="adj"/>
            </a:avLst>
          </a:prstGeom>
          <a:solidFill>
            <a:srgbClr val="F2F6F9"/>
          </a:solidFill>
          <a:ln cap="flat" cmpd="sng" w="12700">
            <a:solidFill>
              <a:srgbClr val="D9E2E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56" name="Google Shape;2256;p80"/>
          <p:cNvSpPr/>
          <p:nvPr/>
        </p:nvSpPr>
        <p:spPr>
          <a:xfrm>
            <a:off x="8458200" y="1463040"/>
            <a:ext cx="3108960"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A79D"/>
              </a:buClr>
              <a:buSzPts val="900"/>
              <a:buFont typeface="Calibri"/>
              <a:buNone/>
            </a:pPr>
            <a:r>
              <a:rPr b="1" i="0" lang="en-US" sz="900" u="none" cap="none" strike="noStrike">
                <a:solidFill>
                  <a:srgbClr val="00A79D"/>
                </a:solidFill>
                <a:latin typeface="Calibri"/>
                <a:ea typeface="Calibri"/>
                <a:cs typeface="Calibri"/>
                <a:sym typeface="Calibri"/>
              </a:rPr>
              <a:t>SETUP</a:t>
            </a:r>
            <a:endParaRPr b="0" i="0" sz="900" u="none" cap="none" strike="noStrike">
              <a:solidFill>
                <a:schemeClr val="dk1"/>
              </a:solidFill>
              <a:latin typeface="Calibri"/>
              <a:ea typeface="Calibri"/>
              <a:cs typeface="Calibri"/>
              <a:sym typeface="Calibri"/>
            </a:endParaRPr>
          </a:p>
        </p:txBody>
      </p:sp>
      <p:sp>
        <p:nvSpPr>
          <p:cNvPr id="2257" name="Google Shape;2257;p80"/>
          <p:cNvSpPr/>
          <p:nvPr/>
        </p:nvSpPr>
        <p:spPr>
          <a:xfrm>
            <a:off x="8458200" y="1682496"/>
            <a:ext cx="3108960" cy="585216"/>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23293B"/>
              </a:buClr>
              <a:buSzPts val="1050"/>
              <a:buFont typeface="Calibri"/>
              <a:buNone/>
            </a:pPr>
            <a:r>
              <a:rPr b="0" i="0" lang="en-US" sz="1050" u="none" cap="none" strike="noStrike">
                <a:solidFill>
                  <a:srgbClr val="23293B"/>
                </a:solidFill>
                <a:latin typeface="Calibri"/>
                <a:ea typeface="Calibri"/>
                <a:cs typeface="Calibri"/>
                <a:sym typeface="Calibri"/>
              </a:rPr>
              <a:t>git checkout lab4-start; dates-seg extracted; GPU (CPU: lab4-best.pt)</a:t>
            </a:r>
            <a:endParaRPr b="0" i="0" sz="1050" u="none" cap="none" strike="noStrike">
              <a:solidFill>
                <a:schemeClr val="dk1"/>
              </a:solidFill>
              <a:latin typeface="Calibri"/>
              <a:ea typeface="Calibri"/>
              <a:cs typeface="Calibri"/>
              <a:sym typeface="Calibri"/>
            </a:endParaRPr>
          </a:p>
        </p:txBody>
      </p:sp>
      <p:sp>
        <p:nvSpPr>
          <p:cNvPr id="2258" name="Google Shape;2258;p80"/>
          <p:cNvSpPr/>
          <p:nvPr/>
        </p:nvSpPr>
        <p:spPr>
          <a:xfrm>
            <a:off x="502920" y="2661666"/>
            <a:ext cx="274320" cy="274320"/>
          </a:xfrm>
          <a:prstGeom prst="ellipse">
            <a:avLst/>
          </a:prstGeom>
          <a:solidFill>
            <a:srgbClr val="1D2A5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59" name="Google Shape;2259;p80"/>
          <p:cNvSpPr/>
          <p:nvPr/>
        </p:nvSpPr>
        <p:spPr>
          <a:xfrm>
            <a:off x="502920" y="2661666"/>
            <a:ext cx="274320" cy="2743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100"/>
              <a:buFont typeface="Calibri"/>
              <a:buNone/>
            </a:pPr>
            <a:r>
              <a:rPr b="1" i="0" lang="en-US" sz="1100" u="none" cap="none" strike="noStrike">
                <a:solidFill>
                  <a:srgbClr val="FFFFFF"/>
                </a:solidFill>
                <a:latin typeface="Calibri"/>
                <a:ea typeface="Calibri"/>
                <a:cs typeface="Calibri"/>
                <a:sym typeface="Calibri"/>
              </a:rPr>
              <a:t>1</a:t>
            </a:r>
            <a:endParaRPr b="0" i="0" sz="1100" u="none" cap="none" strike="noStrike">
              <a:solidFill>
                <a:schemeClr val="dk1"/>
              </a:solidFill>
              <a:latin typeface="Calibri"/>
              <a:ea typeface="Calibri"/>
              <a:cs typeface="Calibri"/>
              <a:sym typeface="Calibri"/>
            </a:endParaRPr>
          </a:p>
        </p:txBody>
      </p:sp>
      <p:sp>
        <p:nvSpPr>
          <p:cNvPr id="2260" name="Google Shape;2260;p80"/>
          <p:cNvSpPr/>
          <p:nvPr/>
        </p:nvSpPr>
        <p:spPr>
          <a:xfrm>
            <a:off x="886968" y="2661666"/>
            <a:ext cx="658368" cy="274320"/>
          </a:xfrm>
          <a:prstGeom prst="roundRect">
            <a:avLst>
              <a:gd fmla="val 50000" name="adj"/>
            </a:avLst>
          </a:prstGeom>
          <a:solidFill>
            <a:srgbClr val="E9F6F5"/>
          </a:solidFill>
          <a:ln cap="flat" cmpd="sng" w="9525">
            <a:solidFill>
              <a:srgbClr val="00A79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61" name="Google Shape;2261;p80"/>
          <p:cNvSpPr/>
          <p:nvPr/>
        </p:nvSpPr>
        <p:spPr>
          <a:xfrm>
            <a:off x="886968" y="2661666"/>
            <a:ext cx="658368" cy="2743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56A63"/>
              </a:buClr>
              <a:buSzPts val="900"/>
              <a:buFont typeface="Calibri"/>
              <a:buNone/>
            </a:pPr>
            <a:r>
              <a:rPr b="1" i="0" lang="en-US" sz="900" u="none" cap="none" strike="noStrike">
                <a:solidFill>
                  <a:srgbClr val="056A63"/>
                </a:solidFill>
                <a:latin typeface="Calibri"/>
                <a:ea typeface="Calibri"/>
                <a:cs typeface="Calibri"/>
                <a:sym typeface="Calibri"/>
              </a:rPr>
              <a:t>5 min</a:t>
            </a:r>
            <a:endParaRPr b="0" i="0" sz="900" u="none" cap="none" strike="noStrike">
              <a:solidFill>
                <a:schemeClr val="dk1"/>
              </a:solidFill>
              <a:latin typeface="Calibri"/>
              <a:ea typeface="Calibri"/>
              <a:cs typeface="Calibri"/>
              <a:sym typeface="Calibri"/>
            </a:endParaRPr>
          </a:p>
        </p:txBody>
      </p:sp>
      <p:sp>
        <p:nvSpPr>
          <p:cNvPr id="2262" name="Google Shape;2262;p80"/>
          <p:cNvSpPr/>
          <p:nvPr/>
        </p:nvSpPr>
        <p:spPr>
          <a:xfrm>
            <a:off x="1673352" y="2523744"/>
            <a:ext cx="5733288" cy="5867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3293B"/>
              </a:buClr>
              <a:buSzPts val="1150"/>
              <a:buFont typeface="Calibri"/>
              <a:buNone/>
            </a:pPr>
            <a:r>
              <a:rPr b="0" i="0" lang="en-US" sz="1150" u="none" cap="none" strike="noStrike">
                <a:solidFill>
                  <a:srgbClr val="23293B"/>
                </a:solidFill>
                <a:latin typeface="Calibri"/>
                <a:ea typeface="Calibri"/>
                <a:cs typeface="Calibri"/>
                <a:sym typeface="Calibri"/>
              </a:rPr>
              <a:t>Inspect 3 annotated frames; find the mask-holes rule in ANNOTATION_SPEC.md §4</a:t>
            </a:r>
            <a:endParaRPr b="0" i="0" sz="1150" u="none" cap="none" strike="noStrike">
              <a:solidFill>
                <a:schemeClr val="dk1"/>
              </a:solidFill>
              <a:latin typeface="Calibri"/>
              <a:ea typeface="Calibri"/>
              <a:cs typeface="Calibri"/>
              <a:sym typeface="Calibri"/>
            </a:endParaRPr>
          </a:p>
        </p:txBody>
      </p:sp>
      <p:sp>
        <p:nvSpPr>
          <p:cNvPr id="2263" name="Google Shape;2263;p80"/>
          <p:cNvSpPr/>
          <p:nvPr/>
        </p:nvSpPr>
        <p:spPr>
          <a:xfrm>
            <a:off x="502920" y="3303270"/>
            <a:ext cx="274320" cy="274320"/>
          </a:xfrm>
          <a:prstGeom prst="ellipse">
            <a:avLst/>
          </a:prstGeom>
          <a:solidFill>
            <a:srgbClr val="1D2A5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64" name="Google Shape;2264;p80"/>
          <p:cNvSpPr/>
          <p:nvPr/>
        </p:nvSpPr>
        <p:spPr>
          <a:xfrm>
            <a:off x="502920" y="3303270"/>
            <a:ext cx="274320" cy="2743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100"/>
              <a:buFont typeface="Calibri"/>
              <a:buNone/>
            </a:pPr>
            <a:r>
              <a:rPr b="1" i="0" lang="en-US" sz="1100" u="none" cap="none" strike="noStrike">
                <a:solidFill>
                  <a:srgbClr val="FFFFFF"/>
                </a:solidFill>
                <a:latin typeface="Calibri"/>
                <a:ea typeface="Calibri"/>
                <a:cs typeface="Calibri"/>
                <a:sym typeface="Calibri"/>
              </a:rPr>
              <a:t>2</a:t>
            </a:r>
            <a:endParaRPr b="0" i="0" sz="1100" u="none" cap="none" strike="noStrike">
              <a:solidFill>
                <a:schemeClr val="dk1"/>
              </a:solidFill>
              <a:latin typeface="Calibri"/>
              <a:ea typeface="Calibri"/>
              <a:cs typeface="Calibri"/>
              <a:sym typeface="Calibri"/>
            </a:endParaRPr>
          </a:p>
        </p:txBody>
      </p:sp>
      <p:sp>
        <p:nvSpPr>
          <p:cNvPr id="2265" name="Google Shape;2265;p80"/>
          <p:cNvSpPr/>
          <p:nvPr/>
        </p:nvSpPr>
        <p:spPr>
          <a:xfrm>
            <a:off x="886968" y="3303270"/>
            <a:ext cx="658368" cy="274320"/>
          </a:xfrm>
          <a:prstGeom prst="roundRect">
            <a:avLst>
              <a:gd fmla="val 50000" name="adj"/>
            </a:avLst>
          </a:prstGeom>
          <a:solidFill>
            <a:srgbClr val="E9F6F5"/>
          </a:solidFill>
          <a:ln cap="flat" cmpd="sng" w="9525">
            <a:solidFill>
              <a:srgbClr val="00A79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66" name="Google Shape;2266;p80"/>
          <p:cNvSpPr/>
          <p:nvPr/>
        </p:nvSpPr>
        <p:spPr>
          <a:xfrm>
            <a:off x="886968" y="3303270"/>
            <a:ext cx="658368" cy="2743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56A63"/>
              </a:buClr>
              <a:buSzPts val="900"/>
              <a:buFont typeface="Calibri"/>
              <a:buNone/>
            </a:pPr>
            <a:r>
              <a:rPr b="1" i="0" lang="en-US" sz="900" u="none" cap="none" strike="noStrike">
                <a:solidFill>
                  <a:srgbClr val="056A63"/>
                </a:solidFill>
                <a:latin typeface="Calibri"/>
                <a:ea typeface="Calibri"/>
                <a:cs typeface="Calibri"/>
                <a:sym typeface="Calibri"/>
              </a:rPr>
              <a:t>15 min</a:t>
            </a:r>
            <a:endParaRPr b="0" i="0" sz="900" u="none" cap="none" strike="noStrike">
              <a:solidFill>
                <a:schemeClr val="dk1"/>
              </a:solidFill>
              <a:latin typeface="Calibri"/>
              <a:ea typeface="Calibri"/>
              <a:cs typeface="Calibri"/>
              <a:sym typeface="Calibri"/>
            </a:endParaRPr>
          </a:p>
        </p:txBody>
      </p:sp>
      <p:sp>
        <p:nvSpPr>
          <p:cNvPr id="2267" name="Google Shape;2267;p80"/>
          <p:cNvSpPr/>
          <p:nvPr/>
        </p:nvSpPr>
        <p:spPr>
          <a:xfrm>
            <a:off x="1673352" y="3165348"/>
            <a:ext cx="5733288" cy="5867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3293B"/>
              </a:buClr>
              <a:buSzPts val="1150"/>
              <a:buFont typeface="Calibri"/>
              <a:buNone/>
            </a:pPr>
            <a:r>
              <a:rPr b="0" i="0" lang="en-US" sz="1150" u="none" cap="none" strike="noStrike">
                <a:solidFill>
                  <a:srgbClr val="23293B"/>
                </a:solidFill>
                <a:latin typeface="Calibri"/>
                <a:ea typeface="Calibri"/>
                <a:cs typeface="Calibri"/>
                <a:sym typeface="Calibri"/>
              </a:rPr>
              <a:t>Train per train_segmenter.py; hand-compute IoU on the 8×8 toy masks meanwhile</a:t>
            </a:r>
            <a:endParaRPr b="0" i="0" sz="1150" u="none" cap="none" strike="noStrike">
              <a:solidFill>
                <a:schemeClr val="dk1"/>
              </a:solidFill>
              <a:latin typeface="Calibri"/>
              <a:ea typeface="Calibri"/>
              <a:cs typeface="Calibri"/>
              <a:sym typeface="Calibri"/>
            </a:endParaRPr>
          </a:p>
        </p:txBody>
      </p:sp>
      <p:sp>
        <p:nvSpPr>
          <p:cNvPr id="2268" name="Google Shape;2268;p80"/>
          <p:cNvSpPr/>
          <p:nvPr/>
        </p:nvSpPr>
        <p:spPr>
          <a:xfrm>
            <a:off x="502920" y="3944874"/>
            <a:ext cx="274320" cy="274320"/>
          </a:xfrm>
          <a:prstGeom prst="ellipse">
            <a:avLst/>
          </a:prstGeom>
          <a:solidFill>
            <a:srgbClr val="1D2A5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69" name="Google Shape;2269;p80"/>
          <p:cNvSpPr/>
          <p:nvPr/>
        </p:nvSpPr>
        <p:spPr>
          <a:xfrm>
            <a:off x="502920" y="3944874"/>
            <a:ext cx="274320" cy="2743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100"/>
              <a:buFont typeface="Calibri"/>
              <a:buNone/>
            </a:pPr>
            <a:r>
              <a:rPr b="1" i="0" lang="en-US" sz="1100" u="none" cap="none" strike="noStrike">
                <a:solidFill>
                  <a:srgbClr val="FFFFFF"/>
                </a:solidFill>
                <a:latin typeface="Calibri"/>
                <a:ea typeface="Calibri"/>
                <a:cs typeface="Calibri"/>
                <a:sym typeface="Calibri"/>
              </a:rPr>
              <a:t>3</a:t>
            </a:r>
            <a:endParaRPr b="0" i="0" sz="1100" u="none" cap="none" strike="noStrike">
              <a:solidFill>
                <a:schemeClr val="dk1"/>
              </a:solidFill>
              <a:latin typeface="Calibri"/>
              <a:ea typeface="Calibri"/>
              <a:cs typeface="Calibri"/>
              <a:sym typeface="Calibri"/>
            </a:endParaRPr>
          </a:p>
        </p:txBody>
      </p:sp>
      <p:sp>
        <p:nvSpPr>
          <p:cNvPr id="2270" name="Google Shape;2270;p80"/>
          <p:cNvSpPr/>
          <p:nvPr/>
        </p:nvSpPr>
        <p:spPr>
          <a:xfrm>
            <a:off x="886968" y="3944874"/>
            <a:ext cx="658368" cy="274320"/>
          </a:xfrm>
          <a:prstGeom prst="roundRect">
            <a:avLst>
              <a:gd fmla="val 50000" name="adj"/>
            </a:avLst>
          </a:prstGeom>
          <a:solidFill>
            <a:srgbClr val="E9F6F5"/>
          </a:solidFill>
          <a:ln cap="flat" cmpd="sng" w="9525">
            <a:solidFill>
              <a:srgbClr val="00A79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71" name="Google Shape;2271;p80"/>
          <p:cNvSpPr/>
          <p:nvPr/>
        </p:nvSpPr>
        <p:spPr>
          <a:xfrm>
            <a:off x="886968" y="3944874"/>
            <a:ext cx="658368" cy="2743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56A63"/>
              </a:buClr>
              <a:buSzPts val="900"/>
              <a:buFont typeface="Calibri"/>
              <a:buNone/>
            </a:pPr>
            <a:r>
              <a:rPr b="1" i="0" lang="en-US" sz="900" u="none" cap="none" strike="noStrike">
                <a:solidFill>
                  <a:srgbClr val="056A63"/>
                </a:solidFill>
                <a:latin typeface="Calibri"/>
                <a:ea typeface="Calibri"/>
                <a:cs typeface="Calibri"/>
                <a:sym typeface="Calibri"/>
              </a:rPr>
              <a:t>8 min</a:t>
            </a:r>
            <a:endParaRPr b="0" i="0" sz="900" u="none" cap="none" strike="noStrike">
              <a:solidFill>
                <a:schemeClr val="dk1"/>
              </a:solidFill>
              <a:latin typeface="Calibri"/>
              <a:ea typeface="Calibri"/>
              <a:cs typeface="Calibri"/>
              <a:sym typeface="Calibri"/>
            </a:endParaRPr>
          </a:p>
        </p:txBody>
      </p:sp>
      <p:sp>
        <p:nvSpPr>
          <p:cNvPr id="2272" name="Google Shape;2272;p80"/>
          <p:cNvSpPr/>
          <p:nvPr/>
        </p:nvSpPr>
        <p:spPr>
          <a:xfrm>
            <a:off x="1673352" y="3806952"/>
            <a:ext cx="5733288" cy="5867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3293B"/>
              </a:buClr>
              <a:buSzPts val="1150"/>
              <a:buFont typeface="Calibri"/>
              <a:buNone/>
            </a:pPr>
            <a:r>
              <a:rPr b="0" i="0" lang="en-US" sz="1150" u="none" cap="none" strike="noStrike">
                <a:solidFill>
                  <a:srgbClr val="23293B"/>
                </a:solidFill>
                <a:latin typeface="Calibri"/>
                <a:ea typeface="Calibri"/>
                <a:cs typeface="Calibri"/>
                <a:sym typeface="Calibri"/>
              </a:rPr>
              <a:t>Validate: record box AND mask mAP@0.5 per class; explain the biggest gap</a:t>
            </a:r>
            <a:endParaRPr b="0" i="0" sz="1150" u="none" cap="none" strike="noStrike">
              <a:solidFill>
                <a:schemeClr val="dk1"/>
              </a:solidFill>
              <a:latin typeface="Calibri"/>
              <a:ea typeface="Calibri"/>
              <a:cs typeface="Calibri"/>
              <a:sym typeface="Calibri"/>
            </a:endParaRPr>
          </a:p>
        </p:txBody>
      </p:sp>
      <p:sp>
        <p:nvSpPr>
          <p:cNvPr id="2273" name="Google Shape;2273;p80"/>
          <p:cNvSpPr/>
          <p:nvPr/>
        </p:nvSpPr>
        <p:spPr>
          <a:xfrm>
            <a:off x="502920" y="4586478"/>
            <a:ext cx="274320" cy="274320"/>
          </a:xfrm>
          <a:prstGeom prst="ellipse">
            <a:avLst/>
          </a:prstGeom>
          <a:solidFill>
            <a:srgbClr val="1D2A5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74" name="Google Shape;2274;p80"/>
          <p:cNvSpPr/>
          <p:nvPr/>
        </p:nvSpPr>
        <p:spPr>
          <a:xfrm>
            <a:off x="502920" y="4586478"/>
            <a:ext cx="274320" cy="2743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100"/>
              <a:buFont typeface="Calibri"/>
              <a:buNone/>
            </a:pPr>
            <a:r>
              <a:rPr b="1" i="0" lang="en-US" sz="1100" u="none" cap="none" strike="noStrike">
                <a:solidFill>
                  <a:srgbClr val="FFFFFF"/>
                </a:solidFill>
                <a:latin typeface="Calibri"/>
                <a:ea typeface="Calibri"/>
                <a:cs typeface="Calibri"/>
                <a:sym typeface="Calibri"/>
              </a:rPr>
              <a:t>4</a:t>
            </a:r>
            <a:endParaRPr b="0" i="0" sz="1100" u="none" cap="none" strike="noStrike">
              <a:solidFill>
                <a:schemeClr val="dk1"/>
              </a:solidFill>
              <a:latin typeface="Calibri"/>
              <a:ea typeface="Calibri"/>
              <a:cs typeface="Calibri"/>
              <a:sym typeface="Calibri"/>
            </a:endParaRPr>
          </a:p>
        </p:txBody>
      </p:sp>
      <p:sp>
        <p:nvSpPr>
          <p:cNvPr id="2275" name="Google Shape;2275;p80"/>
          <p:cNvSpPr/>
          <p:nvPr/>
        </p:nvSpPr>
        <p:spPr>
          <a:xfrm>
            <a:off x="886968" y="4586478"/>
            <a:ext cx="658368" cy="274320"/>
          </a:xfrm>
          <a:prstGeom prst="roundRect">
            <a:avLst>
              <a:gd fmla="val 50000" name="adj"/>
            </a:avLst>
          </a:prstGeom>
          <a:solidFill>
            <a:srgbClr val="E9F6F5"/>
          </a:solidFill>
          <a:ln cap="flat" cmpd="sng" w="9525">
            <a:solidFill>
              <a:srgbClr val="00A79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76" name="Google Shape;2276;p80"/>
          <p:cNvSpPr/>
          <p:nvPr/>
        </p:nvSpPr>
        <p:spPr>
          <a:xfrm>
            <a:off x="886968" y="4586478"/>
            <a:ext cx="658368" cy="2743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56A63"/>
              </a:buClr>
              <a:buSzPts val="900"/>
              <a:buFont typeface="Calibri"/>
              <a:buNone/>
            </a:pPr>
            <a:r>
              <a:rPr b="1" i="0" lang="en-US" sz="900" u="none" cap="none" strike="noStrike">
                <a:solidFill>
                  <a:srgbClr val="056A63"/>
                </a:solidFill>
                <a:latin typeface="Calibri"/>
                <a:ea typeface="Calibri"/>
                <a:cs typeface="Calibri"/>
                <a:sym typeface="Calibri"/>
              </a:rPr>
              <a:t>12 min</a:t>
            </a:r>
            <a:endParaRPr b="0" i="0" sz="900" u="none" cap="none" strike="noStrike">
              <a:solidFill>
                <a:schemeClr val="dk1"/>
              </a:solidFill>
              <a:latin typeface="Calibri"/>
              <a:ea typeface="Calibri"/>
              <a:cs typeface="Calibri"/>
              <a:sym typeface="Calibri"/>
            </a:endParaRPr>
          </a:p>
        </p:txBody>
      </p:sp>
      <p:sp>
        <p:nvSpPr>
          <p:cNvPr id="2277" name="Google Shape;2277;p80"/>
          <p:cNvSpPr/>
          <p:nvPr/>
        </p:nvSpPr>
        <p:spPr>
          <a:xfrm>
            <a:off x="1673352" y="4448556"/>
            <a:ext cx="5733288" cy="5867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3293B"/>
              </a:buClr>
              <a:buSzPts val="1150"/>
              <a:buFont typeface="Calibri"/>
              <a:buNone/>
            </a:pPr>
            <a:r>
              <a:rPr b="0" i="0" lang="en-US" sz="1150" u="none" cap="none" strike="noStrike">
                <a:solidFill>
                  <a:srgbClr val="23293B"/>
                </a:solidFill>
                <a:latin typeface="Calibri"/>
                <a:ea typeface="Calibri"/>
                <a:cs typeface="Calibri"/>
                <a:sym typeface="Calibri"/>
              </a:rPr>
              <a:t>Implement majority-overlap in measure.py; record MAE + grading-disagreement rate</a:t>
            </a:r>
            <a:endParaRPr b="0" i="0" sz="1150" u="none" cap="none" strike="noStrike">
              <a:solidFill>
                <a:schemeClr val="dk1"/>
              </a:solidFill>
              <a:latin typeface="Calibri"/>
              <a:ea typeface="Calibri"/>
              <a:cs typeface="Calibri"/>
              <a:sym typeface="Calibri"/>
            </a:endParaRPr>
          </a:p>
        </p:txBody>
      </p:sp>
      <p:sp>
        <p:nvSpPr>
          <p:cNvPr id="2278" name="Google Shape;2278;p80"/>
          <p:cNvSpPr/>
          <p:nvPr/>
        </p:nvSpPr>
        <p:spPr>
          <a:xfrm>
            <a:off x="502920" y="5228082"/>
            <a:ext cx="274320" cy="274320"/>
          </a:xfrm>
          <a:prstGeom prst="ellipse">
            <a:avLst/>
          </a:prstGeom>
          <a:solidFill>
            <a:srgbClr val="1D2A5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79" name="Google Shape;2279;p80"/>
          <p:cNvSpPr/>
          <p:nvPr/>
        </p:nvSpPr>
        <p:spPr>
          <a:xfrm>
            <a:off x="502920" y="5228082"/>
            <a:ext cx="274320" cy="2743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100"/>
              <a:buFont typeface="Calibri"/>
              <a:buNone/>
            </a:pPr>
            <a:r>
              <a:rPr b="1" i="0" lang="en-US" sz="1100" u="none" cap="none" strike="noStrike">
                <a:solidFill>
                  <a:srgbClr val="FFFFFF"/>
                </a:solidFill>
                <a:latin typeface="Calibri"/>
                <a:ea typeface="Calibri"/>
                <a:cs typeface="Calibri"/>
                <a:sym typeface="Calibri"/>
              </a:rPr>
              <a:t>5</a:t>
            </a:r>
            <a:endParaRPr b="0" i="0" sz="1100" u="none" cap="none" strike="noStrike">
              <a:solidFill>
                <a:schemeClr val="dk1"/>
              </a:solidFill>
              <a:latin typeface="Calibri"/>
              <a:ea typeface="Calibri"/>
              <a:cs typeface="Calibri"/>
              <a:sym typeface="Calibri"/>
            </a:endParaRPr>
          </a:p>
        </p:txBody>
      </p:sp>
      <p:sp>
        <p:nvSpPr>
          <p:cNvPr id="2280" name="Google Shape;2280;p80"/>
          <p:cNvSpPr/>
          <p:nvPr/>
        </p:nvSpPr>
        <p:spPr>
          <a:xfrm>
            <a:off x="886968" y="5228082"/>
            <a:ext cx="658368" cy="274320"/>
          </a:xfrm>
          <a:prstGeom prst="roundRect">
            <a:avLst>
              <a:gd fmla="val 50000" name="adj"/>
            </a:avLst>
          </a:prstGeom>
          <a:solidFill>
            <a:srgbClr val="E9F6F5"/>
          </a:solidFill>
          <a:ln cap="flat" cmpd="sng" w="9525">
            <a:solidFill>
              <a:srgbClr val="00A79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81" name="Google Shape;2281;p80"/>
          <p:cNvSpPr/>
          <p:nvPr/>
        </p:nvSpPr>
        <p:spPr>
          <a:xfrm>
            <a:off x="886968" y="5228082"/>
            <a:ext cx="658368" cy="2743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56A63"/>
              </a:buClr>
              <a:buSzPts val="900"/>
              <a:buFont typeface="Calibri"/>
              <a:buNone/>
            </a:pPr>
            <a:r>
              <a:rPr b="1" i="0" lang="en-US" sz="900" u="none" cap="none" strike="noStrike">
                <a:solidFill>
                  <a:srgbClr val="056A63"/>
                </a:solidFill>
                <a:latin typeface="Calibri"/>
                <a:ea typeface="Calibri"/>
                <a:cs typeface="Calibri"/>
                <a:sym typeface="Calibri"/>
              </a:rPr>
              <a:t>8 min</a:t>
            </a:r>
            <a:endParaRPr b="0" i="0" sz="900" u="none" cap="none" strike="noStrike">
              <a:solidFill>
                <a:schemeClr val="dk1"/>
              </a:solidFill>
              <a:latin typeface="Calibri"/>
              <a:ea typeface="Calibri"/>
              <a:cs typeface="Calibri"/>
              <a:sym typeface="Calibri"/>
            </a:endParaRPr>
          </a:p>
        </p:txBody>
      </p:sp>
      <p:sp>
        <p:nvSpPr>
          <p:cNvPr id="2282" name="Google Shape;2282;p80"/>
          <p:cNvSpPr/>
          <p:nvPr/>
        </p:nvSpPr>
        <p:spPr>
          <a:xfrm>
            <a:off x="1673352" y="5090160"/>
            <a:ext cx="5733288" cy="5867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3293B"/>
              </a:buClr>
              <a:buSzPts val="1150"/>
              <a:buFont typeface="Calibri"/>
              <a:buNone/>
            </a:pPr>
            <a:r>
              <a:rPr b="0" i="0" lang="en-US" sz="1150" u="none" cap="none" strike="noStrike">
                <a:solidFill>
                  <a:srgbClr val="23293B"/>
                </a:solidFill>
                <a:latin typeface="Calibri"/>
                <a:ea typeface="Calibri"/>
                <a:cs typeface="Calibri"/>
                <a:sym typeface="Calibri"/>
              </a:rPr>
              <a:t>Render 12 overlays; find a fruit where box flips the grading decision, mask does not</a:t>
            </a:r>
            <a:endParaRPr b="0" i="0" sz="1150" u="none" cap="none" strike="noStrike">
              <a:solidFill>
                <a:schemeClr val="dk1"/>
              </a:solidFill>
              <a:latin typeface="Calibri"/>
              <a:ea typeface="Calibri"/>
              <a:cs typeface="Calibri"/>
              <a:sym typeface="Calibri"/>
            </a:endParaRPr>
          </a:p>
        </p:txBody>
      </p:sp>
      <p:sp>
        <p:nvSpPr>
          <p:cNvPr id="2283" name="Google Shape;2283;p80"/>
          <p:cNvSpPr/>
          <p:nvPr/>
        </p:nvSpPr>
        <p:spPr>
          <a:xfrm>
            <a:off x="502920" y="5869686"/>
            <a:ext cx="274320" cy="274320"/>
          </a:xfrm>
          <a:prstGeom prst="ellipse">
            <a:avLst/>
          </a:prstGeom>
          <a:solidFill>
            <a:srgbClr val="1D2A5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84" name="Google Shape;2284;p80"/>
          <p:cNvSpPr/>
          <p:nvPr/>
        </p:nvSpPr>
        <p:spPr>
          <a:xfrm>
            <a:off x="502920" y="5869686"/>
            <a:ext cx="274320" cy="2743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100"/>
              <a:buFont typeface="Calibri"/>
              <a:buNone/>
            </a:pPr>
            <a:r>
              <a:rPr b="1" i="0" lang="en-US" sz="1100" u="none" cap="none" strike="noStrike">
                <a:solidFill>
                  <a:srgbClr val="FFFFFF"/>
                </a:solidFill>
                <a:latin typeface="Calibri"/>
                <a:ea typeface="Calibri"/>
                <a:cs typeface="Calibri"/>
                <a:sym typeface="Calibri"/>
              </a:rPr>
              <a:t>6</a:t>
            </a:r>
            <a:endParaRPr b="0" i="0" sz="1100" u="none" cap="none" strike="noStrike">
              <a:solidFill>
                <a:schemeClr val="dk1"/>
              </a:solidFill>
              <a:latin typeface="Calibri"/>
              <a:ea typeface="Calibri"/>
              <a:cs typeface="Calibri"/>
              <a:sym typeface="Calibri"/>
            </a:endParaRPr>
          </a:p>
        </p:txBody>
      </p:sp>
      <p:sp>
        <p:nvSpPr>
          <p:cNvPr id="2285" name="Google Shape;2285;p80"/>
          <p:cNvSpPr/>
          <p:nvPr/>
        </p:nvSpPr>
        <p:spPr>
          <a:xfrm>
            <a:off x="886968" y="5869686"/>
            <a:ext cx="658368" cy="274320"/>
          </a:xfrm>
          <a:prstGeom prst="roundRect">
            <a:avLst>
              <a:gd fmla="val 50000" name="adj"/>
            </a:avLst>
          </a:prstGeom>
          <a:solidFill>
            <a:srgbClr val="E9F6F5"/>
          </a:solidFill>
          <a:ln cap="flat" cmpd="sng" w="9525">
            <a:solidFill>
              <a:srgbClr val="00A79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86" name="Google Shape;2286;p80"/>
          <p:cNvSpPr/>
          <p:nvPr/>
        </p:nvSpPr>
        <p:spPr>
          <a:xfrm>
            <a:off x="886968" y="5869686"/>
            <a:ext cx="658368" cy="2743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56A63"/>
              </a:buClr>
              <a:buSzPts val="900"/>
              <a:buFont typeface="Calibri"/>
              <a:buNone/>
            </a:pPr>
            <a:r>
              <a:rPr b="1" i="0" lang="en-US" sz="900" u="none" cap="none" strike="noStrike">
                <a:solidFill>
                  <a:srgbClr val="056A63"/>
                </a:solidFill>
                <a:latin typeface="Calibri"/>
                <a:ea typeface="Calibri"/>
                <a:cs typeface="Calibri"/>
                <a:sym typeface="Calibri"/>
              </a:rPr>
              <a:t>2 min</a:t>
            </a:r>
            <a:endParaRPr b="0" i="0" sz="900" u="none" cap="none" strike="noStrike">
              <a:solidFill>
                <a:schemeClr val="dk1"/>
              </a:solidFill>
              <a:latin typeface="Calibri"/>
              <a:ea typeface="Calibri"/>
              <a:cs typeface="Calibri"/>
              <a:sym typeface="Calibri"/>
            </a:endParaRPr>
          </a:p>
        </p:txBody>
      </p:sp>
      <p:sp>
        <p:nvSpPr>
          <p:cNvPr id="2287" name="Google Shape;2287;p80"/>
          <p:cNvSpPr/>
          <p:nvPr/>
        </p:nvSpPr>
        <p:spPr>
          <a:xfrm>
            <a:off x="1673352" y="5731764"/>
            <a:ext cx="5733288" cy="5867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3293B"/>
              </a:buClr>
              <a:buSzPts val="1150"/>
              <a:buFont typeface="Calibri"/>
              <a:buNone/>
            </a:pPr>
            <a:r>
              <a:rPr b="0" i="0" lang="en-US" sz="1150" u="none" cap="none" strike="noStrike">
                <a:solidFill>
                  <a:srgbClr val="23293B"/>
                </a:solidFill>
                <a:latin typeface="Calibri"/>
                <a:ea typeface="Calibri"/>
                <a:cs typeface="Calibri"/>
                <a:sym typeface="Calibri"/>
              </a:rPr>
              <a:t>Commit: feat(seg): surface-defect segmenter + area measurement v1</a:t>
            </a:r>
            <a:endParaRPr b="0" i="0" sz="1150" u="none" cap="none" strike="noStrike">
              <a:solidFill>
                <a:schemeClr val="dk1"/>
              </a:solidFill>
              <a:latin typeface="Calibri"/>
              <a:ea typeface="Calibri"/>
              <a:cs typeface="Calibri"/>
              <a:sym typeface="Calibri"/>
            </a:endParaRPr>
          </a:p>
        </p:txBody>
      </p:sp>
      <p:sp>
        <p:nvSpPr>
          <p:cNvPr id="2288" name="Google Shape;2288;p80"/>
          <p:cNvSpPr/>
          <p:nvPr/>
        </p:nvSpPr>
        <p:spPr>
          <a:xfrm>
            <a:off x="7635240" y="2505456"/>
            <a:ext cx="4050792" cy="3849624"/>
          </a:xfrm>
          <a:prstGeom prst="roundRect">
            <a:avLst>
              <a:gd fmla="val 2375" name="adj"/>
            </a:avLst>
          </a:prstGeom>
          <a:solidFill>
            <a:srgbClr val="0F172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89" name="Google Shape;2289;p80"/>
          <p:cNvSpPr/>
          <p:nvPr/>
        </p:nvSpPr>
        <p:spPr>
          <a:xfrm>
            <a:off x="7818120" y="2615184"/>
            <a:ext cx="3685032" cy="2377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EEAD4"/>
              </a:buClr>
              <a:buSzPts val="900"/>
              <a:buFont typeface="Calibri"/>
              <a:buNone/>
            </a:pPr>
            <a:r>
              <a:rPr b="1" i="0" lang="en-US" sz="900" u="none" cap="none" strike="noStrike">
                <a:solidFill>
                  <a:srgbClr val="5EEAD4"/>
                </a:solidFill>
                <a:latin typeface="Calibri"/>
                <a:ea typeface="Calibri"/>
                <a:cs typeface="Calibri"/>
                <a:sym typeface="Calibri"/>
              </a:rPr>
              <a:t>EXPECTED OUTPUT</a:t>
            </a:r>
            <a:endParaRPr b="0" i="0" sz="900" u="none" cap="none" strike="noStrike">
              <a:solidFill>
                <a:schemeClr val="dk1"/>
              </a:solidFill>
              <a:latin typeface="Calibri"/>
              <a:ea typeface="Calibri"/>
              <a:cs typeface="Calibri"/>
              <a:sym typeface="Calibri"/>
            </a:endParaRPr>
          </a:p>
        </p:txBody>
      </p:sp>
      <p:sp>
        <p:nvSpPr>
          <p:cNvPr id="2290" name="Google Shape;2290;p80"/>
          <p:cNvSpPr/>
          <p:nvPr/>
        </p:nvSpPr>
        <p:spPr>
          <a:xfrm>
            <a:off x="7818120" y="2907792"/>
            <a:ext cx="3703320" cy="3300984"/>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DCE6F5"/>
              </a:buClr>
              <a:buSzPts val="900"/>
              <a:buFont typeface="Courier New"/>
              <a:buNone/>
            </a:pPr>
            <a:r>
              <a:rPr b="0" i="0" lang="en-US" sz="900" u="none" cap="none" strike="noStrike">
                <a:solidFill>
                  <a:srgbClr val="DCE6F5"/>
                </a:solidFill>
                <a:latin typeface="Courier New"/>
                <a:ea typeface="Courier New"/>
                <a:cs typeface="Courier New"/>
                <a:sym typeface="Courier New"/>
              </a:rPr>
              <a:t>$ python scripts/train_segmenter.py</a:t>
            </a:r>
            <a:endParaRPr b="0" i="0" sz="900" u="none" cap="none" strike="noStrike">
              <a:solidFill>
                <a:schemeClr val="dk1"/>
              </a:solidFill>
              <a:latin typeface="Calibri"/>
              <a:ea typeface="Calibri"/>
              <a:cs typeface="Calibri"/>
              <a:sym typeface="Calibri"/>
            </a:endParaRPr>
          </a:p>
          <a:p>
            <a:pPr indent="0" lvl="0" marL="0" marR="0" rtl="0" algn="l">
              <a:lnSpc>
                <a:spcPct val="130000"/>
              </a:lnSpc>
              <a:spcBef>
                <a:spcPts val="0"/>
              </a:spcBef>
              <a:spcAft>
                <a:spcPts val="0"/>
              </a:spcAft>
              <a:buClr>
                <a:srgbClr val="DCE6F5"/>
              </a:buClr>
              <a:buSzPts val="900"/>
              <a:buFont typeface="Courier New"/>
              <a:buNone/>
            </a:pPr>
            <a:r>
              <a:rPr b="0" i="0" lang="en-US" sz="900" u="none" cap="none" strike="noStrike">
                <a:solidFill>
                  <a:srgbClr val="DCE6F5"/>
                </a:solidFill>
                <a:latin typeface="Courier New"/>
                <a:ea typeface="Courier New"/>
                <a:cs typeface="Courier New"/>
                <a:sym typeface="Courier New"/>
              </a:rPr>
              <a:t>box mAP@0.5=0.858   MASK mAP@0.5=0.823</a:t>
            </a:r>
            <a:endParaRPr b="0" i="0" sz="900" u="none" cap="none" strike="noStrike">
              <a:solidFill>
                <a:schemeClr val="dk1"/>
              </a:solidFill>
              <a:latin typeface="Calibri"/>
              <a:ea typeface="Calibri"/>
              <a:cs typeface="Calibri"/>
              <a:sym typeface="Calibri"/>
            </a:endParaRPr>
          </a:p>
          <a:p>
            <a:pPr indent="0" lvl="0" marL="0" marR="0" rtl="0" algn="l">
              <a:lnSpc>
                <a:spcPct val="130000"/>
              </a:lnSpc>
              <a:spcBef>
                <a:spcPts val="0"/>
              </a:spcBef>
              <a:spcAft>
                <a:spcPts val="0"/>
              </a:spcAft>
              <a:buClr>
                <a:srgbClr val="DCE6F5"/>
              </a:buClr>
              <a:buSzPts val="900"/>
              <a:buFont typeface="Courier New"/>
              <a:buNone/>
            </a:pPr>
            <a:r>
              <a:rPr b="0" i="0" lang="en-US" sz="900" u="none" cap="none" strike="noStrike">
                <a:solidFill>
                  <a:srgbClr val="DCE6F5"/>
                </a:solidFill>
                <a:latin typeface="Courier New"/>
                <a:ea typeface="Courier New"/>
                <a:cs typeface="Courier New"/>
                <a:sym typeface="Courier New"/>
              </a:rPr>
              <a:t>$ python scripts/eval_area_error.py</a:t>
            </a:r>
            <a:endParaRPr b="0" i="0" sz="900" u="none" cap="none" strike="noStrike">
              <a:solidFill>
                <a:schemeClr val="dk1"/>
              </a:solidFill>
              <a:latin typeface="Calibri"/>
              <a:ea typeface="Calibri"/>
              <a:cs typeface="Calibri"/>
              <a:sym typeface="Calibri"/>
            </a:endParaRPr>
          </a:p>
          <a:p>
            <a:pPr indent="0" lvl="0" marL="0" marR="0" rtl="0" algn="l">
              <a:lnSpc>
                <a:spcPct val="130000"/>
              </a:lnSpc>
              <a:spcBef>
                <a:spcPts val="0"/>
              </a:spcBef>
              <a:spcAft>
                <a:spcPts val="0"/>
              </a:spcAft>
              <a:buClr>
                <a:srgbClr val="DCE6F5"/>
              </a:buClr>
              <a:buSzPts val="900"/>
              <a:buFont typeface="Courier New"/>
              <a:buNone/>
            </a:pPr>
            <a:r>
              <a:rPr b="0" i="0" lang="en-US" sz="900" u="none" cap="none" strike="noStrike">
                <a:solidFill>
                  <a:srgbClr val="DCE6F5"/>
                </a:solidFill>
                <a:latin typeface="Courier New"/>
                <a:ea typeface="Courier New"/>
                <a:cs typeface="Courier New"/>
                <a:sym typeface="Courier New"/>
              </a:rPr>
              <a:t>area error: mean=+0.31 pp  MAE=1.12 pp</a:t>
            </a:r>
            <a:endParaRPr b="0" i="0" sz="900" u="none" cap="none" strike="noStrike">
              <a:solidFill>
                <a:schemeClr val="dk1"/>
              </a:solidFill>
              <a:latin typeface="Calibri"/>
              <a:ea typeface="Calibri"/>
              <a:cs typeface="Calibri"/>
              <a:sym typeface="Calibri"/>
            </a:endParaRPr>
          </a:p>
          <a:p>
            <a:pPr indent="0" lvl="0" marL="0" marR="0" rtl="0" algn="l">
              <a:lnSpc>
                <a:spcPct val="130000"/>
              </a:lnSpc>
              <a:spcBef>
                <a:spcPts val="0"/>
              </a:spcBef>
              <a:spcAft>
                <a:spcPts val="0"/>
              </a:spcAft>
              <a:buClr>
                <a:srgbClr val="DCE6F5"/>
              </a:buClr>
              <a:buSzPts val="900"/>
              <a:buFont typeface="Courier New"/>
              <a:buNone/>
            </a:pPr>
            <a:r>
              <a:rPr b="0" i="0" lang="en-US" sz="900" u="none" cap="none" strike="noStrike">
                <a:solidFill>
                  <a:srgbClr val="DCE6F5"/>
                </a:solidFill>
                <a:latin typeface="Courier New"/>
                <a:ea typeface="Courier New"/>
                <a:cs typeface="Courier New"/>
                <a:sym typeface="Courier New"/>
              </a:rPr>
              <a:t>p95=3.40 pp</a:t>
            </a:r>
            <a:endParaRPr b="0" i="0" sz="900" u="none" cap="none" strike="noStrike">
              <a:solidFill>
                <a:schemeClr val="dk1"/>
              </a:solidFill>
              <a:latin typeface="Calibri"/>
              <a:ea typeface="Calibri"/>
              <a:cs typeface="Calibri"/>
              <a:sym typeface="Calibri"/>
            </a:endParaRPr>
          </a:p>
          <a:p>
            <a:pPr indent="0" lvl="0" marL="0" marR="0" rtl="0" algn="l">
              <a:lnSpc>
                <a:spcPct val="130000"/>
              </a:lnSpc>
              <a:spcBef>
                <a:spcPts val="0"/>
              </a:spcBef>
              <a:spcAft>
                <a:spcPts val="0"/>
              </a:spcAft>
              <a:buClr>
                <a:srgbClr val="DCE6F5"/>
              </a:buClr>
              <a:buSzPts val="900"/>
              <a:buFont typeface="Courier New"/>
              <a:buNone/>
            </a:pPr>
            <a:r>
              <a:rPr b="0" i="0" lang="en-US" sz="900" u="none" cap="none" strike="noStrike">
                <a:solidFill>
                  <a:srgbClr val="DCE6F5"/>
                </a:solidFill>
                <a:latin typeface="Courier New"/>
                <a:ea typeface="Courier New"/>
                <a:cs typeface="Courier New"/>
                <a:sym typeface="Courier New"/>
              </a:rPr>
              <a:t>grading disagreement rate (8% rule): 2.1%</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8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295" name="Shape 2295"/>
        <p:cNvGrpSpPr/>
        <p:nvPr/>
      </p:nvGrpSpPr>
      <p:grpSpPr>
        <a:xfrm>
          <a:off x="0" y="0"/>
          <a:ext cx="0" cy="0"/>
          <a:chOff x="0" y="0"/>
          <a:chExt cx="0" cy="0"/>
        </a:xfrm>
      </p:grpSpPr>
      <p:sp>
        <p:nvSpPr>
          <p:cNvPr id="2296" name="Google Shape;2296;p81"/>
          <p:cNvSpPr/>
          <p:nvPr/>
        </p:nvSpPr>
        <p:spPr>
          <a:xfrm>
            <a:off x="502920" y="274320"/>
            <a:ext cx="9646920" cy="56692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D2A5C"/>
              </a:buClr>
              <a:buSzPts val="2700"/>
              <a:buFont typeface="Calibri"/>
              <a:buNone/>
            </a:pPr>
            <a:r>
              <a:rPr b="1" i="0" lang="en-US" sz="2700" u="none" cap="none" strike="noStrike">
                <a:solidFill>
                  <a:srgbClr val="1D2A5C"/>
                </a:solidFill>
                <a:latin typeface="Calibri"/>
                <a:ea typeface="Calibri"/>
                <a:cs typeface="Calibri"/>
                <a:sym typeface="Calibri"/>
              </a:rPr>
              <a:t>Lab 4 Troubleshooting</a:t>
            </a:r>
            <a:endParaRPr b="0" i="0" sz="2700" u="none" cap="none" strike="noStrike">
              <a:solidFill>
                <a:schemeClr val="dk1"/>
              </a:solidFill>
              <a:latin typeface="Calibri"/>
              <a:ea typeface="Calibri"/>
              <a:cs typeface="Calibri"/>
              <a:sym typeface="Calibri"/>
            </a:endParaRPr>
          </a:p>
        </p:txBody>
      </p:sp>
      <p:sp>
        <p:nvSpPr>
          <p:cNvPr id="2297" name="Google Shape;2297;p81"/>
          <p:cNvSpPr/>
          <p:nvPr/>
        </p:nvSpPr>
        <p:spPr>
          <a:xfrm>
            <a:off x="502920" y="859536"/>
            <a:ext cx="9646920" cy="31089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F6B7A"/>
              </a:buClr>
              <a:buSzPts val="1250"/>
              <a:buFont typeface="Arial"/>
              <a:buNone/>
            </a:pPr>
            <a:r>
              <a:rPr b="0" i="0" lang="en-US" sz="1250" u="none" cap="none" strike="noStrike">
                <a:solidFill>
                  <a:srgbClr val="5F6B7A"/>
                </a:solidFill>
                <a:latin typeface="Arial"/>
                <a:ea typeface="Arial"/>
                <a:cs typeface="Arial"/>
                <a:sym typeface="Arial"/>
              </a:rPr>
              <a:t>استكشاف أخطاء المختبر 4</a:t>
            </a:r>
            <a:endParaRPr b="0" i="0" sz="1250" u="none" cap="none" strike="noStrike">
              <a:solidFill>
                <a:schemeClr val="dk1"/>
              </a:solidFill>
              <a:latin typeface="Calibri"/>
              <a:ea typeface="Calibri"/>
              <a:cs typeface="Calibri"/>
              <a:sym typeface="Calibri"/>
            </a:endParaRPr>
          </a:p>
        </p:txBody>
      </p:sp>
      <p:pic>
        <p:nvPicPr>
          <p:cNvPr descr="/sessions/blissful-determined-ritchie/build/assets/sdaia_logo.png" id="2298" name="Google Shape;2298;p81"/>
          <p:cNvPicPr preferRelativeResize="0"/>
          <p:nvPr/>
        </p:nvPicPr>
        <p:blipFill rotWithShape="1">
          <a:blip r:embed="rId3">
            <a:alphaModFix/>
          </a:blip>
          <a:srcRect b="0" l="0" r="0" t="0"/>
          <a:stretch/>
        </p:blipFill>
        <p:spPr>
          <a:xfrm>
            <a:off x="10625328" y="310896"/>
            <a:ext cx="1078992" cy="264111"/>
          </a:xfrm>
          <a:prstGeom prst="rect">
            <a:avLst/>
          </a:prstGeom>
          <a:noFill/>
          <a:ln>
            <a:noFill/>
          </a:ln>
        </p:spPr>
      </p:pic>
      <p:sp>
        <p:nvSpPr>
          <p:cNvPr id="2299" name="Google Shape;2299;p81"/>
          <p:cNvSpPr/>
          <p:nvPr/>
        </p:nvSpPr>
        <p:spPr>
          <a:xfrm>
            <a:off x="502920" y="6528816"/>
            <a:ext cx="8686800"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A79D"/>
              </a:buClr>
              <a:buSzPts val="800"/>
              <a:buFont typeface="Calibri"/>
              <a:buNone/>
            </a:pPr>
            <a:r>
              <a:rPr b="1" i="0" lang="en-US" sz="800" u="none" cap="none" strike="noStrike">
                <a:solidFill>
                  <a:srgbClr val="00A79D"/>
                </a:solidFill>
                <a:latin typeface="Calibri"/>
                <a:ea typeface="Calibri"/>
                <a:cs typeface="Calibri"/>
                <a:sym typeface="Calibri"/>
              </a:rPr>
              <a:t>MODULE 4 · LAB   </a:t>
            </a:r>
            <a:r>
              <a:rPr b="0" i="0" lang="en-US" sz="800" u="none" cap="none" strike="noStrike">
                <a:solidFill>
                  <a:srgbClr val="8A96A6"/>
                </a:solidFill>
                <a:latin typeface="Calibri"/>
                <a:ea typeface="Calibri"/>
                <a:cs typeface="Calibri"/>
                <a:sym typeface="Calibri"/>
              </a:rPr>
              <a:t>SDA-AIE-212 · Computer Vision Systems Development</a:t>
            </a:r>
            <a:endParaRPr b="0" i="0" sz="800" u="none" cap="none" strike="noStrike">
              <a:solidFill>
                <a:schemeClr val="dk1"/>
              </a:solidFill>
              <a:latin typeface="Calibri"/>
              <a:ea typeface="Calibri"/>
              <a:cs typeface="Calibri"/>
              <a:sym typeface="Calibri"/>
            </a:endParaRPr>
          </a:p>
        </p:txBody>
      </p:sp>
      <p:sp>
        <p:nvSpPr>
          <p:cNvPr id="2300" name="Google Shape;2300;p81"/>
          <p:cNvSpPr/>
          <p:nvPr/>
        </p:nvSpPr>
        <p:spPr>
          <a:xfrm>
            <a:off x="11292840" y="6528816"/>
            <a:ext cx="411480" cy="219456"/>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8A96A6"/>
              </a:buClr>
              <a:buSzPts val="900"/>
              <a:buFont typeface="Calibri"/>
              <a:buNone/>
            </a:pPr>
            <a:r>
              <a:rPr b="0" i="0" lang="en-US" sz="900" u="none" cap="none" strike="noStrike">
                <a:solidFill>
                  <a:srgbClr val="8A96A6"/>
                </a:solidFill>
                <a:latin typeface="Calibri"/>
                <a:ea typeface="Calibri"/>
                <a:cs typeface="Calibri"/>
                <a:sym typeface="Calibri"/>
              </a:rPr>
              <a:t>81</a:t>
            </a:r>
            <a:endParaRPr b="0" i="0" sz="900" u="none" cap="none" strike="noStrike">
              <a:solidFill>
                <a:schemeClr val="dk1"/>
              </a:solidFill>
              <a:latin typeface="Calibri"/>
              <a:ea typeface="Calibri"/>
              <a:cs typeface="Calibri"/>
              <a:sym typeface="Calibri"/>
            </a:endParaRPr>
          </a:p>
        </p:txBody>
      </p:sp>
      <p:graphicFrame>
        <p:nvGraphicFramePr>
          <p:cNvPr id="2301" name="Google Shape;2301;p81"/>
          <p:cNvGraphicFramePr/>
          <p:nvPr/>
        </p:nvGraphicFramePr>
        <p:xfrm>
          <a:off x="502920" y="1389888"/>
          <a:ext cx="3000000" cy="3000000"/>
        </p:xfrm>
        <a:graphic>
          <a:graphicData uri="http://schemas.openxmlformats.org/drawingml/2006/table">
            <a:tbl>
              <a:tblPr>
                <a:noFill/>
                <a:tableStyleId>{F80342BA-3033-44D6-9F91-622DC7A4C435}</a:tableStyleId>
              </a:tblPr>
              <a:tblGrid>
                <a:gridCol w="3353775"/>
                <a:gridCol w="3724550"/>
                <a:gridCol w="4107525"/>
              </a:tblGrid>
              <a:tr h="713225">
                <a:tc>
                  <a:txBody>
                    <a:bodyPr/>
                    <a:lstStyle/>
                    <a:p>
                      <a:pPr indent="0" lvl="0" marL="0" marR="0" rtl="0" algn="l">
                        <a:spcBef>
                          <a:spcPts val="0"/>
                        </a:spcBef>
                        <a:spcAft>
                          <a:spcPts val="0"/>
                        </a:spcAft>
                        <a:buClr>
                          <a:srgbClr val="FFFFFF"/>
                        </a:buClr>
                        <a:buSzPts val="1150"/>
                        <a:buFont typeface="Calibri"/>
                        <a:buNone/>
                      </a:pPr>
                      <a:r>
                        <a:rPr b="1" lang="en-US" sz="1150" u="none" cap="none" strike="noStrike">
                          <a:solidFill>
                            <a:srgbClr val="FFFFFF"/>
                          </a:solidFill>
                          <a:latin typeface="Calibri"/>
                          <a:ea typeface="Calibri"/>
                          <a:cs typeface="Calibri"/>
                          <a:sym typeface="Calibri"/>
                        </a:rPr>
                        <a:t>Symptom</a:t>
                      </a:r>
                      <a:endParaRPr sz="1150" u="none" cap="none" strike="noStrike">
                        <a:latin typeface="Calibri"/>
                        <a:ea typeface="Calibri"/>
                        <a:cs typeface="Calibri"/>
                        <a:sym typeface="Calibri"/>
                      </a:endParaRPr>
                    </a:p>
                  </a:txBody>
                  <a:tcPr marT="64000" marB="64000" marR="64000" marL="64000" anchor="ctr">
                    <a:lnL cap="flat" cmpd="sng" w="9525">
                      <a:solidFill>
                        <a:srgbClr val="D9E2EA"/>
                      </a:solidFill>
                      <a:prstDash val="solid"/>
                      <a:round/>
                      <a:headEnd len="sm" w="sm" type="none"/>
                      <a:tailEnd len="sm" w="sm" type="none"/>
                    </a:lnL>
                    <a:lnR cap="flat" cmpd="sng" w="9525">
                      <a:solidFill>
                        <a:srgbClr val="D9E2EA"/>
                      </a:solidFill>
                      <a:prstDash val="solid"/>
                      <a:round/>
                      <a:headEnd len="sm" w="sm" type="none"/>
                      <a:tailEnd len="sm" w="sm" type="none"/>
                    </a:lnR>
                    <a:lnT cap="flat" cmpd="sng" w="9525">
                      <a:solidFill>
                        <a:srgbClr val="D9E2EA"/>
                      </a:solidFill>
                      <a:prstDash val="solid"/>
                      <a:round/>
                      <a:headEnd len="sm" w="sm" type="none"/>
                      <a:tailEnd len="sm" w="sm" type="none"/>
                    </a:lnT>
                    <a:lnB cap="flat" cmpd="sng" w="9525">
                      <a:solidFill>
                        <a:srgbClr val="D9E2EA"/>
                      </a:solidFill>
                      <a:prstDash val="solid"/>
                      <a:round/>
                      <a:headEnd len="sm" w="sm" type="none"/>
                      <a:tailEnd len="sm" w="sm" type="none"/>
                    </a:lnB>
                    <a:solidFill>
                      <a:srgbClr val="1D2A5C"/>
                    </a:solidFill>
                  </a:tcPr>
                </a:tc>
                <a:tc>
                  <a:txBody>
                    <a:bodyPr/>
                    <a:lstStyle/>
                    <a:p>
                      <a:pPr indent="0" lvl="0" marL="0" marR="0" rtl="0" algn="l">
                        <a:spcBef>
                          <a:spcPts val="0"/>
                        </a:spcBef>
                        <a:spcAft>
                          <a:spcPts val="0"/>
                        </a:spcAft>
                        <a:buClr>
                          <a:srgbClr val="FFFFFF"/>
                        </a:buClr>
                        <a:buSzPts val="1150"/>
                        <a:buFont typeface="Calibri"/>
                        <a:buNone/>
                      </a:pPr>
                      <a:r>
                        <a:rPr b="1" lang="en-US" sz="1150" u="none" cap="none" strike="noStrike">
                          <a:solidFill>
                            <a:srgbClr val="FFFFFF"/>
                          </a:solidFill>
                          <a:latin typeface="Calibri"/>
                          <a:ea typeface="Calibri"/>
                          <a:cs typeface="Calibri"/>
                          <a:sym typeface="Calibri"/>
                        </a:rPr>
                        <a:t>Cause</a:t>
                      </a:r>
                      <a:endParaRPr sz="1150" u="none" cap="none" strike="noStrike">
                        <a:latin typeface="Calibri"/>
                        <a:ea typeface="Calibri"/>
                        <a:cs typeface="Calibri"/>
                        <a:sym typeface="Calibri"/>
                      </a:endParaRPr>
                    </a:p>
                  </a:txBody>
                  <a:tcPr marT="64000" marB="64000" marR="64000" marL="64000" anchor="ctr">
                    <a:lnL cap="flat" cmpd="sng" w="9525">
                      <a:solidFill>
                        <a:srgbClr val="D9E2EA"/>
                      </a:solidFill>
                      <a:prstDash val="solid"/>
                      <a:round/>
                      <a:headEnd len="sm" w="sm" type="none"/>
                      <a:tailEnd len="sm" w="sm" type="none"/>
                    </a:lnL>
                    <a:lnR cap="flat" cmpd="sng" w="9525">
                      <a:solidFill>
                        <a:srgbClr val="D9E2EA"/>
                      </a:solidFill>
                      <a:prstDash val="solid"/>
                      <a:round/>
                      <a:headEnd len="sm" w="sm" type="none"/>
                      <a:tailEnd len="sm" w="sm" type="none"/>
                    </a:lnR>
                    <a:lnT cap="flat" cmpd="sng" w="9525">
                      <a:solidFill>
                        <a:srgbClr val="D9E2EA"/>
                      </a:solidFill>
                      <a:prstDash val="solid"/>
                      <a:round/>
                      <a:headEnd len="sm" w="sm" type="none"/>
                      <a:tailEnd len="sm" w="sm" type="none"/>
                    </a:lnT>
                    <a:lnB cap="flat" cmpd="sng" w="9525">
                      <a:solidFill>
                        <a:srgbClr val="D9E2EA"/>
                      </a:solidFill>
                      <a:prstDash val="solid"/>
                      <a:round/>
                      <a:headEnd len="sm" w="sm" type="none"/>
                      <a:tailEnd len="sm" w="sm" type="none"/>
                    </a:lnB>
                    <a:solidFill>
                      <a:srgbClr val="1D2A5C"/>
                    </a:solidFill>
                  </a:tcPr>
                </a:tc>
                <a:tc>
                  <a:txBody>
                    <a:bodyPr/>
                    <a:lstStyle/>
                    <a:p>
                      <a:pPr indent="0" lvl="0" marL="0" marR="0" rtl="0" algn="l">
                        <a:spcBef>
                          <a:spcPts val="0"/>
                        </a:spcBef>
                        <a:spcAft>
                          <a:spcPts val="0"/>
                        </a:spcAft>
                        <a:buClr>
                          <a:srgbClr val="FFFFFF"/>
                        </a:buClr>
                        <a:buSzPts val="1150"/>
                        <a:buFont typeface="Calibri"/>
                        <a:buNone/>
                      </a:pPr>
                      <a:r>
                        <a:rPr b="1" lang="en-US" sz="1150" u="none" cap="none" strike="noStrike">
                          <a:solidFill>
                            <a:srgbClr val="FFFFFF"/>
                          </a:solidFill>
                          <a:latin typeface="Calibri"/>
                          <a:ea typeface="Calibri"/>
                          <a:cs typeface="Calibri"/>
                          <a:sym typeface="Calibri"/>
                        </a:rPr>
                        <a:t>Fix</a:t>
                      </a:r>
                      <a:endParaRPr sz="1150" u="none" cap="none" strike="noStrike">
                        <a:latin typeface="Calibri"/>
                        <a:ea typeface="Calibri"/>
                        <a:cs typeface="Calibri"/>
                        <a:sym typeface="Calibri"/>
                      </a:endParaRPr>
                    </a:p>
                  </a:txBody>
                  <a:tcPr marT="64000" marB="64000" marR="64000" marL="64000" anchor="ctr">
                    <a:lnL cap="flat" cmpd="sng" w="9525">
                      <a:solidFill>
                        <a:srgbClr val="D9E2EA"/>
                      </a:solidFill>
                      <a:prstDash val="solid"/>
                      <a:round/>
                      <a:headEnd len="sm" w="sm" type="none"/>
                      <a:tailEnd len="sm" w="sm" type="none"/>
                    </a:lnL>
                    <a:lnR cap="flat" cmpd="sng" w="9525">
                      <a:solidFill>
                        <a:srgbClr val="D9E2EA"/>
                      </a:solidFill>
                      <a:prstDash val="solid"/>
                      <a:round/>
                      <a:headEnd len="sm" w="sm" type="none"/>
                      <a:tailEnd len="sm" w="sm" type="none"/>
                    </a:lnR>
                    <a:lnT cap="flat" cmpd="sng" w="9525">
                      <a:solidFill>
                        <a:srgbClr val="D9E2EA"/>
                      </a:solidFill>
                      <a:prstDash val="solid"/>
                      <a:round/>
                      <a:headEnd len="sm" w="sm" type="none"/>
                      <a:tailEnd len="sm" w="sm" type="none"/>
                    </a:lnT>
                    <a:lnB cap="flat" cmpd="sng" w="9525">
                      <a:solidFill>
                        <a:srgbClr val="D9E2EA"/>
                      </a:solidFill>
                      <a:prstDash val="solid"/>
                      <a:round/>
                      <a:headEnd len="sm" w="sm" type="none"/>
                      <a:tailEnd len="sm" w="sm" type="none"/>
                    </a:lnB>
                    <a:solidFill>
                      <a:srgbClr val="1D2A5C"/>
                    </a:solidFill>
                  </a:tcPr>
                </a:tc>
              </a:tr>
              <a:tr h="713225">
                <a:tc>
                  <a:txBody>
                    <a:bodyPr/>
                    <a:lstStyle/>
                    <a:p>
                      <a:pPr indent="0" lvl="0" marL="0" marR="0" rtl="0" algn="l">
                        <a:spcBef>
                          <a:spcPts val="0"/>
                        </a:spcBef>
                        <a:spcAft>
                          <a:spcPts val="0"/>
                        </a:spcAft>
                        <a:buClr>
                          <a:srgbClr val="1D2A5C"/>
                        </a:buClr>
                        <a:buSzPts val="1150"/>
                        <a:buFont typeface="Calibri"/>
                        <a:buNone/>
                      </a:pPr>
                      <a:r>
                        <a:rPr b="1" lang="en-US" sz="1150" u="none" cap="none" strike="noStrike">
                          <a:solidFill>
                            <a:srgbClr val="1D2A5C"/>
                          </a:solidFill>
                          <a:latin typeface="Calibri"/>
                          <a:ea typeface="Calibri"/>
                          <a:cs typeface="Calibri"/>
                          <a:sym typeface="Calibri"/>
                        </a:rPr>
                        <a:t>'segment &lt; 3 points' warning</a:t>
                      </a:r>
                      <a:endParaRPr sz="1150" u="none" cap="none" strike="noStrike">
                        <a:latin typeface="Calibri"/>
                        <a:ea typeface="Calibri"/>
                        <a:cs typeface="Calibri"/>
                        <a:sym typeface="Calibri"/>
                      </a:endParaRPr>
                    </a:p>
                  </a:txBody>
                  <a:tcPr marT="64000" marB="64000" marR="64000" marL="64000" anchor="ctr">
                    <a:lnL cap="flat" cmpd="sng" w="9525">
                      <a:solidFill>
                        <a:srgbClr val="D9E2EA"/>
                      </a:solidFill>
                      <a:prstDash val="solid"/>
                      <a:round/>
                      <a:headEnd len="sm" w="sm" type="none"/>
                      <a:tailEnd len="sm" w="sm" type="none"/>
                    </a:lnL>
                    <a:lnR cap="flat" cmpd="sng" w="9525">
                      <a:solidFill>
                        <a:srgbClr val="D9E2EA"/>
                      </a:solidFill>
                      <a:prstDash val="solid"/>
                      <a:round/>
                      <a:headEnd len="sm" w="sm" type="none"/>
                      <a:tailEnd len="sm" w="sm" type="none"/>
                    </a:lnR>
                    <a:lnT cap="flat" cmpd="sng" w="9525">
                      <a:solidFill>
                        <a:srgbClr val="D9E2EA"/>
                      </a:solidFill>
                      <a:prstDash val="solid"/>
                      <a:round/>
                      <a:headEnd len="sm" w="sm" type="none"/>
                      <a:tailEnd len="sm" w="sm" type="none"/>
                    </a:lnT>
                    <a:lnB cap="flat" cmpd="sng" w="9525">
                      <a:solidFill>
                        <a:srgbClr val="D9E2EA"/>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23293B"/>
                        </a:buClr>
                        <a:buSzPts val="1150"/>
                        <a:buFont typeface="Calibri"/>
                        <a:buNone/>
                      </a:pPr>
                      <a:r>
                        <a:rPr lang="en-US" sz="1150" u="none" cap="none" strike="noStrike">
                          <a:solidFill>
                            <a:srgbClr val="23293B"/>
                          </a:solidFill>
                          <a:latin typeface="Calibri"/>
                          <a:ea typeface="Calibri"/>
                          <a:cs typeface="Calibri"/>
                          <a:sym typeface="Calibri"/>
                        </a:rPr>
                        <a:t>Degenerate polygons from conversion</a:t>
                      </a:r>
                      <a:endParaRPr sz="1150" u="none" cap="none" strike="noStrike">
                        <a:latin typeface="Calibri"/>
                        <a:ea typeface="Calibri"/>
                        <a:cs typeface="Calibri"/>
                        <a:sym typeface="Calibri"/>
                      </a:endParaRPr>
                    </a:p>
                  </a:txBody>
                  <a:tcPr marT="64000" marB="64000" marR="64000" marL="64000" anchor="ctr">
                    <a:lnL cap="flat" cmpd="sng" w="9525">
                      <a:solidFill>
                        <a:srgbClr val="D9E2EA"/>
                      </a:solidFill>
                      <a:prstDash val="solid"/>
                      <a:round/>
                      <a:headEnd len="sm" w="sm" type="none"/>
                      <a:tailEnd len="sm" w="sm" type="none"/>
                    </a:lnL>
                    <a:lnR cap="flat" cmpd="sng" w="9525">
                      <a:solidFill>
                        <a:srgbClr val="D9E2EA"/>
                      </a:solidFill>
                      <a:prstDash val="solid"/>
                      <a:round/>
                      <a:headEnd len="sm" w="sm" type="none"/>
                      <a:tailEnd len="sm" w="sm" type="none"/>
                    </a:lnR>
                    <a:lnT cap="flat" cmpd="sng" w="9525">
                      <a:solidFill>
                        <a:srgbClr val="D9E2EA"/>
                      </a:solidFill>
                      <a:prstDash val="solid"/>
                      <a:round/>
                      <a:headEnd len="sm" w="sm" type="none"/>
                      <a:tailEnd len="sm" w="sm" type="none"/>
                    </a:lnT>
                    <a:lnB cap="flat" cmpd="sng" w="9525">
                      <a:solidFill>
                        <a:srgbClr val="D9E2EA"/>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23293B"/>
                        </a:buClr>
                        <a:buSzPts val="1150"/>
                        <a:buFont typeface="Calibri"/>
                        <a:buNone/>
                      </a:pPr>
                      <a:r>
                        <a:rPr lang="en-US" sz="1150" u="none" cap="none" strike="noStrike">
                          <a:solidFill>
                            <a:srgbClr val="23293B"/>
                          </a:solidFill>
                          <a:latin typeface="Calibri"/>
                          <a:ea typeface="Calibri"/>
                          <a:cs typeface="Calibri"/>
                          <a:sym typeface="Calibri"/>
                        </a:rPr>
                        <a:t>Filter &lt; 3-vertex polygons; re-run converter</a:t>
                      </a:r>
                      <a:endParaRPr sz="1150" u="none" cap="none" strike="noStrike">
                        <a:latin typeface="Calibri"/>
                        <a:ea typeface="Calibri"/>
                        <a:cs typeface="Calibri"/>
                        <a:sym typeface="Calibri"/>
                      </a:endParaRPr>
                    </a:p>
                  </a:txBody>
                  <a:tcPr marT="64000" marB="64000" marR="64000" marL="64000" anchor="ctr">
                    <a:lnL cap="flat" cmpd="sng" w="9525">
                      <a:solidFill>
                        <a:srgbClr val="D9E2EA"/>
                      </a:solidFill>
                      <a:prstDash val="solid"/>
                      <a:round/>
                      <a:headEnd len="sm" w="sm" type="none"/>
                      <a:tailEnd len="sm" w="sm" type="none"/>
                    </a:lnL>
                    <a:lnR cap="flat" cmpd="sng" w="9525">
                      <a:solidFill>
                        <a:srgbClr val="D9E2EA"/>
                      </a:solidFill>
                      <a:prstDash val="solid"/>
                      <a:round/>
                      <a:headEnd len="sm" w="sm" type="none"/>
                      <a:tailEnd len="sm" w="sm" type="none"/>
                    </a:lnR>
                    <a:lnT cap="flat" cmpd="sng" w="9525">
                      <a:solidFill>
                        <a:srgbClr val="D9E2EA"/>
                      </a:solidFill>
                      <a:prstDash val="solid"/>
                      <a:round/>
                      <a:headEnd len="sm" w="sm" type="none"/>
                      <a:tailEnd len="sm" w="sm" type="none"/>
                    </a:lnT>
                    <a:lnB cap="flat" cmpd="sng" w="9525">
                      <a:solidFill>
                        <a:srgbClr val="D9E2EA"/>
                      </a:solidFill>
                      <a:prstDash val="solid"/>
                      <a:round/>
                      <a:headEnd len="sm" w="sm" type="none"/>
                      <a:tailEnd len="sm" w="sm" type="none"/>
                    </a:lnB>
                    <a:solidFill>
                      <a:srgbClr val="FFFFFF"/>
                    </a:solidFill>
                  </a:tcPr>
                </a:tc>
              </a:tr>
              <a:tr h="713225">
                <a:tc>
                  <a:txBody>
                    <a:bodyPr/>
                    <a:lstStyle/>
                    <a:p>
                      <a:pPr indent="0" lvl="0" marL="0" marR="0" rtl="0" algn="l">
                        <a:spcBef>
                          <a:spcPts val="0"/>
                        </a:spcBef>
                        <a:spcAft>
                          <a:spcPts val="0"/>
                        </a:spcAft>
                        <a:buClr>
                          <a:srgbClr val="1D2A5C"/>
                        </a:buClr>
                        <a:buSzPts val="1150"/>
                        <a:buFont typeface="Calibri"/>
                        <a:buNone/>
                      </a:pPr>
                      <a:r>
                        <a:rPr b="1" lang="en-US" sz="1150" u="none" cap="none" strike="noStrike">
                          <a:solidFill>
                            <a:srgbClr val="1D2A5C"/>
                          </a:solidFill>
                          <a:latin typeface="Calibri"/>
                          <a:ea typeface="Calibri"/>
                          <a:cs typeface="Calibri"/>
                          <a:sym typeface="Calibri"/>
                        </a:rPr>
                        <a:t>Mask mAP = box mAP exactly</a:t>
                      </a:r>
                      <a:endParaRPr sz="1150" u="none" cap="none" strike="noStrike">
                        <a:latin typeface="Calibri"/>
                        <a:ea typeface="Calibri"/>
                        <a:cs typeface="Calibri"/>
                        <a:sym typeface="Calibri"/>
                      </a:endParaRPr>
                    </a:p>
                  </a:txBody>
                  <a:tcPr marT="64000" marB="64000" marR="64000" marL="64000" anchor="ctr">
                    <a:lnL cap="flat" cmpd="sng" w="9525">
                      <a:solidFill>
                        <a:srgbClr val="D9E2EA"/>
                      </a:solidFill>
                      <a:prstDash val="solid"/>
                      <a:round/>
                      <a:headEnd len="sm" w="sm" type="none"/>
                      <a:tailEnd len="sm" w="sm" type="none"/>
                    </a:lnL>
                    <a:lnR cap="flat" cmpd="sng" w="9525">
                      <a:solidFill>
                        <a:srgbClr val="D9E2EA"/>
                      </a:solidFill>
                      <a:prstDash val="solid"/>
                      <a:round/>
                      <a:headEnd len="sm" w="sm" type="none"/>
                      <a:tailEnd len="sm" w="sm" type="none"/>
                    </a:lnR>
                    <a:lnT cap="flat" cmpd="sng" w="9525">
                      <a:solidFill>
                        <a:srgbClr val="D9E2EA"/>
                      </a:solidFill>
                      <a:prstDash val="solid"/>
                      <a:round/>
                      <a:headEnd len="sm" w="sm" type="none"/>
                      <a:tailEnd len="sm" w="sm" type="none"/>
                    </a:lnT>
                    <a:lnB cap="flat" cmpd="sng" w="9525">
                      <a:solidFill>
                        <a:srgbClr val="D9E2EA"/>
                      </a:solidFill>
                      <a:prstDash val="solid"/>
                      <a:round/>
                      <a:headEnd len="sm" w="sm" type="none"/>
                      <a:tailEnd len="sm" w="sm" type="none"/>
                    </a:lnB>
                    <a:solidFill>
                      <a:srgbClr val="F2F6F9"/>
                    </a:solidFill>
                  </a:tcPr>
                </a:tc>
                <a:tc>
                  <a:txBody>
                    <a:bodyPr/>
                    <a:lstStyle/>
                    <a:p>
                      <a:pPr indent="0" lvl="0" marL="0" marR="0" rtl="0" algn="l">
                        <a:spcBef>
                          <a:spcPts val="0"/>
                        </a:spcBef>
                        <a:spcAft>
                          <a:spcPts val="0"/>
                        </a:spcAft>
                        <a:buClr>
                          <a:srgbClr val="23293B"/>
                        </a:buClr>
                        <a:buSzPts val="1150"/>
                        <a:buFont typeface="Calibri"/>
                        <a:buNone/>
                      </a:pPr>
                      <a:r>
                        <a:rPr lang="en-US" sz="1150" u="none" cap="none" strike="noStrike">
                          <a:solidFill>
                            <a:srgbClr val="23293B"/>
                          </a:solidFill>
                          <a:latin typeface="Calibri"/>
                          <a:ea typeface="Calibri"/>
                          <a:cs typeface="Calibri"/>
                          <a:sym typeface="Calibri"/>
                        </a:rPr>
                        <a:t>Evaluating boxes twice (wrong object)</a:t>
                      </a:r>
                      <a:endParaRPr sz="1150" u="none" cap="none" strike="noStrike">
                        <a:latin typeface="Calibri"/>
                        <a:ea typeface="Calibri"/>
                        <a:cs typeface="Calibri"/>
                        <a:sym typeface="Calibri"/>
                      </a:endParaRPr>
                    </a:p>
                  </a:txBody>
                  <a:tcPr marT="64000" marB="64000" marR="64000" marL="64000" anchor="ctr">
                    <a:lnL cap="flat" cmpd="sng" w="9525">
                      <a:solidFill>
                        <a:srgbClr val="D9E2EA"/>
                      </a:solidFill>
                      <a:prstDash val="solid"/>
                      <a:round/>
                      <a:headEnd len="sm" w="sm" type="none"/>
                      <a:tailEnd len="sm" w="sm" type="none"/>
                    </a:lnL>
                    <a:lnR cap="flat" cmpd="sng" w="9525">
                      <a:solidFill>
                        <a:srgbClr val="D9E2EA"/>
                      </a:solidFill>
                      <a:prstDash val="solid"/>
                      <a:round/>
                      <a:headEnd len="sm" w="sm" type="none"/>
                      <a:tailEnd len="sm" w="sm" type="none"/>
                    </a:lnR>
                    <a:lnT cap="flat" cmpd="sng" w="9525">
                      <a:solidFill>
                        <a:srgbClr val="D9E2EA"/>
                      </a:solidFill>
                      <a:prstDash val="solid"/>
                      <a:round/>
                      <a:headEnd len="sm" w="sm" type="none"/>
                      <a:tailEnd len="sm" w="sm" type="none"/>
                    </a:lnT>
                    <a:lnB cap="flat" cmpd="sng" w="9525">
                      <a:solidFill>
                        <a:srgbClr val="D9E2EA"/>
                      </a:solidFill>
                      <a:prstDash val="solid"/>
                      <a:round/>
                      <a:headEnd len="sm" w="sm" type="none"/>
                      <a:tailEnd len="sm" w="sm" type="none"/>
                    </a:lnB>
                    <a:solidFill>
                      <a:srgbClr val="F2F6F9"/>
                    </a:solidFill>
                  </a:tcPr>
                </a:tc>
                <a:tc>
                  <a:txBody>
                    <a:bodyPr/>
                    <a:lstStyle/>
                    <a:p>
                      <a:pPr indent="0" lvl="0" marL="0" marR="0" rtl="0" algn="l">
                        <a:spcBef>
                          <a:spcPts val="0"/>
                        </a:spcBef>
                        <a:spcAft>
                          <a:spcPts val="0"/>
                        </a:spcAft>
                        <a:buClr>
                          <a:srgbClr val="23293B"/>
                        </a:buClr>
                        <a:buSzPts val="1150"/>
                        <a:buFont typeface="Calibri"/>
                        <a:buNone/>
                      </a:pPr>
                      <a:r>
                        <a:rPr lang="en-US" sz="1150" u="none" cap="none" strike="noStrike">
                          <a:solidFill>
                            <a:srgbClr val="23293B"/>
                          </a:solidFill>
                          <a:latin typeface="Calibri"/>
                          <a:ea typeface="Calibri"/>
                          <a:cs typeface="Calibri"/>
                          <a:sym typeface="Calibri"/>
                        </a:rPr>
                        <a:t>Read m.seg.*, not m.box.*</a:t>
                      </a:r>
                      <a:endParaRPr sz="1150" u="none" cap="none" strike="noStrike">
                        <a:latin typeface="Calibri"/>
                        <a:ea typeface="Calibri"/>
                        <a:cs typeface="Calibri"/>
                        <a:sym typeface="Calibri"/>
                      </a:endParaRPr>
                    </a:p>
                  </a:txBody>
                  <a:tcPr marT="64000" marB="64000" marR="64000" marL="64000" anchor="ctr">
                    <a:lnL cap="flat" cmpd="sng" w="9525">
                      <a:solidFill>
                        <a:srgbClr val="D9E2EA"/>
                      </a:solidFill>
                      <a:prstDash val="solid"/>
                      <a:round/>
                      <a:headEnd len="sm" w="sm" type="none"/>
                      <a:tailEnd len="sm" w="sm" type="none"/>
                    </a:lnL>
                    <a:lnR cap="flat" cmpd="sng" w="9525">
                      <a:solidFill>
                        <a:srgbClr val="D9E2EA"/>
                      </a:solidFill>
                      <a:prstDash val="solid"/>
                      <a:round/>
                      <a:headEnd len="sm" w="sm" type="none"/>
                      <a:tailEnd len="sm" w="sm" type="none"/>
                    </a:lnR>
                    <a:lnT cap="flat" cmpd="sng" w="9525">
                      <a:solidFill>
                        <a:srgbClr val="D9E2EA"/>
                      </a:solidFill>
                      <a:prstDash val="solid"/>
                      <a:round/>
                      <a:headEnd len="sm" w="sm" type="none"/>
                      <a:tailEnd len="sm" w="sm" type="none"/>
                    </a:lnT>
                    <a:lnB cap="flat" cmpd="sng" w="9525">
                      <a:solidFill>
                        <a:srgbClr val="D9E2EA"/>
                      </a:solidFill>
                      <a:prstDash val="solid"/>
                      <a:round/>
                      <a:headEnd len="sm" w="sm" type="none"/>
                      <a:tailEnd len="sm" w="sm" type="none"/>
                    </a:lnB>
                    <a:solidFill>
                      <a:srgbClr val="F2F6F9"/>
                    </a:solidFill>
                  </a:tcPr>
                </a:tc>
              </a:tr>
              <a:tr h="713225">
                <a:tc>
                  <a:txBody>
                    <a:bodyPr/>
                    <a:lstStyle/>
                    <a:p>
                      <a:pPr indent="0" lvl="0" marL="0" marR="0" rtl="0" algn="l">
                        <a:spcBef>
                          <a:spcPts val="0"/>
                        </a:spcBef>
                        <a:spcAft>
                          <a:spcPts val="0"/>
                        </a:spcAft>
                        <a:buClr>
                          <a:srgbClr val="1D2A5C"/>
                        </a:buClr>
                        <a:buSzPts val="1150"/>
                        <a:buFont typeface="Calibri"/>
                        <a:buNone/>
                      </a:pPr>
                      <a:r>
                        <a:rPr b="1" lang="en-US" sz="1150" u="none" cap="none" strike="noStrike">
                          <a:solidFill>
                            <a:srgbClr val="1D2A5C"/>
                          </a:solidFill>
                          <a:latin typeface="Calibri"/>
                          <a:ea typeface="Calibri"/>
                          <a:cs typeface="Calibri"/>
                          <a:sym typeface="Calibri"/>
                        </a:rPr>
                        <a:t>CUDA OOM at batch 12</a:t>
                      </a:r>
                      <a:endParaRPr sz="1150" u="none" cap="none" strike="noStrike">
                        <a:latin typeface="Calibri"/>
                        <a:ea typeface="Calibri"/>
                        <a:cs typeface="Calibri"/>
                        <a:sym typeface="Calibri"/>
                      </a:endParaRPr>
                    </a:p>
                  </a:txBody>
                  <a:tcPr marT="64000" marB="64000" marR="64000" marL="64000" anchor="ctr">
                    <a:lnL cap="flat" cmpd="sng" w="9525">
                      <a:solidFill>
                        <a:srgbClr val="D9E2EA"/>
                      </a:solidFill>
                      <a:prstDash val="solid"/>
                      <a:round/>
                      <a:headEnd len="sm" w="sm" type="none"/>
                      <a:tailEnd len="sm" w="sm" type="none"/>
                    </a:lnL>
                    <a:lnR cap="flat" cmpd="sng" w="9525">
                      <a:solidFill>
                        <a:srgbClr val="D9E2EA"/>
                      </a:solidFill>
                      <a:prstDash val="solid"/>
                      <a:round/>
                      <a:headEnd len="sm" w="sm" type="none"/>
                      <a:tailEnd len="sm" w="sm" type="none"/>
                    </a:lnR>
                    <a:lnT cap="flat" cmpd="sng" w="9525">
                      <a:solidFill>
                        <a:srgbClr val="D9E2EA"/>
                      </a:solidFill>
                      <a:prstDash val="solid"/>
                      <a:round/>
                      <a:headEnd len="sm" w="sm" type="none"/>
                      <a:tailEnd len="sm" w="sm" type="none"/>
                    </a:lnT>
                    <a:lnB cap="flat" cmpd="sng" w="9525">
                      <a:solidFill>
                        <a:srgbClr val="D9E2EA"/>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23293B"/>
                        </a:buClr>
                        <a:buSzPts val="1150"/>
                        <a:buFont typeface="Calibri"/>
                        <a:buNone/>
                      </a:pPr>
                      <a:r>
                        <a:rPr lang="en-US" sz="1150" u="none" cap="none" strike="noStrike">
                          <a:solidFill>
                            <a:srgbClr val="23293B"/>
                          </a:solidFill>
                          <a:latin typeface="Calibri"/>
                          <a:ea typeface="Calibri"/>
                          <a:cs typeface="Calibri"/>
                          <a:sym typeface="Calibri"/>
                        </a:rPr>
                        <a:t>Prototype masks + 8 GB card</a:t>
                      </a:r>
                      <a:endParaRPr sz="1150" u="none" cap="none" strike="noStrike">
                        <a:latin typeface="Calibri"/>
                        <a:ea typeface="Calibri"/>
                        <a:cs typeface="Calibri"/>
                        <a:sym typeface="Calibri"/>
                      </a:endParaRPr>
                    </a:p>
                  </a:txBody>
                  <a:tcPr marT="64000" marB="64000" marR="64000" marL="64000" anchor="ctr">
                    <a:lnL cap="flat" cmpd="sng" w="9525">
                      <a:solidFill>
                        <a:srgbClr val="D9E2EA"/>
                      </a:solidFill>
                      <a:prstDash val="solid"/>
                      <a:round/>
                      <a:headEnd len="sm" w="sm" type="none"/>
                      <a:tailEnd len="sm" w="sm" type="none"/>
                    </a:lnL>
                    <a:lnR cap="flat" cmpd="sng" w="9525">
                      <a:solidFill>
                        <a:srgbClr val="D9E2EA"/>
                      </a:solidFill>
                      <a:prstDash val="solid"/>
                      <a:round/>
                      <a:headEnd len="sm" w="sm" type="none"/>
                      <a:tailEnd len="sm" w="sm" type="none"/>
                    </a:lnR>
                    <a:lnT cap="flat" cmpd="sng" w="9525">
                      <a:solidFill>
                        <a:srgbClr val="D9E2EA"/>
                      </a:solidFill>
                      <a:prstDash val="solid"/>
                      <a:round/>
                      <a:headEnd len="sm" w="sm" type="none"/>
                      <a:tailEnd len="sm" w="sm" type="none"/>
                    </a:lnT>
                    <a:lnB cap="flat" cmpd="sng" w="9525">
                      <a:solidFill>
                        <a:srgbClr val="D9E2EA"/>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23293B"/>
                        </a:buClr>
                        <a:buSzPts val="1150"/>
                        <a:buFont typeface="Calibri"/>
                        <a:buNone/>
                      </a:pPr>
                      <a:r>
                        <a:rPr lang="en-US" sz="1150" u="none" cap="none" strike="noStrike">
                          <a:solidFill>
                            <a:srgbClr val="23293B"/>
                          </a:solidFill>
                          <a:latin typeface="Calibri"/>
                          <a:ea typeface="Calibri"/>
                          <a:cs typeface="Calibri"/>
                          <a:sym typeface="Calibri"/>
                        </a:rPr>
                        <a:t>batch=8; keep imgsz=640 first</a:t>
                      </a:r>
                      <a:endParaRPr sz="1150" u="none" cap="none" strike="noStrike">
                        <a:latin typeface="Calibri"/>
                        <a:ea typeface="Calibri"/>
                        <a:cs typeface="Calibri"/>
                        <a:sym typeface="Calibri"/>
                      </a:endParaRPr>
                    </a:p>
                  </a:txBody>
                  <a:tcPr marT="64000" marB="64000" marR="64000" marL="64000" anchor="ctr">
                    <a:lnL cap="flat" cmpd="sng" w="9525">
                      <a:solidFill>
                        <a:srgbClr val="D9E2EA"/>
                      </a:solidFill>
                      <a:prstDash val="solid"/>
                      <a:round/>
                      <a:headEnd len="sm" w="sm" type="none"/>
                      <a:tailEnd len="sm" w="sm" type="none"/>
                    </a:lnL>
                    <a:lnR cap="flat" cmpd="sng" w="9525">
                      <a:solidFill>
                        <a:srgbClr val="D9E2EA"/>
                      </a:solidFill>
                      <a:prstDash val="solid"/>
                      <a:round/>
                      <a:headEnd len="sm" w="sm" type="none"/>
                      <a:tailEnd len="sm" w="sm" type="none"/>
                    </a:lnR>
                    <a:lnT cap="flat" cmpd="sng" w="9525">
                      <a:solidFill>
                        <a:srgbClr val="D9E2EA"/>
                      </a:solidFill>
                      <a:prstDash val="solid"/>
                      <a:round/>
                      <a:headEnd len="sm" w="sm" type="none"/>
                      <a:tailEnd len="sm" w="sm" type="none"/>
                    </a:lnT>
                    <a:lnB cap="flat" cmpd="sng" w="9525">
                      <a:solidFill>
                        <a:srgbClr val="D9E2EA"/>
                      </a:solidFill>
                      <a:prstDash val="solid"/>
                      <a:round/>
                      <a:headEnd len="sm" w="sm" type="none"/>
                      <a:tailEnd len="sm" w="sm" type="none"/>
                    </a:lnB>
                    <a:solidFill>
                      <a:srgbClr val="FFFFFF"/>
                    </a:solidFill>
                  </a:tcPr>
                </a:tc>
              </a:tr>
              <a:tr h="713225">
                <a:tc>
                  <a:txBody>
                    <a:bodyPr/>
                    <a:lstStyle/>
                    <a:p>
                      <a:pPr indent="0" lvl="0" marL="0" marR="0" rtl="0" algn="l">
                        <a:spcBef>
                          <a:spcPts val="0"/>
                        </a:spcBef>
                        <a:spcAft>
                          <a:spcPts val="0"/>
                        </a:spcAft>
                        <a:buClr>
                          <a:srgbClr val="1D2A5C"/>
                        </a:buClr>
                        <a:buSzPts val="1150"/>
                        <a:buFont typeface="Calibri"/>
                        <a:buNone/>
                      </a:pPr>
                      <a:r>
                        <a:rPr b="1" lang="en-US" sz="1150" u="none" cap="none" strike="noStrike">
                          <a:solidFill>
                            <a:srgbClr val="1D2A5C"/>
                          </a:solidFill>
                          <a:latin typeface="Calibri"/>
                          <a:ea typeface="Calibri"/>
                          <a:cs typeface="Calibri"/>
                          <a:sym typeface="Calibri"/>
                        </a:rPr>
                        <a:t>Area MAE huge (&gt; 10 pp)</a:t>
                      </a:r>
                      <a:endParaRPr sz="1150" u="none" cap="none" strike="noStrike">
                        <a:latin typeface="Calibri"/>
                        <a:ea typeface="Calibri"/>
                        <a:cs typeface="Calibri"/>
                        <a:sym typeface="Calibri"/>
                      </a:endParaRPr>
                    </a:p>
                  </a:txBody>
                  <a:tcPr marT="64000" marB="64000" marR="64000" marL="64000" anchor="ctr">
                    <a:lnL cap="flat" cmpd="sng" w="9525">
                      <a:solidFill>
                        <a:srgbClr val="D9E2EA"/>
                      </a:solidFill>
                      <a:prstDash val="solid"/>
                      <a:round/>
                      <a:headEnd len="sm" w="sm" type="none"/>
                      <a:tailEnd len="sm" w="sm" type="none"/>
                    </a:lnL>
                    <a:lnR cap="flat" cmpd="sng" w="9525">
                      <a:solidFill>
                        <a:srgbClr val="D9E2EA"/>
                      </a:solidFill>
                      <a:prstDash val="solid"/>
                      <a:round/>
                      <a:headEnd len="sm" w="sm" type="none"/>
                      <a:tailEnd len="sm" w="sm" type="none"/>
                    </a:lnR>
                    <a:lnT cap="flat" cmpd="sng" w="9525">
                      <a:solidFill>
                        <a:srgbClr val="D9E2EA"/>
                      </a:solidFill>
                      <a:prstDash val="solid"/>
                      <a:round/>
                      <a:headEnd len="sm" w="sm" type="none"/>
                      <a:tailEnd len="sm" w="sm" type="none"/>
                    </a:lnT>
                    <a:lnB cap="flat" cmpd="sng" w="9525">
                      <a:solidFill>
                        <a:srgbClr val="D9E2EA"/>
                      </a:solidFill>
                      <a:prstDash val="solid"/>
                      <a:round/>
                      <a:headEnd len="sm" w="sm" type="none"/>
                      <a:tailEnd len="sm" w="sm" type="none"/>
                    </a:lnB>
                    <a:solidFill>
                      <a:srgbClr val="F2F6F9"/>
                    </a:solidFill>
                  </a:tcPr>
                </a:tc>
                <a:tc>
                  <a:txBody>
                    <a:bodyPr/>
                    <a:lstStyle/>
                    <a:p>
                      <a:pPr indent="0" lvl="0" marL="0" marR="0" rtl="0" algn="l">
                        <a:spcBef>
                          <a:spcPts val="0"/>
                        </a:spcBef>
                        <a:spcAft>
                          <a:spcPts val="0"/>
                        </a:spcAft>
                        <a:buClr>
                          <a:srgbClr val="23293B"/>
                        </a:buClr>
                        <a:buSzPts val="1150"/>
                        <a:buFont typeface="Calibri"/>
                        <a:buNone/>
                      </a:pPr>
                      <a:r>
                        <a:rPr lang="en-US" sz="1150" u="none" cap="none" strike="noStrike">
                          <a:solidFill>
                            <a:srgbClr val="23293B"/>
                          </a:solidFill>
                          <a:latin typeface="Calibri"/>
                          <a:ea typeface="Calibri"/>
                          <a:cs typeface="Calibri"/>
                          <a:sym typeface="Calibri"/>
                        </a:rPr>
                        <a:t>Defects attributed to wrong fruit</a:t>
                      </a:r>
                      <a:endParaRPr sz="1150" u="none" cap="none" strike="noStrike">
                        <a:latin typeface="Calibri"/>
                        <a:ea typeface="Calibri"/>
                        <a:cs typeface="Calibri"/>
                        <a:sym typeface="Calibri"/>
                      </a:endParaRPr>
                    </a:p>
                  </a:txBody>
                  <a:tcPr marT="64000" marB="64000" marR="64000" marL="64000" anchor="ctr">
                    <a:lnL cap="flat" cmpd="sng" w="9525">
                      <a:solidFill>
                        <a:srgbClr val="D9E2EA"/>
                      </a:solidFill>
                      <a:prstDash val="solid"/>
                      <a:round/>
                      <a:headEnd len="sm" w="sm" type="none"/>
                      <a:tailEnd len="sm" w="sm" type="none"/>
                    </a:lnL>
                    <a:lnR cap="flat" cmpd="sng" w="9525">
                      <a:solidFill>
                        <a:srgbClr val="D9E2EA"/>
                      </a:solidFill>
                      <a:prstDash val="solid"/>
                      <a:round/>
                      <a:headEnd len="sm" w="sm" type="none"/>
                      <a:tailEnd len="sm" w="sm" type="none"/>
                    </a:lnR>
                    <a:lnT cap="flat" cmpd="sng" w="9525">
                      <a:solidFill>
                        <a:srgbClr val="D9E2EA"/>
                      </a:solidFill>
                      <a:prstDash val="solid"/>
                      <a:round/>
                      <a:headEnd len="sm" w="sm" type="none"/>
                      <a:tailEnd len="sm" w="sm" type="none"/>
                    </a:lnT>
                    <a:lnB cap="flat" cmpd="sng" w="9525">
                      <a:solidFill>
                        <a:srgbClr val="D9E2EA"/>
                      </a:solidFill>
                      <a:prstDash val="solid"/>
                      <a:round/>
                      <a:headEnd len="sm" w="sm" type="none"/>
                      <a:tailEnd len="sm" w="sm" type="none"/>
                    </a:lnB>
                    <a:solidFill>
                      <a:srgbClr val="F2F6F9"/>
                    </a:solidFill>
                  </a:tcPr>
                </a:tc>
                <a:tc>
                  <a:txBody>
                    <a:bodyPr/>
                    <a:lstStyle/>
                    <a:p>
                      <a:pPr indent="0" lvl="0" marL="0" marR="0" rtl="0" algn="l">
                        <a:spcBef>
                          <a:spcPts val="0"/>
                        </a:spcBef>
                        <a:spcAft>
                          <a:spcPts val="0"/>
                        </a:spcAft>
                        <a:buClr>
                          <a:srgbClr val="23293B"/>
                        </a:buClr>
                        <a:buSzPts val="1150"/>
                        <a:buFont typeface="Calibri"/>
                        <a:buNone/>
                      </a:pPr>
                      <a:r>
                        <a:rPr lang="en-US" sz="1150" u="none" cap="none" strike="noStrike">
                          <a:solidFill>
                            <a:srgbClr val="23293B"/>
                          </a:solidFill>
                          <a:latin typeface="Calibri"/>
                          <a:ea typeface="Calibri"/>
                          <a:cs typeface="Calibri"/>
                          <a:sym typeface="Calibri"/>
                        </a:rPr>
                        <a:t>Check majority-overlap; render failing frames</a:t>
                      </a:r>
                      <a:endParaRPr sz="1150" u="none" cap="none" strike="noStrike">
                        <a:latin typeface="Calibri"/>
                        <a:ea typeface="Calibri"/>
                        <a:cs typeface="Calibri"/>
                        <a:sym typeface="Calibri"/>
                      </a:endParaRPr>
                    </a:p>
                  </a:txBody>
                  <a:tcPr marT="64000" marB="64000" marR="64000" marL="64000" anchor="ctr">
                    <a:lnL cap="flat" cmpd="sng" w="9525">
                      <a:solidFill>
                        <a:srgbClr val="D9E2EA"/>
                      </a:solidFill>
                      <a:prstDash val="solid"/>
                      <a:round/>
                      <a:headEnd len="sm" w="sm" type="none"/>
                      <a:tailEnd len="sm" w="sm" type="none"/>
                    </a:lnL>
                    <a:lnR cap="flat" cmpd="sng" w="9525">
                      <a:solidFill>
                        <a:srgbClr val="D9E2EA"/>
                      </a:solidFill>
                      <a:prstDash val="solid"/>
                      <a:round/>
                      <a:headEnd len="sm" w="sm" type="none"/>
                      <a:tailEnd len="sm" w="sm" type="none"/>
                    </a:lnR>
                    <a:lnT cap="flat" cmpd="sng" w="9525">
                      <a:solidFill>
                        <a:srgbClr val="D9E2EA"/>
                      </a:solidFill>
                      <a:prstDash val="solid"/>
                      <a:round/>
                      <a:headEnd len="sm" w="sm" type="none"/>
                      <a:tailEnd len="sm" w="sm" type="none"/>
                    </a:lnT>
                    <a:lnB cap="flat" cmpd="sng" w="9525">
                      <a:solidFill>
                        <a:srgbClr val="D9E2EA"/>
                      </a:solidFill>
                      <a:prstDash val="solid"/>
                      <a:round/>
                      <a:headEnd len="sm" w="sm" type="none"/>
                      <a:tailEnd len="sm" w="sm" type="none"/>
                    </a:lnB>
                    <a:solidFill>
                      <a:srgbClr val="F2F6F9"/>
                    </a:solidFill>
                  </a:tcPr>
                </a:tc>
              </a:tr>
              <a:tr h="713225">
                <a:tc>
                  <a:txBody>
                    <a:bodyPr/>
                    <a:lstStyle/>
                    <a:p>
                      <a:pPr indent="0" lvl="0" marL="0" marR="0" rtl="0" algn="l">
                        <a:spcBef>
                          <a:spcPts val="0"/>
                        </a:spcBef>
                        <a:spcAft>
                          <a:spcPts val="0"/>
                        </a:spcAft>
                        <a:buClr>
                          <a:srgbClr val="1D2A5C"/>
                        </a:buClr>
                        <a:buSzPts val="1150"/>
                        <a:buFont typeface="Calibri"/>
                        <a:buNone/>
                      </a:pPr>
                      <a:r>
                        <a:rPr b="1" lang="en-US" sz="1150" u="none" cap="none" strike="noStrike">
                          <a:solidFill>
                            <a:srgbClr val="1D2A5C"/>
                          </a:solidFill>
                          <a:latin typeface="Calibri"/>
                          <a:ea typeface="Calibri"/>
                          <a:cs typeface="Calibri"/>
                          <a:sym typeface="Calibri"/>
                        </a:rPr>
                        <a:t>Masks look blocky / staircased</a:t>
                      </a:r>
                      <a:endParaRPr sz="1150" u="none" cap="none" strike="noStrike">
                        <a:latin typeface="Calibri"/>
                        <a:ea typeface="Calibri"/>
                        <a:cs typeface="Calibri"/>
                        <a:sym typeface="Calibri"/>
                      </a:endParaRPr>
                    </a:p>
                  </a:txBody>
                  <a:tcPr marT="64000" marB="64000" marR="64000" marL="64000" anchor="ctr">
                    <a:lnL cap="flat" cmpd="sng" w="9525">
                      <a:solidFill>
                        <a:srgbClr val="D9E2EA"/>
                      </a:solidFill>
                      <a:prstDash val="solid"/>
                      <a:round/>
                      <a:headEnd len="sm" w="sm" type="none"/>
                      <a:tailEnd len="sm" w="sm" type="none"/>
                    </a:lnL>
                    <a:lnR cap="flat" cmpd="sng" w="9525">
                      <a:solidFill>
                        <a:srgbClr val="D9E2EA"/>
                      </a:solidFill>
                      <a:prstDash val="solid"/>
                      <a:round/>
                      <a:headEnd len="sm" w="sm" type="none"/>
                      <a:tailEnd len="sm" w="sm" type="none"/>
                    </a:lnR>
                    <a:lnT cap="flat" cmpd="sng" w="9525">
                      <a:solidFill>
                        <a:srgbClr val="D9E2EA"/>
                      </a:solidFill>
                      <a:prstDash val="solid"/>
                      <a:round/>
                      <a:headEnd len="sm" w="sm" type="none"/>
                      <a:tailEnd len="sm" w="sm" type="none"/>
                    </a:lnT>
                    <a:lnB cap="flat" cmpd="sng" w="9525">
                      <a:solidFill>
                        <a:srgbClr val="D9E2EA"/>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23293B"/>
                        </a:buClr>
                        <a:buSzPts val="1150"/>
                        <a:buFont typeface="Calibri"/>
                        <a:buNone/>
                      </a:pPr>
                      <a:r>
                        <a:rPr lang="en-US" sz="1150" u="none" cap="none" strike="noStrike">
                          <a:solidFill>
                            <a:srgbClr val="23293B"/>
                          </a:solidFill>
                          <a:latin typeface="Calibri"/>
                          <a:ea typeface="Calibri"/>
                          <a:cs typeface="Calibri"/>
                          <a:sym typeface="Calibri"/>
                        </a:rPr>
                        <a:t>Rendered at low res, then upsampled</a:t>
                      </a:r>
                      <a:endParaRPr sz="1150" u="none" cap="none" strike="noStrike">
                        <a:latin typeface="Calibri"/>
                        <a:ea typeface="Calibri"/>
                        <a:cs typeface="Calibri"/>
                        <a:sym typeface="Calibri"/>
                      </a:endParaRPr>
                    </a:p>
                  </a:txBody>
                  <a:tcPr marT="64000" marB="64000" marR="64000" marL="64000" anchor="ctr">
                    <a:lnL cap="flat" cmpd="sng" w="9525">
                      <a:solidFill>
                        <a:srgbClr val="D9E2EA"/>
                      </a:solidFill>
                      <a:prstDash val="solid"/>
                      <a:round/>
                      <a:headEnd len="sm" w="sm" type="none"/>
                      <a:tailEnd len="sm" w="sm" type="none"/>
                    </a:lnL>
                    <a:lnR cap="flat" cmpd="sng" w="9525">
                      <a:solidFill>
                        <a:srgbClr val="D9E2EA"/>
                      </a:solidFill>
                      <a:prstDash val="solid"/>
                      <a:round/>
                      <a:headEnd len="sm" w="sm" type="none"/>
                      <a:tailEnd len="sm" w="sm" type="none"/>
                    </a:lnR>
                    <a:lnT cap="flat" cmpd="sng" w="9525">
                      <a:solidFill>
                        <a:srgbClr val="D9E2EA"/>
                      </a:solidFill>
                      <a:prstDash val="solid"/>
                      <a:round/>
                      <a:headEnd len="sm" w="sm" type="none"/>
                      <a:tailEnd len="sm" w="sm" type="none"/>
                    </a:lnT>
                    <a:lnB cap="flat" cmpd="sng" w="9525">
                      <a:solidFill>
                        <a:srgbClr val="D9E2EA"/>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23293B"/>
                        </a:buClr>
                        <a:buSzPts val="1150"/>
                        <a:buFont typeface="Calibri"/>
                        <a:buNone/>
                      </a:pPr>
                      <a:r>
                        <a:rPr lang="en-US" sz="1150" u="none" cap="none" strike="noStrike">
                          <a:solidFill>
                            <a:srgbClr val="23293B"/>
                          </a:solidFill>
                          <a:latin typeface="Calibri"/>
                          <a:ea typeface="Calibri"/>
                          <a:cs typeface="Calibri"/>
                          <a:sym typeface="Calibri"/>
                        </a:rPr>
                        <a:t>Overlay at native res; retina_masks=True</a:t>
                      </a:r>
                      <a:endParaRPr sz="1150" u="none" cap="none" strike="noStrike">
                        <a:latin typeface="Calibri"/>
                        <a:ea typeface="Calibri"/>
                        <a:cs typeface="Calibri"/>
                        <a:sym typeface="Calibri"/>
                      </a:endParaRPr>
                    </a:p>
                  </a:txBody>
                  <a:tcPr marT="64000" marB="64000" marR="64000" marL="64000" anchor="ctr">
                    <a:lnL cap="flat" cmpd="sng" w="9525">
                      <a:solidFill>
                        <a:srgbClr val="D9E2EA"/>
                      </a:solidFill>
                      <a:prstDash val="solid"/>
                      <a:round/>
                      <a:headEnd len="sm" w="sm" type="none"/>
                      <a:tailEnd len="sm" w="sm" type="none"/>
                    </a:lnL>
                    <a:lnR cap="flat" cmpd="sng" w="9525">
                      <a:solidFill>
                        <a:srgbClr val="D9E2EA"/>
                      </a:solidFill>
                      <a:prstDash val="solid"/>
                      <a:round/>
                      <a:headEnd len="sm" w="sm" type="none"/>
                      <a:tailEnd len="sm" w="sm" type="none"/>
                    </a:lnR>
                    <a:lnT cap="flat" cmpd="sng" w="9525">
                      <a:solidFill>
                        <a:srgbClr val="D9E2EA"/>
                      </a:solidFill>
                      <a:prstDash val="solid"/>
                      <a:round/>
                      <a:headEnd len="sm" w="sm" type="none"/>
                      <a:tailEnd len="sm" w="sm" type="none"/>
                    </a:lnT>
                    <a:lnB cap="flat" cmpd="sng" w="9525">
                      <a:solidFill>
                        <a:srgbClr val="D9E2EA"/>
                      </a:solidFill>
                      <a:prstDash val="solid"/>
                      <a:round/>
                      <a:headEnd len="sm" w="sm" type="none"/>
                      <a:tailEnd len="sm" w="sm" type="none"/>
                    </a:lnB>
                    <a:solidFill>
                      <a:srgbClr val="FFFFFF"/>
                    </a:solidFill>
                  </a:tcPr>
                </a:tc>
              </a:tr>
            </a:tbl>
          </a:graphicData>
        </a:graphic>
      </p:graphicFrame>
    </p:spTree>
  </p:cSld>
  <p:clrMapOvr>
    <a:masterClrMapping/>
  </p:clrMapOvr>
</p:sld>
</file>

<file path=ppt/slides/slide8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306" name="Shape 2306"/>
        <p:cNvGrpSpPr/>
        <p:nvPr/>
      </p:nvGrpSpPr>
      <p:grpSpPr>
        <a:xfrm>
          <a:off x="0" y="0"/>
          <a:ext cx="0" cy="0"/>
          <a:chOff x="0" y="0"/>
          <a:chExt cx="0" cy="0"/>
        </a:xfrm>
      </p:grpSpPr>
      <p:sp>
        <p:nvSpPr>
          <p:cNvPr id="2307" name="Google Shape;2307;p82"/>
          <p:cNvSpPr/>
          <p:nvPr/>
        </p:nvSpPr>
        <p:spPr>
          <a:xfrm>
            <a:off x="502920" y="274320"/>
            <a:ext cx="9646920" cy="56692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D2A5C"/>
              </a:buClr>
              <a:buSzPts val="2700"/>
              <a:buFont typeface="Calibri"/>
              <a:buNone/>
            </a:pPr>
            <a:r>
              <a:rPr b="1" i="0" lang="en-US" sz="2700" u="none" cap="none" strike="noStrike">
                <a:solidFill>
                  <a:srgbClr val="1D2A5C"/>
                </a:solidFill>
                <a:latin typeface="Calibri"/>
                <a:ea typeface="Calibri"/>
                <a:cs typeface="Calibri"/>
                <a:sym typeface="Calibri"/>
              </a:rPr>
              <a:t>Module 4 Quiz</a:t>
            </a:r>
            <a:endParaRPr b="0" i="0" sz="2700" u="none" cap="none" strike="noStrike">
              <a:solidFill>
                <a:schemeClr val="dk1"/>
              </a:solidFill>
              <a:latin typeface="Calibri"/>
              <a:ea typeface="Calibri"/>
              <a:cs typeface="Calibri"/>
              <a:sym typeface="Calibri"/>
            </a:endParaRPr>
          </a:p>
        </p:txBody>
      </p:sp>
      <p:sp>
        <p:nvSpPr>
          <p:cNvPr id="2308" name="Google Shape;2308;p82"/>
          <p:cNvSpPr/>
          <p:nvPr/>
        </p:nvSpPr>
        <p:spPr>
          <a:xfrm>
            <a:off x="502920" y="859536"/>
            <a:ext cx="9646920" cy="31089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F6B7A"/>
              </a:buClr>
              <a:buSzPts val="1250"/>
              <a:buFont typeface="Arial"/>
              <a:buNone/>
            </a:pPr>
            <a:r>
              <a:rPr b="0" i="0" lang="en-US" sz="1250" u="none" cap="none" strike="noStrike">
                <a:solidFill>
                  <a:srgbClr val="5F6B7A"/>
                </a:solidFill>
                <a:latin typeface="Arial"/>
                <a:ea typeface="Arial"/>
                <a:cs typeface="Arial"/>
                <a:sym typeface="Arial"/>
              </a:rPr>
              <a:t>اختبار الوحدة الرابعة</a:t>
            </a:r>
            <a:endParaRPr b="0" i="0" sz="1250" u="none" cap="none" strike="noStrike">
              <a:solidFill>
                <a:schemeClr val="dk1"/>
              </a:solidFill>
              <a:latin typeface="Calibri"/>
              <a:ea typeface="Calibri"/>
              <a:cs typeface="Calibri"/>
              <a:sym typeface="Calibri"/>
            </a:endParaRPr>
          </a:p>
        </p:txBody>
      </p:sp>
      <p:pic>
        <p:nvPicPr>
          <p:cNvPr descr="/sessions/blissful-determined-ritchie/build/assets/sdaia_logo.png" id="2309" name="Google Shape;2309;p82"/>
          <p:cNvPicPr preferRelativeResize="0"/>
          <p:nvPr/>
        </p:nvPicPr>
        <p:blipFill rotWithShape="1">
          <a:blip r:embed="rId3">
            <a:alphaModFix/>
          </a:blip>
          <a:srcRect b="0" l="0" r="0" t="0"/>
          <a:stretch/>
        </p:blipFill>
        <p:spPr>
          <a:xfrm>
            <a:off x="10625328" y="310896"/>
            <a:ext cx="1078992" cy="264111"/>
          </a:xfrm>
          <a:prstGeom prst="rect">
            <a:avLst/>
          </a:prstGeom>
          <a:noFill/>
          <a:ln>
            <a:noFill/>
          </a:ln>
        </p:spPr>
      </p:pic>
      <p:sp>
        <p:nvSpPr>
          <p:cNvPr id="2310" name="Google Shape;2310;p82"/>
          <p:cNvSpPr/>
          <p:nvPr/>
        </p:nvSpPr>
        <p:spPr>
          <a:xfrm>
            <a:off x="502920" y="6528816"/>
            <a:ext cx="8686800"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A79D"/>
              </a:buClr>
              <a:buSzPts val="800"/>
              <a:buFont typeface="Calibri"/>
              <a:buNone/>
            </a:pPr>
            <a:r>
              <a:rPr b="1" i="0" lang="en-US" sz="800" u="none" cap="none" strike="noStrike">
                <a:solidFill>
                  <a:srgbClr val="00A79D"/>
                </a:solidFill>
                <a:latin typeface="Calibri"/>
                <a:ea typeface="Calibri"/>
                <a:cs typeface="Calibri"/>
                <a:sym typeface="Calibri"/>
              </a:rPr>
              <a:t>MODULE 4 · QUIZ   </a:t>
            </a:r>
            <a:r>
              <a:rPr b="0" i="0" lang="en-US" sz="800" u="none" cap="none" strike="noStrike">
                <a:solidFill>
                  <a:srgbClr val="8A96A6"/>
                </a:solidFill>
                <a:latin typeface="Calibri"/>
                <a:ea typeface="Calibri"/>
                <a:cs typeface="Calibri"/>
                <a:sym typeface="Calibri"/>
              </a:rPr>
              <a:t>SDA-AIE-212 · Computer Vision Systems Development</a:t>
            </a:r>
            <a:endParaRPr b="0" i="0" sz="800" u="none" cap="none" strike="noStrike">
              <a:solidFill>
                <a:schemeClr val="dk1"/>
              </a:solidFill>
              <a:latin typeface="Calibri"/>
              <a:ea typeface="Calibri"/>
              <a:cs typeface="Calibri"/>
              <a:sym typeface="Calibri"/>
            </a:endParaRPr>
          </a:p>
        </p:txBody>
      </p:sp>
      <p:sp>
        <p:nvSpPr>
          <p:cNvPr id="2311" name="Google Shape;2311;p82"/>
          <p:cNvSpPr/>
          <p:nvPr/>
        </p:nvSpPr>
        <p:spPr>
          <a:xfrm>
            <a:off x="11292840" y="6528816"/>
            <a:ext cx="411480" cy="219456"/>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8A96A6"/>
              </a:buClr>
              <a:buSzPts val="900"/>
              <a:buFont typeface="Calibri"/>
              <a:buNone/>
            </a:pPr>
            <a:r>
              <a:rPr b="0" i="0" lang="en-US" sz="900" u="none" cap="none" strike="noStrike">
                <a:solidFill>
                  <a:srgbClr val="8A96A6"/>
                </a:solidFill>
                <a:latin typeface="Calibri"/>
                <a:ea typeface="Calibri"/>
                <a:cs typeface="Calibri"/>
                <a:sym typeface="Calibri"/>
              </a:rPr>
              <a:t>82</a:t>
            </a:r>
            <a:endParaRPr b="0" i="0" sz="900" u="none" cap="none" strike="noStrike">
              <a:solidFill>
                <a:schemeClr val="dk1"/>
              </a:solidFill>
              <a:latin typeface="Calibri"/>
              <a:ea typeface="Calibri"/>
              <a:cs typeface="Calibri"/>
              <a:sym typeface="Calibri"/>
            </a:endParaRPr>
          </a:p>
        </p:txBody>
      </p:sp>
      <p:sp>
        <p:nvSpPr>
          <p:cNvPr id="2312" name="Google Shape;2312;p82"/>
          <p:cNvSpPr/>
          <p:nvPr/>
        </p:nvSpPr>
        <p:spPr>
          <a:xfrm>
            <a:off x="502920" y="1417320"/>
            <a:ext cx="11183112" cy="801014"/>
          </a:xfrm>
          <a:prstGeom prst="roundRect">
            <a:avLst>
              <a:gd fmla="val 9132" name="adj"/>
            </a:avLst>
          </a:prstGeom>
          <a:solidFill>
            <a:srgbClr val="F2F6F9"/>
          </a:solidFill>
          <a:ln cap="flat" cmpd="sng" w="9525">
            <a:solidFill>
              <a:srgbClr val="D9E2E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13" name="Google Shape;2313;p82"/>
          <p:cNvSpPr/>
          <p:nvPr/>
        </p:nvSpPr>
        <p:spPr>
          <a:xfrm>
            <a:off x="649224" y="1644091"/>
            <a:ext cx="347472" cy="347472"/>
          </a:xfrm>
          <a:prstGeom prst="ellipse">
            <a:avLst/>
          </a:prstGeom>
          <a:solidFill>
            <a:srgbClr val="F5822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14" name="Google Shape;2314;p82"/>
          <p:cNvSpPr/>
          <p:nvPr/>
        </p:nvSpPr>
        <p:spPr>
          <a:xfrm>
            <a:off x="649224" y="1644091"/>
            <a:ext cx="347472" cy="34747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050"/>
              <a:buFont typeface="Calibri"/>
              <a:buNone/>
            </a:pPr>
            <a:r>
              <a:rPr b="1" i="0" lang="en-US" sz="1050" u="none" cap="none" strike="noStrike">
                <a:solidFill>
                  <a:srgbClr val="FFFFFF"/>
                </a:solidFill>
                <a:latin typeface="Calibri"/>
                <a:ea typeface="Calibri"/>
                <a:cs typeface="Calibri"/>
                <a:sym typeface="Calibri"/>
              </a:rPr>
              <a:t>Q1</a:t>
            </a:r>
            <a:endParaRPr b="0" i="0" sz="1050" u="none" cap="none" strike="noStrike">
              <a:solidFill>
                <a:schemeClr val="dk1"/>
              </a:solidFill>
              <a:latin typeface="Calibri"/>
              <a:ea typeface="Calibri"/>
              <a:cs typeface="Calibri"/>
              <a:sym typeface="Calibri"/>
            </a:endParaRPr>
          </a:p>
        </p:txBody>
      </p:sp>
      <p:sp>
        <p:nvSpPr>
          <p:cNvPr id="2315" name="Google Shape;2315;p82"/>
          <p:cNvSpPr/>
          <p:nvPr/>
        </p:nvSpPr>
        <p:spPr>
          <a:xfrm>
            <a:off x="1161288" y="1417320"/>
            <a:ext cx="10332720" cy="80101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3293B"/>
              </a:buClr>
              <a:buSzPts val="1250"/>
              <a:buFont typeface="Calibri"/>
              <a:buNone/>
            </a:pPr>
            <a:r>
              <a:rPr b="0" i="0" lang="en-US" sz="1250" u="none" cap="none" strike="noStrike">
                <a:solidFill>
                  <a:srgbClr val="23293B"/>
                </a:solidFill>
                <a:latin typeface="Calibri"/>
                <a:ea typeface="Calibri"/>
                <a:cs typeface="Calibri"/>
                <a:sym typeface="Calibri"/>
              </a:rPr>
              <a:t>Semantic vs instance segmentation — which can produce 'defect area per fruit', and why?</a:t>
            </a:r>
            <a:endParaRPr b="0" i="0" sz="1250" u="none" cap="none" strike="noStrike">
              <a:solidFill>
                <a:schemeClr val="dk1"/>
              </a:solidFill>
              <a:latin typeface="Calibri"/>
              <a:ea typeface="Calibri"/>
              <a:cs typeface="Calibri"/>
              <a:sym typeface="Calibri"/>
            </a:endParaRPr>
          </a:p>
        </p:txBody>
      </p:sp>
      <p:sp>
        <p:nvSpPr>
          <p:cNvPr id="2316" name="Google Shape;2316;p82"/>
          <p:cNvSpPr/>
          <p:nvPr/>
        </p:nvSpPr>
        <p:spPr>
          <a:xfrm>
            <a:off x="502920" y="2346350"/>
            <a:ext cx="11183112" cy="801014"/>
          </a:xfrm>
          <a:prstGeom prst="roundRect">
            <a:avLst>
              <a:gd fmla="val 9132" name="adj"/>
            </a:avLst>
          </a:prstGeom>
          <a:solidFill>
            <a:srgbClr val="F2F6F9"/>
          </a:solidFill>
          <a:ln cap="flat" cmpd="sng" w="9525">
            <a:solidFill>
              <a:srgbClr val="D9E2E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17" name="Google Shape;2317;p82"/>
          <p:cNvSpPr/>
          <p:nvPr/>
        </p:nvSpPr>
        <p:spPr>
          <a:xfrm>
            <a:off x="649224" y="2573122"/>
            <a:ext cx="347472" cy="347472"/>
          </a:xfrm>
          <a:prstGeom prst="ellipse">
            <a:avLst/>
          </a:prstGeom>
          <a:solidFill>
            <a:srgbClr val="F5822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18" name="Google Shape;2318;p82"/>
          <p:cNvSpPr/>
          <p:nvPr/>
        </p:nvSpPr>
        <p:spPr>
          <a:xfrm>
            <a:off x="649224" y="2573122"/>
            <a:ext cx="347472" cy="34747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050"/>
              <a:buFont typeface="Calibri"/>
              <a:buNone/>
            </a:pPr>
            <a:r>
              <a:rPr b="1" i="0" lang="en-US" sz="1050" u="none" cap="none" strike="noStrike">
                <a:solidFill>
                  <a:srgbClr val="FFFFFF"/>
                </a:solidFill>
                <a:latin typeface="Calibri"/>
                <a:ea typeface="Calibri"/>
                <a:cs typeface="Calibri"/>
                <a:sym typeface="Calibri"/>
              </a:rPr>
              <a:t>Q2</a:t>
            </a:r>
            <a:endParaRPr b="0" i="0" sz="1050" u="none" cap="none" strike="noStrike">
              <a:solidFill>
                <a:schemeClr val="dk1"/>
              </a:solidFill>
              <a:latin typeface="Calibri"/>
              <a:ea typeface="Calibri"/>
              <a:cs typeface="Calibri"/>
              <a:sym typeface="Calibri"/>
            </a:endParaRPr>
          </a:p>
        </p:txBody>
      </p:sp>
      <p:sp>
        <p:nvSpPr>
          <p:cNvPr id="2319" name="Google Shape;2319;p82"/>
          <p:cNvSpPr/>
          <p:nvPr/>
        </p:nvSpPr>
        <p:spPr>
          <a:xfrm>
            <a:off x="1161288" y="2346350"/>
            <a:ext cx="10332720" cy="80101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3293B"/>
              </a:buClr>
              <a:buSzPts val="1250"/>
              <a:buFont typeface="Calibri"/>
              <a:buNone/>
            </a:pPr>
            <a:r>
              <a:rPr b="0" i="0" lang="en-US" sz="1250" u="none" cap="none" strike="noStrike">
                <a:solidFill>
                  <a:srgbClr val="23293B"/>
                </a:solidFill>
                <a:latin typeface="Calibri"/>
                <a:ea typeface="Calibri"/>
                <a:cs typeface="Calibri"/>
                <a:sym typeface="Calibri"/>
              </a:rPr>
              <a:t>What do U-Net skip connections preserve that a plain encoder-decoder loses?</a:t>
            </a:r>
            <a:endParaRPr b="0" i="0" sz="1250" u="none" cap="none" strike="noStrike">
              <a:solidFill>
                <a:schemeClr val="dk1"/>
              </a:solidFill>
              <a:latin typeface="Calibri"/>
              <a:ea typeface="Calibri"/>
              <a:cs typeface="Calibri"/>
              <a:sym typeface="Calibri"/>
            </a:endParaRPr>
          </a:p>
        </p:txBody>
      </p:sp>
      <p:sp>
        <p:nvSpPr>
          <p:cNvPr id="2320" name="Google Shape;2320;p82"/>
          <p:cNvSpPr/>
          <p:nvPr/>
        </p:nvSpPr>
        <p:spPr>
          <a:xfrm>
            <a:off x="502920" y="3275381"/>
            <a:ext cx="11183112" cy="801014"/>
          </a:xfrm>
          <a:prstGeom prst="roundRect">
            <a:avLst>
              <a:gd fmla="val 9132" name="adj"/>
            </a:avLst>
          </a:prstGeom>
          <a:solidFill>
            <a:srgbClr val="F2F6F9"/>
          </a:solidFill>
          <a:ln cap="flat" cmpd="sng" w="9525">
            <a:solidFill>
              <a:srgbClr val="D9E2E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21" name="Google Shape;2321;p82"/>
          <p:cNvSpPr/>
          <p:nvPr/>
        </p:nvSpPr>
        <p:spPr>
          <a:xfrm>
            <a:off x="649224" y="3502152"/>
            <a:ext cx="347472" cy="347472"/>
          </a:xfrm>
          <a:prstGeom prst="ellipse">
            <a:avLst/>
          </a:prstGeom>
          <a:solidFill>
            <a:srgbClr val="F5822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22" name="Google Shape;2322;p82"/>
          <p:cNvSpPr/>
          <p:nvPr/>
        </p:nvSpPr>
        <p:spPr>
          <a:xfrm>
            <a:off x="649224" y="3502152"/>
            <a:ext cx="347472" cy="34747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050"/>
              <a:buFont typeface="Calibri"/>
              <a:buNone/>
            </a:pPr>
            <a:r>
              <a:rPr b="1" i="0" lang="en-US" sz="1050" u="none" cap="none" strike="noStrike">
                <a:solidFill>
                  <a:srgbClr val="FFFFFF"/>
                </a:solidFill>
                <a:latin typeface="Calibri"/>
                <a:ea typeface="Calibri"/>
                <a:cs typeface="Calibri"/>
                <a:sym typeface="Calibri"/>
              </a:rPr>
              <a:t>Q3</a:t>
            </a:r>
            <a:endParaRPr b="0" i="0" sz="1050" u="none" cap="none" strike="noStrike">
              <a:solidFill>
                <a:schemeClr val="dk1"/>
              </a:solidFill>
              <a:latin typeface="Calibri"/>
              <a:ea typeface="Calibri"/>
              <a:cs typeface="Calibri"/>
              <a:sym typeface="Calibri"/>
            </a:endParaRPr>
          </a:p>
        </p:txBody>
      </p:sp>
      <p:sp>
        <p:nvSpPr>
          <p:cNvPr id="2323" name="Google Shape;2323;p82"/>
          <p:cNvSpPr/>
          <p:nvPr/>
        </p:nvSpPr>
        <p:spPr>
          <a:xfrm>
            <a:off x="1161288" y="3275381"/>
            <a:ext cx="10332720" cy="80101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3293B"/>
              </a:buClr>
              <a:buSzPts val="1250"/>
              <a:buFont typeface="Calibri"/>
              <a:buNone/>
            </a:pPr>
            <a:r>
              <a:rPr b="0" i="0" lang="en-US" sz="1250" u="none" cap="none" strike="noStrike">
                <a:solidFill>
                  <a:srgbClr val="23293B"/>
                </a:solidFill>
                <a:latin typeface="Calibri"/>
                <a:ea typeface="Calibri"/>
                <a:cs typeface="Calibri"/>
                <a:sym typeface="Calibri"/>
              </a:rPr>
              <a:t>Why does Dice loss beat plain BCE on a 2%-of-pixels defect class?</a:t>
            </a:r>
            <a:endParaRPr b="0" i="0" sz="1250" u="none" cap="none" strike="noStrike">
              <a:solidFill>
                <a:schemeClr val="dk1"/>
              </a:solidFill>
              <a:latin typeface="Calibri"/>
              <a:ea typeface="Calibri"/>
              <a:cs typeface="Calibri"/>
              <a:sym typeface="Calibri"/>
            </a:endParaRPr>
          </a:p>
        </p:txBody>
      </p:sp>
      <p:sp>
        <p:nvSpPr>
          <p:cNvPr id="2324" name="Google Shape;2324;p82"/>
          <p:cNvSpPr/>
          <p:nvPr/>
        </p:nvSpPr>
        <p:spPr>
          <a:xfrm>
            <a:off x="502920" y="4204411"/>
            <a:ext cx="11183112" cy="801014"/>
          </a:xfrm>
          <a:prstGeom prst="roundRect">
            <a:avLst>
              <a:gd fmla="val 9132" name="adj"/>
            </a:avLst>
          </a:prstGeom>
          <a:solidFill>
            <a:srgbClr val="F2F6F9"/>
          </a:solidFill>
          <a:ln cap="flat" cmpd="sng" w="9525">
            <a:solidFill>
              <a:srgbClr val="D9E2E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25" name="Google Shape;2325;p82"/>
          <p:cNvSpPr/>
          <p:nvPr/>
        </p:nvSpPr>
        <p:spPr>
          <a:xfrm>
            <a:off x="649224" y="4431182"/>
            <a:ext cx="347472" cy="347472"/>
          </a:xfrm>
          <a:prstGeom prst="ellipse">
            <a:avLst/>
          </a:prstGeom>
          <a:solidFill>
            <a:srgbClr val="F5822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26" name="Google Shape;2326;p82"/>
          <p:cNvSpPr/>
          <p:nvPr/>
        </p:nvSpPr>
        <p:spPr>
          <a:xfrm>
            <a:off x="649224" y="4431182"/>
            <a:ext cx="347472" cy="34747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050"/>
              <a:buFont typeface="Calibri"/>
              <a:buNone/>
            </a:pPr>
            <a:r>
              <a:rPr b="1" i="0" lang="en-US" sz="1050" u="none" cap="none" strike="noStrike">
                <a:solidFill>
                  <a:srgbClr val="FFFFFF"/>
                </a:solidFill>
                <a:latin typeface="Calibri"/>
                <a:ea typeface="Calibri"/>
                <a:cs typeface="Calibri"/>
                <a:sym typeface="Calibri"/>
              </a:rPr>
              <a:t>Q4</a:t>
            </a:r>
            <a:endParaRPr b="0" i="0" sz="1050" u="none" cap="none" strike="noStrike">
              <a:solidFill>
                <a:schemeClr val="dk1"/>
              </a:solidFill>
              <a:latin typeface="Calibri"/>
              <a:ea typeface="Calibri"/>
              <a:cs typeface="Calibri"/>
              <a:sym typeface="Calibri"/>
            </a:endParaRPr>
          </a:p>
        </p:txBody>
      </p:sp>
      <p:sp>
        <p:nvSpPr>
          <p:cNvPr id="2327" name="Google Shape;2327;p82"/>
          <p:cNvSpPr/>
          <p:nvPr/>
        </p:nvSpPr>
        <p:spPr>
          <a:xfrm>
            <a:off x="1161288" y="4204411"/>
            <a:ext cx="10332720" cy="80101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3293B"/>
              </a:buClr>
              <a:buSzPts val="1250"/>
              <a:buFont typeface="Calibri"/>
              <a:buNone/>
            </a:pPr>
            <a:r>
              <a:rPr b="0" i="0" lang="en-US" sz="1250" u="none" cap="none" strike="noStrike">
                <a:solidFill>
                  <a:srgbClr val="23293B"/>
                </a:solidFill>
                <a:latin typeface="Calibri"/>
                <a:ea typeface="Calibri"/>
                <a:cs typeface="Calibri"/>
                <a:sym typeface="Calibri"/>
              </a:rPr>
              <a:t>A detection's confidence is high; can the mask still be poor?</a:t>
            </a:r>
            <a:endParaRPr b="0" i="0" sz="1250" u="none" cap="none" strike="noStrike">
              <a:solidFill>
                <a:schemeClr val="dk1"/>
              </a:solidFill>
              <a:latin typeface="Calibri"/>
              <a:ea typeface="Calibri"/>
              <a:cs typeface="Calibri"/>
              <a:sym typeface="Calibri"/>
            </a:endParaRPr>
          </a:p>
        </p:txBody>
      </p:sp>
      <p:sp>
        <p:nvSpPr>
          <p:cNvPr id="2328" name="Google Shape;2328;p82"/>
          <p:cNvSpPr/>
          <p:nvPr/>
        </p:nvSpPr>
        <p:spPr>
          <a:xfrm>
            <a:off x="502920" y="5133442"/>
            <a:ext cx="11183112" cy="801014"/>
          </a:xfrm>
          <a:prstGeom prst="roundRect">
            <a:avLst>
              <a:gd fmla="val 9132" name="adj"/>
            </a:avLst>
          </a:prstGeom>
          <a:solidFill>
            <a:srgbClr val="F2F6F9"/>
          </a:solidFill>
          <a:ln cap="flat" cmpd="sng" w="9525">
            <a:solidFill>
              <a:srgbClr val="D9E2E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29" name="Google Shape;2329;p82"/>
          <p:cNvSpPr/>
          <p:nvPr/>
        </p:nvSpPr>
        <p:spPr>
          <a:xfrm>
            <a:off x="649224" y="5360213"/>
            <a:ext cx="347472" cy="347472"/>
          </a:xfrm>
          <a:prstGeom prst="ellipse">
            <a:avLst/>
          </a:prstGeom>
          <a:solidFill>
            <a:srgbClr val="F5822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30" name="Google Shape;2330;p82"/>
          <p:cNvSpPr/>
          <p:nvPr/>
        </p:nvSpPr>
        <p:spPr>
          <a:xfrm>
            <a:off x="649224" y="5360213"/>
            <a:ext cx="347472" cy="34747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050"/>
              <a:buFont typeface="Calibri"/>
              <a:buNone/>
            </a:pPr>
            <a:r>
              <a:rPr b="1" i="0" lang="en-US" sz="1050" u="none" cap="none" strike="noStrike">
                <a:solidFill>
                  <a:srgbClr val="FFFFFF"/>
                </a:solidFill>
                <a:latin typeface="Calibri"/>
                <a:ea typeface="Calibri"/>
                <a:cs typeface="Calibri"/>
                <a:sym typeface="Calibri"/>
              </a:rPr>
              <a:t>Q5</a:t>
            </a:r>
            <a:endParaRPr b="0" i="0" sz="1050" u="none" cap="none" strike="noStrike">
              <a:solidFill>
                <a:schemeClr val="dk1"/>
              </a:solidFill>
              <a:latin typeface="Calibri"/>
              <a:ea typeface="Calibri"/>
              <a:cs typeface="Calibri"/>
              <a:sym typeface="Calibri"/>
            </a:endParaRPr>
          </a:p>
        </p:txBody>
      </p:sp>
      <p:sp>
        <p:nvSpPr>
          <p:cNvPr id="2331" name="Google Shape;2331;p82"/>
          <p:cNvSpPr/>
          <p:nvPr/>
        </p:nvSpPr>
        <p:spPr>
          <a:xfrm>
            <a:off x="1161288" y="5133442"/>
            <a:ext cx="10332720" cy="80101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3293B"/>
              </a:buClr>
              <a:buSzPts val="1250"/>
              <a:buFont typeface="Calibri"/>
              <a:buNone/>
            </a:pPr>
            <a:r>
              <a:rPr b="0" i="0" lang="en-US" sz="1250" u="none" cap="none" strike="noStrike">
                <a:solidFill>
                  <a:srgbClr val="23293B"/>
                </a:solidFill>
                <a:latin typeface="Calibri"/>
                <a:ea typeface="Calibri"/>
                <a:cs typeface="Calibri"/>
                <a:sym typeface="Calibri"/>
              </a:rPr>
              <a:t>True/False: converting defect masks to a percentage of fruit area requires pixel-to-mm calibration.</a:t>
            </a:r>
            <a:endParaRPr b="0" i="0" sz="1250" u="none" cap="none" strike="noStrike">
              <a:solidFill>
                <a:schemeClr val="dk1"/>
              </a:solidFill>
              <a:latin typeface="Calibri"/>
              <a:ea typeface="Calibri"/>
              <a:cs typeface="Calibri"/>
              <a:sym typeface="Calibri"/>
            </a:endParaRPr>
          </a:p>
        </p:txBody>
      </p:sp>
      <p:sp>
        <p:nvSpPr>
          <p:cNvPr id="2332" name="Google Shape;2332;p82"/>
          <p:cNvSpPr/>
          <p:nvPr/>
        </p:nvSpPr>
        <p:spPr>
          <a:xfrm>
            <a:off x="502920" y="6099048"/>
            <a:ext cx="11183112"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8A96A6"/>
              </a:buClr>
              <a:buSzPts val="1000"/>
              <a:buFont typeface="Calibri"/>
              <a:buNone/>
            </a:pPr>
            <a:r>
              <a:rPr b="0" i="1" lang="en-US" sz="1000" u="none" cap="none" strike="noStrike">
                <a:solidFill>
                  <a:srgbClr val="8A96A6"/>
                </a:solidFill>
                <a:latin typeface="Calibri"/>
                <a:ea typeface="Calibri"/>
                <a:cs typeface="Calibri"/>
                <a:sym typeface="Calibri"/>
              </a:rPr>
              <a:t>Answers and marking guidance: speaker notes below ▼</a:t>
            </a:r>
            <a:endParaRPr b="0" i="0" sz="1000" u="none" cap="none" strike="noStrike">
              <a:solidFill>
                <a:schemeClr val="dk1"/>
              </a:solidFill>
              <a:latin typeface="Calibri"/>
              <a:ea typeface="Calibri"/>
              <a:cs typeface="Calibri"/>
              <a:sym typeface="Calibri"/>
            </a:endParaRPr>
          </a:p>
        </p:txBody>
      </p:sp>
    </p:spTree>
  </p:cSld>
  <p:clrMapOvr>
    <a:masterClrMapping/>
  </p:clrMapOvr>
</p:sld>
</file>

<file path=ppt/slides/slide8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337" name="Shape 2337"/>
        <p:cNvGrpSpPr/>
        <p:nvPr/>
      </p:nvGrpSpPr>
      <p:grpSpPr>
        <a:xfrm>
          <a:off x="0" y="0"/>
          <a:ext cx="0" cy="0"/>
          <a:chOff x="0" y="0"/>
          <a:chExt cx="0" cy="0"/>
        </a:xfrm>
      </p:grpSpPr>
      <p:sp>
        <p:nvSpPr>
          <p:cNvPr id="2338" name="Google Shape;2338;p83"/>
          <p:cNvSpPr/>
          <p:nvPr/>
        </p:nvSpPr>
        <p:spPr>
          <a:xfrm>
            <a:off x="502920" y="274320"/>
            <a:ext cx="9646920" cy="56692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D2A5C"/>
              </a:buClr>
              <a:buSzPts val="2700"/>
              <a:buFont typeface="Calibri"/>
              <a:buNone/>
            </a:pPr>
            <a:r>
              <a:rPr b="1" i="0" lang="en-US" sz="2700" u="none" cap="none" strike="noStrike">
                <a:solidFill>
                  <a:srgbClr val="1D2A5C"/>
                </a:solidFill>
                <a:latin typeface="Calibri"/>
                <a:ea typeface="Calibri"/>
                <a:cs typeface="Calibri"/>
                <a:sym typeface="Calibri"/>
              </a:rPr>
              <a:t>Extra Exercises and Discussion</a:t>
            </a:r>
            <a:endParaRPr b="0" i="0" sz="2700" u="none" cap="none" strike="noStrike">
              <a:solidFill>
                <a:schemeClr val="dk1"/>
              </a:solidFill>
              <a:latin typeface="Calibri"/>
              <a:ea typeface="Calibri"/>
              <a:cs typeface="Calibri"/>
              <a:sym typeface="Calibri"/>
            </a:endParaRPr>
          </a:p>
        </p:txBody>
      </p:sp>
      <p:sp>
        <p:nvSpPr>
          <p:cNvPr id="2339" name="Google Shape;2339;p83"/>
          <p:cNvSpPr/>
          <p:nvPr/>
        </p:nvSpPr>
        <p:spPr>
          <a:xfrm>
            <a:off x="502920" y="859536"/>
            <a:ext cx="9646920" cy="31089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F6B7A"/>
              </a:buClr>
              <a:buSzPts val="1250"/>
              <a:buFont typeface="Arial"/>
              <a:buNone/>
            </a:pPr>
            <a:r>
              <a:rPr b="0" i="0" lang="en-US" sz="1250" u="none" cap="none" strike="noStrike">
                <a:solidFill>
                  <a:srgbClr val="5F6B7A"/>
                </a:solidFill>
                <a:latin typeface="Arial"/>
                <a:ea typeface="Arial"/>
                <a:cs typeface="Arial"/>
                <a:sym typeface="Arial"/>
              </a:rPr>
              <a:t>تمارين إضافية ونقاش</a:t>
            </a:r>
            <a:endParaRPr b="0" i="0" sz="1250" u="none" cap="none" strike="noStrike">
              <a:solidFill>
                <a:schemeClr val="dk1"/>
              </a:solidFill>
              <a:latin typeface="Calibri"/>
              <a:ea typeface="Calibri"/>
              <a:cs typeface="Calibri"/>
              <a:sym typeface="Calibri"/>
            </a:endParaRPr>
          </a:p>
        </p:txBody>
      </p:sp>
      <p:pic>
        <p:nvPicPr>
          <p:cNvPr descr="/sessions/blissful-determined-ritchie/build/assets/sdaia_logo.png" id="2340" name="Google Shape;2340;p83"/>
          <p:cNvPicPr preferRelativeResize="0"/>
          <p:nvPr/>
        </p:nvPicPr>
        <p:blipFill rotWithShape="1">
          <a:blip r:embed="rId3">
            <a:alphaModFix/>
          </a:blip>
          <a:srcRect b="0" l="0" r="0" t="0"/>
          <a:stretch/>
        </p:blipFill>
        <p:spPr>
          <a:xfrm>
            <a:off x="10625328" y="310896"/>
            <a:ext cx="1078992" cy="264111"/>
          </a:xfrm>
          <a:prstGeom prst="rect">
            <a:avLst/>
          </a:prstGeom>
          <a:noFill/>
          <a:ln>
            <a:noFill/>
          </a:ln>
        </p:spPr>
      </p:pic>
      <p:sp>
        <p:nvSpPr>
          <p:cNvPr id="2341" name="Google Shape;2341;p83"/>
          <p:cNvSpPr/>
          <p:nvPr/>
        </p:nvSpPr>
        <p:spPr>
          <a:xfrm>
            <a:off x="502920" y="6528816"/>
            <a:ext cx="8686800"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A79D"/>
              </a:buClr>
              <a:buSzPts val="800"/>
              <a:buFont typeface="Calibri"/>
              <a:buNone/>
            </a:pPr>
            <a:r>
              <a:rPr b="1" i="0" lang="en-US" sz="800" u="none" cap="none" strike="noStrike">
                <a:solidFill>
                  <a:srgbClr val="00A79D"/>
                </a:solidFill>
                <a:latin typeface="Calibri"/>
                <a:ea typeface="Calibri"/>
                <a:cs typeface="Calibri"/>
                <a:sym typeface="Calibri"/>
              </a:rPr>
              <a:t>MODULE 4   </a:t>
            </a:r>
            <a:r>
              <a:rPr b="0" i="0" lang="en-US" sz="800" u="none" cap="none" strike="noStrike">
                <a:solidFill>
                  <a:srgbClr val="8A96A6"/>
                </a:solidFill>
                <a:latin typeface="Calibri"/>
                <a:ea typeface="Calibri"/>
                <a:cs typeface="Calibri"/>
                <a:sym typeface="Calibri"/>
              </a:rPr>
              <a:t>SDA-AIE-212 · Computer Vision Systems Development</a:t>
            </a:r>
            <a:endParaRPr b="0" i="0" sz="800" u="none" cap="none" strike="noStrike">
              <a:solidFill>
                <a:schemeClr val="dk1"/>
              </a:solidFill>
              <a:latin typeface="Calibri"/>
              <a:ea typeface="Calibri"/>
              <a:cs typeface="Calibri"/>
              <a:sym typeface="Calibri"/>
            </a:endParaRPr>
          </a:p>
        </p:txBody>
      </p:sp>
      <p:sp>
        <p:nvSpPr>
          <p:cNvPr id="2342" name="Google Shape;2342;p83"/>
          <p:cNvSpPr/>
          <p:nvPr/>
        </p:nvSpPr>
        <p:spPr>
          <a:xfrm>
            <a:off x="11292840" y="6528816"/>
            <a:ext cx="411480" cy="219456"/>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8A96A6"/>
              </a:buClr>
              <a:buSzPts val="900"/>
              <a:buFont typeface="Calibri"/>
              <a:buNone/>
            </a:pPr>
            <a:r>
              <a:rPr b="0" i="0" lang="en-US" sz="900" u="none" cap="none" strike="noStrike">
                <a:solidFill>
                  <a:srgbClr val="8A96A6"/>
                </a:solidFill>
                <a:latin typeface="Calibri"/>
                <a:ea typeface="Calibri"/>
                <a:cs typeface="Calibri"/>
                <a:sym typeface="Calibri"/>
              </a:rPr>
              <a:t>83</a:t>
            </a:r>
            <a:endParaRPr b="0" i="0" sz="900" u="none" cap="none" strike="noStrike">
              <a:solidFill>
                <a:schemeClr val="dk1"/>
              </a:solidFill>
              <a:latin typeface="Calibri"/>
              <a:ea typeface="Calibri"/>
              <a:cs typeface="Calibri"/>
              <a:sym typeface="Calibri"/>
            </a:endParaRPr>
          </a:p>
        </p:txBody>
      </p:sp>
      <p:sp>
        <p:nvSpPr>
          <p:cNvPr id="2343" name="Google Shape;2343;p83"/>
          <p:cNvSpPr/>
          <p:nvPr/>
        </p:nvSpPr>
        <p:spPr>
          <a:xfrm>
            <a:off x="502920" y="1559052"/>
            <a:ext cx="329184" cy="329184"/>
          </a:xfrm>
          <a:prstGeom prst="ellipse">
            <a:avLst/>
          </a:prstGeom>
          <a:solidFill>
            <a:srgbClr val="00A79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44" name="Google Shape;2344;p83"/>
          <p:cNvSpPr/>
          <p:nvPr/>
        </p:nvSpPr>
        <p:spPr>
          <a:xfrm>
            <a:off x="502920" y="1559052"/>
            <a:ext cx="329184" cy="32918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300"/>
              <a:buFont typeface="Calibri"/>
              <a:buNone/>
            </a:pPr>
            <a:r>
              <a:rPr b="1" i="0" lang="en-US" sz="1300" u="none" cap="none" strike="noStrike">
                <a:solidFill>
                  <a:srgbClr val="FFFFFF"/>
                </a:solidFill>
                <a:latin typeface="Calibri"/>
                <a:ea typeface="Calibri"/>
                <a:cs typeface="Calibri"/>
                <a:sym typeface="Calibri"/>
              </a:rPr>
              <a:t>1</a:t>
            </a:r>
            <a:endParaRPr b="0" i="0" sz="1300" u="none" cap="none" strike="noStrike">
              <a:solidFill>
                <a:schemeClr val="dk1"/>
              </a:solidFill>
              <a:latin typeface="Calibri"/>
              <a:ea typeface="Calibri"/>
              <a:cs typeface="Calibri"/>
              <a:sym typeface="Calibri"/>
            </a:endParaRPr>
          </a:p>
        </p:txBody>
      </p:sp>
      <p:sp>
        <p:nvSpPr>
          <p:cNvPr id="2345" name="Google Shape;2345;p83"/>
          <p:cNvSpPr/>
          <p:nvPr/>
        </p:nvSpPr>
        <p:spPr>
          <a:xfrm>
            <a:off x="1005840" y="1495044"/>
            <a:ext cx="10682935"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D2A5C"/>
              </a:buClr>
              <a:buSzPts val="1400"/>
              <a:buFont typeface="Calibri"/>
              <a:buNone/>
            </a:pPr>
            <a:r>
              <a:rPr b="1" i="0" lang="en-US" sz="1400" u="none" cap="none" strike="noStrike">
                <a:solidFill>
                  <a:srgbClr val="1D2A5C"/>
                </a:solidFill>
                <a:latin typeface="Calibri"/>
                <a:ea typeface="Calibri"/>
                <a:cs typeface="Calibri"/>
                <a:sym typeface="Calibri"/>
              </a:rPr>
              <a:t>Debugging: sim-fat-mask</a:t>
            </a:r>
            <a:endParaRPr b="0" i="0" sz="1400" u="none" cap="none" strike="noStrike">
              <a:solidFill>
                <a:schemeClr val="dk1"/>
              </a:solidFill>
              <a:latin typeface="Calibri"/>
              <a:ea typeface="Calibri"/>
              <a:cs typeface="Calibri"/>
              <a:sym typeface="Calibri"/>
            </a:endParaRPr>
          </a:p>
        </p:txBody>
      </p:sp>
      <p:sp>
        <p:nvSpPr>
          <p:cNvPr id="2346" name="Google Shape;2346;p83"/>
          <p:cNvSpPr/>
          <p:nvPr/>
        </p:nvSpPr>
        <p:spPr>
          <a:xfrm>
            <a:off x="1005840" y="1796796"/>
            <a:ext cx="10682935" cy="841248"/>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5F6B7A"/>
              </a:buClr>
              <a:buSzPts val="1150"/>
              <a:buFont typeface="Calibri"/>
              <a:buNone/>
            </a:pPr>
            <a:r>
              <a:rPr b="0" i="0" lang="en-US" sz="1150" u="none" cap="none" strike="noStrike">
                <a:solidFill>
                  <a:srgbClr val="5F6B7A"/>
                </a:solidFill>
                <a:latin typeface="Calibri"/>
                <a:ea typeface="Calibri"/>
                <a:cs typeface="Calibri"/>
                <a:sym typeface="Calibri"/>
              </a:rPr>
              <a:t>A leaked script dilated all training masks. Mask mAP moves only −0.015, but area MAE triples and grading disagreement hits 9%. Which metric caught it — and why was the headline blind?</a:t>
            </a:r>
            <a:endParaRPr b="0" i="0" sz="1150" u="none" cap="none" strike="noStrike">
              <a:solidFill>
                <a:schemeClr val="dk1"/>
              </a:solidFill>
              <a:latin typeface="Calibri"/>
              <a:ea typeface="Calibri"/>
              <a:cs typeface="Calibri"/>
              <a:sym typeface="Calibri"/>
            </a:endParaRPr>
          </a:p>
        </p:txBody>
      </p:sp>
      <p:sp>
        <p:nvSpPr>
          <p:cNvPr id="2347" name="Google Shape;2347;p83"/>
          <p:cNvSpPr/>
          <p:nvPr/>
        </p:nvSpPr>
        <p:spPr>
          <a:xfrm>
            <a:off x="502920" y="2747772"/>
            <a:ext cx="329184" cy="329184"/>
          </a:xfrm>
          <a:prstGeom prst="ellipse">
            <a:avLst/>
          </a:prstGeom>
          <a:solidFill>
            <a:srgbClr val="29ABE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48" name="Google Shape;2348;p83"/>
          <p:cNvSpPr/>
          <p:nvPr/>
        </p:nvSpPr>
        <p:spPr>
          <a:xfrm>
            <a:off x="502920" y="2747772"/>
            <a:ext cx="329184" cy="32918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300"/>
              <a:buFont typeface="Calibri"/>
              <a:buNone/>
            </a:pPr>
            <a:r>
              <a:rPr b="1" i="0" lang="en-US" sz="1300" u="none" cap="none" strike="noStrike">
                <a:solidFill>
                  <a:srgbClr val="FFFFFF"/>
                </a:solidFill>
                <a:latin typeface="Calibri"/>
                <a:ea typeface="Calibri"/>
                <a:cs typeface="Calibri"/>
                <a:sym typeface="Calibri"/>
              </a:rPr>
              <a:t>2</a:t>
            </a:r>
            <a:endParaRPr b="0" i="0" sz="1300" u="none" cap="none" strike="noStrike">
              <a:solidFill>
                <a:schemeClr val="dk1"/>
              </a:solidFill>
              <a:latin typeface="Calibri"/>
              <a:ea typeface="Calibri"/>
              <a:cs typeface="Calibri"/>
              <a:sym typeface="Calibri"/>
            </a:endParaRPr>
          </a:p>
        </p:txBody>
      </p:sp>
      <p:sp>
        <p:nvSpPr>
          <p:cNvPr id="2349" name="Google Shape;2349;p83"/>
          <p:cNvSpPr/>
          <p:nvPr/>
        </p:nvSpPr>
        <p:spPr>
          <a:xfrm>
            <a:off x="1005840" y="2683764"/>
            <a:ext cx="10682935"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D2A5C"/>
              </a:buClr>
              <a:buSzPts val="1400"/>
              <a:buFont typeface="Calibri"/>
              <a:buNone/>
            </a:pPr>
            <a:r>
              <a:rPr b="1" i="0" lang="en-US" sz="1400" u="none" cap="none" strike="noStrike">
                <a:solidFill>
                  <a:srgbClr val="1D2A5C"/>
                </a:solidFill>
                <a:latin typeface="Calibri"/>
                <a:ea typeface="Calibri"/>
                <a:cs typeface="Calibri"/>
                <a:sym typeface="Calibri"/>
              </a:rPr>
              <a:t>Code review</a:t>
            </a:r>
            <a:endParaRPr b="0" i="0" sz="1400" u="none" cap="none" strike="noStrike">
              <a:solidFill>
                <a:schemeClr val="dk1"/>
              </a:solidFill>
              <a:latin typeface="Calibri"/>
              <a:ea typeface="Calibri"/>
              <a:cs typeface="Calibri"/>
              <a:sym typeface="Calibri"/>
            </a:endParaRPr>
          </a:p>
        </p:txBody>
      </p:sp>
      <p:sp>
        <p:nvSpPr>
          <p:cNvPr id="2350" name="Google Shape;2350;p83"/>
          <p:cNvSpPr/>
          <p:nvPr/>
        </p:nvSpPr>
        <p:spPr>
          <a:xfrm>
            <a:off x="1005840" y="2985516"/>
            <a:ext cx="10682935" cy="841248"/>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5F6B7A"/>
              </a:buClr>
              <a:buSzPts val="1150"/>
              <a:buFont typeface="Calibri"/>
              <a:buNone/>
            </a:pPr>
            <a:r>
              <a:rPr b="0" i="0" lang="en-US" sz="1150" u="none" cap="none" strike="noStrike">
                <a:solidFill>
                  <a:srgbClr val="5F6B7A"/>
                </a:solidFill>
                <a:latin typeface="Calibri"/>
                <a:ea typeface="Calibri"/>
                <a:cs typeface="Calibri"/>
                <a:sym typeface="Calibri"/>
              </a:rPr>
              <a:t>A PR computes defect ratio against the frame area, reports pixel accuracy as the headline, and hard-codes the 8% threshold in measure.py. Three findings with consequences.</a:t>
            </a:r>
            <a:endParaRPr b="0" i="0" sz="1150" u="none" cap="none" strike="noStrike">
              <a:solidFill>
                <a:schemeClr val="dk1"/>
              </a:solidFill>
              <a:latin typeface="Calibri"/>
              <a:ea typeface="Calibri"/>
              <a:cs typeface="Calibri"/>
              <a:sym typeface="Calibri"/>
            </a:endParaRPr>
          </a:p>
        </p:txBody>
      </p:sp>
      <p:sp>
        <p:nvSpPr>
          <p:cNvPr id="2351" name="Google Shape;2351;p83"/>
          <p:cNvSpPr/>
          <p:nvPr/>
        </p:nvSpPr>
        <p:spPr>
          <a:xfrm>
            <a:off x="502920" y="3936492"/>
            <a:ext cx="329184" cy="329184"/>
          </a:xfrm>
          <a:prstGeom prst="ellipse">
            <a:avLst/>
          </a:prstGeom>
          <a:solidFill>
            <a:srgbClr val="F5822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52" name="Google Shape;2352;p83"/>
          <p:cNvSpPr/>
          <p:nvPr/>
        </p:nvSpPr>
        <p:spPr>
          <a:xfrm>
            <a:off x="502920" y="3936492"/>
            <a:ext cx="329184" cy="32918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300"/>
              <a:buFont typeface="Calibri"/>
              <a:buNone/>
            </a:pPr>
            <a:r>
              <a:rPr b="1" i="0" lang="en-US" sz="1300" u="none" cap="none" strike="noStrike">
                <a:solidFill>
                  <a:srgbClr val="FFFFFF"/>
                </a:solidFill>
                <a:latin typeface="Calibri"/>
                <a:ea typeface="Calibri"/>
                <a:cs typeface="Calibri"/>
                <a:sym typeface="Calibri"/>
              </a:rPr>
              <a:t>3</a:t>
            </a:r>
            <a:endParaRPr b="0" i="0" sz="1300" u="none" cap="none" strike="noStrike">
              <a:solidFill>
                <a:schemeClr val="dk1"/>
              </a:solidFill>
              <a:latin typeface="Calibri"/>
              <a:ea typeface="Calibri"/>
              <a:cs typeface="Calibri"/>
              <a:sym typeface="Calibri"/>
            </a:endParaRPr>
          </a:p>
        </p:txBody>
      </p:sp>
      <p:sp>
        <p:nvSpPr>
          <p:cNvPr id="2353" name="Google Shape;2353;p83"/>
          <p:cNvSpPr/>
          <p:nvPr/>
        </p:nvSpPr>
        <p:spPr>
          <a:xfrm>
            <a:off x="1005840" y="3872484"/>
            <a:ext cx="10682935"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D2A5C"/>
              </a:buClr>
              <a:buSzPts val="1400"/>
              <a:buFont typeface="Calibri"/>
              <a:buNone/>
            </a:pPr>
            <a:r>
              <a:rPr b="1" i="0" lang="en-US" sz="1400" u="none" cap="none" strike="noStrike">
                <a:solidFill>
                  <a:srgbClr val="1D2A5C"/>
                </a:solidFill>
                <a:latin typeface="Calibri"/>
                <a:ea typeface="Calibri"/>
                <a:cs typeface="Calibri"/>
                <a:sym typeface="Calibri"/>
              </a:rPr>
              <a:t>Discussion: grading the hidden hemisphere</a:t>
            </a:r>
            <a:endParaRPr b="0" i="0" sz="1400" u="none" cap="none" strike="noStrike">
              <a:solidFill>
                <a:schemeClr val="dk1"/>
              </a:solidFill>
              <a:latin typeface="Calibri"/>
              <a:ea typeface="Calibri"/>
              <a:cs typeface="Calibri"/>
              <a:sym typeface="Calibri"/>
            </a:endParaRPr>
          </a:p>
        </p:txBody>
      </p:sp>
      <p:sp>
        <p:nvSpPr>
          <p:cNvPr id="2354" name="Google Shape;2354;p83"/>
          <p:cNvSpPr/>
          <p:nvPr/>
        </p:nvSpPr>
        <p:spPr>
          <a:xfrm>
            <a:off x="1005840" y="4174236"/>
            <a:ext cx="10682935" cy="841248"/>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5F6B7A"/>
              </a:buClr>
              <a:buSzPts val="1150"/>
              <a:buFont typeface="Calibri"/>
              <a:buNone/>
            </a:pPr>
            <a:r>
              <a:rPr b="0" i="0" lang="en-US" sz="1150" u="none" cap="none" strike="noStrike">
                <a:solidFill>
                  <a:srgbClr val="5F6B7A"/>
                </a:solidFill>
                <a:latin typeface="Calibri"/>
                <a:ea typeface="Calibri"/>
                <a:cs typeface="Calibri"/>
                <a:sym typeface="Calibri"/>
              </a:rPr>
              <a:t>Options: second camera + mirror rig, rollers between two stations, or a documented single-view bias factor — an engineering-economics conversation.</a:t>
            </a:r>
            <a:endParaRPr b="0" i="0" sz="1150" u="none" cap="none" strike="noStrike">
              <a:solidFill>
                <a:schemeClr val="dk1"/>
              </a:solidFill>
              <a:latin typeface="Calibri"/>
              <a:ea typeface="Calibri"/>
              <a:cs typeface="Calibri"/>
              <a:sym typeface="Calibri"/>
            </a:endParaRPr>
          </a:p>
        </p:txBody>
      </p:sp>
      <p:sp>
        <p:nvSpPr>
          <p:cNvPr id="2355" name="Google Shape;2355;p83"/>
          <p:cNvSpPr/>
          <p:nvPr/>
        </p:nvSpPr>
        <p:spPr>
          <a:xfrm>
            <a:off x="502920" y="5125212"/>
            <a:ext cx="329184" cy="329184"/>
          </a:xfrm>
          <a:prstGeom prst="ellipse">
            <a:avLst/>
          </a:prstGeom>
          <a:solidFill>
            <a:srgbClr val="8DC63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56" name="Google Shape;2356;p83"/>
          <p:cNvSpPr/>
          <p:nvPr/>
        </p:nvSpPr>
        <p:spPr>
          <a:xfrm>
            <a:off x="502920" y="5125212"/>
            <a:ext cx="329184" cy="32918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300"/>
              <a:buFont typeface="Calibri"/>
              <a:buNone/>
            </a:pPr>
            <a:r>
              <a:rPr b="1" i="0" lang="en-US" sz="1300" u="none" cap="none" strike="noStrike">
                <a:solidFill>
                  <a:srgbClr val="FFFFFF"/>
                </a:solidFill>
                <a:latin typeface="Calibri"/>
                <a:ea typeface="Calibri"/>
                <a:cs typeface="Calibri"/>
                <a:sym typeface="Calibri"/>
              </a:rPr>
              <a:t>4</a:t>
            </a:r>
            <a:endParaRPr b="0" i="0" sz="1300" u="none" cap="none" strike="noStrike">
              <a:solidFill>
                <a:schemeClr val="dk1"/>
              </a:solidFill>
              <a:latin typeface="Calibri"/>
              <a:ea typeface="Calibri"/>
              <a:cs typeface="Calibri"/>
              <a:sym typeface="Calibri"/>
            </a:endParaRPr>
          </a:p>
        </p:txBody>
      </p:sp>
      <p:sp>
        <p:nvSpPr>
          <p:cNvPr id="2357" name="Google Shape;2357;p83"/>
          <p:cNvSpPr/>
          <p:nvPr/>
        </p:nvSpPr>
        <p:spPr>
          <a:xfrm>
            <a:off x="1005840" y="5061204"/>
            <a:ext cx="10682935"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D2A5C"/>
              </a:buClr>
              <a:buSzPts val="1400"/>
              <a:buFont typeface="Calibri"/>
              <a:buNone/>
            </a:pPr>
            <a:r>
              <a:rPr b="1" i="0" lang="en-US" sz="1400" u="none" cap="none" strike="noStrike">
                <a:solidFill>
                  <a:srgbClr val="1D2A5C"/>
                </a:solidFill>
                <a:latin typeface="Calibri"/>
                <a:ea typeface="Calibri"/>
                <a:cs typeface="Calibri"/>
                <a:sym typeface="Calibri"/>
              </a:rPr>
              <a:t>Discussion: polygons cost 6× boxes</a:t>
            </a:r>
            <a:endParaRPr b="0" i="0" sz="1400" u="none" cap="none" strike="noStrike">
              <a:solidFill>
                <a:schemeClr val="dk1"/>
              </a:solidFill>
              <a:latin typeface="Calibri"/>
              <a:ea typeface="Calibri"/>
              <a:cs typeface="Calibri"/>
              <a:sym typeface="Calibri"/>
            </a:endParaRPr>
          </a:p>
        </p:txBody>
      </p:sp>
      <p:sp>
        <p:nvSpPr>
          <p:cNvPr id="2358" name="Google Shape;2358;p83"/>
          <p:cNvSpPr/>
          <p:nvPr/>
        </p:nvSpPr>
        <p:spPr>
          <a:xfrm>
            <a:off x="1005840" y="5362956"/>
            <a:ext cx="10682935" cy="841248"/>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5F6B7A"/>
              </a:buClr>
              <a:buSzPts val="1150"/>
              <a:buFont typeface="Calibri"/>
              <a:buNone/>
            </a:pPr>
            <a:r>
              <a:rPr b="0" i="0" lang="en-US" sz="1150" u="none" cap="none" strike="noStrike">
                <a:solidFill>
                  <a:srgbClr val="5F6B7A"/>
                </a:solidFill>
                <a:latin typeface="Calibri"/>
                <a:ea typeface="Calibri"/>
                <a:cs typeface="Calibri"/>
                <a:sym typeface="Calibri"/>
              </a:rPr>
              <a:t>For which defect classes would you keep box-only annotation? Classes never used in area rules — pure presence/absence classes.</a:t>
            </a:r>
            <a:endParaRPr b="0" i="0" sz="1150" u="none" cap="none" strike="noStrike">
              <a:solidFill>
                <a:schemeClr val="dk1"/>
              </a:solidFill>
              <a:latin typeface="Calibri"/>
              <a:ea typeface="Calibri"/>
              <a:cs typeface="Calibri"/>
              <a:sym typeface="Calibri"/>
            </a:endParaRPr>
          </a:p>
        </p:txBody>
      </p:sp>
    </p:spTree>
  </p:cSld>
  <p:clrMapOvr>
    <a:masterClrMapping/>
  </p:clrMapOvr>
</p:sld>
</file>

<file path=ppt/slides/slide8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363" name="Shape 2363"/>
        <p:cNvGrpSpPr/>
        <p:nvPr/>
      </p:nvGrpSpPr>
      <p:grpSpPr>
        <a:xfrm>
          <a:off x="0" y="0"/>
          <a:ext cx="0" cy="0"/>
          <a:chOff x="0" y="0"/>
          <a:chExt cx="0" cy="0"/>
        </a:xfrm>
      </p:grpSpPr>
      <p:sp>
        <p:nvSpPr>
          <p:cNvPr id="2364" name="Google Shape;2364;p84"/>
          <p:cNvSpPr/>
          <p:nvPr/>
        </p:nvSpPr>
        <p:spPr>
          <a:xfrm>
            <a:off x="502920" y="274320"/>
            <a:ext cx="9646920" cy="56692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D2A5C"/>
              </a:buClr>
              <a:buSzPts val="2700"/>
              <a:buFont typeface="Calibri"/>
              <a:buNone/>
            </a:pPr>
            <a:r>
              <a:rPr b="1" i="0" lang="en-US" sz="2700" u="none" cap="none" strike="noStrike">
                <a:solidFill>
                  <a:srgbClr val="1D2A5C"/>
                </a:solidFill>
                <a:latin typeface="Calibri"/>
                <a:ea typeface="Calibri"/>
                <a:cs typeface="Calibri"/>
                <a:sym typeface="Calibri"/>
              </a:rPr>
              <a:t>Case Study — Road-Crack Quantification, Riyadh</a:t>
            </a:r>
            <a:endParaRPr b="0" i="0" sz="2700" u="none" cap="none" strike="noStrike">
              <a:solidFill>
                <a:schemeClr val="dk1"/>
              </a:solidFill>
              <a:latin typeface="Calibri"/>
              <a:ea typeface="Calibri"/>
              <a:cs typeface="Calibri"/>
              <a:sym typeface="Calibri"/>
            </a:endParaRPr>
          </a:p>
        </p:txBody>
      </p:sp>
      <p:sp>
        <p:nvSpPr>
          <p:cNvPr id="2365" name="Google Shape;2365;p84"/>
          <p:cNvSpPr/>
          <p:nvPr/>
        </p:nvSpPr>
        <p:spPr>
          <a:xfrm>
            <a:off x="502920" y="859536"/>
            <a:ext cx="9646920" cy="31089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F6B7A"/>
              </a:buClr>
              <a:buSzPts val="1250"/>
              <a:buFont typeface="Arial"/>
              <a:buNone/>
            </a:pPr>
            <a:r>
              <a:rPr b="0" i="0" lang="en-US" sz="1250" u="none" cap="none" strike="noStrike">
                <a:solidFill>
                  <a:srgbClr val="5F6B7A"/>
                </a:solidFill>
                <a:latin typeface="Arial"/>
                <a:ea typeface="Arial"/>
                <a:cs typeface="Arial"/>
                <a:sym typeface="Arial"/>
              </a:rPr>
              <a:t>دراسة حالة — قياس شقوق الطرق في الرياض</a:t>
            </a:r>
            <a:endParaRPr b="0" i="0" sz="1250" u="none" cap="none" strike="noStrike">
              <a:solidFill>
                <a:schemeClr val="dk1"/>
              </a:solidFill>
              <a:latin typeface="Calibri"/>
              <a:ea typeface="Calibri"/>
              <a:cs typeface="Calibri"/>
              <a:sym typeface="Calibri"/>
            </a:endParaRPr>
          </a:p>
        </p:txBody>
      </p:sp>
      <p:pic>
        <p:nvPicPr>
          <p:cNvPr descr="/sessions/blissful-determined-ritchie/build/assets/sdaia_logo.png" id="2366" name="Google Shape;2366;p84"/>
          <p:cNvPicPr preferRelativeResize="0"/>
          <p:nvPr/>
        </p:nvPicPr>
        <p:blipFill rotWithShape="1">
          <a:blip r:embed="rId3">
            <a:alphaModFix/>
          </a:blip>
          <a:srcRect b="0" l="0" r="0" t="0"/>
          <a:stretch/>
        </p:blipFill>
        <p:spPr>
          <a:xfrm>
            <a:off x="10625328" y="310896"/>
            <a:ext cx="1078992" cy="264111"/>
          </a:xfrm>
          <a:prstGeom prst="rect">
            <a:avLst/>
          </a:prstGeom>
          <a:noFill/>
          <a:ln>
            <a:noFill/>
          </a:ln>
        </p:spPr>
      </p:pic>
      <p:sp>
        <p:nvSpPr>
          <p:cNvPr id="2367" name="Google Shape;2367;p84"/>
          <p:cNvSpPr/>
          <p:nvPr/>
        </p:nvSpPr>
        <p:spPr>
          <a:xfrm>
            <a:off x="502920" y="6528816"/>
            <a:ext cx="8686800"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A79D"/>
              </a:buClr>
              <a:buSzPts val="800"/>
              <a:buFont typeface="Calibri"/>
              <a:buNone/>
            </a:pPr>
            <a:r>
              <a:rPr b="1" i="0" lang="en-US" sz="800" u="none" cap="none" strike="noStrike">
                <a:solidFill>
                  <a:srgbClr val="00A79D"/>
                </a:solidFill>
                <a:latin typeface="Calibri"/>
                <a:ea typeface="Calibri"/>
                <a:cs typeface="Calibri"/>
                <a:sym typeface="Calibri"/>
              </a:rPr>
              <a:t>MODULE 4 · CASE   </a:t>
            </a:r>
            <a:r>
              <a:rPr b="0" i="0" lang="en-US" sz="800" u="none" cap="none" strike="noStrike">
                <a:solidFill>
                  <a:srgbClr val="8A96A6"/>
                </a:solidFill>
                <a:latin typeface="Calibri"/>
                <a:ea typeface="Calibri"/>
                <a:cs typeface="Calibri"/>
                <a:sym typeface="Calibri"/>
              </a:rPr>
              <a:t>SDA-AIE-212 · Computer Vision Systems Development</a:t>
            </a:r>
            <a:endParaRPr b="0" i="0" sz="800" u="none" cap="none" strike="noStrike">
              <a:solidFill>
                <a:schemeClr val="dk1"/>
              </a:solidFill>
              <a:latin typeface="Calibri"/>
              <a:ea typeface="Calibri"/>
              <a:cs typeface="Calibri"/>
              <a:sym typeface="Calibri"/>
            </a:endParaRPr>
          </a:p>
        </p:txBody>
      </p:sp>
      <p:sp>
        <p:nvSpPr>
          <p:cNvPr id="2368" name="Google Shape;2368;p84"/>
          <p:cNvSpPr/>
          <p:nvPr/>
        </p:nvSpPr>
        <p:spPr>
          <a:xfrm>
            <a:off x="11292840" y="6528816"/>
            <a:ext cx="411480" cy="219456"/>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8A96A6"/>
              </a:buClr>
              <a:buSzPts val="900"/>
              <a:buFont typeface="Calibri"/>
              <a:buNone/>
            </a:pPr>
            <a:r>
              <a:rPr b="0" i="0" lang="en-US" sz="900" u="none" cap="none" strike="noStrike">
                <a:solidFill>
                  <a:srgbClr val="8A96A6"/>
                </a:solidFill>
                <a:latin typeface="Calibri"/>
                <a:ea typeface="Calibri"/>
                <a:cs typeface="Calibri"/>
                <a:sym typeface="Calibri"/>
              </a:rPr>
              <a:t>84</a:t>
            </a:r>
            <a:endParaRPr b="0" i="0" sz="900" u="none" cap="none" strike="noStrike">
              <a:solidFill>
                <a:schemeClr val="dk1"/>
              </a:solidFill>
              <a:latin typeface="Calibri"/>
              <a:ea typeface="Calibri"/>
              <a:cs typeface="Calibri"/>
              <a:sym typeface="Calibri"/>
            </a:endParaRPr>
          </a:p>
        </p:txBody>
      </p:sp>
      <p:sp>
        <p:nvSpPr>
          <p:cNvPr id="2369" name="Google Shape;2369;p84"/>
          <p:cNvSpPr/>
          <p:nvPr/>
        </p:nvSpPr>
        <p:spPr>
          <a:xfrm>
            <a:off x="502920" y="1389888"/>
            <a:ext cx="6035040" cy="2377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A79D"/>
              </a:buClr>
              <a:buSzPts val="1000"/>
              <a:buFont typeface="Calibri"/>
              <a:buNone/>
            </a:pPr>
            <a:r>
              <a:rPr b="1" i="0" lang="en-US" sz="1000" u="none" cap="none" strike="noStrike">
                <a:solidFill>
                  <a:srgbClr val="00A79D"/>
                </a:solidFill>
                <a:latin typeface="Calibri"/>
                <a:ea typeface="Calibri"/>
                <a:cs typeface="Calibri"/>
                <a:sym typeface="Calibri"/>
              </a:rPr>
              <a:t>SCENARIO</a:t>
            </a:r>
            <a:endParaRPr b="0" i="0" sz="1000" u="none" cap="none" strike="noStrike">
              <a:solidFill>
                <a:schemeClr val="dk1"/>
              </a:solidFill>
              <a:latin typeface="Calibri"/>
              <a:ea typeface="Calibri"/>
              <a:cs typeface="Calibri"/>
              <a:sym typeface="Calibri"/>
            </a:endParaRPr>
          </a:p>
        </p:txBody>
      </p:sp>
      <p:sp>
        <p:nvSpPr>
          <p:cNvPr id="2370" name="Google Shape;2370;p84"/>
          <p:cNvSpPr/>
          <p:nvPr/>
        </p:nvSpPr>
        <p:spPr>
          <a:xfrm>
            <a:off x="502920" y="1645920"/>
            <a:ext cx="6035040" cy="1106424"/>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23293B"/>
              </a:buClr>
              <a:buSzPts val="1150"/>
              <a:buFont typeface="Calibri"/>
              <a:buNone/>
            </a:pPr>
            <a:r>
              <a:rPr b="0" i="0" lang="en-US" sz="1150" u="none" cap="none" strike="noStrike">
                <a:solidFill>
                  <a:srgbClr val="23293B"/>
                </a:solidFill>
                <a:latin typeface="Calibri"/>
                <a:ea typeface="Calibri"/>
                <a:cs typeface="Calibri"/>
                <a:sym typeface="Calibri"/>
              </a:rPr>
              <a:t>A municipality contracts vehicle-mounted camera surveys of 4,100 km of roads. The maintenance contractor is paid per m² of verified crack repair, and the previous manual survey process was slow and disputed — contractor and municipal inspectors disagreed on measured areas by up to 40%. A semantic segmentation model (crack / patch / joint / background) is proposed as the neutral measurement instrument.</a:t>
            </a:r>
            <a:endParaRPr b="0" i="0" sz="1150" u="none" cap="none" strike="noStrike">
              <a:solidFill>
                <a:schemeClr val="dk1"/>
              </a:solidFill>
              <a:latin typeface="Calibri"/>
              <a:ea typeface="Calibri"/>
              <a:cs typeface="Calibri"/>
              <a:sym typeface="Calibri"/>
            </a:endParaRPr>
          </a:p>
        </p:txBody>
      </p:sp>
      <p:sp>
        <p:nvSpPr>
          <p:cNvPr id="2371" name="Google Shape;2371;p84"/>
          <p:cNvSpPr/>
          <p:nvPr/>
        </p:nvSpPr>
        <p:spPr>
          <a:xfrm>
            <a:off x="502920" y="2916936"/>
            <a:ext cx="6035040" cy="2377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A79D"/>
              </a:buClr>
              <a:buSzPts val="1000"/>
              <a:buFont typeface="Calibri"/>
              <a:buNone/>
            </a:pPr>
            <a:r>
              <a:rPr b="1" i="0" lang="en-US" sz="1000" u="none" cap="none" strike="noStrike">
                <a:solidFill>
                  <a:srgbClr val="00A79D"/>
                </a:solidFill>
                <a:latin typeface="Calibri"/>
                <a:ea typeface="Calibri"/>
                <a:cs typeface="Calibri"/>
                <a:sym typeface="Calibri"/>
              </a:rPr>
              <a:t>BUSINESS CONTEXT</a:t>
            </a:r>
            <a:endParaRPr b="0" i="0" sz="1000" u="none" cap="none" strike="noStrike">
              <a:solidFill>
                <a:schemeClr val="dk1"/>
              </a:solidFill>
              <a:latin typeface="Calibri"/>
              <a:ea typeface="Calibri"/>
              <a:cs typeface="Calibri"/>
              <a:sym typeface="Calibri"/>
            </a:endParaRPr>
          </a:p>
        </p:txBody>
      </p:sp>
      <p:sp>
        <p:nvSpPr>
          <p:cNvPr id="2372" name="Google Shape;2372;p84"/>
          <p:cNvSpPr/>
          <p:nvPr/>
        </p:nvSpPr>
        <p:spPr>
          <a:xfrm>
            <a:off x="502920" y="3172968"/>
            <a:ext cx="6035040" cy="6858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5F6B7A"/>
              </a:buClr>
              <a:buSzPts val="1150"/>
              <a:buFont typeface="Calibri"/>
              <a:buNone/>
            </a:pPr>
            <a:r>
              <a:rPr b="0" i="0" lang="en-US" sz="1150" u="none" cap="none" strike="noStrike">
                <a:solidFill>
                  <a:srgbClr val="5F6B7A"/>
                </a:solidFill>
                <a:latin typeface="Calibri"/>
                <a:ea typeface="Calibri"/>
                <a:cs typeface="Calibri"/>
                <a:sym typeface="Calibri"/>
              </a:rPr>
              <a:t>Annual road-maintenance budgets run to hundreds of millions of riyals; a 10% systematic measurement bias is real money in one direction or the other. Both parties must trust the number, so the measurement pipeline — not just the model — will be audited.</a:t>
            </a:r>
            <a:endParaRPr b="0" i="0" sz="1150" u="none" cap="none" strike="noStrike">
              <a:solidFill>
                <a:schemeClr val="dk1"/>
              </a:solidFill>
              <a:latin typeface="Calibri"/>
              <a:ea typeface="Calibri"/>
              <a:cs typeface="Calibri"/>
              <a:sym typeface="Calibri"/>
            </a:endParaRPr>
          </a:p>
        </p:txBody>
      </p:sp>
      <p:sp>
        <p:nvSpPr>
          <p:cNvPr id="2373" name="Google Shape;2373;p84"/>
          <p:cNvSpPr/>
          <p:nvPr/>
        </p:nvSpPr>
        <p:spPr>
          <a:xfrm>
            <a:off x="502920" y="4023360"/>
            <a:ext cx="6035040" cy="2377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A79D"/>
              </a:buClr>
              <a:buSzPts val="1000"/>
              <a:buFont typeface="Calibri"/>
              <a:buNone/>
            </a:pPr>
            <a:r>
              <a:rPr b="1" i="0" lang="en-US" sz="1000" u="none" cap="none" strike="noStrike">
                <a:solidFill>
                  <a:srgbClr val="00A79D"/>
                </a:solidFill>
                <a:latin typeface="Calibri"/>
                <a:ea typeface="Calibri"/>
                <a:cs typeface="Calibri"/>
                <a:sym typeface="Calibri"/>
              </a:rPr>
              <a:t>TECHNICAL CHALLENGE</a:t>
            </a:r>
            <a:endParaRPr b="0" i="0" sz="1000" u="none" cap="none" strike="noStrike">
              <a:solidFill>
                <a:schemeClr val="dk1"/>
              </a:solidFill>
              <a:latin typeface="Calibri"/>
              <a:ea typeface="Calibri"/>
              <a:cs typeface="Calibri"/>
              <a:sym typeface="Calibri"/>
            </a:endParaRPr>
          </a:p>
        </p:txBody>
      </p:sp>
      <p:sp>
        <p:nvSpPr>
          <p:cNvPr id="2374" name="Google Shape;2374;p84"/>
          <p:cNvSpPr/>
          <p:nvPr/>
        </p:nvSpPr>
        <p:spPr>
          <a:xfrm>
            <a:off x="502920" y="4279392"/>
            <a:ext cx="6035040" cy="475488"/>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5F6B7A"/>
              </a:buClr>
              <a:buSzPts val="1150"/>
              <a:buFont typeface="Calibri"/>
              <a:buNone/>
            </a:pPr>
            <a:r>
              <a:rPr b="0" i="0" lang="en-US" sz="1150" u="none" cap="none" strike="noStrike">
                <a:solidFill>
                  <a:srgbClr val="5F6B7A"/>
                </a:solidFill>
                <a:latin typeface="Calibri"/>
                <a:ea typeface="Calibri"/>
                <a:cs typeface="Calibri"/>
                <a:sym typeface="Calibri"/>
              </a:rPr>
              <a:t>Design the segmentation and calibration pipeline so reported m² carries a defensible error bound, and decide what happens when model confidence is low.</a:t>
            </a:r>
            <a:endParaRPr b="0" i="0" sz="1150" u="none" cap="none" strike="noStrike">
              <a:solidFill>
                <a:schemeClr val="dk1"/>
              </a:solidFill>
              <a:latin typeface="Calibri"/>
              <a:ea typeface="Calibri"/>
              <a:cs typeface="Calibri"/>
              <a:sym typeface="Calibri"/>
            </a:endParaRPr>
          </a:p>
        </p:txBody>
      </p:sp>
      <p:sp>
        <p:nvSpPr>
          <p:cNvPr id="2375" name="Google Shape;2375;p84"/>
          <p:cNvSpPr/>
          <p:nvPr/>
        </p:nvSpPr>
        <p:spPr>
          <a:xfrm>
            <a:off x="6858000" y="1389888"/>
            <a:ext cx="4828032" cy="2184684"/>
          </a:xfrm>
          <a:prstGeom prst="roundRect">
            <a:avLst>
              <a:gd fmla="val 3767" name="adj"/>
            </a:avLst>
          </a:prstGeom>
          <a:solidFill>
            <a:srgbClr val="F2F6F9"/>
          </a:solidFill>
          <a:ln cap="flat" cmpd="sng" w="12700">
            <a:solidFill>
              <a:srgbClr val="D9E2E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76" name="Google Shape;2376;p84"/>
          <p:cNvSpPr/>
          <p:nvPr/>
        </p:nvSpPr>
        <p:spPr>
          <a:xfrm>
            <a:off x="7040880" y="1481328"/>
            <a:ext cx="4462272" cy="2377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58220"/>
              </a:buClr>
              <a:buSzPts val="950"/>
              <a:buFont typeface="Calibri"/>
              <a:buNone/>
            </a:pPr>
            <a:r>
              <a:rPr b="1" i="0" lang="en-US" sz="950" u="none" cap="none" strike="noStrike">
                <a:solidFill>
                  <a:srgbClr val="F58220"/>
                </a:solidFill>
                <a:latin typeface="Calibri"/>
                <a:ea typeface="Calibri"/>
                <a:cs typeface="Calibri"/>
                <a:sym typeface="Calibri"/>
              </a:rPr>
              <a:t>CONSTRAINTS</a:t>
            </a:r>
            <a:endParaRPr b="0" i="0" sz="950" u="none" cap="none" strike="noStrike">
              <a:solidFill>
                <a:schemeClr val="dk1"/>
              </a:solidFill>
              <a:latin typeface="Calibri"/>
              <a:ea typeface="Calibri"/>
              <a:cs typeface="Calibri"/>
              <a:sym typeface="Calibri"/>
            </a:endParaRPr>
          </a:p>
        </p:txBody>
      </p:sp>
      <p:sp>
        <p:nvSpPr>
          <p:cNvPr id="2377" name="Google Shape;2377;p84"/>
          <p:cNvSpPr/>
          <p:nvPr/>
        </p:nvSpPr>
        <p:spPr>
          <a:xfrm>
            <a:off x="7095744" y="1755648"/>
            <a:ext cx="4370832" cy="1681764"/>
          </a:xfrm>
          <a:prstGeom prst="rect">
            <a:avLst/>
          </a:prstGeom>
          <a:noFill/>
          <a:ln>
            <a:noFill/>
          </a:ln>
        </p:spPr>
        <p:txBody>
          <a:bodyPr anchorCtr="0" anchor="t" bIns="0" lIns="0" spcFirstLastPara="1" rIns="0" wrap="square" tIns="0">
            <a:noAutofit/>
          </a:bodyPr>
          <a:lstStyle/>
          <a:p>
            <a:pPr indent="-127000" lvl="0" marL="127000" marR="0" rtl="0" algn="l">
              <a:spcBef>
                <a:spcPts val="0"/>
              </a:spcBef>
              <a:spcAft>
                <a:spcPts val="0"/>
              </a:spcAft>
              <a:buClr>
                <a:srgbClr val="23293B"/>
              </a:buClr>
              <a:buSzPts val="1050"/>
              <a:buFont typeface="Calibri"/>
              <a:buChar char="•"/>
            </a:pPr>
            <a:r>
              <a:rPr b="0" i="0" lang="en-US" sz="1050" u="none" cap="none" strike="noStrike">
                <a:solidFill>
                  <a:srgbClr val="23293B"/>
                </a:solidFill>
                <a:latin typeface="Calibri"/>
                <a:ea typeface="Calibri"/>
                <a:cs typeface="Calibri"/>
                <a:sym typeface="Calibri"/>
              </a:rPr>
              <a:t>Camera height varies ±4 cm with vehicle load</a:t>
            </a:r>
            <a:endParaRPr b="0" i="0" sz="1050" u="none" cap="none" strike="noStrike">
              <a:solidFill>
                <a:schemeClr val="dk1"/>
              </a:solidFill>
              <a:latin typeface="Calibri"/>
              <a:ea typeface="Calibri"/>
              <a:cs typeface="Calibri"/>
              <a:sym typeface="Calibri"/>
            </a:endParaRPr>
          </a:p>
          <a:p>
            <a:pPr indent="-127000" lvl="0" marL="127000" marR="0" rtl="0" algn="l">
              <a:spcBef>
                <a:spcPts val="500"/>
              </a:spcBef>
              <a:spcAft>
                <a:spcPts val="0"/>
              </a:spcAft>
              <a:buClr>
                <a:srgbClr val="23293B"/>
              </a:buClr>
              <a:buSzPts val="1050"/>
              <a:buFont typeface="Calibri"/>
              <a:buChar char="•"/>
            </a:pPr>
            <a:r>
              <a:rPr b="0" i="0" lang="en-US" sz="1050" u="none" cap="none" strike="noStrike">
                <a:solidFill>
                  <a:srgbClr val="23293B"/>
                </a:solidFill>
                <a:latin typeface="Calibri"/>
                <a:ea typeface="Calibri"/>
                <a:cs typeface="Calibri"/>
                <a:sym typeface="Calibri"/>
              </a:rPr>
              <a:t>Surveys run at 50 km/h — motion blur</a:t>
            </a:r>
            <a:endParaRPr b="0" i="0" sz="1050" u="none" cap="none" strike="noStrike">
              <a:solidFill>
                <a:schemeClr val="dk1"/>
              </a:solidFill>
              <a:latin typeface="Calibri"/>
              <a:ea typeface="Calibri"/>
              <a:cs typeface="Calibri"/>
              <a:sym typeface="Calibri"/>
            </a:endParaRPr>
          </a:p>
          <a:p>
            <a:pPr indent="-127000" lvl="0" marL="127000" marR="0" rtl="0" algn="l">
              <a:spcBef>
                <a:spcPts val="500"/>
              </a:spcBef>
              <a:spcAft>
                <a:spcPts val="0"/>
              </a:spcAft>
              <a:buClr>
                <a:srgbClr val="23293B"/>
              </a:buClr>
              <a:buSzPts val="1050"/>
              <a:buFont typeface="Calibri"/>
              <a:buChar char="•"/>
            </a:pPr>
            <a:r>
              <a:rPr b="0" i="0" lang="en-US" sz="1050" u="none" cap="none" strike="noStrike">
                <a:solidFill>
                  <a:srgbClr val="23293B"/>
                </a:solidFill>
                <a:latin typeface="Calibri"/>
                <a:ea typeface="Calibri"/>
                <a:cs typeface="Calibri"/>
                <a:sym typeface="Calibri"/>
              </a:rPr>
              <a:t>Thin cracks &lt; 3 mm at the resolution limit</a:t>
            </a:r>
            <a:endParaRPr b="0" i="0" sz="1050" u="none" cap="none" strike="noStrike">
              <a:solidFill>
                <a:schemeClr val="dk1"/>
              </a:solidFill>
              <a:latin typeface="Calibri"/>
              <a:ea typeface="Calibri"/>
              <a:cs typeface="Calibri"/>
              <a:sym typeface="Calibri"/>
            </a:endParaRPr>
          </a:p>
          <a:p>
            <a:pPr indent="-127000" lvl="0" marL="127000" marR="0" rtl="0" algn="l">
              <a:spcBef>
                <a:spcPts val="500"/>
              </a:spcBef>
              <a:spcAft>
                <a:spcPts val="0"/>
              </a:spcAft>
              <a:buClr>
                <a:srgbClr val="23293B"/>
              </a:buClr>
              <a:buSzPts val="1050"/>
              <a:buFont typeface="Calibri"/>
              <a:buChar char="•"/>
            </a:pPr>
            <a:r>
              <a:rPr b="0" i="0" lang="en-US" sz="1050" u="none" cap="none" strike="noStrike">
                <a:solidFill>
                  <a:srgbClr val="23293B"/>
                </a:solidFill>
                <a:latin typeface="Calibri"/>
                <a:ea typeface="Calibri"/>
                <a:cs typeface="Calibri"/>
                <a:sym typeface="Calibri"/>
              </a:rPr>
              <a:t>Disputes resolved from stored evidence</a:t>
            </a:r>
            <a:endParaRPr b="0" i="0" sz="1050" u="none" cap="none" strike="noStrike">
              <a:solidFill>
                <a:schemeClr val="dk1"/>
              </a:solidFill>
              <a:latin typeface="Calibri"/>
              <a:ea typeface="Calibri"/>
              <a:cs typeface="Calibri"/>
              <a:sym typeface="Calibri"/>
            </a:endParaRPr>
          </a:p>
          <a:p>
            <a:pPr indent="-127000" lvl="0" marL="127000" marR="0" rtl="0" algn="l">
              <a:spcBef>
                <a:spcPts val="500"/>
              </a:spcBef>
              <a:spcAft>
                <a:spcPts val="0"/>
              </a:spcAft>
              <a:buClr>
                <a:srgbClr val="23293B"/>
              </a:buClr>
              <a:buSzPts val="1050"/>
              <a:buFont typeface="Calibri"/>
              <a:buChar char="•"/>
            </a:pPr>
            <a:r>
              <a:rPr b="0" i="0" lang="en-US" sz="1050" u="none" cap="none" strike="noStrike">
                <a:solidFill>
                  <a:srgbClr val="23293B"/>
                </a:solidFill>
                <a:latin typeface="Calibri"/>
                <a:ea typeface="Calibri"/>
                <a:cs typeface="Calibri"/>
                <a:sym typeface="Calibri"/>
              </a:rPr>
              <a:t>Summer glare + shadow edges: false positives</a:t>
            </a:r>
            <a:endParaRPr b="0" i="0" sz="1050" u="none" cap="none" strike="noStrike">
              <a:solidFill>
                <a:schemeClr val="dk1"/>
              </a:solidFill>
              <a:latin typeface="Calibri"/>
              <a:ea typeface="Calibri"/>
              <a:cs typeface="Calibri"/>
              <a:sym typeface="Calibri"/>
            </a:endParaRPr>
          </a:p>
        </p:txBody>
      </p:sp>
      <p:sp>
        <p:nvSpPr>
          <p:cNvPr id="2378" name="Google Shape;2378;p84"/>
          <p:cNvSpPr/>
          <p:nvPr/>
        </p:nvSpPr>
        <p:spPr>
          <a:xfrm>
            <a:off x="6858000" y="3803172"/>
            <a:ext cx="4828032" cy="2551908"/>
          </a:xfrm>
          <a:prstGeom prst="roundRect">
            <a:avLst>
              <a:gd fmla="val 3225" name="adj"/>
            </a:avLst>
          </a:prstGeom>
          <a:solidFill>
            <a:srgbClr val="E9F6F5"/>
          </a:solidFill>
          <a:ln cap="flat" cmpd="sng" w="12700">
            <a:solidFill>
              <a:srgbClr val="00A79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79" name="Google Shape;2379;p84"/>
          <p:cNvSpPr/>
          <p:nvPr/>
        </p:nvSpPr>
        <p:spPr>
          <a:xfrm>
            <a:off x="7040880" y="3894612"/>
            <a:ext cx="4462272" cy="2377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A79D"/>
              </a:buClr>
              <a:buSzPts val="950"/>
              <a:buFont typeface="Calibri"/>
              <a:buNone/>
            </a:pPr>
            <a:r>
              <a:rPr b="1" i="0" lang="en-US" sz="950" u="none" cap="none" strike="noStrike">
                <a:solidFill>
                  <a:srgbClr val="00A79D"/>
                </a:solidFill>
                <a:latin typeface="Calibri"/>
                <a:ea typeface="Calibri"/>
                <a:cs typeface="Calibri"/>
                <a:sym typeface="Calibri"/>
              </a:rPr>
              <a:t>DISCUSSION QUESTIONS</a:t>
            </a:r>
            <a:endParaRPr b="0" i="0" sz="950" u="none" cap="none" strike="noStrike">
              <a:solidFill>
                <a:schemeClr val="dk1"/>
              </a:solidFill>
              <a:latin typeface="Calibri"/>
              <a:ea typeface="Calibri"/>
              <a:cs typeface="Calibri"/>
              <a:sym typeface="Calibri"/>
            </a:endParaRPr>
          </a:p>
        </p:txBody>
      </p:sp>
      <p:sp>
        <p:nvSpPr>
          <p:cNvPr id="2380" name="Google Shape;2380;p84"/>
          <p:cNvSpPr/>
          <p:nvPr/>
        </p:nvSpPr>
        <p:spPr>
          <a:xfrm>
            <a:off x="7095744" y="4168932"/>
            <a:ext cx="4370832" cy="2048988"/>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23293B"/>
              </a:buClr>
              <a:buSzPts val="1050"/>
              <a:buFont typeface="Calibri"/>
              <a:buNone/>
            </a:pPr>
            <a:r>
              <a:rPr b="0" i="0" lang="en-US" sz="1050" u="none" cap="none" strike="noStrike">
                <a:solidFill>
                  <a:srgbClr val="23293B"/>
                </a:solidFill>
                <a:latin typeface="Calibri"/>
                <a:ea typeface="Calibri"/>
                <a:cs typeface="Calibri"/>
                <a:sym typeface="Calibri"/>
              </a:rPr>
              <a:t>1.  Semantic or instance — and what if paid per crack, not per m²?</a:t>
            </a:r>
            <a:endParaRPr b="0" i="0" sz="1050" u="none" cap="none" strike="noStrike">
              <a:solidFill>
                <a:schemeClr val="dk1"/>
              </a:solidFill>
              <a:latin typeface="Calibri"/>
              <a:ea typeface="Calibri"/>
              <a:cs typeface="Calibri"/>
              <a:sym typeface="Calibri"/>
            </a:endParaRPr>
          </a:p>
          <a:p>
            <a:pPr indent="0" lvl="0" marL="0" marR="0" rtl="0" algn="l">
              <a:spcBef>
                <a:spcPts val="600"/>
              </a:spcBef>
              <a:spcAft>
                <a:spcPts val="0"/>
              </a:spcAft>
              <a:buClr>
                <a:srgbClr val="23293B"/>
              </a:buClr>
              <a:buSzPts val="1050"/>
              <a:buFont typeface="Calibri"/>
              <a:buNone/>
            </a:pPr>
            <a:r>
              <a:rPr b="0" i="0" lang="en-US" sz="1050" u="none" cap="none" strike="noStrike">
                <a:solidFill>
                  <a:srgbClr val="23293B"/>
                </a:solidFill>
                <a:latin typeface="Calibri"/>
                <a:ea typeface="Calibri"/>
                <a:cs typeface="Calibri"/>
                <a:sym typeface="Calibri"/>
              </a:rPr>
              <a:t>2.  Which error term dominates: boundary, calibration, or sampling?</a:t>
            </a:r>
            <a:endParaRPr b="0" i="0" sz="1050" u="none" cap="none" strike="noStrike">
              <a:solidFill>
                <a:schemeClr val="dk1"/>
              </a:solidFill>
              <a:latin typeface="Calibri"/>
              <a:ea typeface="Calibri"/>
              <a:cs typeface="Calibri"/>
              <a:sym typeface="Calibri"/>
            </a:endParaRPr>
          </a:p>
          <a:p>
            <a:pPr indent="0" lvl="0" marL="0" marR="0" rtl="0" algn="l">
              <a:spcBef>
                <a:spcPts val="600"/>
              </a:spcBef>
              <a:spcAft>
                <a:spcPts val="0"/>
              </a:spcAft>
              <a:buClr>
                <a:srgbClr val="23293B"/>
              </a:buClr>
              <a:buSzPts val="1050"/>
              <a:buFont typeface="Calibri"/>
              <a:buNone/>
            </a:pPr>
            <a:r>
              <a:rPr b="0" i="0" lang="en-US" sz="1050" u="none" cap="none" strike="noStrike">
                <a:solidFill>
                  <a:srgbClr val="23293B"/>
                </a:solidFill>
                <a:latin typeface="Calibri"/>
                <a:ea typeface="Calibri"/>
                <a:cs typeface="Calibri"/>
                <a:sym typeface="Calibri"/>
              </a:rPr>
              <a:t>3.  What artefacts constitute the audit pack?</a:t>
            </a:r>
            <a:endParaRPr b="0" i="0" sz="1050" u="none" cap="none" strike="noStrike">
              <a:solidFill>
                <a:schemeClr val="dk1"/>
              </a:solidFill>
              <a:latin typeface="Calibri"/>
              <a:ea typeface="Calibri"/>
              <a:cs typeface="Calibri"/>
              <a:sym typeface="Calibri"/>
            </a:endParaRPr>
          </a:p>
          <a:p>
            <a:pPr indent="0" lvl="0" marL="0" marR="0" rtl="0" algn="l">
              <a:spcBef>
                <a:spcPts val="600"/>
              </a:spcBef>
              <a:spcAft>
                <a:spcPts val="0"/>
              </a:spcAft>
              <a:buClr>
                <a:srgbClr val="23293B"/>
              </a:buClr>
              <a:buSzPts val="1050"/>
              <a:buFont typeface="Calibri"/>
              <a:buNone/>
            </a:pPr>
            <a:r>
              <a:rPr b="0" i="0" lang="en-US" sz="1050" u="none" cap="none" strike="noStrike">
                <a:solidFill>
                  <a:srgbClr val="23293B"/>
                </a:solidFill>
                <a:latin typeface="Calibri"/>
                <a:ea typeface="Calibri"/>
                <a:cs typeface="Calibri"/>
                <a:sym typeface="Calibri"/>
              </a:rPr>
              <a:t>4.  The contractor offers to fine-tune the model. Governance response?</a:t>
            </a:r>
            <a:endParaRPr b="0" i="0" sz="1050" u="none" cap="none" strike="noStrike">
              <a:solidFill>
                <a:schemeClr val="dk1"/>
              </a:solidFill>
              <a:latin typeface="Calibri"/>
              <a:ea typeface="Calibri"/>
              <a:cs typeface="Calibri"/>
              <a:sym typeface="Calibri"/>
            </a:endParaRPr>
          </a:p>
        </p:txBody>
      </p:sp>
    </p:spTree>
  </p:cSld>
  <p:clrMapOvr>
    <a:masterClrMapping/>
  </p:clrMapOvr>
</p:sld>
</file>

<file path=ppt/slides/slide8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385" name="Shape 2385"/>
        <p:cNvGrpSpPr/>
        <p:nvPr/>
      </p:nvGrpSpPr>
      <p:grpSpPr>
        <a:xfrm>
          <a:off x="0" y="0"/>
          <a:ext cx="0" cy="0"/>
          <a:chOff x="0" y="0"/>
          <a:chExt cx="0" cy="0"/>
        </a:xfrm>
      </p:grpSpPr>
      <p:sp>
        <p:nvSpPr>
          <p:cNvPr id="2386" name="Google Shape;2386;p85"/>
          <p:cNvSpPr/>
          <p:nvPr/>
        </p:nvSpPr>
        <p:spPr>
          <a:xfrm>
            <a:off x="502920" y="274320"/>
            <a:ext cx="9646920" cy="56692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D2A5C"/>
              </a:buClr>
              <a:buSzPts val="2700"/>
              <a:buFont typeface="Calibri"/>
              <a:buNone/>
            </a:pPr>
            <a:r>
              <a:rPr b="1" i="0" lang="en-US" sz="2700" u="none" cap="none" strike="noStrike">
                <a:solidFill>
                  <a:srgbClr val="1D2A5C"/>
                </a:solidFill>
                <a:latin typeface="Calibri"/>
                <a:ea typeface="Calibri"/>
                <a:cs typeface="Calibri"/>
                <a:sym typeface="Calibri"/>
              </a:rPr>
              <a:t>Module 4 Benchmarks and Targets</a:t>
            </a:r>
            <a:endParaRPr b="0" i="0" sz="2700" u="none" cap="none" strike="noStrike">
              <a:solidFill>
                <a:schemeClr val="dk1"/>
              </a:solidFill>
              <a:latin typeface="Calibri"/>
              <a:ea typeface="Calibri"/>
              <a:cs typeface="Calibri"/>
              <a:sym typeface="Calibri"/>
            </a:endParaRPr>
          </a:p>
        </p:txBody>
      </p:sp>
      <p:sp>
        <p:nvSpPr>
          <p:cNvPr id="2387" name="Google Shape;2387;p85"/>
          <p:cNvSpPr/>
          <p:nvPr/>
        </p:nvSpPr>
        <p:spPr>
          <a:xfrm>
            <a:off x="502920" y="859536"/>
            <a:ext cx="9646920" cy="31089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F6B7A"/>
              </a:buClr>
              <a:buSzPts val="1250"/>
              <a:buFont typeface="Arial"/>
              <a:buNone/>
            </a:pPr>
            <a:r>
              <a:rPr b="0" i="0" lang="en-US" sz="1250" u="none" cap="none" strike="noStrike">
                <a:solidFill>
                  <a:srgbClr val="5F6B7A"/>
                </a:solidFill>
                <a:latin typeface="Arial"/>
                <a:ea typeface="Arial"/>
                <a:cs typeface="Arial"/>
                <a:sym typeface="Arial"/>
              </a:rPr>
              <a:t>معايير وأهداف الوحدة الرابعة</a:t>
            </a:r>
            <a:endParaRPr b="0" i="0" sz="1250" u="none" cap="none" strike="noStrike">
              <a:solidFill>
                <a:schemeClr val="dk1"/>
              </a:solidFill>
              <a:latin typeface="Calibri"/>
              <a:ea typeface="Calibri"/>
              <a:cs typeface="Calibri"/>
              <a:sym typeface="Calibri"/>
            </a:endParaRPr>
          </a:p>
        </p:txBody>
      </p:sp>
      <p:pic>
        <p:nvPicPr>
          <p:cNvPr descr="/sessions/blissful-determined-ritchie/build/assets/sdaia_logo.png" id="2388" name="Google Shape;2388;p85"/>
          <p:cNvPicPr preferRelativeResize="0"/>
          <p:nvPr/>
        </p:nvPicPr>
        <p:blipFill rotWithShape="1">
          <a:blip r:embed="rId3">
            <a:alphaModFix/>
          </a:blip>
          <a:srcRect b="0" l="0" r="0" t="0"/>
          <a:stretch/>
        </p:blipFill>
        <p:spPr>
          <a:xfrm>
            <a:off x="10625328" y="310896"/>
            <a:ext cx="1078992" cy="264111"/>
          </a:xfrm>
          <a:prstGeom prst="rect">
            <a:avLst/>
          </a:prstGeom>
          <a:noFill/>
          <a:ln>
            <a:noFill/>
          </a:ln>
        </p:spPr>
      </p:pic>
      <p:sp>
        <p:nvSpPr>
          <p:cNvPr id="2389" name="Google Shape;2389;p85"/>
          <p:cNvSpPr/>
          <p:nvPr/>
        </p:nvSpPr>
        <p:spPr>
          <a:xfrm>
            <a:off x="502920" y="6528816"/>
            <a:ext cx="8686800"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A79D"/>
              </a:buClr>
              <a:buSzPts val="800"/>
              <a:buFont typeface="Calibri"/>
              <a:buNone/>
            </a:pPr>
            <a:r>
              <a:rPr b="1" i="0" lang="en-US" sz="800" u="none" cap="none" strike="noStrike">
                <a:solidFill>
                  <a:srgbClr val="00A79D"/>
                </a:solidFill>
                <a:latin typeface="Calibri"/>
                <a:ea typeface="Calibri"/>
                <a:cs typeface="Calibri"/>
                <a:sym typeface="Calibri"/>
              </a:rPr>
              <a:t>MODULE 4   </a:t>
            </a:r>
            <a:r>
              <a:rPr b="0" i="0" lang="en-US" sz="800" u="none" cap="none" strike="noStrike">
                <a:solidFill>
                  <a:srgbClr val="8A96A6"/>
                </a:solidFill>
                <a:latin typeface="Calibri"/>
                <a:ea typeface="Calibri"/>
                <a:cs typeface="Calibri"/>
                <a:sym typeface="Calibri"/>
              </a:rPr>
              <a:t>SDA-AIE-212 · Computer Vision Systems Development</a:t>
            </a:r>
            <a:endParaRPr b="0" i="0" sz="800" u="none" cap="none" strike="noStrike">
              <a:solidFill>
                <a:schemeClr val="dk1"/>
              </a:solidFill>
              <a:latin typeface="Calibri"/>
              <a:ea typeface="Calibri"/>
              <a:cs typeface="Calibri"/>
              <a:sym typeface="Calibri"/>
            </a:endParaRPr>
          </a:p>
        </p:txBody>
      </p:sp>
      <p:sp>
        <p:nvSpPr>
          <p:cNvPr id="2390" name="Google Shape;2390;p85"/>
          <p:cNvSpPr/>
          <p:nvPr/>
        </p:nvSpPr>
        <p:spPr>
          <a:xfrm>
            <a:off x="11292840" y="6528816"/>
            <a:ext cx="411480" cy="219456"/>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8A96A6"/>
              </a:buClr>
              <a:buSzPts val="900"/>
              <a:buFont typeface="Calibri"/>
              <a:buNone/>
            </a:pPr>
            <a:r>
              <a:rPr b="0" i="0" lang="en-US" sz="900" u="none" cap="none" strike="noStrike">
                <a:solidFill>
                  <a:srgbClr val="8A96A6"/>
                </a:solidFill>
                <a:latin typeface="Calibri"/>
                <a:ea typeface="Calibri"/>
                <a:cs typeface="Calibri"/>
                <a:sym typeface="Calibri"/>
              </a:rPr>
              <a:t>85</a:t>
            </a:r>
            <a:endParaRPr b="0" i="0" sz="900" u="none" cap="none" strike="noStrike">
              <a:solidFill>
                <a:schemeClr val="dk1"/>
              </a:solidFill>
              <a:latin typeface="Calibri"/>
              <a:ea typeface="Calibri"/>
              <a:cs typeface="Calibri"/>
              <a:sym typeface="Calibri"/>
            </a:endParaRPr>
          </a:p>
        </p:txBody>
      </p:sp>
      <p:graphicFrame>
        <p:nvGraphicFramePr>
          <p:cNvPr id="2391" name="Google Shape;2391;p85"/>
          <p:cNvGraphicFramePr/>
          <p:nvPr/>
        </p:nvGraphicFramePr>
        <p:xfrm>
          <a:off x="502920" y="1389888"/>
          <a:ext cx="3000000" cy="3000000"/>
        </p:xfrm>
        <a:graphic>
          <a:graphicData uri="http://schemas.openxmlformats.org/drawingml/2006/table">
            <a:tbl>
              <a:tblPr>
                <a:noFill/>
                <a:tableStyleId>{F80342BA-3033-44D6-9F91-622DC7A4C435}</a:tableStyleId>
              </a:tblPr>
              <a:tblGrid>
                <a:gridCol w="4119650"/>
                <a:gridCol w="3633175"/>
                <a:gridCol w="3433025"/>
              </a:tblGrid>
              <a:tr h="696250">
                <a:tc>
                  <a:txBody>
                    <a:bodyPr/>
                    <a:lstStyle/>
                    <a:p>
                      <a:pPr indent="0" lvl="0" marL="0" marR="0" rtl="0" algn="l">
                        <a:spcBef>
                          <a:spcPts val="0"/>
                        </a:spcBef>
                        <a:spcAft>
                          <a:spcPts val="0"/>
                        </a:spcAft>
                        <a:buClr>
                          <a:srgbClr val="FFFFFF"/>
                        </a:buClr>
                        <a:buSzPts val="1050"/>
                        <a:buFont typeface="Calibri"/>
                        <a:buNone/>
                      </a:pPr>
                      <a:r>
                        <a:rPr b="1" lang="en-US" sz="1050" u="none" cap="none" strike="noStrike">
                          <a:solidFill>
                            <a:srgbClr val="FFFFFF"/>
                          </a:solidFill>
                          <a:latin typeface="Calibri"/>
                          <a:ea typeface="Calibri"/>
                          <a:cs typeface="Calibri"/>
                          <a:sym typeface="Calibri"/>
                        </a:rPr>
                        <a:t>Metric</a:t>
                      </a:r>
                      <a:endParaRPr sz="1050" u="none" cap="none" strike="noStrike">
                        <a:latin typeface="Calibri"/>
                        <a:ea typeface="Calibri"/>
                        <a:cs typeface="Calibri"/>
                        <a:sym typeface="Calibri"/>
                      </a:endParaRPr>
                    </a:p>
                  </a:txBody>
                  <a:tcPr marT="64000" marB="64000" marR="64000" marL="64000" anchor="ctr">
                    <a:lnL cap="flat" cmpd="sng" w="9525">
                      <a:solidFill>
                        <a:srgbClr val="D9E2EA"/>
                      </a:solidFill>
                      <a:prstDash val="solid"/>
                      <a:round/>
                      <a:headEnd len="sm" w="sm" type="none"/>
                      <a:tailEnd len="sm" w="sm" type="none"/>
                    </a:lnL>
                    <a:lnR cap="flat" cmpd="sng" w="9525">
                      <a:solidFill>
                        <a:srgbClr val="D9E2EA"/>
                      </a:solidFill>
                      <a:prstDash val="solid"/>
                      <a:round/>
                      <a:headEnd len="sm" w="sm" type="none"/>
                      <a:tailEnd len="sm" w="sm" type="none"/>
                    </a:lnR>
                    <a:lnT cap="flat" cmpd="sng" w="9525">
                      <a:solidFill>
                        <a:srgbClr val="D9E2EA"/>
                      </a:solidFill>
                      <a:prstDash val="solid"/>
                      <a:round/>
                      <a:headEnd len="sm" w="sm" type="none"/>
                      <a:tailEnd len="sm" w="sm" type="none"/>
                    </a:lnT>
                    <a:lnB cap="flat" cmpd="sng" w="9525">
                      <a:solidFill>
                        <a:srgbClr val="D9E2EA"/>
                      </a:solidFill>
                      <a:prstDash val="solid"/>
                      <a:round/>
                      <a:headEnd len="sm" w="sm" type="none"/>
                      <a:tailEnd len="sm" w="sm" type="none"/>
                    </a:lnB>
                    <a:solidFill>
                      <a:srgbClr val="1D2A5C"/>
                    </a:solidFill>
                  </a:tcPr>
                </a:tc>
                <a:tc>
                  <a:txBody>
                    <a:bodyPr/>
                    <a:lstStyle/>
                    <a:p>
                      <a:pPr indent="0" lvl="0" marL="0" marR="0" rtl="0" algn="l">
                        <a:spcBef>
                          <a:spcPts val="0"/>
                        </a:spcBef>
                        <a:spcAft>
                          <a:spcPts val="0"/>
                        </a:spcAft>
                        <a:buClr>
                          <a:srgbClr val="FFFFFF"/>
                        </a:buClr>
                        <a:buSzPts val="1050"/>
                        <a:buFont typeface="Calibri"/>
                        <a:buNone/>
                      </a:pPr>
                      <a:r>
                        <a:rPr b="1" lang="en-US" sz="1050" u="none" cap="none" strike="noStrike">
                          <a:solidFill>
                            <a:srgbClr val="FFFFFF"/>
                          </a:solidFill>
                          <a:latin typeface="Calibri"/>
                          <a:ea typeface="Calibri"/>
                          <a:cs typeface="Calibri"/>
                          <a:sym typeface="Calibri"/>
                        </a:rPr>
                        <a:t>Target after M4</a:t>
                      </a:r>
                      <a:endParaRPr sz="1050" u="none" cap="none" strike="noStrike">
                        <a:latin typeface="Calibri"/>
                        <a:ea typeface="Calibri"/>
                        <a:cs typeface="Calibri"/>
                        <a:sym typeface="Calibri"/>
                      </a:endParaRPr>
                    </a:p>
                  </a:txBody>
                  <a:tcPr marT="64000" marB="64000" marR="64000" marL="64000" anchor="ctr">
                    <a:lnL cap="flat" cmpd="sng" w="9525">
                      <a:solidFill>
                        <a:srgbClr val="D9E2EA"/>
                      </a:solidFill>
                      <a:prstDash val="solid"/>
                      <a:round/>
                      <a:headEnd len="sm" w="sm" type="none"/>
                      <a:tailEnd len="sm" w="sm" type="none"/>
                    </a:lnL>
                    <a:lnR cap="flat" cmpd="sng" w="9525">
                      <a:solidFill>
                        <a:srgbClr val="D9E2EA"/>
                      </a:solidFill>
                      <a:prstDash val="solid"/>
                      <a:round/>
                      <a:headEnd len="sm" w="sm" type="none"/>
                      <a:tailEnd len="sm" w="sm" type="none"/>
                    </a:lnR>
                    <a:lnT cap="flat" cmpd="sng" w="9525">
                      <a:solidFill>
                        <a:srgbClr val="D9E2EA"/>
                      </a:solidFill>
                      <a:prstDash val="solid"/>
                      <a:round/>
                      <a:headEnd len="sm" w="sm" type="none"/>
                      <a:tailEnd len="sm" w="sm" type="none"/>
                    </a:lnT>
                    <a:lnB cap="flat" cmpd="sng" w="9525">
                      <a:solidFill>
                        <a:srgbClr val="D9E2EA"/>
                      </a:solidFill>
                      <a:prstDash val="solid"/>
                      <a:round/>
                      <a:headEnd len="sm" w="sm" type="none"/>
                      <a:tailEnd len="sm" w="sm" type="none"/>
                    </a:lnB>
                    <a:solidFill>
                      <a:srgbClr val="1D2A5C"/>
                    </a:solidFill>
                  </a:tcPr>
                </a:tc>
                <a:tc>
                  <a:txBody>
                    <a:bodyPr/>
                    <a:lstStyle/>
                    <a:p>
                      <a:pPr indent="0" lvl="0" marL="0" marR="0" rtl="0" algn="l">
                        <a:spcBef>
                          <a:spcPts val="0"/>
                        </a:spcBef>
                        <a:spcAft>
                          <a:spcPts val="0"/>
                        </a:spcAft>
                        <a:buClr>
                          <a:srgbClr val="FFFFFF"/>
                        </a:buClr>
                        <a:buSzPts val="1050"/>
                        <a:buFont typeface="Calibri"/>
                        <a:buNone/>
                      </a:pPr>
                      <a:r>
                        <a:rPr b="1" lang="en-US" sz="1050" u="none" cap="none" strike="noStrike">
                          <a:solidFill>
                            <a:srgbClr val="FFFFFF"/>
                          </a:solidFill>
                          <a:latin typeface="Calibri"/>
                          <a:ea typeface="Calibri"/>
                          <a:cs typeface="Calibri"/>
                          <a:sym typeface="Calibri"/>
                        </a:rPr>
                        <a:t>How measured</a:t>
                      </a:r>
                      <a:endParaRPr sz="1050" u="none" cap="none" strike="noStrike">
                        <a:latin typeface="Calibri"/>
                        <a:ea typeface="Calibri"/>
                        <a:cs typeface="Calibri"/>
                        <a:sym typeface="Calibri"/>
                      </a:endParaRPr>
                    </a:p>
                  </a:txBody>
                  <a:tcPr marT="64000" marB="64000" marR="64000" marL="64000" anchor="ctr">
                    <a:lnL cap="flat" cmpd="sng" w="9525">
                      <a:solidFill>
                        <a:srgbClr val="D9E2EA"/>
                      </a:solidFill>
                      <a:prstDash val="solid"/>
                      <a:round/>
                      <a:headEnd len="sm" w="sm" type="none"/>
                      <a:tailEnd len="sm" w="sm" type="none"/>
                    </a:lnL>
                    <a:lnR cap="flat" cmpd="sng" w="9525">
                      <a:solidFill>
                        <a:srgbClr val="D9E2EA"/>
                      </a:solidFill>
                      <a:prstDash val="solid"/>
                      <a:round/>
                      <a:headEnd len="sm" w="sm" type="none"/>
                      <a:tailEnd len="sm" w="sm" type="none"/>
                    </a:lnR>
                    <a:lnT cap="flat" cmpd="sng" w="9525">
                      <a:solidFill>
                        <a:srgbClr val="D9E2EA"/>
                      </a:solidFill>
                      <a:prstDash val="solid"/>
                      <a:round/>
                      <a:headEnd len="sm" w="sm" type="none"/>
                      <a:tailEnd len="sm" w="sm" type="none"/>
                    </a:lnT>
                    <a:lnB cap="flat" cmpd="sng" w="9525">
                      <a:solidFill>
                        <a:srgbClr val="D9E2EA"/>
                      </a:solidFill>
                      <a:prstDash val="solid"/>
                      <a:round/>
                      <a:headEnd len="sm" w="sm" type="none"/>
                      <a:tailEnd len="sm" w="sm" type="none"/>
                    </a:lnB>
                    <a:solidFill>
                      <a:srgbClr val="1D2A5C"/>
                    </a:solidFill>
                  </a:tcPr>
                </a:tc>
              </a:tr>
              <a:tr h="696250">
                <a:tc>
                  <a:txBody>
                    <a:bodyPr/>
                    <a:lstStyle/>
                    <a:p>
                      <a:pPr indent="0" lvl="0" marL="0" marR="0" rtl="0" algn="l">
                        <a:spcBef>
                          <a:spcPts val="0"/>
                        </a:spcBef>
                        <a:spcAft>
                          <a:spcPts val="0"/>
                        </a:spcAft>
                        <a:buClr>
                          <a:srgbClr val="1D2A5C"/>
                        </a:buClr>
                        <a:buSzPts val="1050"/>
                        <a:buFont typeface="Calibri"/>
                        <a:buNone/>
                      </a:pPr>
                      <a:r>
                        <a:rPr b="1" lang="en-US" sz="1050" u="none" cap="none" strike="noStrike">
                          <a:solidFill>
                            <a:srgbClr val="1D2A5C"/>
                          </a:solidFill>
                          <a:latin typeface="Calibri"/>
                          <a:ea typeface="Calibri"/>
                          <a:cs typeface="Calibri"/>
                          <a:sym typeface="Calibri"/>
                        </a:rPr>
                        <a:t>Mask mAP@0.5 (test split)</a:t>
                      </a:r>
                      <a:endParaRPr sz="1050" u="none" cap="none" strike="noStrike">
                        <a:latin typeface="Calibri"/>
                        <a:ea typeface="Calibri"/>
                        <a:cs typeface="Calibri"/>
                        <a:sym typeface="Calibri"/>
                      </a:endParaRPr>
                    </a:p>
                  </a:txBody>
                  <a:tcPr marT="64000" marB="64000" marR="64000" marL="64000" anchor="ctr">
                    <a:lnL cap="flat" cmpd="sng" w="9525">
                      <a:solidFill>
                        <a:srgbClr val="D9E2EA"/>
                      </a:solidFill>
                      <a:prstDash val="solid"/>
                      <a:round/>
                      <a:headEnd len="sm" w="sm" type="none"/>
                      <a:tailEnd len="sm" w="sm" type="none"/>
                    </a:lnL>
                    <a:lnR cap="flat" cmpd="sng" w="9525">
                      <a:solidFill>
                        <a:srgbClr val="D9E2EA"/>
                      </a:solidFill>
                      <a:prstDash val="solid"/>
                      <a:round/>
                      <a:headEnd len="sm" w="sm" type="none"/>
                      <a:tailEnd len="sm" w="sm" type="none"/>
                    </a:lnR>
                    <a:lnT cap="flat" cmpd="sng" w="9525">
                      <a:solidFill>
                        <a:srgbClr val="D9E2EA"/>
                      </a:solidFill>
                      <a:prstDash val="solid"/>
                      <a:round/>
                      <a:headEnd len="sm" w="sm" type="none"/>
                      <a:tailEnd len="sm" w="sm" type="none"/>
                    </a:lnT>
                    <a:lnB cap="flat" cmpd="sng" w="9525">
                      <a:solidFill>
                        <a:srgbClr val="D9E2EA"/>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23293B"/>
                        </a:buClr>
                        <a:buSzPts val="1050"/>
                        <a:buFont typeface="Calibri"/>
                        <a:buNone/>
                      </a:pPr>
                      <a:r>
                        <a:rPr lang="en-US" sz="1050" u="none" cap="none" strike="noStrike">
                          <a:solidFill>
                            <a:srgbClr val="23293B"/>
                          </a:solidFill>
                          <a:latin typeface="Calibri"/>
                          <a:ea typeface="Calibri"/>
                          <a:cs typeface="Calibri"/>
                          <a:sym typeface="Calibri"/>
                        </a:rPr>
                        <a:t>≥ 0.80</a:t>
                      </a:r>
                      <a:endParaRPr sz="1050" u="none" cap="none" strike="noStrike">
                        <a:latin typeface="Calibri"/>
                        <a:ea typeface="Calibri"/>
                        <a:cs typeface="Calibri"/>
                        <a:sym typeface="Calibri"/>
                      </a:endParaRPr>
                    </a:p>
                  </a:txBody>
                  <a:tcPr marT="64000" marB="64000" marR="64000" marL="64000" anchor="ctr">
                    <a:lnL cap="flat" cmpd="sng" w="9525">
                      <a:solidFill>
                        <a:srgbClr val="D9E2EA"/>
                      </a:solidFill>
                      <a:prstDash val="solid"/>
                      <a:round/>
                      <a:headEnd len="sm" w="sm" type="none"/>
                      <a:tailEnd len="sm" w="sm" type="none"/>
                    </a:lnL>
                    <a:lnR cap="flat" cmpd="sng" w="9525">
                      <a:solidFill>
                        <a:srgbClr val="D9E2EA"/>
                      </a:solidFill>
                      <a:prstDash val="solid"/>
                      <a:round/>
                      <a:headEnd len="sm" w="sm" type="none"/>
                      <a:tailEnd len="sm" w="sm" type="none"/>
                    </a:lnR>
                    <a:lnT cap="flat" cmpd="sng" w="9525">
                      <a:solidFill>
                        <a:srgbClr val="D9E2EA"/>
                      </a:solidFill>
                      <a:prstDash val="solid"/>
                      <a:round/>
                      <a:headEnd len="sm" w="sm" type="none"/>
                      <a:tailEnd len="sm" w="sm" type="none"/>
                    </a:lnT>
                    <a:lnB cap="flat" cmpd="sng" w="9525">
                      <a:solidFill>
                        <a:srgbClr val="D9E2EA"/>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23293B"/>
                        </a:buClr>
                        <a:buSzPts val="1050"/>
                        <a:buFont typeface="Calibri"/>
                        <a:buNone/>
                      </a:pPr>
                      <a:r>
                        <a:rPr lang="en-US" sz="1050" u="none" cap="none" strike="noStrike">
                          <a:solidFill>
                            <a:srgbClr val="23293B"/>
                          </a:solidFill>
                          <a:latin typeface="Calibri"/>
                          <a:ea typeface="Calibri"/>
                          <a:cs typeface="Calibri"/>
                          <a:sym typeface="Calibri"/>
                        </a:rPr>
                        <a:t>model.val() seg metrics</a:t>
                      </a:r>
                      <a:endParaRPr sz="1050" u="none" cap="none" strike="noStrike">
                        <a:latin typeface="Calibri"/>
                        <a:ea typeface="Calibri"/>
                        <a:cs typeface="Calibri"/>
                        <a:sym typeface="Calibri"/>
                      </a:endParaRPr>
                    </a:p>
                  </a:txBody>
                  <a:tcPr marT="64000" marB="64000" marR="64000" marL="64000" anchor="ctr">
                    <a:lnL cap="flat" cmpd="sng" w="9525">
                      <a:solidFill>
                        <a:srgbClr val="D9E2EA"/>
                      </a:solidFill>
                      <a:prstDash val="solid"/>
                      <a:round/>
                      <a:headEnd len="sm" w="sm" type="none"/>
                      <a:tailEnd len="sm" w="sm" type="none"/>
                    </a:lnL>
                    <a:lnR cap="flat" cmpd="sng" w="9525">
                      <a:solidFill>
                        <a:srgbClr val="D9E2EA"/>
                      </a:solidFill>
                      <a:prstDash val="solid"/>
                      <a:round/>
                      <a:headEnd len="sm" w="sm" type="none"/>
                      <a:tailEnd len="sm" w="sm" type="none"/>
                    </a:lnR>
                    <a:lnT cap="flat" cmpd="sng" w="9525">
                      <a:solidFill>
                        <a:srgbClr val="D9E2EA"/>
                      </a:solidFill>
                      <a:prstDash val="solid"/>
                      <a:round/>
                      <a:headEnd len="sm" w="sm" type="none"/>
                      <a:tailEnd len="sm" w="sm" type="none"/>
                    </a:lnT>
                    <a:lnB cap="flat" cmpd="sng" w="9525">
                      <a:solidFill>
                        <a:srgbClr val="D9E2EA"/>
                      </a:solidFill>
                      <a:prstDash val="solid"/>
                      <a:round/>
                      <a:headEnd len="sm" w="sm" type="none"/>
                      <a:tailEnd len="sm" w="sm" type="none"/>
                    </a:lnB>
                    <a:solidFill>
                      <a:srgbClr val="FFFFFF"/>
                    </a:solidFill>
                  </a:tcPr>
                </a:tc>
              </a:tr>
              <a:tr h="696250">
                <a:tc>
                  <a:txBody>
                    <a:bodyPr/>
                    <a:lstStyle/>
                    <a:p>
                      <a:pPr indent="0" lvl="0" marL="0" marR="0" rtl="0" algn="l">
                        <a:spcBef>
                          <a:spcPts val="0"/>
                        </a:spcBef>
                        <a:spcAft>
                          <a:spcPts val="0"/>
                        </a:spcAft>
                        <a:buClr>
                          <a:srgbClr val="1D2A5C"/>
                        </a:buClr>
                        <a:buSzPts val="1050"/>
                        <a:buFont typeface="Calibri"/>
                        <a:buNone/>
                      </a:pPr>
                      <a:r>
                        <a:rPr b="1" lang="en-US" sz="1050" u="none" cap="none" strike="noStrike">
                          <a:solidFill>
                            <a:srgbClr val="1D2A5C"/>
                          </a:solidFill>
                          <a:latin typeface="Calibri"/>
                          <a:ea typeface="Calibri"/>
                          <a:cs typeface="Calibri"/>
                          <a:sym typeface="Calibri"/>
                        </a:rPr>
                        <a:t>Defect-area MAE per fruit</a:t>
                      </a:r>
                      <a:endParaRPr sz="1050" u="none" cap="none" strike="noStrike">
                        <a:latin typeface="Calibri"/>
                        <a:ea typeface="Calibri"/>
                        <a:cs typeface="Calibri"/>
                        <a:sym typeface="Calibri"/>
                      </a:endParaRPr>
                    </a:p>
                  </a:txBody>
                  <a:tcPr marT="64000" marB="64000" marR="64000" marL="64000" anchor="ctr">
                    <a:lnL cap="flat" cmpd="sng" w="9525">
                      <a:solidFill>
                        <a:srgbClr val="D9E2EA"/>
                      </a:solidFill>
                      <a:prstDash val="solid"/>
                      <a:round/>
                      <a:headEnd len="sm" w="sm" type="none"/>
                      <a:tailEnd len="sm" w="sm" type="none"/>
                    </a:lnL>
                    <a:lnR cap="flat" cmpd="sng" w="9525">
                      <a:solidFill>
                        <a:srgbClr val="D9E2EA"/>
                      </a:solidFill>
                      <a:prstDash val="solid"/>
                      <a:round/>
                      <a:headEnd len="sm" w="sm" type="none"/>
                      <a:tailEnd len="sm" w="sm" type="none"/>
                    </a:lnR>
                    <a:lnT cap="flat" cmpd="sng" w="9525">
                      <a:solidFill>
                        <a:srgbClr val="D9E2EA"/>
                      </a:solidFill>
                      <a:prstDash val="solid"/>
                      <a:round/>
                      <a:headEnd len="sm" w="sm" type="none"/>
                      <a:tailEnd len="sm" w="sm" type="none"/>
                    </a:lnT>
                    <a:lnB cap="flat" cmpd="sng" w="9525">
                      <a:solidFill>
                        <a:srgbClr val="D9E2EA"/>
                      </a:solidFill>
                      <a:prstDash val="solid"/>
                      <a:round/>
                      <a:headEnd len="sm" w="sm" type="none"/>
                      <a:tailEnd len="sm" w="sm" type="none"/>
                    </a:lnB>
                    <a:solidFill>
                      <a:srgbClr val="F2F6F9"/>
                    </a:solidFill>
                  </a:tcPr>
                </a:tc>
                <a:tc>
                  <a:txBody>
                    <a:bodyPr/>
                    <a:lstStyle/>
                    <a:p>
                      <a:pPr indent="0" lvl="0" marL="0" marR="0" rtl="0" algn="l">
                        <a:spcBef>
                          <a:spcPts val="0"/>
                        </a:spcBef>
                        <a:spcAft>
                          <a:spcPts val="0"/>
                        </a:spcAft>
                        <a:buClr>
                          <a:srgbClr val="23293B"/>
                        </a:buClr>
                        <a:buSzPts val="1050"/>
                        <a:buFont typeface="Calibri"/>
                        <a:buNone/>
                      </a:pPr>
                      <a:r>
                        <a:rPr lang="en-US" sz="1050" u="none" cap="none" strike="noStrike">
                          <a:solidFill>
                            <a:srgbClr val="23293B"/>
                          </a:solidFill>
                          <a:latin typeface="Calibri"/>
                          <a:ea typeface="Calibri"/>
                          <a:cs typeface="Calibri"/>
                          <a:sym typeface="Calibri"/>
                        </a:rPr>
                        <a:t>≤ 1.5 pp</a:t>
                      </a:r>
                      <a:endParaRPr sz="1050" u="none" cap="none" strike="noStrike">
                        <a:latin typeface="Calibri"/>
                        <a:ea typeface="Calibri"/>
                        <a:cs typeface="Calibri"/>
                        <a:sym typeface="Calibri"/>
                      </a:endParaRPr>
                    </a:p>
                  </a:txBody>
                  <a:tcPr marT="64000" marB="64000" marR="64000" marL="64000" anchor="ctr">
                    <a:lnL cap="flat" cmpd="sng" w="9525">
                      <a:solidFill>
                        <a:srgbClr val="D9E2EA"/>
                      </a:solidFill>
                      <a:prstDash val="solid"/>
                      <a:round/>
                      <a:headEnd len="sm" w="sm" type="none"/>
                      <a:tailEnd len="sm" w="sm" type="none"/>
                    </a:lnL>
                    <a:lnR cap="flat" cmpd="sng" w="9525">
                      <a:solidFill>
                        <a:srgbClr val="D9E2EA"/>
                      </a:solidFill>
                      <a:prstDash val="solid"/>
                      <a:round/>
                      <a:headEnd len="sm" w="sm" type="none"/>
                      <a:tailEnd len="sm" w="sm" type="none"/>
                    </a:lnR>
                    <a:lnT cap="flat" cmpd="sng" w="9525">
                      <a:solidFill>
                        <a:srgbClr val="D9E2EA"/>
                      </a:solidFill>
                      <a:prstDash val="solid"/>
                      <a:round/>
                      <a:headEnd len="sm" w="sm" type="none"/>
                      <a:tailEnd len="sm" w="sm" type="none"/>
                    </a:lnT>
                    <a:lnB cap="flat" cmpd="sng" w="9525">
                      <a:solidFill>
                        <a:srgbClr val="D9E2EA"/>
                      </a:solidFill>
                      <a:prstDash val="solid"/>
                      <a:round/>
                      <a:headEnd len="sm" w="sm" type="none"/>
                      <a:tailEnd len="sm" w="sm" type="none"/>
                    </a:lnB>
                    <a:solidFill>
                      <a:srgbClr val="F2F6F9"/>
                    </a:solidFill>
                  </a:tcPr>
                </a:tc>
                <a:tc>
                  <a:txBody>
                    <a:bodyPr/>
                    <a:lstStyle/>
                    <a:p>
                      <a:pPr indent="0" lvl="0" marL="0" marR="0" rtl="0" algn="l">
                        <a:spcBef>
                          <a:spcPts val="0"/>
                        </a:spcBef>
                        <a:spcAft>
                          <a:spcPts val="0"/>
                        </a:spcAft>
                        <a:buClr>
                          <a:srgbClr val="23293B"/>
                        </a:buClr>
                        <a:buSzPts val="1050"/>
                        <a:buFont typeface="Calibri"/>
                        <a:buNone/>
                      </a:pPr>
                      <a:r>
                        <a:rPr lang="en-US" sz="1050" u="none" cap="none" strike="noStrike">
                          <a:solidFill>
                            <a:srgbClr val="23293B"/>
                          </a:solidFill>
                          <a:latin typeface="Calibri"/>
                          <a:ea typeface="Calibri"/>
                          <a:cs typeface="Calibri"/>
                          <a:sym typeface="Calibri"/>
                        </a:rPr>
                        <a:t>eval_area_error.py</a:t>
                      </a:r>
                      <a:endParaRPr sz="1050" u="none" cap="none" strike="noStrike">
                        <a:latin typeface="Calibri"/>
                        <a:ea typeface="Calibri"/>
                        <a:cs typeface="Calibri"/>
                        <a:sym typeface="Calibri"/>
                      </a:endParaRPr>
                    </a:p>
                  </a:txBody>
                  <a:tcPr marT="64000" marB="64000" marR="64000" marL="64000" anchor="ctr">
                    <a:lnL cap="flat" cmpd="sng" w="9525">
                      <a:solidFill>
                        <a:srgbClr val="D9E2EA"/>
                      </a:solidFill>
                      <a:prstDash val="solid"/>
                      <a:round/>
                      <a:headEnd len="sm" w="sm" type="none"/>
                      <a:tailEnd len="sm" w="sm" type="none"/>
                    </a:lnL>
                    <a:lnR cap="flat" cmpd="sng" w="9525">
                      <a:solidFill>
                        <a:srgbClr val="D9E2EA"/>
                      </a:solidFill>
                      <a:prstDash val="solid"/>
                      <a:round/>
                      <a:headEnd len="sm" w="sm" type="none"/>
                      <a:tailEnd len="sm" w="sm" type="none"/>
                    </a:lnR>
                    <a:lnT cap="flat" cmpd="sng" w="9525">
                      <a:solidFill>
                        <a:srgbClr val="D9E2EA"/>
                      </a:solidFill>
                      <a:prstDash val="solid"/>
                      <a:round/>
                      <a:headEnd len="sm" w="sm" type="none"/>
                      <a:tailEnd len="sm" w="sm" type="none"/>
                    </a:lnT>
                    <a:lnB cap="flat" cmpd="sng" w="9525">
                      <a:solidFill>
                        <a:srgbClr val="D9E2EA"/>
                      </a:solidFill>
                      <a:prstDash val="solid"/>
                      <a:round/>
                      <a:headEnd len="sm" w="sm" type="none"/>
                      <a:tailEnd len="sm" w="sm" type="none"/>
                    </a:lnB>
                    <a:solidFill>
                      <a:srgbClr val="F2F6F9"/>
                    </a:solidFill>
                  </a:tcPr>
                </a:tc>
              </a:tr>
              <a:tr h="696250">
                <a:tc>
                  <a:txBody>
                    <a:bodyPr/>
                    <a:lstStyle/>
                    <a:p>
                      <a:pPr indent="0" lvl="0" marL="0" marR="0" rtl="0" algn="l">
                        <a:spcBef>
                          <a:spcPts val="0"/>
                        </a:spcBef>
                        <a:spcAft>
                          <a:spcPts val="0"/>
                        </a:spcAft>
                        <a:buClr>
                          <a:srgbClr val="1D2A5C"/>
                        </a:buClr>
                        <a:buSzPts val="1050"/>
                        <a:buFont typeface="Calibri"/>
                        <a:buNone/>
                      </a:pPr>
                      <a:r>
                        <a:rPr b="1" lang="en-US" sz="1050" u="none" cap="none" strike="noStrike">
                          <a:solidFill>
                            <a:srgbClr val="1D2A5C"/>
                          </a:solidFill>
                          <a:latin typeface="Calibri"/>
                          <a:ea typeface="Calibri"/>
                          <a:cs typeface="Calibri"/>
                          <a:sym typeface="Calibri"/>
                        </a:rPr>
                        <a:t>Grading-disagreement rate (8% rule)</a:t>
                      </a:r>
                      <a:endParaRPr sz="1050" u="none" cap="none" strike="noStrike">
                        <a:latin typeface="Calibri"/>
                        <a:ea typeface="Calibri"/>
                        <a:cs typeface="Calibri"/>
                        <a:sym typeface="Calibri"/>
                      </a:endParaRPr>
                    </a:p>
                  </a:txBody>
                  <a:tcPr marT="64000" marB="64000" marR="64000" marL="64000" anchor="ctr">
                    <a:lnL cap="flat" cmpd="sng" w="9525">
                      <a:solidFill>
                        <a:srgbClr val="D9E2EA"/>
                      </a:solidFill>
                      <a:prstDash val="solid"/>
                      <a:round/>
                      <a:headEnd len="sm" w="sm" type="none"/>
                      <a:tailEnd len="sm" w="sm" type="none"/>
                    </a:lnL>
                    <a:lnR cap="flat" cmpd="sng" w="9525">
                      <a:solidFill>
                        <a:srgbClr val="D9E2EA"/>
                      </a:solidFill>
                      <a:prstDash val="solid"/>
                      <a:round/>
                      <a:headEnd len="sm" w="sm" type="none"/>
                      <a:tailEnd len="sm" w="sm" type="none"/>
                    </a:lnR>
                    <a:lnT cap="flat" cmpd="sng" w="9525">
                      <a:solidFill>
                        <a:srgbClr val="D9E2EA"/>
                      </a:solidFill>
                      <a:prstDash val="solid"/>
                      <a:round/>
                      <a:headEnd len="sm" w="sm" type="none"/>
                      <a:tailEnd len="sm" w="sm" type="none"/>
                    </a:lnT>
                    <a:lnB cap="flat" cmpd="sng" w="9525">
                      <a:solidFill>
                        <a:srgbClr val="D9E2EA"/>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23293B"/>
                        </a:buClr>
                        <a:buSzPts val="1050"/>
                        <a:buFont typeface="Calibri"/>
                        <a:buNone/>
                      </a:pPr>
                      <a:r>
                        <a:rPr lang="en-US" sz="1050" u="none" cap="none" strike="noStrike">
                          <a:solidFill>
                            <a:srgbClr val="23293B"/>
                          </a:solidFill>
                          <a:latin typeface="Calibri"/>
                          <a:ea typeface="Calibri"/>
                          <a:cs typeface="Calibri"/>
                          <a:sym typeface="Calibri"/>
                        </a:rPr>
                        <a:t>≤ 3%</a:t>
                      </a:r>
                      <a:endParaRPr sz="1050" u="none" cap="none" strike="noStrike">
                        <a:latin typeface="Calibri"/>
                        <a:ea typeface="Calibri"/>
                        <a:cs typeface="Calibri"/>
                        <a:sym typeface="Calibri"/>
                      </a:endParaRPr>
                    </a:p>
                  </a:txBody>
                  <a:tcPr marT="64000" marB="64000" marR="64000" marL="64000" anchor="ctr">
                    <a:lnL cap="flat" cmpd="sng" w="9525">
                      <a:solidFill>
                        <a:srgbClr val="D9E2EA"/>
                      </a:solidFill>
                      <a:prstDash val="solid"/>
                      <a:round/>
                      <a:headEnd len="sm" w="sm" type="none"/>
                      <a:tailEnd len="sm" w="sm" type="none"/>
                    </a:lnL>
                    <a:lnR cap="flat" cmpd="sng" w="9525">
                      <a:solidFill>
                        <a:srgbClr val="D9E2EA"/>
                      </a:solidFill>
                      <a:prstDash val="solid"/>
                      <a:round/>
                      <a:headEnd len="sm" w="sm" type="none"/>
                      <a:tailEnd len="sm" w="sm" type="none"/>
                    </a:lnR>
                    <a:lnT cap="flat" cmpd="sng" w="9525">
                      <a:solidFill>
                        <a:srgbClr val="D9E2EA"/>
                      </a:solidFill>
                      <a:prstDash val="solid"/>
                      <a:round/>
                      <a:headEnd len="sm" w="sm" type="none"/>
                      <a:tailEnd len="sm" w="sm" type="none"/>
                    </a:lnT>
                    <a:lnB cap="flat" cmpd="sng" w="9525">
                      <a:solidFill>
                        <a:srgbClr val="D9E2EA"/>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23293B"/>
                        </a:buClr>
                        <a:buSzPts val="1050"/>
                        <a:buFont typeface="Calibri"/>
                        <a:buNone/>
                      </a:pPr>
                      <a:r>
                        <a:rPr lang="en-US" sz="1050" u="none" cap="none" strike="noStrike">
                          <a:solidFill>
                            <a:srgbClr val="23293B"/>
                          </a:solidFill>
                          <a:latin typeface="Calibri"/>
                          <a:ea typeface="Calibri"/>
                          <a:cs typeface="Calibri"/>
                          <a:sym typeface="Calibri"/>
                        </a:rPr>
                        <a:t>same script</a:t>
                      </a:r>
                      <a:endParaRPr sz="1050" u="none" cap="none" strike="noStrike">
                        <a:latin typeface="Calibri"/>
                        <a:ea typeface="Calibri"/>
                        <a:cs typeface="Calibri"/>
                        <a:sym typeface="Calibri"/>
                      </a:endParaRPr>
                    </a:p>
                  </a:txBody>
                  <a:tcPr marT="64000" marB="64000" marR="64000" marL="64000" anchor="ctr">
                    <a:lnL cap="flat" cmpd="sng" w="9525">
                      <a:solidFill>
                        <a:srgbClr val="D9E2EA"/>
                      </a:solidFill>
                      <a:prstDash val="solid"/>
                      <a:round/>
                      <a:headEnd len="sm" w="sm" type="none"/>
                      <a:tailEnd len="sm" w="sm" type="none"/>
                    </a:lnL>
                    <a:lnR cap="flat" cmpd="sng" w="9525">
                      <a:solidFill>
                        <a:srgbClr val="D9E2EA"/>
                      </a:solidFill>
                      <a:prstDash val="solid"/>
                      <a:round/>
                      <a:headEnd len="sm" w="sm" type="none"/>
                      <a:tailEnd len="sm" w="sm" type="none"/>
                    </a:lnR>
                    <a:lnT cap="flat" cmpd="sng" w="9525">
                      <a:solidFill>
                        <a:srgbClr val="D9E2EA"/>
                      </a:solidFill>
                      <a:prstDash val="solid"/>
                      <a:round/>
                      <a:headEnd len="sm" w="sm" type="none"/>
                      <a:tailEnd len="sm" w="sm" type="none"/>
                    </a:lnT>
                    <a:lnB cap="flat" cmpd="sng" w="9525">
                      <a:solidFill>
                        <a:srgbClr val="D9E2EA"/>
                      </a:solidFill>
                      <a:prstDash val="solid"/>
                      <a:round/>
                      <a:headEnd len="sm" w="sm" type="none"/>
                      <a:tailEnd len="sm" w="sm" type="none"/>
                    </a:lnB>
                    <a:solidFill>
                      <a:srgbClr val="FFFFFF"/>
                    </a:solidFill>
                  </a:tcPr>
                </a:tc>
              </a:tr>
              <a:tr h="696250">
                <a:tc>
                  <a:txBody>
                    <a:bodyPr/>
                    <a:lstStyle/>
                    <a:p>
                      <a:pPr indent="0" lvl="0" marL="0" marR="0" rtl="0" algn="l">
                        <a:spcBef>
                          <a:spcPts val="0"/>
                        </a:spcBef>
                        <a:spcAft>
                          <a:spcPts val="0"/>
                        </a:spcAft>
                        <a:buClr>
                          <a:srgbClr val="1D2A5C"/>
                        </a:buClr>
                        <a:buSzPts val="1050"/>
                        <a:buFont typeface="Calibri"/>
                        <a:buNone/>
                      </a:pPr>
                      <a:r>
                        <a:rPr b="1" lang="en-US" sz="1050" u="none" cap="none" strike="noStrike">
                          <a:solidFill>
                            <a:srgbClr val="1D2A5C"/>
                          </a:solidFill>
                          <a:latin typeface="Calibri"/>
                          <a:ea typeface="Calibri"/>
                          <a:cs typeface="Calibri"/>
                          <a:sym typeface="Calibri"/>
                        </a:rPr>
                        <a:t>Training wall-clock</a:t>
                      </a:r>
                      <a:endParaRPr sz="1050" u="none" cap="none" strike="noStrike">
                        <a:latin typeface="Calibri"/>
                        <a:ea typeface="Calibri"/>
                        <a:cs typeface="Calibri"/>
                        <a:sym typeface="Calibri"/>
                      </a:endParaRPr>
                    </a:p>
                  </a:txBody>
                  <a:tcPr marT="64000" marB="64000" marR="64000" marL="64000" anchor="ctr">
                    <a:lnL cap="flat" cmpd="sng" w="9525">
                      <a:solidFill>
                        <a:srgbClr val="D9E2EA"/>
                      </a:solidFill>
                      <a:prstDash val="solid"/>
                      <a:round/>
                      <a:headEnd len="sm" w="sm" type="none"/>
                      <a:tailEnd len="sm" w="sm" type="none"/>
                    </a:lnL>
                    <a:lnR cap="flat" cmpd="sng" w="9525">
                      <a:solidFill>
                        <a:srgbClr val="D9E2EA"/>
                      </a:solidFill>
                      <a:prstDash val="solid"/>
                      <a:round/>
                      <a:headEnd len="sm" w="sm" type="none"/>
                      <a:tailEnd len="sm" w="sm" type="none"/>
                    </a:lnR>
                    <a:lnT cap="flat" cmpd="sng" w="9525">
                      <a:solidFill>
                        <a:srgbClr val="D9E2EA"/>
                      </a:solidFill>
                      <a:prstDash val="solid"/>
                      <a:round/>
                      <a:headEnd len="sm" w="sm" type="none"/>
                      <a:tailEnd len="sm" w="sm" type="none"/>
                    </a:lnT>
                    <a:lnB cap="flat" cmpd="sng" w="9525">
                      <a:solidFill>
                        <a:srgbClr val="D9E2EA"/>
                      </a:solidFill>
                      <a:prstDash val="solid"/>
                      <a:round/>
                      <a:headEnd len="sm" w="sm" type="none"/>
                      <a:tailEnd len="sm" w="sm" type="none"/>
                    </a:lnB>
                    <a:solidFill>
                      <a:srgbClr val="F2F6F9"/>
                    </a:solidFill>
                  </a:tcPr>
                </a:tc>
                <a:tc>
                  <a:txBody>
                    <a:bodyPr/>
                    <a:lstStyle/>
                    <a:p>
                      <a:pPr indent="0" lvl="0" marL="0" marR="0" rtl="0" algn="l">
                        <a:spcBef>
                          <a:spcPts val="0"/>
                        </a:spcBef>
                        <a:spcAft>
                          <a:spcPts val="0"/>
                        </a:spcAft>
                        <a:buClr>
                          <a:srgbClr val="23293B"/>
                        </a:buClr>
                        <a:buSzPts val="1050"/>
                        <a:buFont typeface="Calibri"/>
                        <a:buNone/>
                      </a:pPr>
                      <a:r>
                        <a:rPr lang="en-US" sz="1050" u="none" cap="none" strike="noStrike">
                          <a:solidFill>
                            <a:srgbClr val="23293B"/>
                          </a:solidFill>
                          <a:latin typeface="Calibri"/>
                          <a:ea typeface="Calibri"/>
                          <a:cs typeface="Calibri"/>
                          <a:sym typeface="Calibri"/>
                        </a:rPr>
                        <a:t>≤ 15 min classroom GPU</a:t>
                      </a:r>
                      <a:endParaRPr sz="1050" u="none" cap="none" strike="noStrike">
                        <a:latin typeface="Calibri"/>
                        <a:ea typeface="Calibri"/>
                        <a:cs typeface="Calibri"/>
                        <a:sym typeface="Calibri"/>
                      </a:endParaRPr>
                    </a:p>
                  </a:txBody>
                  <a:tcPr marT="64000" marB="64000" marR="64000" marL="64000" anchor="ctr">
                    <a:lnL cap="flat" cmpd="sng" w="9525">
                      <a:solidFill>
                        <a:srgbClr val="D9E2EA"/>
                      </a:solidFill>
                      <a:prstDash val="solid"/>
                      <a:round/>
                      <a:headEnd len="sm" w="sm" type="none"/>
                      <a:tailEnd len="sm" w="sm" type="none"/>
                    </a:lnL>
                    <a:lnR cap="flat" cmpd="sng" w="9525">
                      <a:solidFill>
                        <a:srgbClr val="D9E2EA"/>
                      </a:solidFill>
                      <a:prstDash val="solid"/>
                      <a:round/>
                      <a:headEnd len="sm" w="sm" type="none"/>
                      <a:tailEnd len="sm" w="sm" type="none"/>
                    </a:lnR>
                    <a:lnT cap="flat" cmpd="sng" w="9525">
                      <a:solidFill>
                        <a:srgbClr val="D9E2EA"/>
                      </a:solidFill>
                      <a:prstDash val="solid"/>
                      <a:round/>
                      <a:headEnd len="sm" w="sm" type="none"/>
                      <a:tailEnd len="sm" w="sm" type="none"/>
                    </a:lnT>
                    <a:lnB cap="flat" cmpd="sng" w="9525">
                      <a:solidFill>
                        <a:srgbClr val="D9E2EA"/>
                      </a:solidFill>
                      <a:prstDash val="solid"/>
                      <a:round/>
                      <a:headEnd len="sm" w="sm" type="none"/>
                      <a:tailEnd len="sm" w="sm" type="none"/>
                    </a:lnB>
                    <a:solidFill>
                      <a:srgbClr val="F2F6F9"/>
                    </a:solidFill>
                  </a:tcPr>
                </a:tc>
                <a:tc>
                  <a:txBody>
                    <a:bodyPr/>
                    <a:lstStyle/>
                    <a:p>
                      <a:pPr indent="0" lvl="0" marL="0" marR="0" rtl="0" algn="l">
                        <a:spcBef>
                          <a:spcPts val="0"/>
                        </a:spcBef>
                        <a:spcAft>
                          <a:spcPts val="0"/>
                        </a:spcAft>
                        <a:buClr>
                          <a:srgbClr val="23293B"/>
                        </a:buClr>
                        <a:buSzPts val="1050"/>
                        <a:buFont typeface="Calibri"/>
                        <a:buNone/>
                      </a:pPr>
                      <a:r>
                        <a:rPr lang="en-US" sz="1050" u="none" cap="none" strike="noStrike">
                          <a:solidFill>
                            <a:srgbClr val="23293B"/>
                          </a:solidFill>
                          <a:latin typeface="Calibri"/>
                          <a:ea typeface="Calibri"/>
                          <a:cs typeface="Calibri"/>
                          <a:sym typeface="Calibri"/>
                        </a:rPr>
                        <a:t>run logs</a:t>
                      </a:r>
                      <a:endParaRPr sz="1050" u="none" cap="none" strike="noStrike">
                        <a:latin typeface="Calibri"/>
                        <a:ea typeface="Calibri"/>
                        <a:cs typeface="Calibri"/>
                        <a:sym typeface="Calibri"/>
                      </a:endParaRPr>
                    </a:p>
                  </a:txBody>
                  <a:tcPr marT="64000" marB="64000" marR="64000" marL="64000" anchor="ctr">
                    <a:lnL cap="flat" cmpd="sng" w="9525">
                      <a:solidFill>
                        <a:srgbClr val="D9E2EA"/>
                      </a:solidFill>
                      <a:prstDash val="solid"/>
                      <a:round/>
                      <a:headEnd len="sm" w="sm" type="none"/>
                      <a:tailEnd len="sm" w="sm" type="none"/>
                    </a:lnL>
                    <a:lnR cap="flat" cmpd="sng" w="9525">
                      <a:solidFill>
                        <a:srgbClr val="D9E2EA"/>
                      </a:solidFill>
                      <a:prstDash val="solid"/>
                      <a:round/>
                      <a:headEnd len="sm" w="sm" type="none"/>
                      <a:tailEnd len="sm" w="sm" type="none"/>
                    </a:lnR>
                    <a:lnT cap="flat" cmpd="sng" w="9525">
                      <a:solidFill>
                        <a:srgbClr val="D9E2EA"/>
                      </a:solidFill>
                      <a:prstDash val="solid"/>
                      <a:round/>
                      <a:headEnd len="sm" w="sm" type="none"/>
                      <a:tailEnd len="sm" w="sm" type="none"/>
                    </a:lnT>
                    <a:lnB cap="flat" cmpd="sng" w="9525">
                      <a:solidFill>
                        <a:srgbClr val="D9E2EA"/>
                      </a:solidFill>
                      <a:prstDash val="solid"/>
                      <a:round/>
                      <a:headEnd len="sm" w="sm" type="none"/>
                      <a:tailEnd len="sm" w="sm" type="none"/>
                    </a:lnB>
                    <a:solidFill>
                      <a:srgbClr val="F2F6F9"/>
                    </a:solidFill>
                  </a:tcPr>
                </a:tc>
              </a:tr>
              <a:tr h="696250">
                <a:tc>
                  <a:txBody>
                    <a:bodyPr/>
                    <a:lstStyle/>
                    <a:p>
                      <a:pPr indent="0" lvl="0" marL="0" marR="0" rtl="0" algn="l">
                        <a:spcBef>
                          <a:spcPts val="0"/>
                        </a:spcBef>
                        <a:spcAft>
                          <a:spcPts val="0"/>
                        </a:spcAft>
                        <a:buClr>
                          <a:srgbClr val="1D2A5C"/>
                        </a:buClr>
                        <a:buSzPts val="1050"/>
                        <a:buFont typeface="Calibri"/>
                        <a:buNone/>
                      </a:pPr>
                      <a:r>
                        <a:rPr b="1" lang="en-US" sz="1050" u="none" cap="none" strike="noStrike">
                          <a:solidFill>
                            <a:srgbClr val="1D2A5C"/>
                          </a:solidFill>
                          <a:latin typeface="Calibri"/>
                          <a:ea typeface="Calibri"/>
                          <a:cs typeface="Calibri"/>
                          <a:sym typeface="Calibri"/>
                        </a:rPr>
                        <a:t>Degenerate polygons after conversion</a:t>
                      </a:r>
                      <a:endParaRPr sz="1050" u="none" cap="none" strike="noStrike">
                        <a:latin typeface="Calibri"/>
                        <a:ea typeface="Calibri"/>
                        <a:cs typeface="Calibri"/>
                        <a:sym typeface="Calibri"/>
                      </a:endParaRPr>
                    </a:p>
                  </a:txBody>
                  <a:tcPr marT="64000" marB="64000" marR="64000" marL="64000" anchor="ctr">
                    <a:lnL cap="flat" cmpd="sng" w="9525">
                      <a:solidFill>
                        <a:srgbClr val="D9E2EA"/>
                      </a:solidFill>
                      <a:prstDash val="solid"/>
                      <a:round/>
                      <a:headEnd len="sm" w="sm" type="none"/>
                      <a:tailEnd len="sm" w="sm" type="none"/>
                    </a:lnL>
                    <a:lnR cap="flat" cmpd="sng" w="9525">
                      <a:solidFill>
                        <a:srgbClr val="D9E2EA"/>
                      </a:solidFill>
                      <a:prstDash val="solid"/>
                      <a:round/>
                      <a:headEnd len="sm" w="sm" type="none"/>
                      <a:tailEnd len="sm" w="sm" type="none"/>
                    </a:lnR>
                    <a:lnT cap="flat" cmpd="sng" w="9525">
                      <a:solidFill>
                        <a:srgbClr val="D9E2EA"/>
                      </a:solidFill>
                      <a:prstDash val="solid"/>
                      <a:round/>
                      <a:headEnd len="sm" w="sm" type="none"/>
                      <a:tailEnd len="sm" w="sm" type="none"/>
                    </a:lnT>
                    <a:lnB cap="flat" cmpd="sng" w="9525">
                      <a:solidFill>
                        <a:srgbClr val="D9E2EA"/>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23293B"/>
                        </a:buClr>
                        <a:buSzPts val="1050"/>
                        <a:buFont typeface="Calibri"/>
                        <a:buNone/>
                      </a:pPr>
                      <a:r>
                        <a:rPr lang="en-US" sz="1050" u="none" cap="none" strike="noStrike">
                          <a:solidFill>
                            <a:srgbClr val="23293B"/>
                          </a:solidFill>
                          <a:latin typeface="Calibri"/>
                          <a:ea typeface="Calibri"/>
                          <a:cs typeface="Calibri"/>
                          <a:sym typeface="Calibri"/>
                        </a:rPr>
                        <a:t>0</a:t>
                      </a:r>
                      <a:endParaRPr sz="1050" u="none" cap="none" strike="noStrike">
                        <a:latin typeface="Calibri"/>
                        <a:ea typeface="Calibri"/>
                        <a:cs typeface="Calibri"/>
                        <a:sym typeface="Calibri"/>
                      </a:endParaRPr>
                    </a:p>
                  </a:txBody>
                  <a:tcPr marT="64000" marB="64000" marR="64000" marL="64000" anchor="ctr">
                    <a:lnL cap="flat" cmpd="sng" w="9525">
                      <a:solidFill>
                        <a:srgbClr val="D9E2EA"/>
                      </a:solidFill>
                      <a:prstDash val="solid"/>
                      <a:round/>
                      <a:headEnd len="sm" w="sm" type="none"/>
                      <a:tailEnd len="sm" w="sm" type="none"/>
                    </a:lnL>
                    <a:lnR cap="flat" cmpd="sng" w="9525">
                      <a:solidFill>
                        <a:srgbClr val="D9E2EA"/>
                      </a:solidFill>
                      <a:prstDash val="solid"/>
                      <a:round/>
                      <a:headEnd len="sm" w="sm" type="none"/>
                      <a:tailEnd len="sm" w="sm" type="none"/>
                    </a:lnR>
                    <a:lnT cap="flat" cmpd="sng" w="9525">
                      <a:solidFill>
                        <a:srgbClr val="D9E2EA"/>
                      </a:solidFill>
                      <a:prstDash val="solid"/>
                      <a:round/>
                      <a:headEnd len="sm" w="sm" type="none"/>
                      <a:tailEnd len="sm" w="sm" type="none"/>
                    </a:lnT>
                    <a:lnB cap="flat" cmpd="sng" w="9525">
                      <a:solidFill>
                        <a:srgbClr val="D9E2EA"/>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23293B"/>
                        </a:buClr>
                        <a:buSzPts val="1050"/>
                        <a:buFont typeface="Calibri"/>
                        <a:buNone/>
                      </a:pPr>
                      <a:r>
                        <a:rPr lang="en-US" sz="1050" u="none" cap="none" strike="noStrike">
                          <a:solidFill>
                            <a:srgbClr val="23293B"/>
                          </a:solidFill>
                          <a:latin typeface="Calibri"/>
                          <a:ea typeface="Calibri"/>
                          <a:cs typeface="Calibri"/>
                          <a:sym typeface="Calibri"/>
                        </a:rPr>
                        <a:t>converter validation pass</a:t>
                      </a:r>
                      <a:endParaRPr sz="1050" u="none" cap="none" strike="noStrike">
                        <a:latin typeface="Calibri"/>
                        <a:ea typeface="Calibri"/>
                        <a:cs typeface="Calibri"/>
                        <a:sym typeface="Calibri"/>
                      </a:endParaRPr>
                    </a:p>
                  </a:txBody>
                  <a:tcPr marT="64000" marB="64000" marR="64000" marL="64000" anchor="ctr">
                    <a:lnL cap="flat" cmpd="sng" w="9525">
                      <a:solidFill>
                        <a:srgbClr val="D9E2EA"/>
                      </a:solidFill>
                      <a:prstDash val="solid"/>
                      <a:round/>
                      <a:headEnd len="sm" w="sm" type="none"/>
                      <a:tailEnd len="sm" w="sm" type="none"/>
                    </a:lnL>
                    <a:lnR cap="flat" cmpd="sng" w="9525">
                      <a:solidFill>
                        <a:srgbClr val="D9E2EA"/>
                      </a:solidFill>
                      <a:prstDash val="solid"/>
                      <a:round/>
                      <a:headEnd len="sm" w="sm" type="none"/>
                      <a:tailEnd len="sm" w="sm" type="none"/>
                    </a:lnR>
                    <a:lnT cap="flat" cmpd="sng" w="9525">
                      <a:solidFill>
                        <a:srgbClr val="D9E2EA"/>
                      </a:solidFill>
                      <a:prstDash val="solid"/>
                      <a:round/>
                      <a:headEnd len="sm" w="sm" type="none"/>
                      <a:tailEnd len="sm" w="sm" type="none"/>
                    </a:lnT>
                    <a:lnB cap="flat" cmpd="sng" w="9525">
                      <a:solidFill>
                        <a:srgbClr val="D9E2EA"/>
                      </a:solidFill>
                      <a:prstDash val="solid"/>
                      <a:round/>
                      <a:headEnd len="sm" w="sm" type="none"/>
                      <a:tailEnd len="sm" w="sm" type="none"/>
                    </a:lnB>
                    <a:solidFill>
                      <a:srgbClr val="FFFFFF"/>
                    </a:solidFill>
                  </a:tcPr>
                </a:tc>
              </a:tr>
              <a:tr h="696250">
                <a:tc>
                  <a:txBody>
                    <a:bodyPr/>
                    <a:lstStyle/>
                    <a:p>
                      <a:pPr indent="0" lvl="0" marL="0" marR="0" rtl="0" algn="l">
                        <a:spcBef>
                          <a:spcPts val="0"/>
                        </a:spcBef>
                        <a:spcAft>
                          <a:spcPts val="0"/>
                        </a:spcAft>
                        <a:buClr>
                          <a:srgbClr val="1D2A5C"/>
                        </a:buClr>
                        <a:buSzPts val="1050"/>
                        <a:buFont typeface="Calibri"/>
                        <a:buNone/>
                      </a:pPr>
                      <a:r>
                        <a:rPr b="1" lang="en-US" sz="1050" u="none" cap="none" strike="noStrike">
                          <a:solidFill>
                            <a:srgbClr val="1D2A5C"/>
                          </a:solidFill>
                          <a:latin typeface="Calibri"/>
                          <a:ea typeface="Calibri"/>
                          <a:cs typeface="Calibri"/>
                          <a:sym typeface="Calibri"/>
                        </a:rPr>
                        <a:t>Attribution rule documented + tested</a:t>
                      </a:r>
                      <a:endParaRPr sz="1050" u="none" cap="none" strike="noStrike">
                        <a:latin typeface="Calibri"/>
                        <a:ea typeface="Calibri"/>
                        <a:cs typeface="Calibri"/>
                        <a:sym typeface="Calibri"/>
                      </a:endParaRPr>
                    </a:p>
                  </a:txBody>
                  <a:tcPr marT="64000" marB="64000" marR="64000" marL="64000" anchor="ctr">
                    <a:lnL cap="flat" cmpd="sng" w="9525">
                      <a:solidFill>
                        <a:srgbClr val="D9E2EA"/>
                      </a:solidFill>
                      <a:prstDash val="solid"/>
                      <a:round/>
                      <a:headEnd len="sm" w="sm" type="none"/>
                      <a:tailEnd len="sm" w="sm" type="none"/>
                    </a:lnL>
                    <a:lnR cap="flat" cmpd="sng" w="9525">
                      <a:solidFill>
                        <a:srgbClr val="D9E2EA"/>
                      </a:solidFill>
                      <a:prstDash val="solid"/>
                      <a:round/>
                      <a:headEnd len="sm" w="sm" type="none"/>
                      <a:tailEnd len="sm" w="sm" type="none"/>
                    </a:lnR>
                    <a:lnT cap="flat" cmpd="sng" w="9525">
                      <a:solidFill>
                        <a:srgbClr val="D9E2EA"/>
                      </a:solidFill>
                      <a:prstDash val="solid"/>
                      <a:round/>
                      <a:headEnd len="sm" w="sm" type="none"/>
                      <a:tailEnd len="sm" w="sm" type="none"/>
                    </a:lnT>
                    <a:lnB cap="flat" cmpd="sng" w="9525">
                      <a:solidFill>
                        <a:srgbClr val="D9E2EA"/>
                      </a:solidFill>
                      <a:prstDash val="solid"/>
                      <a:round/>
                      <a:headEnd len="sm" w="sm" type="none"/>
                      <a:tailEnd len="sm" w="sm" type="none"/>
                    </a:lnB>
                    <a:solidFill>
                      <a:srgbClr val="F2F6F9"/>
                    </a:solidFill>
                  </a:tcPr>
                </a:tc>
                <a:tc>
                  <a:txBody>
                    <a:bodyPr/>
                    <a:lstStyle/>
                    <a:p>
                      <a:pPr indent="0" lvl="0" marL="0" marR="0" rtl="0" algn="l">
                        <a:spcBef>
                          <a:spcPts val="0"/>
                        </a:spcBef>
                        <a:spcAft>
                          <a:spcPts val="0"/>
                        </a:spcAft>
                        <a:buClr>
                          <a:srgbClr val="23293B"/>
                        </a:buClr>
                        <a:buSzPts val="1050"/>
                        <a:buFont typeface="Calibri"/>
                        <a:buNone/>
                      </a:pPr>
                      <a:r>
                        <a:rPr lang="en-US" sz="1050" u="none" cap="none" strike="noStrike">
                          <a:solidFill>
                            <a:srgbClr val="23293B"/>
                          </a:solidFill>
                          <a:latin typeface="Calibri"/>
                          <a:ea typeface="Calibri"/>
                          <a:cs typeface="Calibri"/>
                          <a:sym typeface="Calibri"/>
                        </a:rPr>
                        <a:t>majority-overlap + unit test</a:t>
                      </a:r>
                      <a:endParaRPr sz="1050" u="none" cap="none" strike="noStrike">
                        <a:latin typeface="Calibri"/>
                        <a:ea typeface="Calibri"/>
                        <a:cs typeface="Calibri"/>
                        <a:sym typeface="Calibri"/>
                      </a:endParaRPr>
                    </a:p>
                  </a:txBody>
                  <a:tcPr marT="64000" marB="64000" marR="64000" marL="64000" anchor="ctr">
                    <a:lnL cap="flat" cmpd="sng" w="9525">
                      <a:solidFill>
                        <a:srgbClr val="D9E2EA"/>
                      </a:solidFill>
                      <a:prstDash val="solid"/>
                      <a:round/>
                      <a:headEnd len="sm" w="sm" type="none"/>
                      <a:tailEnd len="sm" w="sm" type="none"/>
                    </a:lnL>
                    <a:lnR cap="flat" cmpd="sng" w="9525">
                      <a:solidFill>
                        <a:srgbClr val="D9E2EA"/>
                      </a:solidFill>
                      <a:prstDash val="solid"/>
                      <a:round/>
                      <a:headEnd len="sm" w="sm" type="none"/>
                      <a:tailEnd len="sm" w="sm" type="none"/>
                    </a:lnR>
                    <a:lnT cap="flat" cmpd="sng" w="9525">
                      <a:solidFill>
                        <a:srgbClr val="D9E2EA"/>
                      </a:solidFill>
                      <a:prstDash val="solid"/>
                      <a:round/>
                      <a:headEnd len="sm" w="sm" type="none"/>
                      <a:tailEnd len="sm" w="sm" type="none"/>
                    </a:lnT>
                    <a:lnB cap="flat" cmpd="sng" w="9525">
                      <a:solidFill>
                        <a:srgbClr val="D9E2EA"/>
                      </a:solidFill>
                      <a:prstDash val="solid"/>
                      <a:round/>
                      <a:headEnd len="sm" w="sm" type="none"/>
                      <a:tailEnd len="sm" w="sm" type="none"/>
                    </a:lnB>
                    <a:solidFill>
                      <a:srgbClr val="F2F6F9"/>
                    </a:solidFill>
                  </a:tcPr>
                </a:tc>
                <a:tc>
                  <a:txBody>
                    <a:bodyPr/>
                    <a:lstStyle/>
                    <a:p>
                      <a:pPr indent="0" lvl="0" marL="0" marR="0" rtl="0" algn="l">
                        <a:spcBef>
                          <a:spcPts val="0"/>
                        </a:spcBef>
                        <a:spcAft>
                          <a:spcPts val="0"/>
                        </a:spcAft>
                        <a:buClr>
                          <a:srgbClr val="23293B"/>
                        </a:buClr>
                        <a:buSzPts val="1050"/>
                        <a:buFont typeface="Calibri"/>
                        <a:buNone/>
                      </a:pPr>
                      <a:r>
                        <a:rPr lang="en-US" sz="1050" u="none" cap="none" strike="noStrike">
                          <a:solidFill>
                            <a:srgbClr val="23293B"/>
                          </a:solidFill>
                          <a:latin typeface="Calibri"/>
                          <a:ea typeface="Calibri"/>
                          <a:cs typeface="Calibri"/>
                          <a:sym typeface="Calibri"/>
                        </a:rPr>
                        <a:t>review</a:t>
                      </a:r>
                      <a:endParaRPr sz="1050" u="none" cap="none" strike="noStrike">
                        <a:latin typeface="Calibri"/>
                        <a:ea typeface="Calibri"/>
                        <a:cs typeface="Calibri"/>
                        <a:sym typeface="Calibri"/>
                      </a:endParaRPr>
                    </a:p>
                  </a:txBody>
                  <a:tcPr marT="64000" marB="64000" marR="64000" marL="64000" anchor="ctr">
                    <a:lnL cap="flat" cmpd="sng" w="9525">
                      <a:solidFill>
                        <a:srgbClr val="D9E2EA"/>
                      </a:solidFill>
                      <a:prstDash val="solid"/>
                      <a:round/>
                      <a:headEnd len="sm" w="sm" type="none"/>
                      <a:tailEnd len="sm" w="sm" type="none"/>
                    </a:lnL>
                    <a:lnR cap="flat" cmpd="sng" w="9525">
                      <a:solidFill>
                        <a:srgbClr val="D9E2EA"/>
                      </a:solidFill>
                      <a:prstDash val="solid"/>
                      <a:round/>
                      <a:headEnd len="sm" w="sm" type="none"/>
                      <a:tailEnd len="sm" w="sm" type="none"/>
                    </a:lnR>
                    <a:lnT cap="flat" cmpd="sng" w="9525">
                      <a:solidFill>
                        <a:srgbClr val="D9E2EA"/>
                      </a:solidFill>
                      <a:prstDash val="solid"/>
                      <a:round/>
                      <a:headEnd len="sm" w="sm" type="none"/>
                      <a:tailEnd len="sm" w="sm" type="none"/>
                    </a:lnT>
                    <a:lnB cap="flat" cmpd="sng" w="9525">
                      <a:solidFill>
                        <a:srgbClr val="D9E2EA"/>
                      </a:solidFill>
                      <a:prstDash val="solid"/>
                      <a:round/>
                      <a:headEnd len="sm" w="sm" type="none"/>
                      <a:tailEnd len="sm" w="sm" type="none"/>
                    </a:lnB>
                    <a:solidFill>
                      <a:srgbClr val="F2F6F9"/>
                    </a:solidFill>
                  </a:tcPr>
                </a:tc>
              </a:tr>
            </a:tbl>
          </a:graphicData>
        </a:graphic>
      </p:graphicFrame>
    </p:spTree>
  </p:cSld>
  <p:clrMapOvr>
    <a:masterClrMapping/>
  </p:clrMapOvr>
</p:sld>
</file>

<file path=ppt/slides/slide8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41F49"/>
        </a:solidFill>
      </p:bgPr>
    </p:bg>
    <p:spTree>
      <p:nvGrpSpPr>
        <p:cNvPr id="2396" name="Shape 2396"/>
        <p:cNvGrpSpPr/>
        <p:nvPr/>
      </p:nvGrpSpPr>
      <p:grpSpPr>
        <a:xfrm>
          <a:off x="0" y="0"/>
          <a:ext cx="0" cy="0"/>
          <a:chOff x="0" y="0"/>
          <a:chExt cx="0" cy="0"/>
        </a:xfrm>
      </p:grpSpPr>
      <p:sp>
        <p:nvSpPr>
          <p:cNvPr id="2397" name="Google Shape;2397;p86"/>
          <p:cNvSpPr/>
          <p:nvPr/>
        </p:nvSpPr>
        <p:spPr>
          <a:xfrm>
            <a:off x="9418320" y="6149340"/>
            <a:ext cx="411480" cy="356616"/>
          </a:xfrm>
          <a:prstGeom prst="triangle">
            <a:avLst>
              <a:gd fmla="val 50000" name="adj"/>
            </a:avLst>
          </a:prstGeom>
          <a:solidFill>
            <a:srgbClr val="00A79D">
              <a:alpha val="18039"/>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98" name="Google Shape;2398;p86"/>
          <p:cNvSpPr/>
          <p:nvPr/>
        </p:nvSpPr>
        <p:spPr>
          <a:xfrm rot="10800000">
            <a:off x="9857232" y="5806440"/>
            <a:ext cx="411480" cy="356616"/>
          </a:xfrm>
          <a:prstGeom prst="triangle">
            <a:avLst>
              <a:gd fmla="val 50000" name="adj"/>
            </a:avLst>
          </a:prstGeom>
          <a:solidFill>
            <a:srgbClr val="29ABE2">
              <a:alpha val="18039"/>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99" name="Google Shape;2399;p86"/>
          <p:cNvSpPr/>
          <p:nvPr/>
        </p:nvSpPr>
        <p:spPr>
          <a:xfrm rot="10800000">
            <a:off x="9857232" y="6492240"/>
            <a:ext cx="411480" cy="356616"/>
          </a:xfrm>
          <a:prstGeom prst="triangle">
            <a:avLst>
              <a:gd fmla="val 50000" name="adj"/>
            </a:avLst>
          </a:prstGeom>
          <a:solidFill>
            <a:srgbClr val="F58220">
              <a:alpha val="18039"/>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00" name="Google Shape;2400;p86"/>
          <p:cNvSpPr/>
          <p:nvPr/>
        </p:nvSpPr>
        <p:spPr>
          <a:xfrm>
            <a:off x="10296144" y="6149340"/>
            <a:ext cx="411480" cy="356616"/>
          </a:xfrm>
          <a:prstGeom prst="triangle">
            <a:avLst>
              <a:gd fmla="val 50000" name="adj"/>
            </a:avLst>
          </a:prstGeom>
          <a:solidFill>
            <a:srgbClr val="8DC63F">
              <a:alpha val="18039"/>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01" name="Google Shape;2401;p86"/>
          <p:cNvSpPr/>
          <p:nvPr/>
        </p:nvSpPr>
        <p:spPr>
          <a:xfrm>
            <a:off x="10296144" y="5463540"/>
            <a:ext cx="411480" cy="356616"/>
          </a:xfrm>
          <a:prstGeom prst="triangle">
            <a:avLst>
              <a:gd fmla="val 50000" name="adj"/>
            </a:avLst>
          </a:prstGeom>
          <a:solidFill>
            <a:srgbClr val="1D2A5C">
              <a:alpha val="18039"/>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02" name="Google Shape;2402;p86"/>
          <p:cNvSpPr/>
          <p:nvPr/>
        </p:nvSpPr>
        <p:spPr>
          <a:xfrm rot="10800000">
            <a:off x="10735056" y="5806440"/>
            <a:ext cx="411480" cy="356616"/>
          </a:xfrm>
          <a:prstGeom prst="triangle">
            <a:avLst>
              <a:gd fmla="val 50000" name="adj"/>
            </a:avLst>
          </a:prstGeom>
          <a:solidFill>
            <a:srgbClr val="29ABE2">
              <a:alpha val="18039"/>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03" name="Google Shape;2403;p86"/>
          <p:cNvSpPr/>
          <p:nvPr/>
        </p:nvSpPr>
        <p:spPr>
          <a:xfrm>
            <a:off x="10735056" y="6492240"/>
            <a:ext cx="411480" cy="356616"/>
          </a:xfrm>
          <a:prstGeom prst="triangle">
            <a:avLst>
              <a:gd fmla="val 50000" name="adj"/>
            </a:avLst>
          </a:prstGeom>
          <a:solidFill>
            <a:srgbClr val="00A79D">
              <a:alpha val="18039"/>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04" name="Google Shape;2404;p86"/>
          <p:cNvSpPr/>
          <p:nvPr/>
        </p:nvSpPr>
        <p:spPr>
          <a:xfrm rot="10800000">
            <a:off x="11173968" y="6149340"/>
            <a:ext cx="411480" cy="356616"/>
          </a:xfrm>
          <a:prstGeom prst="triangle">
            <a:avLst>
              <a:gd fmla="val 50000" name="adj"/>
            </a:avLst>
          </a:prstGeom>
          <a:solidFill>
            <a:srgbClr val="F58220">
              <a:alpha val="18039"/>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05" name="Google Shape;2405;p86"/>
          <p:cNvSpPr/>
          <p:nvPr/>
        </p:nvSpPr>
        <p:spPr>
          <a:xfrm>
            <a:off x="365760" y="747522"/>
            <a:ext cx="233172" cy="202082"/>
          </a:xfrm>
          <a:prstGeom prst="triangle">
            <a:avLst>
              <a:gd fmla="val 50000" name="adj"/>
            </a:avLst>
          </a:prstGeom>
          <a:solidFill>
            <a:srgbClr val="00A79D">
              <a:alpha val="18039"/>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06" name="Google Shape;2406;p86"/>
          <p:cNvSpPr/>
          <p:nvPr/>
        </p:nvSpPr>
        <p:spPr>
          <a:xfrm rot="10800000">
            <a:off x="614477" y="553212"/>
            <a:ext cx="233172" cy="202082"/>
          </a:xfrm>
          <a:prstGeom prst="triangle">
            <a:avLst>
              <a:gd fmla="val 50000" name="adj"/>
            </a:avLst>
          </a:prstGeom>
          <a:solidFill>
            <a:srgbClr val="29ABE2">
              <a:alpha val="18039"/>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07" name="Google Shape;2407;p86"/>
          <p:cNvSpPr/>
          <p:nvPr/>
        </p:nvSpPr>
        <p:spPr>
          <a:xfrm rot="10800000">
            <a:off x="614477" y="941832"/>
            <a:ext cx="233172" cy="202082"/>
          </a:xfrm>
          <a:prstGeom prst="triangle">
            <a:avLst>
              <a:gd fmla="val 50000" name="adj"/>
            </a:avLst>
          </a:prstGeom>
          <a:solidFill>
            <a:srgbClr val="F58220">
              <a:alpha val="18039"/>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08" name="Google Shape;2408;p86"/>
          <p:cNvSpPr/>
          <p:nvPr/>
        </p:nvSpPr>
        <p:spPr>
          <a:xfrm>
            <a:off x="863194" y="747522"/>
            <a:ext cx="233172" cy="202082"/>
          </a:xfrm>
          <a:prstGeom prst="triangle">
            <a:avLst>
              <a:gd fmla="val 50000" name="adj"/>
            </a:avLst>
          </a:prstGeom>
          <a:solidFill>
            <a:srgbClr val="8DC63F">
              <a:alpha val="18039"/>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09" name="Google Shape;2409;p86"/>
          <p:cNvSpPr/>
          <p:nvPr/>
        </p:nvSpPr>
        <p:spPr>
          <a:xfrm>
            <a:off x="863194" y="358902"/>
            <a:ext cx="233172" cy="202082"/>
          </a:xfrm>
          <a:prstGeom prst="triangle">
            <a:avLst>
              <a:gd fmla="val 50000" name="adj"/>
            </a:avLst>
          </a:prstGeom>
          <a:solidFill>
            <a:srgbClr val="1D2A5C">
              <a:alpha val="18039"/>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10" name="Google Shape;2410;p86"/>
          <p:cNvSpPr/>
          <p:nvPr/>
        </p:nvSpPr>
        <p:spPr>
          <a:xfrm rot="10800000">
            <a:off x="1111910" y="553212"/>
            <a:ext cx="233172" cy="202082"/>
          </a:xfrm>
          <a:prstGeom prst="triangle">
            <a:avLst>
              <a:gd fmla="val 50000" name="adj"/>
            </a:avLst>
          </a:prstGeom>
          <a:solidFill>
            <a:srgbClr val="29ABE2">
              <a:alpha val="18039"/>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11" name="Google Shape;2411;p86"/>
          <p:cNvSpPr/>
          <p:nvPr/>
        </p:nvSpPr>
        <p:spPr>
          <a:xfrm>
            <a:off x="1111910" y="941832"/>
            <a:ext cx="233172" cy="202082"/>
          </a:xfrm>
          <a:prstGeom prst="triangle">
            <a:avLst>
              <a:gd fmla="val 50000" name="adj"/>
            </a:avLst>
          </a:prstGeom>
          <a:solidFill>
            <a:srgbClr val="00A79D">
              <a:alpha val="18039"/>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12" name="Google Shape;2412;p86"/>
          <p:cNvSpPr/>
          <p:nvPr/>
        </p:nvSpPr>
        <p:spPr>
          <a:xfrm rot="10800000">
            <a:off x="1360627" y="747522"/>
            <a:ext cx="233172" cy="202082"/>
          </a:xfrm>
          <a:prstGeom prst="triangle">
            <a:avLst>
              <a:gd fmla="val 50000" name="adj"/>
            </a:avLst>
          </a:prstGeom>
          <a:solidFill>
            <a:srgbClr val="F58220">
              <a:alpha val="18039"/>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13" name="Google Shape;2413;p86"/>
          <p:cNvSpPr/>
          <p:nvPr/>
        </p:nvSpPr>
        <p:spPr>
          <a:xfrm>
            <a:off x="10332720" y="347472"/>
            <a:ext cx="1481328" cy="566928"/>
          </a:xfrm>
          <a:prstGeom prst="roundRect">
            <a:avLst>
              <a:gd fmla="val 14516" name="adj"/>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sessions/blissful-determined-ritchie/build/assets/sdaia_logo.png" id="2414" name="Google Shape;2414;p86"/>
          <p:cNvPicPr preferRelativeResize="0"/>
          <p:nvPr/>
        </p:nvPicPr>
        <p:blipFill rotWithShape="1">
          <a:blip r:embed="rId3">
            <a:alphaModFix/>
          </a:blip>
          <a:srcRect b="0" l="0" r="0" t="0"/>
          <a:stretch/>
        </p:blipFill>
        <p:spPr>
          <a:xfrm>
            <a:off x="10442448" y="438912"/>
            <a:ext cx="1261872" cy="308876"/>
          </a:xfrm>
          <a:prstGeom prst="rect">
            <a:avLst/>
          </a:prstGeom>
          <a:noFill/>
          <a:ln>
            <a:noFill/>
          </a:ln>
        </p:spPr>
      </p:pic>
      <p:sp>
        <p:nvSpPr>
          <p:cNvPr id="2415" name="Google Shape;2415;p86"/>
          <p:cNvSpPr/>
          <p:nvPr/>
        </p:nvSpPr>
        <p:spPr>
          <a:xfrm>
            <a:off x="777240" y="1325880"/>
            <a:ext cx="548640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A79D"/>
              </a:buClr>
              <a:buSzPts val="2000"/>
              <a:buFont typeface="Calibri"/>
              <a:buNone/>
            </a:pPr>
            <a:r>
              <a:rPr b="1" i="0" lang="en-US" sz="2000" u="none" cap="none" strike="noStrike">
                <a:solidFill>
                  <a:srgbClr val="00A79D"/>
                </a:solidFill>
                <a:latin typeface="Calibri"/>
                <a:ea typeface="Calibri"/>
                <a:cs typeface="Calibri"/>
                <a:sym typeface="Calibri"/>
              </a:rPr>
              <a:t>DAY 3</a:t>
            </a:r>
            <a:endParaRPr b="0" i="0" sz="2000" u="none" cap="none" strike="noStrike">
              <a:solidFill>
                <a:schemeClr val="dk1"/>
              </a:solidFill>
              <a:latin typeface="Calibri"/>
              <a:ea typeface="Calibri"/>
              <a:cs typeface="Calibri"/>
              <a:sym typeface="Calibri"/>
            </a:endParaRPr>
          </a:p>
        </p:txBody>
      </p:sp>
      <p:sp>
        <p:nvSpPr>
          <p:cNvPr id="2416" name="Google Shape;2416;p86"/>
          <p:cNvSpPr/>
          <p:nvPr/>
        </p:nvSpPr>
        <p:spPr>
          <a:xfrm>
            <a:off x="749808" y="1828800"/>
            <a:ext cx="7589520" cy="13716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FFFFFF"/>
              </a:buClr>
              <a:buSzPts val="3600"/>
              <a:buFont typeface="Calibri"/>
              <a:buNone/>
            </a:pPr>
            <a:r>
              <a:rPr b="1" i="0" lang="en-US" sz="3600" u="none" cap="none" strike="noStrike">
                <a:solidFill>
                  <a:srgbClr val="FFFFFF"/>
                </a:solidFill>
                <a:latin typeface="Calibri"/>
                <a:ea typeface="Calibri"/>
                <a:cs typeface="Calibri"/>
                <a:sym typeface="Calibri"/>
              </a:rPr>
              <a:t>Data Is the System</a:t>
            </a:r>
            <a:endParaRPr b="0" i="0" sz="3600" u="none" cap="none" strike="noStrike">
              <a:solidFill>
                <a:schemeClr val="dk1"/>
              </a:solidFill>
              <a:latin typeface="Calibri"/>
              <a:ea typeface="Calibri"/>
              <a:cs typeface="Calibri"/>
              <a:sym typeface="Calibri"/>
            </a:endParaRPr>
          </a:p>
        </p:txBody>
      </p:sp>
      <p:sp>
        <p:nvSpPr>
          <p:cNvPr id="2417" name="Google Shape;2417;p86"/>
          <p:cNvSpPr/>
          <p:nvPr/>
        </p:nvSpPr>
        <p:spPr>
          <a:xfrm>
            <a:off x="777240" y="2852928"/>
            <a:ext cx="758952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B9C8E8"/>
              </a:buClr>
              <a:buSzPts val="1700"/>
              <a:buFont typeface="Arial"/>
              <a:buNone/>
            </a:pPr>
            <a:r>
              <a:rPr b="0" i="0" lang="en-US" sz="1700" u="none" cap="none" strike="noStrike">
                <a:solidFill>
                  <a:srgbClr val="B9C8E8"/>
                </a:solidFill>
                <a:latin typeface="Arial"/>
                <a:ea typeface="Arial"/>
                <a:cs typeface="Arial"/>
                <a:sym typeface="Arial"/>
              </a:rPr>
              <a:t>البيانات هي النظام</a:t>
            </a:r>
            <a:endParaRPr b="0" i="0" sz="1700" u="none" cap="none" strike="noStrike">
              <a:solidFill>
                <a:schemeClr val="dk1"/>
              </a:solidFill>
              <a:latin typeface="Calibri"/>
              <a:ea typeface="Calibri"/>
              <a:cs typeface="Calibri"/>
              <a:sym typeface="Calibri"/>
            </a:endParaRPr>
          </a:p>
        </p:txBody>
      </p:sp>
      <p:sp>
        <p:nvSpPr>
          <p:cNvPr id="2418" name="Google Shape;2418;p86"/>
          <p:cNvSpPr/>
          <p:nvPr/>
        </p:nvSpPr>
        <p:spPr>
          <a:xfrm>
            <a:off x="804672" y="3520440"/>
            <a:ext cx="6949440" cy="2560320"/>
          </a:xfrm>
          <a:prstGeom prst="rect">
            <a:avLst/>
          </a:prstGeom>
          <a:noFill/>
          <a:ln>
            <a:noFill/>
          </a:ln>
        </p:spPr>
        <p:txBody>
          <a:bodyPr anchorCtr="0" anchor="t" bIns="0" lIns="0" spcFirstLastPara="1" rIns="0" wrap="square" tIns="0">
            <a:noAutofit/>
          </a:bodyPr>
          <a:lstStyle/>
          <a:p>
            <a:pPr indent="-177800" lvl="0" marL="177800" marR="0" rtl="0" algn="l">
              <a:spcBef>
                <a:spcPts val="0"/>
              </a:spcBef>
              <a:spcAft>
                <a:spcPts val="0"/>
              </a:spcAft>
              <a:buClr>
                <a:srgbClr val="DCE6F8"/>
              </a:buClr>
              <a:buSzPts val="1300"/>
              <a:buFont typeface="Calibri"/>
              <a:buChar char="▪"/>
            </a:pPr>
            <a:r>
              <a:rPr b="0" i="0" lang="en-US" sz="1300" u="none" cap="none" strike="noStrike">
                <a:solidFill>
                  <a:srgbClr val="DCE6F8"/>
                </a:solidFill>
                <a:latin typeface="Calibri"/>
                <a:ea typeface="Calibri"/>
                <a:cs typeface="Calibri"/>
                <a:sym typeface="Calibri"/>
              </a:rPr>
              <a:t>H1 — Dataset curation and annotation workflows (M5)</a:t>
            </a:r>
            <a:endParaRPr b="0" i="0" sz="1300" u="none" cap="none" strike="noStrike">
              <a:solidFill>
                <a:schemeClr val="dk1"/>
              </a:solidFill>
              <a:latin typeface="Calibri"/>
              <a:ea typeface="Calibri"/>
              <a:cs typeface="Calibri"/>
              <a:sym typeface="Calibri"/>
            </a:endParaRPr>
          </a:p>
          <a:p>
            <a:pPr indent="-177800" lvl="0" marL="177800" marR="0" rtl="0" algn="l">
              <a:spcBef>
                <a:spcPts val="800"/>
              </a:spcBef>
              <a:spcAft>
                <a:spcPts val="0"/>
              </a:spcAft>
              <a:buClr>
                <a:srgbClr val="DCE6F8"/>
              </a:buClr>
              <a:buSzPts val="1300"/>
              <a:buFont typeface="Calibri"/>
              <a:buChar char="▪"/>
            </a:pPr>
            <a:r>
              <a:rPr b="0" i="0" lang="en-US" sz="1300" u="none" cap="none" strike="noStrike">
                <a:solidFill>
                  <a:srgbClr val="DCE6F8"/>
                </a:solidFill>
                <a:latin typeface="Calibri"/>
                <a:ea typeface="Calibri"/>
                <a:cs typeface="Calibri"/>
                <a:sym typeface="Calibri"/>
              </a:rPr>
              <a:t>H2 — Lab 5: audit and curate dataset v2</a:t>
            </a:r>
            <a:endParaRPr b="0" i="0" sz="1300" u="none" cap="none" strike="noStrike">
              <a:solidFill>
                <a:schemeClr val="dk1"/>
              </a:solidFill>
              <a:latin typeface="Calibri"/>
              <a:ea typeface="Calibri"/>
              <a:cs typeface="Calibri"/>
              <a:sym typeface="Calibri"/>
            </a:endParaRPr>
          </a:p>
          <a:p>
            <a:pPr indent="-177800" lvl="0" marL="177800" marR="0" rtl="0" algn="l">
              <a:spcBef>
                <a:spcPts val="800"/>
              </a:spcBef>
              <a:spcAft>
                <a:spcPts val="0"/>
              </a:spcAft>
              <a:buClr>
                <a:srgbClr val="DCE6F8"/>
              </a:buClr>
              <a:buSzPts val="1300"/>
              <a:buFont typeface="Calibri"/>
              <a:buChar char="▪"/>
            </a:pPr>
            <a:r>
              <a:rPr b="0" i="0" lang="en-US" sz="1300" u="none" cap="none" strike="noStrike">
                <a:solidFill>
                  <a:srgbClr val="DCE6F8"/>
                </a:solidFill>
                <a:latin typeface="Calibri"/>
                <a:ea typeface="Calibri"/>
                <a:cs typeface="Calibri"/>
                <a:sym typeface="Calibri"/>
              </a:rPr>
              <a:t>H3 — Model evaluation for vision tasks (M6)</a:t>
            </a:r>
            <a:endParaRPr b="0" i="0" sz="1300" u="none" cap="none" strike="noStrike">
              <a:solidFill>
                <a:schemeClr val="dk1"/>
              </a:solidFill>
              <a:latin typeface="Calibri"/>
              <a:ea typeface="Calibri"/>
              <a:cs typeface="Calibri"/>
              <a:sym typeface="Calibri"/>
            </a:endParaRPr>
          </a:p>
          <a:p>
            <a:pPr indent="-177800" lvl="0" marL="177800" marR="0" rtl="0" algn="l">
              <a:spcBef>
                <a:spcPts val="800"/>
              </a:spcBef>
              <a:spcAft>
                <a:spcPts val="0"/>
              </a:spcAft>
              <a:buClr>
                <a:srgbClr val="DCE6F8"/>
              </a:buClr>
              <a:buSzPts val="1300"/>
              <a:buFont typeface="Calibri"/>
              <a:buChar char="▪"/>
            </a:pPr>
            <a:r>
              <a:rPr b="0" i="0" lang="en-US" sz="1300" u="none" cap="none" strike="noStrike">
                <a:solidFill>
                  <a:srgbClr val="DCE6F8"/>
                </a:solidFill>
                <a:latin typeface="Calibri"/>
                <a:ea typeface="Calibri"/>
                <a:cs typeface="Calibri"/>
                <a:sym typeface="Calibri"/>
              </a:rPr>
              <a:t>H4 — Lab 6: build the evaluation harness</a:t>
            </a:r>
            <a:endParaRPr b="0" i="0" sz="1300" u="none" cap="none" strike="noStrike">
              <a:solidFill>
                <a:schemeClr val="dk1"/>
              </a:solidFill>
              <a:latin typeface="Calibri"/>
              <a:ea typeface="Calibri"/>
              <a:cs typeface="Calibri"/>
              <a:sym typeface="Calibri"/>
            </a:endParaRPr>
          </a:p>
          <a:p>
            <a:pPr indent="-177800" lvl="0" marL="177800" marR="0" rtl="0" algn="l">
              <a:spcBef>
                <a:spcPts val="800"/>
              </a:spcBef>
              <a:spcAft>
                <a:spcPts val="0"/>
              </a:spcAft>
              <a:buClr>
                <a:srgbClr val="DCE6F8"/>
              </a:buClr>
              <a:buSzPts val="1300"/>
              <a:buFont typeface="Calibri"/>
              <a:buChar char="▪"/>
            </a:pPr>
            <a:r>
              <a:rPr b="0" i="0" lang="en-US" sz="1300" u="none" cap="none" strike="noStrike">
                <a:solidFill>
                  <a:srgbClr val="DCE6F8"/>
                </a:solidFill>
                <a:latin typeface="Calibri"/>
                <a:ea typeface="Calibri"/>
                <a:cs typeface="Calibri"/>
                <a:sym typeface="Calibri"/>
              </a:rPr>
              <a:t>H5 — Retrain on v2 + capstone kickoff + milestone M-A</a:t>
            </a:r>
            <a:endParaRPr b="0" i="0" sz="1300" u="none" cap="none" strike="noStrike">
              <a:solidFill>
                <a:schemeClr val="dk1"/>
              </a:solidFill>
              <a:latin typeface="Calibri"/>
              <a:ea typeface="Calibri"/>
              <a:cs typeface="Calibri"/>
              <a:sym typeface="Calibri"/>
            </a:endParaRPr>
          </a:p>
        </p:txBody>
      </p:sp>
      <p:sp>
        <p:nvSpPr>
          <p:cNvPr id="2419" name="Google Shape;2419;p86"/>
          <p:cNvSpPr/>
          <p:nvPr/>
        </p:nvSpPr>
        <p:spPr>
          <a:xfrm>
            <a:off x="8366760" y="3520440"/>
            <a:ext cx="3383280" cy="2286000"/>
          </a:xfrm>
          <a:prstGeom prst="roundRect">
            <a:avLst>
              <a:gd fmla="val 4000" name="adj"/>
            </a:avLst>
          </a:prstGeom>
          <a:solidFill>
            <a:srgbClr val="1C2C63"/>
          </a:solidFill>
          <a:ln cap="flat" cmpd="sng" w="15875">
            <a:solidFill>
              <a:srgbClr val="00A79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20" name="Google Shape;2420;p86"/>
          <p:cNvSpPr/>
          <p:nvPr/>
        </p:nvSpPr>
        <p:spPr>
          <a:xfrm>
            <a:off x="8595360" y="3703320"/>
            <a:ext cx="292608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A79D"/>
              </a:buClr>
              <a:buSzPts val="1000"/>
              <a:buFont typeface="Calibri"/>
              <a:buNone/>
            </a:pPr>
            <a:r>
              <a:rPr b="1" i="0" lang="en-US" sz="1000" u="none" cap="none" strike="noStrike">
                <a:solidFill>
                  <a:srgbClr val="00A79D"/>
                </a:solidFill>
                <a:latin typeface="Calibri"/>
                <a:ea typeface="Calibri"/>
                <a:cs typeface="Calibri"/>
                <a:sym typeface="Calibri"/>
              </a:rPr>
              <a:t>END-OF-DAY DELIVERABLE</a:t>
            </a:r>
            <a:endParaRPr b="0" i="0" sz="1000" u="none" cap="none" strike="noStrike">
              <a:solidFill>
                <a:schemeClr val="dk1"/>
              </a:solidFill>
              <a:latin typeface="Calibri"/>
              <a:ea typeface="Calibri"/>
              <a:cs typeface="Calibri"/>
              <a:sym typeface="Calibri"/>
            </a:endParaRPr>
          </a:p>
        </p:txBody>
      </p:sp>
      <p:sp>
        <p:nvSpPr>
          <p:cNvPr id="2421" name="Google Shape;2421;p86"/>
          <p:cNvSpPr/>
          <p:nvPr/>
        </p:nvSpPr>
        <p:spPr>
          <a:xfrm>
            <a:off x="8595360" y="4041648"/>
            <a:ext cx="2971800" cy="16002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FFFFFF"/>
              </a:buClr>
              <a:buSzPts val="1250"/>
              <a:buFont typeface="Calibri"/>
              <a:buNone/>
            </a:pPr>
            <a:r>
              <a:rPr b="0" i="0" lang="en-US" sz="1250" u="none" cap="none" strike="noStrike">
                <a:solidFill>
                  <a:srgbClr val="FFFFFF"/>
                </a:solidFill>
                <a:latin typeface="Calibri"/>
                <a:ea typeface="Calibri"/>
                <a:cs typeface="Calibri"/>
                <a:sym typeface="Calibri"/>
              </a:rPr>
              <a:t>Curated dataset v2 + evaluation harness + written error-analysis report</a:t>
            </a:r>
            <a:endParaRPr b="0" i="0" sz="1250" u="none" cap="none" strike="noStrike">
              <a:solidFill>
                <a:schemeClr val="dk1"/>
              </a:solidFill>
              <a:latin typeface="Calibri"/>
              <a:ea typeface="Calibri"/>
              <a:cs typeface="Calibri"/>
              <a:sym typeface="Calibri"/>
            </a:endParaRPr>
          </a:p>
        </p:txBody>
      </p:sp>
      <p:sp>
        <p:nvSpPr>
          <p:cNvPr id="2422" name="Google Shape;2422;p86"/>
          <p:cNvSpPr/>
          <p:nvPr/>
        </p:nvSpPr>
        <p:spPr>
          <a:xfrm>
            <a:off x="11292840" y="6528816"/>
            <a:ext cx="411480" cy="219456"/>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5A6A96"/>
              </a:buClr>
              <a:buSzPts val="900"/>
              <a:buFont typeface="Calibri"/>
              <a:buNone/>
            </a:pPr>
            <a:r>
              <a:rPr b="0" i="0" lang="en-US" sz="900" u="none" cap="none" strike="noStrike">
                <a:solidFill>
                  <a:srgbClr val="5A6A96"/>
                </a:solidFill>
                <a:latin typeface="Calibri"/>
                <a:ea typeface="Calibri"/>
                <a:cs typeface="Calibri"/>
                <a:sym typeface="Calibri"/>
              </a:rPr>
              <a:t>86</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8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427" name="Shape 2427"/>
        <p:cNvGrpSpPr/>
        <p:nvPr/>
      </p:nvGrpSpPr>
      <p:grpSpPr>
        <a:xfrm>
          <a:off x="0" y="0"/>
          <a:ext cx="0" cy="0"/>
          <a:chOff x="0" y="0"/>
          <a:chExt cx="0" cy="0"/>
        </a:xfrm>
      </p:grpSpPr>
      <p:sp>
        <p:nvSpPr>
          <p:cNvPr id="2428" name="Google Shape;2428;p87"/>
          <p:cNvSpPr/>
          <p:nvPr/>
        </p:nvSpPr>
        <p:spPr>
          <a:xfrm>
            <a:off x="502920" y="274320"/>
            <a:ext cx="9646920" cy="56692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D2A5C"/>
              </a:buClr>
              <a:buSzPts val="2700"/>
              <a:buFont typeface="Calibri"/>
              <a:buNone/>
            </a:pPr>
            <a:r>
              <a:rPr b="1" i="0" lang="en-US" sz="2700" u="none" cap="none" strike="noStrike">
                <a:solidFill>
                  <a:srgbClr val="1D2A5C"/>
                </a:solidFill>
                <a:latin typeface="Calibri"/>
                <a:ea typeface="Calibri"/>
                <a:cs typeface="Calibri"/>
                <a:sym typeface="Calibri"/>
              </a:rPr>
              <a:t>Day 3 Hour by Hour</a:t>
            </a:r>
            <a:endParaRPr b="0" i="0" sz="2700" u="none" cap="none" strike="noStrike">
              <a:solidFill>
                <a:schemeClr val="dk1"/>
              </a:solidFill>
              <a:latin typeface="Calibri"/>
              <a:ea typeface="Calibri"/>
              <a:cs typeface="Calibri"/>
              <a:sym typeface="Calibri"/>
            </a:endParaRPr>
          </a:p>
        </p:txBody>
      </p:sp>
      <p:sp>
        <p:nvSpPr>
          <p:cNvPr id="2429" name="Google Shape;2429;p87"/>
          <p:cNvSpPr/>
          <p:nvPr/>
        </p:nvSpPr>
        <p:spPr>
          <a:xfrm>
            <a:off x="502920" y="859536"/>
            <a:ext cx="9646920" cy="31089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F6B7A"/>
              </a:buClr>
              <a:buSzPts val="1250"/>
              <a:buFont typeface="Arial"/>
              <a:buNone/>
            </a:pPr>
            <a:r>
              <a:rPr b="0" i="0" lang="en-US" sz="1250" u="none" cap="none" strike="noStrike">
                <a:solidFill>
                  <a:srgbClr val="5F6B7A"/>
                </a:solidFill>
                <a:latin typeface="Arial"/>
                <a:ea typeface="Arial"/>
                <a:cs typeface="Arial"/>
                <a:sym typeface="Arial"/>
              </a:rPr>
              <a:t>اليوم الثالث ساعة بساعة</a:t>
            </a:r>
            <a:endParaRPr b="0" i="0" sz="1250" u="none" cap="none" strike="noStrike">
              <a:solidFill>
                <a:schemeClr val="dk1"/>
              </a:solidFill>
              <a:latin typeface="Calibri"/>
              <a:ea typeface="Calibri"/>
              <a:cs typeface="Calibri"/>
              <a:sym typeface="Calibri"/>
            </a:endParaRPr>
          </a:p>
        </p:txBody>
      </p:sp>
      <p:pic>
        <p:nvPicPr>
          <p:cNvPr descr="/sessions/blissful-determined-ritchie/build/assets/sdaia_logo.png" id="2430" name="Google Shape;2430;p87"/>
          <p:cNvPicPr preferRelativeResize="0"/>
          <p:nvPr/>
        </p:nvPicPr>
        <p:blipFill rotWithShape="1">
          <a:blip r:embed="rId3">
            <a:alphaModFix/>
          </a:blip>
          <a:srcRect b="0" l="0" r="0" t="0"/>
          <a:stretch/>
        </p:blipFill>
        <p:spPr>
          <a:xfrm>
            <a:off x="10625328" y="310896"/>
            <a:ext cx="1078992" cy="264111"/>
          </a:xfrm>
          <a:prstGeom prst="rect">
            <a:avLst/>
          </a:prstGeom>
          <a:noFill/>
          <a:ln>
            <a:noFill/>
          </a:ln>
        </p:spPr>
      </p:pic>
      <p:sp>
        <p:nvSpPr>
          <p:cNvPr id="2431" name="Google Shape;2431;p87"/>
          <p:cNvSpPr/>
          <p:nvPr/>
        </p:nvSpPr>
        <p:spPr>
          <a:xfrm>
            <a:off x="502920" y="6528816"/>
            <a:ext cx="8686800"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A79D"/>
              </a:buClr>
              <a:buSzPts val="800"/>
              <a:buFont typeface="Calibri"/>
              <a:buNone/>
            </a:pPr>
            <a:r>
              <a:rPr b="1" i="0" lang="en-US" sz="800" u="none" cap="none" strike="noStrike">
                <a:solidFill>
                  <a:srgbClr val="00A79D"/>
                </a:solidFill>
                <a:latin typeface="Calibri"/>
                <a:ea typeface="Calibri"/>
                <a:cs typeface="Calibri"/>
                <a:sym typeface="Calibri"/>
              </a:rPr>
              <a:t>DAY 3   </a:t>
            </a:r>
            <a:r>
              <a:rPr b="0" i="0" lang="en-US" sz="800" u="none" cap="none" strike="noStrike">
                <a:solidFill>
                  <a:srgbClr val="8A96A6"/>
                </a:solidFill>
                <a:latin typeface="Calibri"/>
                <a:ea typeface="Calibri"/>
                <a:cs typeface="Calibri"/>
                <a:sym typeface="Calibri"/>
              </a:rPr>
              <a:t>SDA-AIE-212 · Computer Vision Systems Development</a:t>
            </a:r>
            <a:endParaRPr b="0" i="0" sz="800" u="none" cap="none" strike="noStrike">
              <a:solidFill>
                <a:schemeClr val="dk1"/>
              </a:solidFill>
              <a:latin typeface="Calibri"/>
              <a:ea typeface="Calibri"/>
              <a:cs typeface="Calibri"/>
              <a:sym typeface="Calibri"/>
            </a:endParaRPr>
          </a:p>
        </p:txBody>
      </p:sp>
      <p:sp>
        <p:nvSpPr>
          <p:cNvPr id="2432" name="Google Shape;2432;p87"/>
          <p:cNvSpPr/>
          <p:nvPr/>
        </p:nvSpPr>
        <p:spPr>
          <a:xfrm>
            <a:off x="11292840" y="6528816"/>
            <a:ext cx="411480" cy="219456"/>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8A96A6"/>
              </a:buClr>
              <a:buSzPts val="900"/>
              <a:buFont typeface="Calibri"/>
              <a:buNone/>
            </a:pPr>
            <a:r>
              <a:rPr b="0" i="0" lang="en-US" sz="900" u="none" cap="none" strike="noStrike">
                <a:solidFill>
                  <a:srgbClr val="8A96A6"/>
                </a:solidFill>
                <a:latin typeface="Calibri"/>
                <a:ea typeface="Calibri"/>
                <a:cs typeface="Calibri"/>
                <a:sym typeface="Calibri"/>
              </a:rPr>
              <a:t>87</a:t>
            </a:r>
            <a:endParaRPr b="0" i="0" sz="900" u="none" cap="none" strike="noStrike">
              <a:solidFill>
                <a:schemeClr val="dk1"/>
              </a:solidFill>
              <a:latin typeface="Calibri"/>
              <a:ea typeface="Calibri"/>
              <a:cs typeface="Calibri"/>
              <a:sym typeface="Calibri"/>
            </a:endParaRPr>
          </a:p>
        </p:txBody>
      </p:sp>
      <p:graphicFrame>
        <p:nvGraphicFramePr>
          <p:cNvPr id="2433" name="Google Shape;2433;p87"/>
          <p:cNvGraphicFramePr/>
          <p:nvPr/>
        </p:nvGraphicFramePr>
        <p:xfrm>
          <a:off x="502920" y="1389888"/>
          <a:ext cx="3000000" cy="3000000"/>
        </p:xfrm>
        <a:graphic>
          <a:graphicData uri="http://schemas.openxmlformats.org/drawingml/2006/table">
            <a:tbl>
              <a:tblPr>
                <a:noFill/>
                <a:tableStyleId>{F80342BA-3033-44D6-9F91-622DC7A4C435}</a:tableStyleId>
              </a:tblPr>
              <a:tblGrid>
                <a:gridCol w="1229300"/>
                <a:gridCol w="4077150"/>
                <a:gridCol w="3935700"/>
                <a:gridCol w="1943700"/>
              </a:tblGrid>
              <a:tr h="713225">
                <a:tc>
                  <a:txBody>
                    <a:bodyPr/>
                    <a:lstStyle/>
                    <a:p>
                      <a:pPr indent="0" lvl="0" marL="0" marR="0" rtl="0" algn="l">
                        <a:spcBef>
                          <a:spcPts val="0"/>
                        </a:spcBef>
                        <a:spcAft>
                          <a:spcPts val="0"/>
                        </a:spcAft>
                        <a:buClr>
                          <a:srgbClr val="FFFFFF"/>
                        </a:buClr>
                        <a:buSzPts val="1150"/>
                        <a:buFont typeface="Calibri"/>
                        <a:buNone/>
                      </a:pPr>
                      <a:r>
                        <a:rPr b="1" lang="en-US" sz="1150" u="none" cap="none" strike="noStrike">
                          <a:solidFill>
                            <a:srgbClr val="FFFFFF"/>
                          </a:solidFill>
                          <a:latin typeface="Calibri"/>
                          <a:ea typeface="Calibri"/>
                          <a:cs typeface="Calibri"/>
                          <a:sym typeface="Calibri"/>
                        </a:rPr>
                        <a:t>Hour</a:t>
                      </a:r>
                      <a:endParaRPr sz="1150" u="none" cap="none" strike="noStrike">
                        <a:latin typeface="Calibri"/>
                        <a:ea typeface="Calibri"/>
                        <a:cs typeface="Calibri"/>
                        <a:sym typeface="Calibri"/>
                      </a:endParaRPr>
                    </a:p>
                  </a:txBody>
                  <a:tcPr marT="64000" marB="64000" marR="64000" marL="64000" anchor="ctr">
                    <a:lnL cap="flat" cmpd="sng" w="9525">
                      <a:solidFill>
                        <a:srgbClr val="D9E2EA"/>
                      </a:solidFill>
                      <a:prstDash val="solid"/>
                      <a:round/>
                      <a:headEnd len="sm" w="sm" type="none"/>
                      <a:tailEnd len="sm" w="sm" type="none"/>
                    </a:lnL>
                    <a:lnR cap="flat" cmpd="sng" w="9525">
                      <a:solidFill>
                        <a:srgbClr val="D9E2EA"/>
                      </a:solidFill>
                      <a:prstDash val="solid"/>
                      <a:round/>
                      <a:headEnd len="sm" w="sm" type="none"/>
                      <a:tailEnd len="sm" w="sm" type="none"/>
                    </a:lnR>
                    <a:lnT cap="flat" cmpd="sng" w="9525">
                      <a:solidFill>
                        <a:srgbClr val="D9E2EA"/>
                      </a:solidFill>
                      <a:prstDash val="solid"/>
                      <a:round/>
                      <a:headEnd len="sm" w="sm" type="none"/>
                      <a:tailEnd len="sm" w="sm" type="none"/>
                    </a:lnT>
                    <a:lnB cap="flat" cmpd="sng" w="9525">
                      <a:solidFill>
                        <a:srgbClr val="D9E2EA"/>
                      </a:solidFill>
                      <a:prstDash val="solid"/>
                      <a:round/>
                      <a:headEnd len="sm" w="sm" type="none"/>
                      <a:tailEnd len="sm" w="sm" type="none"/>
                    </a:lnB>
                    <a:solidFill>
                      <a:srgbClr val="1D2A5C"/>
                    </a:solidFill>
                  </a:tcPr>
                </a:tc>
                <a:tc>
                  <a:txBody>
                    <a:bodyPr/>
                    <a:lstStyle/>
                    <a:p>
                      <a:pPr indent="0" lvl="0" marL="0" marR="0" rtl="0" algn="l">
                        <a:spcBef>
                          <a:spcPts val="0"/>
                        </a:spcBef>
                        <a:spcAft>
                          <a:spcPts val="0"/>
                        </a:spcAft>
                        <a:buClr>
                          <a:srgbClr val="FFFFFF"/>
                        </a:buClr>
                        <a:buSzPts val="1150"/>
                        <a:buFont typeface="Calibri"/>
                        <a:buNone/>
                      </a:pPr>
                      <a:r>
                        <a:rPr b="1" lang="en-US" sz="1150" u="none" cap="none" strike="noStrike">
                          <a:solidFill>
                            <a:srgbClr val="FFFFFF"/>
                          </a:solidFill>
                          <a:latin typeface="Calibri"/>
                          <a:ea typeface="Calibri"/>
                          <a:cs typeface="Calibri"/>
                          <a:sym typeface="Calibri"/>
                        </a:rPr>
                        <a:t>Session</a:t>
                      </a:r>
                      <a:endParaRPr sz="1150" u="none" cap="none" strike="noStrike">
                        <a:latin typeface="Calibri"/>
                        <a:ea typeface="Calibri"/>
                        <a:cs typeface="Calibri"/>
                        <a:sym typeface="Calibri"/>
                      </a:endParaRPr>
                    </a:p>
                  </a:txBody>
                  <a:tcPr marT="64000" marB="64000" marR="64000" marL="64000" anchor="ctr">
                    <a:lnL cap="flat" cmpd="sng" w="9525">
                      <a:solidFill>
                        <a:srgbClr val="D9E2EA"/>
                      </a:solidFill>
                      <a:prstDash val="solid"/>
                      <a:round/>
                      <a:headEnd len="sm" w="sm" type="none"/>
                      <a:tailEnd len="sm" w="sm" type="none"/>
                    </a:lnL>
                    <a:lnR cap="flat" cmpd="sng" w="9525">
                      <a:solidFill>
                        <a:srgbClr val="D9E2EA"/>
                      </a:solidFill>
                      <a:prstDash val="solid"/>
                      <a:round/>
                      <a:headEnd len="sm" w="sm" type="none"/>
                      <a:tailEnd len="sm" w="sm" type="none"/>
                    </a:lnR>
                    <a:lnT cap="flat" cmpd="sng" w="9525">
                      <a:solidFill>
                        <a:srgbClr val="D9E2EA"/>
                      </a:solidFill>
                      <a:prstDash val="solid"/>
                      <a:round/>
                      <a:headEnd len="sm" w="sm" type="none"/>
                      <a:tailEnd len="sm" w="sm" type="none"/>
                    </a:lnT>
                    <a:lnB cap="flat" cmpd="sng" w="9525">
                      <a:solidFill>
                        <a:srgbClr val="D9E2EA"/>
                      </a:solidFill>
                      <a:prstDash val="solid"/>
                      <a:round/>
                      <a:headEnd len="sm" w="sm" type="none"/>
                      <a:tailEnd len="sm" w="sm" type="none"/>
                    </a:lnB>
                    <a:solidFill>
                      <a:srgbClr val="1D2A5C"/>
                    </a:solidFill>
                  </a:tcPr>
                </a:tc>
                <a:tc>
                  <a:txBody>
                    <a:bodyPr/>
                    <a:lstStyle/>
                    <a:p>
                      <a:pPr indent="0" lvl="0" marL="0" marR="0" rtl="0" algn="l">
                        <a:spcBef>
                          <a:spcPts val="0"/>
                        </a:spcBef>
                        <a:spcAft>
                          <a:spcPts val="0"/>
                        </a:spcAft>
                        <a:buClr>
                          <a:srgbClr val="FFFFFF"/>
                        </a:buClr>
                        <a:buSzPts val="1150"/>
                        <a:buFont typeface="Calibri"/>
                        <a:buNone/>
                      </a:pPr>
                      <a:r>
                        <a:rPr b="1" lang="en-US" sz="1150" u="none" cap="none" strike="noStrike">
                          <a:solidFill>
                            <a:srgbClr val="FFFFFF"/>
                          </a:solidFill>
                          <a:latin typeface="Calibri"/>
                          <a:ea typeface="Calibri"/>
                          <a:cs typeface="Calibri"/>
                          <a:sym typeface="Calibri"/>
                        </a:rPr>
                        <a:t>Delivery mode</a:t>
                      </a:r>
                      <a:endParaRPr sz="1150" u="none" cap="none" strike="noStrike">
                        <a:latin typeface="Calibri"/>
                        <a:ea typeface="Calibri"/>
                        <a:cs typeface="Calibri"/>
                        <a:sym typeface="Calibri"/>
                      </a:endParaRPr>
                    </a:p>
                  </a:txBody>
                  <a:tcPr marT="64000" marB="64000" marR="64000" marL="64000" anchor="ctr">
                    <a:lnL cap="flat" cmpd="sng" w="9525">
                      <a:solidFill>
                        <a:srgbClr val="D9E2EA"/>
                      </a:solidFill>
                      <a:prstDash val="solid"/>
                      <a:round/>
                      <a:headEnd len="sm" w="sm" type="none"/>
                      <a:tailEnd len="sm" w="sm" type="none"/>
                    </a:lnL>
                    <a:lnR cap="flat" cmpd="sng" w="9525">
                      <a:solidFill>
                        <a:srgbClr val="D9E2EA"/>
                      </a:solidFill>
                      <a:prstDash val="solid"/>
                      <a:round/>
                      <a:headEnd len="sm" w="sm" type="none"/>
                      <a:tailEnd len="sm" w="sm" type="none"/>
                    </a:lnR>
                    <a:lnT cap="flat" cmpd="sng" w="9525">
                      <a:solidFill>
                        <a:srgbClr val="D9E2EA"/>
                      </a:solidFill>
                      <a:prstDash val="solid"/>
                      <a:round/>
                      <a:headEnd len="sm" w="sm" type="none"/>
                      <a:tailEnd len="sm" w="sm" type="none"/>
                    </a:lnT>
                    <a:lnB cap="flat" cmpd="sng" w="9525">
                      <a:solidFill>
                        <a:srgbClr val="D9E2EA"/>
                      </a:solidFill>
                      <a:prstDash val="solid"/>
                      <a:round/>
                      <a:headEnd len="sm" w="sm" type="none"/>
                      <a:tailEnd len="sm" w="sm" type="none"/>
                    </a:lnB>
                    <a:solidFill>
                      <a:srgbClr val="1D2A5C"/>
                    </a:solidFill>
                  </a:tcPr>
                </a:tc>
                <a:tc>
                  <a:txBody>
                    <a:bodyPr/>
                    <a:lstStyle/>
                    <a:p>
                      <a:pPr indent="0" lvl="0" marL="0" marR="0" rtl="0" algn="l">
                        <a:spcBef>
                          <a:spcPts val="0"/>
                        </a:spcBef>
                        <a:spcAft>
                          <a:spcPts val="0"/>
                        </a:spcAft>
                        <a:buClr>
                          <a:srgbClr val="FFFFFF"/>
                        </a:buClr>
                        <a:buSzPts val="1150"/>
                        <a:buFont typeface="Calibri"/>
                        <a:buNone/>
                      </a:pPr>
                      <a:r>
                        <a:rPr b="1" lang="en-US" sz="1150" u="none" cap="none" strike="noStrike">
                          <a:solidFill>
                            <a:srgbClr val="FFFFFF"/>
                          </a:solidFill>
                          <a:latin typeface="Calibri"/>
                          <a:ea typeface="Calibri"/>
                          <a:cs typeface="Calibri"/>
                          <a:sym typeface="Calibri"/>
                        </a:rPr>
                        <a:t>Theory/Lab</a:t>
                      </a:r>
                      <a:endParaRPr sz="1150" u="none" cap="none" strike="noStrike">
                        <a:latin typeface="Calibri"/>
                        <a:ea typeface="Calibri"/>
                        <a:cs typeface="Calibri"/>
                        <a:sym typeface="Calibri"/>
                      </a:endParaRPr>
                    </a:p>
                  </a:txBody>
                  <a:tcPr marT="64000" marB="64000" marR="64000" marL="64000" anchor="ctr">
                    <a:lnL cap="flat" cmpd="sng" w="9525">
                      <a:solidFill>
                        <a:srgbClr val="D9E2EA"/>
                      </a:solidFill>
                      <a:prstDash val="solid"/>
                      <a:round/>
                      <a:headEnd len="sm" w="sm" type="none"/>
                      <a:tailEnd len="sm" w="sm" type="none"/>
                    </a:lnL>
                    <a:lnR cap="flat" cmpd="sng" w="9525">
                      <a:solidFill>
                        <a:srgbClr val="D9E2EA"/>
                      </a:solidFill>
                      <a:prstDash val="solid"/>
                      <a:round/>
                      <a:headEnd len="sm" w="sm" type="none"/>
                      <a:tailEnd len="sm" w="sm" type="none"/>
                    </a:lnR>
                    <a:lnT cap="flat" cmpd="sng" w="9525">
                      <a:solidFill>
                        <a:srgbClr val="D9E2EA"/>
                      </a:solidFill>
                      <a:prstDash val="solid"/>
                      <a:round/>
                      <a:headEnd len="sm" w="sm" type="none"/>
                      <a:tailEnd len="sm" w="sm" type="none"/>
                    </a:lnT>
                    <a:lnB cap="flat" cmpd="sng" w="9525">
                      <a:solidFill>
                        <a:srgbClr val="D9E2EA"/>
                      </a:solidFill>
                      <a:prstDash val="solid"/>
                      <a:round/>
                      <a:headEnd len="sm" w="sm" type="none"/>
                      <a:tailEnd len="sm" w="sm" type="none"/>
                    </a:lnB>
                    <a:solidFill>
                      <a:srgbClr val="1D2A5C"/>
                    </a:solidFill>
                  </a:tcPr>
                </a:tc>
              </a:tr>
              <a:tr h="713225">
                <a:tc>
                  <a:txBody>
                    <a:bodyPr/>
                    <a:lstStyle/>
                    <a:p>
                      <a:pPr indent="0" lvl="0" marL="0" marR="0" rtl="0" algn="l">
                        <a:spcBef>
                          <a:spcPts val="0"/>
                        </a:spcBef>
                        <a:spcAft>
                          <a:spcPts val="0"/>
                        </a:spcAft>
                        <a:buClr>
                          <a:srgbClr val="1D2A5C"/>
                        </a:buClr>
                        <a:buSzPts val="1150"/>
                        <a:buFont typeface="Calibri"/>
                        <a:buNone/>
                      </a:pPr>
                      <a:r>
                        <a:rPr b="1" lang="en-US" sz="1150" u="none" cap="none" strike="noStrike">
                          <a:solidFill>
                            <a:srgbClr val="1D2A5C"/>
                          </a:solidFill>
                          <a:latin typeface="Calibri"/>
                          <a:ea typeface="Calibri"/>
                          <a:cs typeface="Calibri"/>
                          <a:sym typeface="Calibri"/>
                        </a:rPr>
                        <a:t>1</a:t>
                      </a:r>
                      <a:endParaRPr sz="1150" u="none" cap="none" strike="noStrike">
                        <a:latin typeface="Calibri"/>
                        <a:ea typeface="Calibri"/>
                        <a:cs typeface="Calibri"/>
                        <a:sym typeface="Calibri"/>
                      </a:endParaRPr>
                    </a:p>
                  </a:txBody>
                  <a:tcPr marT="64000" marB="64000" marR="64000" marL="64000" anchor="ctr">
                    <a:lnL cap="flat" cmpd="sng" w="9525">
                      <a:solidFill>
                        <a:srgbClr val="D9E2EA"/>
                      </a:solidFill>
                      <a:prstDash val="solid"/>
                      <a:round/>
                      <a:headEnd len="sm" w="sm" type="none"/>
                      <a:tailEnd len="sm" w="sm" type="none"/>
                    </a:lnL>
                    <a:lnR cap="flat" cmpd="sng" w="9525">
                      <a:solidFill>
                        <a:srgbClr val="D9E2EA"/>
                      </a:solidFill>
                      <a:prstDash val="solid"/>
                      <a:round/>
                      <a:headEnd len="sm" w="sm" type="none"/>
                      <a:tailEnd len="sm" w="sm" type="none"/>
                    </a:lnR>
                    <a:lnT cap="flat" cmpd="sng" w="9525">
                      <a:solidFill>
                        <a:srgbClr val="D9E2EA"/>
                      </a:solidFill>
                      <a:prstDash val="solid"/>
                      <a:round/>
                      <a:headEnd len="sm" w="sm" type="none"/>
                      <a:tailEnd len="sm" w="sm" type="none"/>
                    </a:lnT>
                    <a:lnB cap="flat" cmpd="sng" w="9525">
                      <a:solidFill>
                        <a:srgbClr val="D9E2EA"/>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23293B"/>
                        </a:buClr>
                        <a:buSzPts val="1150"/>
                        <a:buFont typeface="Calibri"/>
                        <a:buNone/>
                      </a:pPr>
                      <a:r>
                        <a:rPr lang="en-US" sz="1150" u="none" cap="none" strike="noStrike">
                          <a:solidFill>
                            <a:srgbClr val="23293B"/>
                          </a:solidFill>
                          <a:latin typeface="Calibri"/>
                          <a:ea typeface="Calibri"/>
                          <a:cs typeface="Calibri"/>
                          <a:sym typeface="Calibri"/>
                        </a:rPr>
                        <a:t>Dataset curation &amp; annotation workflows (M5)</a:t>
                      </a:r>
                      <a:endParaRPr sz="1150" u="none" cap="none" strike="noStrike">
                        <a:latin typeface="Calibri"/>
                        <a:ea typeface="Calibri"/>
                        <a:cs typeface="Calibri"/>
                        <a:sym typeface="Calibri"/>
                      </a:endParaRPr>
                    </a:p>
                  </a:txBody>
                  <a:tcPr marT="64000" marB="64000" marR="64000" marL="64000" anchor="ctr">
                    <a:lnL cap="flat" cmpd="sng" w="9525">
                      <a:solidFill>
                        <a:srgbClr val="D9E2EA"/>
                      </a:solidFill>
                      <a:prstDash val="solid"/>
                      <a:round/>
                      <a:headEnd len="sm" w="sm" type="none"/>
                      <a:tailEnd len="sm" w="sm" type="none"/>
                    </a:lnL>
                    <a:lnR cap="flat" cmpd="sng" w="9525">
                      <a:solidFill>
                        <a:srgbClr val="D9E2EA"/>
                      </a:solidFill>
                      <a:prstDash val="solid"/>
                      <a:round/>
                      <a:headEnd len="sm" w="sm" type="none"/>
                      <a:tailEnd len="sm" w="sm" type="none"/>
                    </a:lnR>
                    <a:lnT cap="flat" cmpd="sng" w="9525">
                      <a:solidFill>
                        <a:srgbClr val="D9E2EA"/>
                      </a:solidFill>
                      <a:prstDash val="solid"/>
                      <a:round/>
                      <a:headEnd len="sm" w="sm" type="none"/>
                      <a:tailEnd len="sm" w="sm" type="none"/>
                    </a:lnT>
                    <a:lnB cap="flat" cmpd="sng" w="9525">
                      <a:solidFill>
                        <a:srgbClr val="D9E2EA"/>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23293B"/>
                        </a:buClr>
                        <a:buSzPts val="1150"/>
                        <a:buFont typeface="Calibri"/>
                        <a:buNone/>
                      </a:pPr>
                      <a:r>
                        <a:rPr lang="en-US" sz="1150" u="none" cap="none" strike="noStrike">
                          <a:solidFill>
                            <a:srgbClr val="23293B"/>
                          </a:solidFill>
                          <a:latin typeface="Calibri"/>
                          <a:ea typeface="Calibri"/>
                          <a:cs typeface="Calibri"/>
                          <a:sym typeface="Calibri"/>
                        </a:rPr>
                        <a:t>Lecture + annotation-tool walkthrough</a:t>
                      </a:r>
                      <a:endParaRPr sz="1150" u="none" cap="none" strike="noStrike">
                        <a:latin typeface="Calibri"/>
                        <a:ea typeface="Calibri"/>
                        <a:cs typeface="Calibri"/>
                        <a:sym typeface="Calibri"/>
                      </a:endParaRPr>
                    </a:p>
                  </a:txBody>
                  <a:tcPr marT="64000" marB="64000" marR="64000" marL="64000" anchor="ctr">
                    <a:lnL cap="flat" cmpd="sng" w="9525">
                      <a:solidFill>
                        <a:srgbClr val="D9E2EA"/>
                      </a:solidFill>
                      <a:prstDash val="solid"/>
                      <a:round/>
                      <a:headEnd len="sm" w="sm" type="none"/>
                      <a:tailEnd len="sm" w="sm" type="none"/>
                    </a:lnL>
                    <a:lnR cap="flat" cmpd="sng" w="9525">
                      <a:solidFill>
                        <a:srgbClr val="D9E2EA"/>
                      </a:solidFill>
                      <a:prstDash val="solid"/>
                      <a:round/>
                      <a:headEnd len="sm" w="sm" type="none"/>
                      <a:tailEnd len="sm" w="sm" type="none"/>
                    </a:lnR>
                    <a:lnT cap="flat" cmpd="sng" w="9525">
                      <a:solidFill>
                        <a:srgbClr val="D9E2EA"/>
                      </a:solidFill>
                      <a:prstDash val="solid"/>
                      <a:round/>
                      <a:headEnd len="sm" w="sm" type="none"/>
                      <a:tailEnd len="sm" w="sm" type="none"/>
                    </a:lnT>
                    <a:lnB cap="flat" cmpd="sng" w="9525">
                      <a:solidFill>
                        <a:srgbClr val="D9E2EA"/>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23293B"/>
                        </a:buClr>
                        <a:buSzPts val="1150"/>
                        <a:buFont typeface="Calibri"/>
                        <a:buNone/>
                      </a:pPr>
                      <a:r>
                        <a:rPr lang="en-US" sz="1150" u="none" cap="none" strike="noStrike">
                          <a:solidFill>
                            <a:srgbClr val="23293B"/>
                          </a:solidFill>
                          <a:latin typeface="Calibri"/>
                          <a:ea typeface="Calibri"/>
                          <a:cs typeface="Calibri"/>
                          <a:sym typeface="Calibri"/>
                        </a:rPr>
                        <a:t>60/40</a:t>
                      </a:r>
                      <a:endParaRPr sz="1150" u="none" cap="none" strike="noStrike">
                        <a:latin typeface="Calibri"/>
                        <a:ea typeface="Calibri"/>
                        <a:cs typeface="Calibri"/>
                        <a:sym typeface="Calibri"/>
                      </a:endParaRPr>
                    </a:p>
                  </a:txBody>
                  <a:tcPr marT="64000" marB="64000" marR="64000" marL="64000" anchor="ctr">
                    <a:lnL cap="flat" cmpd="sng" w="9525">
                      <a:solidFill>
                        <a:srgbClr val="D9E2EA"/>
                      </a:solidFill>
                      <a:prstDash val="solid"/>
                      <a:round/>
                      <a:headEnd len="sm" w="sm" type="none"/>
                      <a:tailEnd len="sm" w="sm" type="none"/>
                    </a:lnL>
                    <a:lnR cap="flat" cmpd="sng" w="9525">
                      <a:solidFill>
                        <a:srgbClr val="D9E2EA"/>
                      </a:solidFill>
                      <a:prstDash val="solid"/>
                      <a:round/>
                      <a:headEnd len="sm" w="sm" type="none"/>
                      <a:tailEnd len="sm" w="sm" type="none"/>
                    </a:lnR>
                    <a:lnT cap="flat" cmpd="sng" w="9525">
                      <a:solidFill>
                        <a:srgbClr val="D9E2EA"/>
                      </a:solidFill>
                      <a:prstDash val="solid"/>
                      <a:round/>
                      <a:headEnd len="sm" w="sm" type="none"/>
                      <a:tailEnd len="sm" w="sm" type="none"/>
                    </a:lnT>
                    <a:lnB cap="flat" cmpd="sng" w="9525">
                      <a:solidFill>
                        <a:srgbClr val="D9E2EA"/>
                      </a:solidFill>
                      <a:prstDash val="solid"/>
                      <a:round/>
                      <a:headEnd len="sm" w="sm" type="none"/>
                      <a:tailEnd len="sm" w="sm" type="none"/>
                    </a:lnB>
                    <a:solidFill>
                      <a:srgbClr val="FFFFFF"/>
                    </a:solidFill>
                  </a:tcPr>
                </a:tc>
              </a:tr>
              <a:tr h="713225">
                <a:tc>
                  <a:txBody>
                    <a:bodyPr/>
                    <a:lstStyle/>
                    <a:p>
                      <a:pPr indent="0" lvl="0" marL="0" marR="0" rtl="0" algn="l">
                        <a:spcBef>
                          <a:spcPts val="0"/>
                        </a:spcBef>
                        <a:spcAft>
                          <a:spcPts val="0"/>
                        </a:spcAft>
                        <a:buClr>
                          <a:srgbClr val="1D2A5C"/>
                        </a:buClr>
                        <a:buSzPts val="1150"/>
                        <a:buFont typeface="Calibri"/>
                        <a:buNone/>
                      </a:pPr>
                      <a:r>
                        <a:rPr b="1" lang="en-US" sz="1150" u="none" cap="none" strike="noStrike">
                          <a:solidFill>
                            <a:srgbClr val="1D2A5C"/>
                          </a:solidFill>
                          <a:latin typeface="Calibri"/>
                          <a:ea typeface="Calibri"/>
                          <a:cs typeface="Calibri"/>
                          <a:sym typeface="Calibri"/>
                        </a:rPr>
                        <a:t>2</a:t>
                      </a:r>
                      <a:endParaRPr sz="1150" u="none" cap="none" strike="noStrike">
                        <a:latin typeface="Calibri"/>
                        <a:ea typeface="Calibri"/>
                        <a:cs typeface="Calibri"/>
                        <a:sym typeface="Calibri"/>
                      </a:endParaRPr>
                    </a:p>
                  </a:txBody>
                  <a:tcPr marT="64000" marB="64000" marR="64000" marL="64000" anchor="ctr">
                    <a:lnL cap="flat" cmpd="sng" w="9525">
                      <a:solidFill>
                        <a:srgbClr val="D9E2EA"/>
                      </a:solidFill>
                      <a:prstDash val="solid"/>
                      <a:round/>
                      <a:headEnd len="sm" w="sm" type="none"/>
                      <a:tailEnd len="sm" w="sm" type="none"/>
                    </a:lnL>
                    <a:lnR cap="flat" cmpd="sng" w="9525">
                      <a:solidFill>
                        <a:srgbClr val="D9E2EA"/>
                      </a:solidFill>
                      <a:prstDash val="solid"/>
                      <a:round/>
                      <a:headEnd len="sm" w="sm" type="none"/>
                      <a:tailEnd len="sm" w="sm" type="none"/>
                    </a:lnR>
                    <a:lnT cap="flat" cmpd="sng" w="9525">
                      <a:solidFill>
                        <a:srgbClr val="D9E2EA"/>
                      </a:solidFill>
                      <a:prstDash val="solid"/>
                      <a:round/>
                      <a:headEnd len="sm" w="sm" type="none"/>
                      <a:tailEnd len="sm" w="sm" type="none"/>
                    </a:lnT>
                    <a:lnB cap="flat" cmpd="sng" w="9525">
                      <a:solidFill>
                        <a:srgbClr val="D9E2EA"/>
                      </a:solidFill>
                      <a:prstDash val="solid"/>
                      <a:round/>
                      <a:headEnd len="sm" w="sm" type="none"/>
                      <a:tailEnd len="sm" w="sm" type="none"/>
                    </a:lnB>
                    <a:solidFill>
                      <a:srgbClr val="F2F6F9"/>
                    </a:solidFill>
                  </a:tcPr>
                </a:tc>
                <a:tc>
                  <a:txBody>
                    <a:bodyPr/>
                    <a:lstStyle/>
                    <a:p>
                      <a:pPr indent="0" lvl="0" marL="0" marR="0" rtl="0" algn="l">
                        <a:spcBef>
                          <a:spcPts val="0"/>
                        </a:spcBef>
                        <a:spcAft>
                          <a:spcPts val="0"/>
                        </a:spcAft>
                        <a:buClr>
                          <a:srgbClr val="23293B"/>
                        </a:buClr>
                        <a:buSzPts val="1150"/>
                        <a:buFont typeface="Calibri"/>
                        <a:buNone/>
                      </a:pPr>
                      <a:r>
                        <a:rPr lang="en-US" sz="1150" u="none" cap="none" strike="noStrike">
                          <a:solidFill>
                            <a:srgbClr val="23293B"/>
                          </a:solidFill>
                          <a:latin typeface="Calibri"/>
                          <a:ea typeface="Calibri"/>
                          <a:cs typeface="Calibri"/>
                          <a:sym typeface="Calibri"/>
                        </a:rPr>
                        <a:t>Lab 5 — audit and curate dataset v2</a:t>
                      </a:r>
                      <a:endParaRPr sz="1150" u="none" cap="none" strike="noStrike">
                        <a:latin typeface="Calibri"/>
                        <a:ea typeface="Calibri"/>
                        <a:cs typeface="Calibri"/>
                        <a:sym typeface="Calibri"/>
                      </a:endParaRPr>
                    </a:p>
                  </a:txBody>
                  <a:tcPr marT="64000" marB="64000" marR="64000" marL="64000" anchor="ctr">
                    <a:lnL cap="flat" cmpd="sng" w="9525">
                      <a:solidFill>
                        <a:srgbClr val="D9E2EA"/>
                      </a:solidFill>
                      <a:prstDash val="solid"/>
                      <a:round/>
                      <a:headEnd len="sm" w="sm" type="none"/>
                      <a:tailEnd len="sm" w="sm" type="none"/>
                    </a:lnL>
                    <a:lnR cap="flat" cmpd="sng" w="9525">
                      <a:solidFill>
                        <a:srgbClr val="D9E2EA"/>
                      </a:solidFill>
                      <a:prstDash val="solid"/>
                      <a:round/>
                      <a:headEnd len="sm" w="sm" type="none"/>
                      <a:tailEnd len="sm" w="sm" type="none"/>
                    </a:lnR>
                    <a:lnT cap="flat" cmpd="sng" w="9525">
                      <a:solidFill>
                        <a:srgbClr val="D9E2EA"/>
                      </a:solidFill>
                      <a:prstDash val="solid"/>
                      <a:round/>
                      <a:headEnd len="sm" w="sm" type="none"/>
                      <a:tailEnd len="sm" w="sm" type="none"/>
                    </a:lnT>
                    <a:lnB cap="flat" cmpd="sng" w="9525">
                      <a:solidFill>
                        <a:srgbClr val="D9E2EA"/>
                      </a:solidFill>
                      <a:prstDash val="solid"/>
                      <a:round/>
                      <a:headEnd len="sm" w="sm" type="none"/>
                      <a:tailEnd len="sm" w="sm" type="none"/>
                    </a:lnB>
                    <a:solidFill>
                      <a:srgbClr val="F2F6F9"/>
                    </a:solidFill>
                  </a:tcPr>
                </a:tc>
                <a:tc>
                  <a:txBody>
                    <a:bodyPr/>
                    <a:lstStyle/>
                    <a:p>
                      <a:pPr indent="0" lvl="0" marL="0" marR="0" rtl="0" algn="l">
                        <a:spcBef>
                          <a:spcPts val="0"/>
                        </a:spcBef>
                        <a:spcAft>
                          <a:spcPts val="0"/>
                        </a:spcAft>
                        <a:buClr>
                          <a:srgbClr val="23293B"/>
                        </a:buClr>
                        <a:buSzPts val="1150"/>
                        <a:buFont typeface="Calibri"/>
                        <a:buNone/>
                      </a:pPr>
                      <a:r>
                        <a:rPr lang="en-US" sz="1150" u="none" cap="none" strike="noStrike">
                          <a:solidFill>
                            <a:srgbClr val="23293B"/>
                          </a:solidFill>
                          <a:latin typeface="Calibri"/>
                          <a:ea typeface="Calibri"/>
                          <a:cs typeface="Calibri"/>
                          <a:sym typeface="Calibri"/>
                        </a:rPr>
                        <a:t>Guided lab</a:t>
                      </a:r>
                      <a:endParaRPr sz="1150" u="none" cap="none" strike="noStrike">
                        <a:latin typeface="Calibri"/>
                        <a:ea typeface="Calibri"/>
                        <a:cs typeface="Calibri"/>
                        <a:sym typeface="Calibri"/>
                      </a:endParaRPr>
                    </a:p>
                  </a:txBody>
                  <a:tcPr marT="64000" marB="64000" marR="64000" marL="64000" anchor="ctr">
                    <a:lnL cap="flat" cmpd="sng" w="9525">
                      <a:solidFill>
                        <a:srgbClr val="D9E2EA"/>
                      </a:solidFill>
                      <a:prstDash val="solid"/>
                      <a:round/>
                      <a:headEnd len="sm" w="sm" type="none"/>
                      <a:tailEnd len="sm" w="sm" type="none"/>
                    </a:lnL>
                    <a:lnR cap="flat" cmpd="sng" w="9525">
                      <a:solidFill>
                        <a:srgbClr val="D9E2EA"/>
                      </a:solidFill>
                      <a:prstDash val="solid"/>
                      <a:round/>
                      <a:headEnd len="sm" w="sm" type="none"/>
                      <a:tailEnd len="sm" w="sm" type="none"/>
                    </a:lnR>
                    <a:lnT cap="flat" cmpd="sng" w="9525">
                      <a:solidFill>
                        <a:srgbClr val="D9E2EA"/>
                      </a:solidFill>
                      <a:prstDash val="solid"/>
                      <a:round/>
                      <a:headEnd len="sm" w="sm" type="none"/>
                      <a:tailEnd len="sm" w="sm" type="none"/>
                    </a:lnT>
                    <a:lnB cap="flat" cmpd="sng" w="9525">
                      <a:solidFill>
                        <a:srgbClr val="D9E2EA"/>
                      </a:solidFill>
                      <a:prstDash val="solid"/>
                      <a:round/>
                      <a:headEnd len="sm" w="sm" type="none"/>
                      <a:tailEnd len="sm" w="sm" type="none"/>
                    </a:lnB>
                    <a:solidFill>
                      <a:srgbClr val="F2F6F9"/>
                    </a:solidFill>
                  </a:tcPr>
                </a:tc>
                <a:tc>
                  <a:txBody>
                    <a:bodyPr/>
                    <a:lstStyle/>
                    <a:p>
                      <a:pPr indent="0" lvl="0" marL="0" marR="0" rtl="0" algn="l">
                        <a:spcBef>
                          <a:spcPts val="0"/>
                        </a:spcBef>
                        <a:spcAft>
                          <a:spcPts val="0"/>
                        </a:spcAft>
                        <a:buClr>
                          <a:srgbClr val="23293B"/>
                        </a:buClr>
                        <a:buSzPts val="1150"/>
                        <a:buFont typeface="Calibri"/>
                        <a:buNone/>
                      </a:pPr>
                      <a:r>
                        <a:rPr lang="en-US" sz="1150" u="none" cap="none" strike="noStrike">
                          <a:solidFill>
                            <a:srgbClr val="23293B"/>
                          </a:solidFill>
                          <a:latin typeface="Calibri"/>
                          <a:ea typeface="Calibri"/>
                          <a:cs typeface="Calibri"/>
                          <a:sym typeface="Calibri"/>
                        </a:rPr>
                        <a:t>10/90</a:t>
                      </a:r>
                      <a:endParaRPr sz="1150" u="none" cap="none" strike="noStrike">
                        <a:latin typeface="Calibri"/>
                        <a:ea typeface="Calibri"/>
                        <a:cs typeface="Calibri"/>
                        <a:sym typeface="Calibri"/>
                      </a:endParaRPr>
                    </a:p>
                  </a:txBody>
                  <a:tcPr marT="64000" marB="64000" marR="64000" marL="64000" anchor="ctr">
                    <a:lnL cap="flat" cmpd="sng" w="9525">
                      <a:solidFill>
                        <a:srgbClr val="D9E2EA"/>
                      </a:solidFill>
                      <a:prstDash val="solid"/>
                      <a:round/>
                      <a:headEnd len="sm" w="sm" type="none"/>
                      <a:tailEnd len="sm" w="sm" type="none"/>
                    </a:lnL>
                    <a:lnR cap="flat" cmpd="sng" w="9525">
                      <a:solidFill>
                        <a:srgbClr val="D9E2EA"/>
                      </a:solidFill>
                      <a:prstDash val="solid"/>
                      <a:round/>
                      <a:headEnd len="sm" w="sm" type="none"/>
                      <a:tailEnd len="sm" w="sm" type="none"/>
                    </a:lnR>
                    <a:lnT cap="flat" cmpd="sng" w="9525">
                      <a:solidFill>
                        <a:srgbClr val="D9E2EA"/>
                      </a:solidFill>
                      <a:prstDash val="solid"/>
                      <a:round/>
                      <a:headEnd len="sm" w="sm" type="none"/>
                      <a:tailEnd len="sm" w="sm" type="none"/>
                    </a:lnT>
                    <a:lnB cap="flat" cmpd="sng" w="9525">
                      <a:solidFill>
                        <a:srgbClr val="D9E2EA"/>
                      </a:solidFill>
                      <a:prstDash val="solid"/>
                      <a:round/>
                      <a:headEnd len="sm" w="sm" type="none"/>
                      <a:tailEnd len="sm" w="sm" type="none"/>
                    </a:lnB>
                    <a:solidFill>
                      <a:srgbClr val="F2F6F9"/>
                    </a:solidFill>
                  </a:tcPr>
                </a:tc>
              </a:tr>
              <a:tr h="713225">
                <a:tc>
                  <a:txBody>
                    <a:bodyPr/>
                    <a:lstStyle/>
                    <a:p>
                      <a:pPr indent="0" lvl="0" marL="0" marR="0" rtl="0" algn="l">
                        <a:spcBef>
                          <a:spcPts val="0"/>
                        </a:spcBef>
                        <a:spcAft>
                          <a:spcPts val="0"/>
                        </a:spcAft>
                        <a:buClr>
                          <a:srgbClr val="1D2A5C"/>
                        </a:buClr>
                        <a:buSzPts val="1150"/>
                        <a:buFont typeface="Calibri"/>
                        <a:buNone/>
                      </a:pPr>
                      <a:r>
                        <a:rPr b="1" lang="en-US" sz="1150" u="none" cap="none" strike="noStrike">
                          <a:solidFill>
                            <a:srgbClr val="1D2A5C"/>
                          </a:solidFill>
                          <a:latin typeface="Calibri"/>
                          <a:ea typeface="Calibri"/>
                          <a:cs typeface="Calibri"/>
                          <a:sym typeface="Calibri"/>
                        </a:rPr>
                        <a:t>3</a:t>
                      </a:r>
                      <a:endParaRPr sz="1150" u="none" cap="none" strike="noStrike">
                        <a:latin typeface="Calibri"/>
                        <a:ea typeface="Calibri"/>
                        <a:cs typeface="Calibri"/>
                        <a:sym typeface="Calibri"/>
                      </a:endParaRPr>
                    </a:p>
                  </a:txBody>
                  <a:tcPr marT="64000" marB="64000" marR="64000" marL="64000" anchor="ctr">
                    <a:lnL cap="flat" cmpd="sng" w="9525">
                      <a:solidFill>
                        <a:srgbClr val="D9E2EA"/>
                      </a:solidFill>
                      <a:prstDash val="solid"/>
                      <a:round/>
                      <a:headEnd len="sm" w="sm" type="none"/>
                      <a:tailEnd len="sm" w="sm" type="none"/>
                    </a:lnL>
                    <a:lnR cap="flat" cmpd="sng" w="9525">
                      <a:solidFill>
                        <a:srgbClr val="D9E2EA"/>
                      </a:solidFill>
                      <a:prstDash val="solid"/>
                      <a:round/>
                      <a:headEnd len="sm" w="sm" type="none"/>
                      <a:tailEnd len="sm" w="sm" type="none"/>
                    </a:lnR>
                    <a:lnT cap="flat" cmpd="sng" w="9525">
                      <a:solidFill>
                        <a:srgbClr val="D9E2EA"/>
                      </a:solidFill>
                      <a:prstDash val="solid"/>
                      <a:round/>
                      <a:headEnd len="sm" w="sm" type="none"/>
                      <a:tailEnd len="sm" w="sm" type="none"/>
                    </a:lnT>
                    <a:lnB cap="flat" cmpd="sng" w="9525">
                      <a:solidFill>
                        <a:srgbClr val="D9E2EA"/>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23293B"/>
                        </a:buClr>
                        <a:buSzPts val="1150"/>
                        <a:buFont typeface="Calibri"/>
                        <a:buNone/>
                      </a:pPr>
                      <a:r>
                        <a:rPr lang="en-US" sz="1150" u="none" cap="none" strike="noStrike">
                          <a:solidFill>
                            <a:srgbClr val="23293B"/>
                          </a:solidFill>
                          <a:latin typeface="Calibri"/>
                          <a:ea typeface="Calibri"/>
                          <a:cs typeface="Calibri"/>
                          <a:sym typeface="Calibri"/>
                        </a:rPr>
                        <a:t>Model evaluation for vision tasks (M6)</a:t>
                      </a:r>
                      <a:endParaRPr sz="1150" u="none" cap="none" strike="noStrike">
                        <a:latin typeface="Calibri"/>
                        <a:ea typeface="Calibri"/>
                        <a:cs typeface="Calibri"/>
                        <a:sym typeface="Calibri"/>
                      </a:endParaRPr>
                    </a:p>
                  </a:txBody>
                  <a:tcPr marT="64000" marB="64000" marR="64000" marL="64000" anchor="ctr">
                    <a:lnL cap="flat" cmpd="sng" w="9525">
                      <a:solidFill>
                        <a:srgbClr val="D9E2EA"/>
                      </a:solidFill>
                      <a:prstDash val="solid"/>
                      <a:round/>
                      <a:headEnd len="sm" w="sm" type="none"/>
                      <a:tailEnd len="sm" w="sm" type="none"/>
                    </a:lnL>
                    <a:lnR cap="flat" cmpd="sng" w="9525">
                      <a:solidFill>
                        <a:srgbClr val="D9E2EA"/>
                      </a:solidFill>
                      <a:prstDash val="solid"/>
                      <a:round/>
                      <a:headEnd len="sm" w="sm" type="none"/>
                      <a:tailEnd len="sm" w="sm" type="none"/>
                    </a:lnR>
                    <a:lnT cap="flat" cmpd="sng" w="9525">
                      <a:solidFill>
                        <a:srgbClr val="D9E2EA"/>
                      </a:solidFill>
                      <a:prstDash val="solid"/>
                      <a:round/>
                      <a:headEnd len="sm" w="sm" type="none"/>
                      <a:tailEnd len="sm" w="sm" type="none"/>
                    </a:lnT>
                    <a:lnB cap="flat" cmpd="sng" w="9525">
                      <a:solidFill>
                        <a:srgbClr val="D9E2EA"/>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23293B"/>
                        </a:buClr>
                        <a:buSzPts val="1150"/>
                        <a:buFont typeface="Calibri"/>
                        <a:buNone/>
                      </a:pPr>
                      <a:r>
                        <a:rPr lang="en-US" sz="1150" u="none" cap="none" strike="noStrike">
                          <a:solidFill>
                            <a:srgbClr val="23293B"/>
                          </a:solidFill>
                          <a:latin typeface="Calibri"/>
                          <a:ea typeface="Calibri"/>
                          <a:cs typeface="Calibri"/>
                          <a:sym typeface="Calibri"/>
                        </a:rPr>
                        <a:t>Lecture + metric derivation on whiteboard</a:t>
                      </a:r>
                      <a:endParaRPr sz="1150" u="none" cap="none" strike="noStrike">
                        <a:latin typeface="Calibri"/>
                        <a:ea typeface="Calibri"/>
                        <a:cs typeface="Calibri"/>
                        <a:sym typeface="Calibri"/>
                      </a:endParaRPr>
                    </a:p>
                  </a:txBody>
                  <a:tcPr marT="64000" marB="64000" marR="64000" marL="64000" anchor="ctr">
                    <a:lnL cap="flat" cmpd="sng" w="9525">
                      <a:solidFill>
                        <a:srgbClr val="D9E2EA"/>
                      </a:solidFill>
                      <a:prstDash val="solid"/>
                      <a:round/>
                      <a:headEnd len="sm" w="sm" type="none"/>
                      <a:tailEnd len="sm" w="sm" type="none"/>
                    </a:lnL>
                    <a:lnR cap="flat" cmpd="sng" w="9525">
                      <a:solidFill>
                        <a:srgbClr val="D9E2EA"/>
                      </a:solidFill>
                      <a:prstDash val="solid"/>
                      <a:round/>
                      <a:headEnd len="sm" w="sm" type="none"/>
                      <a:tailEnd len="sm" w="sm" type="none"/>
                    </a:lnR>
                    <a:lnT cap="flat" cmpd="sng" w="9525">
                      <a:solidFill>
                        <a:srgbClr val="D9E2EA"/>
                      </a:solidFill>
                      <a:prstDash val="solid"/>
                      <a:round/>
                      <a:headEnd len="sm" w="sm" type="none"/>
                      <a:tailEnd len="sm" w="sm" type="none"/>
                    </a:lnT>
                    <a:lnB cap="flat" cmpd="sng" w="9525">
                      <a:solidFill>
                        <a:srgbClr val="D9E2EA"/>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23293B"/>
                        </a:buClr>
                        <a:buSzPts val="1150"/>
                        <a:buFont typeface="Calibri"/>
                        <a:buNone/>
                      </a:pPr>
                      <a:r>
                        <a:rPr lang="en-US" sz="1150" u="none" cap="none" strike="noStrike">
                          <a:solidFill>
                            <a:srgbClr val="23293B"/>
                          </a:solidFill>
                          <a:latin typeface="Calibri"/>
                          <a:ea typeface="Calibri"/>
                          <a:cs typeface="Calibri"/>
                          <a:sym typeface="Calibri"/>
                        </a:rPr>
                        <a:t>70/30</a:t>
                      </a:r>
                      <a:endParaRPr sz="1150" u="none" cap="none" strike="noStrike">
                        <a:latin typeface="Calibri"/>
                        <a:ea typeface="Calibri"/>
                        <a:cs typeface="Calibri"/>
                        <a:sym typeface="Calibri"/>
                      </a:endParaRPr>
                    </a:p>
                  </a:txBody>
                  <a:tcPr marT="64000" marB="64000" marR="64000" marL="64000" anchor="ctr">
                    <a:lnL cap="flat" cmpd="sng" w="9525">
                      <a:solidFill>
                        <a:srgbClr val="D9E2EA"/>
                      </a:solidFill>
                      <a:prstDash val="solid"/>
                      <a:round/>
                      <a:headEnd len="sm" w="sm" type="none"/>
                      <a:tailEnd len="sm" w="sm" type="none"/>
                    </a:lnL>
                    <a:lnR cap="flat" cmpd="sng" w="9525">
                      <a:solidFill>
                        <a:srgbClr val="D9E2EA"/>
                      </a:solidFill>
                      <a:prstDash val="solid"/>
                      <a:round/>
                      <a:headEnd len="sm" w="sm" type="none"/>
                      <a:tailEnd len="sm" w="sm" type="none"/>
                    </a:lnR>
                    <a:lnT cap="flat" cmpd="sng" w="9525">
                      <a:solidFill>
                        <a:srgbClr val="D9E2EA"/>
                      </a:solidFill>
                      <a:prstDash val="solid"/>
                      <a:round/>
                      <a:headEnd len="sm" w="sm" type="none"/>
                      <a:tailEnd len="sm" w="sm" type="none"/>
                    </a:lnT>
                    <a:lnB cap="flat" cmpd="sng" w="9525">
                      <a:solidFill>
                        <a:srgbClr val="D9E2EA"/>
                      </a:solidFill>
                      <a:prstDash val="solid"/>
                      <a:round/>
                      <a:headEnd len="sm" w="sm" type="none"/>
                      <a:tailEnd len="sm" w="sm" type="none"/>
                    </a:lnB>
                    <a:solidFill>
                      <a:srgbClr val="FFFFFF"/>
                    </a:solidFill>
                  </a:tcPr>
                </a:tc>
              </a:tr>
              <a:tr h="713225">
                <a:tc>
                  <a:txBody>
                    <a:bodyPr/>
                    <a:lstStyle/>
                    <a:p>
                      <a:pPr indent="0" lvl="0" marL="0" marR="0" rtl="0" algn="l">
                        <a:spcBef>
                          <a:spcPts val="0"/>
                        </a:spcBef>
                        <a:spcAft>
                          <a:spcPts val="0"/>
                        </a:spcAft>
                        <a:buClr>
                          <a:srgbClr val="1D2A5C"/>
                        </a:buClr>
                        <a:buSzPts val="1150"/>
                        <a:buFont typeface="Calibri"/>
                        <a:buNone/>
                      </a:pPr>
                      <a:r>
                        <a:rPr b="1" lang="en-US" sz="1150" u="none" cap="none" strike="noStrike">
                          <a:solidFill>
                            <a:srgbClr val="1D2A5C"/>
                          </a:solidFill>
                          <a:latin typeface="Calibri"/>
                          <a:ea typeface="Calibri"/>
                          <a:cs typeface="Calibri"/>
                          <a:sym typeface="Calibri"/>
                        </a:rPr>
                        <a:t>4</a:t>
                      </a:r>
                      <a:endParaRPr sz="1150" u="none" cap="none" strike="noStrike">
                        <a:latin typeface="Calibri"/>
                        <a:ea typeface="Calibri"/>
                        <a:cs typeface="Calibri"/>
                        <a:sym typeface="Calibri"/>
                      </a:endParaRPr>
                    </a:p>
                  </a:txBody>
                  <a:tcPr marT="64000" marB="64000" marR="64000" marL="64000" anchor="ctr">
                    <a:lnL cap="flat" cmpd="sng" w="9525">
                      <a:solidFill>
                        <a:srgbClr val="D9E2EA"/>
                      </a:solidFill>
                      <a:prstDash val="solid"/>
                      <a:round/>
                      <a:headEnd len="sm" w="sm" type="none"/>
                      <a:tailEnd len="sm" w="sm" type="none"/>
                    </a:lnL>
                    <a:lnR cap="flat" cmpd="sng" w="9525">
                      <a:solidFill>
                        <a:srgbClr val="D9E2EA"/>
                      </a:solidFill>
                      <a:prstDash val="solid"/>
                      <a:round/>
                      <a:headEnd len="sm" w="sm" type="none"/>
                      <a:tailEnd len="sm" w="sm" type="none"/>
                    </a:lnR>
                    <a:lnT cap="flat" cmpd="sng" w="9525">
                      <a:solidFill>
                        <a:srgbClr val="D9E2EA"/>
                      </a:solidFill>
                      <a:prstDash val="solid"/>
                      <a:round/>
                      <a:headEnd len="sm" w="sm" type="none"/>
                      <a:tailEnd len="sm" w="sm" type="none"/>
                    </a:lnT>
                    <a:lnB cap="flat" cmpd="sng" w="9525">
                      <a:solidFill>
                        <a:srgbClr val="D9E2EA"/>
                      </a:solidFill>
                      <a:prstDash val="solid"/>
                      <a:round/>
                      <a:headEnd len="sm" w="sm" type="none"/>
                      <a:tailEnd len="sm" w="sm" type="none"/>
                    </a:lnB>
                    <a:solidFill>
                      <a:srgbClr val="F2F6F9"/>
                    </a:solidFill>
                  </a:tcPr>
                </a:tc>
                <a:tc>
                  <a:txBody>
                    <a:bodyPr/>
                    <a:lstStyle/>
                    <a:p>
                      <a:pPr indent="0" lvl="0" marL="0" marR="0" rtl="0" algn="l">
                        <a:spcBef>
                          <a:spcPts val="0"/>
                        </a:spcBef>
                        <a:spcAft>
                          <a:spcPts val="0"/>
                        </a:spcAft>
                        <a:buClr>
                          <a:srgbClr val="23293B"/>
                        </a:buClr>
                        <a:buSzPts val="1150"/>
                        <a:buFont typeface="Calibri"/>
                        <a:buNone/>
                      </a:pPr>
                      <a:r>
                        <a:rPr lang="en-US" sz="1150" u="none" cap="none" strike="noStrike">
                          <a:solidFill>
                            <a:srgbClr val="23293B"/>
                          </a:solidFill>
                          <a:latin typeface="Calibri"/>
                          <a:ea typeface="Calibri"/>
                          <a:cs typeface="Calibri"/>
                          <a:sym typeface="Calibri"/>
                        </a:rPr>
                        <a:t>Lab 6 — build the evaluation harness</a:t>
                      </a:r>
                      <a:endParaRPr sz="1150" u="none" cap="none" strike="noStrike">
                        <a:latin typeface="Calibri"/>
                        <a:ea typeface="Calibri"/>
                        <a:cs typeface="Calibri"/>
                        <a:sym typeface="Calibri"/>
                      </a:endParaRPr>
                    </a:p>
                  </a:txBody>
                  <a:tcPr marT="64000" marB="64000" marR="64000" marL="64000" anchor="ctr">
                    <a:lnL cap="flat" cmpd="sng" w="9525">
                      <a:solidFill>
                        <a:srgbClr val="D9E2EA"/>
                      </a:solidFill>
                      <a:prstDash val="solid"/>
                      <a:round/>
                      <a:headEnd len="sm" w="sm" type="none"/>
                      <a:tailEnd len="sm" w="sm" type="none"/>
                    </a:lnL>
                    <a:lnR cap="flat" cmpd="sng" w="9525">
                      <a:solidFill>
                        <a:srgbClr val="D9E2EA"/>
                      </a:solidFill>
                      <a:prstDash val="solid"/>
                      <a:round/>
                      <a:headEnd len="sm" w="sm" type="none"/>
                      <a:tailEnd len="sm" w="sm" type="none"/>
                    </a:lnR>
                    <a:lnT cap="flat" cmpd="sng" w="9525">
                      <a:solidFill>
                        <a:srgbClr val="D9E2EA"/>
                      </a:solidFill>
                      <a:prstDash val="solid"/>
                      <a:round/>
                      <a:headEnd len="sm" w="sm" type="none"/>
                      <a:tailEnd len="sm" w="sm" type="none"/>
                    </a:lnT>
                    <a:lnB cap="flat" cmpd="sng" w="9525">
                      <a:solidFill>
                        <a:srgbClr val="D9E2EA"/>
                      </a:solidFill>
                      <a:prstDash val="solid"/>
                      <a:round/>
                      <a:headEnd len="sm" w="sm" type="none"/>
                      <a:tailEnd len="sm" w="sm" type="none"/>
                    </a:lnB>
                    <a:solidFill>
                      <a:srgbClr val="F2F6F9"/>
                    </a:solidFill>
                  </a:tcPr>
                </a:tc>
                <a:tc>
                  <a:txBody>
                    <a:bodyPr/>
                    <a:lstStyle/>
                    <a:p>
                      <a:pPr indent="0" lvl="0" marL="0" marR="0" rtl="0" algn="l">
                        <a:spcBef>
                          <a:spcPts val="0"/>
                        </a:spcBef>
                        <a:spcAft>
                          <a:spcPts val="0"/>
                        </a:spcAft>
                        <a:buClr>
                          <a:srgbClr val="23293B"/>
                        </a:buClr>
                        <a:buSzPts val="1150"/>
                        <a:buFont typeface="Calibri"/>
                        <a:buNone/>
                      </a:pPr>
                      <a:r>
                        <a:rPr lang="en-US" sz="1150" u="none" cap="none" strike="noStrike">
                          <a:solidFill>
                            <a:srgbClr val="23293B"/>
                          </a:solidFill>
                          <a:latin typeface="Calibri"/>
                          <a:ea typeface="Calibri"/>
                          <a:cs typeface="Calibri"/>
                          <a:sym typeface="Calibri"/>
                        </a:rPr>
                        <a:t>Guided lab</a:t>
                      </a:r>
                      <a:endParaRPr sz="1150" u="none" cap="none" strike="noStrike">
                        <a:latin typeface="Calibri"/>
                        <a:ea typeface="Calibri"/>
                        <a:cs typeface="Calibri"/>
                        <a:sym typeface="Calibri"/>
                      </a:endParaRPr>
                    </a:p>
                  </a:txBody>
                  <a:tcPr marT="64000" marB="64000" marR="64000" marL="64000" anchor="ctr">
                    <a:lnL cap="flat" cmpd="sng" w="9525">
                      <a:solidFill>
                        <a:srgbClr val="D9E2EA"/>
                      </a:solidFill>
                      <a:prstDash val="solid"/>
                      <a:round/>
                      <a:headEnd len="sm" w="sm" type="none"/>
                      <a:tailEnd len="sm" w="sm" type="none"/>
                    </a:lnL>
                    <a:lnR cap="flat" cmpd="sng" w="9525">
                      <a:solidFill>
                        <a:srgbClr val="D9E2EA"/>
                      </a:solidFill>
                      <a:prstDash val="solid"/>
                      <a:round/>
                      <a:headEnd len="sm" w="sm" type="none"/>
                      <a:tailEnd len="sm" w="sm" type="none"/>
                    </a:lnR>
                    <a:lnT cap="flat" cmpd="sng" w="9525">
                      <a:solidFill>
                        <a:srgbClr val="D9E2EA"/>
                      </a:solidFill>
                      <a:prstDash val="solid"/>
                      <a:round/>
                      <a:headEnd len="sm" w="sm" type="none"/>
                      <a:tailEnd len="sm" w="sm" type="none"/>
                    </a:lnT>
                    <a:lnB cap="flat" cmpd="sng" w="9525">
                      <a:solidFill>
                        <a:srgbClr val="D9E2EA"/>
                      </a:solidFill>
                      <a:prstDash val="solid"/>
                      <a:round/>
                      <a:headEnd len="sm" w="sm" type="none"/>
                      <a:tailEnd len="sm" w="sm" type="none"/>
                    </a:lnB>
                    <a:solidFill>
                      <a:srgbClr val="F2F6F9"/>
                    </a:solidFill>
                  </a:tcPr>
                </a:tc>
                <a:tc>
                  <a:txBody>
                    <a:bodyPr/>
                    <a:lstStyle/>
                    <a:p>
                      <a:pPr indent="0" lvl="0" marL="0" marR="0" rtl="0" algn="l">
                        <a:spcBef>
                          <a:spcPts val="0"/>
                        </a:spcBef>
                        <a:spcAft>
                          <a:spcPts val="0"/>
                        </a:spcAft>
                        <a:buClr>
                          <a:srgbClr val="23293B"/>
                        </a:buClr>
                        <a:buSzPts val="1150"/>
                        <a:buFont typeface="Calibri"/>
                        <a:buNone/>
                      </a:pPr>
                      <a:r>
                        <a:rPr lang="en-US" sz="1150" u="none" cap="none" strike="noStrike">
                          <a:solidFill>
                            <a:srgbClr val="23293B"/>
                          </a:solidFill>
                          <a:latin typeface="Calibri"/>
                          <a:ea typeface="Calibri"/>
                          <a:cs typeface="Calibri"/>
                          <a:sym typeface="Calibri"/>
                        </a:rPr>
                        <a:t>10/90</a:t>
                      </a:r>
                      <a:endParaRPr sz="1150" u="none" cap="none" strike="noStrike">
                        <a:latin typeface="Calibri"/>
                        <a:ea typeface="Calibri"/>
                        <a:cs typeface="Calibri"/>
                        <a:sym typeface="Calibri"/>
                      </a:endParaRPr>
                    </a:p>
                  </a:txBody>
                  <a:tcPr marT="64000" marB="64000" marR="64000" marL="64000" anchor="ctr">
                    <a:lnL cap="flat" cmpd="sng" w="9525">
                      <a:solidFill>
                        <a:srgbClr val="D9E2EA"/>
                      </a:solidFill>
                      <a:prstDash val="solid"/>
                      <a:round/>
                      <a:headEnd len="sm" w="sm" type="none"/>
                      <a:tailEnd len="sm" w="sm" type="none"/>
                    </a:lnL>
                    <a:lnR cap="flat" cmpd="sng" w="9525">
                      <a:solidFill>
                        <a:srgbClr val="D9E2EA"/>
                      </a:solidFill>
                      <a:prstDash val="solid"/>
                      <a:round/>
                      <a:headEnd len="sm" w="sm" type="none"/>
                      <a:tailEnd len="sm" w="sm" type="none"/>
                    </a:lnR>
                    <a:lnT cap="flat" cmpd="sng" w="9525">
                      <a:solidFill>
                        <a:srgbClr val="D9E2EA"/>
                      </a:solidFill>
                      <a:prstDash val="solid"/>
                      <a:round/>
                      <a:headEnd len="sm" w="sm" type="none"/>
                      <a:tailEnd len="sm" w="sm" type="none"/>
                    </a:lnT>
                    <a:lnB cap="flat" cmpd="sng" w="9525">
                      <a:solidFill>
                        <a:srgbClr val="D9E2EA"/>
                      </a:solidFill>
                      <a:prstDash val="solid"/>
                      <a:round/>
                      <a:headEnd len="sm" w="sm" type="none"/>
                      <a:tailEnd len="sm" w="sm" type="none"/>
                    </a:lnB>
                    <a:solidFill>
                      <a:srgbClr val="F2F6F9"/>
                    </a:solidFill>
                  </a:tcPr>
                </a:tc>
              </a:tr>
              <a:tr h="713225">
                <a:tc>
                  <a:txBody>
                    <a:bodyPr/>
                    <a:lstStyle/>
                    <a:p>
                      <a:pPr indent="0" lvl="0" marL="0" marR="0" rtl="0" algn="l">
                        <a:spcBef>
                          <a:spcPts val="0"/>
                        </a:spcBef>
                        <a:spcAft>
                          <a:spcPts val="0"/>
                        </a:spcAft>
                        <a:buClr>
                          <a:srgbClr val="1D2A5C"/>
                        </a:buClr>
                        <a:buSzPts val="1150"/>
                        <a:buFont typeface="Calibri"/>
                        <a:buNone/>
                      </a:pPr>
                      <a:r>
                        <a:rPr b="1" lang="en-US" sz="1150" u="none" cap="none" strike="noStrike">
                          <a:solidFill>
                            <a:srgbClr val="1D2A5C"/>
                          </a:solidFill>
                          <a:latin typeface="Calibri"/>
                          <a:ea typeface="Calibri"/>
                          <a:cs typeface="Calibri"/>
                          <a:sym typeface="Calibri"/>
                        </a:rPr>
                        <a:t>5</a:t>
                      </a:r>
                      <a:endParaRPr sz="1150" u="none" cap="none" strike="noStrike">
                        <a:latin typeface="Calibri"/>
                        <a:ea typeface="Calibri"/>
                        <a:cs typeface="Calibri"/>
                        <a:sym typeface="Calibri"/>
                      </a:endParaRPr>
                    </a:p>
                  </a:txBody>
                  <a:tcPr marT="64000" marB="64000" marR="64000" marL="64000" anchor="ctr">
                    <a:lnL cap="flat" cmpd="sng" w="9525">
                      <a:solidFill>
                        <a:srgbClr val="D9E2EA"/>
                      </a:solidFill>
                      <a:prstDash val="solid"/>
                      <a:round/>
                      <a:headEnd len="sm" w="sm" type="none"/>
                      <a:tailEnd len="sm" w="sm" type="none"/>
                    </a:lnL>
                    <a:lnR cap="flat" cmpd="sng" w="9525">
                      <a:solidFill>
                        <a:srgbClr val="D9E2EA"/>
                      </a:solidFill>
                      <a:prstDash val="solid"/>
                      <a:round/>
                      <a:headEnd len="sm" w="sm" type="none"/>
                      <a:tailEnd len="sm" w="sm" type="none"/>
                    </a:lnR>
                    <a:lnT cap="flat" cmpd="sng" w="9525">
                      <a:solidFill>
                        <a:srgbClr val="D9E2EA"/>
                      </a:solidFill>
                      <a:prstDash val="solid"/>
                      <a:round/>
                      <a:headEnd len="sm" w="sm" type="none"/>
                      <a:tailEnd len="sm" w="sm" type="none"/>
                    </a:lnT>
                    <a:lnB cap="flat" cmpd="sng" w="9525">
                      <a:solidFill>
                        <a:srgbClr val="D9E2EA"/>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23293B"/>
                        </a:buClr>
                        <a:buSzPts val="1150"/>
                        <a:buFont typeface="Calibri"/>
                        <a:buNone/>
                      </a:pPr>
                      <a:r>
                        <a:rPr lang="en-US" sz="1150" u="none" cap="none" strike="noStrike">
                          <a:solidFill>
                            <a:srgbClr val="23293B"/>
                          </a:solidFill>
                          <a:latin typeface="Calibri"/>
                          <a:ea typeface="Calibri"/>
                          <a:cs typeface="Calibri"/>
                          <a:sym typeface="Calibri"/>
                        </a:rPr>
                        <a:t>Retrain on v2 + capstone kickoff</a:t>
                      </a:r>
                      <a:endParaRPr sz="1150" u="none" cap="none" strike="noStrike">
                        <a:latin typeface="Calibri"/>
                        <a:ea typeface="Calibri"/>
                        <a:cs typeface="Calibri"/>
                        <a:sym typeface="Calibri"/>
                      </a:endParaRPr>
                    </a:p>
                  </a:txBody>
                  <a:tcPr marT="64000" marB="64000" marR="64000" marL="64000" anchor="ctr">
                    <a:lnL cap="flat" cmpd="sng" w="9525">
                      <a:solidFill>
                        <a:srgbClr val="D9E2EA"/>
                      </a:solidFill>
                      <a:prstDash val="solid"/>
                      <a:round/>
                      <a:headEnd len="sm" w="sm" type="none"/>
                      <a:tailEnd len="sm" w="sm" type="none"/>
                    </a:lnL>
                    <a:lnR cap="flat" cmpd="sng" w="9525">
                      <a:solidFill>
                        <a:srgbClr val="D9E2EA"/>
                      </a:solidFill>
                      <a:prstDash val="solid"/>
                      <a:round/>
                      <a:headEnd len="sm" w="sm" type="none"/>
                      <a:tailEnd len="sm" w="sm" type="none"/>
                    </a:lnR>
                    <a:lnT cap="flat" cmpd="sng" w="9525">
                      <a:solidFill>
                        <a:srgbClr val="D9E2EA"/>
                      </a:solidFill>
                      <a:prstDash val="solid"/>
                      <a:round/>
                      <a:headEnd len="sm" w="sm" type="none"/>
                      <a:tailEnd len="sm" w="sm" type="none"/>
                    </a:lnT>
                    <a:lnB cap="flat" cmpd="sng" w="9525">
                      <a:solidFill>
                        <a:srgbClr val="D9E2EA"/>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23293B"/>
                        </a:buClr>
                        <a:buSzPts val="1150"/>
                        <a:buFont typeface="Calibri"/>
                        <a:buNone/>
                      </a:pPr>
                      <a:r>
                        <a:rPr lang="en-US" sz="1150" u="none" cap="none" strike="noStrike">
                          <a:solidFill>
                            <a:srgbClr val="23293B"/>
                          </a:solidFill>
                          <a:latin typeface="Calibri"/>
                          <a:ea typeface="Calibri"/>
                          <a:cs typeface="Calibri"/>
                          <a:sym typeface="Calibri"/>
                        </a:rPr>
                        <a:t>Lab + briefing</a:t>
                      </a:r>
                      <a:endParaRPr sz="1150" u="none" cap="none" strike="noStrike">
                        <a:latin typeface="Calibri"/>
                        <a:ea typeface="Calibri"/>
                        <a:cs typeface="Calibri"/>
                        <a:sym typeface="Calibri"/>
                      </a:endParaRPr>
                    </a:p>
                  </a:txBody>
                  <a:tcPr marT="64000" marB="64000" marR="64000" marL="64000" anchor="ctr">
                    <a:lnL cap="flat" cmpd="sng" w="9525">
                      <a:solidFill>
                        <a:srgbClr val="D9E2EA"/>
                      </a:solidFill>
                      <a:prstDash val="solid"/>
                      <a:round/>
                      <a:headEnd len="sm" w="sm" type="none"/>
                      <a:tailEnd len="sm" w="sm" type="none"/>
                    </a:lnL>
                    <a:lnR cap="flat" cmpd="sng" w="9525">
                      <a:solidFill>
                        <a:srgbClr val="D9E2EA"/>
                      </a:solidFill>
                      <a:prstDash val="solid"/>
                      <a:round/>
                      <a:headEnd len="sm" w="sm" type="none"/>
                      <a:tailEnd len="sm" w="sm" type="none"/>
                    </a:lnR>
                    <a:lnT cap="flat" cmpd="sng" w="9525">
                      <a:solidFill>
                        <a:srgbClr val="D9E2EA"/>
                      </a:solidFill>
                      <a:prstDash val="solid"/>
                      <a:round/>
                      <a:headEnd len="sm" w="sm" type="none"/>
                      <a:tailEnd len="sm" w="sm" type="none"/>
                    </a:lnT>
                    <a:lnB cap="flat" cmpd="sng" w="9525">
                      <a:solidFill>
                        <a:srgbClr val="D9E2EA"/>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23293B"/>
                        </a:buClr>
                        <a:buSzPts val="1150"/>
                        <a:buFont typeface="Calibri"/>
                        <a:buNone/>
                      </a:pPr>
                      <a:r>
                        <a:rPr lang="en-US" sz="1150" u="none" cap="none" strike="noStrike">
                          <a:solidFill>
                            <a:srgbClr val="23293B"/>
                          </a:solidFill>
                          <a:latin typeface="Calibri"/>
                          <a:ea typeface="Calibri"/>
                          <a:cs typeface="Calibri"/>
                          <a:sym typeface="Calibri"/>
                        </a:rPr>
                        <a:t>20/80</a:t>
                      </a:r>
                      <a:endParaRPr sz="1150" u="none" cap="none" strike="noStrike">
                        <a:latin typeface="Calibri"/>
                        <a:ea typeface="Calibri"/>
                        <a:cs typeface="Calibri"/>
                        <a:sym typeface="Calibri"/>
                      </a:endParaRPr>
                    </a:p>
                  </a:txBody>
                  <a:tcPr marT="64000" marB="64000" marR="64000" marL="64000" anchor="ctr">
                    <a:lnL cap="flat" cmpd="sng" w="9525">
                      <a:solidFill>
                        <a:srgbClr val="D9E2EA"/>
                      </a:solidFill>
                      <a:prstDash val="solid"/>
                      <a:round/>
                      <a:headEnd len="sm" w="sm" type="none"/>
                      <a:tailEnd len="sm" w="sm" type="none"/>
                    </a:lnL>
                    <a:lnR cap="flat" cmpd="sng" w="9525">
                      <a:solidFill>
                        <a:srgbClr val="D9E2EA"/>
                      </a:solidFill>
                      <a:prstDash val="solid"/>
                      <a:round/>
                      <a:headEnd len="sm" w="sm" type="none"/>
                      <a:tailEnd len="sm" w="sm" type="none"/>
                    </a:lnR>
                    <a:lnT cap="flat" cmpd="sng" w="9525">
                      <a:solidFill>
                        <a:srgbClr val="D9E2EA"/>
                      </a:solidFill>
                      <a:prstDash val="solid"/>
                      <a:round/>
                      <a:headEnd len="sm" w="sm" type="none"/>
                      <a:tailEnd len="sm" w="sm" type="none"/>
                    </a:lnT>
                    <a:lnB cap="flat" cmpd="sng" w="9525">
                      <a:solidFill>
                        <a:srgbClr val="D9E2EA"/>
                      </a:solidFill>
                      <a:prstDash val="solid"/>
                      <a:round/>
                      <a:headEnd len="sm" w="sm" type="none"/>
                      <a:tailEnd len="sm" w="sm" type="none"/>
                    </a:lnB>
                    <a:solidFill>
                      <a:srgbClr val="FFFFFF"/>
                    </a:solidFill>
                  </a:tcPr>
                </a:tc>
              </a:tr>
            </a:tbl>
          </a:graphicData>
        </a:graphic>
      </p:graphicFrame>
    </p:spTree>
  </p:cSld>
  <p:clrMapOvr>
    <a:masterClrMapping/>
  </p:clrMapOvr>
</p:sld>
</file>

<file path=ppt/slides/slide8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41F49"/>
        </a:solidFill>
      </p:bgPr>
    </p:bg>
    <p:spTree>
      <p:nvGrpSpPr>
        <p:cNvPr id="2438" name="Shape 2438"/>
        <p:cNvGrpSpPr/>
        <p:nvPr/>
      </p:nvGrpSpPr>
      <p:grpSpPr>
        <a:xfrm>
          <a:off x="0" y="0"/>
          <a:ext cx="0" cy="0"/>
          <a:chOff x="0" y="0"/>
          <a:chExt cx="0" cy="0"/>
        </a:xfrm>
      </p:grpSpPr>
      <p:sp>
        <p:nvSpPr>
          <p:cNvPr id="2439" name="Google Shape;2439;p88"/>
          <p:cNvSpPr/>
          <p:nvPr/>
        </p:nvSpPr>
        <p:spPr>
          <a:xfrm>
            <a:off x="9418320" y="6149340"/>
            <a:ext cx="411480" cy="356616"/>
          </a:xfrm>
          <a:prstGeom prst="triangle">
            <a:avLst>
              <a:gd fmla="val 50000" name="adj"/>
            </a:avLst>
          </a:prstGeom>
          <a:solidFill>
            <a:srgbClr val="00A79D">
              <a:alpha val="18039"/>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40" name="Google Shape;2440;p88"/>
          <p:cNvSpPr/>
          <p:nvPr/>
        </p:nvSpPr>
        <p:spPr>
          <a:xfrm rot="10800000">
            <a:off x="9857232" y="5806440"/>
            <a:ext cx="411480" cy="356616"/>
          </a:xfrm>
          <a:prstGeom prst="triangle">
            <a:avLst>
              <a:gd fmla="val 50000" name="adj"/>
            </a:avLst>
          </a:prstGeom>
          <a:solidFill>
            <a:srgbClr val="29ABE2">
              <a:alpha val="18039"/>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41" name="Google Shape;2441;p88"/>
          <p:cNvSpPr/>
          <p:nvPr/>
        </p:nvSpPr>
        <p:spPr>
          <a:xfrm rot="10800000">
            <a:off x="9857232" y="6492240"/>
            <a:ext cx="411480" cy="356616"/>
          </a:xfrm>
          <a:prstGeom prst="triangle">
            <a:avLst>
              <a:gd fmla="val 50000" name="adj"/>
            </a:avLst>
          </a:prstGeom>
          <a:solidFill>
            <a:srgbClr val="F58220">
              <a:alpha val="18039"/>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42" name="Google Shape;2442;p88"/>
          <p:cNvSpPr/>
          <p:nvPr/>
        </p:nvSpPr>
        <p:spPr>
          <a:xfrm>
            <a:off x="10296144" y="6149340"/>
            <a:ext cx="411480" cy="356616"/>
          </a:xfrm>
          <a:prstGeom prst="triangle">
            <a:avLst>
              <a:gd fmla="val 50000" name="adj"/>
            </a:avLst>
          </a:prstGeom>
          <a:solidFill>
            <a:srgbClr val="8DC63F">
              <a:alpha val="18039"/>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43" name="Google Shape;2443;p88"/>
          <p:cNvSpPr/>
          <p:nvPr/>
        </p:nvSpPr>
        <p:spPr>
          <a:xfrm>
            <a:off x="10296144" y="5463540"/>
            <a:ext cx="411480" cy="356616"/>
          </a:xfrm>
          <a:prstGeom prst="triangle">
            <a:avLst>
              <a:gd fmla="val 50000" name="adj"/>
            </a:avLst>
          </a:prstGeom>
          <a:solidFill>
            <a:srgbClr val="1D2A5C">
              <a:alpha val="18039"/>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44" name="Google Shape;2444;p88"/>
          <p:cNvSpPr/>
          <p:nvPr/>
        </p:nvSpPr>
        <p:spPr>
          <a:xfrm rot="10800000">
            <a:off x="10735056" y="5806440"/>
            <a:ext cx="411480" cy="356616"/>
          </a:xfrm>
          <a:prstGeom prst="triangle">
            <a:avLst>
              <a:gd fmla="val 50000" name="adj"/>
            </a:avLst>
          </a:prstGeom>
          <a:solidFill>
            <a:srgbClr val="29ABE2">
              <a:alpha val="18039"/>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45" name="Google Shape;2445;p88"/>
          <p:cNvSpPr/>
          <p:nvPr/>
        </p:nvSpPr>
        <p:spPr>
          <a:xfrm>
            <a:off x="10735056" y="6492240"/>
            <a:ext cx="411480" cy="356616"/>
          </a:xfrm>
          <a:prstGeom prst="triangle">
            <a:avLst>
              <a:gd fmla="val 50000" name="adj"/>
            </a:avLst>
          </a:prstGeom>
          <a:solidFill>
            <a:srgbClr val="00A79D">
              <a:alpha val="18039"/>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46" name="Google Shape;2446;p88"/>
          <p:cNvSpPr/>
          <p:nvPr/>
        </p:nvSpPr>
        <p:spPr>
          <a:xfrm rot="10800000">
            <a:off x="11173968" y="6149340"/>
            <a:ext cx="411480" cy="356616"/>
          </a:xfrm>
          <a:prstGeom prst="triangle">
            <a:avLst>
              <a:gd fmla="val 50000" name="adj"/>
            </a:avLst>
          </a:prstGeom>
          <a:solidFill>
            <a:srgbClr val="F58220">
              <a:alpha val="18039"/>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47" name="Google Shape;2447;p88"/>
          <p:cNvSpPr/>
          <p:nvPr/>
        </p:nvSpPr>
        <p:spPr>
          <a:xfrm>
            <a:off x="365760" y="747522"/>
            <a:ext cx="233172" cy="202082"/>
          </a:xfrm>
          <a:prstGeom prst="triangle">
            <a:avLst>
              <a:gd fmla="val 50000" name="adj"/>
            </a:avLst>
          </a:prstGeom>
          <a:solidFill>
            <a:srgbClr val="00A79D">
              <a:alpha val="18039"/>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48" name="Google Shape;2448;p88"/>
          <p:cNvSpPr/>
          <p:nvPr/>
        </p:nvSpPr>
        <p:spPr>
          <a:xfrm rot="10800000">
            <a:off x="614477" y="553212"/>
            <a:ext cx="233172" cy="202082"/>
          </a:xfrm>
          <a:prstGeom prst="triangle">
            <a:avLst>
              <a:gd fmla="val 50000" name="adj"/>
            </a:avLst>
          </a:prstGeom>
          <a:solidFill>
            <a:srgbClr val="29ABE2">
              <a:alpha val="18039"/>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49" name="Google Shape;2449;p88"/>
          <p:cNvSpPr/>
          <p:nvPr/>
        </p:nvSpPr>
        <p:spPr>
          <a:xfrm rot="10800000">
            <a:off x="614477" y="941832"/>
            <a:ext cx="233172" cy="202082"/>
          </a:xfrm>
          <a:prstGeom prst="triangle">
            <a:avLst>
              <a:gd fmla="val 50000" name="adj"/>
            </a:avLst>
          </a:prstGeom>
          <a:solidFill>
            <a:srgbClr val="F58220">
              <a:alpha val="18039"/>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50" name="Google Shape;2450;p88"/>
          <p:cNvSpPr/>
          <p:nvPr/>
        </p:nvSpPr>
        <p:spPr>
          <a:xfrm>
            <a:off x="863194" y="747522"/>
            <a:ext cx="233172" cy="202082"/>
          </a:xfrm>
          <a:prstGeom prst="triangle">
            <a:avLst>
              <a:gd fmla="val 50000" name="adj"/>
            </a:avLst>
          </a:prstGeom>
          <a:solidFill>
            <a:srgbClr val="8DC63F">
              <a:alpha val="18039"/>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51" name="Google Shape;2451;p88"/>
          <p:cNvSpPr/>
          <p:nvPr/>
        </p:nvSpPr>
        <p:spPr>
          <a:xfrm>
            <a:off x="863194" y="358902"/>
            <a:ext cx="233172" cy="202082"/>
          </a:xfrm>
          <a:prstGeom prst="triangle">
            <a:avLst>
              <a:gd fmla="val 50000" name="adj"/>
            </a:avLst>
          </a:prstGeom>
          <a:solidFill>
            <a:srgbClr val="1D2A5C">
              <a:alpha val="18039"/>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52" name="Google Shape;2452;p88"/>
          <p:cNvSpPr/>
          <p:nvPr/>
        </p:nvSpPr>
        <p:spPr>
          <a:xfrm rot="10800000">
            <a:off x="1111910" y="553212"/>
            <a:ext cx="233172" cy="202082"/>
          </a:xfrm>
          <a:prstGeom prst="triangle">
            <a:avLst>
              <a:gd fmla="val 50000" name="adj"/>
            </a:avLst>
          </a:prstGeom>
          <a:solidFill>
            <a:srgbClr val="29ABE2">
              <a:alpha val="18039"/>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53" name="Google Shape;2453;p88"/>
          <p:cNvSpPr/>
          <p:nvPr/>
        </p:nvSpPr>
        <p:spPr>
          <a:xfrm>
            <a:off x="1111910" y="941832"/>
            <a:ext cx="233172" cy="202082"/>
          </a:xfrm>
          <a:prstGeom prst="triangle">
            <a:avLst>
              <a:gd fmla="val 50000" name="adj"/>
            </a:avLst>
          </a:prstGeom>
          <a:solidFill>
            <a:srgbClr val="00A79D">
              <a:alpha val="18039"/>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54" name="Google Shape;2454;p88"/>
          <p:cNvSpPr/>
          <p:nvPr/>
        </p:nvSpPr>
        <p:spPr>
          <a:xfrm rot="10800000">
            <a:off x="1360627" y="747522"/>
            <a:ext cx="233172" cy="202082"/>
          </a:xfrm>
          <a:prstGeom prst="triangle">
            <a:avLst>
              <a:gd fmla="val 50000" name="adj"/>
            </a:avLst>
          </a:prstGeom>
          <a:solidFill>
            <a:srgbClr val="F58220">
              <a:alpha val="18039"/>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55" name="Google Shape;2455;p88"/>
          <p:cNvSpPr/>
          <p:nvPr/>
        </p:nvSpPr>
        <p:spPr>
          <a:xfrm>
            <a:off x="10332720" y="347472"/>
            <a:ext cx="1481328" cy="566928"/>
          </a:xfrm>
          <a:prstGeom prst="roundRect">
            <a:avLst>
              <a:gd fmla="val 14516" name="adj"/>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sessions/blissful-determined-ritchie/build/assets/sdaia_logo.png" id="2456" name="Google Shape;2456;p88"/>
          <p:cNvPicPr preferRelativeResize="0"/>
          <p:nvPr/>
        </p:nvPicPr>
        <p:blipFill rotWithShape="1">
          <a:blip r:embed="rId3">
            <a:alphaModFix/>
          </a:blip>
          <a:srcRect b="0" l="0" r="0" t="0"/>
          <a:stretch/>
        </p:blipFill>
        <p:spPr>
          <a:xfrm>
            <a:off x="10442448" y="438912"/>
            <a:ext cx="1261872" cy="308876"/>
          </a:xfrm>
          <a:prstGeom prst="rect">
            <a:avLst/>
          </a:prstGeom>
          <a:noFill/>
          <a:ln>
            <a:noFill/>
          </a:ln>
        </p:spPr>
      </p:pic>
      <p:sp>
        <p:nvSpPr>
          <p:cNvPr id="2457" name="Google Shape;2457;p88"/>
          <p:cNvSpPr/>
          <p:nvPr/>
        </p:nvSpPr>
        <p:spPr>
          <a:xfrm>
            <a:off x="777240" y="1325880"/>
            <a:ext cx="548640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A79D"/>
              </a:buClr>
              <a:buSzPts val="2000"/>
              <a:buFont typeface="Calibri"/>
              <a:buNone/>
            </a:pPr>
            <a:r>
              <a:rPr b="1" i="0" lang="en-US" sz="2000" u="none" cap="none" strike="noStrike">
                <a:solidFill>
                  <a:srgbClr val="00A79D"/>
                </a:solidFill>
                <a:latin typeface="Calibri"/>
                <a:ea typeface="Calibri"/>
                <a:cs typeface="Calibri"/>
                <a:sym typeface="Calibri"/>
              </a:rPr>
              <a:t>MODULE 5</a:t>
            </a:r>
            <a:endParaRPr b="0" i="0" sz="2000" u="none" cap="none" strike="noStrike">
              <a:solidFill>
                <a:schemeClr val="dk1"/>
              </a:solidFill>
              <a:latin typeface="Calibri"/>
              <a:ea typeface="Calibri"/>
              <a:cs typeface="Calibri"/>
              <a:sym typeface="Calibri"/>
            </a:endParaRPr>
          </a:p>
        </p:txBody>
      </p:sp>
      <p:sp>
        <p:nvSpPr>
          <p:cNvPr id="2458" name="Google Shape;2458;p88"/>
          <p:cNvSpPr/>
          <p:nvPr/>
        </p:nvSpPr>
        <p:spPr>
          <a:xfrm>
            <a:off x="749808" y="1828800"/>
            <a:ext cx="7589520" cy="13716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FFFFFF"/>
              </a:buClr>
              <a:buSzPts val="3600"/>
              <a:buFont typeface="Calibri"/>
              <a:buNone/>
            </a:pPr>
            <a:r>
              <a:rPr b="1" i="0" lang="en-US" sz="3600" u="none" cap="none" strike="noStrike">
                <a:solidFill>
                  <a:srgbClr val="FFFFFF"/>
                </a:solidFill>
                <a:latin typeface="Calibri"/>
                <a:ea typeface="Calibri"/>
                <a:cs typeface="Calibri"/>
                <a:sym typeface="Calibri"/>
              </a:rPr>
              <a:t>Dataset Curation and Annotation Workflows</a:t>
            </a:r>
            <a:endParaRPr b="0" i="0" sz="3600" u="none" cap="none" strike="noStrike">
              <a:solidFill>
                <a:schemeClr val="dk1"/>
              </a:solidFill>
              <a:latin typeface="Calibri"/>
              <a:ea typeface="Calibri"/>
              <a:cs typeface="Calibri"/>
              <a:sym typeface="Calibri"/>
            </a:endParaRPr>
          </a:p>
        </p:txBody>
      </p:sp>
      <p:sp>
        <p:nvSpPr>
          <p:cNvPr id="2459" name="Google Shape;2459;p88"/>
          <p:cNvSpPr/>
          <p:nvPr/>
        </p:nvSpPr>
        <p:spPr>
          <a:xfrm>
            <a:off x="777240" y="3127248"/>
            <a:ext cx="758952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B9C8E8"/>
              </a:buClr>
              <a:buSzPts val="1700"/>
              <a:buFont typeface="Arial"/>
              <a:buNone/>
            </a:pPr>
            <a:r>
              <a:rPr b="0" i="0" lang="en-US" sz="1700" u="none" cap="none" strike="noStrike">
                <a:solidFill>
                  <a:srgbClr val="B9C8E8"/>
                </a:solidFill>
                <a:latin typeface="Arial"/>
                <a:ea typeface="Arial"/>
                <a:cs typeface="Arial"/>
                <a:sym typeface="Arial"/>
              </a:rPr>
              <a:t>تنظيم مجموعات البيانات وسير عمل التوصيف</a:t>
            </a:r>
            <a:endParaRPr b="0" i="0" sz="1700" u="none" cap="none" strike="noStrike">
              <a:solidFill>
                <a:schemeClr val="dk1"/>
              </a:solidFill>
              <a:latin typeface="Calibri"/>
              <a:ea typeface="Calibri"/>
              <a:cs typeface="Calibri"/>
              <a:sym typeface="Calibri"/>
            </a:endParaRPr>
          </a:p>
        </p:txBody>
      </p:sp>
      <p:sp>
        <p:nvSpPr>
          <p:cNvPr id="2460" name="Google Shape;2460;p88"/>
          <p:cNvSpPr/>
          <p:nvPr/>
        </p:nvSpPr>
        <p:spPr>
          <a:xfrm>
            <a:off x="804672" y="3703320"/>
            <a:ext cx="6949440" cy="2560320"/>
          </a:xfrm>
          <a:prstGeom prst="rect">
            <a:avLst/>
          </a:prstGeom>
          <a:noFill/>
          <a:ln>
            <a:noFill/>
          </a:ln>
        </p:spPr>
        <p:txBody>
          <a:bodyPr anchorCtr="0" anchor="t" bIns="0" lIns="0" spcFirstLastPara="1" rIns="0" wrap="square" tIns="0">
            <a:noAutofit/>
          </a:bodyPr>
          <a:lstStyle/>
          <a:p>
            <a:pPr indent="-177800" lvl="0" marL="177800" marR="0" rtl="0" algn="l">
              <a:spcBef>
                <a:spcPts val="0"/>
              </a:spcBef>
              <a:spcAft>
                <a:spcPts val="0"/>
              </a:spcAft>
              <a:buClr>
                <a:srgbClr val="DCE6F8"/>
              </a:buClr>
              <a:buSzPts val="1300"/>
              <a:buFont typeface="Calibri"/>
              <a:buChar char="▪"/>
            </a:pPr>
            <a:r>
              <a:rPr b="0" i="0" lang="en-US" sz="1300" u="none" cap="none" strike="noStrike">
                <a:solidFill>
                  <a:srgbClr val="DCE6F8"/>
                </a:solidFill>
                <a:latin typeface="Calibri"/>
                <a:ea typeface="Calibri"/>
                <a:cs typeface="Calibri"/>
                <a:sym typeface="Calibri"/>
              </a:rPr>
              <a:t>The annotation spec is the real model architecture</a:t>
            </a:r>
            <a:endParaRPr b="0" i="0" sz="1300" u="none" cap="none" strike="noStrike">
              <a:solidFill>
                <a:schemeClr val="dk1"/>
              </a:solidFill>
              <a:latin typeface="Calibri"/>
              <a:ea typeface="Calibri"/>
              <a:cs typeface="Calibri"/>
              <a:sym typeface="Calibri"/>
            </a:endParaRPr>
          </a:p>
          <a:p>
            <a:pPr indent="-177800" lvl="0" marL="177800" marR="0" rtl="0" algn="l">
              <a:spcBef>
                <a:spcPts val="800"/>
              </a:spcBef>
              <a:spcAft>
                <a:spcPts val="0"/>
              </a:spcAft>
              <a:buClr>
                <a:srgbClr val="DCE6F8"/>
              </a:buClr>
              <a:buSzPts val="1300"/>
              <a:buFont typeface="Calibri"/>
              <a:buChar char="▪"/>
            </a:pPr>
            <a:r>
              <a:rPr b="0" i="0" lang="en-US" sz="1300" u="none" cap="none" strike="noStrike">
                <a:solidFill>
                  <a:srgbClr val="DCE6F8"/>
                </a:solidFill>
                <a:latin typeface="Calibri"/>
                <a:ea typeface="Calibri"/>
                <a:cs typeface="Calibri"/>
                <a:sym typeface="Calibri"/>
              </a:rPr>
              <a:t>Tooling and the pre-labelling loop</a:t>
            </a:r>
            <a:endParaRPr b="0" i="0" sz="1300" u="none" cap="none" strike="noStrike">
              <a:solidFill>
                <a:schemeClr val="dk1"/>
              </a:solidFill>
              <a:latin typeface="Calibri"/>
              <a:ea typeface="Calibri"/>
              <a:cs typeface="Calibri"/>
              <a:sym typeface="Calibri"/>
            </a:endParaRPr>
          </a:p>
          <a:p>
            <a:pPr indent="-177800" lvl="0" marL="177800" marR="0" rtl="0" algn="l">
              <a:spcBef>
                <a:spcPts val="800"/>
              </a:spcBef>
              <a:spcAft>
                <a:spcPts val="0"/>
              </a:spcAft>
              <a:buClr>
                <a:srgbClr val="DCE6F8"/>
              </a:buClr>
              <a:buSzPts val="1300"/>
              <a:buFont typeface="Calibri"/>
              <a:buChar char="▪"/>
            </a:pPr>
            <a:r>
              <a:rPr b="0" i="0" lang="en-US" sz="1300" u="none" cap="none" strike="noStrike">
                <a:solidFill>
                  <a:srgbClr val="DCE6F8"/>
                </a:solidFill>
                <a:latin typeface="Calibri"/>
                <a:ea typeface="Calibri"/>
                <a:cs typeface="Calibri"/>
                <a:sym typeface="Calibri"/>
              </a:rPr>
              <a:t>Measuring label quality; hunting label errors</a:t>
            </a:r>
            <a:endParaRPr b="0" i="0" sz="1300" u="none" cap="none" strike="noStrike">
              <a:solidFill>
                <a:schemeClr val="dk1"/>
              </a:solidFill>
              <a:latin typeface="Calibri"/>
              <a:ea typeface="Calibri"/>
              <a:cs typeface="Calibri"/>
              <a:sym typeface="Calibri"/>
            </a:endParaRPr>
          </a:p>
          <a:p>
            <a:pPr indent="-177800" lvl="0" marL="177800" marR="0" rtl="0" algn="l">
              <a:spcBef>
                <a:spcPts val="800"/>
              </a:spcBef>
              <a:spcAft>
                <a:spcPts val="0"/>
              </a:spcAft>
              <a:buClr>
                <a:srgbClr val="DCE6F8"/>
              </a:buClr>
              <a:buSzPts val="1300"/>
              <a:buFont typeface="Calibri"/>
              <a:buChar char="▪"/>
            </a:pPr>
            <a:r>
              <a:rPr b="0" i="0" lang="en-US" sz="1300" u="none" cap="none" strike="noStrike">
                <a:solidFill>
                  <a:srgbClr val="DCE6F8"/>
                </a:solidFill>
                <a:latin typeface="Calibri"/>
                <a:ea typeface="Calibri"/>
                <a:cs typeface="Calibri"/>
                <a:sym typeface="Calibri"/>
              </a:rPr>
              <a:t>Active learning, dataset versioning and governance</a:t>
            </a:r>
            <a:endParaRPr b="0" i="0" sz="1300" u="none" cap="none" strike="noStrike">
              <a:solidFill>
                <a:schemeClr val="dk1"/>
              </a:solidFill>
              <a:latin typeface="Calibri"/>
              <a:ea typeface="Calibri"/>
              <a:cs typeface="Calibri"/>
              <a:sym typeface="Calibri"/>
            </a:endParaRPr>
          </a:p>
        </p:txBody>
      </p:sp>
      <p:sp>
        <p:nvSpPr>
          <p:cNvPr id="2461" name="Google Shape;2461;p88"/>
          <p:cNvSpPr/>
          <p:nvPr/>
        </p:nvSpPr>
        <p:spPr>
          <a:xfrm>
            <a:off x="8366760" y="3520440"/>
            <a:ext cx="3383280" cy="2286000"/>
          </a:xfrm>
          <a:prstGeom prst="roundRect">
            <a:avLst>
              <a:gd fmla="val 4000" name="adj"/>
            </a:avLst>
          </a:prstGeom>
          <a:solidFill>
            <a:srgbClr val="1C2C63"/>
          </a:solidFill>
          <a:ln cap="flat" cmpd="sng" w="15875">
            <a:solidFill>
              <a:srgbClr val="00A79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62" name="Google Shape;2462;p88"/>
          <p:cNvSpPr/>
          <p:nvPr/>
        </p:nvSpPr>
        <p:spPr>
          <a:xfrm>
            <a:off x="8595360" y="3703320"/>
            <a:ext cx="292608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A79D"/>
              </a:buClr>
              <a:buSzPts val="1000"/>
              <a:buFont typeface="Calibri"/>
              <a:buNone/>
            </a:pPr>
            <a:r>
              <a:rPr b="1" i="0" lang="en-US" sz="1000" u="none" cap="none" strike="noStrike">
                <a:solidFill>
                  <a:srgbClr val="00A79D"/>
                </a:solidFill>
                <a:latin typeface="Calibri"/>
                <a:ea typeface="Calibri"/>
                <a:cs typeface="Calibri"/>
                <a:sym typeface="Calibri"/>
              </a:rPr>
              <a:t>MODULE OUTCOME</a:t>
            </a:r>
            <a:endParaRPr b="0" i="0" sz="1000" u="none" cap="none" strike="noStrike">
              <a:solidFill>
                <a:schemeClr val="dk1"/>
              </a:solidFill>
              <a:latin typeface="Calibri"/>
              <a:ea typeface="Calibri"/>
              <a:cs typeface="Calibri"/>
              <a:sym typeface="Calibri"/>
            </a:endParaRPr>
          </a:p>
        </p:txBody>
      </p:sp>
      <p:sp>
        <p:nvSpPr>
          <p:cNvPr id="2463" name="Google Shape;2463;p88"/>
          <p:cNvSpPr/>
          <p:nvPr/>
        </p:nvSpPr>
        <p:spPr>
          <a:xfrm>
            <a:off x="8595360" y="4041648"/>
            <a:ext cx="2971800" cy="16002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FFFFFF"/>
              </a:buClr>
              <a:buSzPts val="1250"/>
              <a:buFont typeface="Calibri"/>
              <a:buNone/>
            </a:pPr>
            <a:r>
              <a:rPr b="0" i="0" lang="en-US" sz="1250" u="none" cap="none" strike="noStrike">
                <a:solidFill>
                  <a:srgbClr val="FFFFFF"/>
                </a:solidFill>
                <a:latin typeface="Calibri"/>
                <a:ea typeface="Calibri"/>
                <a:cs typeface="Calibri"/>
                <a:sym typeface="Calibri"/>
              </a:rPr>
              <a:t>A triaged label audit, a merged spec fix, and the versioned dates-qc-v2 release with manifest, hashes, spec version and changelog</a:t>
            </a:r>
            <a:endParaRPr b="0" i="0" sz="1250" u="none" cap="none" strike="noStrike">
              <a:solidFill>
                <a:schemeClr val="dk1"/>
              </a:solidFill>
              <a:latin typeface="Calibri"/>
              <a:ea typeface="Calibri"/>
              <a:cs typeface="Calibri"/>
              <a:sym typeface="Calibri"/>
            </a:endParaRPr>
          </a:p>
        </p:txBody>
      </p:sp>
      <p:sp>
        <p:nvSpPr>
          <p:cNvPr id="2464" name="Google Shape;2464;p88"/>
          <p:cNvSpPr/>
          <p:nvPr/>
        </p:nvSpPr>
        <p:spPr>
          <a:xfrm>
            <a:off x="11292840" y="6528816"/>
            <a:ext cx="411480" cy="219456"/>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5A6A96"/>
              </a:buClr>
              <a:buSzPts val="900"/>
              <a:buFont typeface="Calibri"/>
              <a:buNone/>
            </a:pPr>
            <a:r>
              <a:rPr b="0" i="0" lang="en-US" sz="900" u="none" cap="none" strike="noStrike">
                <a:solidFill>
                  <a:srgbClr val="5A6A96"/>
                </a:solidFill>
                <a:latin typeface="Calibri"/>
                <a:ea typeface="Calibri"/>
                <a:cs typeface="Calibri"/>
                <a:sym typeface="Calibri"/>
              </a:rPr>
              <a:t>88</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8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469" name="Shape 2469"/>
        <p:cNvGrpSpPr/>
        <p:nvPr/>
      </p:nvGrpSpPr>
      <p:grpSpPr>
        <a:xfrm>
          <a:off x="0" y="0"/>
          <a:ext cx="0" cy="0"/>
          <a:chOff x="0" y="0"/>
          <a:chExt cx="0" cy="0"/>
        </a:xfrm>
      </p:grpSpPr>
      <p:sp>
        <p:nvSpPr>
          <p:cNvPr id="2470" name="Google Shape;2470;p89"/>
          <p:cNvSpPr/>
          <p:nvPr/>
        </p:nvSpPr>
        <p:spPr>
          <a:xfrm>
            <a:off x="502920" y="274320"/>
            <a:ext cx="9646920" cy="56692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D2A5C"/>
              </a:buClr>
              <a:buSzPts val="2700"/>
              <a:buFont typeface="Calibri"/>
              <a:buNone/>
            </a:pPr>
            <a:r>
              <a:rPr b="1" i="0" lang="en-US" sz="2700" u="none" cap="none" strike="noStrike">
                <a:solidFill>
                  <a:srgbClr val="1D2A5C"/>
                </a:solidFill>
                <a:latin typeface="Calibri"/>
                <a:ea typeface="Calibri"/>
                <a:cs typeface="Calibri"/>
                <a:sym typeface="Calibri"/>
              </a:rPr>
              <a:t>Why This Matters</a:t>
            </a:r>
            <a:endParaRPr b="0" i="0" sz="2700" u="none" cap="none" strike="noStrike">
              <a:solidFill>
                <a:schemeClr val="dk1"/>
              </a:solidFill>
              <a:latin typeface="Calibri"/>
              <a:ea typeface="Calibri"/>
              <a:cs typeface="Calibri"/>
              <a:sym typeface="Calibri"/>
            </a:endParaRPr>
          </a:p>
        </p:txBody>
      </p:sp>
      <p:sp>
        <p:nvSpPr>
          <p:cNvPr id="2471" name="Google Shape;2471;p89"/>
          <p:cNvSpPr/>
          <p:nvPr/>
        </p:nvSpPr>
        <p:spPr>
          <a:xfrm>
            <a:off x="502920" y="859536"/>
            <a:ext cx="9646920" cy="31089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F6B7A"/>
              </a:buClr>
              <a:buSzPts val="1250"/>
              <a:buFont typeface="Arial"/>
              <a:buNone/>
            </a:pPr>
            <a:r>
              <a:rPr b="0" i="0" lang="en-US" sz="1250" u="none" cap="none" strike="noStrike">
                <a:solidFill>
                  <a:srgbClr val="5F6B7A"/>
                </a:solidFill>
                <a:latin typeface="Arial"/>
                <a:ea typeface="Arial"/>
                <a:cs typeface="Arial"/>
                <a:sym typeface="Arial"/>
              </a:rPr>
              <a:t>لماذا هذا مهم</a:t>
            </a:r>
            <a:endParaRPr b="0" i="0" sz="1250" u="none" cap="none" strike="noStrike">
              <a:solidFill>
                <a:schemeClr val="dk1"/>
              </a:solidFill>
              <a:latin typeface="Calibri"/>
              <a:ea typeface="Calibri"/>
              <a:cs typeface="Calibri"/>
              <a:sym typeface="Calibri"/>
            </a:endParaRPr>
          </a:p>
        </p:txBody>
      </p:sp>
      <p:pic>
        <p:nvPicPr>
          <p:cNvPr descr="/sessions/blissful-determined-ritchie/build/assets/sdaia_logo.png" id="2472" name="Google Shape;2472;p89"/>
          <p:cNvPicPr preferRelativeResize="0"/>
          <p:nvPr/>
        </p:nvPicPr>
        <p:blipFill rotWithShape="1">
          <a:blip r:embed="rId3">
            <a:alphaModFix/>
          </a:blip>
          <a:srcRect b="0" l="0" r="0" t="0"/>
          <a:stretch/>
        </p:blipFill>
        <p:spPr>
          <a:xfrm>
            <a:off x="10625328" y="310896"/>
            <a:ext cx="1078992" cy="264111"/>
          </a:xfrm>
          <a:prstGeom prst="rect">
            <a:avLst/>
          </a:prstGeom>
          <a:noFill/>
          <a:ln>
            <a:noFill/>
          </a:ln>
        </p:spPr>
      </p:pic>
      <p:sp>
        <p:nvSpPr>
          <p:cNvPr id="2473" name="Google Shape;2473;p89"/>
          <p:cNvSpPr/>
          <p:nvPr/>
        </p:nvSpPr>
        <p:spPr>
          <a:xfrm>
            <a:off x="502920" y="6528816"/>
            <a:ext cx="8686800"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A79D"/>
              </a:buClr>
              <a:buSzPts val="800"/>
              <a:buFont typeface="Calibri"/>
              <a:buNone/>
            </a:pPr>
            <a:r>
              <a:rPr b="1" i="0" lang="en-US" sz="800" u="none" cap="none" strike="noStrike">
                <a:solidFill>
                  <a:srgbClr val="00A79D"/>
                </a:solidFill>
                <a:latin typeface="Calibri"/>
                <a:ea typeface="Calibri"/>
                <a:cs typeface="Calibri"/>
                <a:sym typeface="Calibri"/>
              </a:rPr>
              <a:t>MODULE 5   </a:t>
            </a:r>
            <a:r>
              <a:rPr b="0" i="0" lang="en-US" sz="800" u="none" cap="none" strike="noStrike">
                <a:solidFill>
                  <a:srgbClr val="8A96A6"/>
                </a:solidFill>
                <a:latin typeface="Calibri"/>
                <a:ea typeface="Calibri"/>
                <a:cs typeface="Calibri"/>
                <a:sym typeface="Calibri"/>
              </a:rPr>
              <a:t>SDA-AIE-212 · Computer Vision Systems Development</a:t>
            </a:r>
            <a:endParaRPr b="0" i="0" sz="800" u="none" cap="none" strike="noStrike">
              <a:solidFill>
                <a:schemeClr val="dk1"/>
              </a:solidFill>
              <a:latin typeface="Calibri"/>
              <a:ea typeface="Calibri"/>
              <a:cs typeface="Calibri"/>
              <a:sym typeface="Calibri"/>
            </a:endParaRPr>
          </a:p>
        </p:txBody>
      </p:sp>
      <p:sp>
        <p:nvSpPr>
          <p:cNvPr id="2474" name="Google Shape;2474;p89"/>
          <p:cNvSpPr/>
          <p:nvPr/>
        </p:nvSpPr>
        <p:spPr>
          <a:xfrm>
            <a:off x="11292840" y="6528816"/>
            <a:ext cx="411480" cy="219456"/>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8A96A6"/>
              </a:buClr>
              <a:buSzPts val="900"/>
              <a:buFont typeface="Calibri"/>
              <a:buNone/>
            </a:pPr>
            <a:r>
              <a:rPr b="0" i="0" lang="en-US" sz="900" u="none" cap="none" strike="noStrike">
                <a:solidFill>
                  <a:srgbClr val="8A96A6"/>
                </a:solidFill>
                <a:latin typeface="Calibri"/>
                <a:ea typeface="Calibri"/>
                <a:cs typeface="Calibri"/>
                <a:sym typeface="Calibri"/>
              </a:rPr>
              <a:t>89</a:t>
            </a:r>
            <a:endParaRPr b="0" i="0" sz="900" u="none" cap="none" strike="noStrike">
              <a:solidFill>
                <a:schemeClr val="dk1"/>
              </a:solidFill>
              <a:latin typeface="Calibri"/>
              <a:ea typeface="Calibri"/>
              <a:cs typeface="Calibri"/>
              <a:sym typeface="Calibri"/>
            </a:endParaRPr>
          </a:p>
        </p:txBody>
      </p:sp>
      <p:sp>
        <p:nvSpPr>
          <p:cNvPr id="2475" name="Google Shape;2475;p89"/>
          <p:cNvSpPr/>
          <p:nvPr/>
        </p:nvSpPr>
        <p:spPr>
          <a:xfrm>
            <a:off x="502920" y="1389888"/>
            <a:ext cx="11185855" cy="384048"/>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5F6B7A"/>
              </a:buClr>
              <a:buSzPts val="1250"/>
              <a:buFont typeface="Calibri"/>
              <a:buNone/>
            </a:pPr>
            <a:r>
              <a:rPr b="0" i="1" lang="en-US" sz="1250" u="none" cap="none" strike="noStrike">
                <a:solidFill>
                  <a:srgbClr val="5F6B7A"/>
                </a:solidFill>
                <a:latin typeface="Calibri"/>
                <a:ea typeface="Calibri"/>
                <a:cs typeface="Calibri"/>
                <a:sym typeface="Calibri"/>
              </a:rPr>
              <a:t>The dataset is the highest-leverage system component — and the one with the least engineering discipline applied to it.</a:t>
            </a:r>
            <a:endParaRPr b="0" i="0" sz="1250" u="none" cap="none" strike="noStrike">
              <a:solidFill>
                <a:schemeClr val="dk1"/>
              </a:solidFill>
              <a:latin typeface="Calibri"/>
              <a:ea typeface="Calibri"/>
              <a:cs typeface="Calibri"/>
              <a:sym typeface="Calibri"/>
            </a:endParaRPr>
          </a:p>
        </p:txBody>
      </p:sp>
      <p:sp>
        <p:nvSpPr>
          <p:cNvPr id="2476" name="Google Shape;2476;p89"/>
          <p:cNvSpPr/>
          <p:nvPr/>
        </p:nvSpPr>
        <p:spPr>
          <a:xfrm>
            <a:off x="502920" y="3026664"/>
            <a:ext cx="2556434" cy="2194560"/>
          </a:xfrm>
          <a:prstGeom prst="roundRect">
            <a:avLst>
              <a:gd fmla="val 3750" name="adj"/>
            </a:avLst>
          </a:prstGeom>
          <a:solidFill>
            <a:srgbClr val="E9F6F5"/>
          </a:solidFill>
          <a:ln cap="flat" cmpd="sng" w="12700">
            <a:solidFill>
              <a:srgbClr val="D9E2E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77" name="Google Shape;2477;p89"/>
          <p:cNvSpPr/>
          <p:nvPr/>
        </p:nvSpPr>
        <p:spPr>
          <a:xfrm>
            <a:off x="594360" y="3136392"/>
            <a:ext cx="2373554" cy="96560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0A79D"/>
              </a:buClr>
              <a:buSzPts val="3800"/>
              <a:buFont typeface="Calibri"/>
              <a:buNone/>
            </a:pPr>
            <a:r>
              <a:rPr b="1" i="0" lang="en-US" sz="3800" u="none" cap="none" strike="noStrike">
                <a:solidFill>
                  <a:srgbClr val="00A79D"/>
                </a:solidFill>
                <a:latin typeface="Calibri"/>
                <a:ea typeface="Calibri"/>
                <a:cs typeface="Calibri"/>
                <a:sym typeface="Calibri"/>
              </a:rPr>
              <a:t>40-70%</a:t>
            </a:r>
            <a:endParaRPr b="0" i="0" sz="3800" u="none" cap="none" strike="noStrike">
              <a:solidFill>
                <a:schemeClr val="dk1"/>
              </a:solidFill>
              <a:latin typeface="Calibri"/>
              <a:ea typeface="Calibri"/>
              <a:cs typeface="Calibri"/>
              <a:sym typeface="Calibri"/>
            </a:endParaRPr>
          </a:p>
        </p:txBody>
      </p:sp>
      <p:sp>
        <p:nvSpPr>
          <p:cNvPr id="2478" name="Google Shape;2478;p89"/>
          <p:cNvSpPr/>
          <p:nvPr/>
        </p:nvSpPr>
        <p:spPr>
          <a:xfrm>
            <a:off x="640080" y="4167835"/>
            <a:ext cx="2282114" cy="32004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D2A5C"/>
              </a:buClr>
              <a:buSzPts val="1250"/>
              <a:buFont typeface="Calibri"/>
              <a:buNone/>
            </a:pPr>
            <a:r>
              <a:rPr b="1" i="0" lang="en-US" sz="1250" u="none" cap="none" strike="noStrike">
                <a:solidFill>
                  <a:srgbClr val="1D2A5C"/>
                </a:solidFill>
                <a:latin typeface="Calibri"/>
                <a:ea typeface="Calibri"/>
                <a:cs typeface="Calibri"/>
                <a:sym typeface="Calibri"/>
              </a:rPr>
              <a:t>of build cost</a:t>
            </a:r>
            <a:endParaRPr b="0" i="0" sz="1250" u="none" cap="none" strike="noStrike">
              <a:solidFill>
                <a:schemeClr val="dk1"/>
              </a:solidFill>
              <a:latin typeface="Calibri"/>
              <a:ea typeface="Calibri"/>
              <a:cs typeface="Calibri"/>
              <a:sym typeface="Calibri"/>
            </a:endParaRPr>
          </a:p>
        </p:txBody>
      </p:sp>
      <p:sp>
        <p:nvSpPr>
          <p:cNvPr id="2479" name="Google Shape;2479;p89"/>
          <p:cNvSpPr/>
          <p:nvPr/>
        </p:nvSpPr>
        <p:spPr>
          <a:xfrm>
            <a:off x="640080" y="4515307"/>
            <a:ext cx="2282114" cy="658368"/>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rgbClr val="5F6B7A"/>
              </a:buClr>
              <a:buSzPts val="1000"/>
              <a:buFont typeface="Calibri"/>
              <a:buNone/>
            </a:pPr>
            <a:r>
              <a:rPr b="0" i="0" lang="en-US" sz="1000" u="none" cap="none" strike="noStrike">
                <a:solidFill>
                  <a:srgbClr val="5F6B7A"/>
                </a:solidFill>
                <a:latin typeface="Calibri"/>
                <a:ea typeface="Calibri"/>
                <a:cs typeface="Calibri"/>
                <a:sym typeface="Calibri"/>
              </a:rPr>
              <a:t>label budgets dominate most vision projects</a:t>
            </a:r>
            <a:endParaRPr b="0" i="0" sz="1000" u="none" cap="none" strike="noStrike">
              <a:solidFill>
                <a:schemeClr val="dk1"/>
              </a:solidFill>
              <a:latin typeface="Calibri"/>
              <a:ea typeface="Calibri"/>
              <a:cs typeface="Calibri"/>
              <a:sym typeface="Calibri"/>
            </a:endParaRPr>
          </a:p>
        </p:txBody>
      </p:sp>
      <p:sp>
        <p:nvSpPr>
          <p:cNvPr id="2480" name="Google Shape;2480;p89"/>
          <p:cNvSpPr/>
          <p:nvPr/>
        </p:nvSpPr>
        <p:spPr>
          <a:xfrm>
            <a:off x="3379394" y="3026664"/>
            <a:ext cx="2556434" cy="2194560"/>
          </a:xfrm>
          <a:prstGeom prst="roundRect">
            <a:avLst>
              <a:gd fmla="val 3750" name="adj"/>
            </a:avLst>
          </a:prstGeom>
          <a:solidFill>
            <a:srgbClr val="F2F6F9"/>
          </a:solidFill>
          <a:ln cap="flat" cmpd="sng" w="12700">
            <a:solidFill>
              <a:srgbClr val="D9E2E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81" name="Google Shape;2481;p89"/>
          <p:cNvSpPr/>
          <p:nvPr/>
        </p:nvSpPr>
        <p:spPr>
          <a:xfrm>
            <a:off x="3470834" y="3136392"/>
            <a:ext cx="2373554" cy="96560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E8503A"/>
              </a:buClr>
              <a:buSzPts val="3800"/>
              <a:buFont typeface="Calibri"/>
              <a:buNone/>
            </a:pPr>
            <a:r>
              <a:rPr b="1" i="0" lang="en-US" sz="3800" u="none" cap="none" strike="noStrike">
                <a:solidFill>
                  <a:srgbClr val="E8503A"/>
                </a:solidFill>
                <a:latin typeface="Calibri"/>
                <a:ea typeface="Calibri"/>
                <a:cs typeface="Calibri"/>
                <a:sym typeface="Calibri"/>
              </a:rPr>
              <a:t>~4%</a:t>
            </a:r>
            <a:endParaRPr b="0" i="0" sz="3800" u="none" cap="none" strike="noStrike">
              <a:solidFill>
                <a:schemeClr val="dk1"/>
              </a:solidFill>
              <a:latin typeface="Calibri"/>
              <a:ea typeface="Calibri"/>
              <a:cs typeface="Calibri"/>
              <a:sym typeface="Calibri"/>
            </a:endParaRPr>
          </a:p>
        </p:txBody>
      </p:sp>
      <p:sp>
        <p:nvSpPr>
          <p:cNvPr id="2482" name="Google Shape;2482;p89"/>
          <p:cNvSpPr/>
          <p:nvPr/>
        </p:nvSpPr>
        <p:spPr>
          <a:xfrm>
            <a:off x="3516554" y="4167835"/>
            <a:ext cx="2282114" cy="32004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D2A5C"/>
              </a:buClr>
              <a:buSzPts val="1250"/>
              <a:buFont typeface="Calibri"/>
              <a:buNone/>
            </a:pPr>
            <a:r>
              <a:rPr b="1" i="0" lang="en-US" sz="1250" u="none" cap="none" strike="noStrike">
                <a:solidFill>
                  <a:srgbClr val="1D2A5C"/>
                </a:solidFill>
                <a:latin typeface="Calibri"/>
                <a:ea typeface="Calibri"/>
                <a:cs typeface="Calibri"/>
                <a:sym typeface="Calibri"/>
              </a:rPr>
              <a:t>label errors in v1</a:t>
            </a:r>
            <a:endParaRPr b="0" i="0" sz="1250" u="none" cap="none" strike="noStrike">
              <a:solidFill>
                <a:schemeClr val="dk1"/>
              </a:solidFill>
              <a:latin typeface="Calibri"/>
              <a:ea typeface="Calibri"/>
              <a:cs typeface="Calibri"/>
              <a:sym typeface="Calibri"/>
            </a:endParaRPr>
          </a:p>
        </p:txBody>
      </p:sp>
      <p:sp>
        <p:nvSpPr>
          <p:cNvPr id="2483" name="Google Shape;2483;p89"/>
          <p:cNvSpPr/>
          <p:nvPr/>
        </p:nvSpPr>
        <p:spPr>
          <a:xfrm>
            <a:off x="3516554" y="4515307"/>
            <a:ext cx="2282114" cy="658368"/>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rgbClr val="5F6B7A"/>
              </a:buClr>
              <a:buSzPts val="1000"/>
              <a:buFont typeface="Calibri"/>
              <a:buNone/>
            </a:pPr>
            <a:r>
              <a:rPr b="0" i="0" lang="en-US" sz="1000" u="none" cap="none" strike="noStrike">
                <a:solidFill>
                  <a:srgbClr val="5F6B7A"/>
                </a:solidFill>
                <a:latin typeface="Calibri"/>
                <a:ea typeface="Calibri"/>
                <a:cs typeface="Calibri"/>
                <a:sym typeface="Calibri"/>
              </a:rPr>
              <a:t>concentrated at the sugaring/skin_split boundary</a:t>
            </a:r>
            <a:endParaRPr b="0" i="0" sz="1000" u="none" cap="none" strike="noStrike">
              <a:solidFill>
                <a:schemeClr val="dk1"/>
              </a:solidFill>
              <a:latin typeface="Calibri"/>
              <a:ea typeface="Calibri"/>
              <a:cs typeface="Calibri"/>
              <a:sym typeface="Calibri"/>
            </a:endParaRPr>
          </a:p>
        </p:txBody>
      </p:sp>
      <p:sp>
        <p:nvSpPr>
          <p:cNvPr id="2484" name="Google Shape;2484;p89"/>
          <p:cNvSpPr/>
          <p:nvPr/>
        </p:nvSpPr>
        <p:spPr>
          <a:xfrm>
            <a:off x="6255868" y="3026664"/>
            <a:ext cx="2556434" cy="2194560"/>
          </a:xfrm>
          <a:prstGeom prst="roundRect">
            <a:avLst>
              <a:gd fmla="val 3750" name="adj"/>
            </a:avLst>
          </a:prstGeom>
          <a:solidFill>
            <a:srgbClr val="F2F6F9"/>
          </a:solidFill>
          <a:ln cap="flat" cmpd="sng" w="12700">
            <a:solidFill>
              <a:srgbClr val="D9E2E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85" name="Google Shape;2485;p89"/>
          <p:cNvSpPr/>
          <p:nvPr/>
        </p:nvSpPr>
        <p:spPr>
          <a:xfrm>
            <a:off x="6347308" y="3136392"/>
            <a:ext cx="2373554" cy="96560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58220"/>
              </a:buClr>
              <a:buSzPts val="3800"/>
              <a:buFont typeface="Calibri"/>
              <a:buNone/>
            </a:pPr>
            <a:r>
              <a:rPr b="1" i="0" lang="en-US" sz="3800" u="none" cap="none" strike="noStrike">
                <a:solidFill>
                  <a:srgbClr val="F58220"/>
                </a:solidFill>
                <a:latin typeface="Calibri"/>
                <a:ea typeface="Calibri"/>
                <a:cs typeface="Calibri"/>
                <a:sym typeface="Calibri"/>
              </a:rPr>
              <a:t>+0.09</a:t>
            </a:r>
            <a:endParaRPr b="0" i="0" sz="3800" u="none" cap="none" strike="noStrike">
              <a:solidFill>
                <a:schemeClr val="dk1"/>
              </a:solidFill>
              <a:latin typeface="Calibri"/>
              <a:ea typeface="Calibri"/>
              <a:cs typeface="Calibri"/>
              <a:sym typeface="Calibri"/>
            </a:endParaRPr>
          </a:p>
        </p:txBody>
      </p:sp>
      <p:sp>
        <p:nvSpPr>
          <p:cNvPr id="2486" name="Google Shape;2486;p89"/>
          <p:cNvSpPr/>
          <p:nvPr/>
        </p:nvSpPr>
        <p:spPr>
          <a:xfrm>
            <a:off x="6393028" y="4167835"/>
            <a:ext cx="2282114" cy="32004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D2A5C"/>
              </a:buClr>
              <a:buSzPts val="1250"/>
              <a:buFont typeface="Calibri"/>
              <a:buNone/>
            </a:pPr>
            <a:r>
              <a:rPr b="1" i="0" lang="en-US" sz="1250" u="none" cap="none" strike="noStrike">
                <a:solidFill>
                  <a:srgbClr val="1D2A5C"/>
                </a:solidFill>
                <a:latin typeface="Calibri"/>
                <a:ea typeface="Calibri"/>
                <a:cs typeface="Calibri"/>
                <a:sym typeface="Calibri"/>
              </a:rPr>
              <a:t>insect_damage AP</a:t>
            </a:r>
            <a:endParaRPr b="0" i="0" sz="1250" u="none" cap="none" strike="noStrike">
              <a:solidFill>
                <a:schemeClr val="dk1"/>
              </a:solidFill>
              <a:latin typeface="Calibri"/>
              <a:ea typeface="Calibri"/>
              <a:cs typeface="Calibri"/>
              <a:sym typeface="Calibri"/>
            </a:endParaRPr>
          </a:p>
        </p:txBody>
      </p:sp>
      <p:sp>
        <p:nvSpPr>
          <p:cNvPr id="2487" name="Google Shape;2487;p89"/>
          <p:cNvSpPr/>
          <p:nvPr/>
        </p:nvSpPr>
        <p:spPr>
          <a:xfrm>
            <a:off x="6393028" y="4515307"/>
            <a:ext cx="2282114" cy="658368"/>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rgbClr val="5F6B7A"/>
              </a:buClr>
              <a:buSzPts val="1000"/>
              <a:buFont typeface="Calibri"/>
              <a:buNone/>
            </a:pPr>
            <a:r>
              <a:rPr b="0" i="0" lang="en-US" sz="1000" u="none" cap="none" strike="noStrike">
                <a:solidFill>
                  <a:srgbClr val="5F6B7A"/>
                </a:solidFill>
                <a:latin typeface="Calibri"/>
                <a:ea typeface="Calibri"/>
                <a:cs typeface="Calibri"/>
                <a:sym typeface="Calibri"/>
              </a:rPr>
              <a:t>from 800 AL frames — beats any architecture change</a:t>
            </a:r>
            <a:endParaRPr b="0" i="0" sz="1000" u="none" cap="none" strike="noStrike">
              <a:solidFill>
                <a:schemeClr val="dk1"/>
              </a:solidFill>
              <a:latin typeface="Calibri"/>
              <a:ea typeface="Calibri"/>
              <a:cs typeface="Calibri"/>
              <a:sym typeface="Calibri"/>
            </a:endParaRPr>
          </a:p>
        </p:txBody>
      </p:sp>
      <p:sp>
        <p:nvSpPr>
          <p:cNvPr id="2488" name="Google Shape;2488;p89"/>
          <p:cNvSpPr/>
          <p:nvPr/>
        </p:nvSpPr>
        <p:spPr>
          <a:xfrm>
            <a:off x="9132341" y="3026664"/>
            <a:ext cx="2556434" cy="2194560"/>
          </a:xfrm>
          <a:prstGeom prst="roundRect">
            <a:avLst>
              <a:gd fmla="val 3750" name="adj"/>
            </a:avLst>
          </a:prstGeom>
          <a:solidFill>
            <a:srgbClr val="F2F6F9"/>
          </a:solidFill>
          <a:ln cap="flat" cmpd="sng" w="12700">
            <a:solidFill>
              <a:srgbClr val="D9E2E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89" name="Google Shape;2489;p89"/>
          <p:cNvSpPr/>
          <p:nvPr/>
        </p:nvSpPr>
        <p:spPr>
          <a:xfrm>
            <a:off x="9223781" y="3136392"/>
            <a:ext cx="2373554" cy="96560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E8503A"/>
              </a:buClr>
              <a:buSzPts val="3800"/>
              <a:buFont typeface="Calibri"/>
              <a:buNone/>
            </a:pPr>
            <a:r>
              <a:rPr b="1" i="0" lang="en-US" sz="3800" u="none" cap="none" strike="noStrike">
                <a:solidFill>
                  <a:srgbClr val="E8503A"/>
                </a:solidFill>
                <a:latin typeface="Calibri"/>
                <a:ea typeface="Calibri"/>
                <a:cs typeface="Calibri"/>
                <a:sym typeface="Calibri"/>
              </a:rPr>
              <a:t>60k SAR</a:t>
            </a:r>
            <a:endParaRPr b="0" i="0" sz="3800" u="none" cap="none" strike="noStrike">
              <a:solidFill>
                <a:schemeClr val="dk1"/>
              </a:solidFill>
              <a:latin typeface="Calibri"/>
              <a:ea typeface="Calibri"/>
              <a:cs typeface="Calibri"/>
              <a:sym typeface="Calibri"/>
            </a:endParaRPr>
          </a:p>
        </p:txBody>
      </p:sp>
      <p:sp>
        <p:nvSpPr>
          <p:cNvPr id="2490" name="Google Shape;2490;p89"/>
          <p:cNvSpPr/>
          <p:nvPr/>
        </p:nvSpPr>
        <p:spPr>
          <a:xfrm>
            <a:off x="9269501" y="4167835"/>
            <a:ext cx="2282114" cy="32004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D2A5C"/>
              </a:buClr>
              <a:buSzPts val="1250"/>
              <a:buFont typeface="Calibri"/>
              <a:buNone/>
            </a:pPr>
            <a:r>
              <a:rPr b="1" i="0" lang="en-US" sz="1250" u="none" cap="none" strike="noStrike">
                <a:solidFill>
                  <a:srgbClr val="1D2A5C"/>
                </a:solidFill>
                <a:latin typeface="Calibri"/>
                <a:ea typeface="Calibri"/>
                <a:cs typeface="Calibri"/>
                <a:sym typeface="Calibri"/>
              </a:rPr>
              <a:t>relabelling lesson</a:t>
            </a:r>
            <a:endParaRPr b="0" i="0" sz="1250" u="none" cap="none" strike="noStrike">
              <a:solidFill>
                <a:schemeClr val="dk1"/>
              </a:solidFill>
              <a:latin typeface="Calibri"/>
              <a:ea typeface="Calibri"/>
              <a:cs typeface="Calibri"/>
              <a:sym typeface="Calibri"/>
            </a:endParaRPr>
          </a:p>
        </p:txBody>
      </p:sp>
      <p:sp>
        <p:nvSpPr>
          <p:cNvPr id="2491" name="Google Shape;2491;p89"/>
          <p:cNvSpPr/>
          <p:nvPr/>
        </p:nvSpPr>
        <p:spPr>
          <a:xfrm>
            <a:off x="9269501" y="4515307"/>
            <a:ext cx="2282114" cy="658368"/>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rgbClr val="5F6B7A"/>
              </a:buClr>
              <a:buSzPts val="1000"/>
              <a:buFont typeface="Calibri"/>
              <a:buNone/>
            </a:pPr>
            <a:r>
              <a:rPr b="0" i="0" lang="en-US" sz="1000" u="none" cap="none" strike="noStrike">
                <a:solidFill>
                  <a:srgbClr val="5F6B7A"/>
                </a:solidFill>
                <a:latin typeface="Calibri"/>
                <a:ea typeface="Calibri"/>
                <a:cs typeface="Calibri"/>
                <a:sym typeface="Calibri"/>
              </a:rPr>
              <a:t>a vendor spec shipped with no reference images</a:t>
            </a:r>
            <a:endParaRPr b="0" i="0" sz="1000" u="none" cap="none" strike="noStrike">
              <a:solidFill>
                <a:schemeClr val="dk1"/>
              </a:solidFill>
              <a:latin typeface="Calibri"/>
              <a:ea typeface="Calibri"/>
              <a:cs typeface="Calibri"/>
              <a:sym typeface="Calibri"/>
            </a:endParaRPr>
          </a:p>
        </p:txBody>
      </p:sp>
    </p:spTree>
  </p:cSld>
  <p:clrMapOvr>
    <a:masterClrMapping/>
  </p:clrMapOvr>
</p:sld>
</file>

<file path=ppt/slides/slide9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496" name="Shape 2496"/>
        <p:cNvGrpSpPr/>
        <p:nvPr/>
      </p:nvGrpSpPr>
      <p:grpSpPr>
        <a:xfrm>
          <a:off x="0" y="0"/>
          <a:ext cx="0" cy="0"/>
          <a:chOff x="0" y="0"/>
          <a:chExt cx="0" cy="0"/>
        </a:xfrm>
      </p:grpSpPr>
      <p:sp>
        <p:nvSpPr>
          <p:cNvPr id="2497" name="Google Shape;2497;p90"/>
          <p:cNvSpPr/>
          <p:nvPr/>
        </p:nvSpPr>
        <p:spPr>
          <a:xfrm>
            <a:off x="502920" y="274320"/>
            <a:ext cx="9646920" cy="56692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D2A5C"/>
              </a:buClr>
              <a:buSzPts val="2700"/>
              <a:buFont typeface="Calibri"/>
              <a:buNone/>
            </a:pPr>
            <a:r>
              <a:rPr b="1" i="0" lang="en-US" sz="2700" u="none" cap="none" strike="noStrike">
                <a:solidFill>
                  <a:srgbClr val="1D2A5C"/>
                </a:solidFill>
                <a:latin typeface="Calibri"/>
                <a:ea typeface="Calibri"/>
                <a:cs typeface="Calibri"/>
                <a:sym typeface="Calibri"/>
              </a:rPr>
              <a:t>Industry Use Cases</a:t>
            </a:r>
            <a:endParaRPr b="0" i="0" sz="2700" u="none" cap="none" strike="noStrike">
              <a:solidFill>
                <a:schemeClr val="dk1"/>
              </a:solidFill>
              <a:latin typeface="Calibri"/>
              <a:ea typeface="Calibri"/>
              <a:cs typeface="Calibri"/>
              <a:sym typeface="Calibri"/>
            </a:endParaRPr>
          </a:p>
        </p:txBody>
      </p:sp>
      <p:sp>
        <p:nvSpPr>
          <p:cNvPr id="2498" name="Google Shape;2498;p90"/>
          <p:cNvSpPr/>
          <p:nvPr/>
        </p:nvSpPr>
        <p:spPr>
          <a:xfrm>
            <a:off x="502920" y="859536"/>
            <a:ext cx="9646920" cy="31089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F6B7A"/>
              </a:buClr>
              <a:buSzPts val="1250"/>
              <a:buFont typeface="Arial"/>
              <a:buNone/>
            </a:pPr>
            <a:r>
              <a:rPr b="0" i="0" lang="en-US" sz="1250" u="none" cap="none" strike="noStrike">
                <a:solidFill>
                  <a:srgbClr val="5F6B7A"/>
                </a:solidFill>
                <a:latin typeface="Arial"/>
                <a:ea typeface="Arial"/>
                <a:cs typeface="Arial"/>
                <a:sym typeface="Arial"/>
              </a:rPr>
              <a:t>حالات استخدام صناعية</a:t>
            </a:r>
            <a:endParaRPr b="0" i="0" sz="1250" u="none" cap="none" strike="noStrike">
              <a:solidFill>
                <a:schemeClr val="dk1"/>
              </a:solidFill>
              <a:latin typeface="Calibri"/>
              <a:ea typeface="Calibri"/>
              <a:cs typeface="Calibri"/>
              <a:sym typeface="Calibri"/>
            </a:endParaRPr>
          </a:p>
        </p:txBody>
      </p:sp>
      <p:pic>
        <p:nvPicPr>
          <p:cNvPr descr="/sessions/blissful-determined-ritchie/build/assets/sdaia_logo.png" id="2499" name="Google Shape;2499;p90"/>
          <p:cNvPicPr preferRelativeResize="0"/>
          <p:nvPr/>
        </p:nvPicPr>
        <p:blipFill rotWithShape="1">
          <a:blip r:embed="rId3">
            <a:alphaModFix/>
          </a:blip>
          <a:srcRect b="0" l="0" r="0" t="0"/>
          <a:stretch/>
        </p:blipFill>
        <p:spPr>
          <a:xfrm>
            <a:off x="10625328" y="310896"/>
            <a:ext cx="1078992" cy="264111"/>
          </a:xfrm>
          <a:prstGeom prst="rect">
            <a:avLst/>
          </a:prstGeom>
          <a:noFill/>
          <a:ln>
            <a:noFill/>
          </a:ln>
        </p:spPr>
      </p:pic>
      <p:sp>
        <p:nvSpPr>
          <p:cNvPr id="2500" name="Google Shape;2500;p90"/>
          <p:cNvSpPr/>
          <p:nvPr/>
        </p:nvSpPr>
        <p:spPr>
          <a:xfrm>
            <a:off x="502920" y="6528816"/>
            <a:ext cx="8686800"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A79D"/>
              </a:buClr>
              <a:buSzPts val="800"/>
              <a:buFont typeface="Calibri"/>
              <a:buNone/>
            </a:pPr>
            <a:r>
              <a:rPr b="1" i="0" lang="en-US" sz="800" u="none" cap="none" strike="noStrike">
                <a:solidFill>
                  <a:srgbClr val="00A79D"/>
                </a:solidFill>
                <a:latin typeface="Calibri"/>
                <a:ea typeface="Calibri"/>
                <a:cs typeface="Calibri"/>
                <a:sym typeface="Calibri"/>
              </a:rPr>
              <a:t>MODULE 5   </a:t>
            </a:r>
            <a:r>
              <a:rPr b="0" i="0" lang="en-US" sz="800" u="none" cap="none" strike="noStrike">
                <a:solidFill>
                  <a:srgbClr val="8A96A6"/>
                </a:solidFill>
                <a:latin typeface="Calibri"/>
                <a:ea typeface="Calibri"/>
                <a:cs typeface="Calibri"/>
                <a:sym typeface="Calibri"/>
              </a:rPr>
              <a:t>SDA-AIE-212 · Computer Vision Systems Development</a:t>
            </a:r>
            <a:endParaRPr b="0" i="0" sz="800" u="none" cap="none" strike="noStrike">
              <a:solidFill>
                <a:schemeClr val="dk1"/>
              </a:solidFill>
              <a:latin typeface="Calibri"/>
              <a:ea typeface="Calibri"/>
              <a:cs typeface="Calibri"/>
              <a:sym typeface="Calibri"/>
            </a:endParaRPr>
          </a:p>
        </p:txBody>
      </p:sp>
      <p:sp>
        <p:nvSpPr>
          <p:cNvPr id="2501" name="Google Shape;2501;p90"/>
          <p:cNvSpPr/>
          <p:nvPr/>
        </p:nvSpPr>
        <p:spPr>
          <a:xfrm>
            <a:off x="11292840" y="6528816"/>
            <a:ext cx="411480" cy="219456"/>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8A96A6"/>
              </a:buClr>
              <a:buSzPts val="900"/>
              <a:buFont typeface="Calibri"/>
              <a:buNone/>
            </a:pPr>
            <a:r>
              <a:rPr b="0" i="0" lang="en-US" sz="900" u="none" cap="none" strike="noStrike">
                <a:solidFill>
                  <a:srgbClr val="8A96A6"/>
                </a:solidFill>
                <a:latin typeface="Calibri"/>
                <a:ea typeface="Calibri"/>
                <a:cs typeface="Calibri"/>
                <a:sym typeface="Calibri"/>
              </a:rPr>
              <a:t>90</a:t>
            </a:r>
            <a:endParaRPr b="0" i="0" sz="900" u="none" cap="none" strike="noStrike">
              <a:solidFill>
                <a:schemeClr val="dk1"/>
              </a:solidFill>
              <a:latin typeface="Calibri"/>
              <a:ea typeface="Calibri"/>
              <a:cs typeface="Calibri"/>
              <a:sym typeface="Calibri"/>
            </a:endParaRPr>
          </a:p>
        </p:txBody>
      </p:sp>
      <p:sp>
        <p:nvSpPr>
          <p:cNvPr id="2502" name="Google Shape;2502;p90"/>
          <p:cNvSpPr/>
          <p:nvPr/>
        </p:nvSpPr>
        <p:spPr>
          <a:xfrm>
            <a:off x="502920" y="1389888"/>
            <a:ext cx="5455768" cy="2354580"/>
          </a:xfrm>
          <a:prstGeom prst="roundRect">
            <a:avLst>
              <a:gd fmla="val 3107" name="adj"/>
            </a:avLst>
          </a:prstGeom>
          <a:solidFill>
            <a:srgbClr val="F2F6F9"/>
          </a:solidFill>
          <a:ln cap="flat" cmpd="sng" w="12700">
            <a:solidFill>
              <a:srgbClr val="D9E2E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03" name="Google Shape;2503;p90"/>
          <p:cNvSpPr/>
          <p:nvPr/>
        </p:nvSpPr>
        <p:spPr>
          <a:xfrm>
            <a:off x="667512" y="1536192"/>
            <a:ext cx="310896" cy="310896"/>
          </a:xfrm>
          <a:prstGeom prst="ellipse">
            <a:avLst/>
          </a:prstGeom>
          <a:solidFill>
            <a:srgbClr val="00A79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04" name="Google Shape;2504;p90"/>
          <p:cNvSpPr/>
          <p:nvPr/>
        </p:nvSpPr>
        <p:spPr>
          <a:xfrm>
            <a:off x="667512" y="1536192"/>
            <a:ext cx="310896" cy="31089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200"/>
              <a:buFont typeface="Calibri"/>
              <a:buNone/>
            </a:pPr>
            <a:r>
              <a:rPr b="1" i="0" lang="en-US" sz="1200" u="none" cap="none" strike="noStrike">
                <a:solidFill>
                  <a:srgbClr val="FFFFFF"/>
                </a:solidFill>
                <a:latin typeface="Calibri"/>
                <a:ea typeface="Calibri"/>
                <a:cs typeface="Calibri"/>
                <a:sym typeface="Calibri"/>
              </a:rPr>
              <a:t>1</a:t>
            </a:r>
            <a:endParaRPr b="0" i="0" sz="1200" u="none" cap="none" strike="noStrike">
              <a:solidFill>
                <a:schemeClr val="dk1"/>
              </a:solidFill>
              <a:latin typeface="Calibri"/>
              <a:ea typeface="Calibri"/>
              <a:cs typeface="Calibri"/>
              <a:sym typeface="Calibri"/>
            </a:endParaRPr>
          </a:p>
        </p:txBody>
      </p:sp>
      <p:sp>
        <p:nvSpPr>
          <p:cNvPr id="2505" name="Google Shape;2505;p90"/>
          <p:cNvSpPr/>
          <p:nvPr/>
        </p:nvSpPr>
        <p:spPr>
          <a:xfrm>
            <a:off x="1088136" y="1499616"/>
            <a:ext cx="4724248" cy="38404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D2A5C"/>
              </a:buClr>
              <a:buSzPts val="1250"/>
              <a:buFont typeface="Calibri"/>
              <a:buNone/>
            </a:pPr>
            <a:r>
              <a:rPr b="1" i="0" lang="en-US" sz="1250" u="none" cap="none" strike="noStrike">
                <a:solidFill>
                  <a:srgbClr val="1D2A5C"/>
                </a:solidFill>
                <a:latin typeface="Calibri"/>
                <a:ea typeface="Calibri"/>
                <a:cs typeface="Calibri"/>
                <a:sym typeface="Calibri"/>
              </a:rPr>
              <a:t>Tamr Vision v2 dataset</a:t>
            </a:r>
            <a:endParaRPr b="0" i="0" sz="1250" u="none" cap="none" strike="noStrike">
              <a:solidFill>
                <a:schemeClr val="dk1"/>
              </a:solidFill>
              <a:latin typeface="Calibri"/>
              <a:ea typeface="Calibri"/>
              <a:cs typeface="Calibri"/>
              <a:sym typeface="Calibri"/>
            </a:endParaRPr>
          </a:p>
        </p:txBody>
      </p:sp>
      <p:sp>
        <p:nvSpPr>
          <p:cNvPr id="2506" name="Google Shape;2506;p90"/>
          <p:cNvSpPr/>
          <p:nvPr/>
        </p:nvSpPr>
        <p:spPr>
          <a:xfrm>
            <a:off x="685800" y="1920240"/>
            <a:ext cx="5090008" cy="17145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5F6B7A"/>
              </a:buClr>
              <a:buSzPts val="1100"/>
              <a:buFont typeface="Calibri"/>
              <a:buNone/>
            </a:pPr>
            <a:r>
              <a:rPr b="0" i="0" lang="en-US" sz="1100" u="none" cap="none" strike="noStrike">
                <a:solidFill>
                  <a:srgbClr val="5F6B7A"/>
                </a:solidFill>
                <a:latin typeface="Calibri"/>
                <a:ea typeface="Calibri"/>
                <a:cs typeface="Calibri"/>
                <a:sym typeface="Calibri"/>
              </a:rPr>
              <a:t>Model-assisted auditing finds ~4% label errors in v1; the spec gains three boundary rules; 800 actively-selected frames lift insect_damage AP by 0.09.</a:t>
            </a:r>
            <a:endParaRPr b="0" i="0" sz="1100" u="none" cap="none" strike="noStrike">
              <a:solidFill>
                <a:schemeClr val="dk1"/>
              </a:solidFill>
              <a:latin typeface="Calibri"/>
              <a:ea typeface="Calibri"/>
              <a:cs typeface="Calibri"/>
              <a:sym typeface="Calibri"/>
            </a:endParaRPr>
          </a:p>
        </p:txBody>
      </p:sp>
      <p:sp>
        <p:nvSpPr>
          <p:cNvPr id="2507" name="Google Shape;2507;p90"/>
          <p:cNvSpPr/>
          <p:nvPr/>
        </p:nvSpPr>
        <p:spPr>
          <a:xfrm>
            <a:off x="6233008" y="1389888"/>
            <a:ext cx="5455768" cy="2354580"/>
          </a:xfrm>
          <a:prstGeom prst="roundRect">
            <a:avLst>
              <a:gd fmla="val 3107" name="adj"/>
            </a:avLst>
          </a:prstGeom>
          <a:solidFill>
            <a:srgbClr val="F2F6F9"/>
          </a:solidFill>
          <a:ln cap="flat" cmpd="sng" w="12700">
            <a:solidFill>
              <a:srgbClr val="D9E2E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08" name="Google Shape;2508;p90"/>
          <p:cNvSpPr/>
          <p:nvPr/>
        </p:nvSpPr>
        <p:spPr>
          <a:xfrm>
            <a:off x="6397600" y="1536192"/>
            <a:ext cx="310896" cy="310896"/>
          </a:xfrm>
          <a:prstGeom prst="ellipse">
            <a:avLst/>
          </a:prstGeom>
          <a:solidFill>
            <a:srgbClr val="29ABE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09" name="Google Shape;2509;p90"/>
          <p:cNvSpPr/>
          <p:nvPr/>
        </p:nvSpPr>
        <p:spPr>
          <a:xfrm>
            <a:off x="6397600" y="1536192"/>
            <a:ext cx="310896" cy="31089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200"/>
              <a:buFont typeface="Calibri"/>
              <a:buNone/>
            </a:pPr>
            <a:r>
              <a:rPr b="1" i="0" lang="en-US" sz="1200" u="none" cap="none" strike="noStrike">
                <a:solidFill>
                  <a:srgbClr val="FFFFFF"/>
                </a:solidFill>
                <a:latin typeface="Calibri"/>
                <a:ea typeface="Calibri"/>
                <a:cs typeface="Calibri"/>
                <a:sym typeface="Calibri"/>
              </a:rPr>
              <a:t>2</a:t>
            </a:r>
            <a:endParaRPr b="0" i="0" sz="1200" u="none" cap="none" strike="noStrike">
              <a:solidFill>
                <a:schemeClr val="dk1"/>
              </a:solidFill>
              <a:latin typeface="Calibri"/>
              <a:ea typeface="Calibri"/>
              <a:cs typeface="Calibri"/>
              <a:sym typeface="Calibri"/>
            </a:endParaRPr>
          </a:p>
        </p:txBody>
      </p:sp>
      <p:sp>
        <p:nvSpPr>
          <p:cNvPr id="2510" name="Google Shape;2510;p90"/>
          <p:cNvSpPr/>
          <p:nvPr/>
        </p:nvSpPr>
        <p:spPr>
          <a:xfrm>
            <a:off x="6818224" y="1499616"/>
            <a:ext cx="4724248" cy="38404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D2A5C"/>
              </a:buClr>
              <a:buSzPts val="1250"/>
              <a:buFont typeface="Calibri"/>
              <a:buNone/>
            </a:pPr>
            <a:r>
              <a:rPr b="1" i="0" lang="en-US" sz="1250" u="none" cap="none" strike="noStrike">
                <a:solidFill>
                  <a:srgbClr val="1D2A5C"/>
                </a:solidFill>
                <a:latin typeface="Calibri"/>
                <a:ea typeface="Calibri"/>
                <a:cs typeface="Calibri"/>
                <a:sym typeface="Calibri"/>
              </a:rPr>
              <a:t>Palm survey — Al-Ahsa</a:t>
            </a:r>
            <a:endParaRPr b="0" i="0" sz="1250" u="none" cap="none" strike="noStrike">
              <a:solidFill>
                <a:schemeClr val="dk1"/>
              </a:solidFill>
              <a:latin typeface="Calibri"/>
              <a:ea typeface="Calibri"/>
              <a:cs typeface="Calibri"/>
              <a:sym typeface="Calibri"/>
            </a:endParaRPr>
          </a:p>
        </p:txBody>
      </p:sp>
      <p:sp>
        <p:nvSpPr>
          <p:cNvPr id="2511" name="Google Shape;2511;p90"/>
          <p:cNvSpPr/>
          <p:nvPr/>
        </p:nvSpPr>
        <p:spPr>
          <a:xfrm>
            <a:off x="6415888" y="1920240"/>
            <a:ext cx="5090008" cy="17145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5F6B7A"/>
              </a:buClr>
              <a:buSzPts val="1100"/>
              <a:buFont typeface="Calibri"/>
              <a:buNone/>
            </a:pPr>
            <a:r>
              <a:rPr b="0" i="0" lang="en-US" sz="1100" u="none" cap="none" strike="noStrike">
                <a:solidFill>
                  <a:srgbClr val="5F6B7A"/>
                </a:solidFill>
                <a:latin typeface="Calibri"/>
                <a:ea typeface="Calibri"/>
                <a:cs typeface="Calibri"/>
                <a:sym typeface="Calibri"/>
              </a:rPr>
              <a:t>Drone imagery annotated offshore: 'pest stress' and 'drought stress' systematically swapped because the spec had no reference images — a 60,000-riyal lesson.</a:t>
            </a:r>
            <a:endParaRPr b="0" i="0" sz="1100" u="none" cap="none" strike="noStrike">
              <a:solidFill>
                <a:schemeClr val="dk1"/>
              </a:solidFill>
              <a:latin typeface="Calibri"/>
              <a:ea typeface="Calibri"/>
              <a:cs typeface="Calibri"/>
              <a:sym typeface="Calibri"/>
            </a:endParaRPr>
          </a:p>
        </p:txBody>
      </p:sp>
      <p:sp>
        <p:nvSpPr>
          <p:cNvPr id="2512" name="Google Shape;2512;p90"/>
          <p:cNvSpPr/>
          <p:nvPr/>
        </p:nvSpPr>
        <p:spPr>
          <a:xfrm>
            <a:off x="502920" y="4000500"/>
            <a:ext cx="5455768" cy="2354580"/>
          </a:xfrm>
          <a:prstGeom prst="roundRect">
            <a:avLst>
              <a:gd fmla="val 3107" name="adj"/>
            </a:avLst>
          </a:prstGeom>
          <a:solidFill>
            <a:srgbClr val="F2F6F9"/>
          </a:solidFill>
          <a:ln cap="flat" cmpd="sng" w="12700">
            <a:solidFill>
              <a:srgbClr val="D9E2E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13" name="Google Shape;2513;p90"/>
          <p:cNvSpPr/>
          <p:nvPr/>
        </p:nvSpPr>
        <p:spPr>
          <a:xfrm>
            <a:off x="667512" y="4146804"/>
            <a:ext cx="310896" cy="310896"/>
          </a:xfrm>
          <a:prstGeom prst="ellipse">
            <a:avLst/>
          </a:prstGeom>
          <a:solidFill>
            <a:srgbClr val="F5822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14" name="Google Shape;2514;p90"/>
          <p:cNvSpPr/>
          <p:nvPr/>
        </p:nvSpPr>
        <p:spPr>
          <a:xfrm>
            <a:off x="667512" y="4146804"/>
            <a:ext cx="310896" cy="31089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200"/>
              <a:buFont typeface="Calibri"/>
              <a:buNone/>
            </a:pPr>
            <a:r>
              <a:rPr b="1" i="0" lang="en-US" sz="1200" u="none" cap="none" strike="noStrike">
                <a:solidFill>
                  <a:srgbClr val="FFFFFF"/>
                </a:solidFill>
                <a:latin typeface="Calibri"/>
                <a:ea typeface="Calibri"/>
                <a:cs typeface="Calibri"/>
                <a:sym typeface="Calibri"/>
              </a:rPr>
              <a:t>3</a:t>
            </a:r>
            <a:endParaRPr b="0" i="0" sz="1200" u="none" cap="none" strike="noStrike">
              <a:solidFill>
                <a:schemeClr val="dk1"/>
              </a:solidFill>
              <a:latin typeface="Calibri"/>
              <a:ea typeface="Calibri"/>
              <a:cs typeface="Calibri"/>
              <a:sym typeface="Calibri"/>
            </a:endParaRPr>
          </a:p>
        </p:txBody>
      </p:sp>
      <p:sp>
        <p:nvSpPr>
          <p:cNvPr id="2515" name="Google Shape;2515;p90"/>
          <p:cNvSpPr/>
          <p:nvPr/>
        </p:nvSpPr>
        <p:spPr>
          <a:xfrm>
            <a:off x="1088136" y="4110228"/>
            <a:ext cx="4724248" cy="38404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D2A5C"/>
              </a:buClr>
              <a:buSzPts val="1250"/>
              <a:buFont typeface="Calibri"/>
              <a:buNone/>
            </a:pPr>
            <a:r>
              <a:rPr b="1" i="0" lang="en-US" sz="1250" u="none" cap="none" strike="noStrike">
                <a:solidFill>
                  <a:srgbClr val="1D2A5C"/>
                </a:solidFill>
                <a:latin typeface="Calibri"/>
                <a:ea typeface="Calibri"/>
                <a:cs typeface="Calibri"/>
                <a:sym typeface="Calibri"/>
              </a:rPr>
              <a:t>Retail-shelf monitoring</a:t>
            </a:r>
            <a:endParaRPr b="0" i="0" sz="1250" u="none" cap="none" strike="noStrike">
              <a:solidFill>
                <a:schemeClr val="dk1"/>
              </a:solidFill>
              <a:latin typeface="Calibri"/>
              <a:ea typeface="Calibri"/>
              <a:cs typeface="Calibri"/>
              <a:sym typeface="Calibri"/>
            </a:endParaRPr>
          </a:p>
        </p:txBody>
      </p:sp>
      <p:sp>
        <p:nvSpPr>
          <p:cNvPr id="2516" name="Google Shape;2516;p90"/>
          <p:cNvSpPr/>
          <p:nvPr/>
        </p:nvSpPr>
        <p:spPr>
          <a:xfrm>
            <a:off x="685800" y="4530852"/>
            <a:ext cx="5090008" cy="17145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5F6B7A"/>
              </a:buClr>
              <a:buSzPts val="1100"/>
              <a:buFont typeface="Calibri"/>
              <a:buNone/>
            </a:pPr>
            <a:r>
              <a:rPr b="0" i="0" lang="en-US" sz="1100" u="none" cap="none" strike="noStrike">
                <a:solidFill>
                  <a:srgbClr val="5F6B7A"/>
                </a:solidFill>
                <a:latin typeface="Calibri"/>
                <a:ea typeface="Calibri"/>
                <a:cs typeface="Calibri"/>
                <a:sym typeface="Calibri"/>
              </a:rPr>
              <a:t>A weekly active-learning loop labels only the 300 most-informative frames from 2M captured, keeping annotation spend flat as the SKU catalogue grows.</a:t>
            </a:r>
            <a:endParaRPr b="0" i="0" sz="1100" u="none" cap="none" strike="noStrike">
              <a:solidFill>
                <a:schemeClr val="dk1"/>
              </a:solidFill>
              <a:latin typeface="Calibri"/>
              <a:ea typeface="Calibri"/>
              <a:cs typeface="Calibri"/>
              <a:sym typeface="Calibri"/>
            </a:endParaRPr>
          </a:p>
        </p:txBody>
      </p:sp>
    </p:spTree>
  </p:cSld>
  <p:clrMapOvr>
    <a:masterClrMapping/>
  </p:clrMapOvr>
</p:sld>
</file>

<file path=ppt/slides/slide9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521" name="Shape 2521"/>
        <p:cNvGrpSpPr/>
        <p:nvPr/>
      </p:nvGrpSpPr>
      <p:grpSpPr>
        <a:xfrm>
          <a:off x="0" y="0"/>
          <a:ext cx="0" cy="0"/>
          <a:chOff x="0" y="0"/>
          <a:chExt cx="0" cy="0"/>
        </a:xfrm>
      </p:grpSpPr>
      <p:sp>
        <p:nvSpPr>
          <p:cNvPr id="2522" name="Google Shape;2522;p91"/>
          <p:cNvSpPr/>
          <p:nvPr/>
        </p:nvSpPr>
        <p:spPr>
          <a:xfrm>
            <a:off x="502920" y="274320"/>
            <a:ext cx="9646920" cy="56692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D2A5C"/>
              </a:buClr>
              <a:buSzPts val="2700"/>
              <a:buFont typeface="Calibri"/>
              <a:buNone/>
            </a:pPr>
            <a:r>
              <a:rPr b="1" i="0" lang="en-US" sz="2700" u="none" cap="none" strike="noStrike">
                <a:solidFill>
                  <a:srgbClr val="1D2A5C"/>
                </a:solidFill>
                <a:latin typeface="Calibri"/>
                <a:ea typeface="Calibri"/>
                <a:cs typeface="Calibri"/>
                <a:sym typeface="Calibri"/>
              </a:rPr>
              <a:t>Learning Objectives</a:t>
            </a:r>
            <a:endParaRPr b="0" i="0" sz="2700" u="none" cap="none" strike="noStrike">
              <a:solidFill>
                <a:schemeClr val="dk1"/>
              </a:solidFill>
              <a:latin typeface="Calibri"/>
              <a:ea typeface="Calibri"/>
              <a:cs typeface="Calibri"/>
              <a:sym typeface="Calibri"/>
            </a:endParaRPr>
          </a:p>
        </p:txBody>
      </p:sp>
      <p:sp>
        <p:nvSpPr>
          <p:cNvPr id="2523" name="Google Shape;2523;p91"/>
          <p:cNvSpPr/>
          <p:nvPr/>
        </p:nvSpPr>
        <p:spPr>
          <a:xfrm>
            <a:off x="502920" y="859536"/>
            <a:ext cx="9646920" cy="31089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F6B7A"/>
              </a:buClr>
              <a:buSzPts val="1250"/>
              <a:buFont typeface="Arial"/>
              <a:buNone/>
            </a:pPr>
            <a:r>
              <a:rPr b="0" i="0" lang="en-US" sz="1250" u="none" cap="none" strike="noStrike">
                <a:solidFill>
                  <a:srgbClr val="5F6B7A"/>
                </a:solidFill>
                <a:latin typeface="Arial"/>
                <a:ea typeface="Arial"/>
                <a:cs typeface="Arial"/>
                <a:sym typeface="Arial"/>
              </a:rPr>
              <a:t>أهداف التعلم</a:t>
            </a:r>
            <a:endParaRPr b="0" i="0" sz="1250" u="none" cap="none" strike="noStrike">
              <a:solidFill>
                <a:schemeClr val="dk1"/>
              </a:solidFill>
              <a:latin typeface="Calibri"/>
              <a:ea typeface="Calibri"/>
              <a:cs typeface="Calibri"/>
              <a:sym typeface="Calibri"/>
            </a:endParaRPr>
          </a:p>
        </p:txBody>
      </p:sp>
      <p:pic>
        <p:nvPicPr>
          <p:cNvPr descr="/sessions/blissful-determined-ritchie/build/assets/sdaia_logo.png" id="2524" name="Google Shape;2524;p91"/>
          <p:cNvPicPr preferRelativeResize="0"/>
          <p:nvPr/>
        </p:nvPicPr>
        <p:blipFill rotWithShape="1">
          <a:blip r:embed="rId3">
            <a:alphaModFix/>
          </a:blip>
          <a:srcRect b="0" l="0" r="0" t="0"/>
          <a:stretch/>
        </p:blipFill>
        <p:spPr>
          <a:xfrm>
            <a:off x="10625328" y="310896"/>
            <a:ext cx="1078992" cy="264111"/>
          </a:xfrm>
          <a:prstGeom prst="rect">
            <a:avLst/>
          </a:prstGeom>
          <a:noFill/>
          <a:ln>
            <a:noFill/>
          </a:ln>
        </p:spPr>
      </p:pic>
      <p:sp>
        <p:nvSpPr>
          <p:cNvPr id="2525" name="Google Shape;2525;p91"/>
          <p:cNvSpPr/>
          <p:nvPr/>
        </p:nvSpPr>
        <p:spPr>
          <a:xfrm>
            <a:off x="502920" y="6528816"/>
            <a:ext cx="8686800"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A79D"/>
              </a:buClr>
              <a:buSzPts val="800"/>
              <a:buFont typeface="Calibri"/>
              <a:buNone/>
            </a:pPr>
            <a:r>
              <a:rPr b="1" i="0" lang="en-US" sz="800" u="none" cap="none" strike="noStrike">
                <a:solidFill>
                  <a:srgbClr val="00A79D"/>
                </a:solidFill>
                <a:latin typeface="Calibri"/>
                <a:ea typeface="Calibri"/>
                <a:cs typeface="Calibri"/>
                <a:sym typeface="Calibri"/>
              </a:rPr>
              <a:t>MODULE 5   </a:t>
            </a:r>
            <a:r>
              <a:rPr b="0" i="0" lang="en-US" sz="800" u="none" cap="none" strike="noStrike">
                <a:solidFill>
                  <a:srgbClr val="8A96A6"/>
                </a:solidFill>
                <a:latin typeface="Calibri"/>
                <a:ea typeface="Calibri"/>
                <a:cs typeface="Calibri"/>
                <a:sym typeface="Calibri"/>
              </a:rPr>
              <a:t>SDA-AIE-212 · Computer Vision Systems Development</a:t>
            </a:r>
            <a:endParaRPr b="0" i="0" sz="800" u="none" cap="none" strike="noStrike">
              <a:solidFill>
                <a:schemeClr val="dk1"/>
              </a:solidFill>
              <a:latin typeface="Calibri"/>
              <a:ea typeface="Calibri"/>
              <a:cs typeface="Calibri"/>
              <a:sym typeface="Calibri"/>
            </a:endParaRPr>
          </a:p>
        </p:txBody>
      </p:sp>
      <p:sp>
        <p:nvSpPr>
          <p:cNvPr id="2526" name="Google Shape;2526;p91"/>
          <p:cNvSpPr/>
          <p:nvPr/>
        </p:nvSpPr>
        <p:spPr>
          <a:xfrm>
            <a:off x="11292840" y="6528816"/>
            <a:ext cx="411480" cy="219456"/>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8A96A6"/>
              </a:buClr>
              <a:buSzPts val="900"/>
              <a:buFont typeface="Calibri"/>
              <a:buNone/>
            </a:pPr>
            <a:r>
              <a:rPr b="0" i="0" lang="en-US" sz="900" u="none" cap="none" strike="noStrike">
                <a:solidFill>
                  <a:srgbClr val="8A96A6"/>
                </a:solidFill>
                <a:latin typeface="Calibri"/>
                <a:ea typeface="Calibri"/>
                <a:cs typeface="Calibri"/>
                <a:sym typeface="Calibri"/>
              </a:rPr>
              <a:t>91</a:t>
            </a:r>
            <a:endParaRPr b="0" i="0" sz="900" u="none" cap="none" strike="noStrike">
              <a:solidFill>
                <a:schemeClr val="dk1"/>
              </a:solidFill>
              <a:latin typeface="Calibri"/>
              <a:ea typeface="Calibri"/>
              <a:cs typeface="Calibri"/>
              <a:sym typeface="Calibri"/>
            </a:endParaRPr>
          </a:p>
        </p:txBody>
      </p:sp>
      <p:sp>
        <p:nvSpPr>
          <p:cNvPr id="2527" name="Google Shape;2527;p91"/>
          <p:cNvSpPr/>
          <p:nvPr/>
        </p:nvSpPr>
        <p:spPr>
          <a:xfrm>
            <a:off x="502920" y="1499616"/>
            <a:ext cx="11183112" cy="832104"/>
          </a:xfrm>
          <a:prstGeom prst="roundRect">
            <a:avLst>
              <a:gd fmla="val 7692" name="adj"/>
            </a:avLst>
          </a:prstGeom>
          <a:solidFill>
            <a:srgbClr val="FAFCFE"/>
          </a:solidFill>
          <a:ln cap="flat" cmpd="sng" w="9525">
            <a:solidFill>
              <a:srgbClr val="D9E2E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28" name="Google Shape;2528;p91"/>
          <p:cNvSpPr/>
          <p:nvPr/>
        </p:nvSpPr>
        <p:spPr>
          <a:xfrm>
            <a:off x="649224" y="1751076"/>
            <a:ext cx="329184" cy="329184"/>
          </a:xfrm>
          <a:prstGeom prst="ellipse">
            <a:avLst/>
          </a:prstGeom>
          <a:solidFill>
            <a:srgbClr val="00A79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29" name="Google Shape;2529;p91"/>
          <p:cNvSpPr/>
          <p:nvPr/>
        </p:nvSpPr>
        <p:spPr>
          <a:xfrm>
            <a:off x="649224" y="1751076"/>
            <a:ext cx="329184" cy="32918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150"/>
              <a:buFont typeface="Calibri"/>
              <a:buNone/>
            </a:pPr>
            <a:r>
              <a:rPr b="1" i="0" lang="en-US" sz="1150" u="none" cap="none" strike="noStrike">
                <a:solidFill>
                  <a:srgbClr val="FFFFFF"/>
                </a:solidFill>
                <a:latin typeface="Calibri"/>
                <a:ea typeface="Calibri"/>
                <a:cs typeface="Calibri"/>
                <a:sym typeface="Calibri"/>
              </a:rPr>
              <a:t>5.1</a:t>
            </a:r>
            <a:endParaRPr b="0" i="0" sz="1150" u="none" cap="none" strike="noStrike">
              <a:solidFill>
                <a:schemeClr val="dk1"/>
              </a:solidFill>
              <a:latin typeface="Calibri"/>
              <a:ea typeface="Calibri"/>
              <a:cs typeface="Calibri"/>
              <a:sym typeface="Calibri"/>
            </a:endParaRPr>
          </a:p>
        </p:txBody>
      </p:sp>
      <p:sp>
        <p:nvSpPr>
          <p:cNvPr id="2530" name="Google Shape;2530;p91"/>
          <p:cNvSpPr/>
          <p:nvPr/>
        </p:nvSpPr>
        <p:spPr>
          <a:xfrm>
            <a:off x="1143000" y="1499616"/>
            <a:ext cx="8321040" cy="83210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3293B"/>
              </a:buClr>
              <a:buSzPts val="1250"/>
              <a:buFont typeface="Calibri"/>
              <a:buNone/>
            </a:pPr>
            <a:r>
              <a:rPr b="0" i="0" lang="en-US" sz="1250" u="none" cap="none" strike="noStrike">
                <a:solidFill>
                  <a:srgbClr val="23293B"/>
                </a:solidFill>
                <a:latin typeface="Calibri"/>
                <a:ea typeface="Calibri"/>
                <a:cs typeface="Calibri"/>
                <a:sym typeface="Calibri"/>
              </a:rPr>
              <a:t>Write an annotation spec: taxonomy, boundary rules, edge-case gallery, QA procedure</a:t>
            </a:r>
            <a:endParaRPr b="0" i="0" sz="1250" u="none" cap="none" strike="noStrike">
              <a:solidFill>
                <a:schemeClr val="dk1"/>
              </a:solidFill>
              <a:latin typeface="Calibri"/>
              <a:ea typeface="Calibri"/>
              <a:cs typeface="Calibri"/>
              <a:sym typeface="Calibri"/>
            </a:endParaRPr>
          </a:p>
        </p:txBody>
      </p:sp>
      <p:sp>
        <p:nvSpPr>
          <p:cNvPr id="2531" name="Google Shape;2531;p91"/>
          <p:cNvSpPr/>
          <p:nvPr/>
        </p:nvSpPr>
        <p:spPr>
          <a:xfrm>
            <a:off x="9646920" y="1741932"/>
            <a:ext cx="658368" cy="310896"/>
          </a:xfrm>
          <a:prstGeom prst="roundRect">
            <a:avLst>
              <a:gd fmla="val 50000" name="adj"/>
            </a:avLst>
          </a:prstGeom>
          <a:solidFill>
            <a:srgbClr val="E9F6F5"/>
          </a:solidFill>
          <a:ln cap="flat" cmpd="sng" w="9525">
            <a:solidFill>
              <a:srgbClr val="00A79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32" name="Google Shape;2532;p91"/>
          <p:cNvSpPr/>
          <p:nvPr/>
        </p:nvSpPr>
        <p:spPr>
          <a:xfrm>
            <a:off x="9646920" y="1741932"/>
            <a:ext cx="658368" cy="31089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56A63"/>
              </a:buClr>
              <a:buSzPts val="950"/>
              <a:buFont typeface="Calibri"/>
              <a:buNone/>
            </a:pPr>
            <a:r>
              <a:rPr b="1" i="0" lang="en-US" sz="950" u="none" cap="none" strike="noStrike">
                <a:solidFill>
                  <a:srgbClr val="056A63"/>
                </a:solidFill>
                <a:latin typeface="Calibri"/>
                <a:ea typeface="Calibri"/>
                <a:cs typeface="Calibri"/>
                <a:sym typeface="Calibri"/>
              </a:rPr>
              <a:t>LO3</a:t>
            </a:r>
            <a:endParaRPr b="0" i="0" sz="950" u="none" cap="none" strike="noStrike">
              <a:solidFill>
                <a:schemeClr val="dk1"/>
              </a:solidFill>
              <a:latin typeface="Calibri"/>
              <a:ea typeface="Calibri"/>
              <a:cs typeface="Calibri"/>
              <a:sym typeface="Calibri"/>
            </a:endParaRPr>
          </a:p>
        </p:txBody>
      </p:sp>
      <p:sp>
        <p:nvSpPr>
          <p:cNvPr id="2533" name="Google Shape;2533;p91"/>
          <p:cNvSpPr/>
          <p:nvPr/>
        </p:nvSpPr>
        <p:spPr>
          <a:xfrm>
            <a:off x="502920" y="2459736"/>
            <a:ext cx="11183112" cy="832104"/>
          </a:xfrm>
          <a:prstGeom prst="roundRect">
            <a:avLst>
              <a:gd fmla="val 7692" name="adj"/>
            </a:avLst>
          </a:prstGeom>
          <a:solidFill>
            <a:srgbClr val="F2F6F9"/>
          </a:solidFill>
          <a:ln cap="flat" cmpd="sng" w="9525">
            <a:solidFill>
              <a:srgbClr val="D9E2E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34" name="Google Shape;2534;p91"/>
          <p:cNvSpPr/>
          <p:nvPr/>
        </p:nvSpPr>
        <p:spPr>
          <a:xfrm>
            <a:off x="649224" y="2711196"/>
            <a:ext cx="329184" cy="329184"/>
          </a:xfrm>
          <a:prstGeom prst="ellipse">
            <a:avLst/>
          </a:prstGeom>
          <a:solidFill>
            <a:srgbClr val="00A79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35" name="Google Shape;2535;p91"/>
          <p:cNvSpPr/>
          <p:nvPr/>
        </p:nvSpPr>
        <p:spPr>
          <a:xfrm>
            <a:off x="649224" y="2711196"/>
            <a:ext cx="329184" cy="32918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150"/>
              <a:buFont typeface="Calibri"/>
              <a:buNone/>
            </a:pPr>
            <a:r>
              <a:rPr b="1" i="0" lang="en-US" sz="1150" u="none" cap="none" strike="noStrike">
                <a:solidFill>
                  <a:srgbClr val="FFFFFF"/>
                </a:solidFill>
                <a:latin typeface="Calibri"/>
                <a:ea typeface="Calibri"/>
                <a:cs typeface="Calibri"/>
                <a:sym typeface="Calibri"/>
              </a:rPr>
              <a:t>5.2</a:t>
            </a:r>
            <a:endParaRPr b="0" i="0" sz="1150" u="none" cap="none" strike="noStrike">
              <a:solidFill>
                <a:schemeClr val="dk1"/>
              </a:solidFill>
              <a:latin typeface="Calibri"/>
              <a:ea typeface="Calibri"/>
              <a:cs typeface="Calibri"/>
              <a:sym typeface="Calibri"/>
            </a:endParaRPr>
          </a:p>
        </p:txBody>
      </p:sp>
      <p:sp>
        <p:nvSpPr>
          <p:cNvPr id="2536" name="Google Shape;2536;p91"/>
          <p:cNvSpPr/>
          <p:nvPr/>
        </p:nvSpPr>
        <p:spPr>
          <a:xfrm>
            <a:off x="1143000" y="2459736"/>
            <a:ext cx="8321040" cy="83210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3293B"/>
              </a:buClr>
              <a:buSzPts val="1250"/>
              <a:buFont typeface="Calibri"/>
              <a:buNone/>
            </a:pPr>
            <a:r>
              <a:rPr b="0" i="0" lang="en-US" sz="1250" u="none" cap="none" strike="noStrike">
                <a:solidFill>
                  <a:srgbClr val="23293B"/>
                </a:solidFill>
                <a:latin typeface="Calibri"/>
                <a:ea typeface="Calibri"/>
                <a:cs typeface="Calibri"/>
                <a:sym typeface="Calibri"/>
              </a:rPr>
              <a:t>Measure label quality with inter-annotator agreement (class kappa, box/mask IoU)</a:t>
            </a:r>
            <a:endParaRPr b="0" i="0" sz="1250" u="none" cap="none" strike="noStrike">
              <a:solidFill>
                <a:schemeClr val="dk1"/>
              </a:solidFill>
              <a:latin typeface="Calibri"/>
              <a:ea typeface="Calibri"/>
              <a:cs typeface="Calibri"/>
              <a:sym typeface="Calibri"/>
            </a:endParaRPr>
          </a:p>
        </p:txBody>
      </p:sp>
      <p:sp>
        <p:nvSpPr>
          <p:cNvPr id="2537" name="Google Shape;2537;p91"/>
          <p:cNvSpPr/>
          <p:nvPr/>
        </p:nvSpPr>
        <p:spPr>
          <a:xfrm>
            <a:off x="9646920" y="2702052"/>
            <a:ext cx="658368" cy="310896"/>
          </a:xfrm>
          <a:prstGeom prst="roundRect">
            <a:avLst>
              <a:gd fmla="val 50000" name="adj"/>
            </a:avLst>
          </a:prstGeom>
          <a:solidFill>
            <a:srgbClr val="E9F6F5"/>
          </a:solidFill>
          <a:ln cap="flat" cmpd="sng" w="9525">
            <a:solidFill>
              <a:srgbClr val="00A79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38" name="Google Shape;2538;p91"/>
          <p:cNvSpPr/>
          <p:nvPr/>
        </p:nvSpPr>
        <p:spPr>
          <a:xfrm>
            <a:off x="9646920" y="2702052"/>
            <a:ext cx="658368" cy="31089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56A63"/>
              </a:buClr>
              <a:buSzPts val="950"/>
              <a:buFont typeface="Calibri"/>
              <a:buNone/>
            </a:pPr>
            <a:r>
              <a:rPr b="1" i="0" lang="en-US" sz="950" u="none" cap="none" strike="noStrike">
                <a:solidFill>
                  <a:srgbClr val="056A63"/>
                </a:solidFill>
                <a:latin typeface="Calibri"/>
                <a:ea typeface="Calibri"/>
                <a:cs typeface="Calibri"/>
                <a:sym typeface="Calibri"/>
              </a:rPr>
              <a:t>LO3</a:t>
            </a:r>
            <a:endParaRPr b="0" i="0" sz="950" u="none" cap="none" strike="noStrike">
              <a:solidFill>
                <a:schemeClr val="dk1"/>
              </a:solidFill>
              <a:latin typeface="Calibri"/>
              <a:ea typeface="Calibri"/>
              <a:cs typeface="Calibri"/>
              <a:sym typeface="Calibri"/>
            </a:endParaRPr>
          </a:p>
        </p:txBody>
      </p:sp>
      <p:sp>
        <p:nvSpPr>
          <p:cNvPr id="2539" name="Google Shape;2539;p91"/>
          <p:cNvSpPr/>
          <p:nvPr/>
        </p:nvSpPr>
        <p:spPr>
          <a:xfrm>
            <a:off x="10360152" y="2702052"/>
            <a:ext cx="658368" cy="310896"/>
          </a:xfrm>
          <a:prstGeom prst="roundRect">
            <a:avLst>
              <a:gd fmla="val 50000" name="adj"/>
            </a:avLst>
          </a:prstGeom>
          <a:solidFill>
            <a:srgbClr val="E9F6F5"/>
          </a:solidFill>
          <a:ln cap="flat" cmpd="sng" w="9525">
            <a:solidFill>
              <a:srgbClr val="00A79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40" name="Google Shape;2540;p91"/>
          <p:cNvSpPr/>
          <p:nvPr/>
        </p:nvSpPr>
        <p:spPr>
          <a:xfrm>
            <a:off x="10360152" y="2702052"/>
            <a:ext cx="658368" cy="31089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56A63"/>
              </a:buClr>
              <a:buSzPts val="950"/>
              <a:buFont typeface="Calibri"/>
              <a:buNone/>
            </a:pPr>
            <a:r>
              <a:rPr b="1" i="0" lang="en-US" sz="950" u="none" cap="none" strike="noStrike">
                <a:solidFill>
                  <a:srgbClr val="056A63"/>
                </a:solidFill>
                <a:latin typeface="Calibri"/>
                <a:ea typeface="Calibri"/>
                <a:cs typeface="Calibri"/>
                <a:sym typeface="Calibri"/>
              </a:rPr>
              <a:t>LO5</a:t>
            </a:r>
            <a:endParaRPr b="0" i="0" sz="950" u="none" cap="none" strike="noStrike">
              <a:solidFill>
                <a:schemeClr val="dk1"/>
              </a:solidFill>
              <a:latin typeface="Calibri"/>
              <a:ea typeface="Calibri"/>
              <a:cs typeface="Calibri"/>
              <a:sym typeface="Calibri"/>
            </a:endParaRPr>
          </a:p>
        </p:txBody>
      </p:sp>
      <p:sp>
        <p:nvSpPr>
          <p:cNvPr id="2541" name="Google Shape;2541;p91"/>
          <p:cNvSpPr/>
          <p:nvPr/>
        </p:nvSpPr>
        <p:spPr>
          <a:xfrm>
            <a:off x="502920" y="3419856"/>
            <a:ext cx="11183112" cy="832104"/>
          </a:xfrm>
          <a:prstGeom prst="roundRect">
            <a:avLst>
              <a:gd fmla="val 7692" name="adj"/>
            </a:avLst>
          </a:prstGeom>
          <a:solidFill>
            <a:srgbClr val="FAFCFE"/>
          </a:solidFill>
          <a:ln cap="flat" cmpd="sng" w="9525">
            <a:solidFill>
              <a:srgbClr val="D9E2E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42" name="Google Shape;2542;p91"/>
          <p:cNvSpPr/>
          <p:nvPr/>
        </p:nvSpPr>
        <p:spPr>
          <a:xfrm>
            <a:off x="649224" y="3671316"/>
            <a:ext cx="329184" cy="329184"/>
          </a:xfrm>
          <a:prstGeom prst="ellipse">
            <a:avLst/>
          </a:prstGeom>
          <a:solidFill>
            <a:srgbClr val="00A79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43" name="Google Shape;2543;p91"/>
          <p:cNvSpPr/>
          <p:nvPr/>
        </p:nvSpPr>
        <p:spPr>
          <a:xfrm>
            <a:off x="649224" y="3671316"/>
            <a:ext cx="329184" cy="32918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150"/>
              <a:buFont typeface="Calibri"/>
              <a:buNone/>
            </a:pPr>
            <a:r>
              <a:rPr b="1" i="0" lang="en-US" sz="1150" u="none" cap="none" strike="noStrike">
                <a:solidFill>
                  <a:srgbClr val="FFFFFF"/>
                </a:solidFill>
                <a:latin typeface="Calibri"/>
                <a:ea typeface="Calibri"/>
                <a:cs typeface="Calibri"/>
                <a:sym typeface="Calibri"/>
              </a:rPr>
              <a:t>5.3</a:t>
            </a:r>
            <a:endParaRPr b="0" i="0" sz="1150" u="none" cap="none" strike="noStrike">
              <a:solidFill>
                <a:schemeClr val="dk1"/>
              </a:solidFill>
              <a:latin typeface="Calibri"/>
              <a:ea typeface="Calibri"/>
              <a:cs typeface="Calibri"/>
              <a:sym typeface="Calibri"/>
            </a:endParaRPr>
          </a:p>
        </p:txBody>
      </p:sp>
      <p:sp>
        <p:nvSpPr>
          <p:cNvPr id="2544" name="Google Shape;2544;p91"/>
          <p:cNvSpPr/>
          <p:nvPr/>
        </p:nvSpPr>
        <p:spPr>
          <a:xfrm>
            <a:off x="1143000" y="3419856"/>
            <a:ext cx="8321040" cy="83210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3293B"/>
              </a:buClr>
              <a:buSzPts val="1250"/>
              <a:buFont typeface="Calibri"/>
              <a:buNone/>
            </a:pPr>
            <a:r>
              <a:rPr b="0" i="0" lang="en-US" sz="1250" u="none" cap="none" strike="noStrike">
                <a:solidFill>
                  <a:srgbClr val="23293B"/>
                </a:solidFill>
                <a:latin typeface="Calibri"/>
                <a:ea typeface="Calibri"/>
                <a:cs typeface="Calibri"/>
                <a:sym typeface="Calibri"/>
              </a:rPr>
              <a:t>Detect label errors at scale with model-assisted auditing</a:t>
            </a:r>
            <a:endParaRPr b="0" i="0" sz="1250" u="none" cap="none" strike="noStrike">
              <a:solidFill>
                <a:schemeClr val="dk1"/>
              </a:solidFill>
              <a:latin typeface="Calibri"/>
              <a:ea typeface="Calibri"/>
              <a:cs typeface="Calibri"/>
              <a:sym typeface="Calibri"/>
            </a:endParaRPr>
          </a:p>
        </p:txBody>
      </p:sp>
      <p:sp>
        <p:nvSpPr>
          <p:cNvPr id="2545" name="Google Shape;2545;p91"/>
          <p:cNvSpPr/>
          <p:nvPr/>
        </p:nvSpPr>
        <p:spPr>
          <a:xfrm>
            <a:off x="9646920" y="3662172"/>
            <a:ext cx="658368" cy="310896"/>
          </a:xfrm>
          <a:prstGeom prst="roundRect">
            <a:avLst>
              <a:gd fmla="val 50000" name="adj"/>
            </a:avLst>
          </a:prstGeom>
          <a:solidFill>
            <a:srgbClr val="E9F6F5"/>
          </a:solidFill>
          <a:ln cap="flat" cmpd="sng" w="9525">
            <a:solidFill>
              <a:srgbClr val="00A79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46" name="Google Shape;2546;p91"/>
          <p:cNvSpPr/>
          <p:nvPr/>
        </p:nvSpPr>
        <p:spPr>
          <a:xfrm>
            <a:off x="9646920" y="3662172"/>
            <a:ext cx="658368" cy="31089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56A63"/>
              </a:buClr>
              <a:buSzPts val="950"/>
              <a:buFont typeface="Calibri"/>
              <a:buNone/>
            </a:pPr>
            <a:r>
              <a:rPr b="1" i="0" lang="en-US" sz="950" u="none" cap="none" strike="noStrike">
                <a:solidFill>
                  <a:srgbClr val="056A63"/>
                </a:solidFill>
                <a:latin typeface="Calibri"/>
                <a:ea typeface="Calibri"/>
                <a:cs typeface="Calibri"/>
                <a:sym typeface="Calibri"/>
              </a:rPr>
              <a:t>LO3</a:t>
            </a:r>
            <a:endParaRPr b="0" i="0" sz="950" u="none" cap="none" strike="noStrike">
              <a:solidFill>
                <a:schemeClr val="dk1"/>
              </a:solidFill>
              <a:latin typeface="Calibri"/>
              <a:ea typeface="Calibri"/>
              <a:cs typeface="Calibri"/>
              <a:sym typeface="Calibri"/>
            </a:endParaRPr>
          </a:p>
        </p:txBody>
      </p:sp>
      <p:sp>
        <p:nvSpPr>
          <p:cNvPr id="2547" name="Google Shape;2547;p91"/>
          <p:cNvSpPr/>
          <p:nvPr/>
        </p:nvSpPr>
        <p:spPr>
          <a:xfrm>
            <a:off x="10360152" y="3662172"/>
            <a:ext cx="658368" cy="310896"/>
          </a:xfrm>
          <a:prstGeom prst="roundRect">
            <a:avLst>
              <a:gd fmla="val 50000" name="adj"/>
            </a:avLst>
          </a:prstGeom>
          <a:solidFill>
            <a:srgbClr val="E9F6F5"/>
          </a:solidFill>
          <a:ln cap="flat" cmpd="sng" w="9525">
            <a:solidFill>
              <a:srgbClr val="00A79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48" name="Google Shape;2548;p91"/>
          <p:cNvSpPr/>
          <p:nvPr/>
        </p:nvSpPr>
        <p:spPr>
          <a:xfrm>
            <a:off x="10360152" y="3662172"/>
            <a:ext cx="658368" cy="31089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56A63"/>
              </a:buClr>
              <a:buSzPts val="950"/>
              <a:buFont typeface="Calibri"/>
              <a:buNone/>
            </a:pPr>
            <a:r>
              <a:rPr b="1" i="0" lang="en-US" sz="950" u="none" cap="none" strike="noStrike">
                <a:solidFill>
                  <a:srgbClr val="056A63"/>
                </a:solidFill>
                <a:latin typeface="Calibri"/>
                <a:ea typeface="Calibri"/>
                <a:cs typeface="Calibri"/>
                <a:sym typeface="Calibri"/>
              </a:rPr>
              <a:t>LO5</a:t>
            </a:r>
            <a:endParaRPr b="0" i="0" sz="950" u="none" cap="none" strike="noStrike">
              <a:solidFill>
                <a:schemeClr val="dk1"/>
              </a:solidFill>
              <a:latin typeface="Calibri"/>
              <a:ea typeface="Calibri"/>
              <a:cs typeface="Calibri"/>
              <a:sym typeface="Calibri"/>
            </a:endParaRPr>
          </a:p>
        </p:txBody>
      </p:sp>
      <p:sp>
        <p:nvSpPr>
          <p:cNvPr id="2549" name="Google Shape;2549;p91"/>
          <p:cNvSpPr/>
          <p:nvPr/>
        </p:nvSpPr>
        <p:spPr>
          <a:xfrm>
            <a:off x="502920" y="4379976"/>
            <a:ext cx="11183112" cy="832104"/>
          </a:xfrm>
          <a:prstGeom prst="roundRect">
            <a:avLst>
              <a:gd fmla="val 7692" name="adj"/>
            </a:avLst>
          </a:prstGeom>
          <a:solidFill>
            <a:srgbClr val="F2F6F9"/>
          </a:solidFill>
          <a:ln cap="flat" cmpd="sng" w="9525">
            <a:solidFill>
              <a:srgbClr val="D9E2E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50" name="Google Shape;2550;p91"/>
          <p:cNvSpPr/>
          <p:nvPr/>
        </p:nvSpPr>
        <p:spPr>
          <a:xfrm>
            <a:off x="649224" y="4631436"/>
            <a:ext cx="329184" cy="329184"/>
          </a:xfrm>
          <a:prstGeom prst="ellipse">
            <a:avLst/>
          </a:prstGeom>
          <a:solidFill>
            <a:srgbClr val="00A79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51" name="Google Shape;2551;p91"/>
          <p:cNvSpPr/>
          <p:nvPr/>
        </p:nvSpPr>
        <p:spPr>
          <a:xfrm>
            <a:off x="649224" y="4631436"/>
            <a:ext cx="329184" cy="32918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150"/>
              <a:buFont typeface="Calibri"/>
              <a:buNone/>
            </a:pPr>
            <a:r>
              <a:rPr b="1" i="0" lang="en-US" sz="1150" u="none" cap="none" strike="noStrike">
                <a:solidFill>
                  <a:srgbClr val="FFFFFF"/>
                </a:solidFill>
                <a:latin typeface="Calibri"/>
                <a:ea typeface="Calibri"/>
                <a:cs typeface="Calibri"/>
                <a:sym typeface="Calibri"/>
              </a:rPr>
              <a:t>5.4</a:t>
            </a:r>
            <a:endParaRPr b="0" i="0" sz="1150" u="none" cap="none" strike="noStrike">
              <a:solidFill>
                <a:schemeClr val="dk1"/>
              </a:solidFill>
              <a:latin typeface="Calibri"/>
              <a:ea typeface="Calibri"/>
              <a:cs typeface="Calibri"/>
              <a:sym typeface="Calibri"/>
            </a:endParaRPr>
          </a:p>
        </p:txBody>
      </p:sp>
      <p:sp>
        <p:nvSpPr>
          <p:cNvPr id="2552" name="Google Shape;2552;p91"/>
          <p:cNvSpPr/>
          <p:nvPr/>
        </p:nvSpPr>
        <p:spPr>
          <a:xfrm>
            <a:off x="1143000" y="4379976"/>
            <a:ext cx="8321040" cy="83210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3293B"/>
              </a:buClr>
              <a:buSzPts val="1250"/>
              <a:buFont typeface="Calibri"/>
              <a:buNone/>
            </a:pPr>
            <a:r>
              <a:rPr b="0" i="0" lang="en-US" sz="1250" u="none" cap="none" strike="noStrike">
                <a:solidFill>
                  <a:srgbClr val="23293B"/>
                </a:solidFill>
                <a:latin typeface="Calibri"/>
                <a:ea typeface="Calibri"/>
                <a:cs typeface="Calibri"/>
                <a:sym typeface="Calibri"/>
              </a:rPr>
              <a:t>Design active-learning rounds: uncertainty + diversity sampling against a budget</a:t>
            </a:r>
            <a:endParaRPr b="0" i="0" sz="1250" u="none" cap="none" strike="noStrike">
              <a:solidFill>
                <a:schemeClr val="dk1"/>
              </a:solidFill>
              <a:latin typeface="Calibri"/>
              <a:ea typeface="Calibri"/>
              <a:cs typeface="Calibri"/>
              <a:sym typeface="Calibri"/>
            </a:endParaRPr>
          </a:p>
        </p:txBody>
      </p:sp>
      <p:sp>
        <p:nvSpPr>
          <p:cNvPr id="2553" name="Google Shape;2553;p91"/>
          <p:cNvSpPr/>
          <p:nvPr/>
        </p:nvSpPr>
        <p:spPr>
          <a:xfrm>
            <a:off x="9646920" y="4622292"/>
            <a:ext cx="658368" cy="310896"/>
          </a:xfrm>
          <a:prstGeom prst="roundRect">
            <a:avLst>
              <a:gd fmla="val 50000" name="adj"/>
            </a:avLst>
          </a:prstGeom>
          <a:solidFill>
            <a:srgbClr val="E9F6F5"/>
          </a:solidFill>
          <a:ln cap="flat" cmpd="sng" w="9525">
            <a:solidFill>
              <a:srgbClr val="00A79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54" name="Google Shape;2554;p91"/>
          <p:cNvSpPr/>
          <p:nvPr/>
        </p:nvSpPr>
        <p:spPr>
          <a:xfrm>
            <a:off x="9646920" y="4622292"/>
            <a:ext cx="658368" cy="31089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56A63"/>
              </a:buClr>
              <a:buSzPts val="950"/>
              <a:buFont typeface="Calibri"/>
              <a:buNone/>
            </a:pPr>
            <a:r>
              <a:rPr b="1" i="0" lang="en-US" sz="950" u="none" cap="none" strike="noStrike">
                <a:solidFill>
                  <a:srgbClr val="056A63"/>
                </a:solidFill>
                <a:latin typeface="Calibri"/>
                <a:ea typeface="Calibri"/>
                <a:cs typeface="Calibri"/>
                <a:sym typeface="Calibri"/>
              </a:rPr>
              <a:t>LO3</a:t>
            </a:r>
            <a:endParaRPr b="0" i="0" sz="950" u="none" cap="none" strike="noStrike">
              <a:solidFill>
                <a:schemeClr val="dk1"/>
              </a:solidFill>
              <a:latin typeface="Calibri"/>
              <a:ea typeface="Calibri"/>
              <a:cs typeface="Calibri"/>
              <a:sym typeface="Calibri"/>
            </a:endParaRPr>
          </a:p>
        </p:txBody>
      </p:sp>
      <p:sp>
        <p:nvSpPr>
          <p:cNvPr id="2555" name="Google Shape;2555;p91"/>
          <p:cNvSpPr/>
          <p:nvPr/>
        </p:nvSpPr>
        <p:spPr>
          <a:xfrm>
            <a:off x="502920" y="5340096"/>
            <a:ext cx="11183112" cy="832104"/>
          </a:xfrm>
          <a:prstGeom prst="roundRect">
            <a:avLst>
              <a:gd fmla="val 7692" name="adj"/>
            </a:avLst>
          </a:prstGeom>
          <a:solidFill>
            <a:srgbClr val="FAFCFE"/>
          </a:solidFill>
          <a:ln cap="flat" cmpd="sng" w="9525">
            <a:solidFill>
              <a:srgbClr val="D9E2E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56" name="Google Shape;2556;p91"/>
          <p:cNvSpPr/>
          <p:nvPr/>
        </p:nvSpPr>
        <p:spPr>
          <a:xfrm>
            <a:off x="649224" y="5591556"/>
            <a:ext cx="329184" cy="329184"/>
          </a:xfrm>
          <a:prstGeom prst="ellipse">
            <a:avLst/>
          </a:prstGeom>
          <a:solidFill>
            <a:srgbClr val="00A79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57" name="Google Shape;2557;p91"/>
          <p:cNvSpPr/>
          <p:nvPr/>
        </p:nvSpPr>
        <p:spPr>
          <a:xfrm>
            <a:off x="649224" y="5591556"/>
            <a:ext cx="329184" cy="32918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150"/>
              <a:buFont typeface="Calibri"/>
              <a:buNone/>
            </a:pPr>
            <a:r>
              <a:rPr b="1" i="0" lang="en-US" sz="1150" u="none" cap="none" strike="noStrike">
                <a:solidFill>
                  <a:srgbClr val="FFFFFF"/>
                </a:solidFill>
                <a:latin typeface="Calibri"/>
                <a:ea typeface="Calibri"/>
                <a:cs typeface="Calibri"/>
                <a:sym typeface="Calibri"/>
              </a:rPr>
              <a:t>5.5</a:t>
            </a:r>
            <a:endParaRPr b="0" i="0" sz="1150" u="none" cap="none" strike="noStrike">
              <a:solidFill>
                <a:schemeClr val="dk1"/>
              </a:solidFill>
              <a:latin typeface="Calibri"/>
              <a:ea typeface="Calibri"/>
              <a:cs typeface="Calibri"/>
              <a:sym typeface="Calibri"/>
            </a:endParaRPr>
          </a:p>
        </p:txBody>
      </p:sp>
      <p:sp>
        <p:nvSpPr>
          <p:cNvPr id="2558" name="Google Shape;2558;p91"/>
          <p:cNvSpPr/>
          <p:nvPr/>
        </p:nvSpPr>
        <p:spPr>
          <a:xfrm>
            <a:off x="1143000" y="5340096"/>
            <a:ext cx="8321040" cy="83210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3293B"/>
              </a:buClr>
              <a:buSzPts val="1250"/>
              <a:buFont typeface="Calibri"/>
              <a:buNone/>
            </a:pPr>
            <a:r>
              <a:rPr b="0" i="0" lang="en-US" sz="1250" u="none" cap="none" strike="noStrike">
                <a:solidFill>
                  <a:srgbClr val="23293B"/>
                </a:solidFill>
                <a:latin typeface="Calibri"/>
                <a:ea typeface="Calibri"/>
                <a:cs typeface="Calibri"/>
                <a:sym typeface="Calibri"/>
              </a:rPr>
              <a:t>Version datasets: immutable releases, manifests, hashes, changelogs, split freezes</a:t>
            </a:r>
            <a:endParaRPr b="0" i="0" sz="1250" u="none" cap="none" strike="noStrike">
              <a:solidFill>
                <a:schemeClr val="dk1"/>
              </a:solidFill>
              <a:latin typeface="Calibri"/>
              <a:ea typeface="Calibri"/>
              <a:cs typeface="Calibri"/>
              <a:sym typeface="Calibri"/>
            </a:endParaRPr>
          </a:p>
        </p:txBody>
      </p:sp>
      <p:sp>
        <p:nvSpPr>
          <p:cNvPr id="2559" name="Google Shape;2559;p91"/>
          <p:cNvSpPr/>
          <p:nvPr/>
        </p:nvSpPr>
        <p:spPr>
          <a:xfrm>
            <a:off x="9646920" y="5582412"/>
            <a:ext cx="658368" cy="310896"/>
          </a:xfrm>
          <a:prstGeom prst="roundRect">
            <a:avLst>
              <a:gd fmla="val 50000" name="adj"/>
            </a:avLst>
          </a:prstGeom>
          <a:solidFill>
            <a:srgbClr val="E9F6F5"/>
          </a:solidFill>
          <a:ln cap="flat" cmpd="sng" w="9525">
            <a:solidFill>
              <a:srgbClr val="00A79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60" name="Google Shape;2560;p91"/>
          <p:cNvSpPr/>
          <p:nvPr/>
        </p:nvSpPr>
        <p:spPr>
          <a:xfrm>
            <a:off x="9646920" y="5582412"/>
            <a:ext cx="658368" cy="31089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56A63"/>
              </a:buClr>
              <a:buSzPts val="950"/>
              <a:buFont typeface="Calibri"/>
              <a:buNone/>
            </a:pPr>
            <a:r>
              <a:rPr b="1" i="0" lang="en-US" sz="950" u="none" cap="none" strike="noStrike">
                <a:solidFill>
                  <a:srgbClr val="056A63"/>
                </a:solidFill>
                <a:latin typeface="Calibri"/>
                <a:ea typeface="Calibri"/>
                <a:cs typeface="Calibri"/>
                <a:sym typeface="Calibri"/>
              </a:rPr>
              <a:t>LO3</a:t>
            </a:r>
            <a:endParaRPr b="0" i="0" sz="950" u="none" cap="none" strike="noStrike">
              <a:solidFill>
                <a:schemeClr val="dk1"/>
              </a:solidFill>
              <a:latin typeface="Calibri"/>
              <a:ea typeface="Calibri"/>
              <a:cs typeface="Calibri"/>
              <a:sym typeface="Calibri"/>
            </a:endParaRPr>
          </a:p>
        </p:txBody>
      </p:sp>
    </p:spTree>
  </p:cSld>
  <p:clrMapOvr>
    <a:masterClrMapping/>
  </p:clrMapOvr>
</p:sld>
</file>

<file path=ppt/slides/slide9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565" name="Shape 2565"/>
        <p:cNvGrpSpPr/>
        <p:nvPr/>
      </p:nvGrpSpPr>
      <p:grpSpPr>
        <a:xfrm>
          <a:off x="0" y="0"/>
          <a:ext cx="0" cy="0"/>
          <a:chOff x="0" y="0"/>
          <a:chExt cx="0" cy="0"/>
        </a:xfrm>
      </p:grpSpPr>
      <p:sp>
        <p:nvSpPr>
          <p:cNvPr id="2566" name="Google Shape;2566;p92"/>
          <p:cNvSpPr/>
          <p:nvPr/>
        </p:nvSpPr>
        <p:spPr>
          <a:xfrm>
            <a:off x="502920" y="274320"/>
            <a:ext cx="9646920" cy="56692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D2A5C"/>
              </a:buClr>
              <a:buSzPts val="2700"/>
              <a:buFont typeface="Calibri"/>
              <a:buNone/>
            </a:pPr>
            <a:r>
              <a:rPr b="1" i="0" lang="en-US" sz="2700" u="none" cap="none" strike="noStrike">
                <a:solidFill>
                  <a:srgbClr val="1D2A5C"/>
                </a:solidFill>
                <a:latin typeface="Calibri"/>
                <a:ea typeface="Calibri"/>
                <a:cs typeface="Calibri"/>
                <a:sym typeface="Calibri"/>
              </a:rPr>
              <a:t>The Annotation Spec Is the Real Architecture</a:t>
            </a:r>
            <a:endParaRPr b="0" i="0" sz="2700" u="none" cap="none" strike="noStrike">
              <a:solidFill>
                <a:schemeClr val="dk1"/>
              </a:solidFill>
              <a:latin typeface="Calibri"/>
              <a:ea typeface="Calibri"/>
              <a:cs typeface="Calibri"/>
              <a:sym typeface="Calibri"/>
            </a:endParaRPr>
          </a:p>
        </p:txBody>
      </p:sp>
      <p:sp>
        <p:nvSpPr>
          <p:cNvPr id="2567" name="Google Shape;2567;p92"/>
          <p:cNvSpPr/>
          <p:nvPr/>
        </p:nvSpPr>
        <p:spPr>
          <a:xfrm>
            <a:off x="502920" y="859536"/>
            <a:ext cx="9646920" cy="31089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F6B7A"/>
              </a:buClr>
              <a:buSzPts val="1250"/>
              <a:buFont typeface="Arial"/>
              <a:buNone/>
            </a:pPr>
            <a:r>
              <a:rPr b="0" i="0" lang="en-US" sz="1250" u="none" cap="none" strike="noStrike">
                <a:solidFill>
                  <a:srgbClr val="5F6B7A"/>
                </a:solidFill>
                <a:latin typeface="Arial"/>
                <a:ea typeface="Arial"/>
                <a:cs typeface="Arial"/>
                <a:sym typeface="Arial"/>
              </a:rPr>
              <a:t>مواصفة التوصيف هي البنية الحقيقية</a:t>
            </a:r>
            <a:endParaRPr b="0" i="0" sz="1250" u="none" cap="none" strike="noStrike">
              <a:solidFill>
                <a:schemeClr val="dk1"/>
              </a:solidFill>
              <a:latin typeface="Calibri"/>
              <a:ea typeface="Calibri"/>
              <a:cs typeface="Calibri"/>
              <a:sym typeface="Calibri"/>
            </a:endParaRPr>
          </a:p>
        </p:txBody>
      </p:sp>
      <p:pic>
        <p:nvPicPr>
          <p:cNvPr descr="/sessions/blissful-determined-ritchie/build/assets/sdaia_logo.png" id="2568" name="Google Shape;2568;p92"/>
          <p:cNvPicPr preferRelativeResize="0"/>
          <p:nvPr/>
        </p:nvPicPr>
        <p:blipFill rotWithShape="1">
          <a:blip r:embed="rId3">
            <a:alphaModFix/>
          </a:blip>
          <a:srcRect b="0" l="0" r="0" t="0"/>
          <a:stretch/>
        </p:blipFill>
        <p:spPr>
          <a:xfrm>
            <a:off x="10625328" y="310896"/>
            <a:ext cx="1078992" cy="264111"/>
          </a:xfrm>
          <a:prstGeom prst="rect">
            <a:avLst/>
          </a:prstGeom>
          <a:noFill/>
          <a:ln>
            <a:noFill/>
          </a:ln>
        </p:spPr>
      </p:pic>
      <p:sp>
        <p:nvSpPr>
          <p:cNvPr id="2569" name="Google Shape;2569;p92"/>
          <p:cNvSpPr/>
          <p:nvPr/>
        </p:nvSpPr>
        <p:spPr>
          <a:xfrm>
            <a:off x="502920" y="6528816"/>
            <a:ext cx="8686800"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A79D"/>
              </a:buClr>
              <a:buSzPts val="800"/>
              <a:buFont typeface="Calibri"/>
              <a:buNone/>
            </a:pPr>
            <a:r>
              <a:rPr b="1" i="0" lang="en-US" sz="800" u="none" cap="none" strike="noStrike">
                <a:solidFill>
                  <a:srgbClr val="00A79D"/>
                </a:solidFill>
                <a:latin typeface="Calibri"/>
                <a:ea typeface="Calibri"/>
                <a:cs typeface="Calibri"/>
                <a:sym typeface="Calibri"/>
              </a:rPr>
              <a:t>MODULE 5   </a:t>
            </a:r>
            <a:r>
              <a:rPr b="0" i="0" lang="en-US" sz="800" u="none" cap="none" strike="noStrike">
                <a:solidFill>
                  <a:srgbClr val="8A96A6"/>
                </a:solidFill>
                <a:latin typeface="Calibri"/>
                <a:ea typeface="Calibri"/>
                <a:cs typeface="Calibri"/>
                <a:sym typeface="Calibri"/>
              </a:rPr>
              <a:t>SDA-AIE-212 · Computer Vision Systems Development</a:t>
            </a:r>
            <a:endParaRPr b="0" i="0" sz="800" u="none" cap="none" strike="noStrike">
              <a:solidFill>
                <a:schemeClr val="dk1"/>
              </a:solidFill>
              <a:latin typeface="Calibri"/>
              <a:ea typeface="Calibri"/>
              <a:cs typeface="Calibri"/>
              <a:sym typeface="Calibri"/>
            </a:endParaRPr>
          </a:p>
        </p:txBody>
      </p:sp>
      <p:sp>
        <p:nvSpPr>
          <p:cNvPr id="2570" name="Google Shape;2570;p92"/>
          <p:cNvSpPr/>
          <p:nvPr/>
        </p:nvSpPr>
        <p:spPr>
          <a:xfrm>
            <a:off x="11292840" y="6528816"/>
            <a:ext cx="411480" cy="219456"/>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8A96A6"/>
              </a:buClr>
              <a:buSzPts val="900"/>
              <a:buFont typeface="Calibri"/>
              <a:buNone/>
            </a:pPr>
            <a:r>
              <a:rPr b="0" i="0" lang="en-US" sz="900" u="none" cap="none" strike="noStrike">
                <a:solidFill>
                  <a:srgbClr val="8A96A6"/>
                </a:solidFill>
                <a:latin typeface="Calibri"/>
                <a:ea typeface="Calibri"/>
                <a:cs typeface="Calibri"/>
                <a:sym typeface="Calibri"/>
              </a:rPr>
              <a:t>92</a:t>
            </a:r>
            <a:endParaRPr b="0" i="0" sz="900" u="none" cap="none" strike="noStrike">
              <a:solidFill>
                <a:schemeClr val="dk1"/>
              </a:solidFill>
              <a:latin typeface="Calibri"/>
              <a:ea typeface="Calibri"/>
              <a:cs typeface="Calibri"/>
              <a:sym typeface="Calibri"/>
            </a:endParaRPr>
          </a:p>
        </p:txBody>
      </p:sp>
      <p:sp>
        <p:nvSpPr>
          <p:cNvPr id="2571" name="Google Shape;2571;p92"/>
          <p:cNvSpPr/>
          <p:nvPr/>
        </p:nvSpPr>
        <p:spPr>
          <a:xfrm>
            <a:off x="502920" y="1389888"/>
            <a:ext cx="11185855" cy="384048"/>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5F6B7A"/>
              </a:buClr>
              <a:buSzPts val="1250"/>
              <a:buFont typeface="Calibri"/>
              <a:buNone/>
            </a:pPr>
            <a:r>
              <a:rPr b="0" i="1" lang="en-US" sz="1250" u="none" cap="none" strike="noStrike">
                <a:solidFill>
                  <a:srgbClr val="5F6B7A"/>
                </a:solidFill>
                <a:latin typeface="Calibri"/>
                <a:ea typeface="Calibri"/>
                <a:cs typeface="Calibri"/>
                <a:sym typeface="Calibri"/>
              </a:rPr>
              <a:t>A model can never be more consistent than its labels; the spec is where consistency is manufactured.</a:t>
            </a:r>
            <a:endParaRPr b="0" i="0" sz="1250" u="none" cap="none" strike="noStrike">
              <a:solidFill>
                <a:schemeClr val="dk1"/>
              </a:solidFill>
              <a:latin typeface="Calibri"/>
              <a:ea typeface="Calibri"/>
              <a:cs typeface="Calibri"/>
              <a:sym typeface="Calibri"/>
            </a:endParaRPr>
          </a:p>
        </p:txBody>
      </p:sp>
      <p:sp>
        <p:nvSpPr>
          <p:cNvPr id="2572" name="Google Shape;2572;p92"/>
          <p:cNvSpPr/>
          <p:nvPr/>
        </p:nvSpPr>
        <p:spPr>
          <a:xfrm>
            <a:off x="502920" y="1892808"/>
            <a:ext cx="11185855" cy="790042"/>
          </a:xfrm>
          <a:prstGeom prst="roundRect">
            <a:avLst>
              <a:gd fmla="val 6944" name="adj"/>
            </a:avLst>
          </a:prstGeom>
          <a:solidFill>
            <a:srgbClr val="1D2A5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73" name="Google Shape;2573;p92"/>
          <p:cNvSpPr/>
          <p:nvPr/>
        </p:nvSpPr>
        <p:spPr>
          <a:xfrm>
            <a:off x="685800" y="1892808"/>
            <a:ext cx="4698059" cy="79004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300"/>
              <a:buFont typeface="Calibri"/>
              <a:buNone/>
            </a:pPr>
            <a:r>
              <a:rPr b="1" i="0" lang="en-US" sz="1300" u="none" cap="none" strike="noStrike">
                <a:solidFill>
                  <a:srgbClr val="FFFFFF"/>
                </a:solidFill>
                <a:latin typeface="Calibri"/>
                <a:ea typeface="Calibri"/>
                <a:cs typeface="Calibri"/>
                <a:sym typeface="Calibri"/>
              </a:rPr>
              <a:t>Taxonomy + decision rules</a:t>
            </a:r>
            <a:endParaRPr b="0" i="0" sz="1300" u="none" cap="none" strike="noStrike">
              <a:solidFill>
                <a:schemeClr val="dk1"/>
              </a:solidFill>
              <a:latin typeface="Calibri"/>
              <a:ea typeface="Calibri"/>
              <a:cs typeface="Calibri"/>
              <a:sym typeface="Calibri"/>
            </a:endParaRPr>
          </a:p>
        </p:txBody>
      </p:sp>
      <p:sp>
        <p:nvSpPr>
          <p:cNvPr id="2574" name="Google Shape;2574;p92"/>
          <p:cNvSpPr/>
          <p:nvPr/>
        </p:nvSpPr>
        <p:spPr>
          <a:xfrm>
            <a:off x="5424696" y="1892808"/>
            <a:ext cx="5928503" cy="79004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D9E4F5"/>
              </a:buClr>
              <a:buSzPts val="1050"/>
              <a:buFont typeface="Calibri"/>
              <a:buNone/>
            </a:pPr>
            <a:r>
              <a:rPr b="0" i="0" lang="en-US" sz="1050" u="none" cap="none" strike="noStrike">
                <a:solidFill>
                  <a:srgbClr val="D9E4F5"/>
                </a:solidFill>
                <a:latin typeface="Calibri"/>
                <a:ea typeface="Calibri"/>
                <a:cs typeface="Calibri"/>
                <a:sym typeface="Calibri"/>
              </a:rPr>
              <a:t>sugaring AND mould labelled as separate instances when they co-occur</a:t>
            </a:r>
            <a:endParaRPr b="0" i="0" sz="1050" u="none" cap="none" strike="noStrike">
              <a:solidFill>
                <a:schemeClr val="dk1"/>
              </a:solidFill>
              <a:latin typeface="Calibri"/>
              <a:ea typeface="Calibri"/>
              <a:cs typeface="Calibri"/>
              <a:sym typeface="Calibri"/>
            </a:endParaRPr>
          </a:p>
        </p:txBody>
      </p:sp>
      <p:sp>
        <p:nvSpPr>
          <p:cNvPr id="2575" name="Google Shape;2575;p92"/>
          <p:cNvSpPr/>
          <p:nvPr/>
        </p:nvSpPr>
        <p:spPr>
          <a:xfrm>
            <a:off x="758952" y="2810866"/>
            <a:ext cx="10673791" cy="790042"/>
          </a:xfrm>
          <a:prstGeom prst="roundRect">
            <a:avLst>
              <a:gd fmla="val 6944" name="adj"/>
            </a:avLst>
          </a:prstGeom>
          <a:solidFill>
            <a:srgbClr val="24437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76" name="Google Shape;2576;p92"/>
          <p:cNvSpPr/>
          <p:nvPr/>
        </p:nvSpPr>
        <p:spPr>
          <a:xfrm>
            <a:off x="941832" y="2810866"/>
            <a:ext cx="4482992" cy="79004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300"/>
              <a:buFont typeface="Calibri"/>
              <a:buNone/>
            </a:pPr>
            <a:r>
              <a:rPr b="1" i="0" lang="en-US" sz="1300" u="none" cap="none" strike="noStrike">
                <a:solidFill>
                  <a:srgbClr val="FFFFFF"/>
                </a:solidFill>
                <a:latin typeface="Calibri"/>
                <a:ea typeface="Calibri"/>
                <a:cs typeface="Calibri"/>
                <a:sym typeface="Calibri"/>
              </a:rPr>
              <a:t>Boundary rules</a:t>
            </a:r>
            <a:endParaRPr b="0" i="0" sz="1300" u="none" cap="none" strike="noStrike">
              <a:solidFill>
                <a:schemeClr val="dk1"/>
              </a:solidFill>
              <a:latin typeface="Calibri"/>
              <a:ea typeface="Calibri"/>
              <a:cs typeface="Calibri"/>
              <a:sym typeface="Calibri"/>
            </a:endParaRPr>
          </a:p>
        </p:txBody>
      </p:sp>
      <p:sp>
        <p:nvSpPr>
          <p:cNvPr id="2577" name="Google Shape;2577;p92"/>
          <p:cNvSpPr/>
          <p:nvPr/>
        </p:nvSpPr>
        <p:spPr>
          <a:xfrm>
            <a:off x="5455420" y="2810866"/>
            <a:ext cx="5657109" cy="79004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D9E4F5"/>
              </a:buClr>
              <a:buSzPts val="1050"/>
              <a:buFont typeface="Calibri"/>
              <a:buNone/>
            </a:pPr>
            <a:r>
              <a:rPr b="0" i="0" lang="en-US" sz="1050" u="none" cap="none" strike="noStrike">
                <a:solidFill>
                  <a:srgbClr val="D9E4F5"/>
                </a:solidFill>
                <a:latin typeface="Calibri"/>
                <a:ea typeface="Calibri"/>
                <a:cs typeface="Calibri"/>
                <a:sym typeface="Calibri"/>
              </a:rPr>
              <a:t>v2: boundary at last clearly abnormal pixel; do not include the halo</a:t>
            </a:r>
            <a:endParaRPr b="0" i="0" sz="1050" u="none" cap="none" strike="noStrike">
              <a:solidFill>
                <a:schemeClr val="dk1"/>
              </a:solidFill>
              <a:latin typeface="Calibri"/>
              <a:ea typeface="Calibri"/>
              <a:cs typeface="Calibri"/>
              <a:sym typeface="Calibri"/>
            </a:endParaRPr>
          </a:p>
        </p:txBody>
      </p:sp>
      <p:sp>
        <p:nvSpPr>
          <p:cNvPr id="2578" name="Google Shape;2578;p92"/>
          <p:cNvSpPr/>
          <p:nvPr/>
        </p:nvSpPr>
        <p:spPr>
          <a:xfrm>
            <a:off x="1014984" y="3728923"/>
            <a:ext cx="10161727" cy="790042"/>
          </a:xfrm>
          <a:prstGeom prst="roundRect">
            <a:avLst>
              <a:gd fmla="val 6944" name="adj"/>
            </a:avLst>
          </a:prstGeom>
          <a:solidFill>
            <a:srgbClr val="2A5CA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79" name="Google Shape;2579;p92"/>
          <p:cNvSpPr/>
          <p:nvPr/>
        </p:nvSpPr>
        <p:spPr>
          <a:xfrm>
            <a:off x="1197864" y="3728923"/>
            <a:ext cx="4267925" cy="79004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300"/>
              <a:buFont typeface="Calibri"/>
              <a:buNone/>
            </a:pPr>
            <a:r>
              <a:rPr b="1" i="0" lang="en-US" sz="1300" u="none" cap="none" strike="noStrike">
                <a:solidFill>
                  <a:srgbClr val="FFFFFF"/>
                </a:solidFill>
                <a:latin typeface="Calibri"/>
                <a:ea typeface="Calibri"/>
                <a:cs typeface="Calibri"/>
                <a:sym typeface="Calibri"/>
              </a:rPr>
              <a:t>Edge-case gallery</a:t>
            </a:r>
            <a:endParaRPr b="0" i="0" sz="1300" u="none" cap="none" strike="noStrike">
              <a:solidFill>
                <a:schemeClr val="dk1"/>
              </a:solidFill>
              <a:latin typeface="Calibri"/>
              <a:ea typeface="Calibri"/>
              <a:cs typeface="Calibri"/>
              <a:sym typeface="Calibri"/>
            </a:endParaRPr>
          </a:p>
        </p:txBody>
      </p:sp>
      <p:sp>
        <p:nvSpPr>
          <p:cNvPr id="2580" name="Google Shape;2580;p92"/>
          <p:cNvSpPr/>
          <p:nvPr/>
        </p:nvSpPr>
        <p:spPr>
          <a:xfrm>
            <a:off x="5486144" y="3728923"/>
            <a:ext cx="5385715" cy="79004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D9E4F5"/>
              </a:buClr>
              <a:buSzPts val="1050"/>
              <a:buFont typeface="Calibri"/>
              <a:buNone/>
            </a:pPr>
            <a:r>
              <a:rPr b="0" i="0" lang="en-US" sz="1050" u="none" cap="none" strike="noStrike">
                <a:solidFill>
                  <a:srgbClr val="D9E4F5"/>
                </a:solidFill>
                <a:latin typeface="Calibri"/>
                <a:ea typeface="Calibri"/>
                <a:cs typeface="Calibri"/>
                <a:sym typeface="Calibri"/>
              </a:rPr>
              <a:t>20-40 worked examples with reasoning — the highest-ROI page</a:t>
            </a:r>
            <a:endParaRPr b="0" i="0" sz="1050" u="none" cap="none" strike="noStrike">
              <a:solidFill>
                <a:schemeClr val="dk1"/>
              </a:solidFill>
              <a:latin typeface="Calibri"/>
              <a:ea typeface="Calibri"/>
              <a:cs typeface="Calibri"/>
              <a:sym typeface="Calibri"/>
            </a:endParaRPr>
          </a:p>
        </p:txBody>
      </p:sp>
      <p:sp>
        <p:nvSpPr>
          <p:cNvPr id="2581" name="Google Shape;2581;p92"/>
          <p:cNvSpPr/>
          <p:nvPr/>
        </p:nvSpPr>
        <p:spPr>
          <a:xfrm>
            <a:off x="1271016" y="4646981"/>
            <a:ext cx="9649663" cy="790042"/>
          </a:xfrm>
          <a:prstGeom prst="roundRect">
            <a:avLst>
              <a:gd fmla="val 6944" name="adj"/>
            </a:avLst>
          </a:prstGeom>
          <a:solidFill>
            <a:srgbClr val="1F7FB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82" name="Google Shape;2582;p92"/>
          <p:cNvSpPr/>
          <p:nvPr/>
        </p:nvSpPr>
        <p:spPr>
          <a:xfrm>
            <a:off x="1453896" y="4646981"/>
            <a:ext cx="4052859" cy="79004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300"/>
              <a:buFont typeface="Calibri"/>
              <a:buNone/>
            </a:pPr>
            <a:r>
              <a:rPr b="1" i="0" lang="en-US" sz="1300" u="none" cap="none" strike="noStrike">
                <a:solidFill>
                  <a:srgbClr val="FFFFFF"/>
                </a:solidFill>
                <a:latin typeface="Calibri"/>
                <a:ea typeface="Calibri"/>
                <a:cs typeface="Calibri"/>
                <a:sym typeface="Calibri"/>
              </a:rPr>
              <a:t>Negative definitions</a:t>
            </a:r>
            <a:endParaRPr b="0" i="0" sz="1300" u="none" cap="none" strike="noStrike">
              <a:solidFill>
                <a:schemeClr val="dk1"/>
              </a:solidFill>
              <a:latin typeface="Calibri"/>
              <a:ea typeface="Calibri"/>
              <a:cs typeface="Calibri"/>
              <a:sym typeface="Calibri"/>
            </a:endParaRPr>
          </a:p>
        </p:txBody>
      </p:sp>
      <p:sp>
        <p:nvSpPr>
          <p:cNvPr id="2583" name="Google Shape;2583;p92"/>
          <p:cNvSpPr/>
          <p:nvPr/>
        </p:nvSpPr>
        <p:spPr>
          <a:xfrm>
            <a:off x="5516868" y="4646981"/>
            <a:ext cx="5114321" cy="79004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D9E4F5"/>
              </a:buClr>
              <a:buSzPts val="1050"/>
              <a:buFont typeface="Calibri"/>
              <a:buNone/>
            </a:pPr>
            <a:r>
              <a:rPr b="0" i="0" lang="en-US" sz="1050" u="none" cap="none" strike="noStrike">
                <a:solidFill>
                  <a:srgbClr val="D9E4F5"/>
                </a:solidFill>
                <a:latin typeface="Calibri"/>
                <a:ea typeface="Calibri"/>
                <a:cs typeface="Calibri"/>
                <a:sym typeface="Calibri"/>
              </a:rPr>
              <a:t>what is NOT a defect: natural wrinkling, harmless bloom</a:t>
            </a:r>
            <a:endParaRPr b="0" i="0" sz="1050" u="none" cap="none" strike="noStrike">
              <a:solidFill>
                <a:schemeClr val="dk1"/>
              </a:solidFill>
              <a:latin typeface="Calibri"/>
              <a:ea typeface="Calibri"/>
              <a:cs typeface="Calibri"/>
              <a:sym typeface="Calibri"/>
            </a:endParaRPr>
          </a:p>
        </p:txBody>
      </p:sp>
      <p:sp>
        <p:nvSpPr>
          <p:cNvPr id="2584" name="Google Shape;2584;p92"/>
          <p:cNvSpPr/>
          <p:nvPr/>
        </p:nvSpPr>
        <p:spPr>
          <a:xfrm>
            <a:off x="1527048" y="5565038"/>
            <a:ext cx="9137599" cy="790042"/>
          </a:xfrm>
          <a:prstGeom prst="roundRect">
            <a:avLst>
              <a:gd fmla="val 6944" name="adj"/>
            </a:avLst>
          </a:prstGeom>
          <a:solidFill>
            <a:srgbClr val="29ABE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85" name="Google Shape;2585;p92"/>
          <p:cNvSpPr/>
          <p:nvPr/>
        </p:nvSpPr>
        <p:spPr>
          <a:xfrm>
            <a:off x="1709928" y="5565038"/>
            <a:ext cx="3837792" cy="79004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300"/>
              <a:buFont typeface="Calibri"/>
              <a:buNone/>
            </a:pPr>
            <a:r>
              <a:rPr b="1" i="0" lang="en-US" sz="1300" u="none" cap="none" strike="noStrike">
                <a:solidFill>
                  <a:srgbClr val="FFFFFF"/>
                </a:solidFill>
                <a:latin typeface="Calibri"/>
                <a:ea typeface="Calibri"/>
                <a:cs typeface="Calibri"/>
                <a:sym typeface="Calibri"/>
              </a:rPr>
              <a:t>QA procedure</a:t>
            </a:r>
            <a:endParaRPr b="0" i="0" sz="1300" u="none" cap="none" strike="noStrike">
              <a:solidFill>
                <a:schemeClr val="dk1"/>
              </a:solidFill>
              <a:latin typeface="Calibri"/>
              <a:ea typeface="Calibri"/>
              <a:cs typeface="Calibri"/>
              <a:sym typeface="Calibri"/>
            </a:endParaRPr>
          </a:p>
        </p:txBody>
      </p:sp>
      <p:sp>
        <p:nvSpPr>
          <p:cNvPr id="2586" name="Google Shape;2586;p92"/>
          <p:cNvSpPr/>
          <p:nvPr/>
        </p:nvSpPr>
        <p:spPr>
          <a:xfrm>
            <a:off x="5547592" y="5565038"/>
            <a:ext cx="4842928" cy="79004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D9E4F5"/>
              </a:buClr>
              <a:buSzPts val="1050"/>
              <a:buFont typeface="Calibri"/>
              <a:buNone/>
            </a:pPr>
            <a:r>
              <a:rPr b="0" i="0" lang="en-US" sz="1050" u="none" cap="none" strike="noStrike">
                <a:solidFill>
                  <a:srgbClr val="D9E4F5"/>
                </a:solidFill>
                <a:latin typeface="Calibri"/>
                <a:ea typeface="Calibri"/>
                <a:cs typeface="Calibri"/>
                <a:sym typeface="Calibri"/>
              </a:rPr>
              <a:t>10% double-annotated; kappa &lt; 0.75 triggers annotator retraining</a:t>
            </a:r>
            <a:endParaRPr b="0" i="0" sz="1050" u="none" cap="none" strike="noStrike">
              <a:solidFill>
                <a:schemeClr val="dk1"/>
              </a:solidFill>
              <a:latin typeface="Calibri"/>
              <a:ea typeface="Calibri"/>
              <a:cs typeface="Calibri"/>
              <a:sym typeface="Calibri"/>
            </a:endParaRPr>
          </a:p>
        </p:txBody>
      </p:sp>
    </p:spTree>
  </p:cSld>
  <p:clrMapOvr>
    <a:masterClrMapping/>
  </p:clrMapOvr>
</p:sld>
</file>

<file path=ppt/slides/slide9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591" name="Shape 2591"/>
        <p:cNvGrpSpPr/>
        <p:nvPr/>
      </p:nvGrpSpPr>
      <p:grpSpPr>
        <a:xfrm>
          <a:off x="0" y="0"/>
          <a:ext cx="0" cy="0"/>
          <a:chOff x="0" y="0"/>
          <a:chExt cx="0" cy="0"/>
        </a:xfrm>
      </p:grpSpPr>
      <p:sp>
        <p:nvSpPr>
          <p:cNvPr id="2592" name="Google Shape;2592;p93"/>
          <p:cNvSpPr/>
          <p:nvPr/>
        </p:nvSpPr>
        <p:spPr>
          <a:xfrm>
            <a:off x="502920" y="274320"/>
            <a:ext cx="9646920" cy="56692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D2A5C"/>
              </a:buClr>
              <a:buSzPts val="2700"/>
              <a:buFont typeface="Calibri"/>
              <a:buNone/>
            </a:pPr>
            <a:r>
              <a:rPr b="1" i="0" lang="en-US" sz="2700" u="none" cap="none" strike="noStrike">
                <a:solidFill>
                  <a:srgbClr val="1D2A5C"/>
                </a:solidFill>
                <a:latin typeface="Calibri"/>
                <a:ea typeface="Calibri"/>
                <a:cs typeface="Calibri"/>
                <a:sym typeface="Calibri"/>
              </a:rPr>
              <a:t>The Data Flywheel and Pre-Labelling</a:t>
            </a:r>
            <a:endParaRPr b="0" i="0" sz="2700" u="none" cap="none" strike="noStrike">
              <a:solidFill>
                <a:schemeClr val="dk1"/>
              </a:solidFill>
              <a:latin typeface="Calibri"/>
              <a:ea typeface="Calibri"/>
              <a:cs typeface="Calibri"/>
              <a:sym typeface="Calibri"/>
            </a:endParaRPr>
          </a:p>
        </p:txBody>
      </p:sp>
      <p:sp>
        <p:nvSpPr>
          <p:cNvPr id="2593" name="Google Shape;2593;p93"/>
          <p:cNvSpPr/>
          <p:nvPr/>
        </p:nvSpPr>
        <p:spPr>
          <a:xfrm>
            <a:off x="502920" y="859536"/>
            <a:ext cx="9646920" cy="31089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F6B7A"/>
              </a:buClr>
              <a:buSzPts val="1250"/>
              <a:buFont typeface="Arial"/>
              <a:buNone/>
            </a:pPr>
            <a:r>
              <a:rPr b="0" i="0" lang="en-US" sz="1250" u="none" cap="none" strike="noStrike">
                <a:solidFill>
                  <a:srgbClr val="5F6B7A"/>
                </a:solidFill>
                <a:latin typeface="Arial"/>
                <a:ea typeface="Arial"/>
                <a:cs typeface="Arial"/>
                <a:sym typeface="Arial"/>
              </a:rPr>
              <a:t>دولاب البيانات والتوصيف المسبق</a:t>
            </a:r>
            <a:endParaRPr b="0" i="0" sz="1250" u="none" cap="none" strike="noStrike">
              <a:solidFill>
                <a:schemeClr val="dk1"/>
              </a:solidFill>
              <a:latin typeface="Calibri"/>
              <a:ea typeface="Calibri"/>
              <a:cs typeface="Calibri"/>
              <a:sym typeface="Calibri"/>
            </a:endParaRPr>
          </a:p>
        </p:txBody>
      </p:sp>
      <p:pic>
        <p:nvPicPr>
          <p:cNvPr descr="/sessions/blissful-determined-ritchie/build/assets/sdaia_logo.png" id="2594" name="Google Shape;2594;p93"/>
          <p:cNvPicPr preferRelativeResize="0"/>
          <p:nvPr/>
        </p:nvPicPr>
        <p:blipFill rotWithShape="1">
          <a:blip r:embed="rId3">
            <a:alphaModFix/>
          </a:blip>
          <a:srcRect b="0" l="0" r="0" t="0"/>
          <a:stretch/>
        </p:blipFill>
        <p:spPr>
          <a:xfrm>
            <a:off x="10625328" y="310896"/>
            <a:ext cx="1078992" cy="264111"/>
          </a:xfrm>
          <a:prstGeom prst="rect">
            <a:avLst/>
          </a:prstGeom>
          <a:noFill/>
          <a:ln>
            <a:noFill/>
          </a:ln>
        </p:spPr>
      </p:pic>
      <p:sp>
        <p:nvSpPr>
          <p:cNvPr id="2595" name="Google Shape;2595;p93"/>
          <p:cNvSpPr/>
          <p:nvPr/>
        </p:nvSpPr>
        <p:spPr>
          <a:xfrm>
            <a:off x="502920" y="6528816"/>
            <a:ext cx="8686800"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A79D"/>
              </a:buClr>
              <a:buSzPts val="800"/>
              <a:buFont typeface="Calibri"/>
              <a:buNone/>
            </a:pPr>
            <a:r>
              <a:rPr b="1" i="0" lang="en-US" sz="800" u="none" cap="none" strike="noStrike">
                <a:solidFill>
                  <a:srgbClr val="00A79D"/>
                </a:solidFill>
                <a:latin typeface="Calibri"/>
                <a:ea typeface="Calibri"/>
                <a:cs typeface="Calibri"/>
                <a:sym typeface="Calibri"/>
              </a:rPr>
              <a:t>MODULE 5   </a:t>
            </a:r>
            <a:r>
              <a:rPr b="0" i="0" lang="en-US" sz="800" u="none" cap="none" strike="noStrike">
                <a:solidFill>
                  <a:srgbClr val="8A96A6"/>
                </a:solidFill>
                <a:latin typeface="Calibri"/>
                <a:ea typeface="Calibri"/>
                <a:cs typeface="Calibri"/>
                <a:sym typeface="Calibri"/>
              </a:rPr>
              <a:t>SDA-AIE-212 · Computer Vision Systems Development</a:t>
            </a:r>
            <a:endParaRPr b="0" i="0" sz="800" u="none" cap="none" strike="noStrike">
              <a:solidFill>
                <a:schemeClr val="dk1"/>
              </a:solidFill>
              <a:latin typeface="Calibri"/>
              <a:ea typeface="Calibri"/>
              <a:cs typeface="Calibri"/>
              <a:sym typeface="Calibri"/>
            </a:endParaRPr>
          </a:p>
        </p:txBody>
      </p:sp>
      <p:sp>
        <p:nvSpPr>
          <p:cNvPr id="2596" name="Google Shape;2596;p93"/>
          <p:cNvSpPr/>
          <p:nvPr/>
        </p:nvSpPr>
        <p:spPr>
          <a:xfrm>
            <a:off x="11292840" y="6528816"/>
            <a:ext cx="411480" cy="219456"/>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8A96A6"/>
              </a:buClr>
              <a:buSzPts val="900"/>
              <a:buFont typeface="Calibri"/>
              <a:buNone/>
            </a:pPr>
            <a:r>
              <a:rPr b="0" i="0" lang="en-US" sz="900" u="none" cap="none" strike="noStrike">
                <a:solidFill>
                  <a:srgbClr val="8A96A6"/>
                </a:solidFill>
                <a:latin typeface="Calibri"/>
                <a:ea typeface="Calibri"/>
                <a:cs typeface="Calibri"/>
                <a:sym typeface="Calibri"/>
              </a:rPr>
              <a:t>93</a:t>
            </a:r>
            <a:endParaRPr b="0" i="0" sz="900" u="none" cap="none" strike="noStrike">
              <a:solidFill>
                <a:schemeClr val="dk1"/>
              </a:solidFill>
              <a:latin typeface="Calibri"/>
              <a:ea typeface="Calibri"/>
              <a:cs typeface="Calibri"/>
              <a:sym typeface="Calibri"/>
            </a:endParaRPr>
          </a:p>
        </p:txBody>
      </p:sp>
      <p:sp>
        <p:nvSpPr>
          <p:cNvPr id="2597" name="Google Shape;2597;p93"/>
          <p:cNvSpPr/>
          <p:nvPr/>
        </p:nvSpPr>
        <p:spPr>
          <a:xfrm>
            <a:off x="502920" y="1389888"/>
            <a:ext cx="11185855" cy="384048"/>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5F6B7A"/>
              </a:buClr>
              <a:buSzPts val="1250"/>
              <a:buFont typeface="Calibri"/>
              <a:buNone/>
            </a:pPr>
            <a:r>
              <a:rPr b="0" i="1" lang="en-US" sz="1250" u="none" cap="none" strike="noStrike">
                <a:solidFill>
                  <a:srgbClr val="5F6B7A"/>
                </a:solidFill>
                <a:latin typeface="Calibri"/>
                <a:ea typeface="Calibri"/>
                <a:cs typeface="Calibri"/>
                <a:sym typeface="Calibri"/>
              </a:rPr>
              <a:t>Correcting a draft box takes ~2 s vs ~7 s drawing; SAM-assisted polygons cut cost 3-5x. Every model version becomes an annotation upgrade.</a:t>
            </a:r>
            <a:endParaRPr b="0" i="0" sz="1250" u="none" cap="none" strike="noStrike">
              <a:solidFill>
                <a:schemeClr val="dk1"/>
              </a:solidFill>
              <a:latin typeface="Calibri"/>
              <a:ea typeface="Calibri"/>
              <a:cs typeface="Calibri"/>
              <a:sym typeface="Calibri"/>
            </a:endParaRPr>
          </a:p>
        </p:txBody>
      </p:sp>
      <p:sp>
        <p:nvSpPr>
          <p:cNvPr id="2598" name="Google Shape;2598;p93"/>
          <p:cNvSpPr/>
          <p:nvPr/>
        </p:nvSpPr>
        <p:spPr>
          <a:xfrm>
            <a:off x="502920" y="2121408"/>
            <a:ext cx="3472586" cy="1371600"/>
          </a:xfrm>
          <a:prstGeom prst="roundRect">
            <a:avLst>
              <a:gd fmla="val 4667" name="adj"/>
            </a:avLst>
          </a:prstGeom>
          <a:solidFill>
            <a:srgbClr val="F2F6F9"/>
          </a:solidFill>
          <a:ln cap="flat" cmpd="sng" w="15875">
            <a:solidFill>
              <a:srgbClr val="00A79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99" name="Google Shape;2599;p93"/>
          <p:cNvSpPr/>
          <p:nvPr/>
        </p:nvSpPr>
        <p:spPr>
          <a:xfrm>
            <a:off x="576072" y="2176272"/>
            <a:ext cx="3326282" cy="6172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D2A5C"/>
              </a:buClr>
              <a:buSzPts val="1250"/>
              <a:buFont typeface="Calibri"/>
              <a:buNone/>
            </a:pPr>
            <a:r>
              <a:rPr b="1" i="0" lang="en-US" sz="1250" u="none" cap="none" strike="noStrike">
                <a:solidFill>
                  <a:srgbClr val="1D2A5C"/>
                </a:solidFill>
                <a:latin typeface="Calibri"/>
                <a:ea typeface="Calibri"/>
                <a:cs typeface="Calibri"/>
                <a:sym typeface="Calibri"/>
              </a:rPr>
              <a:t>Deploy + capture</a:t>
            </a:r>
            <a:endParaRPr b="0" i="0" sz="1250" u="none" cap="none" strike="noStrike">
              <a:solidFill>
                <a:schemeClr val="dk1"/>
              </a:solidFill>
              <a:latin typeface="Calibri"/>
              <a:ea typeface="Calibri"/>
              <a:cs typeface="Calibri"/>
              <a:sym typeface="Calibri"/>
            </a:endParaRPr>
          </a:p>
        </p:txBody>
      </p:sp>
      <p:sp>
        <p:nvSpPr>
          <p:cNvPr id="2600" name="Google Shape;2600;p93"/>
          <p:cNvSpPr/>
          <p:nvPr/>
        </p:nvSpPr>
        <p:spPr>
          <a:xfrm>
            <a:off x="576072" y="2779776"/>
            <a:ext cx="3326282" cy="658368"/>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rgbClr val="5F6B7A"/>
              </a:buClr>
              <a:buSzPts val="950"/>
              <a:buFont typeface="Calibri"/>
              <a:buNone/>
            </a:pPr>
            <a:r>
              <a:rPr b="0" i="0" lang="en-US" sz="950" u="none" cap="none" strike="noStrike">
                <a:solidFill>
                  <a:srgbClr val="5F6B7A"/>
                </a:solidFill>
                <a:latin typeface="Calibri"/>
                <a:ea typeface="Calibri"/>
                <a:cs typeface="Calibri"/>
                <a:sym typeface="Calibri"/>
              </a:rPr>
              <a:t>production frames flow back (PDPL gate)</a:t>
            </a:r>
            <a:endParaRPr b="0" i="0" sz="950" u="none" cap="none" strike="noStrike">
              <a:solidFill>
                <a:schemeClr val="dk1"/>
              </a:solidFill>
              <a:latin typeface="Calibri"/>
              <a:ea typeface="Calibri"/>
              <a:cs typeface="Calibri"/>
              <a:sym typeface="Calibri"/>
            </a:endParaRPr>
          </a:p>
        </p:txBody>
      </p:sp>
      <p:cxnSp>
        <p:nvCxnSpPr>
          <p:cNvPr id="2601" name="Google Shape;2601;p93"/>
          <p:cNvCxnSpPr/>
          <p:nvPr/>
        </p:nvCxnSpPr>
        <p:spPr>
          <a:xfrm>
            <a:off x="4030370" y="2807208"/>
            <a:ext cx="274320" cy="0"/>
          </a:xfrm>
          <a:prstGeom prst="straightConnector1">
            <a:avLst/>
          </a:prstGeom>
          <a:noFill/>
          <a:ln cap="flat" cmpd="sng" w="19050">
            <a:solidFill>
              <a:srgbClr val="8A96A6"/>
            </a:solidFill>
            <a:prstDash val="solid"/>
            <a:round/>
            <a:headEnd len="sm" w="sm" type="none"/>
            <a:tailEnd len="med" w="med" type="triangle"/>
          </a:ln>
        </p:spPr>
      </p:cxnSp>
      <p:sp>
        <p:nvSpPr>
          <p:cNvPr id="2602" name="Google Shape;2602;p93"/>
          <p:cNvSpPr/>
          <p:nvPr/>
        </p:nvSpPr>
        <p:spPr>
          <a:xfrm>
            <a:off x="4359554" y="2121408"/>
            <a:ext cx="3472586" cy="1371600"/>
          </a:xfrm>
          <a:prstGeom prst="roundRect">
            <a:avLst>
              <a:gd fmla="val 4667" name="adj"/>
            </a:avLst>
          </a:prstGeom>
          <a:solidFill>
            <a:srgbClr val="F2F6F9"/>
          </a:solidFill>
          <a:ln cap="flat" cmpd="sng" w="15875">
            <a:solidFill>
              <a:srgbClr val="00A79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03" name="Google Shape;2603;p93"/>
          <p:cNvSpPr/>
          <p:nvPr/>
        </p:nvSpPr>
        <p:spPr>
          <a:xfrm>
            <a:off x="4432706" y="2176272"/>
            <a:ext cx="3326282" cy="6172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D2A5C"/>
              </a:buClr>
              <a:buSzPts val="1250"/>
              <a:buFont typeface="Calibri"/>
              <a:buNone/>
            </a:pPr>
            <a:r>
              <a:rPr b="1" i="0" lang="en-US" sz="1250" u="none" cap="none" strike="noStrike">
                <a:solidFill>
                  <a:srgbClr val="1D2A5C"/>
                </a:solidFill>
                <a:latin typeface="Calibri"/>
                <a:ea typeface="Calibri"/>
                <a:cs typeface="Calibri"/>
                <a:sym typeface="Calibri"/>
              </a:rPr>
              <a:t>Uncertainty triage</a:t>
            </a:r>
            <a:endParaRPr b="0" i="0" sz="1250" u="none" cap="none" strike="noStrike">
              <a:solidFill>
                <a:schemeClr val="dk1"/>
              </a:solidFill>
              <a:latin typeface="Calibri"/>
              <a:ea typeface="Calibri"/>
              <a:cs typeface="Calibri"/>
              <a:sym typeface="Calibri"/>
            </a:endParaRPr>
          </a:p>
        </p:txBody>
      </p:sp>
      <p:sp>
        <p:nvSpPr>
          <p:cNvPr id="2604" name="Google Shape;2604;p93"/>
          <p:cNvSpPr/>
          <p:nvPr/>
        </p:nvSpPr>
        <p:spPr>
          <a:xfrm>
            <a:off x="4432706" y="2779776"/>
            <a:ext cx="3326282" cy="658368"/>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rgbClr val="5F6B7A"/>
              </a:buClr>
              <a:buSzPts val="950"/>
              <a:buFont typeface="Calibri"/>
              <a:buNone/>
            </a:pPr>
            <a:r>
              <a:rPr b="0" i="0" lang="en-US" sz="950" u="none" cap="none" strike="noStrike">
                <a:solidFill>
                  <a:srgbClr val="5F6B7A"/>
                </a:solidFill>
                <a:latin typeface="Calibri"/>
                <a:ea typeface="Calibri"/>
                <a:cs typeface="Calibri"/>
                <a:sym typeface="Calibri"/>
              </a:rPr>
              <a:t>rank what deserves labelling</a:t>
            </a:r>
            <a:endParaRPr b="0" i="0" sz="950" u="none" cap="none" strike="noStrike">
              <a:solidFill>
                <a:schemeClr val="dk1"/>
              </a:solidFill>
              <a:latin typeface="Calibri"/>
              <a:ea typeface="Calibri"/>
              <a:cs typeface="Calibri"/>
              <a:sym typeface="Calibri"/>
            </a:endParaRPr>
          </a:p>
        </p:txBody>
      </p:sp>
      <p:cxnSp>
        <p:nvCxnSpPr>
          <p:cNvPr id="2605" name="Google Shape;2605;p93"/>
          <p:cNvCxnSpPr/>
          <p:nvPr/>
        </p:nvCxnSpPr>
        <p:spPr>
          <a:xfrm>
            <a:off x="7887005" y="2807208"/>
            <a:ext cx="274320" cy="0"/>
          </a:xfrm>
          <a:prstGeom prst="straightConnector1">
            <a:avLst/>
          </a:prstGeom>
          <a:noFill/>
          <a:ln cap="flat" cmpd="sng" w="19050">
            <a:solidFill>
              <a:srgbClr val="8A96A6"/>
            </a:solidFill>
            <a:prstDash val="solid"/>
            <a:round/>
            <a:headEnd len="sm" w="sm" type="none"/>
            <a:tailEnd len="med" w="med" type="triangle"/>
          </a:ln>
        </p:spPr>
      </p:cxnSp>
      <p:sp>
        <p:nvSpPr>
          <p:cNvPr id="2606" name="Google Shape;2606;p93"/>
          <p:cNvSpPr/>
          <p:nvPr/>
        </p:nvSpPr>
        <p:spPr>
          <a:xfrm>
            <a:off x="8216189" y="2121408"/>
            <a:ext cx="3472586" cy="1371600"/>
          </a:xfrm>
          <a:prstGeom prst="roundRect">
            <a:avLst>
              <a:gd fmla="val 4667" name="adj"/>
            </a:avLst>
          </a:prstGeom>
          <a:solidFill>
            <a:srgbClr val="F2F6F9"/>
          </a:solidFill>
          <a:ln cap="flat" cmpd="sng" w="15875">
            <a:solidFill>
              <a:srgbClr val="00A79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07" name="Google Shape;2607;p93"/>
          <p:cNvSpPr/>
          <p:nvPr/>
        </p:nvSpPr>
        <p:spPr>
          <a:xfrm>
            <a:off x="8289341" y="2176272"/>
            <a:ext cx="3326282" cy="6172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D2A5C"/>
              </a:buClr>
              <a:buSzPts val="1250"/>
              <a:buFont typeface="Calibri"/>
              <a:buNone/>
            </a:pPr>
            <a:r>
              <a:rPr b="1" i="0" lang="en-US" sz="1250" u="none" cap="none" strike="noStrike">
                <a:solidFill>
                  <a:srgbClr val="1D2A5C"/>
                </a:solidFill>
                <a:latin typeface="Calibri"/>
                <a:ea typeface="Calibri"/>
                <a:cs typeface="Calibri"/>
                <a:sym typeface="Calibri"/>
              </a:rPr>
              <a:t>Annotate pre-labelled</a:t>
            </a:r>
            <a:endParaRPr b="0" i="0" sz="1250" u="none" cap="none" strike="noStrike">
              <a:solidFill>
                <a:schemeClr val="dk1"/>
              </a:solidFill>
              <a:latin typeface="Calibri"/>
              <a:ea typeface="Calibri"/>
              <a:cs typeface="Calibri"/>
              <a:sym typeface="Calibri"/>
            </a:endParaRPr>
          </a:p>
        </p:txBody>
      </p:sp>
      <p:sp>
        <p:nvSpPr>
          <p:cNvPr id="2608" name="Google Shape;2608;p93"/>
          <p:cNvSpPr/>
          <p:nvPr/>
        </p:nvSpPr>
        <p:spPr>
          <a:xfrm>
            <a:off x="8289341" y="2779776"/>
            <a:ext cx="3326282" cy="658368"/>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rgbClr val="5F6B7A"/>
              </a:buClr>
              <a:buSzPts val="950"/>
              <a:buFont typeface="Calibri"/>
              <a:buNone/>
            </a:pPr>
            <a:r>
              <a:rPr b="0" i="0" lang="en-US" sz="950" u="none" cap="none" strike="noStrike">
                <a:solidFill>
                  <a:srgbClr val="5F6B7A"/>
                </a:solidFill>
                <a:latin typeface="Calibri"/>
                <a:ea typeface="Calibri"/>
                <a:cs typeface="Calibri"/>
                <a:sym typeface="Calibri"/>
              </a:rPr>
              <a:t>humans correct drafts, not create</a:t>
            </a:r>
            <a:endParaRPr b="0" i="0" sz="950" u="none" cap="none" strike="noStrike">
              <a:solidFill>
                <a:schemeClr val="dk1"/>
              </a:solidFill>
              <a:latin typeface="Calibri"/>
              <a:ea typeface="Calibri"/>
              <a:cs typeface="Calibri"/>
              <a:sym typeface="Calibri"/>
            </a:endParaRPr>
          </a:p>
        </p:txBody>
      </p:sp>
      <p:cxnSp>
        <p:nvCxnSpPr>
          <p:cNvPr id="2609" name="Google Shape;2609;p93"/>
          <p:cNvCxnSpPr/>
          <p:nvPr/>
        </p:nvCxnSpPr>
        <p:spPr>
          <a:xfrm>
            <a:off x="9952482" y="3493008"/>
            <a:ext cx="0" cy="777240"/>
          </a:xfrm>
          <a:prstGeom prst="straightConnector1">
            <a:avLst/>
          </a:prstGeom>
          <a:noFill/>
          <a:ln cap="flat" cmpd="sng" w="19050">
            <a:solidFill>
              <a:srgbClr val="8A96A6"/>
            </a:solidFill>
            <a:prstDash val="solid"/>
            <a:round/>
            <a:headEnd len="sm" w="sm" type="none"/>
            <a:tailEnd len="med" w="med" type="triangle"/>
          </a:ln>
        </p:spPr>
      </p:cxnSp>
      <p:cxnSp>
        <p:nvCxnSpPr>
          <p:cNvPr id="2610" name="Google Shape;2610;p93"/>
          <p:cNvCxnSpPr/>
          <p:nvPr/>
        </p:nvCxnSpPr>
        <p:spPr>
          <a:xfrm>
            <a:off x="9952482" y="3493008"/>
            <a:ext cx="0" cy="274320"/>
          </a:xfrm>
          <a:prstGeom prst="straightConnector1">
            <a:avLst/>
          </a:prstGeom>
          <a:noFill/>
          <a:ln cap="flat" cmpd="sng" w="15875">
            <a:solidFill>
              <a:srgbClr val="E8503A"/>
            </a:solidFill>
            <a:prstDash val="dash"/>
            <a:round/>
            <a:headEnd len="sm" w="sm" type="none"/>
            <a:tailEnd len="sm" w="sm" type="none"/>
          </a:ln>
        </p:spPr>
      </p:cxnSp>
      <p:sp>
        <p:nvSpPr>
          <p:cNvPr id="2611" name="Google Shape;2611;p93"/>
          <p:cNvSpPr/>
          <p:nvPr/>
        </p:nvSpPr>
        <p:spPr>
          <a:xfrm>
            <a:off x="8170469" y="3767328"/>
            <a:ext cx="3564026" cy="475488"/>
          </a:xfrm>
          <a:prstGeom prst="roundRect">
            <a:avLst>
              <a:gd fmla="val 11538" name="adj"/>
            </a:avLst>
          </a:prstGeom>
          <a:solidFill>
            <a:srgbClr val="FDEDEA"/>
          </a:solidFill>
          <a:ln cap="flat" cmpd="sng" w="12700">
            <a:solidFill>
              <a:srgbClr val="E8503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12" name="Google Shape;2612;p93"/>
          <p:cNvSpPr/>
          <p:nvPr/>
        </p:nvSpPr>
        <p:spPr>
          <a:xfrm>
            <a:off x="8216189" y="3767328"/>
            <a:ext cx="3472586" cy="47548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E8503A"/>
              </a:buClr>
              <a:buSzPts val="950"/>
              <a:buFont typeface="Calibri"/>
              <a:buNone/>
            </a:pPr>
            <a:r>
              <a:rPr b="1" i="0" lang="en-US" sz="950" u="none" cap="none" strike="noStrike">
                <a:solidFill>
                  <a:srgbClr val="E8503A"/>
                </a:solidFill>
                <a:latin typeface="Calibri"/>
                <a:ea typeface="Calibri"/>
                <a:cs typeface="Calibri"/>
                <a:sym typeface="Calibri"/>
              </a:rPr>
              <a:t>anchor bias: model errors confirmed into ground truth</a:t>
            </a:r>
            <a:endParaRPr b="0" i="0" sz="950" u="none" cap="none" strike="noStrike">
              <a:solidFill>
                <a:schemeClr val="dk1"/>
              </a:solidFill>
              <a:latin typeface="Calibri"/>
              <a:ea typeface="Calibri"/>
              <a:cs typeface="Calibri"/>
              <a:sym typeface="Calibri"/>
            </a:endParaRPr>
          </a:p>
        </p:txBody>
      </p:sp>
      <p:sp>
        <p:nvSpPr>
          <p:cNvPr id="2613" name="Google Shape;2613;p93"/>
          <p:cNvSpPr/>
          <p:nvPr/>
        </p:nvSpPr>
        <p:spPr>
          <a:xfrm>
            <a:off x="8216189" y="4361688"/>
            <a:ext cx="3472586" cy="1371600"/>
          </a:xfrm>
          <a:prstGeom prst="roundRect">
            <a:avLst>
              <a:gd fmla="val 4667" name="adj"/>
            </a:avLst>
          </a:prstGeom>
          <a:solidFill>
            <a:srgbClr val="F2F6F9"/>
          </a:solidFill>
          <a:ln cap="flat" cmpd="sng" w="15875">
            <a:solidFill>
              <a:srgbClr val="00A79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14" name="Google Shape;2614;p93"/>
          <p:cNvSpPr/>
          <p:nvPr/>
        </p:nvSpPr>
        <p:spPr>
          <a:xfrm>
            <a:off x="8289341" y="4416552"/>
            <a:ext cx="3326282" cy="6172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D2A5C"/>
              </a:buClr>
              <a:buSzPts val="1250"/>
              <a:buFont typeface="Calibri"/>
              <a:buNone/>
            </a:pPr>
            <a:r>
              <a:rPr b="1" i="0" lang="en-US" sz="1250" u="none" cap="none" strike="noStrike">
                <a:solidFill>
                  <a:srgbClr val="1D2A5C"/>
                </a:solidFill>
                <a:latin typeface="Calibri"/>
                <a:ea typeface="Calibri"/>
                <a:cs typeface="Calibri"/>
                <a:sym typeface="Calibri"/>
              </a:rPr>
              <a:t>QA / agreement</a:t>
            </a:r>
            <a:endParaRPr b="0" i="0" sz="1250" u="none" cap="none" strike="noStrike">
              <a:solidFill>
                <a:schemeClr val="dk1"/>
              </a:solidFill>
              <a:latin typeface="Calibri"/>
              <a:ea typeface="Calibri"/>
              <a:cs typeface="Calibri"/>
              <a:sym typeface="Calibri"/>
            </a:endParaRPr>
          </a:p>
        </p:txBody>
      </p:sp>
      <p:sp>
        <p:nvSpPr>
          <p:cNvPr id="2615" name="Google Shape;2615;p93"/>
          <p:cNvSpPr/>
          <p:nvPr/>
        </p:nvSpPr>
        <p:spPr>
          <a:xfrm>
            <a:off x="8289341" y="5020056"/>
            <a:ext cx="3326282" cy="658368"/>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rgbClr val="5F6B7A"/>
              </a:buClr>
              <a:buSzPts val="950"/>
              <a:buFont typeface="Calibri"/>
              <a:buNone/>
            </a:pPr>
            <a:r>
              <a:rPr b="0" i="0" lang="en-US" sz="950" u="none" cap="none" strike="noStrike">
                <a:solidFill>
                  <a:srgbClr val="5F6B7A"/>
                </a:solidFill>
                <a:latin typeface="Calibri"/>
                <a:ea typeface="Calibri"/>
                <a:cs typeface="Calibri"/>
                <a:sym typeface="Calibri"/>
              </a:rPr>
              <a:t>kappa + IoU on double-annotated sample</a:t>
            </a:r>
            <a:endParaRPr b="0" i="0" sz="950" u="none" cap="none" strike="noStrike">
              <a:solidFill>
                <a:schemeClr val="dk1"/>
              </a:solidFill>
              <a:latin typeface="Calibri"/>
              <a:ea typeface="Calibri"/>
              <a:cs typeface="Calibri"/>
              <a:sym typeface="Calibri"/>
            </a:endParaRPr>
          </a:p>
        </p:txBody>
      </p:sp>
      <p:cxnSp>
        <p:nvCxnSpPr>
          <p:cNvPr id="2616" name="Google Shape;2616;p93"/>
          <p:cNvCxnSpPr/>
          <p:nvPr/>
        </p:nvCxnSpPr>
        <p:spPr>
          <a:xfrm>
            <a:off x="7887005" y="5047488"/>
            <a:ext cx="274320" cy="0"/>
          </a:xfrm>
          <a:prstGeom prst="straightConnector1">
            <a:avLst/>
          </a:prstGeom>
          <a:noFill/>
          <a:ln cap="flat" cmpd="sng" w="19050">
            <a:solidFill>
              <a:srgbClr val="8A96A6"/>
            </a:solidFill>
            <a:prstDash val="solid"/>
            <a:round/>
            <a:headEnd len="med" w="med" type="triangle"/>
            <a:tailEnd len="sm" w="sm" type="none"/>
          </a:ln>
        </p:spPr>
      </p:cxnSp>
      <p:sp>
        <p:nvSpPr>
          <p:cNvPr id="2617" name="Google Shape;2617;p93"/>
          <p:cNvSpPr/>
          <p:nvPr/>
        </p:nvSpPr>
        <p:spPr>
          <a:xfrm>
            <a:off x="4359554" y="4361688"/>
            <a:ext cx="3472586" cy="1371600"/>
          </a:xfrm>
          <a:prstGeom prst="roundRect">
            <a:avLst>
              <a:gd fmla="val 4667" name="adj"/>
            </a:avLst>
          </a:prstGeom>
          <a:solidFill>
            <a:srgbClr val="1D2A5C"/>
          </a:solidFill>
          <a:ln cap="flat" cmpd="sng" w="15875">
            <a:solidFill>
              <a:srgbClr val="00A79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18" name="Google Shape;2618;p93"/>
          <p:cNvSpPr/>
          <p:nvPr/>
        </p:nvSpPr>
        <p:spPr>
          <a:xfrm>
            <a:off x="4432706" y="4416552"/>
            <a:ext cx="3326282" cy="6172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250"/>
              <a:buFont typeface="Calibri"/>
              <a:buNone/>
            </a:pPr>
            <a:r>
              <a:rPr b="1" i="0" lang="en-US" sz="1250" u="none" cap="none" strike="noStrike">
                <a:solidFill>
                  <a:srgbClr val="FFFFFF"/>
                </a:solidFill>
                <a:latin typeface="Calibri"/>
                <a:ea typeface="Calibri"/>
                <a:cs typeface="Calibri"/>
                <a:sym typeface="Calibri"/>
              </a:rPr>
              <a:t>Versioned release</a:t>
            </a:r>
            <a:endParaRPr b="0" i="0" sz="1250" u="none" cap="none" strike="noStrike">
              <a:solidFill>
                <a:schemeClr val="dk1"/>
              </a:solidFill>
              <a:latin typeface="Calibri"/>
              <a:ea typeface="Calibri"/>
              <a:cs typeface="Calibri"/>
              <a:sym typeface="Calibri"/>
            </a:endParaRPr>
          </a:p>
        </p:txBody>
      </p:sp>
      <p:sp>
        <p:nvSpPr>
          <p:cNvPr id="2619" name="Google Shape;2619;p93"/>
          <p:cNvSpPr/>
          <p:nvPr/>
        </p:nvSpPr>
        <p:spPr>
          <a:xfrm>
            <a:off x="4432706" y="5020056"/>
            <a:ext cx="3326282" cy="658368"/>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rgbClr val="B9C8E8"/>
              </a:buClr>
              <a:buSzPts val="950"/>
              <a:buFont typeface="Calibri"/>
              <a:buNone/>
            </a:pPr>
            <a:r>
              <a:rPr b="0" i="0" lang="en-US" sz="950" u="none" cap="none" strike="noStrike">
                <a:solidFill>
                  <a:srgbClr val="B9C8E8"/>
                </a:solidFill>
                <a:latin typeface="Calibri"/>
                <a:ea typeface="Calibri"/>
                <a:cs typeface="Calibri"/>
                <a:sym typeface="Calibri"/>
              </a:rPr>
              <a:t>retrain and redeploy</a:t>
            </a:r>
            <a:endParaRPr b="0" i="0" sz="950" u="none" cap="none" strike="noStrike">
              <a:solidFill>
                <a:schemeClr val="dk1"/>
              </a:solidFill>
              <a:latin typeface="Calibri"/>
              <a:ea typeface="Calibri"/>
              <a:cs typeface="Calibri"/>
              <a:sym typeface="Calibri"/>
            </a:endParaRPr>
          </a:p>
        </p:txBody>
      </p:sp>
    </p:spTree>
  </p:cSld>
  <p:clrMapOvr>
    <a:masterClrMapping/>
  </p:clrMapOvr>
</p:sld>
</file>

<file path=ppt/slides/slide9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624" name="Shape 2624"/>
        <p:cNvGrpSpPr/>
        <p:nvPr/>
      </p:nvGrpSpPr>
      <p:grpSpPr>
        <a:xfrm>
          <a:off x="0" y="0"/>
          <a:ext cx="0" cy="0"/>
          <a:chOff x="0" y="0"/>
          <a:chExt cx="0" cy="0"/>
        </a:xfrm>
      </p:grpSpPr>
      <p:sp>
        <p:nvSpPr>
          <p:cNvPr id="2625" name="Google Shape;2625;p94"/>
          <p:cNvSpPr/>
          <p:nvPr/>
        </p:nvSpPr>
        <p:spPr>
          <a:xfrm>
            <a:off x="502920" y="274320"/>
            <a:ext cx="9646920" cy="56692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D2A5C"/>
              </a:buClr>
              <a:buSzPts val="2700"/>
              <a:buFont typeface="Calibri"/>
              <a:buNone/>
            </a:pPr>
            <a:r>
              <a:rPr b="1" i="0" lang="en-US" sz="2700" u="none" cap="none" strike="noStrike">
                <a:solidFill>
                  <a:srgbClr val="1D2A5C"/>
                </a:solidFill>
                <a:latin typeface="Calibri"/>
                <a:ea typeface="Calibri"/>
                <a:cs typeface="Calibri"/>
                <a:sym typeface="Calibri"/>
              </a:rPr>
              <a:t>Is the Label Good? Answer with Numbers</a:t>
            </a:r>
            <a:endParaRPr b="0" i="0" sz="2700" u="none" cap="none" strike="noStrike">
              <a:solidFill>
                <a:schemeClr val="dk1"/>
              </a:solidFill>
              <a:latin typeface="Calibri"/>
              <a:ea typeface="Calibri"/>
              <a:cs typeface="Calibri"/>
              <a:sym typeface="Calibri"/>
            </a:endParaRPr>
          </a:p>
        </p:txBody>
      </p:sp>
      <p:sp>
        <p:nvSpPr>
          <p:cNvPr id="2626" name="Google Shape;2626;p94"/>
          <p:cNvSpPr/>
          <p:nvPr/>
        </p:nvSpPr>
        <p:spPr>
          <a:xfrm>
            <a:off x="502920" y="859536"/>
            <a:ext cx="9646920" cy="31089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F6B7A"/>
              </a:buClr>
              <a:buSzPts val="1250"/>
              <a:buFont typeface="Arial"/>
              <a:buNone/>
            </a:pPr>
            <a:r>
              <a:rPr b="0" i="0" lang="en-US" sz="1250" u="none" cap="none" strike="noStrike">
                <a:solidFill>
                  <a:srgbClr val="5F6B7A"/>
                </a:solidFill>
                <a:latin typeface="Arial"/>
                <a:ea typeface="Arial"/>
                <a:cs typeface="Arial"/>
                <a:sym typeface="Arial"/>
              </a:rPr>
              <a:t>هل التوصيف جيد؟ أجب بالأرقام</a:t>
            </a:r>
            <a:endParaRPr b="0" i="0" sz="1250" u="none" cap="none" strike="noStrike">
              <a:solidFill>
                <a:schemeClr val="dk1"/>
              </a:solidFill>
              <a:latin typeface="Calibri"/>
              <a:ea typeface="Calibri"/>
              <a:cs typeface="Calibri"/>
              <a:sym typeface="Calibri"/>
            </a:endParaRPr>
          </a:p>
        </p:txBody>
      </p:sp>
      <p:pic>
        <p:nvPicPr>
          <p:cNvPr descr="/sessions/blissful-determined-ritchie/build/assets/sdaia_logo.png" id="2627" name="Google Shape;2627;p94"/>
          <p:cNvPicPr preferRelativeResize="0"/>
          <p:nvPr/>
        </p:nvPicPr>
        <p:blipFill rotWithShape="1">
          <a:blip r:embed="rId3">
            <a:alphaModFix/>
          </a:blip>
          <a:srcRect b="0" l="0" r="0" t="0"/>
          <a:stretch/>
        </p:blipFill>
        <p:spPr>
          <a:xfrm>
            <a:off x="10625328" y="310896"/>
            <a:ext cx="1078992" cy="264111"/>
          </a:xfrm>
          <a:prstGeom prst="rect">
            <a:avLst/>
          </a:prstGeom>
          <a:noFill/>
          <a:ln>
            <a:noFill/>
          </a:ln>
        </p:spPr>
      </p:pic>
      <p:sp>
        <p:nvSpPr>
          <p:cNvPr id="2628" name="Google Shape;2628;p94"/>
          <p:cNvSpPr/>
          <p:nvPr/>
        </p:nvSpPr>
        <p:spPr>
          <a:xfrm>
            <a:off x="502920" y="6528816"/>
            <a:ext cx="8686800"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A79D"/>
              </a:buClr>
              <a:buSzPts val="800"/>
              <a:buFont typeface="Calibri"/>
              <a:buNone/>
            </a:pPr>
            <a:r>
              <a:rPr b="1" i="0" lang="en-US" sz="800" u="none" cap="none" strike="noStrike">
                <a:solidFill>
                  <a:srgbClr val="00A79D"/>
                </a:solidFill>
                <a:latin typeface="Calibri"/>
                <a:ea typeface="Calibri"/>
                <a:cs typeface="Calibri"/>
                <a:sym typeface="Calibri"/>
              </a:rPr>
              <a:t>MODULE 5   </a:t>
            </a:r>
            <a:r>
              <a:rPr b="0" i="0" lang="en-US" sz="800" u="none" cap="none" strike="noStrike">
                <a:solidFill>
                  <a:srgbClr val="8A96A6"/>
                </a:solidFill>
                <a:latin typeface="Calibri"/>
                <a:ea typeface="Calibri"/>
                <a:cs typeface="Calibri"/>
                <a:sym typeface="Calibri"/>
              </a:rPr>
              <a:t>SDA-AIE-212 · Computer Vision Systems Development</a:t>
            </a:r>
            <a:endParaRPr b="0" i="0" sz="800" u="none" cap="none" strike="noStrike">
              <a:solidFill>
                <a:schemeClr val="dk1"/>
              </a:solidFill>
              <a:latin typeface="Calibri"/>
              <a:ea typeface="Calibri"/>
              <a:cs typeface="Calibri"/>
              <a:sym typeface="Calibri"/>
            </a:endParaRPr>
          </a:p>
        </p:txBody>
      </p:sp>
      <p:sp>
        <p:nvSpPr>
          <p:cNvPr id="2629" name="Google Shape;2629;p94"/>
          <p:cNvSpPr/>
          <p:nvPr/>
        </p:nvSpPr>
        <p:spPr>
          <a:xfrm>
            <a:off x="11292840" y="6528816"/>
            <a:ext cx="411480" cy="219456"/>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8A96A6"/>
              </a:buClr>
              <a:buSzPts val="900"/>
              <a:buFont typeface="Calibri"/>
              <a:buNone/>
            </a:pPr>
            <a:r>
              <a:rPr b="0" i="0" lang="en-US" sz="900" u="none" cap="none" strike="noStrike">
                <a:solidFill>
                  <a:srgbClr val="8A96A6"/>
                </a:solidFill>
                <a:latin typeface="Calibri"/>
                <a:ea typeface="Calibri"/>
                <a:cs typeface="Calibri"/>
                <a:sym typeface="Calibri"/>
              </a:rPr>
              <a:t>94</a:t>
            </a:r>
            <a:endParaRPr b="0" i="0" sz="900" u="none" cap="none" strike="noStrike">
              <a:solidFill>
                <a:schemeClr val="dk1"/>
              </a:solidFill>
              <a:latin typeface="Calibri"/>
              <a:ea typeface="Calibri"/>
              <a:cs typeface="Calibri"/>
              <a:sym typeface="Calibri"/>
            </a:endParaRPr>
          </a:p>
        </p:txBody>
      </p:sp>
      <p:sp>
        <p:nvSpPr>
          <p:cNvPr id="2630" name="Google Shape;2630;p94"/>
          <p:cNvSpPr/>
          <p:nvPr/>
        </p:nvSpPr>
        <p:spPr>
          <a:xfrm>
            <a:off x="502920" y="1389888"/>
            <a:ext cx="11185855" cy="3657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5F6B7A"/>
              </a:buClr>
              <a:buSzPts val="1250"/>
              <a:buFont typeface="Calibri"/>
              <a:buNone/>
            </a:pPr>
            <a:r>
              <a:rPr b="0" i="1" lang="en-US" sz="1250" u="none" cap="none" strike="noStrike">
                <a:solidFill>
                  <a:srgbClr val="5F6B7A"/>
                </a:solidFill>
                <a:latin typeface="Calibri"/>
                <a:ea typeface="Calibri"/>
                <a:cs typeface="Calibri"/>
                <a:sym typeface="Calibri"/>
              </a:rPr>
              <a:t>Per-class-pair annotator confusion localises WHICH rule is ambiguous — v1's sugaring/skin_split cell was the tell.</a:t>
            </a:r>
            <a:endParaRPr b="0" i="0" sz="1250" u="none" cap="none" strike="noStrike">
              <a:solidFill>
                <a:schemeClr val="dk1"/>
              </a:solidFill>
              <a:latin typeface="Calibri"/>
              <a:ea typeface="Calibri"/>
              <a:cs typeface="Calibri"/>
              <a:sym typeface="Calibri"/>
            </a:endParaRPr>
          </a:p>
        </p:txBody>
      </p:sp>
      <p:graphicFrame>
        <p:nvGraphicFramePr>
          <p:cNvPr id="2631" name="Google Shape;2631;p94"/>
          <p:cNvGraphicFramePr/>
          <p:nvPr/>
        </p:nvGraphicFramePr>
        <p:xfrm>
          <a:off x="502920" y="1865376"/>
          <a:ext cx="3000000" cy="3000000"/>
        </p:xfrm>
        <a:graphic>
          <a:graphicData uri="http://schemas.openxmlformats.org/drawingml/2006/table">
            <a:tbl>
              <a:tblPr>
                <a:noFill/>
                <a:tableStyleId>{F80342BA-3033-44D6-9F91-622DC7A4C435}</a:tableStyleId>
              </a:tblPr>
              <a:tblGrid>
                <a:gridCol w="3456675"/>
                <a:gridCol w="3120250"/>
                <a:gridCol w="4608925"/>
              </a:tblGrid>
              <a:tr h="628325">
                <a:tc>
                  <a:txBody>
                    <a:bodyPr/>
                    <a:lstStyle/>
                    <a:p>
                      <a:pPr indent="0" lvl="0" marL="0" marR="0" rtl="0" algn="l">
                        <a:spcBef>
                          <a:spcPts val="0"/>
                        </a:spcBef>
                        <a:spcAft>
                          <a:spcPts val="0"/>
                        </a:spcAft>
                        <a:buClr>
                          <a:srgbClr val="FFFFFF"/>
                        </a:buClr>
                        <a:buSzPts val="1050"/>
                        <a:buFont typeface="Calibri"/>
                        <a:buNone/>
                      </a:pPr>
                      <a:r>
                        <a:rPr b="1" lang="en-US" sz="1050" u="none" cap="none" strike="noStrike">
                          <a:solidFill>
                            <a:srgbClr val="FFFFFF"/>
                          </a:solidFill>
                          <a:latin typeface="Calibri"/>
                          <a:ea typeface="Calibri"/>
                          <a:cs typeface="Calibri"/>
                          <a:sym typeface="Calibri"/>
                        </a:rPr>
                        <a:t>Measure</a:t>
                      </a:r>
                      <a:endParaRPr sz="1050" u="none" cap="none" strike="noStrike">
                        <a:latin typeface="Calibri"/>
                        <a:ea typeface="Calibri"/>
                        <a:cs typeface="Calibri"/>
                        <a:sym typeface="Calibri"/>
                      </a:endParaRPr>
                    </a:p>
                  </a:txBody>
                  <a:tcPr marT="64000" marB="64000" marR="64000" marL="64000" anchor="ctr">
                    <a:lnL cap="flat" cmpd="sng" w="9525">
                      <a:solidFill>
                        <a:srgbClr val="D9E2EA"/>
                      </a:solidFill>
                      <a:prstDash val="solid"/>
                      <a:round/>
                      <a:headEnd len="sm" w="sm" type="none"/>
                      <a:tailEnd len="sm" w="sm" type="none"/>
                    </a:lnL>
                    <a:lnR cap="flat" cmpd="sng" w="9525">
                      <a:solidFill>
                        <a:srgbClr val="D9E2EA"/>
                      </a:solidFill>
                      <a:prstDash val="solid"/>
                      <a:round/>
                      <a:headEnd len="sm" w="sm" type="none"/>
                      <a:tailEnd len="sm" w="sm" type="none"/>
                    </a:lnR>
                    <a:lnT cap="flat" cmpd="sng" w="9525">
                      <a:solidFill>
                        <a:srgbClr val="D9E2EA"/>
                      </a:solidFill>
                      <a:prstDash val="solid"/>
                      <a:round/>
                      <a:headEnd len="sm" w="sm" type="none"/>
                      <a:tailEnd len="sm" w="sm" type="none"/>
                    </a:lnT>
                    <a:lnB cap="flat" cmpd="sng" w="9525">
                      <a:solidFill>
                        <a:srgbClr val="D9E2EA"/>
                      </a:solidFill>
                      <a:prstDash val="solid"/>
                      <a:round/>
                      <a:headEnd len="sm" w="sm" type="none"/>
                      <a:tailEnd len="sm" w="sm" type="none"/>
                    </a:lnB>
                    <a:solidFill>
                      <a:srgbClr val="1D2A5C"/>
                    </a:solidFill>
                  </a:tcPr>
                </a:tc>
                <a:tc>
                  <a:txBody>
                    <a:bodyPr/>
                    <a:lstStyle/>
                    <a:p>
                      <a:pPr indent="0" lvl="0" marL="0" marR="0" rtl="0" algn="l">
                        <a:spcBef>
                          <a:spcPts val="0"/>
                        </a:spcBef>
                        <a:spcAft>
                          <a:spcPts val="0"/>
                        </a:spcAft>
                        <a:buClr>
                          <a:srgbClr val="FFFFFF"/>
                        </a:buClr>
                        <a:buSzPts val="1050"/>
                        <a:buFont typeface="Calibri"/>
                        <a:buNone/>
                      </a:pPr>
                      <a:r>
                        <a:rPr b="1" lang="en-US" sz="1050" u="none" cap="none" strike="noStrike">
                          <a:solidFill>
                            <a:srgbClr val="FFFFFF"/>
                          </a:solidFill>
                          <a:latin typeface="Calibri"/>
                          <a:ea typeface="Calibri"/>
                          <a:cs typeface="Calibri"/>
                          <a:sym typeface="Calibri"/>
                        </a:rPr>
                        <a:t>Course bar</a:t>
                      </a:r>
                      <a:endParaRPr sz="1050" u="none" cap="none" strike="noStrike">
                        <a:latin typeface="Calibri"/>
                        <a:ea typeface="Calibri"/>
                        <a:cs typeface="Calibri"/>
                        <a:sym typeface="Calibri"/>
                      </a:endParaRPr>
                    </a:p>
                  </a:txBody>
                  <a:tcPr marT="64000" marB="64000" marR="64000" marL="64000" anchor="ctr">
                    <a:lnL cap="flat" cmpd="sng" w="9525">
                      <a:solidFill>
                        <a:srgbClr val="D9E2EA"/>
                      </a:solidFill>
                      <a:prstDash val="solid"/>
                      <a:round/>
                      <a:headEnd len="sm" w="sm" type="none"/>
                      <a:tailEnd len="sm" w="sm" type="none"/>
                    </a:lnL>
                    <a:lnR cap="flat" cmpd="sng" w="9525">
                      <a:solidFill>
                        <a:srgbClr val="D9E2EA"/>
                      </a:solidFill>
                      <a:prstDash val="solid"/>
                      <a:round/>
                      <a:headEnd len="sm" w="sm" type="none"/>
                      <a:tailEnd len="sm" w="sm" type="none"/>
                    </a:lnR>
                    <a:lnT cap="flat" cmpd="sng" w="9525">
                      <a:solidFill>
                        <a:srgbClr val="D9E2EA"/>
                      </a:solidFill>
                      <a:prstDash val="solid"/>
                      <a:round/>
                      <a:headEnd len="sm" w="sm" type="none"/>
                      <a:tailEnd len="sm" w="sm" type="none"/>
                    </a:lnT>
                    <a:lnB cap="flat" cmpd="sng" w="9525">
                      <a:solidFill>
                        <a:srgbClr val="D9E2EA"/>
                      </a:solidFill>
                      <a:prstDash val="solid"/>
                      <a:round/>
                      <a:headEnd len="sm" w="sm" type="none"/>
                      <a:tailEnd len="sm" w="sm" type="none"/>
                    </a:lnB>
                    <a:solidFill>
                      <a:srgbClr val="1D2A5C"/>
                    </a:solidFill>
                  </a:tcPr>
                </a:tc>
                <a:tc>
                  <a:txBody>
                    <a:bodyPr/>
                    <a:lstStyle/>
                    <a:p>
                      <a:pPr indent="0" lvl="0" marL="0" marR="0" rtl="0" algn="l">
                        <a:spcBef>
                          <a:spcPts val="0"/>
                        </a:spcBef>
                        <a:spcAft>
                          <a:spcPts val="0"/>
                        </a:spcAft>
                        <a:buClr>
                          <a:srgbClr val="FFFFFF"/>
                        </a:buClr>
                        <a:buSzPts val="1050"/>
                        <a:buFont typeface="Calibri"/>
                        <a:buNone/>
                      </a:pPr>
                      <a:r>
                        <a:rPr b="1" lang="en-US" sz="1050" u="none" cap="none" strike="noStrike">
                          <a:solidFill>
                            <a:srgbClr val="FFFFFF"/>
                          </a:solidFill>
                          <a:latin typeface="Calibri"/>
                          <a:ea typeface="Calibri"/>
                          <a:cs typeface="Calibri"/>
                          <a:sym typeface="Calibri"/>
                        </a:rPr>
                        <a:t>Low value means</a:t>
                      </a:r>
                      <a:endParaRPr sz="1050" u="none" cap="none" strike="noStrike">
                        <a:latin typeface="Calibri"/>
                        <a:ea typeface="Calibri"/>
                        <a:cs typeface="Calibri"/>
                        <a:sym typeface="Calibri"/>
                      </a:endParaRPr>
                    </a:p>
                  </a:txBody>
                  <a:tcPr marT="64000" marB="64000" marR="64000" marL="64000" anchor="ctr">
                    <a:lnL cap="flat" cmpd="sng" w="9525">
                      <a:solidFill>
                        <a:srgbClr val="D9E2EA"/>
                      </a:solidFill>
                      <a:prstDash val="solid"/>
                      <a:round/>
                      <a:headEnd len="sm" w="sm" type="none"/>
                      <a:tailEnd len="sm" w="sm" type="none"/>
                    </a:lnL>
                    <a:lnR cap="flat" cmpd="sng" w="9525">
                      <a:solidFill>
                        <a:srgbClr val="D9E2EA"/>
                      </a:solidFill>
                      <a:prstDash val="solid"/>
                      <a:round/>
                      <a:headEnd len="sm" w="sm" type="none"/>
                      <a:tailEnd len="sm" w="sm" type="none"/>
                    </a:lnR>
                    <a:lnT cap="flat" cmpd="sng" w="9525">
                      <a:solidFill>
                        <a:srgbClr val="D9E2EA"/>
                      </a:solidFill>
                      <a:prstDash val="solid"/>
                      <a:round/>
                      <a:headEnd len="sm" w="sm" type="none"/>
                      <a:tailEnd len="sm" w="sm" type="none"/>
                    </a:lnT>
                    <a:lnB cap="flat" cmpd="sng" w="9525">
                      <a:solidFill>
                        <a:srgbClr val="D9E2EA"/>
                      </a:solidFill>
                      <a:prstDash val="solid"/>
                      <a:round/>
                      <a:headEnd len="sm" w="sm" type="none"/>
                      <a:tailEnd len="sm" w="sm" type="none"/>
                    </a:lnB>
                    <a:solidFill>
                      <a:srgbClr val="1D2A5C"/>
                    </a:solidFill>
                  </a:tcPr>
                </a:tc>
              </a:tr>
              <a:tr h="628325">
                <a:tc>
                  <a:txBody>
                    <a:bodyPr/>
                    <a:lstStyle/>
                    <a:p>
                      <a:pPr indent="0" lvl="0" marL="0" marR="0" rtl="0" algn="l">
                        <a:spcBef>
                          <a:spcPts val="0"/>
                        </a:spcBef>
                        <a:spcAft>
                          <a:spcPts val="0"/>
                        </a:spcAft>
                        <a:buClr>
                          <a:srgbClr val="1D2A5C"/>
                        </a:buClr>
                        <a:buSzPts val="1050"/>
                        <a:buFont typeface="Calibri"/>
                        <a:buNone/>
                      </a:pPr>
                      <a:r>
                        <a:rPr b="1" lang="en-US" sz="1050" u="none" cap="none" strike="noStrike">
                          <a:solidFill>
                            <a:srgbClr val="1D2A5C"/>
                          </a:solidFill>
                          <a:latin typeface="Calibri"/>
                          <a:ea typeface="Calibri"/>
                          <a:cs typeface="Calibri"/>
                          <a:sym typeface="Calibri"/>
                        </a:rPr>
                        <a:t>Cohen's kappa (classes)</a:t>
                      </a:r>
                      <a:endParaRPr sz="1050" u="none" cap="none" strike="noStrike">
                        <a:latin typeface="Calibri"/>
                        <a:ea typeface="Calibri"/>
                        <a:cs typeface="Calibri"/>
                        <a:sym typeface="Calibri"/>
                      </a:endParaRPr>
                    </a:p>
                  </a:txBody>
                  <a:tcPr marT="64000" marB="64000" marR="64000" marL="64000" anchor="ctr">
                    <a:lnL cap="flat" cmpd="sng" w="9525">
                      <a:solidFill>
                        <a:srgbClr val="D9E2EA"/>
                      </a:solidFill>
                      <a:prstDash val="solid"/>
                      <a:round/>
                      <a:headEnd len="sm" w="sm" type="none"/>
                      <a:tailEnd len="sm" w="sm" type="none"/>
                    </a:lnL>
                    <a:lnR cap="flat" cmpd="sng" w="9525">
                      <a:solidFill>
                        <a:srgbClr val="D9E2EA"/>
                      </a:solidFill>
                      <a:prstDash val="solid"/>
                      <a:round/>
                      <a:headEnd len="sm" w="sm" type="none"/>
                      <a:tailEnd len="sm" w="sm" type="none"/>
                    </a:lnR>
                    <a:lnT cap="flat" cmpd="sng" w="9525">
                      <a:solidFill>
                        <a:srgbClr val="D9E2EA"/>
                      </a:solidFill>
                      <a:prstDash val="solid"/>
                      <a:round/>
                      <a:headEnd len="sm" w="sm" type="none"/>
                      <a:tailEnd len="sm" w="sm" type="none"/>
                    </a:lnT>
                    <a:lnB cap="flat" cmpd="sng" w="9525">
                      <a:solidFill>
                        <a:srgbClr val="D9E2EA"/>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23293B"/>
                        </a:buClr>
                        <a:buSzPts val="1050"/>
                        <a:buFont typeface="Calibri"/>
                        <a:buNone/>
                      </a:pPr>
                      <a:r>
                        <a:rPr lang="en-US" sz="1050" u="none" cap="none" strike="noStrike">
                          <a:solidFill>
                            <a:srgbClr val="23293B"/>
                          </a:solidFill>
                          <a:latin typeface="Calibri"/>
                          <a:ea typeface="Calibri"/>
                          <a:cs typeface="Calibri"/>
                          <a:sym typeface="Calibri"/>
                        </a:rPr>
                        <a:t>&gt;= 0.85; &lt; 0.75 = stop</a:t>
                      </a:r>
                      <a:endParaRPr sz="1050" u="none" cap="none" strike="noStrike">
                        <a:latin typeface="Calibri"/>
                        <a:ea typeface="Calibri"/>
                        <a:cs typeface="Calibri"/>
                        <a:sym typeface="Calibri"/>
                      </a:endParaRPr>
                    </a:p>
                  </a:txBody>
                  <a:tcPr marT="64000" marB="64000" marR="64000" marL="64000" anchor="ctr">
                    <a:lnL cap="flat" cmpd="sng" w="9525">
                      <a:solidFill>
                        <a:srgbClr val="D9E2EA"/>
                      </a:solidFill>
                      <a:prstDash val="solid"/>
                      <a:round/>
                      <a:headEnd len="sm" w="sm" type="none"/>
                      <a:tailEnd len="sm" w="sm" type="none"/>
                    </a:lnL>
                    <a:lnR cap="flat" cmpd="sng" w="9525">
                      <a:solidFill>
                        <a:srgbClr val="D9E2EA"/>
                      </a:solidFill>
                      <a:prstDash val="solid"/>
                      <a:round/>
                      <a:headEnd len="sm" w="sm" type="none"/>
                      <a:tailEnd len="sm" w="sm" type="none"/>
                    </a:lnR>
                    <a:lnT cap="flat" cmpd="sng" w="9525">
                      <a:solidFill>
                        <a:srgbClr val="D9E2EA"/>
                      </a:solidFill>
                      <a:prstDash val="solid"/>
                      <a:round/>
                      <a:headEnd len="sm" w="sm" type="none"/>
                      <a:tailEnd len="sm" w="sm" type="none"/>
                    </a:lnT>
                    <a:lnB cap="flat" cmpd="sng" w="9525">
                      <a:solidFill>
                        <a:srgbClr val="D9E2EA"/>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23293B"/>
                        </a:buClr>
                        <a:buSzPts val="1050"/>
                        <a:buFont typeface="Calibri"/>
                        <a:buNone/>
                      </a:pPr>
                      <a:r>
                        <a:rPr lang="en-US" sz="1050" u="none" cap="none" strike="noStrike">
                          <a:solidFill>
                            <a:srgbClr val="23293B"/>
                          </a:solidFill>
                          <a:latin typeface="Calibri"/>
                          <a:ea typeface="Calibri"/>
                          <a:cs typeface="Calibri"/>
                          <a:sym typeface="Calibri"/>
                        </a:rPr>
                        <a:t>taxonomy rules ambiguous — fix the spec first</a:t>
                      </a:r>
                      <a:endParaRPr sz="1050" u="none" cap="none" strike="noStrike">
                        <a:latin typeface="Calibri"/>
                        <a:ea typeface="Calibri"/>
                        <a:cs typeface="Calibri"/>
                        <a:sym typeface="Calibri"/>
                      </a:endParaRPr>
                    </a:p>
                  </a:txBody>
                  <a:tcPr marT="64000" marB="64000" marR="64000" marL="64000" anchor="ctr">
                    <a:lnL cap="flat" cmpd="sng" w="9525">
                      <a:solidFill>
                        <a:srgbClr val="D9E2EA"/>
                      </a:solidFill>
                      <a:prstDash val="solid"/>
                      <a:round/>
                      <a:headEnd len="sm" w="sm" type="none"/>
                      <a:tailEnd len="sm" w="sm" type="none"/>
                    </a:lnL>
                    <a:lnR cap="flat" cmpd="sng" w="9525">
                      <a:solidFill>
                        <a:srgbClr val="D9E2EA"/>
                      </a:solidFill>
                      <a:prstDash val="solid"/>
                      <a:round/>
                      <a:headEnd len="sm" w="sm" type="none"/>
                      <a:tailEnd len="sm" w="sm" type="none"/>
                    </a:lnR>
                    <a:lnT cap="flat" cmpd="sng" w="9525">
                      <a:solidFill>
                        <a:srgbClr val="D9E2EA"/>
                      </a:solidFill>
                      <a:prstDash val="solid"/>
                      <a:round/>
                      <a:headEnd len="sm" w="sm" type="none"/>
                      <a:tailEnd len="sm" w="sm" type="none"/>
                    </a:lnT>
                    <a:lnB cap="flat" cmpd="sng" w="9525">
                      <a:solidFill>
                        <a:srgbClr val="D9E2EA"/>
                      </a:solidFill>
                      <a:prstDash val="solid"/>
                      <a:round/>
                      <a:headEnd len="sm" w="sm" type="none"/>
                      <a:tailEnd len="sm" w="sm" type="none"/>
                    </a:lnB>
                    <a:solidFill>
                      <a:srgbClr val="FFFFFF"/>
                    </a:solidFill>
                  </a:tcPr>
                </a:tc>
              </a:tr>
              <a:tr h="628325">
                <a:tc>
                  <a:txBody>
                    <a:bodyPr/>
                    <a:lstStyle/>
                    <a:p>
                      <a:pPr indent="0" lvl="0" marL="0" marR="0" rtl="0" algn="l">
                        <a:spcBef>
                          <a:spcPts val="0"/>
                        </a:spcBef>
                        <a:spcAft>
                          <a:spcPts val="0"/>
                        </a:spcAft>
                        <a:buClr>
                          <a:srgbClr val="1D2A5C"/>
                        </a:buClr>
                        <a:buSzPts val="1050"/>
                        <a:buFont typeface="Calibri"/>
                        <a:buNone/>
                      </a:pPr>
                      <a:r>
                        <a:rPr b="1" lang="en-US" sz="1050" u="none" cap="none" strike="noStrike">
                          <a:solidFill>
                            <a:srgbClr val="1D2A5C"/>
                          </a:solidFill>
                          <a:latin typeface="Calibri"/>
                          <a:ea typeface="Calibri"/>
                          <a:cs typeface="Calibri"/>
                          <a:sym typeface="Calibri"/>
                        </a:rPr>
                        <a:t>Kappa 0.75-0.85</a:t>
                      </a:r>
                      <a:endParaRPr sz="1050" u="none" cap="none" strike="noStrike">
                        <a:latin typeface="Calibri"/>
                        <a:ea typeface="Calibri"/>
                        <a:cs typeface="Calibri"/>
                        <a:sym typeface="Calibri"/>
                      </a:endParaRPr>
                    </a:p>
                  </a:txBody>
                  <a:tcPr marT="64000" marB="64000" marR="64000" marL="64000" anchor="ctr">
                    <a:lnL cap="flat" cmpd="sng" w="9525">
                      <a:solidFill>
                        <a:srgbClr val="D9E2EA"/>
                      </a:solidFill>
                      <a:prstDash val="solid"/>
                      <a:round/>
                      <a:headEnd len="sm" w="sm" type="none"/>
                      <a:tailEnd len="sm" w="sm" type="none"/>
                    </a:lnL>
                    <a:lnR cap="flat" cmpd="sng" w="9525">
                      <a:solidFill>
                        <a:srgbClr val="D9E2EA"/>
                      </a:solidFill>
                      <a:prstDash val="solid"/>
                      <a:round/>
                      <a:headEnd len="sm" w="sm" type="none"/>
                      <a:tailEnd len="sm" w="sm" type="none"/>
                    </a:lnR>
                    <a:lnT cap="flat" cmpd="sng" w="9525">
                      <a:solidFill>
                        <a:srgbClr val="D9E2EA"/>
                      </a:solidFill>
                      <a:prstDash val="solid"/>
                      <a:round/>
                      <a:headEnd len="sm" w="sm" type="none"/>
                      <a:tailEnd len="sm" w="sm" type="none"/>
                    </a:lnT>
                    <a:lnB cap="flat" cmpd="sng" w="9525">
                      <a:solidFill>
                        <a:srgbClr val="D9E2EA"/>
                      </a:solidFill>
                      <a:prstDash val="solid"/>
                      <a:round/>
                      <a:headEnd len="sm" w="sm" type="none"/>
                      <a:tailEnd len="sm" w="sm" type="none"/>
                    </a:lnB>
                    <a:solidFill>
                      <a:srgbClr val="F2F6F9"/>
                    </a:solidFill>
                  </a:tcPr>
                </a:tc>
                <a:tc>
                  <a:txBody>
                    <a:bodyPr/>
                    <a:lstStyle/>
                    <a:p>
                      <a:pPr indent="0" lvl="0" marL="0" marR="0" rtl="0" algn="l">
                        <a:spcBef>
                          <a:spcPts val="0"/>
                        </a:spcBef>
                        <a:spcAft>
                          <a:spcPts val="0"/>
                        </a:spcAft>
                        <a:buClr>
                          <a:srgbClr val="23293B"/>
                        </a:buClr>
                        <a:buSzPts val="1050"/>
                        <a:buFont typeface="Calibri"/>
                        <a:buNone/>
                      </a:pPr>
                      <a:r>
                        <a:rPr lang="en-US" sz="1050" u="none" cap="none" strike="noStrike">
                          <a:solidFill>
                            <a:srgbClr val="23293B"/>
                          </a:solidFill>
                          <a:latin typeface="Calibri"/>
                          <a:ea typeface="Calibri"/>
                          <a:cs typeface="Calibri"/>
                          <a:sym typeface="Calibri"/>
                        </a:rPr>
                        <a:t>clarify the spec</a:t>
                      </a:r>
                      <a:endParaRPr sz="1050" u="none" cap="none" strike="noStrike">
                        <a:latin typeface="Calibri"/>
                        <a:ea typeface="Calibri"/>
                        <a:cs typeface="Calibri"/>
                        <a:sym typeface="Calibri"/>
                      </a:endParaRPr>
                    </a:p>
                  </a:txBody>
                  <a:tcPr marT="64000" marB="64000" marR="64000" marL="64000" anchor="ctr">
                    <a:lnL cap="flat" cmpd="sng" w="9525">
                      <a:solidFill>
                        <a:srgbClr val="D9E2EA"/>
                      </a:solidFill>
                      <a:prstDash val="solid"/>
                      <a:round/>
                      <a:headEnd len="sm" w="sm" type="none"/>
                      <a:tailEnd len="sm" w="sm" type="none"/>
                    </a:lnL>
                    <a:lnR cap="flat" cmpd="sng" w="9525">
                      <a:solidFill>
                        <a:srgbClr val="D9E2EA"/>
                      </a:solidFill>
                      <a:prstDash val="solid"/>
                      <a:round/>
                      <a:headEnd len="sm" w="sm" type="none"/>
                      <a:tailEnd len="sm" w="sm" type="none"/>
                    </a:lnR>
                    <a:lnT cap="flat" cmpd="sng" w="9525">
                      <a:solidFill>
                        <a:srgbClr val="D9E2EA"/>
                      </a:solidFill>
                      <a:prstDash val="solid"/>
                      <a:round/>
                      <a:headEnd len="sm" w="sm" type="none"/>
                      <a:tailEnd len="sm" w="sm" type="none"/>
                    </a:lnT>
                    <a:lnB cap="flat" cmpd="sng" w="9525">
                      <a:solidFill>
                        <a:srgbClr val="D9E2EA"/>
                      </a:solidFill>
                      <a:prstDash val="solid"/>
                      <a:round/>
                      <a:headEnd len="sm" w="sm" type="none"/>
                      <a:tailEnd len="sm" w="sm" type="none"/>
                    </a:lnB>
                    <a:solidFill>
                      <a:srgbClr val="F2F6F9"/>
                    </a:solidFill>
                  </a:tcPr>
                </a:tc>
                <a:tc>
                  <a:txBody>
                    <a:bodyPr/>
                    <a:lstStyle/>
                    <a:p>
                      <a:pPr indent="0" lvl="0" marL="0" marR="0" rtl="0" algn="l">
                        <a:spcBef>
                          <a:spcPts val="0"/>
                        </a:spcBef>
                        <a:spcAft>
                          <a:spcPts val="0"/>
                        </a:spcAft>
                        <a:buClr>
                          <a:srgbClr val="23293B"/>
                        </a:buClr>
                        <a:buSzPts val="1050"/>
                        <a:buFont typeface="Calibri"/>
                        <a:buNone/>
                      </a:pPr>
                      <a:r>
                        <a:rPr lang="en-US" sz="1050" u="none" cap="none" strike="noStrike">
                          <a:solidFill>
                            <a:srgbClr val="23293B"/>
                          </a:solidFill>
                          <a:latin typeface="Calibri"/>
                          <a:ea typeface="Calibri"/>
                          <a:cs typeface="Calibri"/>
                          <a:sym typeface="Calibri"/>
                        </a:rPr>
                        <a:t>specific rules need work, not the whole taxonomy</a:t>
                      </a:r>
                      <a:endParaRPr sz="1050" u="none" cap="none" strike="noStrike">
                        <a:latin typeface="Calibri"/>
                        <a:ea typeface="Calibri"/>
                        <a:cs typeface="Calibri"/>
                        <a:sym typeface="Calibri"/>
                      </a:endParaRPr>
                    </a:p>
                  </a:txBody>
                  <a:tcPr marT="64000" marB="64000" marR="64000" marL="64000" anchor="ctr">
                    <a:lnL cap="flat" cmpd="sng" w="9525">
                      <a:solidFill>
                        <a:srgbClr val="D9E2EA"/>
                      </a:solidFill>
                      <a:prstDash val="solid"/>
                      <a:round/>
                      <a:headEnd len="sm" w="sm" type="none"/>
                      <a:tailEnd len="sm" w="sm" type="none"/>
                    </a:lnL>
                    <a:lnR cap="flat" cmpd="sng" w="9525">
                      <a:solidFill>
                        <a:srgbClr val="D9E2EA"/>
                      </a:solidFill>
                      <a:prstDash val="solid"/>
                      <a:round/>
                      <a:headEnd len="sm" w="sm" type="none"/>
                      <a:tailEnd len="sm" w="sm" type="none"/>
                    </a:lnR>
                    <a:lnT cap="flat" cmpd="sng" w="9525">
                      <a:solidFill>
                        <a:srgbClr val="D9E2EA"/>
                      </a:solidFill>
                      <a:prstDash val="solid"/>
                      <a:round/>
                      <a:headEnd len="sm" w="sm" type="none"/>
                      <a:tailEnd len="sm" w="sm" type="none"/>
                    </a:lnT>
                    <a:lnB cap="flat" cmpd="sng" w="9525">
                      <a:solidFill>
                        <a:srgbClr val="D9E2EA"/>
                      </a:solidFill>
                      <a:prstDash val="solid"/>
                      <a:round/>
                      <a:headEnd len="sm" w="sm" type="none"/>
                      <a:tailEnd len="sm" w="sm" type="none"/>
                    </a:lnB>
                    <a:solidFill>
                      <a:srgbClr val="F2F6F9"/>
                    </a:solidFill>
                  </a:tcPr>
                </a:tc>
              </a:tr>
              <a:tr h="628325">
                <a:tc>
                  <a:txBody>
                    <a:bodyPr/>
                    <a:lstStyle/>
                    <a:p>
                      <a:pPr indent="0" lvl="0" marL="0" marR="0" rtl="0" algn="l">
                        <a:spcBef>
                          <a:spcPts val="0"/>
                        </a:spcBef>
                        <a:spcAft>
                          <a:spcPts val="0"/>
                        </a:spcAft>
                        <a:buClr>
                          <a:srgbClr val="1D2A5C"/>
                        </a:buClr>
                        <a:buSzPts val="1050"/>
                        <a:buFont typeface="Calibri"/>
                        <a:buNone/>
                      </a:pPr>
                      <a:r>
                        <a:rPr b="1" lang="en-US" sz="1050" u="none" cap="none" strike="noStrike">
                          <a:solidFill>
                            <a:srgbClr val="1D2A5C"/>
                          </a:solidFill>
                          <a:latin typeface="Calibri"/>
                          <a:ea typeface="Calibri"/>
                          <a:cs typeface="Calibri"/>
                          <a:sym typeface="Calibri"/>
                        </a:rPr>
                        <a:t>Median box IoU (annotators)</a:t>
                      </a:r>
                      <a:endParaRPr sz="1050" u="none" cap="none" strike="noStrike">
                        <a:latin typeface="Calibri"/>
                        <a:ea typeface="Calibri"/>
                        <a:cs typeface="Calibri"/>
                        <a:sym typeface="Calibri"/>
                      </a:endParaRPr>
                    </a:p>
                  </a:txBody>
                  <a:tcPr marT="64000" marB="64000" marR="64000" marL="64000" anchor="ctr">
                    <a:lnL cap="flat" cmpd="sng" w="9525">
                      <a:solidFill>
                        <a:srgbClr val="D9E2EA"/>
                      </a:solidFill>
                      <a:prstDash val="solid"/>
                      <a:round/>
                      <a:headEnd len="sm" w="sm" type="none"/>
                      <a:tailEnd len="sm" w="sm" type="none"/>
                    </a:lnL>
                    <a:lnR cap="flat" cmpd="sng" w="9525">
                      <a:solidFill>
                        <a:srgbClr val="D9E2EA"/>
                      </a:solidFill>
                      <a:prstDash val="solid"/>
                      <a:round/>
                      <a:headEnd len="sm" w="sm" type="none"/>
                      <a:tailEnd len="sm" w="sm" type="none"/>
                    </a:lnR>
                    <a:lnT cap="flat" cmpd="sng" w="9525">
                      <a:solidFill>
                        <a:srgbClr val="D9E2EA"/>
                      </a:solidFill>
                      <a:prstDash val="solid"/>
                      <a:round/>
                      <a:headEnd len="sm" w="sm" type="none"/>
                      <a:tailEnd len="sm" w="sm" type="none"/>
                    </a:lnT>
                    <a:lnB cap="flat" cmpd="sng" w="9525">
                      <a:solidFill>
                        <a:srgbClr val="D9E2EA"/>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23293B"/>
                        </a:buClr>
                        <a:buSzPts val="1050"/>
                        <a:buFont typeface="Calibri"/>
                        <a:buNone/>
                      </a:pPr>
                      <a:r>
                        <a:rPr lang="en-US" sz="1050" u="none" cap="none" strike="noStrike">
                          <a:solidFill>
                            <a:srgbClr val="23293B"/>
                          </a:solidFill>
                          <a:latin typeface="Calibri"/>
                          <a:ea typeface="Calibri"/>
                          <a:cs typeface="Calibri"/>
                          <a:sym typeface="Calibri"/>
                        </a:rPr>
                        <a:t>&gt;= 0.85</a:t>
                      </a:r>
                      <a:endParaRPr sz="1050" u="none" cap="none" strike="noStrike">
                        <a:latin typeface="Calibri"/>
                        <a:ea typeface="Calibri"/>
                        <a:cs typeface="Calibri"/>
                        <a:sym typeface="Calibri"/>
                      </a:endParaRPr>
                    </a:p>
                  </a:txBody>
                  <a:tcPr marT="64000" marB="64000" marR="64000" marL="64000" anchor="ctr">
                    <a:lnL cap="flat" cmpd="sng" w="9525">
                      <a:solidFill>
                        <a:srgbClr val="D9E2EA"/>
                      </a:solidFill>
                      <a:prstDash val="solid"/>
                      <a:round/>
                      <a:headEnd len="sm" w="sm" type="none"/>
                      <a:tailEnd len="sm" w="sm" type="none"/>
                    </a:lnL>
                    <a:lnR cap="flat" cmpd="sng" w="9525">
                      <a:solidFill>
                        <a:srgbClr val="D9E2EA"/>
                      </a:solidFill>
                      <a:prstDash val="solid"/>
                      <a:round/>
                      <a:headEnd len="sm" w="sm" type="none"/>
                      <a:tailEnd len="sm" w="sm" type="none"/>
                    </a:lnR>
                    <a:lnT cap="flat" cmpd="sng" w="9525">
                      <a:solidFill>
                        <a:srgbClr val="D9E2EA"/>
                      </a:solidFill>
                      <a:prstDash val="solid"/>
                      <a:round/>
                      <a:headEnd len="sm" w="sm" type="none"/>
                      <a:tailEnd len="sm" w="sm" type="none"/>
                    </a:lnT>
                    <a:lnB cap="flat" cmpd="sng" w="9525">
                      <a:solidFill>
                        <a:srgbClr val="D9E2EA"/>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23293B"/>
                        </a:buClr>
                        <a:buSzPts val="1050"/>
                        <a:buFont typeface="Calibri"/>
                        <a:buNone/>
                      </a:pPr>
                      <a:r>
                        <a:rPr lang="en-US" sz="1050" u="none" cap="none" strike="noStrike">
                          <a:solidFill>
                            <a:srgbClr val="23293B"/>
                          </a:solidFill>
                          <a:latin typeface="Calibri"/>
                          <a:ea typeface="Calibri"/>
                          <a:cs typeface="Calibri"/>
                          <a:sym typeface="Calibri"/>
                        </a:rPr>
                        <a:t>boundary rules need work, not taxonomy</a:t>
                      </a:r>
                      <a:endParaRPr sz="1050" u="none" cap="none" strike="noStrike">
                        <a:latin typeface="Calibri"/>
                        <a:ea typeface="Calibri"/>
                        <a:cs typeface="Calibri"/>
                        <a:sym typeface="Calibri"/>
                      </a:endParaRPr>
                    </a:p>
                  </a:txBody>
                  <a:tcPr marT="64000" marB="64000" marR="64000" marL="64000" anchor="ctr">
                    <a:lnL cap="flat" cmpd="sng" w="9525">
                      <a:solidFill>
                        <a:srgbClr val="D9E2EA"/>
                      </a:solidFill>
                      <a:prstDash val="solid"/>
                      <a:round/>
                      <a:headEnd len="sm" w="sm" type="none"/>
                      <a:tailEnd len="sm" w="sm" type="none"/>
                    </a:lnL>
                    <a:lnR cap="flat" cmpd="sng" w="9525">
                      <a:solidFill>
                        <a:srgbClr val="D9E2EA"/>
                      </a:solidFill>
                      <a:prstDash val="solid"/>
                      <a:round/>
                      <a:headEnd len="sm" w="sm" type="none"/>
                      <a:tailEnd len="sm" w="sm" type="none"/>
                    </a:lnR>
                    <a:lnT cap="flat" cmpd="sng" w="9525">
                      <a:solidFill>
                        <a:srgbClr val="D9E2EA"/>
                      </a:solidFill>
                      <a:prstDash val="solid"/>
                      <a:round/>
                      <a:headEnd len="sm" w="sm" type="none"/>
                      <a:tailEnd len="sm" w="sm" type="none"/>
                    </a:lnT>
                    <a:lnB cap="flat" cmpd="sng" w="9525">
                      <a:solidFill>
                        <a:srgbClr val="D9E2EA"/>
                      </a:solidFill>
                      <a:prstDash val="solid"/>
                      <a:round/>
                      <a:headEnd len="sm" w="sm" type="none"/>
                      <a:tailEnd len="sm" w="sm" type="none"/>
                    </a:lnB>
                    <a:solidFill>
                      <a:srgbClr val="FFFFFF"/>
                    </a:solidFill>
                  </a:tcPr>
                </a:tc>
              </a:tr>
              <a:tr h="628325">
                <a:tc>
                  <a:txBody>
                    <a:bodyPr/>
                    <a:lstStyle/>
                    <a:p>
                      <a:pPr indent="0" lvl="0" marL="0" marR="0" rtl="0" algn="l">
                        <a:spcBef>
                          <a:spcPts val="0"/>
                        </a:spcBef>
                        <a:spcAft>
                          <a:spcPts val="0"/>
                        </a:spcAft>
                        <a:buClr>
                          <a:srgbClr val="1D2A5C"/>
                        </a:buClr>
                        <a:buSzPts val="1050"/>
                        <a:buFont typeface="Calibri"/>
                        <a:buNone/>
                      </a:pPr>
                      <a:r>
                        <a:rPr b="1" lang="en-US" sz="1050" u="none" cap="none" strike="noStrike">
                          <a:solidFill>
                            <a:srgbClr val="1D2A5C"/>
                          </a:solidFill>
                          <a:latin typeface="Calibri"/>
                          <a:ea typeface="Calibri"/>
                          <a:cs typeface="Calibri"/>
                          <a:sym typeface="Calibri"/>
                        </a:rPr>
                        <a:t>Median polygon IoU</a:t>
                      </a:r>
                      <a:endParaRPr sz="1050" u="none" cap="none" strike="noStrike">
                        <a:latin typeface="Calibri"/>
                        <a:ea typeface="Calibri"/>
                        <a:cs typeface="Calibri"/>
                        <a:sym typeface="Calibri"/>
                      </a:endParaRPr>
                    </a:p>
                  </a:txBody>
                  <a:tcPr marT="64000" marB="64000" marR="64000" marL="64000" anchor="ctr">
                    <a:lnL cap="flat" cmpd="sng" w="9525">
                      <a:solidFill>
                        <a:srgbClr val="D9E2EA"/>
                      </a:solidFill>
                      <a:prstDash val="solid"/>
                      <a:round/>
                      <a:headEnd len="sm" w="sm" type="none"/>
                      <a:tailEnd len="sm" w="sm" type="none"/>
                    </a:lnL>
                    <a:lnR cap="flat" cmpd="sng" w="9525">
                      <a:solidFill>
                        <a:srgbClr val="D9E2EA"/>
                      </a:solidFill>
                      <a:prstDash val="solid"/>
                      <a:round/>
                      <a:headEnd len="sm" w="sm" type="none"/>
                      <a:tailEnd len="sm" w="sm" type="none"/>
                    </a:lnR>
                    <a:lnT cap="flat" cmpd="sng" w="9525">
                      <a:solidFill>
                        <a:srgbClr val="D9E2EA"/>
                      </a:solidFill>
                      <a:prstDash val="solid"/>
                      <a:round/>
                      <a:headEnd len="sm" w="sm" type="none"/>
                      <a:tailEnd len="sm" w="sm" type="none"/>
                    </a:lnT>
                    <a:lnB cap="flat" cmpd="sng" w="9525">
                      <a:solidFill>
                        <a:srgbClr val="D9E2EA"/>
                      </a:solidFill>
                      <a:prstDash val="solid"/>
                      <a:round/>
                      <a:headEnd len="sm" w="sm" type="none"/>
                      <a:tailEnd len="sm" w="sm" type="none"/>
                    </a:lnB>
                    <a:solidFill>
                      <a:srgbClr val="F2F6F9"/>
                    </a:solidFill>
                  </a:tcPr>
                </a:tc>
                <a:tc>
                  <a:txBody>
                    <a:bodyPr/>
                    <a:lstStyle/>
                    <a:p>
                      <a:pPr indent="0" lvl="0" marL="0" marR="0" rtl="0" algn="l">
                        <a:spcBef>
                          <a:spcPts val="0"/>
                        </a:spcBef>
                        <a:spcAft>
                          <a:spcPts val="0"/>
                        </a:spcAft>
                        <a:buClr>
                          <a:srgbClr val="23293B"/>
                        </a:buClr>
                        <a:buSzPts val="1050"/>
                        <a:buFont typeface="Calibri"/>
                        <a:buNone/>
                      </a:pPr>
                      <a:r>
                        <a:rPr lang="en-US" sz="1050" u="none" cap="none" strike="noStrike">
                          <a:solidFill>
                            <a:srgbClr val="23293B"/>
                          </a:solidFill>
                          <a:latin typeface="Calibri"/>
                          <a:ea typeface="Calibri"/>
                          <a:cs typeface="Calibri"/>
                          <a:sym typeface="Calibri"/>
                        </a:rPr>
                        <a:t>&gt;= 0.75</a:t>
                      </a:r>
                      <a:endParaRPr sz="1050" u="none" cap="none" strike="noStrike">
                        <a:latin typeface="Calibri"/>
                        <a:ea typeface="Calibri"/>
                        <a:cs typeface="Calibri"/>
                        <a:sym typeface="Calibri"/>
                      </a:endParaRPr>
                    </a:p>
                  </a:txBody>
                  <a:tcPr marT="64000" marB="64000" marR="64000" marL="64000" anchor="ctr">
                    <a:lnL cap="flat" cmpd="sng" w="9525">
                      <a:solidFill>
                        <a:srgbClr val="D9E2EA"/>
                      </a:solidFill>
                      <a:prstDash val="solid"/>
                      <a:round/>
                      <a:headEnd len="sm" w="sm" type="none"/>
                      <a:tailEnd len="sm" w="sm" type="none"/>
                    </a:lnL>
                    <a:lnR cap="flat" cmpd="sng" w="9525">
                      <a:solidFill>
                        <a:srgbClr val="D9E2EA"/>
                      </a:solidFill>
                      <a:prstDash val="solid"/>
                      <a:round/>
                      <a:headEnd len="sm" w="sm" type="none"/>
                      <a:tailEnd len="sm" w="sm" type="none"/>
                    </a:lnR>
                    <a:lnT cap="flat" cmpd="sng" w="9525">
                      <a:solidFill>
                        <a:srgbClr val="D9E2EA"/>
                      </a:solidFill>
                      <a:prstDash val="solid"/>
                      <a:round/>
                      <a:headEnd len="sm" w="sm" type="none"/>
                      <a:tailEnd len="sm" w="sm" type="none"/>
                    </a:lnT>
                    <a:lnB cap="flat" cmpd="sng" w="9525">
                      <a:solidFill>
                        <a:srgbClr val="D9E2EA"/>
                      </a:solidFill>
                      <a:prstDash val="solid"/>
                      <a:round/>
                      <a:headEnd len="sm" w="sm" type="none"/>
                      <a:tailEnd len="sm" w="sm" type="none"/>
                    </a:lnB>
                    <a:solidFill>
                      <a:srgbClr val="F2F6F9"/>
                    </a:solidFill>
                  </a:tcPr>
                </a:tc>
                <a:tc>
                  <a:txBody>
                    <a:bodyPr/>
                    <a:lstStyle/>
                    <a:p>
                      <a:pPr indent="0" lvl="0" marL="0" marR="0" rtl="0" algn="l">
                        <a:spcBef>
                          <a:spcPts val="0"/>
                        </a:spcBef>
                        <a:spcAft>
                          <a:spcPts val="0"/>
                        </a:spcAft>
                        <a:buClr>
                          <a:srgbClr val="23293B"/>
                        </a:buClr>
                        <a:buSzPts val="1050"/>
                        <a:buFont typeface="Calibri"/>
                        <a:buNone/>
                      </a:pPr>
                      <a:r>
                        <a:rPr lang="en-US" sz="1050" u="none" cap="none" strike="noStrike">
                          <a:solidFill>
                            <a:srgbClr val="23293B"/>
                          </a:solidFill>
                          <a:latin typeface="Calibri"/>
                          <a:ea typeface="Calibri"/>
                          <a:cs typeface="Calibri"/>
                          <a:sym typeface="Calibri"/>
                        </a:rPr>
                        <a:t>mask boundary definition unclear</a:t>
                      </a:r>
                      <a:endParaRPr sz="1050" u="none" cap="none" strike="noStrike">
                        <a:latin typeface="Calibri"/>
                        <a:ea typeface="Calibri"/>
                        <a:cs typeface="Calibri"/>
                        <a:sym typeface="Calibri"/>
                      </a:endParaRPr>
                    </a:p>
                  </a:txBody>
                  <a:tcPr marT="64000" marB="64000" marR="64000" marL="64000" anchor="ctr">
                    <a:lnL cap="flat" cmpd="sng" w="9525">
                      <a:solidFill>
                        <a:srgbClr val="D9E2EA"/>
                      </a:solidFill>
                      <a:prstDash val="solid"/>
                      <a:round/>
                      <a:headEnd len="sm" w="sm" type="none"/>
                      <a:tailEnd len="sm" w="sm" type="none"/>
                    </a:lnL>
                    <a:lnR cap="flat" cmpd="sng" w="9525">
                      <a:solidFill>
                        <a:srgbClr val="D9E2EA"/>
                      </a:solidFill>
                      <a:prstDash val="solid"/>
                      <a:round/>
                      <a:headEnd len="sm" w="sm" type="none"/>
                      <a:tailEnd len="sm" w="sm" type="none"/>
                    </a:lnR>
                    <a:lnT cap="flat" cmpd="sng" w="9525">
                      <a:solidFill>
                        <a:srgbClr val="D9E2EA"/>
                      </a:solidFill>
                      <a:prstDash val="solid"/>
                      <a:round/>
                      <a:headEnd len="sm" w="sm" type="none"/>
                      <a:tailEnd len="sm" w="sm" type="none"/>
                    </a:lnT>
                    <a:lnB cap="flat" cmpd="sng" w="9525">
                      <a:solidFill>
                        <a:srgbClr val="D9E2EA"/>
                      </a:solidFill>
                      <a:prstDash val="solid"/>
                      <a:round/>
                      <a:headEnd len="sm" w="sm" type="none"/>
                      <a:tailEnd len="sm" w="sm" type="none"/>
                    </a:lnB>
                    <a:solidFill>
                      <a:srgbClr val="F2F6F9"/>
                    </a:solidFill>
                  </a:tcPr>
                </a:tc>
              </a:tr>
              <a:tr h="628325">
                <a:tc>
                  <a:txBody>
                    <a:bodyPr/>
                    <a:lstStyle/>
                    <a:p>
                      <a:pPr indent="0" lvl="0" marL="0" marR="0" rtl="0" algn="l">
                        <a:spcBef>
                          <a:spcPts val="0"/>
                        </a:spcBef>
                        <a:spcAft>
                          <a:spcPts val="0"/>
                        </a:spcAft>
                        <a:buClr>
                          <a:srgbClr val="1D2A5C"/>
                        </a:buClr>
                        <a:buSzPts val="1050"/>
                        <a:buFont typeface="Calibri"/>
                        <a:buNone/>
                      </a:pPr>
                      <a:r>
                        <a:rPr b="1" lang="en-US" sz="1050" u="none" cap="none" strike="noStrike">
                          <a:solidFill>
                            <a:srgbClr val="1D2A5C"/>
                          </a:solidFill>
                          <a:latin typeface="Calibri"/>
                          <a:ea typeface="Calibri"/>
                          <a:cs typeface="Calibri"/>
                          <a:sym typeface="Calibri"/>
                        </a:rPr>
                        <a:t>Gold-task accuracy</a:t>
                      </a:r>
                      <a:endParaRPr sz="1050" u="none" cap="none" strike="noStrike">
                        <a:latin typeface="Calibri"/>
                        <a:ea typeface="Calibri"/>
                        <a:cs typeface="Calibri"/>
                        <a:sym typeface="Calibri"/>
                      </a:endParaRPr>
                    </a:p>
                  </a:txBody>
                  <a:tcPr marT="64000" marB="64000" marR="64000" marL="64000" anchor="ctr">
                    <a:lnL cap="flat" cmpd="sng" w="9525">
                      <a:solidFill>
                        <a:srgbClr val="D9E2EA"/>
                      </a:solidFill>
                      <a:prstDash val="solid"/>
                      <a:round/>
                      <a:headEnd len="sm" w="sm" type="none"/>
                      <a:tailEnd len="sm" w="sm" type="none"/>
                    </a:lnL>
                    <a:lnR cap="flat" cmpd="sng" w="9525">
                      <a:solidFill>
                        <a:srgbClr val="D9E2EA"/>
                      </a:solidFill>
                      <a:prstDash val="solid"/>
                      <a:round/>
                      <a:headEnd len="sm" w="sm" type="none"/>
                      <a:tailEnd len="sm" w="sm" type="none"/>
                    </a:lnR>
                    <a:lnT cap="flat" cmpd="sng" w="9525">
                      <a:solidFill>
                        <a:srgbClr val="D9E2EA"/>
                      </a:solidFill>
                      <a:prstDash val="solid"/>
                      <a:round/>
                      <a:headEnd len="sm" w="sm" type="none"/>
                      <a:tailEnd len="sm" w="sm" type="none"/>
                    </a:lnT>
                    <a:lnB cap="flat" cmpd="sng" w="9525">
                      <a:solidFill>
                        <a:srgbClr val="D9E2EA"/>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23293B"/>
                        </a:buClr>
                        <a:buSzPts val="1050"/>
                        <a:buFont typeface="Calibri"/>
                        <a:buNone/>
                      </a:pPr>
                      <a:r>
                        <a:rPr lang="en-US" sz="1050" u="none" cap="none" strike="noStrike">
                          <a:solidFill>
                            <a:srgbClr val="23293B"/>
                          </a:solidFill>
                          <a:latin typeface="Calibri"/>
                          <a:ea typeface="Calibri"/>
                          <a:cs typeface="Calibri"/>
                          <a:sym typeface="Calibri"/>
                        </a:rPr>
                        <a:t>vs expert key</a:t>
                      </a:r>
                      <a:endParaRPr sz="1050" u="none" cap="none" strike="noStrike">
                        <a:latin typeface="Calibri"/>
                        <a:ea typeface="Calibri"/>
                        <a:cs typeface="Calibri"/>
                        <a:sym typeface="Calibri"/>
                      </a:endParaRPr>
                    </a:p>
                  </a:txBody>
                  <a:tcPr marT="64000" marB="64000" marR="64000" marL="64000" anchor="ctr">
                    <a:lnL cap="flat" cmpd="sng" w="9525">
                      <a:solidFill>
                        <a:srgbClr val="D9E2EA"/>
                      </a:solidFill>
                      <a:prstDash val="solid"/>
                      <a:round/>
                      <a:headEnd len="sm" w="sm" type="none"/>
                      <a:tailEnd len="sm" w="sm" type="none"/>
                    </a:lnL>
                    <a:lnR cap="flat" cmpd="sng" w="9525">
                      <a:solidFill>
                        <a:srgbClr val="D9E2EA"/>
                      </a:solidFill>
                      <a:prstDash val="solid"/>
                      <a:round/>
                      <a:headEnd len="sm" w="sm" type="none"/>
                      <a:tailEnd len="sm" w="sm" type="none"/>
                    </a:lnR>
                    <a:lnT cap="flat" cmpd="sng" w="9525">
                      <a:solidFill>
                        <a:srgbClr val="D9E2EA"/>
                      </a:solidFill>
                      <a:prstDash val="solid"/>
                      <a:round/>
                      <a:headEnd len="sm" w="sm" type="none"/>
                      <a:tailEnd len="sm" w="sm" type="none"/>
                    </a:lnT>
                    <a:lnB cap="flat" cmpd="sng" w="9525">
                      <a:solidFill>
                        <a:srgbClr val="D9E2EA"/>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23293B"/>
                        </a:buClr>
                        <a:buSzPts val="1050"/>
                        <a:buFont typeface="Calibri"/>
                        <a:buNone/>
                      </a:pPr>
                      <a:r>
                        <a:rPr lang="en-US" sz="1050" u="none" cap="none" strike="noStrike">
                          <a:solidFill>
                            <a:srgbClr val="23293B"/>
                          </a:solidFill>
                          <a:latin typeface="Calibri"/>
                          <a:ea typeface="Calibri"/>
                          <a:cs typeface="Calibri"/>
                          <a:sym typeface="Calibri"/>
                        </a:rPr>
                        <a:t>shared misunderstanding — agreement is not truth</a:t>
                      </a:r>
                      <a:endParaRPr sz="1050" u="none" cap="none" strike="noStrike">
                        <a:latin typeface="Calibri"/>
                        <a:ea typeface="Calibri"/>
                        <a:cs typeface="Calibri"/>
                        <a:sym typeface="Calibri"/>
                      </a:endParaRPr>
                    </a:p>
                  </a:txBody>
                  <a:tcPr marT="64000" marB="64000" marR="64000" marL="64000" anchor="ctr">
                    <a:lnL cap="flat" cmpd="sng" w="9525">
                      <a:solidFill>
                        <a:srgbClr val="D9E2EA"/>
                      </a:solidFill>
                      <a:prstDash val="solid"/>
                      <a:round/>
                      <a:headEnd len="sm" w="sm" type="none"/>
                      <a:tailEnd len="sm" w="sm" type="none"/>
                    </a:lnL>
                    <a:lnR cap="flat" cmpd="sng" w="9525">
                      <a:solidFill>
                        <a:srgbClr val="D9E2EA"/>
                      </a:solidFill>
                      <a:prstDash val="solid"/>
                      <a:round/>
                      <a:headEnd len="sm" w="sm" type="none"/>
                      <a:tailEnd len="sm" w="sm" type="none"/>
                    </a:lnR>
                    <a:lnT cap="flat" cmpd="sng" w="9525">
                      <a:solidFill>
                        <a:srgbClr val="D9E2EA"/>
                      </a:solidFill>
                      <a:prstDash val="solid"/>
                      <a:round/>
                      <a:headEnd len="sm" w="sm" type="none"/>
                      <a:tailEnd len="sm" w="sm" type="none"/>
                    </a:lnT>
                    <a:lnB cap="flat" cmpd="sng" w="9525">
                      <a:solidFill>
                        <a:srgbClr val="D9E2EA"/>
                      </a:solidFill>
                      <a:prstDash val="solid"/>
                      <a:round/>
                      <a:headEnd len="sm" w="sm" type="none"/>
                      <a:tailEnd len="sm" w="sm" type="none"/>
                    </a:lnB>
                    <a:solidFill>
                      <a:srgbClr val="FFFFFF"/>
                    </a:solidFill>
                  </a:tcPr>
                </a:tc>
              </a:tr>
              <a:tr h="628325">
                <a:tc>
                  <a:txBody>
                    <a:bodyPr/>
                    <a:lstStyle/>
                    <a:p>
                      <a:pPr indent="0" lvl="0" marL="0" marR="0" rtl="0" algn="l">
                        <a:spcBef>
                          <a:spcPts val="0"/>
                        </a:spcBef>
                        <a:spcAft>
                          <a:spcPts val="0"/>
                        </a:spcAft>
                        <a:buClr>
                          <a:srgbClr val="1D2A5C"/>
                        </a:buClr>
                        <a:buSzPts val="1050"/>
                        <a:buFont typeface="Calibri"/>
                        <a:buNone/>
                      </a:pPr>
                      <a:r>
                        <a:rPr b="1" lang="en-US" sz="1050" u="none" cap="none" strike="noStrike">
                          <a:solidFill>
                            <a:srgbClr val="1D2A5C"/>
                          </a:solidFill>
                          <a:latin typeface="Calibri"/>
                          <a:ea typeface="Calibri"/>
                          <a:cs typeface="Calibri"/>
                          <a:sym typeface="Calibri"/>
                        </a:rPr>
                        <a:t>Agreement before training</a:t>
                      </a:r>
                      <a:endParaRPr sz="1050" u="none" cap="none" strike="noStrike">
                        <a:latin typeface="Calibri"/>
                        <a:ea typeface="Calibri"/>
                        <a:cs typeface="Calibri"/>
                        <a:sym typeface="Calibri"/>
                      </a:endParaRPr>
                    </a:p>
                  </a:txBody>
                  <a:tcPr marT="64000" marB="64000" marR="64000" marL="64000" anchor="ctr">
                    <a:lnL cap="flat" cmpd="sng" w="9525">
                      <a:solidFill>
                        <a:srgbClr val="D9E2EA"/>
                      </a:solidFill>
                      <a:prstDash val="solid"/>
                      <a:round/>
                      <a:headEnd len="sm" w="sm" type="none"/>
                      <a:tailEnd len="sm" w="sm" type="none"/>
                    </a:lnL>
                    <a:lnR cap="flat" cmpd="sng" w="9525">
                      <a:solidFill>
                        <a:srgbClr val="D9E2EA"/>
                      </a:solidFill>
                      <a:prstDash val="solid"/>
                      <a:round/>
                      <a:headEnd len="sm" w="sm" type="none"/>
                      <a:tailEnd len="sm" w="sm" type="none"/>
                    </a:lnR>
                    <a:lnT cap="flat" cmpd="sng" w="9525">
                      <a:solidFill>
                        <a:srgbClr val="D9E2EA"/>
                      </a:solidFill>
                      <a:prstDash val="solid"/>
                      <a:round/>
                      <a:headEnd len="sm" w="sm" type="none"/>
                      <a:tailEnd len="sm" w="sm" type="none"/>
                    </a:lnT>
                    <a:lnB cap="flat" cmpd="sng" w="9525">
                      <a:solidFill>
                        <a:srgbClr val="D9E2EA"/>
                      </a:solidFill>
                      <a:prstDash val="solid"/>
                      <a:round/>
                      <a:headEnd len="sm" w="sm" type="none"/>
                      <a:tailEnd len="sm" w="sm" type="none"/>
                    </a:lnB>
                    <a:solidFill>
                      <a:srgbClr val="F2F6F9"/>
                    </a:solidFill>
                  </a:tcPr>
                </a:tc>
                <a:tc>
                  <a:txBody>
                    <a:bodyPr/>
                    <a:lstStyle/>
                    <a:p>
                      <a:pPr indent="0" lvl="0" marL="0" marR="0" rtl="0" algn="l">
                        <a:spcBef>
                          <a:spcPts val="0"/>
                        </a:spcBef>
                        <a:spcAft>
                          <a:spcPts val="0"/>
                        </a:spcAft>
                        <a:buClr>
                          <a:srgbClr val="23293B"/>
                        </a:buClr>
                        <a:buSzPts val="1050"/>
                        <a:buFont typeface="Calibri"/>
                        <a:buNone/>
                      </a:pPr>
                      <a:r>
                        <a:rPr lang="en-US" sz="1050" u="none" cap="none" strike="noStrike">
                          <a:solidFill>
                            <a:srgbClr val="23293B"/>
                          </a:solidFill>
                          <a:latin typeface="Calibri"/>
                          <a:ea typeface="Calibri"/>
                          <a:cs typeface="Calibri"/>
                          <a:sym typeface="Calibri"/>
                        </a:rPr>
                        <a:t>in the model card</a:t>
                      </a:r>
                      <a:endParaRPr sz="1050" u="none" cap="none" strike="noStrike">
                        <a:latin typeface="Calibri"/>
                        <a:ea typeface="Calibri"/>
                        <a:cs typeface="Calibri"/>
                        <a:sym typeface="Calibri"/>
                      </a:endParaRPr>
                    </a:p>
                  </a:txBody>
                  <a:tcPr marT="64000" marB="64000" marR="64000" marL="64000" anchor="ctr">
                    <a:lnL cap="flat" cmpd="sng" w="9525">
                      <a:solidFill>
                        <a:srgbClr val="D9E2EA"/>
                      </a:solidFill>
                      <a:prstDash val="solid"/>
                      <a:round/>
                      <a:headEnd len="sm" w="sm" type="none"/>
                      <a:tailEnd len="sm" w="sm" type="none"/>
                    </a:lnL>
                    <a:lnR cap="flat" cmpd="sng" w="9525">
                      <a:solidFill>
                        <a:srgbClr val="D9E2EA"/>
                      </a:solidFill>
                      <a:prstDash val="solid"/>
                      <a:round/>
                      <a:headEnd len="sm" w="sm" type="none"/>
                      <a:tailEnd len="sm" w="sm" type="none"/>
                    </a:lnR>
                    <a:lnT cap="flat" cmpd="sng" w="9525">
                      <a:solidFill>
                        <a:srgbClr val="D9E2EA"/>
                      </a:solidFill>
                      <a:prstDash val="solid"/>
                      <a:round/>
                      <a:headEnd len="sm" w="sm" type="none"/>
                      <a:tailEnd len="sm" w="sm" type="none"/>
                    </a:lnT>
                    <a:lnB cap="flat" cmpd="sng" w="9525">
                      <a:solidFill>
                        <a:srgbClr val="D9E2EA"/>
                      </a:solidFill>
                      <a:prstDash val="solid"/>
                      <a:round/>
                      <a:headEnd len="sm" w="sm" type="none"/>
                      <a:tailEnd len="sm" w="sm" type="none"/>
                    </a:lnB>
                    <a:solidFill>
                      <a:srgbClr val="F2F6F9"/>
                    </a:solidFill>
                  </a:tcPr>
                </a:tc>
                <a:tc>
                  <a:txBody>
                    <a:bodyPr/>
                    <a:lstStyle/>
                    <a:p>
                      <a:pPr indent="0" lvl="0" marL="0" marR="0" rtl="0" algn="l">
                        <a:spcBef>
                          <a:spcPts val="0"/>
                        </a:spcBef>
                        <a:spcAft>
                          <a:spcPts val="0"/>
                        </a:spcAft>
                        <a:buClr>
                          <a:srgbClr val="23293B"/>
                        </a:buClr>
                        <a:buSzPts val="1050"/>
                        <a:buFont typeface="Calibri"/>
                        <a:buNone/>
                      </a:pPr>
                      <a:r>
                        <a:rPr lang="en-US" sz="1050" u="none" cap="none" strike="noStrike">
                          <a:solidFill>
                            <a:srgbClr val="23293B"/>
                          </a:solidFill>
                          <a:latin typeface="Calibri"/>
                          <a:ea typeface="Calibri"/>
                          <a:cs typeface="Calibri"/>
                          <a:sym typeface="Calibri"/>
                        </a:rPr>
                        <a:t>label noise caps every M6 metric</a:t>
                      </a:r>
                      <a:endParaRPr sz="1050" u="none" cap="none" strike="noStrike">
                        <a:latin typeface="Calibri"/>
                        <a:ea typeface="Calibri"/>
                        <a:cs typeface="Calibri"/>
                        <a:sym typeface="Calibri"/>
                      </a:endParaRPr>
                    </a:p>
                  </a:txBody>
                  <a:tcPr marT="64000" marB="64000" marR="64000" marL="64000" anchor="ctr">
                    <a:lnL cap="flat" cmpd="sng" w="9525">
                      <a:solidFill>
                        <a:srgbClr val="D9E2EA"/>
                      </a:solidFill>
                      <a:prstDash val="solid"/>
                      <a:round/>
                      <a:headEnd len="sm" w="sm" type="none"/>
                      <a:tailEnd len="sm" w="sm" type="none"/>
                    </a:lnL>
                    <a:lnR cap="flat" cmpd="sng" w="9525">
                      <a:solidFill>
                        <a:srgbClr val="D9E2EA"/>
                      </a:solidFill>
                      <a:prstDash val="solid"/>
                      <a:round/>
                      <a:headEnd len="sm" w="sm" type="none"/>
                      <a:tailEnd len="sm" w="sm" type="none"/>
                    </a:lnR>
                    <a:lnT cap="flat" cmpd="sng" w="9525">
                      <a:solidFill>
                        <a:srgbClr val="D9E2EA"/>
                      </a:solidFill>
                      <a:prstDash val="solid"/>
                      <a:round/>
                      <a:headEnd len="sm" w="sm" type="none"/>
                      <a:tailEnd len="sm" w="sm" type="none"/>
                    </a:lnT>
                    <a:lnB cap="flat" cmpd="sng" w="9525">
                      <a:solidFill>
                        <a:srgbClr val="D9E2EA"/>
                      </a:solidFill>
                      <a:prstDash val="solid"/>
                      <a:round/>
                      <a:headEnd len="sm" w="sm" type="none"/>
                      <a:tailEnd len="sm" w="sm" type="none"/>
                    </a:lnB>
                    <a:solidFill>
                      <a:srgbClr val="F2F6F9"/>
                    </a:solidFill>
                  </a:tcPr>
                </a:tc>
              </a:tr>
            </a:tbl>
          </a:graphicData>
        </a:graphic>
      </p:graphicFrame>
    </p:spTree>
  </p:cSld>
  <p:clrMapOvr>
    <a:masterClrMapping/>
  </p:clrMapOvr>
</p:sld>
</file>

<file path=ppt/slides/slide9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636" name="Shape 2636"/>
        <p:cNvGrpSpPr/>
        <p:nvPr/>
      </p:nvGrpSpPr>
      <p:grpSpPr>
        <a:xfrm>
          <a:off x="0" y="0"/>
          <a:ext cx="0" cy="0"/>
          <a:chOff x="0" y="0"/>
          <a:chExt cx="0" cy="0"/>
        </a:xfrm>
      </p:grpSpPr>
      <p:sp>
        <p:nvSpPr>
          <p:cNvPr id="2637" name="Google Shape;2637;p95"/>
          <p:cNvSpPr/>
          <p:nvPr/>
        </p:nvSpPr>
        <p:spPr>
          <a:xfrm>
            <a:off x="502920" y="274320"/>
            <a:ext cx="9646920" cy="56692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D2A5C"/>
              </a:buClr>
              <a:buSzPts val="2700"/>
              <a:buFont typeface="Calibri"/>
              <a:buNone/>
            </a:pPr>
            <a:r>
              <a:rPr b="1" i="0" lang="en-US" sz="2700" u="none" cap="none" strike="noStrike">
                <a:solidFill>
                  <a:srgbClr val="1D2A5C"/>
                </a:solidFill>
                <a:latin typeface="Calibri"/>
                <a:ea typeface="Calibri"/>
                <a:cs typeface="Calibri"/>
                <a:sym typeface="Calibri"/>
              </a:rPr>
              <a:t>Your Model Is the Best Label Auditor</a:t>
            </a:r>
            <a:endParaRPr b="0" i="0" sz="2700" u="none" cap="none" strike="noStrike">
              <a:solidFill>
                <a:schemeClr val="dk1"/>
              </a:solidFill>
              <a:latin typeface="Calibri"/>
              <a:ea typeface="Calibri"/>
              <a:cs typeface="Calibri"/>
              <a:sym typeface="Calibri"/>
            </a:endParaRPr>
          </a:p>
        </p:txBody>
      </p:sp>
      <p:sp>
        <p:nvSpPr>
          <p:cNvPr id="2638" name="Google Shape;2638;p95"/>
          <p:cNvSpPr/>
          <p:nvPr/>
        </p:nvSpPr>
        <p:spPr>
          <a:xfrm>
            <a:off x="502920" y="859536"/>
            <a:ext cx="9646920" cy="31089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F6B7A"/>
              </a:buClr>
              <a:buSzPts val="1250"/>
              <a:buFont typeface="Arial"/>
              <a:buNone/>
            </a:pPr>
            <a:r>
              <a:rPr b="0" i="0" lang="en-US" sz="1250" u="none" cap="none" strike="noStrike">
                <a:solidFill>
                  <a:srgbClr val="5F6B7A"/>
                </a:solidFill>
                <a:latin typeface="Arial"/>
                <a:ea typeface="Arial"/>
                <a:cs typeface="Arial"/>
                <a:sym typeface="Arial"/>
              </a:rPr>
              <a:t>نموذجك هو أفضل مدقق للتوصيفات</a:t>
            </a:r>
            <a:endParaRPr b="0" i="0" sz="1250" u="none" cap="none" strike="noStrike">
              <a:solidFill>
                <a:schemeClr val="dk1"/>
              </a:solidFill>
              <a:latin typeface="Calibri"/>
              <a:ea typeface="Calibri"/>
              <a:cs typeface="Calibri"/>
              <a:sym typeface="Calibri"/>
            </a:endParaRPr>
          </a:p>
        </p:txBody>
      </p:sp>
      <p:pic>
        <p:nvPicPr>
          <p:cNvPr descr="/sessions/blissful-determined-ritchie/build/assets/sdaia_logo.png" id="2639" name="Google Shape;2639;p95"/>
          <p:cNvPicPr preferRelativeResize="0"/>
          <p:nvPr/>
        </p:nvPicPr>
        <p:blipFill rotWithShape="1">
          <a:blip r:embed="rId3">
            <a:alphaModFix/>
          </a:blip>
          <a:srcRect b="0" l="0" r="0" t="0"/>
          <a:stretch/>
        </p:blipFill>
        <p:spPr>
          <a:xfrm>
            <a:off x="10625328" y="310896"/>
            <a:ext cx="1078992" cy="264111"/>
          </a:xfrm>
          <a:prstGeom prst="rect">
            <a:avLst/>
          </a:prstGeom>
          <a:noFill/>
          <a:ln>
            <a:noFill/>
          </a:ln>
        </p:spPr>
      </p:pic>
      <p:sp>
        <p:nvSpPr>
          <p:cNvPr id="2640" name="Google Shape;2640;p95"/>
          <p:cNvSpPr/>
          <p:nvPr/>
        </p:nvSpPr>
        <p:spPr>
          <a:xfrm>
            <a:off x="502920" y="6528816"/>
            <a:ext cx="8686800"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A79D"/>
              </a:buClr>
              <a:buSzPts val="800"/>
              <a:buFont typeface="Calibri"/>
              <a:buNone/>
            </a:pPr>
            <a:r>
              <a:rPr b="1" i="0" lang="en-US" sz="800" u="none" cap="none" strike="noStrike">
                <a:solidFill>
                  <a:srgbClr val="00A79D"/>
                </a:solidFill>
                <a:latin typeface="Calibri"/>
                <a:ea typeface="Calibri"/>
                <a:cs typeface="Calibri"/>
                <a:sym typeface="Calibri"/>
              </a:rPr>
              <a:t>MODULE 5   </a:t>
            </a:r>
            <a:r>
              <a:rPr b="0" i="0" lang="en-US" sz="800" u="none" cap="none" strike="noStrike">
                <a:solidFill>
                  <a:srgbClr val="8A96A6"/>
                </a:solidFill>
                <a:latin typeface="Calibri"/>
                <a:ea typeface="Calibri"/>
                <a:cs typeface="Calibri"/>
                <a:sym typeface="Calibri"/>
              </a:rPr>
              <a:t>SDA-AIE-212 · Computer Vision Systems Development</a:t>
            </a:r>
            <a:endParaRPr b="0" i="0" sz="800" u="none" cap="none" strike="noStrike">
              <a:solidFill>
                <a:schemeClr val="dk1"/>
              </a:solidFill>
              <a:latin typeface="Calibri"/>
              <a:ea typeface="Calibri"/>
              <a:cs typeface="Calibri"/>
              <a:sym typeface="Calibri"/>
            </a:endParaRPr>
          </a:p>
        </p:txBody>
      </p:sp>
      <p:sp>
        <p:nvSpPr>
          <p:cNvPr id="2641" name="Google Shape;2641;p95"/>
          <p:cNvSpPr/>
          <p:nvPr/>
        </p:nvSpPr>
        <p:spPr>
          <a:xfrm>
            <a:off x="11292840" y="6528816"/>
            <a:ext cx="411480" cy="219456"/>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8A96A6"/>
              </a:buClr>
              <a:buSzPts val="900"/>
              <a:buFont typeface="Calibri"/>
              <a:buNone/>
            </a:pPr>
            <a:r>
              <a:rPr b="0" i="0" lang="en-US" sz="900" u="none" cap="none" strike="noStrike">
                <a:solidFill>
                  <a:srgbClr val="8A96A6"/>
                </a:solidFill>
                <a:latin typeface="Calibri"/>
                <a:ea typeface="Calibri"/>
                <a:cs typeface="Calibri"/>
                <a:sym typeface="Calibri"/>
              </a:rPr>
              <a:t>95</a:t>
            </a:r>
            <a:endParaRPr b="0" i="0" sz="900" u="none" cap="none" strike="noStrike">
              <a:solidFill>
                <a:schemeClr val="dk1"/>
              </a:solidFill>
              <a:latin typeface="Calibri"/>
              <a:ea typeface="Calibri"/>
              <a:cs typeface="Calibri"/>
              <a:sym typeface="Calibri"/>
            </a:endParaRPr>
          </a:p>
        </p:txBody>
      </p:sp>
      <p:sp>
        <p:nvSpPr>
          <p:cNvPr id="2642" name="Google Shape;2642;p95"/>
          <p:cNvSpPr/>
          <p:nvPr/>
        </p:nvSpPr>
        <p:spPr>
          <a:xfrm>
            <a:off x="502920" y="1559052"/>
            <a:ext cx="329184" cy="329184"/>
          </a:xfrm>
          <a:prstGeom prst="ellipse">
            <a:avLst/>
          </a:prstGeom>
          <a:solidFill>
            <a:srgbClr val="00A79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43" name="Google Shape;2643;p95"/>
          <p:cNvSpPr/>
          <p:nvPr/>
        </p:nvSpPr>
        <p:spPr>
          <a:xfrm>
            <a:off x="502920" y="1559052"/>
            <a:ext cx="329184" cy="32918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300"/>
              <a:buFont typeface="Calibri"/>
              <a:buNone/>
            </a:pPr>
            <a:r>
              <a:rPr b="1" i="0" lang="en-US" sz="1300" u="none" cap="none" strike="noStrike">
                <a:solidFill>
                  <a:srgbClr val="FFFFFF"/>
                </a:solidFill>
                <a:latin typeface="Calibri"/>
                <a:ea typeface="Calibri"/>
                <a:cs typeface="Calibri"/>
                <a:sym typeface="Calibri"/>
              </a:rPr>
              <a:t>1</a:t>
            </a:r>
            <a:endParaRPr b="0" i="0" sz="1300" u="none" cap="none" strike="noStrike">
              <a:solidFill>
                <a:schemeClr val="dk1"/>
              </a:solidFill>
              <a:latin typeface="Calibri"/>
              <a:ea typeface="Calibri"/>
              <a:cs typeface="Calibri"/>
              <a:sym typeface="Calibri"/>
            </a:endParaRPr>
          </a:p>
        </p:txBody>
      </p:sp>
      <p:sp>
        <p:nvSpPr>
          <p:cNvPr id="2644" name="Google Shape;2644;p95"/>
          <p:cNvSpPr/>
          <p:nvPr/>
        </p:nvSpPr>
        <p:spPr>
          <a:xfrm>
            <a:off x="1005840" y="1495044"/>
            <a:ext cx="493776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D2A5C"/>
              </a:buClr>
              <a:buSzPts val="1400"/>
              <a:buFont typeface="Calibri"/>
              <a:buNone/>
            </a:pPr>
            <a:r>
              <a:rPr b="1" i="0" lang="en-US" sz="1400" u="none" cap="none" strike="noStrike">
                <a:solidFill>
                  <a:srgbClr val="1D2A5C"/>
                </a:solidFill>
                <a:latin typeface="Calibri"/>
                <a:ea typeface="Calibri"/>
                <a:cs typeface="Calibri"/>
                <a:sym typeface="Calibri"/>
              </a:rPr>
              <a:t>Loss-ranked auditing concentrates errors</a:t>
            </a:r>
            <a:endParaRPr b="0" i="0" sz="1400" u="none" cap="none" strike="noStrike">
              <a:solidFill>
                <a:schemeClr val="dk1"/>
              </a:solidFill>
              <a:latin typeface="Calibri"/>
              <a:ea typeface="Calibri"/>
              <a:cs typeface="Calibri"/>
              <a:sym typeface="Calibri"/>
            </a:endParaRPr>
          </a:p>
        </p:txBody>
      </p:sp>
      <p:sp>
        <p:nvSpPr>
          <p:cNvPr id="2645" name="Google Shape;2645;p95"/>
          <p:cNvSpPr/>
          <p:nvPr/>
        </p:nvSpPr>
        <p:spPr>
          <a:xfrm>
            <a:off x="1005840" y="1796796"/>
            <a:ext cx="4937760" cy="841248"/>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5F6B7A"/>
              </a:buClr>
              <a:buSzPts val="1150"/>
              <a:buFont typeface="Calibri"/>
              <a:buNone/>
            </a:pPr>
            <a:r>
              <a:rPr b="0" i="0" lang="en-US" sz="1150" u="none" cap="none" strike="noStrike">
                <a:solidFill>
                  <a:srgbClr val="5F6B7A"/>
                </a:solidFill>
                <a:latin typeface="Calibri"/>
                <a:ea typeface="Calibri"/>
                <a:cs typeface="Calibri"/>
                <a:sym typeface="Calibri"/>
              </a:rPr>
              <a:t>Run the model on its own training set; rank items by loss. Label errors concentrate violently at the top.</a:t>
            </a:r>
            <a:endParaRPr b="0" i="0" sz="1150" u="none" cap="none" strike="noStrike">
              <a:solidFill>
                <a:schemeClr val="dk1"/>
              </a:solidFill>
              <a:latin typeface="Calibri"/>
              <a:ea typeface="Calibri"/>
              <a:cs typeface="Calibri"/>
              <a:sym typeface="Calibri"/>
            </a:endParaRPr>
          </a:p>
        </p:txBody>
      </p:sp>
      <p:sp>
        <p:nvSpPr>
          <p:cNvPr id="2646" name="Google Shape;2646;p95"/>
          <p:cNvSpPr/>
          <p:nvPr/>
        </p:nvSpPr>
        <p:spPr>
          <a:xfrm>
            <a:off x="502920" y="2747772"/>
            <a:ext cx="329184" cy="329184"/>
          </a:xfrm>
          <a:prstGeom prst="ellipse">
            <a:avLst/>
          </a:prstGeom>
          <a:solidFill>
            <a:srgbClr val="29ABE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47" name="Google Shape;2647;p95"/>
          <p:cNvSpPr/>
          <p:nvPr/>
        </p:nvSpPr>
        <p:spPr>
          <a:xfrm>
            <a:off x="502920" y="2747772"/>
            <a:ext cx="329184" cy="32918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300"/>
              <a:buFont typeface="Calibri"/>
              <a:buNone/>
            </a:pPr>
            <a:r>
              <a:rPr b="1" i="0" lang="en-US" sz="1300" u="none" cap="none" strike="noStrike">
                <a:solidFill>
                  <a:srgbClr val="FFFFFF"/>
                </a:solidFill>
                <a:latin typeface="Calibri"/>
                <a:ea typeface="Calibri"/>
                <a:cs typeface="Calibri"/>
                <a:sym typeface="Calibri"/>
              </a:rPr>
              <a:t>2</a:t>
            </a:r>
            <a:endParaRPr b="0" i="0" sz="1300" u="none" cap="none" strike="noStrike">
              <a:solidFill>
                <a:schemeClr val="dk1"/>
              </a:solidFill>
              <a:latin typeface="Calibri"/>
              <a:ea typeface="Calibri"/>
              <a:cs typeface="Calibri"/>
              <a:sym typeface="Calibri"/>
            </a:endParaRPr>
          </a:p>
        </p:txBody>
      </p:sp>
      <p:sp>
        <p:nvSpPr>
          <p:cNvPr id="2648" name="Google Shape;2648;p95"/>
          <p:cNvSpPr/>
          <p:nvPr/>
        </p:nvSpPr>
        <p:spPr>
          <a:xfrm>
            <a:off x="1005840" y="2683764"/>
            <a:ext cx="493776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D2A5C"/>
              </a:buClr>
              <a:buSzPts val="1400"/>
              <a:buFont typeface="Calibri"/>
              <a:buNone/>
            </a:pPr>
            <a:r>
              <a:rPr b="1" i="0" lang="en-US" sz="1400" u="none" cap="none" strike="noStrike">
                <a:solidFill>
                  <a:srgbClr val="1D2A5C"/>
                </a:solidFill>
                <a:latin typeface="Calibri"/>
                <a:ea typeface="Calibri"/>
                <a:cs typeface="Calibri"/>
                <a:sym typeface="Calibri"/>
              </a:rPr>
              <a:t>Triage: label error / model error / ambiguous</a:t>
            </a:r>
            <a:endParaRPr b="0" i="0" sz="1400" u="none" cap="none" strike="noStrike">
              <a:solidFill>
                <a:schemeClr val="dk1"/>
              </a:solidFill>
              <a:latin typeface="Calibri"/>
              <a:ea typeface="Calibri"/>
              <a:cs typeface="Calibri"/>
              <a:sym typeface="Calibri"/>
            </a:endParaRPr>
          </a:p>
        </p:txBody>
      </p:sp>
      <p:sp>
        <p:nvSpPr>
          <p:cNvPr id="2649" name="Google Shape;2649;p95"/>
          <p:cNvSpPr/>
          <p:nvPr/>
        </p:nvSpPr>
        <p:spPr>
          <a:xfrm>
            <a:off x="1005840" y="2985516"/>
            <a:ext cx="4937760" cy="841248"/>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5F6B7A"/>
              </a:buClr>
              <a:buSzPts val="1150"/>
              <a:buFont typeface="Calibri"/>
              <a:buNone/>
            </a:pPr>
            <a:r>
              <a:rPr b="0" i="0" lang="en-US" sz="1150" u="none" cap="none" strike="noStrike">
                <a:solidFill>
                  <a:srgbClr val="5F6B7A"/>
                </a:solidFill>
                <a:latin typeface="Calibri"/>
                <a:ea typeface="Calibri"/>
                <a:cs typeface="Calibri"/>
                <a:sym typeface="Calibri"/>
              </a:rPr>
              <a:t>Ambiguous items feed the spec's edge-case gallery; all changes go through QA — auditor bias is real.</a:t>
            </a:r>
            <a:endParaRPr b="0" i="0" sz="1150" u="none" cap="none" strike="noStrike">
              <a:solidFill>
                <a:schemeClr val="dk1"/>
              </a:solidFill>
              <a:latin typeface="Calibri"/>
              <a:ea typeface="Calibri"/>
              <a:cs typeface="Calibri"/>
              <a:sym typeface="Calibri"/>
            </a:endParaRPr>
          </a:p>
        </p:txBody>
      </p:sp>
      <p:sp>
        <p:nvSpPr>
          <p:cNvPr id="2650" name="Google Shape;2650;p95"/>
          <p:cNvSpPr/>
          <p:nvPr/>
        </p:nvSpPr>
        <p:spPr>
          <a:xfrm>
            <a:off x="502920" y="3936492"/>
            <a:ext cx="329184" cy="329184"/>
          </a:xfrm>
          <a:prstGeom prst="ellipse">
            <a:avLst/>
          </a:prstGeom>
          <a:solidFill>
            <a:srgbClr val="F5822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51" name="Google Shape;2651;p95"/>
          <p:cNvSpPr/>
          <p:nvPr/>
        </p:nvSpPr>
        <p:spPr>
          <a:xfrm>
            <a:off x="502920" y="3936492"/>
            <a:ext cx="329184" cy="32918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300"/>
              <a:buFont typeface="Calibri"/>
              <a:buNone/>
            </a:pPr>
            <a:r>
              <a:rPr b="1" i="0" lang="en-US" sz="1300" u="none" cap="none" strike="noStrike">
                <a:solidFill>
                  <a:srgbClr val="FFFFFF"/>
                </a:solidFill>
                <a:latin typeface="Calibri"/>
                <a:ea typeface="Calibri"/>
                <a:cs typeface="Calibri"/>
                <a:sym typeface="Calibri"/>
              </a:rPr>
              <a:t>3</a:t>
            </a:r>
            <a:endParaRPr b="0" i="0" sz="1300" u="none" cap="none" strike="noStrike">
              <a:solidFill>
                <a:schemeClr val="dk1"/>
              </a:solidFill>
              <a:latin typeface="Calibri"/>
              <a:ea typeface="Calibri"/>
              <a:cs typeface="Calibri"/>
              <a:sym typeface="Calibri"/>
            </a:endParaRPr>
          </a:p>
        </p:txBody>
      </p:sp>
      <p:sp>
        <p:nvSpPr>
          <p:cNvPr id="2652" name="Google Shape;2652;p95"/>
          <p:cNvSpPr/>
          <p:nvPr/>
        </p:nvSpPr>
        <p:spPr>
          <a:xfrm>
            <a:off x="1005840" y="3872484"/>
            <a:ext cx="493776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D2A5C"/>
              </a:buClr>
              <a:buSzPts val="1400"/>
              <a:buFont typeface="Calibri"/>
              <a:buNone/>
            </a:pPr>
            <a:r>
              <a:rPr b="1" i="0" lang="en-US" sz="1400" u="none" cap="none" strike="noStrike">
                <a:solidFill>
                  <a:srgbClr val="1D2A5C"/>
                </a:solidFill>
                <a:latin typeface="Calibri"/>
                <a:ea typeface="Calibri"/>
                <a:cs typeface="Calibri"/>
                <a:sym typeface="Calibri"/>
              </a:rPr>
              <a:t>Uncertainty + diversity beats random</a:t>
            </a:r>
            <a:endParaRPr b="0" i="0" sz="1400" u="none" cap="none" strike="noStrike">
              <a:solidFill>
                <a:schemeClr val="dk1"/>
              </a:solidFill>
              <a:latin typeface="Calibri"/>
              <a:ea typeface="Calibri"/>
              <a:cs typeface="Calibri"/>
              <a:sym typeface="Calibri"/>
            </a:endParaRPr>
          </a:p>
        </p:txBody>
      </p:sp>
      <p:sp>
        <p:nvSpPr>
          <p:cNvPr id="2653" name="Google Shape;2653;p95"/>
          <p:cNvSpPr/>
          <p:nvPr/>
        </p:nvSpPr>
        <p:spPr>
          <a:xfrm>
            <a:off x="1005840" y="4174236"/>
            <a:ext cx="4937760" cy="841248"/>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5F6B7A"/>
              </a:buClr>
              <a:buSzPts val="1150"/>
              <a:buFont typeface="Calibri"/>
              <a:buNone/>
            </a:pPr>
            <a:r>
              <a:rPr b="0" i="0" lang="en-US" sz="1150" u="none" cap="none" strike="noStrike">
                <a:solidFill>
                  <a:srgbClr val="5F6B7A"/>
                </a:solidFill>
                <a:latin typeface="Calibri"/>
                <a:ea typeface="Calibri"/>
                <a:cs typeface="Calibri"/>
                <a:sym typeface="Calibri"/>
              </a:rPr>
              <a:t>Uncertainty sampling targets the decision boundary; cluster caps stop collapse onto one failure mode.</a:t>
            </a:r>
            <a:endParaRPr b="0" i="0" sz="1150" u="none" cap="none" strike="noStrike">
              <a:solidFill>
                <a:schemeClr val="dk1"/>
              </a:solidFill>
              <a:latin typeface="Calibri"/>
              <a:ea typeface="Calibri"/>
              <a:cs typeface="Calibri"/>
              <a:sym typeface="Calibri"/>
            </a:endParaRPr>
          </a:p>
        </p:txBody>
      </p:sp>
      <p:sp>
        <p:nvSpPr>
          <p:cNvPr id="2654" name="Google Shape;2654;p95"/>
          <p:cNvSpPr/>
          <p:nvPr/>
        </p:nvSpPr>
        <p:spPr>
          <a:xfrm>
            <a:off x="502920" y="5125212"/>
            <a:ext cx="329184" cy="329184"/>
          </a:xfrm>
          <a:prstGeom prst="ellipse">
            <a:avLst/>
          </a:prstGeom>
          <a:solidFill>
            <a:srgbClr val="8DC63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55" name="Google Shape;2655;p95"/>
          <p:cNvSpPr/>
          <p:nvPr/>
        </p:nvSpPr>
        <p:spPr>
          <a:xfrm>
            <a:off x="502920" y="5125212"/>
            <a:ext cx="329184" cy="32918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300"/>
              <a:buFont typeface="Calibri"/>
              <a:buNone/>
            </a:pPr>
            <a:r>
              <a:rPr b="1" i="0" lang="en-US" sz="1300" u="none" cap="none" strike="noStrike">
                <a:solidFill>
                  <a:srgbClr val="FFFFFF"/>
                </a:solidFill>
                <a:latin typeface="Calibri"/>
                <a:ea typeface="Calibri"/>
                <a:cs typeface="Calibri"/>
                <a:sym typeface="Calibri"/>
              </a:rPr>
              <a:t>4</a:t>
            </a:r>
            <a:endParaRPr b="0" i="0" sz="1300" u="none" cap="none" strike="noStrike">
              <a:solidFill>
                <a:schemeClr val="dk1"/>
              </a:solidFill>
              <a:latin typeface="Calibri"/>
              <a:ea typeface="Calibri"/>
              <a:cs typeface="Calibri"/>
              <a:sym typeface="Calibri"/>
            </a:endParaRPr>
          </a:p>
        </p:txBody>
      </p:sp>
      <p:sp>
        <p:nvSpPr>
          <p:cNvPr id="2656" name="Google Shape;2656;p95"/>
          <p:cNvSpPr/>
          <p:nvPr/>
        </p:nvSpPr>
        <p:spPr>
          <a:xfrm>
            <a:off x="1005840" y="5061204"/>
            <a:ext cx="493776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D2A5C"/>
              </a:buClr>
              <a:buSzPts val="1400"/>
              <a:buFont typeface="Calibri"/>
              <a:buNone/>
            </a:pPr>
            <a:r>
              <a:rPr b="1" i="0" lang="en-US" sz="1400" u="none" cap="none" strike="noStrike">
                <a:solidFill>
                  <a:srgbClr val="1D2A5C"/>
                </a:solidFill>
                <a:latin typeface="Calibri"/>
                <a:ea typeface="Calibri"/>
                <a:cs typeface="Calibri"/>
                <a:sym typeface="Calibri"/>
              </a:rPr>
              <a:t>Stopping rule</a:t>
            </a:r>
            <a:endParaRPr b="0" i="0" sz="1400" u="none" cap="none" strike="noStrike">
              <a:solidFill>
                <a:schemeClr val="dk1"/>
              </a:solidFill>
              <a:latin typeface="Calibri"/>
              <a:ea typeface="Calibri"/>
              <a:cs typeface="Calibri"/>
              <a:sym typeface="Calibri"/>
            </a:endParaRPr>
          </a:p>
        </p:txBody>
      </p:sp>
      <p:sp>
        <p:nvSpPr>
          <p:cNvPr id="2657" name="Google Shape;2657;p95"/>
          <p:cNvSpPr/>
          <p:nvPr/>
        </p:nvSpPr>
        <p:spPr>
          <a:xfrm>
            <a:off x="1005840" y="5362956"/>
            <a:ext cx="4937760" cy="841248"/>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5F6B7A"/>
              </a:buClr>
              <a:buSzPts val="1150"/>
              <a:buFont typeface="Calibri"/>
              <a:buNone/>
            </a:pPr>
            <a:r>
              <a:rPr b="0" i="0" lang="en-US" sz="1150" u="none" cap="none" strike="noStrike">
                <a:solidFill>
                  <a:srgbClr val="5F6B7A"/>
                </a:solidFill>
                <a:latin typeface="Calibri"/>
                <a:ea typeface="Calibri"/>
                <a:cs typeface="Calibri"/>
                <a:sym typeface="Calibri"/>
              </a:rPr>
              <a:t>Continue while marginal AP per 100 labels beats the floor; below it, move to hard-negative mining.</a:t>
            </a:r>
            <a:endParaRPr b="0" i="0" sz="1150" u="none" cap="none" strike="noStrike">
              <a:solidFill>
                <a:schemeClr val="dk1"/>
              </a:solidFill>
              <a:latin typeface="Calibri"/>
              <a:ea typeface="Calibri"/>
              <a:cs typeface="Calibri"/>
              <a:sym typeface="Calibri"/>
            </a:endParaRPr>
          </a:p>
        </p:txBody>
      </p:sp>
      <p:sp>
        <p:nvSpPr>
          <p:cNvPr id="2658" name="Google Shape;2658;p95"/>
          <p:cNvSpPr/>
          <p:nvPr/>
        </p:nvSpPr>
        <p:spPr>
          <a:xfrm>
            <a:off x="6355080" y="2775204"/>
            <a:ext cx="1563624" cy="2194560"/>
          </a:xfrm>
          <a:prstGeom prst="roundRect">
            <a:avLst>
              <a:gd fmla="val 5263" name="adj"/>
            </a:avLst>
          </a:prstGeom>
          <a:solidFill>
            <a:srgbClr val="E9F6F5"/>
          </a:solidFill>
          <a:ln cap="flat" cmpd="sng" w="12700">
            <a:solidFill>
              <a:srgbClr val="D9E2E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59" name="Google Shape;2659;p95"/>
          <p:cNvSpPr/>
          <p:nvPr/>
        </p:nvSpPr>
        <p:spPr>
          <a:xfrm>
            <a:off x="6446520" y="2884932"/>
            <a:ext cx="1380744" cy="96560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0A79D"/>
              </a:buClr>
              <a:buSzPts val="3800"/>
              <a:buFont typeface="Calibri"/>
              <a:buNone/>
            </a:pPr>
            <a:r>
              <a:rPr b="1" i="0" lang="en-US" sz="3800" u="none" cap="none" strike="noStrike">
                <a:solidFill>
                  <a:srgbClr val="00A79D"/>
                </a:solidFill>
                <a:latin typeface="Calibri"/>
                <a:ea typeface="Calibri"/>
                <a:cs typeface="Calibri"/>
                <a:sym typeface="Calibri"/>
              </a:rPr>
              <a:t>70%</a:t>
            </a:r>
            <a:endParaRPr b="0" i="0" sz="3800" u="none" cap="none" strike="noStrike">
              <a:solidFill>
                <a:schemeClr val="dk1"/>
              </a:solidFill>
              <a:latin typeface="Calibri"/>
              <a:ea typeface="Calibri"/>
              <a:cs typeface="Calibri"/>
              <a:sym typeface="Calibri"/>
            </a:endParaRPr>
          </a:p>
        </p:txBody>
      </p:sp>
      <p:sp>
        <p:nvSpPr>
          <p:cNvPr id="2660" name="Google Shape;2660;p95"/>
          <p:cNvSpPr/>
          <p:nvPr/>
        </p:nvSpPr>
        <p:spPr>
          <a:xfrm>
            <a:off x="6492240" y="3916375"/>
            <a:ext cx="1289304" cy="32004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D2A5C"/>
              </a:buClr>
              <a:buSzPts val="1250"/>
              <a:buFont typeface="Calibri"/>
              <a:buNone/>
            </a:pPr>
            <a:r>
              <a:rPr b="1" i="0" lang="en-US" sz="1250" u="none" cap="none" strike="noStrike">
                <a:solidFill>
                  <a:srgbClr val="1D2A5C"/>
                </a:solidFill>
                <a:latin typeface="Calibri"/>
                <a:ea typeface="Calibri"/>
                <a:cs typeface="Calibri"/>
                <a:sym typeface="Calibri"/>
              </a:rPr>
              <a:t>of label errors</a:t>
            </a:r>
            <a:endParaRPr b="0" i="0" sz="1250" u="none" cap="none" strike="noStrike">
              <a:solidFill>
                <a:schemeClr val="dk1"/>
              </a:solidFill>
              <a:latin typeface="Calibri"/>
              <a:ea typeface="Calibri"/>
              <a:cs typeface="Calibri"/>
              <a:sym typeface="Calibri"/>
            </a:endParaRPr>
          </a:p>
        </p:txBody>
      </p:sp>
      <p:sp>
        <p:nvSpPr>
          <p:cNvPr id="2661" name="Google Shape;2661;p95"/>
          <p:cNvSpPr/>
          <p:nvPr/>
        </p:nvSpPr>
        <p:spPr>
          <a:xfrm>
            <a:off x="6492240" y="4263847"/>
            <a:ext cx="1289304" cy="658368"/>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rgbClr val="5F6B7A"/>
              </a:buClr>
              <a:buSzPts val="1000"/>
              <a:buFont typeface="Calibri"/>
              <a:buNone/>
            </a:pPr>
            <a:r>
              <a:rPr b="0" i="0" lang="en-US" sz="1000" u="none" cap="none" strike="noStrike">
                <a:solidFill>
                  <a:srgbClr val="5F6B7A"/>
                </a:solidFill>
                <a:latin typeface="Calibri"/>
                <a:ea typeface="Calibri"/>
                <a:cs typeface="Calibri"/>
                <a:sym typeface="Calibri"/>
              </a:rPr>
              <a:t>in top 300 loss-ranked</a:t>
            </a:r>
            <a:endParaRPr b="0" i="0" sz="1000" u="none" cap="none" strike="noStrike">
              <a:solidFill>
                <a:schemeClr val="dk1"/>
              </a:solidFill>
              <a:latin typeface="Calibri"/>
              <a:ea typeface="Calibri"/>
              <a:cs typeface="Calibri"/>
              <a:sym typeface="Calibri"/>
            </a:endParaRPr>
          </a:p>
        </p:txBody>
      </p:sp>
      <p:sp>
        <p:nvSpPr>
          <p:cNvPr id="2662" name="Google Shape;2662;p95"/>
          <p:cNvSpPr/>
          <p:nvPr/>
        </p:nvSpPr>
        <p:spPr>
          <a:xfrm>
            <a:off x="8238744" y="2775204"/>
            <a:ext cx="1563624" cy="2194560"/>
          </a:xfrm>
          <a:prstGeom prst="roundRect">
            <a:avLst>
              <a:gd fmla="val 5263" name="adj"/>
            </a:avLst>
          </a:prstGeom>
          <a:solidFill>
            <a:srgbClr val="F2F6F9"/>
          </a:solidFill>
          <a:ln cap="flat" cmpd="sng" w="12700">
            <a:solidFill>
              <a:srgbClr val="D9E2E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63" name="Google Shape;2663;p95"/>
          <p:cNvSpPr/>
          <p:nvPr/>
        </p:nvSpPr>
        <p:spPr>
          <a:xfrm>
            <a:off x="8330184" y="2884932"/>
            <a:ext cx="1380744" cy="96560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9ABE2"/>
              </a:buClr>
              <a:buSzPts val="3800"/>
              <a:buFont typeface="Calibri"/>
              <a:buNone/>
            </a:pPr>
            <a:r>
              <a:rPr b="1" i="0" lang="en-US" sz="3800" u="none" cap="none" strike="noStrike">
                <a:solidFill>
                  <a:srgbClr val="29ABE2"/>
                </a:solidFill>
                <a:latin typeface="Calibri"/>
                <a:ea typeface="Calibri"/>
                <a:cs typeface="Calibri"/>
                <a:sym typeface="Calibri"/>
              </a:rPr>
              <a:t>+0.09</a:t>
            </a:r>
            <a:endParaRPr b="0" i="0" sz="3800" u="none" cap="none" strike="noStrike">
              <a:solidFill>
                <a:schemeClr val="dk1"/>
              </a:solidFill>
              <a:latin typeface="Calibri"/>
              <a:ea typeface="Calibri"/>
              <a:cs typeface="Calibri"/>
              <a:sym typeface="Calibri"/>
            </a:endParaRPr>
          </a:p>
        </p:txBody>
      </p:sp>
      <p:sp>
        <p:nvSpPr>
          <p:cNvPr id="2664" name="Google Shape;2664;p95"/>
          <p:cNvSpPr/>
          <p:nvPr/>
        </p:nvSpPr>
        <p:spPr>
          <a:xfrm>
            <a:off x="8375904" y="3916375"/>
            <a:ext cx="1289304" cy="32004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D2A5C"/>
              </a:buClr>
              <a:buSzPts val="1250"/>
              <a:buFont typeface="Calibri"/>
              <a:buNone/>
            </a:pPr>
            <a:r>
              <a:rPr b="1" i="0" lang="en-US" sz="1250" u="none" cap="none" strike="noStrike">
                <a:solidFill>
                  <a:srgbClr val="1D2A5C"/>
                </a:solidFill>
                <a:latin typeface="Calibri"/>
                <a:ea typeface="Calibri"/>
                <a:cs typeface="Calibri"/>
                <a:sym typeface="Calibri"/>
              </a:rPr>
              <a:t>insect_damage AP</a:t>
            </a:r>
            <a:endParaRPr b="0" i="0" sz="1250" u="none" cap="none" strike="noStrike">
              <a:solidFill>
                <a:schemeClr val="dk1"/>
              </a:solidFill>
              <a:latin typeface="Calibri"/>
              <a:ea typeface="Calibri"/>
              <a:cs typeface="Calibri"/>
              <a:sym typeface="Calibri"/>
            </a:endParaRPr>
          </a:p>
        </p:txBody>
      </p:sp>
      <p:sp>
        <p:nvSpPr>
          <p:cNvPr id="2665" name="Google Shape;2665;p95"/>
          <p:cNvSpPr/>
          <p:nvPr/>
        </p:nvSpPr>
        <p:spPr>
          <a:xfrm>
            <a:off x="8375904" y="4263847"/>
            <a:ext cx="1289304" cy="658368"/>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rgbClr val="5F6B7A"/>
              </a:buClr>
              <a:buSzPts val="1000"/>
              <a:buFont typeface="Calibri"/>
              <a:buNone/>
            </a:pPr>
            <a:r>
              <a:rPr b="0" i="0" lang="en-US" sz="1000" u="none" cap="none" strike="noStrike">
                <a:solidFill>
                  <a:srgbClr val="5F6B7A"/>
                </a:solidFill>
                <a:latin typeface="Calibri"/>
                <a:ea typeface="Calibri"/>
                <a:cs typeface="Calibri"/>
                <a:sym typeface="Calibri"/>
              </a:rPr>
              <a:t>800 AL-selected frames</a:t>
            </a:r>
            <a:endParaRPr b="0" i="0" sz="1000" u="none" cap="none" strike="noStrike">
              <a:solidFill>
                <a:schemeClr val="dk1"/>
              </a:solidFill>
              <a:latin typeface="Calibri"/>
              <a:ea typeface="Calibri"/>
              <a:cs typeface="Calibri"/>
              <a:sym typeface="Calibri"/>
            </a:endParaRPr>
          </a:p>
        </p:txBody>
      </p:sp>
      <p:sp>
        <p:nvSpPr>
          <p:cNvPr id="2666" name="Google Shape;2666;p95"/>
          <p:cNvSpPr/>
          <p:nvPr/>
        </p:nvSpPr>
        <p:spPr>
          <a:xfrm>
            <a:off x="10122408" y="2775204"/>
            <a:ext cx="1563624" cy="2194560"/>
          </a:xfrm>
          <a:prstGeom prst="roundRect">
            <a:avLst>
              <a:gd fmla="val 5263" name="adj"/>
            </a:avLst>
          </a:prstGeom>
          <a:solidFill>
            <a:srgbClr val="F2F6F9"/>
          </a:solidFill>
          <a:ln cap="flat" cmpd="sng" w="12700">
            <a:solidFill>
              <a:srgbClr val="D9E2E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67" name="Google Shape;2667;p95"/>
          <p:cNvSpPr/>
          <p:nvPr/>
        </p:nvSpPr>
        <p:spPr>
          <a:xfrm>
            <a:off x="10213848" y="2884932"/>
            <a:ext cx="1380744" cy="96560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58220"/>
              </a:buClr>
              <a:buSzPts val="3800"/>
              <a:buFont typeface="Calibri"/>
              <a:buNone/>
            </a:pPr>
            <a:r>
              <a:rPr b="1" i="0" lang="en-US" sz="3800" u="none" cap="none" strike="noStrike">
                <a:solidFill>
                  <a:srgbClr val="F58220"/>
                </a:solidFill>
                <a:latin typeface="Calibri"/>
                <a:ea typeface="Calibri"/>
                <a:cs typeface="Calibri"/>
                <a:sym typeface="Calibri"/>
              </a:rPr>
              <a:t>+0.03</a:t>
            </a:r>
            <a:endParaRPr b="0" i="0" sz="3800" u="none" cap="none" strike="noStrike">
              <a:solidFill>
                <a:schemeClr val="dk1"/>
              </a:solidFill>
              <a:latin typeface="Calibri"/>
              <a:ea typeface="Calibri"/>
              <a:cs typeface="Calibri"/>
              <a:sym typeface="Calibri"/>
            </a:endParaRPr>
          </a:p>
        </p:txBody>
      </p:sp>
      <p:sp>
        <p:nvSpPr>
          <p:cNvPr id="2668" name="Google Shape;2668;p95"/>
          <p:cNvSpPr/>
          <p:nvPr/>
        </p:nvSpPr>
        <p:spPr>
          <a:xfrm>
            <a:off x="10259568" y="3916375"/>
            <a:ext cx="1289304" cy="32004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D2A5C"/>
              </a:buClr>
              <a:buSzPts val="1250"/>
              <a:buFont typeface="Calibri"/>
              <a:buNone/>
            </a:pPr>
            <a:r>
              <a:rPr b="1" i="0" lang="en-US" sz="1250" u="none" cap="none" strike="noStrike">
                <a:solidFill>
                  <a:srgbClr val="1D2A5C"/>
                </a:solidFill>
                <a:latin typeface="Calibri"/>
                <a:ea typeface="Calibri"/>
                <a:cs typeface="Calibri"/>
                <a:sym typeface="Calibri"/>
              </a:rPr>
              <a:t>random control</a:t>
            </a:r>
            <a:endParaRPr b="0" i="0" sz="1250" u="none" cap="none" strike="noStrike">
              <a:solidFill>
                <a:schemeClr val="dk1"/>
              </a:solidFill>
              <a:latin typeface="Calibri"/>
              <a:ea typeface="Calibri"/>
              <a:cs typeface="Calibri"/>
              <a:sym typeface="Calibri"/>
            </a:endParaRPr>
          </a:p>
        </p:txBody>
      </p:sp>
      <p:sp>
        <p:nvSpPr>
          <p:cNvPr id="2669" name="Google Shape;2669;p95"/>
          <p:cNvSpPr/>
          <p:nvPr/>
        </p:nvSpPr>
        <p:spPr>
          <a:xfrm>
            <a:off x="10259568" y="4263847"/>
            <a:ext cx="1289304" cy="658368"/>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rgbClr val="5F6B7A"/>
              </a:buClr>
              <a:buSzPts val="1000"/>
              <a:buFont typeface="Calibri"/>
              <a:buNone/>
            </a:pPr>
            <a:r>
              <a:rPr b="0" i="0" lang="en-US" sz="1000" u="none" cap="none" strike="noStrike">
                <a:solidFill>
                  <a:srgbClr val="5F6B7A"/>
                </a:solidFill>
                <a:latin typeface="Calibri"/>
                <a:ea typeface="Calibri"/>
                <a:cs typeface="Calibri"/>
                <a:sym typeface="Calibri"/>
              </a:rPr>
              <a:t>same 800-frame budget</a:t>
            </a:r>
            <a:endParaRPr b="0" i="0" sz="1000" u="none" cap="none" strike="noStrike">
              <a:solidFill>
                <a:schemeClr val="dk1"/>
              </a:solidFill>
              <a:latin typeface="Calibri"/>
              <a:ea typeface="Calibri"/>
              <a:cs typeface="Calibri"/>
              <a:sym typeface="Calibri"/>
            </a:endParaRPr>
          </a:p>
        </p:txBody>
      </p:sp>
    </p:spTree>
  </p:cSld>
  <p:clrMapOvr>
    <a:masterClrMapping/>
  </p:clrMapOvr>
</p:sld>
</file>

<file path=ppt/slides/slide9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674" name="Shape 2674"/>
        <p:cNvGrpSpPr/>
        <p:nvPr/>
      </p:nvGrpSpPr>
      <p:grpSpPr>
        <a:xfrm>
          <a:off x="0" y="0"/>
          <a:ext cx="0" cy="0"/>
          <a:chOff x="0" y="0"/>
          <a:chExt cx="0" cy="0"/>
        </a:xfrm>
      </p:grpSpPr>
      <p:sp>
        <p:nvSpPr>
          <p:cNvPr id="2675" name="Google Shape;2675;p96"/>
          <p:cNvSpPr/>
          <p:nvPr/>
        </p:nvSpPr>
        <p:spPr>
          <a:xfrm>
            <a:off x="502920" y="274320"/>
            <a:ext cx="9646920" cy="56692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D2A5C"/>
              </a:buClr>
              <a:buSzPts val="2700"/>
              <a:buFont typeface="Calibri"/>
              <a:buNone/>
            </a:pPr>
            <a:r>
              <a:rPr b="1" i="0" lang="en-US" sz="2700" u="none" cap="none" strike="noStrike">
                <a:solidFill>
                  <a:srgbClr val="1D2A5C"/>
                </a:solidFill>
                <a:latin typeface="Calibri"/>
                <a:ea typeface="Calibri"/>
                <a:cs typeface="Calibri"/>
                <a:sym typeface="Calibri"/>
              </a:rPr>
              <a:t>Common Mistakes and How to Defend</a:t>
            </a:r>
            <a:endParaRPr b="0" i="0" sz="2700" u="none" cap="none" strike="noStrike">
              <a:solidFill>
                <a:schemeClr val="dk1"/>
              </a:solidFill>
              <a:latin typeface="Calibri"/>
              <a:ea typeface="Calibri"/>
              <a:cs typeface="Calibri"/>
              <a:sym typeface="Calibri"/>
            </a:endParaRPr>
          </a:p>
        </p:txBody>
      </p:sp>
      <p:sp>
        <p:nvSpPr>
          <p:cNvPr id="2676" name="Google Shape;2676;p96"/>
          <p:cNvSpPr/>
          <p:nvPr/>
        </p:nvSpPr>
        <p:spPr>
          <a:xfrm>
            <a:off x="502920" y="859536"/>
            <a:ext cx="9646920" cy="31089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F6B7A"/>
              </a:buClr>
              <a:buSzPts val="1250"/>
              <a:buFont typeface="Arial"/>
              <a:buNone/>
            </a:pPr>
            <a:r>
              <a:rPr b="0" i="0" lang="en-US" sz="1250" u="none" cap="none" strike="noStrike">
                <a:solidFill>
                  <a:srgbClr val="5F6B7A"/>
                </a:solidFill>
                <a:latin typeface="Arial"/>
                <a:ea typeface="Arial"/>
                <a:cs typeface="Arial"/>
                <a:sym typeface="Arial"/>
              </a:rPr>
              <a:t>أخطاء شائعة وكيفية الدفاع</a:t>
            </a:r>
            <a:endParaRPr b="0" i="0" sz="1250" u="none" cap="none" strike="noStrike">
              <a:solidFill>
                <a:schemeClr val="dk1"/>
              </a:solidFill>
              <a:latin typeface="Calibri"/>
              <a:ea typeface="Calibri"/>
              <a:cs typeface="Calibri"/>
              <a:sym typeface="Calibri"/>
            </a:endParaRPr>
          </a:p>
        </p:txBody>
      </p:sp>
      <p:pic>
        <p:nvPicPr>
          <p:cNvPr descr="/sessions/blissful-determined-ritchie/build/assets/sdaia_logo.png" id="2677" name="Google Shape;2677;p96"/>
          <p:cNvPicPr preferRelativeResize="0"/>
          <p:nvPr/>
        </p:nvPicPr>
        <p:blipFill rotWithShape="1">
          <a:blip r:embed="rId3">
            <a:alphaModFix/>
          </a:blip>
          <a:srcRect b="0" l="0" r="0" t="0"/>
          <a:stretch/>
        </p:blipFill>
        <p:spPr>
          <a:xfrm>
            <a:off x="10625328" y="310896"/>
            <a:ext cx="1078992" cy="264111"/>
          </a:xfrm>
          <a:prstGeom prst="rect">
            <a:avLst/>
          </a:prstGeom>
          <a:noFill/>
          <a:ln>
            <a:noFill/>
          </a:ln>
        </p:spPr>
      </p:pic>
      <p:sp>
        <p:nvSpPr>
          <p:cNvPr id="2678" name="Google Shape;2678;p96"/>
          <p:cNvSpPr/>
          <p:nvPr/>
        </p:nvSpPr>
        <p:spPr>
          <a:xfrm>
            <a:off x="502920" y="6528816"/>
            <a:ext cx="8686800"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A79D"/>
              </a:buClr>
              <a:buSzPts val="800"/>
              <a:buFont typeface="Calibri"/>
              <a:buNone/>
            </a:pPr>
            <a:r>
              <a:rPr b="1" i="0" lang="en-US" sz="800" u="none" cap="none" strike="noStrike">
                <a:solidFill>
                  <a:srgbClr val="00A79D"/>
                </a:solidFill>
                <a:latin typeface="Calibri"/>
                <a:ea typeface="Calibri"/>
                <a:cs typeface="Calibri"/>
                <a:sym typeface="Calibri"/>
              </a:rPr>
              <a:t>MODULE 5   </a:t>
            </a:r>
            <a:r>
              <a:rPr b="0" i="0" lang="en-US" sz="800" u="none" cap="none" strike="noStrike">
                <a:solidFill>
                  <a:srgbClr val="8A96A6"/>
                </a:solidFill>
                <a:latin typeface="Calibri"/>
                <a:ea typeface="Calibri"/>
                <a:cs typeface="Calibri"/>
                <a:sym typeface="Calibri"/>
              </a:rPr>
              <a:t>SDA-AIE-212 · Computer Vision Systems Development</a:t>
            </a:r>
            <a:endParaRPr b="0" i="0" sz="800" u="none" cap="none" strike="noStrike">
              <a:solidFill>
                <a:schemeClr val="dk1"/>
              </a:solidFill>
              <a:latin typeface="Calibri"/>
              <a:ea typeface="Calibri"/>
              <a:cs typeface="Calibri"/>
              <a:sym typeface="Calibri"/>
            </a:endParaRPr>
          </a:p>
        </p:txBody>
      </p:sp>
      <p:sp>
        <p:nvSpPr>
          <p:cNvPr id="2679" name="Google Shape;2679;p96"/>
          <p:cNvSpPr/>
          <p:nvPr/>
        </p:nvSpPr>
        <p:spPr>
          <a:xfrm>
            <a:off x="11292840" y="6528816"/>
            <a:ext cx="411480" cy="219456"/>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8A96A6"/>
              </a:buClr>
              <a:buSzPts val="900"/>
              <a:buFont typeface="Calibri"/>
              <a:buNone/>
            </a:pPr>
            <a:r>
              <a:rPr b="0" i="0" lang="en-US" sz="900" u="none" cap="none" strike="noStrike">
                <a:solidFill>
                  <a:srgbClr val="8A96A6"/>
                </a:solidFill>
                <a:latin typeface="Calibri"/>
                <a:ea typeface="Calibri"/>
                <a:cs typeface="Calibri"/>
                <a:sym typeface="Calibri"/>
              </a:rPr>
              <a:t>96</a:t>
            </a:r>
            <a:endParaRPr b="0" i="0" sz="900" u="none" cap="none" strike="noStrike">
              <a:solidFill>
                <a:schemeClr val="dk1"/>
              </a:solidFill>
              <a:latin typeface="Calibri"/>
              <a:ea typeface="Calibri"/>
              <a:cs typeface="Calibri"/>
              <a:sym typeface="Calibri"/>
            </a:endParaRPr>
          </a:p>
        </p:txBody>
      </p:sp>
      <p:graphicFrame>
        <p:nvGraphicFramePr>
          <p:cNvPr id="2680" name="Google Shape;2680;p96"/>
          <p:cNvGraphicFramePr/>
          <p:nvPr/>
        </p:nvGraphicFramePr>
        <p:xfrm>
          <a:off x="502920" y="1389888"/>
          <a:ext cx="3000000" cy="3000000"/>
        </p:xfrm>
        <a:graphic>
          <a:graphicData uri="http://schemas.openxmlformats.org/drawingml/2006/table">
            <a:tbl>
              <a:tblPr>
                <a:noFill/>
                <a:tableStyleId>{F80342BA-3033-44D6-9F91-622DC7A4C435}</a:tableStyleId>
              </a:tblPr>
              <a:tblGrid>
                <a:gridCol w="3746475"/>
                <a:gridCol w="3595550"/>
                <a:gridCol w="3843825"/>
              </a:tblGrid>
              <a:tr h="696250">
                <a:tc>
                  <a:txBody>
                    <a:bodyPr/>
                    <a:lstStyle/>
                    <a:p>
                      <a:pPr indent="0" lvl="0" marL="0" marR="0" rtl="0" algn="l">
                        <a:spcBef>
                          <a:spcPts val="0"/>
                        </a:spcBef>
                        <a:spcAft>
                          <a:spcPts val="0"/>
                        </a:spcAft>
                        <a:buClr>
                          <a:srgbClr val="FFFFFF"/>
                        </a:buClr>
                        <a:buSzPts val="1050"/>
                        <a:buFont typeface="Calibri"/>
                        <a:buNone/>
                      </a:pPr>
                      <a:r>
                        <a:rPr b="1" lang="en-US" sz="1050" u="none" cap="none" strike="noStrike">
                          <a:solidFill>
                            <a:srgbClr val="FFFFFF"/>
                          </a:solidFill>
                          <a:latin typeface="Calibri"/>
                          <a:ea typeface="Calibri"/>
                          <a:cs typeface="Calibri"/>
                          <a:sym typeface="Calibri"/>
                        </a:rPr>
                        <a:t>Mistake</a:t>
                      </a:r>
                      <a:endParaRPr sz="1050" u="none" cap="none" strike="noStrike">
                        <a:latin typeface="Calibri"/>
                        <a:ea typeface="Calibri"/>
                        <a:cs typeface="Calibri"/>
                        <a:sym typeface="Calibri"/>
                      </a:endParaRPr>
                    </a:p>
                  </a:txBody>
                  <a:tcPr marT="64000" marB="64000" marR="64000" marL="64000" anchor="ctr">
                    <a:lnL cap="flat" cmpd="sng" w="9525">
                      <a:solidFill>
                        <a:srgbClr val="D9E2EA"/>
                      </a:solidFill>
                      <a:prstDash val="solid"/>
                      <a:round/>
                      <a:headEnd len="sm" w="sm" type="none"/>
                      <a:tailEnd len="sm" w="sm" type="none"/>
                    </a:lnL>
                    <a:lnR cap="flat" cmpd="sng" w="9525">
                      <a:solidFill>
                        <a:srgbClr val="D9E2EA"/>
                      </a:solidFill>
                      <a:prstDash val="solid"/>
                      <a:round/>
                      <a:headEnd len="sm" w="sm" type="none"/>
                      <a:tailEnd len="sm" w="sm" type="none"/>
                    </a:lnR>
                    <a:lnT cap="flat" cmpd="sng" w="9525">
                      <a:solidFill>
                        <a:srgbClr val="D9E2EA"/>
                      </a:solidFill>
                      <a:prstDash val="solid"/>
                      <a:round/>
                      <a:headEnd len="sm" w="sm" type="none"/>
                      <a:tailEnd len="sm" w="sm" type="none"/>
                    </a:lnT>
                    <a:lnB cap="flat" cmpd="sng" w="9525">
                      <a:solidFill>
                        <a:srgbClr val="D9E2EA"/>
                      </a:solidFill>
                      <a:prstDash val="solid"/>
                      <a:round/>
                      <a:headEnd len="sm" w="sm" type="none"/>
                      <a:tailEnd len="sm" w="sm" type="none"/>
                    </a:lnB>
                    <a:solidFill>
                      <a:srgbClr val="1D2A5C"/>
                    </a:solidFill>
                  </a:tcPr>
                </a:tc>
                <a:tc>
                  <a:txBody>
                    <a:bodyPr/>
                    <a:lstStyle/>
                    <a:p>
                      <a:pPr indent="0" lvl="0" marL="0" marR="0" rtl="0" algn="l">
                        <a:spcBef>
                          <a:spcPts val="0"/>
                        </a:spcBef>
                        <a:spcAft>
                          <a:spcPts val="0"/>
                        </a:spcAft>
                        <a:buClr>
                          <a:srgbClr val="FFFFFF"/>
                        </a:buClr>
                        <a:buSzPts val="1050"/>
                        <a:buFont typeface="Calibri"/>
                        <a:buNone/>
                      </a:pPr>
                      <a:r>
                        <a:rPr b="1" lang="en-US" sz="1050" u="none" cap="none" strike="noStrike">
                          <a:solidFill>
                            <a:srgbClr val="FFFFFF"/>
                          </a:solidFill>
                          <a:latin typeface="Calibri"/>
                          <a:ea typeface="Calibri"/>
                          <a:cs typeface="Calibri"/>
                          <a:sym typeface="Calibri"/>
                        </a:rPr>
                        <a:t>Consequence</a:t>
                      </a:r>
                      <a:endParaRPr sz="1050" u="none" cap="none" strike="noStrike">
                        <a:latin typeface="Calibri"/>
                        <a:ea typeface="Calibri"/>
                        <a:cs typeface="Calibri"/>
                        <a:sym typeface="Calibri"/>
                      </a:endParaRPr>
                    </a:p>
                  </a:txBody>
                  <a:tcPr marT="64000" marB="64000" marR="64000" marL="64000" anchor="ctr">
                    <a:lnL cap="flat" cmpd="sng" w="9525">
                      <a:solidFill>
                        <a:srgbClr val="D9E2EA"/>
                      </a:solidFill>
                      <a:prstDash val="solid"/>
                      <a:round/>
                      <a:headEnd len="sm" w="sm" type="none"/>
                      <a:tailEnd len="sm" w="sm" type="none"/>
                    </a:lnL>
                    <a:lnR cap="flat" cmpd="sng" w="9525">
                      <a:solidFill>
                        <a:srgbClr val="D9E2EA"/>
                      </a:solidFill>
                      <a:prstDash val="solid"/>
                      <a:round/>
                      <a:headEnd len="sm" w="sm" type="none"/>
                      <a:tailEnd len="sm" w="sm" type="none"/>
                    </a:lnR>
                    <a:lnT cap="flat" cmpd="sng" w="9525">
                      <a:solidFill>
                        <a:srgbClr val="D9E2EA"/>
                      </a:solidFill>
                      <a:prstDash val="solid"/>
                      <a:round/>
                      <a:headEnd len="sm" w="sm" type="none"/>
                      <a:tailEnd len="sm" w="sm" type="none"/>
                    </a:lnT>
                    <a:lnB cap="flat" cmpd="sng" w="9525">
                      <a:solidFill>
                        <a:srgbClr val="D9E2EA"/>
                      </a:solidFill>
                      <a:prstDash val="solid"/>
                      <a:round/>
                      <a:headEnd len="sm" w="sm" type="none"/>
                      <a:tailEnd len="sm" w="sm" type="none"/>
                    </a:lnB>
                    <a:solidFill>
                      <a:srgbClr val="1D2A5C"/>
                    </a:solidFill>
                  </a:tcPr>
                </a:tc>
                <a:tc>
                  <a:txBody>
                    <a:bodyPr/>
                    <a:lstStyle/>
                    <a:p>
                      <a:pPr indent="0" lvl="0" marL="0" marR="0" rtl="0" algn="l">
                        <a:spcBef>
                          <a:spcPts val="0"/>
                        </a:spcBef>
                        <a:spcAft>
                          <a:spcPts val="0"/>
                        </a:spcAft>
                        <a:buClr>
                          <a:srgbClr val="FFFFFF"/>
                        </a:buClr>
                        <a:buSzPts val="1050"/>
                        <a:buFont typeface="Calibri"/>
                        <a:buNone/>
                      </a:pPr>
                      <a:r>
                        <a:rPr b="1" lang="en-US" sz="1050" u="none" cap="none" strike="noStrike">
                          <a:solidFill>
                            <a:srgbClr val="FFFFFF"/>
                          </a:solidFill>
                          <a:latin typeface="Calibri"/>
                          <a:ea typeface="Calibri"/>
                          <a:cs typeface="Calibri"/>
                          <a:sym typeface="Calibri"/>
                        </a:rPr>
                        <a:t>Defence</a:t>
                      </a:r>
                      <a:endParaRPr sz="1050" u="none" cap="none" strike="noStrike">
                        <a:latin typeface="Calibri"/>
                        <a:ea typeface="Calibri"/>
                        <a:cs typeface="Calibri"/>
                        <a:sym typeface="Calibri"/>
                      </a:endParaRPr>
                    </a:p>
                  </a:txBody>
                  <a:tcPr marT="64000" marB="64000" marR="64000" marL="64000" anchor="ctr">
                    <a:lnL cap="flat" cmpd="sng" w="9525">
                      <a:solidFill>
                        <a:srgbClr val="D9E2EA"/>
                      </a:solidFill>
                      <a:prstDash val="solid"/>
                      <a:round/>
                      <a:headEnd len="sm" w="sm" type="none"/>
                      <a:tailEnd len="sm" w="sm" type="none"/>
                    </a:lnL>
                    <a:lnR cap="flat" cmpd="sng" w="9525">
                      <a:solidFill>
                        <a:srgbClr val="D9E2EA"/>
                      </a:solidFill>
                      <a:prstDash val="solid"/>
                      <a:round/>
                      <a:headEnd len="sm" w="sm" type="none"/>
                      <a:tailEnd len="sm" w="sm" type="none"/>
                    </a:lnR>
                    <a:lnT cap="flat" cmpd="sng" w="9525">
                      <a:solidFill>
                        <a:srgbClr val="D9E2EA"/>
                      </a:solidFill>
                      <a:prstDash val="solid"/>
                      <a:round/>
                      <a:headEnd len="sm" w="sm" type="none"/>
                      <a:tailEnd len="sm" w="sm" type="none"/>
                    </a:lnT>
                    <a:lnB cap="flat" cmpd="sng" w="9525">
                      <a:solidFill>
                        <a:srgbClr val="D9E2EA"/>
                      </a:solidFill>
                      <a:prstDash val="solid"/>
                      <a:round/>
                      <a:headEnd len="sm" w="sm" type="none"/>
                      <a:tailEnd len="sm" w="sm" type="none"/>
                    </a:lnB>
                    <a:solidFill>
                      <a:srgbClr val="1D2A5C"/>
                    </a:solidFill>
                  </a:tcPr>
                </a:tc>
              </a:tr>
              <a:tr h="696250">
                <a:tc>
                  <a:txBody>
                    <a:bodyPr/>
                    <a:lstStyle/>
                    <a:p>
                      <a:pPr indent="0" lvl="0" marL="0" marR="0" rtl="0" algn="l">
                        <a:spcBef>
                          <a:spcPts val="0"/>
                        </a:spcBef>
                        <a:spcAft>
                          <a:spcPts val="0"/>
                        </a:spcAft>
                        <a:buClr>
                          <a:srgbClr val="1D2A5C"/>
                        </a:buClr>
                        <a:buSzPts val="1050"/>
                        <a:buFont typeface="Calibri"/>
                        <a:buNone/>
                      </a:pPr>
                      <a:r>
                        <a:rPr b="1" lang="en-US" sz="1050" u="none" cap="none" strike="noStrike">
                          <a:solidFill>
                            <a:srgbClr val="1D2A5C"/>
                          </a:solidFill>
                          <a:latin typeface="Calibri"/>
                          <a:ea typeface="Calibri"/>
                          <a:cs typeface="Calibri"/>
                          <a:sym typeface="Calibri"/>
                        </a:rPr>
                        <a:t>Labelling before the gallery exists</a:t>
                      </a:r>
                      <a:endParaRPr sz="1050" u="none" cap="none" strike="noStrike">
                        <a:latin typeface="Calibri"/>
                        <a:ea typeface="Calibri"/>
                        <a:cs typeface="Calibri"/>
                        <a:sym typeface="Calibri"/>
                      </a:endParaRPr>
                    </a:p>
                  </a:txBody>
                  <a:tcPr marT="64000" marB="64000" marR="64000" marL="64000" anchor="ctr">
                    <a:lnL cap="flat" cmpd="sng" w="9525">
                      <a:solidFill>
                        <a:srgbClr val="D9E2EA"/>
                      </a:solidFill>
                      <a:prstDash val="solid"/>
                      <a:round/>
                      <a:headEnd len="sm" w="sm" type="none"/>
                      <a:tailEnd len="sm" w="sm" type="none"/>
                    </a:lnL>
                    <a:lnR cap="flat" cmpd="sng" w="9525">
                      <a:solidFill>
                        <a:srgbClr val="D9E2EA"/>
                      </a:solidFill>
                      <a:prstDash val="solid"/>
                      <a:round/>
                      <a:headEnd len="sm" w="sm" type="none"/>
                      <a:tailEnd len="sm" w="sm" type="none"/>
                    </a:lnR>
                    <a:lnT cap="flat" cmpd="sng" w="9525">
                      <a:solidFill>
                        <a:srgbClr val="D9E2EA"/>
                      </a:solidFill>
                      <a:prstDash val="solid"/>
                      <a:round/>
                      <a:headEnd len="sm" w="sm" type="none"/>
                      <a:tailEnd len="sm" w="sm" type="none"/>
                    </a:lnT>
                    <a:lnB cap="flat" cmpd="sng" w="9525">
                      <a:solidFill>
                        <a:srgbClr val="D9E2EA"/>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23293B"/>
                        </a:buClr>
                        <a:buSzPts val="1050"/>
                        <a:buFont typeface="Calibri"/>
                        <a:buNone/>
                      </a:pPr>
                      <a:r>
                        <a:rPr lang="en-US" sz="1050" u="none" cap="none" strike="noStrike">
                          <a:solidFill>
                            <a:srgbClr val="23293B"/>
                          </a:solidFill>
                          <a:latin typeface="Calibri"/>
                          <a:ea typeface="Calibri"/>
                          <a:cs typeface="Calibri"/>
                          <a:sym typeface="Calibri"/>
                        </a:rPr>
                        <a:t>every ambiguous item is a coin flip</a:t>
                      </a:r>
                      <a:endParaRPr sz="1050" u="none" cap="none" strike="noStrike">
                        <a:latin typeface="Calibri"/>
                        <a:ea typeface="Calibri"/>
                        <a:cs typeface="Calibri"/>
                        <a:sym typeface="Calibri"/>
                      </a:endParaRPr>
                    </a:p>
                  </a:txBody>
                  <a:tcPr marT="64000" marB="64000" marR="64000" marL="64000" anchor="ctr">
                    <a:lnL cap="flat" cmpd="sng" w="9525">
                      <a:solidFill>
                        <a:srgbClr val="D9E2EA"/>
                      </a:solidFill>
                      <a:prstDash val="solid"/>
                      <a:round/>
                      <a:headEnd len="sm" w="sm" type="none"/>
                      <a:tailEnd len="sm" w="sm" type="none"/>
                    </a:lnL>
                    <a:lnR cap="flat" cmpd="sng" w="9525">
                      <a:solidFill>
                        <a:srgbClr val="D9E2EA"/>
                      </a:solidFill>
                      <a:prstDash val="solid"/>
                      <a:round/>
                      <a:headEnd len="sm" w="sm" type="none"/>
                      <a:tailEnd len="sm" w="sm" type="none"/>
                    </a:lnR>
                    <a:lnT cap="flat" cmpd="sng" w="9525">
                      <a:solidFill>
                        <a:srgbClr val="D9E2EA"/>
                      </a:solidFill>
                      <a:prstDash val="solid"/>
                      <a:round/>
                      <a:headEnd len="sm" w="sm" type="none"/>
                      <a:tailEnd len="sm" w="sm" type="none"/>
                    </a:lnT>
                    <a:lnB cap="flat" cmpd="sng" w="9525">
                      <a:solidFill>
                        <a:srgbClr val="D9E2EA"/>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23293B"/>
                        </a:buClr>
                        <a:buSzPts val="1050"/>
                        <a:buFont typeface="Calibri"/>
                        <a:buNone/>
                      </a:pPr>
                      <a:r>
                        <a:rPr lang="en-US" sz="1050" u="none" cap="none" strike="noStrike">
                          <a:solidFill>
                            <a:srgbClr val="23293B"/>
                          </a:solidFill>
                          <a:latin typeface="Calibri"/>
                          <a:ea typeface="Calibri"/>
                          <a:cs typeface="Calibri"/>
                          <a:sym typeface="Calibri"/>
                        </a:rPr>
                        <a:t>the gallery costs a day, saves a round</a:t>
                      </a:r>
                      <a:endParaRPr sz="1050" u="none" cap="none" strike="noStrike">
                        <a:latin typeface="Calibri"/>
                        <a:ea typeface="Calibri"/>
                        <a:cs typeface="Calibri"/>
                        <a:sym typeface="Calibri"/>
                      </a:endParaRPr>
                    </a:p>
                  </a:txBody>
                  <a:tcPr marT="64000" marB="64000" marR="64000" marL="64000" anchor="ctr">
                    <a:lnL cap="flat" cmpd="sng" w="9525">
                      <a:solidFill>
                        <a:srgbClr val="D9E2EA"/>
                      </a:solidFill>
                      <a:prstDash val="solid"/>
                      <a:round/>
                      <a:headEnd len="sm" w="sm" type="none"/>
                      <a:tailEnd len="sm" w="sm" type="none"/>
                    </a:lnL>
                    <a:lnR cap="flat" cmpd="sng" w="9525">
                      <a:solidFill>
                        <a:srgbClr val="D9E2EA"/>
                      </a:solidFill>
                      <a:prstDash val="solid"/>
                      <a:round/>
                      <a:headEnd len="sm" w="sm" type="none"/>
                      <a:tailEnd len="sm" w="sm" type="none"/>
                    </a:lnR>
                    <a:lnT cap="flat" cmpd="sng" w="9525">
                      <a:solidFill>
                        <a:srgbClr val="D9E2EA"/>
                      </a:solidFill>
                      <a:prstDash val="solid"/>
                      <a:round/>
                      <a:headEnd len="sm" w="sm" type="none"/>
                      <a:tailEnd len="sm" w="sm" type="none"/>
                    </a:lnT>
                    <a:lnB cap="flat" cmpd="sng" w="9525">
                      <a:solidFill>
                        <a:srgbClr val="D9E2EA"/>
                      </a:solidFill>
                      <a:prstDash val="solid"/>
                      <a:round/>
                      <a:headEnd len="sm" w="sm" type="none"/>
                      <a:tailEnd len="sm" w="sm" type="none"/>
                    </a:lnB>
                    <a:solidFill>
                      <a:srgbClr val="FFFFFF"/>
                    </a:solidFill>
                  </a:tcPr>
                </a:tc>
              </a:tr>
              <a:tr h="696250">
                <a:tc>
                  <a:txBody>
                    <a:bodyPr/>
                    <a:lstStyle/>
                    <a:p>
                      <a:pPr indent="0" lvl="0" marL="0" marR="0" rtl="0" algn="l">
                        <a:spcBef>
                          <a:spcPts val="0"/>
                        </a:spcBef>
                        <a:spcAft>
                          <a:spcPts val="0"/>
                        </a:spcAft>
                        <a:buClr>
                          <a:srgbClr val="1D2A5C"/>
                        </a:buClr>
                        <a:buSzPts val="1050"/>
                        <a:buFont typeface="Calibri"/>
                        <a:buNone/>
                      </a:pPr>
                      <a:r>
                        <a:rPr b="1" lang="en-US" sz="1050" u="none" cap="none" strike="noStrike">
                          <a:solidFill>
                            <a:srgbClr val="1D2A5C"/>
                          </a:solidFill>
                          <a:latin typeface="Calibri"/>
                          <a:ea typeface="Calibri"/>
                          <a:cs typeface="Calibri"/>
                          <a:sym typeface="Calibri"/>
                        </a:rPr>
                        <a:t>Never measuring label quality</a:t>
                      </a:r>
                      <a:endParaRPr sz="1050" u="none" cap="none" strike="noStrike">
                        <a:latin typeface="Calibri"/>
                        <a:ea typeface="Calibri"/>
                        <a:cs typeface="Calibri"/>
                        <a:sym typeface="Calibri"/>
                      </a:endParaRPr>
                    </a:p>
                  </a:txBody>
                  <a:tcPr marT="64000" marB="64000" marR="64000" marL="64000" anchor="ctr">
                    <a:lnL cap="flat" cmpd="sng" w="9525">
                      <a:solidFill>
                        <a:srgbClr val="D9E2EA"/>
                      </a:solidFill>
                      <a:prstDash val="solid"/>
                      <a:round/>
                      <a:headEnd len="sm" w="sm" type="none"/>
                      <a:tailEnd len="sm" w="sm" type="none"/>
                    </a:lnL>
                    <a:lnR cap="flat" cmpd="sng" w="9525">
                      <a:solidFill>
                        <a:srgbClr val="D9E2EA"/>
                      </a:solidFill>
                      <a:prstDash val="solid"/>
                      <a:round/>
                      <a:headEnd len="sm" w="sm" type="none"/>
                      <a:tailEnd len="sm" w="sm" type="none"/>
                    </a:lnR>
                    <a:lnT cap="flat" cmpd="sng" w="9525">
                      <a:solidFill>
                        <a:srgbClr val="D9E2EA"/>
                      </a:solidFill>
                      <a:prstDash val="solid"/>
                      <a:round/>
                      <a:headEnd len="sm" w="sm" type="none"/>
                      <a:tailEnd len="sm" w="sm" type="none"/>
                    </a:lnT>
                    <a:lnB cap="flat" cmpd="sng" w="9525">
                      <a:solidFill>
                        <a:srgbClr val="D9E2EA"/>
                      </a:solidFill>
                      <a:prstDash val="solid"/>
                      <a:round/>
                      <a:headEnd len="sm" w="sm" type="none"/>
                      <a:tailEnd len="sm" w="sm" type="none"/>
                    </a:lnB>
                    <a:solidFill>
                      <a:srgbClr val="F2F6F9"/>
                    </a:solidFill>
                  </a:tcPr>
                </a:tc>
                <a:tc>
                  <a:txBody>
                    <a:bodyPr/>
                    <a:lstStyle/>
                    <a:p>
                      <a:pPr indent="0" lvl="0" marL="0" marR="0" rtl="0" algn="l">
                        <a:spcBef>
                          <a:spcPts val="0"/>
                        </a:spcBef>
                        <a:spcAft>
                          <a:spcPts val="0"/>
                        </a:spcAft>
                        <a:buClr>
                          <a:srgbClr val="23293B"/>
                        </a:buClr>
                        <a:buSzPts val="1050"/>
                        <a:buFont typeface="Calibri"/>
                        <a:buNone/>
                      </a:pPr>
                      <a:r>
                        <a:rPr lang="en-US" sz="1050" u="none" cap="none" strike="noStrike">
                          <a:solidFill>
                            <a:srgbClr val="23293B"/>
                          </a:solidFill>
                          <a:latin typeface="Calibri"/>
                          <a:ea typeface="Calibri"/>
                          <a:cs typeface="Calibri"/>
                          <a:sym typeface="Calibri"/>
                        </a:rPr>
                        <a:t>model blamed for beating kappa 0.72</a:t>
                      </a:r>
                      <a:endParaRPr sz="1050" u="none" cap="none" strike="noStrike">
                        <a:latin typeface="Calibri"/>
                        <a:ea typeface="Calibri"/>
                        <a:cs typeface="Calibri"/>
                        <a:sym typeface="Calibri"/>
                      </a:endParaRPr>
                    </a:p>
                  </a:txBody>
                  <a:tcPr marT="64000" marB="64000" marR="64000" marL="64000" anchor="ctr">
                    <a:lnL cap="flat" cmpd="sng" w="9525">
                      <a:solidFill>
                        <a:srgbClr val="D9E2EA"/>
                      </a:solidFill>
                      <a:prstDash val="solid"/>
                      <a:round/>
                      <a:headEnd len="sm" w="sm" type="none"/>
                      <a:tailEnd len="sm" w="sm" type="none"/>
                    </a:lnL>
                    <a:lnR cap="flat" cmpd="sng" w="9525">
                      <a:solidFill>
                        <a:srgbClr val="D9E2EA"/>
                      </a:solidFill>
                      <a:prstDash val="solid"/>
                      <a:round/>
                      <a:headEnd len="sm" w="sm" type="none"/>
                      <a:tailEnd len="sm" w="sm" type="none"/>
                    </a:lnR>
                    <a:lnT cap="flat" cmpd="sng" w="9525">
                      <a:solidFill>
                        <a:srgbClr val="D9E2EA"/>
                      </a:solidFill>
                      <a:prstDash val="solid"/>
                      <a:round/>
                      <a:headEnd len="sm" w="sm" type="none"/>
                      <a:tailEnd len="sm" w="sm" type="none"/>
                    </a:lnT>
                    <a:lnB cap="flat" cmpd="sng" w="9525">
                      <a:solidFill>
                        <a:srgbClr val="D9E2EA"/>
                      </a:solidFill>
                      <a:prstDash val="solid"/>
                      <a:round/>
                      <a:headEnd len="sm" w="sm" type="none"/>
                      <a:tailEnd len="sm" w="sm" type="none"/>
                    </a:lnB>
                    <a:solidFill>
                      <a:srgbClr val="F2F6F9"/>
                    </a:solidFill>
                  </a:tcPr>
                </a:tc>
                <a:tc>
                  <a:txBody>
                    <a:bodyPr/>
                    <a:lstStyle/>
                    <a:p>
                      <a:pPr indent="0" lvl="0" marL="0" marR="0" rtl="0" algn="l">
                        <a:spcBef>
                          <a:spcPts val="0"/>
                        </a:spcBef>
                        <a:spcAft>
                          <a:spcPts val="0"/>
                        </a:spcAft>
                        <a:buClr>
                          <a:srgbClr val="23293B"/>
                        </a:buClr>
                        <a:buSzPts val="1050"/>
                        <a:buFont typeface="Calibri"/>
                        <a:buNone/>
                      </a:pPr>
                      <a:r>
                        <a:rPr lang="en-US" sz="1050" u="none" cap="none" strike="noStrike">
                          <a:solidFill>
                            <a:srgbClr val="23293B"/>
                          </a:solidFill>
                          <a:latin typeface="Calibri"/>
                          <a:ea typeface="Calibri"/>
                          <a:cs typeface="Calibri"/>
                          <a:sym typeface="Calibri"/>
                        </a:rPr>
                        <a:t>agreement analysis before ambition</a:t>
                      </a:r>
                      <a:endParaRPr sz="1050" u="none" cap="none" strike="noStrike">
                        <a:latin typeface="Calibri"/>
                        <a:ea typeface="Calibri"/>
                        <a:cs typeface="Calibri"/>
                        <a:sym typeface="Calibri"/>
                      </a:endParaRPr>
                    </a:p>
                  </a:txBody>
                  <a:tcPr marT="64000" marB="64000" marR="64000" marL="64000" anchor="ctr">
                    <a:lnL cap="flat" cmpd="sng" w="9525">
                      <a:solidFill>
                        <a:srgbClr val="D9E2EA"/>
                      </a:solidFill>
                      <a:prstDash val="solid"/>
                      <a:round/>
                      <a:headEnd len="sm" w="sm" type="none"/>
                      <a:tailEnd len="sm" w="sm" type="none"/>
                    </a:lnL>
                    <a:lnR cap="flat" cmpd="sng" w="9525">
                      <a:solidFill>
                        <a:srgbClr val="D9E2EA"/>
                      </a:solidFill>
                      <a:prstDash val="solid"/>
                      <a:round/>
                      <a:headEnd len="sm" w="sm" type="none"/>
                      <a:tailEnd len="sm" w="sm" type="none"/>
                    </a:lnR>
                    <a:lnT cap="flat" cmpd="sng" w="9525">
                      <a:solidFill>
                        <a:srgbClr val="D9E2EA"/>
                      </a:solidFill>
                      <a:prstDash val="solid"/>
                      <a:round/>
                      <a:headEnd len="sm" w="sm" type="none"/>
                      <a:tailEnd len="sm" w="sm" type="none"/>
                    </a:lnT>
                    <a:lnB cap="flat" cmpd="sng" w="9525">
                      <a:solidFill>
                        <a:srgbClr val="D9E2EA"/>
                      </a:solidFill>
                      <a:prstDash val="solid"/>
                      <a:round/>
                      <a:headEnd len="sm" w="sm" type="none"/>
                      <a:tailEnd len="sm" w="sm" type="none"/>
                    </a:lnB>
                    <a:solidFill>
                      <a:srgbClr val="F2F6F9"/>
                    </a:solidFill>
                  </a:tcPr>
                </a:tc>
              </a:tr>
              <a:tr h="696250">
                <a:tc>
                  <a:txBody>
                    <a:bodyPr/>
                    <a:lstStyle/>
                    <a:p>
                      <a:pPr indent="0" lvl="0" marL="0" marR="0" rtl="0" algn="l">
                        <a:spcBef>
                          <a:spcPts val="0"/>
                        </a:spcBef>
                        <a:spcAft>
                          <a:spcPts val="0"/>
                        </a:spcAft>
                        <a:buClr>
                          <a:srgbClr val="1D2A5C"/>
                        </a:buClr>
                        <a:buSzPts val="1050"/>
                        <a:buFont typeface="Calibri"/>
                        <a:buNone/>
                      </a:pPr>
                      <a:r>
                        <a:rPr b="1" lang="en-US" sz="1050" u="none" cap="none" strike="noStrike">
                          <a:solidFill>
                            <a:srgbClr val="1D2A5C"/>
                          </a:solidFill>
                          <a:latin typeface="Calibri"/>
                          <a:ea typeface="Calibri"/>
                          <a:cs typeface="Calibri"/>
                          <a:sym typeface="Calibri"/>
                        </a:rPr>
                        <a:t>Pre-labelling unmonitored</a:t>
                      </a:r>
                      <a:endParaRPr sz="1050" u="none" cap="none" strike="noStrike">
                        <a:latin typeface="Calibri"/>
                        <a:ea typeface="Calibri"/>
                        <a:cs typeface="Calibri"/>
                        <a:sym typeface="Calibri"/>
                      </a:endParaRPr>
                    </a:p>
                  </a:txBody>
                  <a:tcPr marT="64000" marB="64000" marR="64000" marL="64000" anchor="ctr">
                    <a:lnL cap="flat" cmpd="sng" w="9525">
                      <a:solidFill>
                        <a:srgbClr val="D9E2EA"/>
                      </a:solidFill>
                      <a:prstDash val="solid"/>
                      <a:round/>
                      <a:headEnd len="sm" w="sm" type="none"/>
                      <a:tailEnd len="sm" w="sm" type="none"/>
                    </a:lnL>
                    <a:lnR cap="flat" cmpd="sng" w="9525">
                      <a:solidFill>
                        <a:srgbClr val="D9E2EA"/>
                      </a:solidFill>
                      <a:prstDash val="solid"/>
                      <a:round/>
                      <a:headEnd len="sm" w="sm" type="none"/>
                      <a:tailEnd len="sm" w="sm" type="none"/>
                    </a:lnR>
                    <a:lnT cap="flat" cmpd="sng" w="9525">
                      <a:solidFill>
                        <a:srgbClr val="D9E2EA"/>
                      </a:solidFill>
                      <a:prstDash val="solid"/>
                      <a:round/>
                      <a:headEnd len="sm" w="sm" type="none"/>
                      <a:tailEnd len="sm" w="sm" type="none"/>
                    </a:lnT>
                    <a:lnB cap="flat" cmpd="sng" w="9525">
                      <a:solidFill>
                        <a:srgbClr val="D9E2EA"/>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23293B"/>
                        </a:buClr>
                        <a:buSzPts val="1050"/>
                        <a:buFont typeface="Calibri"/>
                        <a:buNone/>
                      </a:pPr>
                      <a:r>
                        <a:rPr lang="en-US" sz="1050" u="none" cap="none" strike="noStrike">
                          <a:solidFill>
                            <a:srgbClr val="23293B"/>
                          </a:solidFill>
                          <a:latin typeface="Calibri"/>
                          <a:ea typeface="Calibri"/>
                          <a:cs typeface="Calibri"/>
                          <a:sym typeface="Calibri"/>
                        </a:rPr>
                        <a:t>model errors laundered into truth</a:t>
                      </a:r>
                      <a:endParaRPr sz="1050" u="none" cap="none" strike="noStrike">
                        <a:latin typeface="Calibri"/>
                        <a:ea typeface="Calibri"/>
                        <a:cs typeface="Calibri"/>
                        <a:sym typeface="Calibri"/>
                      </a:endParaRPr>
                    </a:p>
                  </a:txBody>
                  <a:tcPr marT="64000" marB="64000" marR="64000" marL="64000" anchor="ctr">
                    <a:lnL cap="flat" cmpd="sng" w="9525">
                      <a:solidFill>
                        <a:srgbClr val="D9E2EA"/>
                      </a:solidFill>
                      <a:prstDash val="solid"/>
                      <a:round/>
                      <a:headEnd len="sm" w="sm" type="none"/>
                      <a:tailEnd len="sm" w="sm" type="none"/>
                    </a:lnL>
                    <a:lnR cap="flat" cmpd="sng" w="9525">
                      <a:solidFill>
                        <a:srgbClr val="D9E2EA"/>
                      </a:solidFill>
                      <a:prstDash val="solid"/>
                      <a:round/>
                      <a:headEnd len="sm" w="sm" type="none"/>
                      <a:tailEnd len="sm" w="sm" type="none"/>
                    </a:lnR>
                    <a:lnT cap="flat" cmpd="sng" w="9525">
                      <a:solidFill>
                        <a:srgbClr val="D9E2EA"/>
                      </a:solidFill>
                      <a:prstDash val="solid"/>
                      <a:round/>
                      <a:headEnd len="sm" w="sm" type="none"/>
                      <a:tailEnd len="sm" w="sm" type="none"/>
                    </a:lnT>
                    <a:lnB cap="flat" cmpd="sng" w="9525">
                      <a:solidFill>
                        <a:srgbClr val="D9E2EA"/>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23293B"/>
                        </a:buClr>
                        <a:buSzPts val="1050"/>
                        <a:buFont typeface="Calibri"/>
                        <a:buNone/>
                      </a:pPr>
                      <a:r>
                        <a:rPr lang="en-US" sz="1050" u="none" cap="none" strike="noStrike">
                          <a:solidFill>
                            <a:srgbClr val="23293B"/>
                          </a:solidFill>
                          <a:latin typeface="Calibri"/>
                          <a:ea typeface="Calibri"/>
                          <a:cs typeface="Calibri"/>
                          <a:sym typeface="Calibri"/>
                        </a:rPr>
                        <a:t>correction-rate monitoring per annotator</a:t>
                      </a:r>
                      <a:endParaRPr sz="1050" u="none" cap="none" strike="noStrike">
                        <a:latin typeface="Calibri"/>
                        <a:ea typeface="Calibri"/>
                        <a:cs typeface="Calibri"/>
                        <a:sym typeface="Calibri"/>
                      </a:endParaRPr>
                    </a:p>
                  </a:txBody>
                  <a:tcPr marT="64000" marB="64000" marR="64000" marL="64000" anchor="ctr">
                    <a:lnL cap="flat" cmpd="sng" w="9525">
                      <a:solidFill>
                        <a:srgbClr val="D9E2EA"/>
                      </a:solidFill>
                      <a:prstDash val="solid"/>
                      <a:round/>
                      <a:headEnd len="sm" w="sm" type="none"/>
                      <a:tailEnd len="sm" w="sm" type="none"/>
                    </a:lnL>
                    <a:lnR cap="flat" cmpd="sng" w="9525">
                      <a:solidFill>
                        <a:srgbClr val="D9E2EA"/>
                      </a:solidFill>
                      <a:prstDash val="solid"/>
                      <a:round/>
                      <a:headEnd len="sm" w="sm" type="none"/>
                      <a:tailEnd len="sm" w="sm" type="none"/>
                    </a:lnR>
                    <a:lnT cap="flat" cmpd="sng" w="9525">
                      <a:solidFill>
                        <a:srgbClr val="D9E2EA"/>
                      </a:solidFill>
                      <a:prstDash val="solid"/>
                      <a:round/>
                      <a:headEnd len="sm" w="sm" type="none"/>
                      <a:tailEnd len="sm" w="sm" type="none"/>
                    </a:lnT>
                    <a:lnB cap="flat" cmpd="sng" w="9525">
                      <a:solidFill>
                        <a:srgbClr val="D9E2EA"/>
                      </a:solidFill>
                      <a:prstDash val="solid"/>
                      <a:round/>
                      <a:headEnd len="sm" w="sm" type="none"/>
                      <a:tailEnd len="sm" w="sm" type="none"/>
                    </a:lnB>
                    <a:solidFill>
                      <a:srgbClr val="FFFFFF"/>
                    </a:solidFill>
                  </a:tcPr>
                </a:tc>
              </a:tr>
              <a:tr h="696250">
                <a:tc>
                  <a:txBody>
                    <a:bodyPr/>
                    <a:lstStyle/>
                    <a:p>
                      <a:pPr indent="0" lvl="0" marL="0" marR="0" rtl="0" algn="l">
                        <a:spcBef>
                          <a:spcPts val="0"/>
                        </a:spcBef>
                        <a:spcAft>
                          <a:spcPts val="0"/>
                        </a:spcAft>
                        <a:buClr>
                          <a:srgbClr val="1D2A5C"/>
                        </a:buClr>
                        <a:buSzPts val="1050"/>
                        <a:buFont typeface="Calibri"/>
                        <a:buNone/>
                      </a:pPr>
                      <a:r>
                        <a:rPr b="1" lang="en-US" sz="1050" u="none" cap="none" strike="noStrike">
                          <a:solidFill>
                            <a:srgbClr val="1D2A5C"/>
                          </a:solidFill>
                          <a:latin typeface="Calibri"/>
                          <a:ea typeface="Calibri"/>
                          <a:cs typeface="Calibri"/>
                          <a:sym typeface="Calibri"/>
                        </a:rPr>
                        <a:t>Active learning on uncertainty alone</a:t>
                      </a:r>
                      <a:endParaRPr sz="1050" u="none" cap="none" strike="noStrike">
                        <a:latin typeface="Calibri"/>
                        <a:ea typeface="Calibri"/>
                        <a:cs typeface="Calibri"/>
                        <a:sym typeface="Calibri"/>
                      </a:endParaRPr>
                    </a:p>
                  </a:txBody>
                  <a:tcPr marT="64000" marB="64000" marR="64000" marL="64000" anchor="ctr">
                    <a:lnL cap="flat" cmpd="sng" w="9525">
                      <a:solidFill>
                        <a:srgbClr val="D9E2EA"/>
                      </a:solidFill>
                      <a:prstDash val="solid"/>
                      <a:round/>
                      <a:headEnd len="sm" w="sm" type="none"/>
                      <a:tailEnd len="sm" w="sm" type="none"/>
                    </a:lnL>
                    <a:lnR cap="flat" cmpd="sng" w="9525">
                      <a:solidFill>
                        <a:srgbClr val="D9E2EA"/>
                      </a:solidFill>
                      <a:prstDash val="solid"/>
                      <a:round/>
                      <a:headEnd len="sm" w="sm" type="none"/>
                      <a:tailEnd len="sm" w="sm" type="none"/>
                    </a:lnR>
                    <a:lnT cap="flat" cmpd="sng" w="9525">
                      <a:solidFill>
                        <a:srgbClr val="D9E2EA"/>
                      </a:solidFill>
                      <a:prstDash val="solid"/>
                      <a:round/>
                      <a:headEnd len="sm" w="sm" type="none"/>
                      <a:tailEnd len="sm" w="sm" type="none"/>
                    </a:lnT>
                    <a:lnB cap="flat" cmpd="sng" w="9525">
                      <a:solidFill>
                        <a:srgbClr val="D9E2EA"/>
                      </a:solidFill>
                      <a:prstDash val="solid"/>
                      <a:round/>
                      <a:headEnd len="sm" w="sm" type="none"/>
                      <a:tailEnd len="sm" w="sm" type="none"/>
                    </a:lnB>
                    <a:solidFill>
                      <a:srgbClr val="F2F6F9"/>
                    </a:solidFill>
                  </a:tcPr>
                </a:tc>
                <a:tc>
                  <a:txBody>
                    <a:bodyPr/>
                    <a:lstStyle/>
                    <a:p>
                      <a:pPr indent="0" lvl="0" marL="0" marR="0" rtl="0" algn="l">
                        <a:spcBef>
                          <a:spcPts val="0"/>
                        </a:spcBef>
                        <a:spcAft>
                          <a:spcPts val="0"/>
                        </a:spcAft>
                        <a:buClr>
                          <a:srgbClr val="23293B"/>
                        </a:buClr>
                        <a:buSzPts val="1050"/>
                        <a:buFont typeface="Calibri"/>
                        <a:buNone/>
                      </a:pPr>
                      <a:r>
                        <a:rPr lang="en-US" sz="1050" u="none" cap="none" strike="noStrike">
                          <a:solidFill>
                            <a:srgbClr val="23293B"/>
                          </a:solidFill>
                          <a:latin typeface="Calibri"/>
                          <a:ea typeface="Calibri"/>
                          <a:cs typeface="Calibri"/>
                          <a:sym typeface="Calibri"/>
                        </a:rPr>
                        <a:t>batch collapses onto one cluster</a:t>
                      </a:r>
                      <a:endParaRPr sz="1050" u="none" cap="none" strike="noStrike">
                        <a:latin typeface="Calibri"/>
                        <a:ea typeface="Calibri"/>
                        <a:cs typeface="Calibri"/>
                        <a:sym typeface="Calibri"/>
                      </a:endParaRPr>
                    </a:p>
                  </a:txBody>
                  <a:tcPr marT="64000" marB="64000" marR="64000" marL="64000" anchor="ctr">
                    <a:lnL cap="flat" cmpd="sng" w="9525">
                      <a:solidFill>
                        <a:srgbClr val="D9E2EA"/>
                      </a:solidFill>
                      <a:prstDash val="solid"/>
                      <a:round/>
                      <a:headEnd len="sm" w="sm" type="none"/>
                      <a:tailEnd len="sm" w="sm" type="none"/>
                    </a:lnL>
                    <a:lnR cap="flat" cmpd="sng" w="9525">
                      <a:solidFill>
                        <a:srgbClr val="D9E2EA"/>
                      </a:solidFill>
                      <a:prstDash val="solid"/>
                      <a:round/>
                      <a:headEnd len="sm" w="sm" type="none"/>
                      <a:tailEnd len="sm" w="sm" type="none"/>
                    </a:lnR>
                    <a:lnT cap="flat" cmpd="sng" w="9525">
                      <a:solidFill>
                        <a:srgbClr val="D9E2EA"/>
                      </a:solidFill>
                      <a:prstDash val="solid"/>
                      <a:round/>
                      <a:headEnd len="sm" w="sm" type="none"/>
                      <a:tailEnd len="sm" w="sm" type="none"/>
                    </a:lnT>
                    <a:lnB cap="flat" cmpd="sng" w="9525">
                      <a:solidFill>
                        <a:srgbClr val="D9E2EA"/>
                      </a:solidFill>
                      <a:prstDash val="solid"/>
                      <a:round/>
                      <a:headEnd len="sm" w="sm" type="none"/>
                      <a:tailEnd len="sm" w="sm" type="none"/>
                    </a:lnB>
                    <a:solidFill>
                      <a:srgbClr val="F2F6F9"/>
                    </a:solidFill>
                  </a:tcPr>
                </a:tc>
                <a:tc>
                  <a:txBody>
                    <a:bodyPr/>
                    <a:lstStyle/>
                    <a:p>
                      <a:pPr indent="0" lvl="0" marL="0" marR="0" rtl="0" algn="l">
                        <a:spcBef>
                          <a:spcPts val="0"/>
                        </a:spcBef>
                        <a:spcAft>
                          <a:spcPts val="0"/>
                        </a:spcAft>
                        <a:buClr>
                          <a:srgbClr val="23293B"/>
                        </a:buClr>
                        <a:buSzPts val="1050"/>
                        <a:buFont typeface="Calibri"/>
                        <a:buNone/>
                      </a:pPr>
                      <a:r>
                        <a:rPr lang="en-US" sz="1050" u="none" cap="none" strike="noStrike">
                          <a:solidFill>
                            <a:srgbClr val="23293B"/>
                          </a:solidFill>
                          <a:latin typeface="Calibri"/>
                          <a:ea typeface="Calibri"/>
                          <a:cs typeface="Calibri"/>
                          <a:sym typeface="Calibri"/>
                        </a:rPr>
                        <a:t>add diversity constraints</a:t>
                      </a:r>
                      <a:endParaRPr sz="1050" u="none" cap="none" strike="noStrike">
                        <a:latin typeface="Calibri"/>
                        <a:ea typeface="Calibri"/>
                        <a:cs typeface="Calibri"/>
                        <a:sym typeface="Calibri"/>
                      </a:endParaRPr>
                    </a:p>
                  </a:txBody>
                  <a:tcPr marT="64000" marB="64000" marR="64000" marL="64000" anchor="ctr">
                    <a:lnL cap="flat" cmpd="sng" w="9525">
                      <a:solidFill>
                        <a:srgbClr val="D9E2EA"/>
                      </a:solidFill>
                      <a:prstDash val="solid"/>
                      <a:round/>
                      <a:headEnd len="sm" w="sm" type="none"/>
                      <a:tailEnd len="sm" w="sm" type="none"/>
                    </a:lnL>
                    <a:lnR cap="flat" cmpd="sng" w="9525">
                      <a:solidFill>
                        <a:srgbClr val="D9E2EA"/>
                      </a:solidFill>
                      <a:prstDash val="solid"/>
                      <a:round/>
                      <a:headEnd len="sm" w="sm" type="none"/>
                      <a:tailEnd len="sm" w="sm" type="none"/>
                    </a:lnR>
                    <a:lnT cap="flat" cmpd="sng" w="9525">
                      <a:solidFill>
                        <a:srgbClr val="D9E2EA"/>
                      </a:solidFill>
                      <a:prstDash val="solid"/>
                      <a:round/>
                      <a:headEnd len="sm" w="sm" type="none"/>
                      <a:tailEnd len="sm" w="sm" type="none"/>
                    </a:lnT>
                    <a:lnB cap="flat" cmpd="sng" w="9525">
                      <a:solidFill>
                        <a:srgbClr val="D9E2EA"/>
                      </a:solidFill>
                      <a:prstDash val="solid"/>
                      <a:round/>
                      <a:headEnd len="sm" w="sm" type="none"/>
                      <a:tailEnd len="sm" w="sm" type="none"/>
                    </a:lnB>
                    <a:solidFill>
                      <a:srgbClr val="F2F6F9"/>
                    </a:solidFill>
                  </a:tcPr>
                </a:tc>
              </a:tr>
              <a:tr h="696250">
                <a:tc>
                  <a:txBody>
                    <a:bodyPr/>
                    <a:lstStyle/>
                    <a:p>
                      <a:pPr indent="0" lvl="0" marL="0" marR="0" rtl="0" algn="l">
                        <a:spcBef>
                          <a:spcPts val="0"/>
                        </a:spcBef>
                        <a:spcAft>
                          <a:spcPts val="0"/>
                        </a:spcAft>
                        <a:buClr>
                          <a:srgbClr val="1D2A5C"/>
                        </a:buClr>
                        <a:buSzPts val="1050"/>
                        <a:buFont typeface="Calibri"/>
                        <a:buNone/>
                      </a:pPr>
                      <a:r>
                        <a:rPr b="1" lang="en-US" sz="1050" u="none" cap="none" strike="noStrike">
                          <a:solidFill>
                            <a:srgbClr val="1D2A5C"/>
                          </a:solidFill>
                          <a:latin typeface="Calibri"/>
                          <a:ea typeface="Calibri"/>
                          <a:cs typeface="Calibri"/>
                          <a:sym typeface="Calibri"/>
                        </a:rPr>
                        <a:t>'Fixing' the frozen test split</a:t>
                      </a:r>
                      <a:endParaRPr sz="1050" u="none" cap="none" strike="noStrike">
                        <a:latin typeface="Calibri"/>
                        <a:ea typeface="Calibri"/>
                        <a:cs typeface="Calibri"/>
                        <a:sym typeface="Calibri"/>
                      </a:endParaRPr>
                    </a:p>
                  </a:txBody>
                  <a:tcPr marT="64000" marB="64000" marR="64000" marL="64000" anchor="ctr">
                    <a:lnL cap="flat" cmpd="sng" w="9525">
                      <a:solidFill>
                        <a:srgbClr val="D9E2EA"/>
                      </a:solidFill>
                      <a:prstDash val="solid"/>
                      <a:round/>
                      <a:headEnd len="sm" w="sm" type="none"/>
                      <a:tailEnd len="sm" w="sm" type="none"/>
                    </a:lnL>
                    <a:lnR cap="flat" cmpd="sng" w="9525">
                      <a:solidFill>
                        <a:srgbClr val="D9E2EA"/>
                      </a:solidFill>
                      <a:prstDash val="solid"/>
                      <a:round/>
                      <a:headEnd len="sm" w="sm" type="none"/>
                      <a:tailEnd len="sm" w="sm" type="none"/>
                    </a:lnR>
                    <a:lnT cap="flat" cmpd="sng" w="9525">
                      <a:solidFill>
                        <a:srgbClr val="D9E2EA"/>
                      </a:solidFill>
                      <a:prstDash val="solid"/>
                      <a:round/>
                      <a:headEnd len="sm" w="sm" type="none"/>
                      <a:tailEnd len="sm" w="sm" type="none"/>
                    </a:lnT>
                    <a:lnB cap="flat" cmpd="sng" w="9525">
                      <a:solidFill>
                        <a:srgbClr val="D9E2EA"/>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23293B"/>
                        </a:buClr>
                        <a:buSzPts val="1050"/>
                        <a:buFont typeface="Calibri"/>
                        <a:buNone/>
                      </a:pPr>
                      <a:r>
                        <a:rPr lang="en-US" sz="1050" u="none" cap="none" strike="noStrike">
                          <a:solidFill>
                            <a:srgbClr val="23293B"/>
                          </a:solidFill>
                          <a:latin typeface="Calibri"/>
                          <a:ea typeface="Calibri"/>
                          <a:cs typeface="Calibri"/>
                          <a:sym typeface="Calibri"/>
                        </a:rPr>
                        <a:t>every historical comparison dies</a:t>
                      </a:r>
                      <a:endParaRPr sz="1050" u="none" cap="none" strike="noStrike">
                        <a:latin typeface="Calibri"/>
                        <a:ea typeface="Calibri"/>
                        <a:cs typeface="Calibri"/>
                        <a:sym typeface="Calibri"/>
                      </a:endParaRPr>
                    </a:p>
                  </a:txBody>
                  <a:tcPr marT="64000" marB="64000" marR="64000" marL="64000" anchor="ctr">
                    <a:lnL cap="flat" cmpd="sng" w="9525">
                      <a:solidFill>
                        <a:srgbClr val="D9E2EA"/>
                      </a:solidFill>
                      <a:prstDash val="solid"/>
                      <a:round/>
                      <a:headEnd len="sm" w="sm" type="none"/>
                      <a:tailEnd len="sm" w="sm" type="none"/>
                    </a:lnL>
                    <a:lnR cap="flat" cmpd="sng" w="9525">
                      <a:solidFill>
                        <a:srgbClr val="D9E2EA"/>
                      </a:solidFill>
                      <a:prstDash val="solid"/>
                      <a:round/>
                      <a:headEnd len="sm" w="sm" type="none"/>
                      <a:tailEnd len="sm" w="sm" type="none"/>
                    </a:lnR>
                    <a:lnT cap="flat" cmpd="sng" w="9525">
                      <a:solidFill>
                        <a:srgbClr val="D9E2EA"/>
                      </a:solidFill>
                      <a:prstDash val="solid"/>
                      <a:round/>
                      <a:headEnd len="sm" w="sm" type="none"/>
                      <a:tailEnd len="sm" w="sm" type="none"/>
                    </a:lnT>
                    <a:lnB cap="flat" cmpd="sng" w="9525">
                      <a:solidFill>
                        <a:srgbClr val="D9E2EA"/>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23293B"/>
                        </a:buClr>
                        <a:buSzPts val="1050"/>
                        <a:buFont typeface="Calibri"/>
                        <a:buNone/>
                      </a:pPr>
                      <a:r>
                        <a:rPr lang="en-US" sz="1050" u="none" cap="none" strike="noStrike">
                          <a:solidFill>
                            <a:srgbClr val="23293B"/>
                          </a:solidFill>
                          <a:latin typeface="Calibri"/>
                          <a:ea typeface="Calibri"/>
                          <a:cs typeface="Calibri"/>
                          <a:sym typeface="Calibri"/>
                        </a:rPr>
                        <a:t>additions only, flagged in changelog</a:t>
                      </a:r>
                      <a:endParaRPr sz="1050" u="none" cap="none" strike="noStrike">
                        <a:latin typeface="Calibri"/>
                        <a:ea typeface="Calibri"/>
                        <a:cs typeface="Calibri"/>
                        <a:sym typeface="Calibri"/>
                      </a:endParaRPr>
                    </a:p>
                  </a:txBody>
                  <a:tcPr marT="64000" marB="64000" marR="64000" marL="64000" anchor="ctr">
                    <a:lnL cap="flat" cmpd="sng" w="9525">
                      <a:solidFill>
                        <a:srgbClr val="D9E2EA"/>
                      </a:solidFill>
                      <a:prstDash val="solid"/>
                      <a:round/>
                      <a:headEnd len="sm" w="sm" type="none"/>
                      <a:tailEnd len="sm" w="sm" type="none"/>
                    </a:lnL>
                    <a:lnR cap="flat" cmpd="sng" w="9525">
                      <a:solidFill>
                        <a:srgbClr val="D9E2EA"/>
                      </a:solidFill>
                      <a:prstDash val="solid"/>
                      <a:round/>
                      <a:headEnd len="sm" w="sm" type="none"/>
                      <a:tailEnd len="sm" w="sm" type="none"/>
                    </a:lnR>
                    <a:lnT cap="flat" cmpd="sng" w="9525">
                      <a:solidFill>
                        <a:srgbClr val="D9E2EA"/>
                      </a:solidFill>
                      <a:prstDash val="solid"/>
                      <a:round/>
                      <a:headEnd len="sm" w="sm" type="none"/>
                      <a:tailEnd len="sm" w="sm" type="none"/>
                    </a:lnT>
                    <a:lnB cap="flat" cmpd="sng" w="9525">
                      <a:solidFill>
                        <a:srgbClr val="D9E2EA"/>
                      </a:solidFill>
                      <a:prstDash val="solid"/>
                      <a:round/>
                      <a:headEnd len="sm" w="sm" type="none"/>
                      <a:tailEnd len="sm" w="sm" type="none"/>
                    </a:lnB>
                    <a:solidFill>
                      <a:srgbClr val="FFFFFF"/>
                    </a:solidFill>
                  </a:tcPr>
                </a:tc>
              </a:tr>
              <a:tr h="696250">
                <a:tc>
                  <a:txBody>
                    <a:bodyPr/>
                    <a:lstStyle/>
                    <a:p>
                      <a:pPr indent="0" lvl="0" marL="0" marR="0" rtl="0" algn="l">
                        <a:spcBef>
                          <a:spcPts val="0"/>
                        </a:spcBef>
                        <a:spcAft>
                          <a:spcPts val="0"/>
                        </a:spcAft>
                        <a:buClr>
                          <a:srgbClr val="1D2A5C"/>
                        </a:buClr>
                        <a:buSzPts val="1050"/>
                        <a:buFont typeface="Calibri"/>
                        <a:buNone/>
                      </a:pPr>
                      <a:r>
                        <a:rPr b="1" lang="en-US" sz="1050" u="none" cap="none" strike="noStrike">
                          <a:solidFill>
                            <a:srgbClr val="1D2A5C"/>
                          </a:solidFill>
                          <a:latin typeface="Calibri"/>
                          <a:ea typeface="Calibri"/>
                          <a:cs typeface="Calibri"/>
                          <a:sym typeface="Calibri"/>
                        </a:rPr>
                        <a:t>Per-label vendor pricing, no QA clause</a:t>
                      </a:r>
                      <a:endParaRPr sz="1050" u="none" cap="none" strike="noStrike">
                        <a:latin typeface="Calibri"/>
                        <a:ea typeface="Calibri"/>
                        <a:cs typeface="Calibri"/>
                        <a:sym typeface="Calibri"/>
                      </a:endParaRPr>
                    </a:p>
                  </a:txBody>
                  <a:tcPr marT="64000" marB="64000" marR="64000" marL="64000" anchor="ctr">
                    <a:lnL cap="flat" cmpd="sng" w="9525">
                      <a:solidFill>
                        <a:srgbClr val="D9E2EA"/>
                      </a:solidFill>
                      <a:prstDash val="solid"/>
                      <a:round/>
                      <a:headEnd len="sm" w="sm" type="none"/>
                      <a:tailEnd len="sm" w="sm" type="none"/>
                    </a:lnL>
                    <a:lnR cap="flat" cmpd="sng" w="9525">
                      <a:solidFill>
                        <a:srgbClr val="D9E2EA"/>
                      </a:solidFill>
                      <a:prstDash val="solid"/>
                      <a:round/>
                      <a:headEnd len="sm" w="sm" type="none"/>
                      <a:tailEnd len="sm" w="sm" type="none"/>
                    </a:lnR>
                    <a:lnT cap="flat" cmpd="sng" w="9525">
                      <a:solidFill>
                        <a:srgbClr val="D9E2EA"/>
                      </a:solidFill>
                      <a:prstDash val="solid"/>
                      <a:round/>
                      <a:headEnd len="sm" w="sm" type="none"/>
                      <a:tailEnd len="sm" w="sm" type="none"/>
                    </a:lnT>
                    <a:lnB cap="flat" cmpd="sng" w="9525">
                      <a:solidFill>
                        <a:srgbClr val="D9E2EA"/>
                      </a:solidFill>
                      <a:prstDash val="solid"/>
                      <a:round/>
                      <a:headEnd len="sm" w="sm" type="none"/>
                      <a:tailEnd len="sm" w="sm" type="none"/>
                    </a:lnB>
                    <a:solidFill>
                      <a:srgbClr val="F2F6F9"/>
                    </a:solidFill>
                  </a:tcPr>
                </a:tc>
                <a:tc>
                  <a:txBody>
                    <a:bodyPr/>
                    <a:lstStyle/>
                    <a:p>
                      <a:pPr indent="0" lvl="0" marL="0" marR="0" rtl="0" algn="l">
                        <a:spcBef>
                          <a:spcPts val="0"/>
                        </a:spcBef>
                        <a:spcAft>
                          <a:spcPts val="0"/>
                        </a:spcAft>
                        <a:buClr>
                          <a:srgbClr val="23293B"/>
                        </a:buClr>
                        <a:buSzPts val="1050"/>
                        <a:buFont typeface="Calibri"/>
                        <a:buNone/>
                      </a:pPr>
                      <a:r>
                        <a:rPr lang="en-US" sz="1050" u="none" cap="none" strike="noStrike">
                          <a:solidFill>
                            <a:srgbClr val="23293B"/>
                          </a:solidFill>
                          <a:latin typeface="Calibri"/>
                          <a:ea typeface="Calibri"/>
                          <a:cs typeface="Calibri"/>
                          <a:sym typeface="Calibri"/>
                        </a:rPr>
                        <a:t>speed at kappa 0.7, costly rework</a:t>
                      </a:r>
                      <a:endParaRPr sz="1050" u="none" cap="none" strike="noStrike">
                        <a:latin typeface="Calibri"/>
                        <a:ea typeface="Calibri"/>
                        <a:cs typeface="Calibri"/>
                        <a:sym typeface="Calibri"/>
                      </a:endParaRPr>
                    </a:p>
                  </a:txBody>
                  <a:tcPr marT="64000" marB="64000" marR="64000" marL="64000" anchor="ctr">
                    <a:lnL cap="flat" cmpd="sng" w="9525">
                      <a:solidFill>
                        <a:srgbClr val="D9E2EA"/>
                      </a:solidFill>
                      <a:prstDash val="solid"/>
                      <a:round/>
                      <a:headEnd len="sm" w="sm" type="none"/>
                      <a:tailEnd len="sm" w="sm" type="none"/>
                    </a:lnL>
                    <a:lnR cap="flat" cmpd="sng" w="9525">
                      <a:solidFill>
                        <a:srgbClr val="D9E2EA"/>
                      </a:solidFill>
                      <a:prstDash val="solid"/>
                      <a:round/>
                      <a:headEnd len="sm" w="sm" type="none"/>
                      <a:tailEnd len="sm" w="sm" type="none"/>
                    </a:lnR>
                    <a:lnT cap="flat" cmpd="sng" w="9525">
                      <a:solidFill>
                        <a:srgbClr val="D9E2EA"/>
                      </a:solidFill>
                      <a:prstDash val="solid"/>
                      <a:round/>
                      <a:headEnd len="sm" w="sm" type="none"/>
                      <a:tailEnd len="sm" w="sm" type="none"/>
                    </a:lnT>
                    <a:lnB cap="flat" cmpd="sng" w="9525">
                      <a:solidFill>
                        <a:srgbClr val="D9E2EA"/>
                      </a:solidFill>
                      <a:prstDash val="solid"/>
                      <a:round/>
                      <a:headEnd len="sm" w="sm" type="none"/>
                      <a:tailEnd len="sm" w="sm" type="none"/>
                    </a:lnB>
                    <a:solidFill>
                      <a:srgbClr val="F2F6F9"/>
                    </a:solidFill>
                  </a:tcPr>
                </a:tc>
                <a:tc>
                  <a:txBody>
                    <a:bodyPr/>
                    <a:lstStyle/>
                    <a:p>
                      <a:pPr indent="0" lvl="0" marL="0" marR="0" rtl="0" algn="l">
                        <a:spcBef>
                          <a:spcPts val="0"/>
                        </a:spcBef>
                        <a:spcAft>
                          <a:spcPts val="0"/>
                        </a:spcAft>
                        <a:buClr>
                          <a:srgbClr val="23293B"/>
                        </a:buClr>
                        <a:buSzPts val="1050"/>
                        <a:buFont typeface="Calibri"/>
                        <a:buNone/>
                      </a:pPr>
                      <a:r>
                        <a:rPr lang="en-US" sz="1050" u="none" cap="none" strike="noStrike">
                          <a:solidFill>
                            <a:srgbClr val="23293B"/>
                          </a:solidFill>
                          <a:latin typeface="Calibri"/>
                          <a:ea typeface="Calibri"/>
                          <a:cs typeface="Calibri"/>
                          <a:sym typeface="Calibri"/>
                        </a:rPr>
                        <a:t>agreement targets in the contract</a:t>
                      </a:r>
                      <a:endParaRPr sz="1050" u="none" cap="none" strike="noStrike">
                        <a:latin typeface="Calibri"/>
                        <a:ea typeface="Calibri"/>
                        <a:cs typeface="Calibri"/>
                        <a:sym typeface="Calibri"/>
                      </a:endParaRPr>
                    </a:p>
                  </a:txBody>
                  <a:tcPr marT="64000" marB="64000" marR="64000" marL="64000" anchor="ctr">
                    <a:lnL cap="flat" cmpd="sng" w="9525">
                      <a:solidFill>
                        <a:srgbClr val="D9E2EA"/>
                      </a:solidFill>
                      <a:prstDash val="solid"/>
                      <a:round/>
                      <a:headEnd len="sm" w="sm" type="none"/>
                      <a:tailEnd len="sm" w="sm" type="none"/>
                    </a:lnL>
                    <a:lnR cap="flat" cmpd="sng" w="9525">
                      <a:solidFill>
                        <a:srgbClr val="D9E2EA"/>
                      </a:solidFill>
                      <a:prstDash val="solid"/>
                      <a:round/>
                      <a:headEnd len="sm" w="sm" type="none"/>
                      <a:tailEnd len="sm" w="sm" type="none"/>
                    </a:lnR>
                    <a:lnT cap="flat" cmpd="sng" w="9525">
                      <a:solidFill>
                        <a:srgbClr val="D9E2EA"/>
                      </a:solidFill>
                      <a:prstDash val="solid"/>
                      <a:round/>
                      <a:headEnd len="sm" w="sm" type="none"/>
                      <a:tailEnd len="sm" w="sm" type="none"/>
                    </a:lnT>
                    <a:lnB cap="flat" cmpd="sng" w="9525">
                      <a:solidFill>
                        <a:srgbClr val="D9E2EA"/>
                      </a:solidFill>
                      <a:prstDash val="solid"/>
                      <a:round/>
                      <a:headEnd len="sm" w="sm" type="none"/>
                      <a:tailEnd len="sm" w="sm" type="none"/>
                    </a:lnB>
                    <a:solidFill>
                      <a:srgbClr val="F2F6F9"/>
                    </a:solidFill>
                  </a:tcPr>
                </a:tc>
              </a:tr>
            </a:tbl>
          </a:graphicData>
        </a:graphic>
      </p:graphicFrame>
    </p:spTree>
  </p:cSld>
  <p:clrMapOvr>
    <a:masterClrMapping/>
  </p:clrMapOvr>
</p:sld>
</file>

<file path=ppt/slides/slide9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685" name="Shape 2685"/>
        <p:cNvGrpSpPr/>
        <p:nvPr/>
      </p:nvGrpSpPr>
      <p:grpSpPr>
        <a:xfrm>
          <a:off x="0" y="0"/>
          <a:ext cx="0" cy="0"/>
          <a:chOff x="0" y="0"/>
          <a:chExt cx="0" cy="0"/>
        </a:xfrm>
      </p:grpSpPr>
      <p:sp>
        <p:nvSpPr>
          <p:cNvPr id="2686" name="Google Shape;2686;p97"/>
          <p:cNvSpPr/>
          <p:nvPr/>
        </p:nvSpPr>
        <p:spPr>
          <a:xfrm>
            <a:off x="502920" y="274320"/>
            <a:ext cx="9646920" cy="56692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D2A5C"/>
              </a:buClr>
              <a:buSzPts val="2700"/>
              <a:buFont typeface="Calibri"/>
              <a:buNone/>
            </a:pPr>
            <a:r>
              <a:rPr b="1" i="0" lang="en-US" sz="2700" u="none" cap="none" strike="noStrike">
                <a:solidFill>
                  <a:srgbClr val="1D2A5C"/>
                </a:solidFill>
                <a:latin typeface="Calibri"/>
                <a:ea typeface="Calibri"/>
                <a:cs typeface="Calibri"/>
                <a:sym typeface="Calibri"/>
              </a:rPr>
              <a:t>Model-Assisted Label Audit</a:t>
            </a:r>
            <a:endParaRPr b="0" i="0" sz="2700" u="none" cap="none" strike="noStrike">
              <a:solidFill>
                <a:schemeClr val="dk1"/>
              </a:solidFill>
              <a:latin typeface="Calibri"/>
              <a:ea typeface="Calibri"/>
              <a:cs typeface="Calibri"/>
              <a:sym typeface="Calibri"/>
            </a:endParaRPr>
          </a:p>
        </p:txBody>
      </p:sp>
      <p:sp>
        <p:nvSpPr>
          <p:cNvPr id="2687" name="Google Shape;2687;p97"/>
          <p:cNvSpPr/>
          <p:nvPr/>
        </p:nvSpPr>
        <p:spPr>
          <a:xfrm>
            <a:off x="502920" y="859536"/>
            <a:ext cx="9646920" cy="31089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F6B7A"/>
              </a:buClr>
              <a:buSzPts val="1250"/>
              <a:buFont typeface="Arial"/>
              <a:buNone/>
            </a:pPr>
            <a:r>
              <a:rPr b="0" i="0" lang="en-US" sz="1250" u="none" cap="none" strike="noStrike">
                <a:solidFill>
                  <a:srgbClr val="5F6B7A"/>
                </a:solidFill>
                <a:latin typeface="Arial"/>
                <a:ea typeface="Arial"/>
                <a:cs typeface="Arial"/>
                <a:sym typeface="Arial"/>
              </a:rPr>
              <a:t>تدقيق التوصيفات بمساعدة النموذج</a:t>
            </a:r>
            <a:endParaRPr b="0" i="0" sz="1250" u="none" cap="none" strike="noStrike">
              <a:solidFill>
                <a:schemeClr val="dk1"/>
              </a:solidFill>
              <a:latin typeface="Calibri"/>
              <a:ea typeface="Calibri"/>
              <a:cs typeface="Calibri"/>
              <a:sym typeface="Calibri"/>
            </a:endParaRPr>
          </a:p>
        </p:txBody>
      </p:sp>
      <p:pic>
        <p:nvPicPr>
          <p:cNvPr descr="/sessions/blissful-determined-ritchie/build/assets/sdaia_logo.png" id="2688" name="Google Shape;2688;p97"/>
          <p:cNvPicPr preferRelativeResize="0"/>
          <p:nvPr/>
        </p:nvPicPr>
        <p:blipFill rotWithShape="1">
          <a:blip r:embed="rId3">
            <a:alphaModFix/>
          </a:blip>
          <a:srcRect b="0" l="0" r="0" t="0"/>
          <a:stretch/>
        </p:blipFill>
        <p:spPr>
          <a:xfrm>
            <a:off x="10625328" y="310896"/>
            <a:ext cx="1078992" cy="264111"/>
          </a:xfrm>
          <a:prstGeom prst="rect">
            <a:avLst/>
          </a:prstGeom>
          <a:noFill/>
          <a:ln>
            <a:noFill/>
          </a:ln>
        </p:spPr>
      </p:pic>
      <p:sp>
        <p:nvSpPr>
          <p:cNvPr id="2689" name="Google Shape;2689;p97"/>
          <p:cNvSpPr/>
          <p:nvPr/>
        </p:nvSpPr>
        <p:spPr>
          <a:xfrm>
            <a:off x="502920" y="6528816"/>
            <a:ext cx="8686800"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A79D"/>
              </a:buClr>
              <a:buSzPts val="800"/>
              <a:buFont typeface="Calibri"/>
              <a:buNone/>
            </a:pPr>
            <a:r>
              <a:rPr b="1" i="0" lang="en-US" sz="800" u="none" cap="none" strike="noStrike">
                <a:solidFill>
                  <a:srgbClr val="00A79D"/>
                </a:solidFill>
                <a:latin typeface="Calibri"/>
                <a:ea typeface="Calibri"/>
                <a:cs typeface="Calibri"/>
                <a:sym typeface="Calibri"/>
              </a:rPr>
              <a:t>MODULE 5 · CODE   </a:t>
            </a:r>
            <a:r>
              <a:rPr b="0" i="0" lang="en-US" sz="800" u="none" cap="none" strike="noStrike">
                <a:solidFill>
                  <a:srgbClr val="8A96A6"/>
                </a:solidFill>
                <a:latin typeface="Calibri"/>
                <a:ea typeface="Calibri"/>
                <a:cs typeface="Calibri"/>
                <a:sym typeface="Calibri"/>
              </a:rPr>
              <a:t>SDA-AIE-212 · Computer Vision Systems Development</a:t>
            </a:r>
            <a:endParaRPr b="0" i="0" sz="800" u="none" cap="none" strike="noStrike">
              <a:solidFill>
                <a:schemeClr val="dk1"/>
              </a:solidFill>
              <a:latin typeface="Calibri"/>
              <a:ea typeface="Calibri"/>
              <a:cs typeface="Calibri"/>
              <a:sym typeface="Calibri"/>
            </a:endParaRPr>
          </a:p>
        </p:txBody>
      </p:sp>
      <p:sp>
        <p:nvSpPr>
          <p:cNvPr id="2690" name="Google Shape;2690;p97"/>
          <p:cNvSpPr/>
          <p:nvPr/>
        </p:nvSpPr>
        <p:spPr>
          <a:xfrm>
            <a:off x="11292840" y="6528816"/>
            <a:ext cx="411480" cy="219456"/>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8A96A6"/>
              </a:buClr>
              <a:buSzPts val="900"/>
              <a:buFont typeface="Calibri"/>
              <a:buNone/>
            </a:pPr>
            <a:r>
              <a:rPr b="0" i="0" lang="en-US" sz="900" u="none" cap="none" strike="noStrike">
                <a:solidFill>
                  <a:srgbClr val="8A96A6"/>
                </a:solidFill>
                <a:latin typeface="Calibri"/>
                <a:ea typeface="Calibri"/>
                <a:cs typeface="Calibri"/>
                <a:sym typeface="Calibri"/>
              </a:rPr>
              <a:t>97</a:t>
            </a:r>
            <a:endParaRPr b="0" i="0" sz="900" u="none" cap="none" strike="noStrike">
              <a:solidFill>
                <a:schemeClr val="dk1"/>
              </a:solidFill>
              <a:latin typeface="Calibri"/>
              <a:ea typeface="Calibri"/>
              <a:cs typeface="Calibri"/>
              <a:sym typeface="Calibri"/>
            </a:endParaRPr>
          </a:p>
        </p:txBody>
      </p:sp>
      <p:sp>
        <p:nvSpPr>
          <p:cNvPr id="2691" name="Google Shape;2691;p97"/>
          <p:cNvSpPr/>
          <p:nvPr/>
        </p:nvSpPr>
        <p:spPr>
          <a:xfrm>
            <a:off x="502920" y="1389888"/>
            <a:ext cx="7178040" cy="4965192"/>
          </a:xfrm>
          <a:prstGeom prst="roundRect">
            <a:avLst>
              <a:gd fmla="val 1842" name="adj"/>
            </a:avLst>
          </a:prstGeom>
          <a:solidFill>
            <a:srgbClr val="0F172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92" name="Google Shape;2692;p97"/>
          <p:cNvSpPr/>
          <p:nvPr/>
        </p:nvSpPr>
        <p:spPr>
          <a:xfrm>
            <a:off x="704088" y="1536192"/>
            <a:ext cx="1914754" cy="292608"/>
          </a:xfrm>
          <a:prstGeom prst="roundRect">
            <a:avLst>
              <a:gd fmla="val 18750" name="adj"/>
            </a:avLst>
          </a:prstGeom>
          <a:solidFill>
            <a:srgbClr val="1E293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93" name="Google Shape;2693;p97"/>
          <p:cNvSpPr/>
          <p:nvPr/>
        </p:nvSpPr>
        <p:spPr>
          <a:xfrm>
            <a:off x="795528" y="1536192"/>
            <a:ext cx="662940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EEAD4"/>
              </a:buClr>
              <a:buSzPts val="950"/>
              <a:buFont typeface="Courier New"/>
              <a:buNone/>
            </a:pPr>
            <a:r>
              <a:rPr b="0" i="0" lang="en-US" sz="950" u="none" cap="none" strike="noStrike">
                <a:solidFill>
                  <a:srgbClr val="5EEAD4"/>
                </a:solidFill>
                <a:latin typeface="Courier New"/>
                <a:ea typeface="Courier New"/>
                <a:cs typeface="Courier New"/>
                <a:sym typeface="Courier New"/>
              </a:rPr>
              <a:t>scripts/audit_labels.py</a:t>
            </a:r>
            <a:endParaRPr b="0" i="0" sz="950" u="none" cap="none" strike="noStrike">
              <a:solidFill>
                <a:schemeClr val="dk1"/>
              </a:solidFill>
              <a:latin typeface="Calibri"/>
              <a:ea typeface="Calibri"/>
              <a:cs typeface="Calibri"/>
              <a:sym typeface="Calibri"/>
            </a:endParaRPr>
          </a:p>
        </p:txBody>
      </p:sp>
      <p:sp>
        <p:nvSpPr>
          <p:cNvPr id="2694" name="Google Shape;2694;p97"/>
          <p:cNvSpPr/>
          <p:nvPr/>
        </p:nvSpPr>
        <p:spPr>
          <a:xfrm>
            <a:off x="758952" y="1920240"/>
            <a:ext cx="6720840" cy="4279392"/>
          </a:xfrm>
          <a:prstGeom prst="rect">
            <a:avLst/>
          </a:prstGeom>
          <a:noFill/>
          <a:ln>
            <a:noFill/>
          </a:ln>
        </p:spPr>
        <p:txBody>
          <a:bodyPr anchorCtr="0" anchor="t" bIns="0" lIns="0" spcFirstLastPara="1" rIns="0" wrap="square" tIns="0">
            <a:noAutofit/>
          </a:bodyPr>
          <a:lstStyle/>
          <a:p>
            <a:pPr indent="0" lvl="0" marL="0" marR="0" rtl="0" algn="l">
              <a:lnSpc>
                <a:spcPct val="128000"/>
              </a:lnSpc>
              <a:spcBef>
                <a:spcPts val="0"/>
              </a:spcBef>
              <a:spcAft>
                <a:spcPts val="0"/>
              </a:spcAft>
              <a:buClr>
                <a:srgbClr val="8FBF71"/>
              </a:buClr>
              <a:buSzPts val="900"/>
              <a:buFont typeface="Courier New"/>
              <a:buNone/>
            </a:pPr>
            <a:r>
              <a:rPr b="0" i="0" lang="en-US" sz="900" u="none" cap="none" strike="noStrike">
                <a:solidFill>
                  <a:srgbClr val="8FBF71"/>
                </a:solidFill>
                <a:latin typeface="Courier New"/>
                <a:ea typeface="Courier New"/>
                <a:cs typeface="Courier New"/>
                <a:sym typeface="Courier New"/>
              </a:rPr>
              <a:t>"""Rank training items by loss under the current model.</a:t>
            </a:r>
            <a:endParaRPr b="0" i="0" sz="900" u="none" cap="none" strike="noStrike">
              <a:solidFill>
                <a:schemeClr val="dk1"/>
              </a:solidFill>
              <a:latin typeface="Calibri"/>
              <a:ea typeface="Calibri"/>
              <a:cs typeface="Calibri"/>
              <a:sym typeface="Calibri"/>
            </a:endParaRPr>
          </a:p>
          <a:p>
            <a:pPr indent="0" lvl="0" marL="0" marR="0" rtl="0" algn="l">
              <a:lnSpc>
                <a:spcPct val="128000"/>
              </a:lnSpc>
              <a:spcBef>
                <a:spcPts val="0"/>
              </a:spcBef>
              <a:spcAft>
                <a:spcPts val="0"/>
              </a:spcAft>
              <a:buClr>
                <a:srgbClr val="DCE6F5"/>
              </a:buClr>
              <a:buSzPts val="900"/>
              <a:buFont typeface="Courier New"/>
              <a:buNone/>
            </a:pPr>
            <a:r>
              <a:rPr b="0" i="0" lang="en-US" sz="900" u="none" cap="none" strike="noStrike">
                <a:solidFill>
                  <a:srgbClr val="DCE6F5"/>
                </a:solidFill>
                <a:latin typeface="Courier New"/>
                <a:ea typeface="Courier New"/>
                <a:cs typeface="Courier New"/>
                <a:sym typeface="Courier New"/>
              </a:rPr>
              <a:t>Label errors concentrate at the top; triage top-N by hand."""</a:t>
            </a:r>
            <a:endParaRPr b="0" i="0" sz="900" u="none" cap="none" strike="noStrike">
              <a:solidFill>
                <a:schemeClr val="dk1"/>
              </a:solidFill>
              <a:latin typeface="Calibri"/>
              <a:ea typeface="Calibri"/>
              <a:cs typeface="Calibri"/>
              <a:sym typeface="Calibri"/>
            </a:endParaRPr>
          </a:p>
          <a:p>
            <a:pPr indent="0" lvl="0" marL="0" marR="0" rtl="0" algn="l">
              <a:lnSpc>
                <a:spcPct val="128000"/>
              </a:lnSpc>
              <a:spcBef>
                <a:spcPts val="0"/>
              </a:spcBef>
              <a:spcAft>
                <a:spcPts val="0"/>
              </a:spcAft>
              <a:buClr>
                <a:srgbClr val="DCE6F5"/>
              </a:buClr>
              <a:buSzPts val="900"/>
              <a:buFont typeface="Courier New"/>
              <a:buNone/>
            </a:pPr>
            <a:r>
              <a:rPr b="0" i="0" lang="en-US" sz="900" u="none" cap="none" strike="noStrike">
                <a:solidFill>
                  <a:srgbClr val="DCE6F5"/>
                </a:solidFill>
                <a:latin typeface="Courier New"/>
                <a:ea typeface="Courier New"/>
                <a:cs typeface="Courier New"/>
                <a:sym typeface="Courier New"/>
              </a:rPr>
              <a:t>import torch</a:t>
            </a:r>
            <a:endParaRPr b="0" i="0" sz="900" u="none" cap="none" strike="noStrike">
              <a:solidFill>
                <a:schemeClr val="dk1"/>
              </a:solidFill>
              <a:latin typeface="Calibri"/>
              <a:ea typeface="Calibri"/>
              <a:cs typeface="Calibri"/>
              <a:sym typeface="Calibri"/>
            </a:endParaRPr>
          </a:p>
          <a:p>
            <a:pPr indent="0" lvl="0" marL="0" marR="0" rtl="0" algn="l">
              <a:lnSpc>
                <a:spcPct val="128000"/>
              </a:lnSpc>
              <a:spcBef>
                <a:spcPts val="0"/>
              </a:spcBef>
              <a:spcAft>
                <a:spcPts val="0"/>
              </a:spcAft>
              <a:buClr>
                <a:srgbClr val="DCE6F5"/>
              </a:buClr>
              <a:buSzPts val="900"/>
              <a:buFont typeface="Courier New"/>
              <a:buNone/>
            </a:pPr>
            <a:r>
              <a:rPr b="0" i="0" lang="en-US" sz="900" u="none" cap="none" strike="noStrike">
                <a:solidFill>
                  <a:srgbClr val="DCE6F5"/>
                </a:solidFill>
                <a:latin typeface="Courier New"/>
                <a:ea typeface="Courier New"/>
                <a:cs typeface="Courier New"/>
                <a:sym typeface="Courier New"/>
              </a:rPr>
              <a:t>from torch import nn</a:t>
            </a:r>
            <a:endParaRPr b="0" i="0" sz="900" u="none" cap="none" strike="noStrike">
              <a:solidFill>
                <a:schemeClr val="dk1"/>
              </a:solidFill>
              <a:latin typeface="Calibri"/>
              <a:ea typeface="Calibri"/>
              <a:cs typeface="Calibri"/>
              <a:sym typeface="Calibri"/>
            </a:endParaRPr>
          </a:p>
          <a:p>
            <a:pPr indent="0" lvl="0" marL="0" marR="0" rtl="0" algn="l">
              <a:lnSpc>
                <a:spcPct val="128000"/>
              </a:lnSpc>
              <a:spcBef>
                <a:spcPts val="0"/>
              </a:spcBef>
              <a:spcAft>
                <a:spcPts val="0"/>
              </a:spcAft>
              <a:buClr>
                <a:srgbClr val="DCE6F5"/>
              </a:buClr>
              <a:buSzPts val="900"/>
              <a:buFont typeface="Courier New"/>
              <a:buNone/>
            </a:pPr>
            <a:r>
              <a:rPr b="0" i="0" lang="en-US" sz="900" u="none" cap="none" strike="noStrike">
                <a:solidFill>
                  <a:srgbClr val="DCE6F5"/>
                </a:solidFill>
                <a:latin typeface="Courier New"/>
                <a:ea typeface="Courier New"/>
                <a:cs typeface="Courier New"/>
                <a:sym typeface="Courier New"/>
              </a:rPr>
              <a:t>from torch.utils.data import DataLoader</a:t>
            </a:r>
            <a:endParaRPr b="0" i="0" sz="900" u="none" cap="none" strike="noStrike">
              <a:solidFill>
                <a:schemeClr val="dk1"/>
              </a:solidFill>
              <a:latin typeface="Calibri"/>
              <a:ea typeface="Calibri"/>
              <a:cs typeface="Calibri"/>
              <a:sym typeface="Calibri"/>
            </a:endParaRPr>
          </a:p>
          <a:p>
            <a:pPr indent="0" lvl="0" marL="0" marR="0" rtl="0" algn="l">
              <a:lnSpc>
                <a:spcPct val="128000"/>
              </a:lnSpc>
              <a:spcBef>
                <a:spcPts val="0"/>
              </a:spcBef>
              <a:spcAft>
                <a:spcPts val="0"/>
              </a:spcAft>
              <a:buClr>
                <a:srgbClr val="DCE6F5"/>
              </a:buClr>
              <a:buSzPts val="900"/>
              <a:buFont typeface="Courier New"/>
              <a:buNone/>
            </a:pPr>
            <a:r>
              <a:rPr b="0" i="0" lang="en-US" sz="900" u="none" cap="none" strike="noStrike">
                <a:solidFill>
                  <a:srgbClr val="DCE6F5"/>
                </a:solidFill>
                <a:latin typeface="Courier New"/>
                <a:ea typeface="Courier New"/>
                <a:cs typeface="Courier New"/>
                <a:sym typeface="Courier New"/>
              </a:rPr>
              <a:t>from tamr_vision.data.dataset import GRADES, DatesQCDataset</a:t>
            </a:r>
            <a:endParaRPr b="0" i="0" sz="900" u="none" cap="none" strike="noStrike">
              <a:solidFill>
                <a:schemeClr val="dk1"/>
              </a:solidFill>
              <a:latin typeface="Calibri"/>
              <a:ea typeface="Calibri"/>
              <a:cs typeface="Calibri"/>
              <a:sym typeface="Calibri"/>
            </a:endParaRPr>
          </a:p>
          <a:p>
            <a:pPr indent="0" lvl="0" marL="0" marR="0" rtl="0" algn="l">
              <a:lnSpc>
                <a:spcPct val="128000"/>
              </a:lnSpc>
              <a:spcBef>
                <a:spcPts val="0"/>
              </a:spcBef>
              <a:spcAft>
                <a:spcPts val="0"/>
              </a:spcAft>
              <a:buClr>
                <a:srgbClr val="DCE6F5"/>
              </a:buClr>
              <a:buSzPts val="900"/>
              <a:buFont typeface="Courier New"/>
              <a:buNone/>
            </a:pPr>
            <a:r>
              <a:rPr b="0" i="0" lang="en-US" sz="900" u="none" cap="none" strike="noStrike">
                <a:solidFill>
                  <a:srgbClr val="DCE6F5"/>
                </a:solidFill>
                <a:latin typeface="Courier New"/>
                <a:ea typeface="Courier New"/>
                <a:cs typeface="Courier New"/>
                <a:sym typeface="Courier New"/>
              </a:rPr>
              <a:t>from tamr_vision.models.classifier import build_model</a:t>
            </a:r>
            <a:endParaRPr b="0" i="0" sz="900" u="none" cap="none" strike="noStrike">
              <a:solidFill>
                <a:schemeClr val="dk1"/>
              </a:solidFill>
              <a:latin typeface="Calibri"/>
              <a:ea typeface="Calibri"/>
              <a:cs typeface="Calibri"/>
              <a:sym typeface="Calibri"/>
            </a:endParaRPr>
          </a:p>
          <a:p>
            <a:pPr indent="0" lvl="0" marL="0" marR="0" rtl="0" algn="l">
              <a:lnSpc>
                <a:spcPct val="128000"/>
              </a:lnSpc>
              <a:spcBef>
                <a:spcPts val="0"/>
              </a:spcBef>
              <a:spcAft>
                <a:spcPts val="0"/>
              </a:spcAft>
              <a:buClr>
                <a:srgbClr val="DCE6F5"/>
              </a:buClr>
              <a:buSzPts val="900"/>
              <a:buFont typeface="Courier New"/>
              <a:buNone/>
            </a:pPr>
            <a:r>
              <a:rPr b="0" i="0" lang="en-US" sz="900" u="none" cap="none" strike="noStrike">
                <a:solidFill>
                  <a:srgbClr val="DCE6F5"/>
                </a:solidFill>
                <a:latin typeface="Courier New"/>
                <a:ea typeface="Courier New"/>
                <a:cs typeface="Courier New"/>
                <a:sym typeface="Courier New"/>
              </a:rPr>
              <a:t> </a:t>
            </a:r>
            <a:endParaRPr b="0" i="0" sz="900" u="none" cap="none" strike="noStrike">
              <a:solidFill>
                <a:schemeClr val="dk1"/>
              </a:solidFill>
              <a:latin typeface="Calibri"/>
              <a:ea typeface="Calibri"/>
              <a:cs typeface="Calibri"/>
              <a:sym typeface="Calibri"/>
            </a:endParaRPr>
          </a:p>
          <a:p>
            <a:pPr indent="0" lvl="0" marL="0" marR="0" rtl="0" algn="l">
              <a:lnSpc>
                <a:spcPct val="128000"/>
              </a:lnSpc>
              <a:spcBef>
                <a:spcPts val="0"/>
              </a:spcBef>
              <a:spcAft>
                <a:spcPts val="0"/>
              </a:spcAft>
              <a:buClr>
                <a:srgbClr val="DCE6F5"/>
              </a:buClr>
              <a:buSzPts val="900"/>
              <a:buFont typeface="Courier New"/>
              <a:buNone/>
            </a:pPr>
            <a:r>
              <a:rPr b="0" i="0" lang="en-US" sz="900" u="none" cap="none" strike="noStrike">
                <a:solidFill>
                  <a:srgbClr val="DCE6F5"/>
                </a:solidFill>
                <a:latin typeface="Courier New"/>
                <a:ea typeface="Courier New"/>
                <a:cs typeface="Courier New"/>
                <a:sym typeface="Courier New"/>
              </a:rPr>
              <a:t>model = build_model()</a:t>
            </a:r>
            <a:endParaRPr b="0" i="0" sz="900" u="none" cap="none" strike="noStrike">
              <a:solidFill>
                <a:schemeClr val="dk1"/>
              </a:solidFill>
              <a:latin typeface="Calibri"/>
              <a:ea typeface="Calibri"/>
              <a:cs typeface="Calibri"/>
              <a:sym typeface="Calibri"/>
            </a:endParaRPr>
          </a:p>
          <a:p>
            <a:pPr indent="0" lvl="0" marL="0" marR="0" rtl="0" algn="l">
              <a:lnSpc>
                <a:spcPct val="128000"/>
              </a:lnSpc>
              <a:spcBef>
                <a:spcPts val="0"/>
              </a:spcBef>
              <a:spcAft>
                <a:spcPts val="0"/>
              </a:spcAft>
              <a:buClr>
                <a:srgbClr val="DCE6F5"/>
              </a:buClr>
              <a:buSzPts val="900"/>
              <a:buFont typeface="Courier New"/>
              <a:buNone/>
            </a:pPr>
            <a:r>
              <a:rPr b="0" i="0" lang="en-US" sz="900" u="none" cap="none" strike="noStrike">
                <a:solidFill>
                  <a:srgbClr val="DCE6F5"/>
                </a:solidFill>
                <a:latin typeface="Courier New"/>
                <a:ea typeface="Courier New"/>
                <a:cs typeface="Courier New"/>
                <a:sym typeface="Courier New"/>
              </a:rPr>
              <a:t>ckpt = torch.load("runs/grade_resnet50/best.pt")</a:t>
            </a:r>
            <a:endParaRPr b="0" i="0" sz="900" u="none" cap="none" strike="noStrike">
              <a:solidFill>
                <a:schemeClr val="dk1"/>
              </a:solidFill>
              <a:latin typeface="Calibri"/>
              <a:ea typeface="Calibri"/>
              <a:cs typeface="Calibri"/>
              <a:sym typeface="Calibri"/>
            </a:endParaRPr>
          </a:p>
          <a:p>
            <a:pPr indent="0" lvl="0" marL="0" marR="0" rtl="0" algn="l">
              <a:lnSpc>
                <a:spcPct val="128000"/>
              </a:lnSpc>
              <a:spcBef>
                <a:spcPts val="0"/>
              </a:spcBef>
              <a:spcAft>
                <a:spcPts val="0"/>
              </a:spcAft>
              <a:buClr>
                <a:srgbClr val="DCE6F5"/>
              </a:buClr>
              <a:buSzPts val="900"/>
              <a:buFont typeface="Courier New"/>
              <a:buNone/>
            </a:pPr>
            <a:r>
              <a:rPr b="0" i="0" lang="en-US" sz="900" u="none" cap="none" strike="noStrike">
                <a:solidFill>
                  <a:srgbClr val="DCE6F5"/>
                </a:solidFill>
                <a:latin typeface="Courier New"/>
                <a:ea typeface="Courier New"/>
                <a:cs typeface="Courier New"/>
                <a:sym typeface="Courier New"/>
              </a:rPr>
              <a:t>model.load_state_dict(ckpt["state_dict"]); model.eval().cuda()</a:t>
            </a:r>
            <a:endParaRPr b="0" i="0" sz="900" u="none" cap="none" strike="noStrike">
              <a:solidFill>
                <a:schemeClr val="dk1"/>
              </a:solidFill>
              <a:latin typeface="Calibri"/>
              <a:ea typeface="Calibri"/>
              <a:cs typeface="Calibri"/>
              <a:sym typeface="Calibri"/>
            </a:endParaRPr>
          </a:p>
          <a:p>
            <a:pPr indent="0" lvl="0" marL="0" marR="0" rtl="0" algn="l">
              <a:lnSpc>
                <a:spcPct val="128000"/>
              </a:lnSpc>
              <a:spcBef>
                <a:spcPts val="0"/>
              </a:spcBef>
              <a:spcAft>
                <a:spcPts val="0"/>
              </a:spcAft>
              <a:buClr>
                <a:srgbClr val="DCE6F5"/>
              </a:buClr>
              <a:buSzPts val="900"/>
              <a:buFont typeface="Courier New"/>
              <a:buNone/>
            </a:pPr>
            <a:r>
              <a:rPr b="0" i="0" lang="en-US" sz="900" u="none" cap="none" strike="noStrike">
                <a:solidFill>
                  <a:srgbClr val="DCE6F5"/>
                </a:solidFill>
                <a:latin typeface="Courier New"/>
                <a:ea typeface="Courier New"/>
                <a:cs typeface="Courier New"/>
                <a:sym typeface="Courier New"/>
              </a:rPr>
              <a:t>ds = DatesQCDataset(root="data/dates-qc", split="train",</a:t>
            </a:r>
            <a:endParaRPr b="0" i="0" sz="900" u="none" cap="none" strike="noStrike">
              <a:solidFill>
                <a:schemeClr val="dk1"/>
              </a:solidFill>
              <a:latin typeface="Calibri"/>
              <a:ea typeface="Calibri"/>
              <a:cs typeface="Calibri"/>
              <a:sym typeface="Calibri"/>
            </a:endParaRPr>
          </a:p>
          <a:p>
            <a:pPr indent="0" lvl="0" marL="0" marR="0" rtl="0" algn="l">
              <a:lnSpc>
                <a:spcPct val="128000"/>
              </a:lnSpc>
              <a:spcBef>
                <a:spcPts val="0"/>
              </a:spcBef>
              <a:spcAft>
                <a:spcPts val="0"/>
              </a:spcAft>
              <a:buClr>
                <a:srgbClr val="DCE6F5"/>
              </a:buClr>
              <a:buSzPts val="900"/>
              <a:buFont typeface="Courier New"/>
              <a:buNone/>
            </a:pPr>
            <a:r>
              <a:rPr b="0" i="0" lang="en-US" sz="900" u="none" cap="none" strike="noStrike">
                <a:solidFill>
                  <a:srgbClr val="DCE6F5"/>
                </a:solidFill>
                <a:latin typeface="Courier New"/>
                <a:ea typeface="Courier New"/>
                <a:cs typeface="Courier New"/>
                <a:sym typeface="Courier New"/>
              </a:rPr>
              <a:t>                    transform=eval_tf())</a:t>
            </a:r>
            <a:endParaRPr b="0" i="0" sz="900" u="none" cap="none" strike="noStrike">
              <a:solidFill>
                <a:schemeClr val="dk1"/>
              </a:solidFill>
              <a:latin typeface="Calibri"/>
              <a:ea typeface="Calibri"/>
              <a:cs typeface="Calibri"/>
              <a:sym typeface="Calibri"/>
            </a:endParaRPr>
          </a:p>
          <a:p>
            <a:pPr indent="0" lvl="0" marL="0" marR="0" rtl="0" algn="l">
              <a:lnSpc>
                <a:spcPct val="128000"/>
              </a:lnSpc>
              <a:spcBef>
                <a:spcPts val="0"/>
              </a:spcBef>
              <a:spcAft>
                <a:spcPts val="0"/>
              </a:spcAft>
              <a:buClr>
                <a:srgbClr val="DCE6F5"/>
              </a:buClr>
              <a:buSzPts val="900"/>
              <a:buFont typeface="Courier New"/>
              <a:buNone/>
            </a:pPr>
            <a:r>
              <a:rPr b="0" i="0" lang="en-US" sz="900" u="none" cap="none" strike="noStrike">
                <a:solidFill>
                  <a:srgbClr val="DCE6F5"/>
                </a:solidFill>
                <a:latin typeface="Courier New"/>
                <a:ea typeface="Courier New"/>
                <a:cs typeface="Courier New"/>
                <a:sym typeface="Courier New"/>
              </a:rPr>
              <a:t>criterion = nn.CrossEntropyLoss(reduction="none")</a:t>
            </a:r>
            <a:endParaRPr b="0" i="0" sz="900" u="none" cap="none" strike="noStrike">
              <a:solidFill>
                <a:schemeClr val="dk1"/>
              </a:solidFill>
              <a:latin typeface="Calibri"/>
              <a:ea typeface="Calibri"/>
              <a:cs typeface="Calibri"/>
              <a:sym typeface="Calibri"/>
            </a:endParaRPr>
          </a:p>
          <a:p>
            <a:pPr indent="0" lvl="0" marL="0" marR="0" rtl="0" algn="l">
              <a:lnSpc>
                <a:spcPct val="128000"/>
              </a:lnSpc>
              <a:spcBef>
                <a:spcPts val="0"/>
              </a:spcBef>
              <a:spcAft>
                <a:spcPts val="0"/>
              </a:spcAft>
              <a:buClr>
                <a:srgbClr val="DCE6F5"/>
              </a:buClr>
              <a:buSzPts val="900"/>
              <a:buFont typeface="Courier New"/>
              <a:buNone/>
            </a:pPr>
            <a:r>
              <a:rPr b="0" i="0" lang="en-US" sz="900" u="none" cap="none" strike="noStrike">
                <a:solidFill>
                  <a:srgbClr val="DCE6F5"/>
                </a:solidFill>
                <a:latin typeface="Courier New"/>
                <a:ea typeface="Courier New"/>
                <a:cs typeface="Courier New"/>
                <a:sym typeface="Courier New"/>
              </a:rPr>
              <a:t> </a:t>
            </a:r>
            <a:endParaRPr b="0" i="0" sz="900" u="none" cap="none" strike="noStrike">
              <a:solidFill>
                <a:schemeClr val="dk1"/>
              </a:solidFill>
              <a:latin typeface="Calibri"/>
              <a:ea typeface="Calibri"/>
              <a:cs typeface="Calibri"/>
              <a:sym typeface="Calibri"/>
            </a:endParaRPr>
          </a:p>
          <a:p>
            <a:pPr indent="0" lvl="0" marL="0" marR="0" rtl="0" algn="l">
              <a:lnSpc>
                <a:spcPct val="128000"/>
              </a:lnSpc>
              <a:spcBef>
                <a:spcPts val="0"/>
              </a:spcBef>
              <a:spcAft>
                <a:spcPts val="0"/>
              </a:spcAft>
              <a:buClr>
                <a:srgbClr val="DCE6F5"/>
              </a:buClr>
              <a:buSzPts val="900"/>
              <a:buFont typeface="Courier New"/>
              <a:buNone/>
            </a:pPr>
            <a:r>
              <a:rPr b="0" i="0" lang="en-US" sz="900" u="none" cap="none" strike="noStrike">
                <a:solidFill>
                  <a:srgbClr val="DCE6F5"/>
                </a:solidFill>
                <a:latin typeface="Courier New"/>
                <a:ea typeface="Courier New"/>
                <a:cs typeface="Courier New"/>
                <a:sym typeface="Courier New"/>
              </a:rPr>
              <a:t>records = []</a:t>
            </a:r>
            <a:endParaRPr b="0" i="0" sz="900" u="none" cap="none" strike="noStrike">
              <a:solidFill>
                <a:schemeClr val="dk1"/>
              </a:solidFill>
              <a:latin typeface="Calibri"/>
              <a:ea typeface="Calibri"/>
              <a:cs typeface="Calibri"/>
              <a:sym typeface="Calibri"/>
            </a:endParaRPr>
          </a:p>
          <a:p>
            <a:pPr indent="0" lvl="0" marL="0" marR="0" rtl="0" algn="l">
              <a:lnSpc>
                <a:spcPct val="128000"/>
              </a:lnSpc>
              <a:spcBef>
                <a:spcPts val="0"/>
              </a:spcBef>
              <a:spcAft>
                <a:spcPts val="0"/>
              </a:spcAft>
              <a:buClr>
                <a:srgbClr val="DCE6F5"/>
              </a:buClr>
              <a:buSzPts val="900"/>
              <a:buFont typeface="Courier New"/>
              <a:buNone/>
            </a:pPr>
            <a:r>
              <a:rPr b="0" i="0" lang="en-US" sz="900" u="none" cap="none" strike="noStrike">
                <a:solidFill>
                  <a:srgbClr val="DCE6F5"/>
                </a:solidFill>
                <a:latin typeface="Courier New"/>
                <a:ea typeface="Courier New"/>
                <a:cs typeface="Courier New"/>
                <a:sym typeface="Courier New"/>
              </a:rPr>
              <a:t>with torch.no_grad():</a:t>
            </a:r>
            <a:endParaRPr b="0" i="0" sz="900" u="none" cap="none" strike="noStrike">
              <a:solidFill>
                <a:schemeClr val="dk1"/>
              </a:solidFill>
              <a:latin typeface="Calibri"/>
              <a:ea typeface="Calibri"/>
              <a:cs typeface="Calibri"/>
              <a:sym typeface="Calibri"/>
            </a:endParaRPr>
          </a:p>
          <a:p>
            <a:pPr indent="0" lvl="0" marL="0" marR="0" rtl="0" algn="l">
              <a:lnSpc>
                <a:spcPct val="128000"/>
              </a:lnSpc>
              <a:spcBef>
                <a:spcPts val="0"/>
              </a:spcBef>
              <a:spcAft>
                <a:spcPts val="0"/>
              </a:spcAft>
              <a:buClr>
                <a:srgbClr val="DCE6F5"/>
              </a:buClr>
              <a:buSzPts val="900"/>
              <a:buFont typeface="Courier New"/>
              <a:buNone/>
            </a:pPr>
            <a:r>
              <a:rPr b="0" i="0" lang="en-US" sz="900" u="none" cap="none" strike="noStrike">
                <a:solidFill>
                  <a:srgbClr val="DCE6F5"/>
                </a:solidFill>
                <a:latin typeface="Courier New"/>
                <a:ea typeface="Courier New"/>
                <a:cs typeface="Courier New"/>
                <a:sym typeface="Courier New"/>
              </a:rPr>
              <a:t>    for imgs, labels in DataLoader(ds, batch_size=64):</a:t>
            </a:r>
            <a:endParaRPr b="0" i="0" sz="900" u="none" cap="none" strike="noStrike">
              <a:solidFill>
                <a:schemeClr val="dk1"/>
              </a:solidFill>
              <a:latin typeface="Calibri"/>
              <a:ea typeface="Calibri"/>
              <a:cs typeface="Calibri"/>
              <a:sym typeface="Calibri"/>
            </a:endParaRPr>
          </a:p>
          <a:p>
            <a:pPr indent="0" lvl="0" marL="0" marR="0" rtl="0" algn="l">
              <a:lnSpc>
                <a:spcPct val="128000"/>
              </a:lnSpc>
              <a:spcBef>
                <a:spcPts val="0"/>
              </a:spcBef>
              <a:spcAft>
                <a:spcPts val="0"/>
              </a:spcAft>
              <a:buClr>
                <a:srgbClr val="DCE6F5"/>
              </a:buClr>
              <a:buSzPts val="900"/>
              <a:buFont typeface="Courier New"/>
              <a:buNone/>
            </a:pPr>
            <a:r>
              <a:rPr b="0" i="0" lang="en-US" sz="900" u="none" cap="none" strike="noStrike">
                <a:solidFill>
                  <a:srgbClr val="DCE6F5"/>
                </a:solidFill>
                <a:latin typeface="Courier New"/>
                <a:ea typeface="Courier New"/>
                <a:cs typeface="Courier New"/>
                <a:sym typeface="Courier New"/>
              </a:rPr>
              <a:t>        logits = model(imgs.cuda())</a:t>
            </a:r>
            <a:endParaRPr b="0" i="0" sz="900" u="none" cap="none" strike="noStrike">
              <a:solidFill>
                <a:schemeClr val="dk1"/>
              </a:solidFill>
              <a:latin typeface="Calibri"/>
              <a:ea typeface="Calibri"/>
              <a:cs typeface="Calibri"/>
              <a:sym typeface="Calibri"/>
            </a:endParaRPr>
          </a:p>
          <a:p>
            <a:pPr indent="0" lvl="0" marL="0" marR="0" rtl="0" algn="l">
              <a:lnSpc>
                <a:spcPct val="128000"/>
              </a:lnSpc>
              <a:spcBef>
                <a:spcPts val="0"/>
              </a:spcBef>
              <a:spcAft>
                <a:spcPts val="0"/>
              </a:spcAft>
              <a:buClr>
                <a:srgbClr val="DCE6F5"/>
              </a:buClr>
              <a:buSzPts val="900"/>
              <a:buFont typeface="Courier New"/>
              <a:buNone/>
            </a:pPr>
            <a:r>
              <a:rPr b="0" i="0" lang="en-US" sz="900" u="none" cap="none" strike="noStrike">
                <a:solidFill>
                  <a:srgbClr val="DCE6F5"/>
                </a:solidFill>
                <a:latin typeface="Courier New"/>
                <a:ea typeface="Courier New"/>
                <a:cs typeface="Courier New"/>
                <a:sym typeface="Courier New"/>
              </a:rPr>
              <a:t>        losses = criterion(logits, labels.cuda())</a:t>
            </a:r>
            <a:endParaRPr b="0" i="0" sz="900" u="none" cap="none" strike="noStrike">
              <a:solidFill>
                <a:schemeClr val="dk1"/>
              </a:solidFill>
              <a:latin typeface="Calibri"/>
              <a:ea typeface="Calibri"/>
              <a:cs typeface="Calibri"/>
              <a:sym typeface="Calibri"/>
            </a:endParaRPr>
          </a:p>
          <a:p>
            <a:pPr indent="0" lvl="0" marL="0" marR="0" rtl="0" algn="l">
              <a:lnSpc>
                <a:spcPct val="128000"/>
              </a:lnSpc>
              <a:spcBef>
                <a:spcPts val="0"/>
              </a:spcBef>
              <a:spcAft>
                <a:spcPts val="0"/>
              </a:spcAft>
              <a:buClr>
                <a:srgbClr val="DCE6F5"/>
              </a:buClr>
              <a:buSzPts val="900"/>
              <a:buFont typeface="Courier New"/>
              <a:buNone/>
            </a:pPr>
            <a:r>
              <a:rPr b="0" i="0" lang="en-US" sz="900" u="none" cap="none" strike="noStrike">
                <a:solidFill>
                  <a:srgbClr val="DCE6F5"/>
                </a:solidFill>
                <a:latin typeface="Courier New"/>
                <a:ea typeface="Courier New"/>
                <a:cs typeface="Courier New"/>
                <a:sym typeface="Courier New"/>
              </a:rPr>
              <a:t>        confs, preds = logits.softmax(1).max(1)</a:t>
            </a:r>
            <a:endParaRPr b="0" i="0" sz="900" u="none" cap="none" strike="noStrike">
              <a:solidFill>
                <a:schemeClr val="dk1"/>
              </a:solidFill>
              <a:latin typeface="Calibri"/>
              <a:ea typeface="Calibri"/>
              <a:cs typeface="Calibri"/>
              <a:sym typeface="Calibri"/>
            </a:endParaRPr>
          </a:p>
          <a:p>
            <a:pPr indent="0" lvl="0" marL="0" marR="0" rtl="0" algn="l">
              <a:lnSpc>
                <a:spcPct val="128000"/>
              </a:lnSpc>
              <a:spcBef>
                <a:spcPts val="0"/>
              </a:spcBef>
              <a:spcAft>
                <a:spcPts val="0"/>
              </a:spcAft>
              <a:buClr>
                <a:srgbClr val="8FBF71"/>
              </a:buClr>
              <a:buSzPts val="900"/>
              <a:buFont typeface="Courier New"/>
              <a:buNone/>
            </a:pPr>
            <a:r>
              <a:rPr b="0" i="0" lang="en-US" sz="900" u="none" cap="none" strike="noStrike">
                <a:solidFill>
                  <a:srgbClr val="8FBF71"/>
                </a:solidFill>
                <a:latin typeface="Courier New"/>
                <a:ea typeface="Courier New"/>
                <a:cs typeface="Courier New"/>
                <a:sym typeface="Courier New"/>
              </a:rPr>
              <a:t>        # ... collect file, label, pred, conf, loss per item</a:t>
            </a:r>
            <a:endParaRPr b="0" i="0" sz="900" u="none" cap="none" strike="noStrike">
              <a:solidFill>
                <a:schemeClr val="dk1"/>
              </a:solidFill>
              <a:latin typeface="Calibri"/>
              <a:ea typeface="Calibri"/>
              <a:cs typeface="Calibri"/>
              <a:sym typeface="Calibri"/>
            </a:endParaRPr>
          </a:p>
          <a:p>
            <a:pPr indent="0" lvl="0" marL="0" marR="0" rtl="0" algn="l">
              <a:lnSpc>
                <a:spcPct val="128000"/>
              </a:lnSpc>
              <a:spcBef>
                <a:spcPts val="0"/>
              </a:spcBef>
              <a:spcAft>
                <a:spcPts val="0"/>
              </a:spcAft>
              <a:buClr>
                <a:srgbClr val="DCE6F5"/>
              </a:buClr>
              <a:buSzPts val="900"/>
              <a:buFont typeface="Courier New"/>
              <a:buNone/>
            </a:pPr>
            <a:r>
              <a:rPr b="0" i="0" lang="en-US" sz="900" u="none" cap="none" strike="noStrike">
                <a:solidFill>
                  <a:srgbClr val="DCE6F5"/>
                </a:solidFill>
                <a:latin typeface="Courier New"/>
                <a:ea typeface="Courier New"/>
                <a:cs typeface="Courier New"/>
                <a:sym typeface="Courier New"/>
              </a:rPr>
              <a:t> </a:t>
            </a:r>
            <a:endParaRPr b="0" i="0" sz="900" u="none" cap="none" strike="noStrike">
              <a:solidFill>
                <a:schemeClr val="dk1"/>
              </a:solidFill>
              <a:latin typeface="Calibri"/>
              <a:ea typeface="Calibri"/>
              <a:cs typeface="Calibri"/>
              <a:sym typeface="Calibri"/>
            </a:endParaRPr>
          </a:p>
          <a:p>
            <a:pPr indent="0" lvl="0" marL="0" marR="0" rtl="0" algn="l">
              <a:lnSpc>
                <a:spcPct val="128000"/>
              </a:lnSpc>
              <a:spcBef>
                <a:spcPts val="0"/>
              </a:spcBef>
              <a:spcAft>
                <a:spcPts val="0"/>
              </a:spcAft>
              <a:buClr>
                <a:srgbClr val="DCE6F5"/>
              </a:buClr>
              <a:buSzPts val="900"/>
              <a:buFont typeface="Courier New"/>
              <a:buNone/>
            </a:pPr>
            <a:r>
              <a:rPr b="0" i="0" lang="en-US" sz="900" u="none" cap="none" strike="noStrike">
                <a:solidFill>
                  <a:srgbClr val="DCE6F5"/>
                </a:solidFill>
                <a:latin typeface="Courier New"/>
                <a:ea typeface="Courier New"/>
                <a:cs typeface="Courier New"/>
                <a:sym typeface="Courier New"/>
              </a:rPr>
              <a:t>records.sort(key=lambda r: -r["loss"])</a:t>
            </a:r>
            <a:endParaRPr b="0" i="0" sz="900" u="none" cap="none" strike="noStrike">
              <a:solidFill>
                <a:schemeClr val="dk1"/>
              </a:solidFill>
              <a:latin typeface="Calibri"/>
              <a:ea typeface="Calibri"/>
              <a:cs typeface="Calibri"/>
              <a:sym typeface="Calibri"/>
            </a:endParaRPr>
          </a:p>
          <a:p>
            <a:pPr indent="0" lvl="0" marL="0" marR="0" rtl="0" algn="l">
              <a:lnSpc>
                <a:spcPct val="128000"/>
              </a:lnSpc>
              <a:spcBef>
                <a:spcPts val="0"/>
              </a:spcBef>
              <a:spcAft>
                <a:spcPts val="0"/>
              </a:spcAft>
              <a:buClr>
                <a:srgbClr val="DCE6F5"/>
              </a:buClr>
              <a:buSzPts val="900"/>
              <a:buFont typeface="Courier New"/>
              <a:buNone/>
            </a:pPr>
            <a:r>
              <a:rPr b="0" i="0" lang="en-US" sz="900" u="none" cap="none" strike="noStrike">
                <a:solidFill>
                  <a:srgbClr val="DCE6F5"/>
                </a:solidFill>
                <a:latin typeface="Courier New"/>
                <a:ea typeface="Courier New"/>
                <a:cs typeface="Courier New"/>
                <a:sym typeface="Courier New"/>
              </a:rPr>
              <a:t>pd.DataFrame(records[:300]).to_csv("reports/audit_top300.csv")</a:t>
            </a:r>
            <a:endParaRPr b="0" i="0" sz="900" u="none" cap="none" strike="noStrike">
              <a:solidFill>
                <a:schemeClr val="dk1"/>
              </a:solidFill>
              <a:latin typeface="Calibri"/>
              <a:ea typeface="Calibri"/>
              <a:cs typeface="Calibri"/>
              <a:sym typeface="Calibri"/>
            </a:endParaRPr>
          </a:p>
        </p:txBody>
      </p:sp>
      <p:sp>
        <p:nvSpPr>
          <p:cNvPr id="2695" name="Google Shape;2695;p97"/>
          <p:cNvSpPr/>
          <p:nvPr/>
        </p:nvSpPr>
        <p:spPr>
          <a:xfrm>
            <a:off x="7973568" y="1389888"/>
            <a:ext cx="3712464" cy="1090422"/>
          </a:xfrm>
          <a:prstGeom prst="roundRect">
            <a:avLst>
              <a:gd fmla="val 5870" name="adj"/>
            </a:avLst>
          </a:prstGeom>
          <a:solidFill>
            <a:srgbClr val="F2F6F9"/>
          </a:solidFill>
          <a:ln cap="flat" cmpd="sng" w="12700">
            <a:solidFill>
              <a:srgbClr val="D9E2E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96" name="Google Shape;2696;p97"/>
          <p:cNvSpPr/>
          <p:nvPr/>
        </p:nvSpPr>
        <p:spPr>
          <a:xfrm>
            <a:off x="8101584" y="1508760"/>
            <a:ext cx="237744" cy="237744"/>
          </a:xfrm>
          <a:prstGeom prst="ellipse">
            <a:avLst/>
          </a:prstGeom>
          <a:solidFill>
            <a:srgbClr val="00A79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97" name="Google Shape;2697;p97"/>
          <p:cNvSpPr/>
          <p:nvPr/>
        </p:nvSpPr>
        <p:spPr>
          <a:xfrm>
            <a:off x="8101584" y="1508760"/>
            <a:ext cx="237744" cy="23774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000"/>
              <a:buFont typeface="Calibri"/>
              <a:buNone/>
            </a:pPr>
            <a:r>
              <a:rPr b="1" i="0" lang="en-US" sz="1000" u="none" cap="none" strike="noStrike">
                <a:solidFill>
                  <a:srgbClr val="FFFFFF"/>
                </a:solidFill>
                <a:latin typeface="Calibri"/>
                <a:ea typeface="Calibri"/>
                <a:cs typeface="Calibri"/>
                <a:sym typeface="Calibri"/>
              </a:rPr>
              <a:t>1</a:t>
            </a:r>
            <a:endParaRPr b="0" i="0" sz="1000" u="none" cap="none" strike="noStrike">
              <a:solidFill>
                <a:schemeClr val="dk1"/>
              </a:solidFill>
              <a:latin typeface="Calibri"/>
              <a:ea typeface="Calibri"/>
              <a:cs typeface="Calibri"/>
              <a:sym typeface="Calibri"/>
            </a:endParaRPr>
          </a:p>
        </p:txBody>
      </p:sp>
      <p:sp>
        <p:nvSpPr>
          <p:cNvPr id="2698" name="Google Shape;2698;p97"/>
          <p:cNvSpPr/>
          <p:nvPr/>
        </p:nvSpPr>
        <p:spPr>
          <a:xfrm>
            <a:off x="8430768" y="1444752"/>
            <a:ext cx="3145536"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D2A5C"/>
              </a:buClr>
              <a:buSzPts val="1150"/>
              <a:buFont typeface="Calibri"/>
              <a:buNone/>
            </a:pPr>
            <a:r>
              <a:rPr b="1" i="0" lang="en-US" sz="1150" u="none" cap="none" strike="noStrike">
                <a:solidFill>
                  <a:srgbClr val="1D2A5C"/>
                </a:solidFill>
                <a:latin typeface="Calibri"/>
                <a:ea typeface="Calibri"/>
                <a:cs typeface="Calibri"/>
                <a:sym typeface="Calibri"/>
              </a:rPr>
              <a:t>Audit the training split</a:t>
            </a:r>
            <a:endParaRPr b="0" i="0" sz="1150" u="none" cap="none" strike="noStrike">
              <a:solidFill>
                <a:schemeClr val="dk1"/>
              </a:solidFill>
              <a:latin typeface="Calibri"/>
              <a:ea typeface="Calibri"/>
              <a:cs typeface="Calibri"/>
              <a:sym typeface="Calibri"/>
            </a:endParaRPr>
          </a:p>
        </p:txBody>
      </p:sp>
      <p:sp>
        <p:nvSpPr>
          <p:cNvPr id="2699" name="Google Shape;2699;p97"/>
          <p:cNvSpPr/>
          <p:nvPr/>
        </p:nvSpPr>
        <p:spPr>
          <a:xfrm>
            <a:off x="8430768" y="1719072"/>
            <a:ext cx="3145536" cy="688086"/>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5F6B7A"/>
              </a:buClr>
              <a:buSzPts val="1000"/>
              <a:buFont typeface="Calibri"/>
              <a:buNone/>
            </a:pPr>
            <a:r>
              <a:rPr b="0" i="0" lang="en-US" sz="1000" u="none" cap="none" strike="noStrike">
                <a:solidFill>
                  <a:srgbClr val="5F6B7A"/>
                </a:solidFill>
                <a:latin typeface="Calibri"/>
                <a:ea typeface="Calibri"/>
                <a:cs typeface="Calibri"/>
                <a:sym typeface="Calibri"/>
              </a:rPr>
              <a:t>Run the model on its own training data; loss ranks likely label errors first.</a:t>
            </a:r>
            <a:endParaRPr b="0" i="0" sz="1000" u="none" cap="none" strike="noStrike">
              <a:solidFill>
                <a:schemeClr val="dk1"/>
              </a:solidFill>
              <a:latin typeface="Calibri"/>
              <a:ea typeface="Calibri"/>
              <a:cs typeface="Calibri"/>
              <a:sym typeface="Calibri"/>
            </a:endParaRPr>
          </a:p>
        </p:txBody>
      </p:sp>
      <p:sp>
        <p:nvSpPr>
          <p:cNvPr id="2700" name="Google Shape;2700;p97"/>
          <p:cNvSpPr/>
          <p:nvPr/>
        </p:nvSpPr>
        <p:spPr>
          <a:xfrm>
            <a:off x="7973568" y="2681478"/>
            <a:ext cx="3712464" cy="1090422"/>
          </a:xfrm>
          <a:prstGeom prst="roundRect">
            <a:avLst>
              <a:gd fmla="val 5870" name="adj"/>
            </a:avLst>
          </a:prstGeom>
          <a:solidFill>
            <a:srgbClr val="F2F6F9"/>
          </a:solidFill>
          <a:ln cap="flat" cmpd="sng" w="12700">
            <a:solidFill>
              <a:srgbClr val="D9E2E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01" name="Google Shape;2701;p97"/>
          <p:cNvSpPr/>
          <p:nvPr/>
        </p:nvSpPr>
        <p:spPr>
          <a:xfrm>
            <a:off x="8101584" y="2800350"/>
            <a:ext cx="237744" cy="237744"/>
          </a:xfrm>
          <a:prstGeom prst="ellipse">
            <a:avLst/>
          </a:prstGeom>
          <a:solidFill>
            <a:srgbClr val="29ABE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02" name="Google Shape;2702;p97"/>
          <p:cNvSpPr/>
          <p:nvPr/>
        </p:nvSpPr>
        <p:spPr>
          <a:xfrm>
            <a:off x="8101584" y="2800350"/>
            <a:ext cx="237744" cy="23774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000"/>
              <a:buFont typeface="Calibri"/>
              <a:buNone/>
            </a:pPr>
            <a:r>
              <a:rPr b="1" i="0" lang="en-US" sz="1000" u="none" cap="none" strike="noStrike">
                <a:solidFill>
                  <a:srgbClr val="FFFFFF"/>
                </a:solidFill>
                <a:latin typeface="Calibri"/>
                <a:ea typeface="Calibri"/>
                <a:cs typeface="Calibri"/>
                <a:sym typeface="Calibri"/>
              </a:rPr>
              <a:t>2</a:t>
            </a:r>
            <a:endParaRPr b="0" i="0" sz="1000" u="none" cap="none" strike="noStrike">
              <a:solidFill>
                <a:schemeClr val="dk1"/>
              </a:solidFill>
              <a:latin typeface="Calibri"/>
              <a:ea typeface="Calibri"/>
              <a:cs typeface="Calibri"/>
              <a:sym typeface="Calibri"/>
            </a:endParaRPr>
          </a:p>
        </p:txBody>
      </p:sp>
      <p:sp>
        <p:nvSpPr>
          <p:cNvPr id="2703" name="Google Shape;2703;p97"/>
          <p:cNvSpPr/>
          <p:nvPr/>
        </p:nvSpPr>
        <p:spPr>
          <a:xfrm>
            <a:off x="8430768" y="2736342"/>
            <a:ext cx="3145536"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D2A5C"/>
              </a:buClr>
              <a:buSzPts val="1150"/>
              <a:buFont typeface="Calibri"/>
              <a:buNone/>
            </a:pPr>
            <a:r>
              <a:rPr b="1" i="0" lang="en-US" sz="1150" u="none" cap="none" strike="noStrike">
                <a:solidFill>
                  <a:srgbClr val="1D2A5C"/>
                </a:solidFill>
                <a:latin typeface="Calibri"/>
                <a:ea typeface="Calibri"/>
                <a:cs typeface="Calibri"/>
                <a:sym typeface="Calibri"/>
              </a:rPr>
              <a:t>reduction="none"</a:t>
            </a:r>
            <a:endParaRPr b="0" i="0" sz="1150" u="none" cap="none" strike="noStrike">
              <a:solidFill>
                <a:schemeClr val="dk1"/>
              </a:solidFill>
              <a:latin typeface="Calibri"/>
              <a:ea typeface="Calibri"/>
              <a:cs typeface="Calibri"/>
              <a:sym typeface="Calibri"/>
            </a:endParaRPr>
          </a:p>
        </p:txBody>
      </p:sp>
      <p:sp>
        <p:nvSpPr>
          <p:cNvPr id="2704" name="Google Shape;2704;p97"/>
          <p:cNvSpPr/>
          <p:nvPr/>
        </p:nvSpPr>
        <p:spPr>
          <a:xfrm>
            <a:off x="8430768" y="3010662"/>
            <a:ext cx="3145536" cy="688086"/>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5F6B7A"/>
              </a:buClr>
              <a:buSzPts val="1000"/>
              <a:buFont typeface="Calibri"/>
              <a:buNone/>
            </a:pPr>
            <a:r>
              <a:rPr b="0" i="0" lang="en-US" sz="1000" u="none" cap="none" strike="noStrike">
                <a:solidFill>
                  <a:srgbClr val="5F6B7A"/>
                </a:solidFill>
                <a:latin typeface="Calibri"/>
                <a:ea typeface="Calibri"/>
                <a:cs typeface="Calibri"/>
                <a:sym typeface="Calibri"/>
              </a:rPr>
              <a:t>Per-item losses are the ranking key — not the batch mean.</a:t>
            </a:r>
            <a:endParaRPr b="0" i="0" sz="1000" u="none" cap="none" strike="noStrike">
              <a:solidFill>
                <a:schemeClr val="dk1"/>
              </a:solidFill>
              <a:latin typeface="Calibri"/>
              <a:ea typeface="Calibri"/>
              <a:cs typeface="Calibri"/>
              <a:sym typeface="Calibri"/>
            </a:endParaRPr>
          </a:p>
        </p:txBody>
      </p:sp>
      <p:sp>
        <p:nvSpPr>
          <p:cNvPr id="2705" name="Google Shape;2705;p97"/>
          <p:cNvSpPr/>
          <p:nvPr/>
        </p:nvSpPr>
        <p:spPr>
          <a:xfrm>
            <a:off x="7973568" y="3973068"/>
            <a:ext cx="3712464" cy="1090422"/>
          </a:xfrm>
          <a:prstGeom prst="roundRect">
            <a:avLst>
              <a:gd fmla="val 5870" name="adj"/>
            </a:avLst>
          </a:prstGeom>
          <a:solidFill>
            <a:srgbClr val="F2F6F9"/>
          </a:solidFill>
          <a:ln cap="flat" cmpd="sng" w="12700">
            <a:solidFill>
              <a:srgbClr val="D9E2E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06" name="Google Shape;2706;p97"/>
          <p:cNvSpPr/>
          <p:nvPr/>
        </p:nvSpPr>
        <p:spPr>
          <a:xfrm>
            <a:off x="8101584" y="4091940"/>
            <a:ext cx="237744" cy="237744"/>
          </a:xfrm>
          <a:prstGeom prst="ellipse">
            <a:avLst/>
          </a:prstGeom>
          <a:solidFill>
            <a:srgbClr val="F5822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07" name="Google Shape;2707;p97"/>
          <p:cNvSpPr/>
          <p:nvPr/>
        </p:nvSpPr>
        <p:spPr>
          <a:xfrm>
            <a:off x="8101584" y="4091940"/>
            <a:ext cx="237744" cy="23774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000"/>
              <a:buFont typeface="Calibri"/>
              <a:buNone/>
            </a:pPr>
            <a:r>
              <a:rPr b="1" i="0" lang="en-US" sz="1000" u="none" cap="none" strike="noStrike">
                <a:solidFill>
                  <a:srgbClr val="FFFFFF"/>
                </a:solidFill>
                <a:latin typeface="Calibri"/>
                <a:ea typeface="Calibri"/>
                <a:cs typeface="Calibri"/>
                <a:sym typeface="Calibri"/>
              </a:rPr>
              <a:t>3</a:t>
            </a:r>
            <a:endParaRPr b="0" i="0" sz="1000" u="none" cap="none" strike="noStrike">
              <a:solidFill>
                <a:schemeClr val="dk1"/>
              </a:solidFill>
              <a:latin typeface="Calibri"/>
              <a:ea typeface="Calibri"/>
              <a:cs typeface="Calibri"/>
              <a:sym typeface="Calibri"/>
            </a:endParaRPr>
          </a:p>
        </p:txBody>
      </p:sp>
      <p:sp>
        <p:nvSpPr>
          <p:cNvPr id="2708" name="Google Shape;2708;p97"/>
          <p:cNvSpPr/>
          <p:nvPr/>
        </p:nvSpPr>
        <p:spPr>
          <a:xfrm>
            <a:off x="8430768" y="4027932"/>
            <a:ext cx="3145536"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D2A5C"/>
              </a:buClr>
              <a:buSzPts val="1150"/>
              <a:buFont typeface="Calibri"/>
              <a:buNone/>
            </a:pPr>
            <a:r>
              <a:rPr b="1" i="0" lang="en-US" sz="1150" u="none" cap="none" strike="noStrike">
                <a:solidFill>
                  <a:srgbClr val="1D2A5C"/>
                </a:solidFill>
                <a:latin typeface="Calibri"/>
                <a:ea typeface="Calibri"/>
                <a:cs typeface="Calibri"/>
                <a:sym typeface="Calibri"/>
              </a:rPr>
              <a:t>Top 300 to the triage sheet</a:t>
            </a:r>
            <a:endParaRPr b="0" i="0" sz="1150" u="none" cap="none" strike="noStrike">
              <a:solidFill>
                <a:schemeClr val="dk1"/>
              </a:solidFill>
              <a:latin typeface="Calibri"/>
              <a:ea typeface="Calibri"/>
              <a:cs typeface="Calibri"/>
              <a:sym typeface="Calibri"/>
            </a:endParaRPr>
          </a:p>
        </p:txBody>
      </p:sp>
      <p:sp>
        <p:nvSpPr>
          <p:cNvPr id="2709" name="Google Shape;2709;p97"/>
          <p:cNvSpPr/>
          <p:nvPr/>
        </p:nvSpPr>
        <p:spPr>
          <a:xfrm>
            <a:off x="8430768" y="4302252"/>
            <a:ext cx="3145536" cy="688086"/>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5F6B7A"/>
              </a:buClr>
              <a:buSzPts val="1000"/>
              <a:buFont typeface="Calibri"/>
              <a:buNone/>
            </a:pPr>
            <a:r>
              <a:rPr b="0" i="0" lang="en-US" sz="1000" u="none" cap="none" strike="noStrike">
                <a:solidFill>
                  <a:srgbClr val="5F6B7A"/>
                </a:solidFill>
                <a:latin typeface="Calibri"/>
                <a:ea typeface="Calibri"/>
                <a:cs typeface="Calibri"/>
                <a:sym typeface="Calibri"/>
              </a:rPr>
              <a:t>Contains ~70% of planted-and-real label errors in the course set.</a:t>
            </a:r>
            <a:endParaRPr b="0" i="0" sz="1000" u="none" cap="none" strike="noStrike">
              <a:solidFill>
                <a:schemeClr val="dk1"/>
              </a:solidFill>
              <a:latin typeface="Calibri"/>
              <a:ea typeface="Calibri"/>
              <a:cs typeface="Calibri"/>
              <a:sym typeface="Calibri"/>
            </a:endParaRPr>
          </a:p>
        </p:txBody>
      </p:sp>
      <p:sp>
        <p:nvSpPr>
          <p:cNvPr id="2710" name="Google Shape;2710;p97"/>
          <p:cNvSpPr/>
          <p:nvPr/>
        </p:nvSpPr>
        <p:spPr>
          <a:xfrm>
            <a:off x="7973568" y="5264658"/>
            <a:ext cx="3712464" cy="1090422"/>
          </a:xfrm>
          <a:prstGeom prst="roundRect">
            <a:avLst>
              <a:gd fmla="val 5870" name="adj"/>
            </a:avLst>
          </a:prstGeom>
          <a:solidFill>
            <a:srgbClr val="F2F6F9"/>
          </a:solidFill>
          <a:ln cap="flat" cmpd="sng" w="12700">
            <a:solidFill>
              <a:srgbClr val="D9E2E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11" name="Google Shape;2711;p97"/>
          <p:cNvSpPr/>
          <p:nvPr/>
        </p:nvSpPr>
        <p:spPr>
          <a:xfrm>
            <a:off x="8101584" y="5383530"/>
            <a:ext cx="237744" cy="237744"/>
          </a:xfrm>
          <a:prstGeom prst="ellipse">
            <a:avLst/>
          </a:prstGeom>
          <a:solidFill>
            <a:srgbClr val="8DC63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12" name="Google Shape;2712;p97"/>
          <p:cNvSpPr/>
          <p:nvPr/>
        </p:nvSpPr>
        <p:spPr>
          <a:xfrm>
            <a:off x="8101584" y="5383530"/>
            <a:ext cx="237744" cy="23774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000"/>
              <a:buFont typeface="Calibri"/>
              <a:buNone/>
            </a:pPr>
            <a:r>
              <a:rPr b="1" i="0" lang="en-US" sz="1000" u="none" cap="none" strike="noStrike">
                <a:solidFill>
                  <a:srgbClr val="FFFFFF"/>
                </a:solidFill>
                <a:latin typeface="Calibri"/>
                <a:ea typeface="Calibri"/>
                <a:cs typeface="Calibri"/>
                <a:sym typeface="Calibri"/>
              </a:rPr>
              <a:t>4</a:t>
            </a:r>
            <a:endParaRPr b="0" i="0" sz="1000" u="none" cap="none" strike="noStrike">
              <a:solidFill>
                <a:schemeClr val="dk1"/>
              </a:solidFill>
              <a:latin typeface="Calibri"/>
              <a:ea typeface="Calibri"/>
              <a:cs typeface="Calibri"/>
              <a:sym typeface="Calibri"/>
            </a:endParaRPr>
          </a:p>
        </p:txBody>
      </p:sp>
      <p:sp>
        <p:nvSpPr>
          <p:cNvPr id="2713" name="Google Shape;2713;p97"/>
          <p:cNvSpPr/>
          <p:nvPr/>
        </p:nvSpPr>
        <p:spPr>
          <a:xfrm>
            <a:off x="8430768" y="5319522"/>
            <a:ext cx="3145536"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D2A5C"/>
              </a:buClr>
              <a:buSzPts val="1150"/>
              <a:buFont typeface="Calibri"/>
              <a:buNone/>
            </a:pPr>
            <a:r>
              <a:rPr b="1" i="0" lang="en-US" sz="1150" u="none" cap="none" strike="noStrike">
                <a:solidFill>
                  <a:srgbClr val="1D2A5C"/>
                </a:solidFill>
                <a:latin typeface="Calibri"/>
                <a:ea typeface="Calibri"/>
                <a:cs typeface="Calibri"/>
                <a:sym typeface="Calibri"/>
              </a:rPr>
              <a:t>Cross-validation is better</a:t>
            </a:r>
            <a:endParaRPr b="0" i="0" sz="1150" u="none" cap="none" strike="noStrike">
              <a:solidFill>
                <a:schemeClr val="dk1"/>
              </a:solidFill>
              <a:latin typeface="Calibri"/>
              <a:ea typeface="Calibri"/>
              <a:cs typeface="Calibri"/>
              <a:sym typeface="Calibri"/>
            </a:endParaRPr>
          </a:p>
        </p:txBody>
      </p:sp>
      <p:sp>
        <p:nvSpPr>
          <p:cNvPr id="2714" name="Google Shape;2714;p97"/>
          <p:cNvSpPr/>
          <p:nvPr/>
        </p:nvSpPr>
        <p:spPr>
          <a:xfrm>
            <a:off x="8430768" y="5593842"/>
            <a:ext cx="3145536" cy="688086"/>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5F6B7A"/>
              </a:buClr>
              <a:buSzPts val="1000"/>
              <a:buFont typeface="Calibri"/>
              <a:buNone/>
            </a:pPr>
            <a:r>
              <a:rPr b="0" i="0" lang="en-US" sz="1000" u="none" cap="none" strike="noStrike">
                <a:solidFill>
                  <a:srgbClr val="5F6B7A"/>
                </a:solidFill>
                <a:latin typeface="Calibri"/>
                <a:ea typeface="Calibri"/>
                <a:cs typeface="Calibri"/>
                <a:sym typeface="Calibri"/>
              </a:rPr>
              <a:t>The cleanlab idea; even in-sample ranking finds the concentrated mass.</a:t>
            </a:r>
            <a:endParaRPr b="0" i="0" sz="1000" u="none" cap="none" strike="noStrike">
              <a:solidFill>
                <a:schemeClr val="dk1"/>
              </a:solidFill>
              <a:latin typeface="Calibri"/>
              <a:ea typeface="Calibri"/>
              <a:cs typeface="Calibri"/>
              <a:sym typeface="Calibri"/>
            </a:endParaRPr>
          </a:p>
        </p:txBody>
      </p:sp>
    </p:spTree>
  </p:cSld>
  <p:clrMapOvr>
    <a:masterClrMapping/>
  </p:clrMapOvr>
</p:sld>
</file>

<file path=ppt/slides/slide9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719" name="Shape 2719"/>
        <p:cNvGrpSpPr/>
        <p:nvPr/>
      </p:nvGrpSpPr>
      <p:grpSpPr>
        <a:xfrm>
          <a:off x="0" y="0"/>
          <a:ext cx="0" cy="0"/>
          <a:chOff x="0" y="0"/>
          <a:chExt cx="0" cy="0"/>
        </a:xfrm>
      </p:grpSpPr>
      <p:sp>
        <p:nvSpPr>
          <p:cNvPr id="2720" name="Google Shape;2720;p98"/>
          <p:cNvSpPr/>
          <p:nvPr/>
        </p:nvSpPr>
        <p:spPr>
          <a:xfrm>
            <a:off x="502920" y="274320"/>
            <a:ext cx="9646920" cy="56692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D2A5C"/>
              </a:buClr>
              <a:buSzPts val="2700"/>
              <a:buFont typeface="Calibri"/>
              <a:buNone/>
            </a:pPr>
            <a:r>
              <a:rPr b="1" i="0" lang="en-US" sz="2700" u="none" cap="none" strike="noStrike">
                <a:solidFill>
                  <a:srgbClr val="1D2A5C"/>
                </a:solidFill>
                <a:latin typeface="Calibri"/>
                <a:ea typeface="Calibri"/>
                <a:cs typeface="Calibri"/>
                <a:sym typeface="Calibri"/>
              </a:rPr>
              <a:t>Cutting an Immutable Dataset Release</a:t>
            </a:r>
            <a:endParaRPr b="0" i="0" sz="2700" u="none" cap="none" strike="noStrike">
              <a:solidFill>
                <a:schemeClr val="dk1"/>
              </a:solidFill>
              <a:latin typeface="Calibri"/>
              <a:ea typeface="Calibri"/>
              <a:cs typeface="Calibri"/>
              <a:sym typeface="Calibri"/>
            </a:endParaRPr>
          </a:p>
        </p:txBody>
      </p:sp>
      <p:sp>
        <p:nvSpPr>
          <p:cNvPr id="2721" name="Google Shape;2721;p98"/>
          <p:cNvSpPr/>
          <p:nvPr/>
        </p:nvSpPr>
        <p:spPr>
          <a:xfrm>
            <a:off x="502920" y="859536"/>
            <a:ext cx="9646920" cy="31089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F6B7A"/>
              </a:buClr>
              <a:buSzPts val="1250"/>
              <a:buFont typeface="Arial"/>
              <a:buNone/>
            </a:pPr>
            <a:r>
              <a:rPr b="0" i="0" lang="en-US" sz="1250" u="none" cap="none" strike="noStrike">
                <a:solidFill>
                  <a:srgbClr val="5F6B7A"/>
                </a:solidFill>
                <a:latin typeface="Arial"/>
                <a:ea typeface="Arial"/>
                <a:cs typeface="Arial"/>
                <a:sym typeface="Arial"/>
              </a:rPr>
              <a:t>إصدار نسخة بيانات غير قابلة للتغيير</a:t>
            </a:r>
            <a:endParaRPr b="0" i="0" sz="1250" u="none" cap="none" strike="noStrike">
              <a:solidFill>
                <a:schemeClr val="dk1"/>
              </a:solidFill>
              <a:latin typeface="Calibri"/>
              <a:ea typeface="Calibri"/>
              <a:cs typeface="Calibri"/>
              <a:sym typeface="Calibri"/>
            </a:endParaRPr>
          </a:p>
        </p:txBody>
      </p:sp>
      <p:pic>
        <p:nvPicPr>
          <p:cNvPr descr="/sessions/blissful-determined-ritchie/build/assets/sdaia_logo.png" id="2722" name="Google Shape;2722;p98"/>
          <p:cNvPicPr preferRelativeResize="0"/>
          <p:nvPr/>
        </p:nvPicPr>
        <p:blipFill rotWithShape="1">
          <a:blip r:embed="rId3">
            <a:alphaModFix/>
          </a:blip>
          <a:srcRect b="0" l="0" r="0" t="0"/>
          <a:stretch/>
        </p:blipFill>
        <p:spPr>
          <a:xfrm>
            <a:off x="10625328" y="310896"/>
            <a:ext cx="1078992" cy="264111"/>
          </a:xfrm>
          <a:prstGeom prst="rect">
            <a:avLst/>
          </a:prstGeom>
          <a:noFill/>
          <a:ln>
            <a:noFill/>
          </a:ln>
        </p:spPr>
      </p:pic>
      <p:sp>
        <p:nvSpPr>
          <p:cNvPr id="2723" name="Google Shape;2723;p98"/>
          <p:cNvSpPr/>
          <p:nvPr/>
        </p:nvSpPr>
        <p:spPr>
          <a:xfrm>
            <a:off x="502920" y="6528816"/>
            <a:ext cx="8686800"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A79D"/>
              </a:buClr>
              <a:buSzPts val="800"/>
              <a:buFont typeface="Calibri"/>
              <a:buNone/>
            </a:pPr>
            <a:r>
              <a:rPr b="1" i="0" lang="en-US" sz="800" u="none" cap="none" strike="noStrike">
                <a:solidFill>
                  <a:srgbClr val="00A79D"/>
                </a:solidFill>
                <a:latin typeface="Calibri"/>
                <a:ea typeface="Calibri"/>
                <a:cs typeface="Calibri"/>
                <a:sym typeface="Calibri"/>
              </a:rPr>
              <a:t>MODULE 5 · CODE   </a:t>
            </a:r>
            <a:r>
              <a:rPr b="0" i="0" lang="en-US" sz="800" u="none" cap="none" strike="noStrike">
                <a:solidFill>
                  <a:srgbClr val="8A96A6"/>
                </a:solidFill>
                <a:latin typeface="Calibri"/>
                <a:ea typeface="Calibri"/>
                <a:cs typeface="Calibri"/>
                <a:sym typeface="Calibri"/>
              </a:rPr>
              <a:t>SDA-AIE-212 · Computer Vision Systems Development</a:t>
            </a:r>
            <a:endParaRPr b="0" i="0" sz="800" u="none" cap="none" strike="noStrike">
              <a:solidFill>
                <a:schemeClr val="dk1"/>
              </a:solidFill>
              <a:latin typeface="Calibri"/>
              <a:ea typeface="Calibri"/>
              <a:cs typeface="Calibri"/>
              <a:sym typeface="Calibri"/>
            </a:endParaRPr>
          </a:p>
        </p:txBody>
      </p:sp>
      <p:sp>
        <p:nvSpPr>
          <p:cNvPr id="2724" name="Google Shape;2724;p98"/>
          <p:cNvSpPr/>
          <p:nvPr/>
        </p:nvSpPr>
        <p:spPr>
          <a:xfrm>
            <a:off x="11292840" y="6528816"/>
            <a:ext cx="411480" cy="219456"/>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8A96A6"/>
              </a:buClr>
              <a:buSzPts val="900"/>
              <a:buFont typeface="Calibri"/>
              <a:buNone/>
            </a:pPr>
            <a:r>
              <a:rPr b="0" i="0" lang="en-US" sz="900" u="none" cap="none" strike="noStrike">
                <a:solidFill>
                  <a:srgbClr val="8A96A6"/>
                </a:solidFill>
                <a:latin typeface="Calibri"/>
                <a:ea typeface="Calibri"/>
                <a:cs typeface="Calibri"/>
                <a:sym typeface="Calibri"/>
              </a:rPr>
              <a:t>98</a:t>
            </a:r>
            <a:endParaRPr b="0" i="0" sz="900" u="none" cap="none" strike="noStrike">
              <a:solidFill>
                <a:schemeClr val="dk1"/>
              </a:solidFill>
              <a:latin typeface="Calibri"/>
              <a:ea typeface="Calibri"/>
              <a:cs typeface="Calibri"/>
              <a:sym typeface="Calibri"/>
            </a:endParaRPr>
          </a:p>
        </p:txBody>
      </p:sp>
      <p:sp>
        <p:nvSpPr>
          <p:cNvPr id="2725" name="Google Shape;2725;p98"/>
          <p:cNvSpPr/>
          <p:nvPr/>
        </p:nvSpPr>
        <p:spPr>
          <a:xfrm>
            <a:off x="502920" y="1389888"/>
            <a:ext cx="7178040" cy="4965192"/>
          </a:xfrm>
          <a:prstGeom prst="roundRect">
            <a:avLst>
              <a:gd fmla="val 1842" name="adj"/>
            </a:avLst>
          </a:prstGeom>
          <a:solidFill>
            <a:srgbClr val="0F172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26" name="Google Shape;2726;p98"/>
          <p:cNvSpPr/>
          <p:nvPr/>
        </p:nvSpPr>
        <p:spPr>
          <a:xfrm>
            <a:off x="704088" y="1536192"/>
            <a:ext cx="2128723" cy="292608"/>
          </a:xfrm>
          <a:prstGeom prst="roundRect">
            <a:avLst>
              <a:gd fmla="val 18750" name="adj"/>
            </a:avLst>
          </a:prstGeom>
          <a:solidFill>
            <a:srgbClr val="1E293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27" name="Google Shape;2727;p98"/>
          <p:cNvSpPr/>
          <p:nvPr/>
        </p:nvSpPr>
        <p:spPr>
          <a:xfrm>
            <a:off x="795528" y="1536192"/>
            <a:ext cx="662940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EEAD4"/>
              </a:buClr>
              <a:buSzPts val="950"/>
              <a:buFont typeface="Courier New"/>
              <a:buNone/>
            </a:pPr>
            <a:r>
              <a:rPr b="0" i="0" lang="en-US" sz="950" u="none" cap="none" strike="noStrike">
                <a:solidFill>
                  <a:srgbClr val="5EEAD4"/>
                </a:solidFill>
                <a:latin typeface="Courier New"/>
                <a:ea typeface="Courier New"/>
                <a:cs typeface="Courier New"/>
                <a:sym typeface="Courier New"/>
              </a:rPr>
              <a:t>scripts/release_dataset.py</a:t>
            </a:r>
            <a:endParaRPr b="0" i="0" sz="950" u="none" cap="none" strike="noStrike">
              <a:solidFill>
                <a:schemeClr val="dk1"/>
              </a:solidFill>
              <a:latin typeface="Calibri"/>
              <a:ea typeface="Calibri"/>
              <a:cs typeface="Calibri"/>
              <a:sym typeface="Calibri"/>
            </a:endParaRPr>
          </a:p>
        </p:txBody>
      </p:sp>
      <p:sp>
        <p:nvSpPr>
          <p:cNvPr id="2728" name="Google Shape;2728;p98"/>
          <p:cNvSpPr/>
          <p:nvPr/>
        </p:nvSpPr>
        <p:spPr>
          <a:xfrm>
            <a:off x="758952" y="1920240"/>
            <a:ext cx="6720840" cy="4279392"/>
          </a:xfrm>
          <a:prstGeom prst="rect">
            <a:avLst/>
          </a:prstGeom>
          <a:noFill/>
          <a:ln>
            <a:noFill/>
          </a:ln>
        </p:spPr>
        <p:txBody>
          <a:bodyPr anchorCtr="0" anchor="t" bIns="0" lIns="0" spcFirstLastPara="1" rIns="0" wrap="square" tIns="0">
            <a:noAutofit/>
          </a:bodyPr>
          <a:lstStyle/>
          <a:p>
            <a:pPr indent="0" lvl="0" marL="0" marR="0" rtl="0" algn="l">
              <a:lnSpc>
                <a:spcPct val="128000"/>
              </a:lnSpc>
              <a:spcBef>
                <a:spcPts val="0"/>
              </a:spcBef>
              <a:spcAft>
                <a:spcPts val="0"/>
              </a:spcAft>
              <a:buClr>
                <a:srgbClr val="8FBF71"/>
              </a:buClr>
              <a:buSzPts val="900"/>
              <a:buFont typeface="Courier New"/>
              <a:buNone/>
            </a:pPr>
            <a:r>
              <a:rPr b="0" i="0" lang="en-US" sz="900" u="none" cap="none" strike="noStrike">
                <a:solidFill>
                  <a:srgbClr val="8FBF71"/>
                </a:solidFill>
                <a:latin typeface="Courier New"/>
                <a:ea typeface="Courier New"/>
                <a:cs typeface="Courier New"/>
                <a:sym typeface="Courier New"/>
              </a:rPr>
              <a:t>"""Manifest + SHA-256 + changelog: the 30-line version</a:t>
            </a:r>
            <a:endParaRPr b="0" i="0" sz="900" u="none" cap="none" strike="noStrike">
              <a:solidFill>
                <a:schemeClr val="dk1"/>
              </a:solidFill>
              <a:latin typeface="Calibri"/>
              <a:ea typeface="Calibri"/>
              <a:cs typeface="Calibri"/>
              <a:sym typeface="Calibri"/>
            </a:endParaRPr>
          </a:p>
          <a:p>
            <a:pPr indent="0" lvl="0" marL="0" marR="0" rtl="0" algn="l">
              <a:lnSpc>
                <a:spcPct val="128000"/>
              </a:lnSpc>
              <a:spcBef>
                <a:spcPts val="0"/>
              </a:spcBef>
              <a:spcAft>
                <a:spcPts val="0"/>
              </a:spcAft>
              <a:buClr>
                <a:srgbClr val="DCE6F5"/>
              </a:buClr>
              <a:buSzPts val="900"/>
              <a:buFont typeface="Courier New"/>
              <a:buNone/>
            </a:pPr>
            <a:r>
              <a:rPr b="0" i="0" lang="en-US" sz="900" u="none" cap="none" strike="noStrike">
                <a:solidFill>
                  <a:srgbClr val="DCE6F5"/>
                </a:solidFill>
                <a:latin typeface="Courier New"/>
                <a:ea typeface="Courier New"/>
                <a:cs typeface="Courier New"/>
                <a:sym typeface="Courier New"/>
              </a:rPr>
              <a:t>of what DVC productionises."""</a:t>
            </a:r>
            <a:endParaRPr b="0" i="0" sz="900" u="none" cap="none" strike="noStrike">
              <a:solidFill>
                <a:schemeClr val="dk1"/>
              </a:solidFill>
              <a:latin typeface="Calibri"/>
              <a:ea typeface="Calibri"/>
              <a:cs typeface="Calibri"/>
              <a:sym typeface="Calibri"/>
            </a:endParaRPr>
          </a:p>
          <a:p>
            <a:pPr indent="0" lvl="0" marL="0" marR="0" rtl="0" algn="l">
              <a:lnSpc>
                <a:spcPct val="128000"/>
              </a:lnSpc>
              <a:spcBef>
                <a:spcPts val="0"/>
              </a:spcBef>
              <a:spcAft>
                <a:spcPts val="0"/>
              </a:spcAft>
              <a:buClr>
                <a:srgbClr val="DCE6F5"/>
              </a:buClr>
              <a:buSzPts val="900"/>
              <a:buFont typeface="Courier New"/>
              <a:buNone/>
            </a:pPr>
            <a:r>
              <a:rPr b="0" i="0" lang="en-US" sz="900" u="none" cap="none" strike="noStrike">
                <a:solidFill>
                  <a:srgbClr val="DCE6F5"/>
                </a:solidFill>
                <a:latin typeface="Courier New"/>
                <a:ea typeface="Courier New"/>
                <a:cs typeface="Courier New"/>
                <a:sym typeface="Courier New"/>
              </a:rPr>
              <a:t>import hashlib, json</a:t>
            </a:r>
            <a:endParaRPr b="0" i="0" sz="900" u="none" cap="none" strike="noStrike">
              <a:solidFill>
                <a:schemeClr val="dk1"/>
              </a:solidFill>
              <a:latin typeface="Calibri"/>
              <a:ea typeface="Calibri"/>
              <a:cs typeface="Calibri"/>
              <a:sym typeface="Calibri"/>
            </a:endParaRPr>
          </a:p>
          <a:p>
            <a:pPr indent="0" lvl="0" marL="0" marR="0" rtl="0" algn="l">
              <a:lnSpc>
                <a:spcPct val="128000"/>
              </a:lnSpc>
              <a:spcBef>
                <a:spcPts val="0"/>
              </a:spcBef>
              <a:spcAft>
                <a:spcPts val="0"/>
              </a:spcAft>
              <a:buClr>
                <a:srgbClr val="DCE6F5"/>
              </a:buClr>
              <a:buSzPts val="900"/>
              <a:buFont typeface="Courier New"/>
              <a:buNone/>
            </a:pPr>
            <a:r>
              <a:rPr b="0" i="0" lang="en-US" sz="900" u="none" cap="none" strike="noStrike">
                <a:solidFill>
                  <a:srgbClr val="DCE6F5"/>
                </a:solidFill>
                <a:latin typeface="Courier New"/>
                <a:ea typeface="Courier New"/>
                <a:cs typeface="Courier New"/>
                <a:sym typeface="Courier New"/>
              </a:rPr>
              <a:t>from pathlib import Path</a:t>
            </a:r>
            <a:endParaRPr b="0" i="0" sz="900" u="none" cap="none" strike="noStrike">
              <a:solidFill>
                <a:schemeClr val="dk1"/>
              </a:solidFill>
              <a:latin typeface="Calibri"/>
              <a:ea typeface="Calibri"/>
              <a:cs typeface="Calibri"/>
              <a:sym typeface="Calibri"/>
            </a:endParaRPr>
          </a:p>
          <a:p>
            <a:pPr indent="0" lvl="0" marL="0" marR="0" rtl="0" algn="l">
              <a:lnSpc>
                <a:spcPct val="128000"/>
              </a:lnSpc>
              <a:spcBef>
                <a:spcPts val="0"/>
              </a:spcBef>
              <a:spcAft>
                <a:spcPts val="0"/>
              </a:spcAft>
              <a:buClr>
                <a:srgbClr val="DCE6F5"/>
              </a:buClr>
              <a:buSzPts val="900"/>
              <a:buFont typeface="Courier New"/>
              <a:buNone/>
            </a:pPr>
            <a:r>
              <a:rPr b="0" i="0" lang="en-US" sz="900" u="none" cap="none" strike="noStrike">
                <a:solidFill>
                  <a:srgbClr val="DCE6F5"/>
                </a:solidFill>
                <a:latin typeface="Courier New"/>
                <a:ea typeface="Courier New"/>
                <a:cs typeface="Courier New"/>
                <a:sym typeface="Courier New"/>
              </a:rPr>
              <a:t>import pandas as pd</a:t>
            </a:r>
            <a:endParaRPr b="0" i="0" sz="900" u="none" cap="none" strike="noStrike">
              <a:solidFill>
                <a:schemeClr val="dk1"/>
              </a:solidFill>
              <a:latin typeface="Calibri"/>
              <a:ea typeface="Calibri"/>
              <a:cs typeface="Calibri"/>
              <a:sym typeface="Calibri"/>
            </a:endParaRPr>
          </a:p>
          <a:p>
            <a:pPr indent="0" lvl="0" marL="0" marR="0" rtl="0" algn="l">
              <a:lnSpc>
                <a:spcPct val="128000"/>
              </a:lnSpc>
              <a:spcBef>
                <a:spcPts val="0"/>
              </a:spcBef>
              <a:spcAft>
                <a:spcPts val="0"/>
              </a:spcAft>
              <a:buClr>
                <a:srgbClr val="DCE6F5"/>
              </a:buClr>
              <a:buSzPts val="900"/>
              <a:buFont typeface="Courier New"/>
              <a:buNone/>
            </a:pPr>
            <a:r>
              <a:rPr b="0" i="0" lang="en-US" sz="900" u="none" cap="none" strike="noStrike">
                <a:solidFill>
                  <a:srgbClr val="DCE6F5"/>
                </a:solidFill>
                <a:latin typeface="Courier New"/>
                <a:ea typeface="Courier New"/>
                <a:cs typeface="Courier New"/>
                <a:sym typeface="Courier New"/>
              </a:rPr>
              <a:t> </a:t>
            </a:r>
            <a:endParaRPr b="0" i="0" sz="900" u="none" cap="none" strike="noStrike">
              <a:solidFill>
                <a:schemeClr val="dk1"/>
              </a:solidFill>
              <a:latin typeface="Calibri"/>
              <a:ea typeface="Calibri"/>
              <a:cs typeface="Calibri"/>
              <a:sym typeface="Calibri"/>
            </a:endParaRPr>
          </a:p>
          <a:p>
            <a:pPr indent="0" lvl="0" marL="0" marR="0" rtl="0" algn="l">
              <a:lnSpc>
                <a:spcPct val="128000"/>
              </a:lnSpc>
              <a:spcBef>
                <a:spcPts val="0"/>
              </a:spcBef>
              <a:spcAft>
                <a:spcPts val="0"/>
              </a:spcAft>
              <a:buClr>
                <a:srgbClr val="DCE6F5"/>
              </a:buClr>
              <a:buSzPts val="900"/>
              <a:buFont typeface="Courier New"/>
              <a:buNone/>
            </a:pPr>
            <a:r>
              <a:rPr b="0" i="0" lang="en-US" sz="900" u="none" cap="none" strike="noStrike">
                <a:solidFill>
                  <a:srgbClr val="DCE6F5"/>
                </a:solidFill>
                <a:latin typeface="Courier New"/>
                <a:ea typeface="Courier New"/>
                <a:cs typeface="Courier New"/>
                <a:sym typeface="Courier New"/>
              </a:rPr>
              <a:t>VERSION = "dates-qc-v2"</a:t>
            </a:r>
            <a:endParaRPr b="0" i="0" sz="900" u="none" cap="none" strike="noStrike">
              <a:solidFill>
                <a:schemeClr val="dk1"/>
              </a:solidFill>
              <a:latin typeface="Calibri"/>
              <a:ea typeface="Calibri"/>
              <a:cs typeface="Calibri"/>
              <a:sym typeface="Calibri"/>
            </a:endParaRPr>
          </a:p>
          <a:p>
            <a:pPr indent="0" lvl="0" marL="0" marR="0" rtl="0" algn="l">
              <a:lnSpc>
                <a:spcPct val="128000"/>
              </a:lnSpc>
              <a:spcBef>
                <a:spcPts val="0"/>
              </a:spcBef>
              <a:spcAft>
                <a:spcPts val="0"/>
              </a:spcAft>
              <a:buClr>
                <a:srgbClr val="DCE6F5"/>
              </a:buClr>
              <a:buSzPts val="900"/>
              <a:buFont typeface="Courier New"/>
              <a:buNone/>
            </a:pPr>
            <a:r>
              <a:rPr b="0" i="0" lang="en-US" sz="900" u="none" cap="none" strike="noStrike">
                <a:solidFill>
                  <a:srgbClr val="DCE6F5"/>
                </a:solidFill>
                <a:latin typeface="Courier New"/>
                <a:ea typeface="Courier New"/>
                <a:cs typeface="Courier New"/>
                <a:sym typeface="Courier New"/>
              </a:rPr>
              <a:t>manifest = pd.read_csv("data/dates-qc/manifest_v2.csv")</a:t>
            </a:r>
            <a:endParaRPr b="0" i="0" sz="900" u="none" cap="none" strike="noStrike">
              <a:solidFill>
                <a:schemeClr val="dk1"/>
              </a:solidFill>
              <a:latin typeface="Calibri"/>
              <a:ea typeface="Calibri"/>
              <a:cs typeface="Calibri"/>
              <a:sym typeface="Calibri"/>
            </a:endParaRPr>
          </a:p>
          <a:p>
            <a:pPr indent="0" lvl="0" marL="0" marR="0" rtl="0" algn="l">
              <a:lnSpc>
                <a:spcPct val="128000"/>
              </a:lnSpc>
              <a:spcBef>
                <a:spcPts val="0"/>
              </a:spcBef>
              <a:spcAft>
                <a:spcPts val="0"/>
              </a:spcAft>
              <a:buClr>
                <a:srgbClr val="DCE6F5"/>
              </a:buClr>
              <a:buSzPts val="900"/>
              <a:buFont typeface="Courier New"/>
              <a:buNone/>
            </a:pPr>
            <a:r>
              <a:rPr b="0" i="0" lang="en-US" sz="900" u="none" cap="none" strike="noStrike">
                <a:solidFill>
                  <a:srgbClr val="DCE6F5"/>
                </a:solidFill>
                <a:latin typeface="Courier New"/>
                <a:ea typeface="Courier New"/>
                <a:cs typeface="Courier New"/>
                <a:sym typeface="Courier New"/>
              </a:rPr>
              <a:t> </a:t>
            </a:r>
            <a:endParaRPr b="0" i="0" sz="900" u="none" cap="none" strike="noStrike">
              <a:solidFill>
                <a:schemeClr val="dk1"/>
              </a:solidFill>
              <a:latin typeface="Calibri"/>
              <a:ea typeface="Calibri"/>
              <a:cs typeface="Calibri"/>
              <a:sym typeface="Calibri"/>
            </a:endParaRPr>
          </a:p>
          <a:p>
            <a:pPr indent="0" lvl="0" marL="0" marR="0" rtl="0" algn="l">
              <a:lnSpc>
                <a:spcPct val="128000"/>
              </a:lnSpc>
              <a:spcBef>
                <a:spcPts val="0"/>
              </a:spcBef>
              <a:spcAft>
                <a:spcPts val="0"/>
              </a:spcAft>
              <a:buClr>
                <a:srgbClr val="DCE6F5"/>
              </a:buClr>
              <a:buSzPts val="900"/>
              <a:buFont typeface="Courier New"/>
              <a:buNone/>
            </a:pPr>
            <a:r>
              <a:rPr b="0" i="0" lang="en-US" sz="900" u="none" cap="none" strike="noStrike">
                <a:solidFill>
                  <a:srgbClr val="DCE6F5"/>
                </a:solidFill>
                <a:latin typeface="Courier New"/>
                <a:ea typeface="Courier New"/>
                <a:cs typeface="Courier New"/>
                <a:sym typeface="Courier New"/>
              </a:rPr>
              <a:t>def sha256(path: Path) -&gt; str:</a:t>
            </a:r>
            <a:endParaRPr b="0" i="0" sz="900" u="none" cap="none" strike="noStrike">
              <a:solidFill>
                <a:schemeClr val="dk1"/>
              </a:solidFill>
              <a:latin typeface="Calibri"/>
              <a:ea typeface="Calibri"/>
              <a:cs typeface="Calibri"/>
              <a:sym typeface="Calibri"/>
            </a:endParaRPr>
          </a:p>
          <a:p>
            <a:pPr indent="0" lvl="0" marL="0" marR="0" rtl="0" algn="l">
              <a:lnSpc>
                <a:spcPct val="128000"/>
              </a:lnSpc>
              <a:spcBef>
                <a:spcPts val="0"/>
              </a:spcBef>
              <a:spcAft>
                <a:spcPts val="0"/>
              </a:spcAft>
              <a:buClr>
                <a:srgbClr val="DCE6F5"/>
              </a:buClr>
              <a:buSzPts val="900"/>
              <a:buFont typeface="Courier New"/>
              <a:buNone/>
            </a:pPr>
            <a:r>
              <a:rPr b="0" i="0" lang="en-US" sz="900" u="none" cap="none" strike="noStrike">
                <a:solidFill>
                  <a:srgbClr val="DCE6F5"/>
                </a:solidFill>
                <a:latin typeface="Courier New"/>
                <a:ea typeface="Courier New"/>
                <a:cs typeface="Courier New"/>
                <a:sym typeface="Courier New"/>
              </a:rPr>
              <a:t>    return hashlib.sha256(path.read_bytes()).hexdigest()</a:t>
            </a:r>
            <a:endParaRPr b="0" i="0" sz="900" u="none" cap="none" strike="noStrike">
              <a:solidFill>
                <a:schemeClr val="dk1"/>
              </a:solidFill>
              <a:latin typeface="Calibri"/>
              <a:ea typeface="Calibri"/>
              <a:cs typeface="Calibri"/>
              <a:sym typeface="Calibri"/>
            </a:endParaRPr>
          </a:p>
          <a:p>
            <a:pPr indent="0" lvl="0" marL="0" marR="0" rtl="0" algn="l">
              <a:lnSpc>
                <a:spcPct val="128000"/>
              </a:lnSpc>
              <a:spcBef>
                <a:spcPts val="0"/>
              </a:spcBef>
              <a:spcAft>
                <a:spcPts val="0"/>
              </a:spcAft>
              <a:buClr>
                <a:srgbClr val="DCE6F5"/>
              </a:buClr>
              <a:buSzPts val="900"/>
              <a:buFont typeface="Courier New"/>
              <a:buNone/>
            </a:pPr>
            <a:r>
              <a:rPr b="0" i="0" lang="en-US" sz="900" u="none" cap="none" strike="noStrike">
                <a:solidFill>
                  <a:srgbClr val="DCE6F5"/>
                </a:solidFill>
                <a:latin typeface="Courier New"/>
                <a:ea typeface="Courier New"/>
                <a:cs typeface="Courier New"/>
                <a:sym typeface="Courier New"/>
              </a:rPr>
              <a:t> </a:t>
            </a:r>
            <a:endParaRPr b="0" i="0" sz="900" u="none" cap="none" strike="noStrike">
              <a:solidFill>
                <a:schemeClr val="dk1"/>
              </a:solidFill>
              <a:latin typeface="Calibri"/>
              <a:ea typeface="Calibri"/>
              <a:cs typeface="Calibri"/>
              <a:sym typeface="Calibri"/>
            </a:endParaRPr>
          </a:p>
          <a:p>
            <a:pPr indent="0" lvl="0" marL="0" marR="0" rtl="0" algn="l">
              <a:lnSpc>
                <a:spcPct val="128000"/>
              </a:lnSpc>
              <a:spcBef>
                <a:spcPts val="0"/>
              </a:spcBef>
              <a:spcAft>
                <a:spcPts val="0"/>
              </a:spcAft>
              <a:buClr>
                <a:srgbClr val="DCE6F5"/>
              </a:buClr>
              <a:buSzPts val="900"/>
              <a:buFont typeface="Courier New"/>
              <a:buNone/>
            </a:pPr>
            <a:r>
              <a:rPr b="0" i="0" lang="en-US" sz="900" u="none" cap="none" strike="noStrike">
                <a:solidFill>
                  <a:srgbClr val="DCE6F5"/>
                </a:solidFill>
                <a:latin typeface="Courier New"/>
                <a:ea typeface="Courier New"/>
                <a:cs typeface="Courier New"/>
                <a:sym typeface="Courier New"/>
              </a:rPr>
              <a:t>manifest["sha256"] = [sha256(Path("data/dates-qc/images") / f)</a:t>
            </a:r>
            <a:endParaRPr b="0" i="0" sz="900" u="none" cap="none" strike="noStrike">
              <a:solidFill>
                <a:schemeClr val="dk1"/>
              </a:solidFill>
              <a:latin typeface="Calibri"/>
              <a:ea typeface="Calibri"/>
              <a:cs typeface="Calibri"/>
              <a:sym typeface="Calibri"/>
            </a:endParaRPr>
          </a:p>
          <a:p>
            <a:pPr indent="0" lvl="0" marL="0" marR="0" rtl="0" algn="l">
              <a:lnSpc>
                <a:spcPct val="128000"/>
              </a:lnSpc>
              <a:spcBef>
                <a:spcPts val="0"/>
              </a:spcBef>
              <a:spcAft>
                <a:spcPts val="0"/>
              </a:spcAft>
              <a:buClr>
                <a:srgbClr val="DCE6F5"/>
              </a:buClr>
              <a:buSzPts val="900"/>
              <a:buFont typeface="Courier New"/>
              <a:buNone/>
            </a:pPr>
            <a:r>
              <a:rPr b="0" i="0" lang="en-US" sz="900" u="none" cap="none" strike="noStrike">
                <a:solidFill>
                  <a:srgbClr val="DCE6F5"/>
                </a:solidFill>
                <a:latin typeface="Courier New"/>
                <a:ea typeface="Courier New"/>
                <a:cs typeface="Courier New"/>
                <a:sym typeface="Courier New"/>
              </a:rPr>
              <a:t>                      for f in manifest["file"]]</a:t>
            </a:r>
            <a:endParaRPr b="0" i="0" sz="900" u="none" cap="none" strike="noStrike">
              <a:solidFill>
                <a:schemeClr val="dk1"/>
              </a:solidFill>
              <a:latin typeface="Calibri"/>
              <a:ea typeface="Calibri"/>
              <a:cs typeface="Calibri"/>
              <a:sym typeface="Calibri"/>
            </a:endParaRPr>
          </a:p>
          <a:p>
            <a:pPr indent="0" lvl="0" marL="0" marR="0" rtl="0" algn="l">
              <a:lnSpc>
                <a:spcPct val="128000"/>
              </a:lnSpc>
              <a:spcBef>
                <a:spcPts val="0"/>
              </a:spcBef>
              <a:spcAft>
                <a:spcPts val="0"/>
              </a:spcAft>
              <a:buClr>
                <a:srgbClr val="DCE6F5"/>
              </a:buClr>
              <a:buSzPts val="900"/>
              <a:buFont typeface="Courier New"/>
              <a:buNone/>
            </a:pPr>
            <a:r>
              <a:rPr b="0" i="0" lang="en-US" sz="900" u="none" cap="none" strike="noStrike">
                <a:solidFill>
                  <a:srgbClr val="DCE6F5"/>
                </a:solidFill>
                <a:latin typeface="Courier New"/>
                <a:ea typeface="Courier New"/>
                <a:cs typeface="Courier New"/>
                <a:sym typeface="Courier New"/>
              </a:rPr>
              <a:t>manifest.to_csv(f"releases/{VERSION}/manifest.csv", index=False)</a:t>
            </a:r>
            <a:endParaRPr b="0" i="0" sz="900" u="none" cap="none" strike="noStrike">
              <a:solidFill>
                <a:schemeClr val="dk1"/>
              </a:solidFill>
              <a:latin typeface="Calibri"/>
              <a:ea typeface="Calibri"/>
              <a:cs typeface="Calibri"/>
              <a:sym typeface="Calibri"/>
            </a:endParaRPr>
          </a:p>
          <a:p>
            <a:pPr indent="0" lvl="0" marL="0" marR="0" rtl="0" algn="l">
              <a:lnSpc>
                <a:spcPct val="128000"/>
              </a:lnSpc>
              <a:spcBef>
                <a:spcPts val="0"/>
              </a:spcBef>
              <a:spcAft>
                <a:spcPts val="0"/>
              </a:spcAft>
              <a:buClr>
                <a:srgbClr val="DCE6F5"/>
              </a:buClr>
              <a:buSzPts val="900"/>
              <a:buFont typeface="Courier New"/>
              <a:buNone/>
            </a:pPr>
            <a:r>
              <a:rPr b="0" i="0" lang="en-US" sz="900" u="none" cap="none" strike="noStrike">
                <a:solidFill>
                  <a:srgbClr val="DCE6F5"/>
                </a:solidFill>
                <a:latin typeface="Courier New"/>
                <a:ea typeface="Courier New"/>
                <a:cs typeface="Courier New"/>
                <a:sym typeface="Courier New"/>
              </a:rPr>
              <a:t> </a:t>
            </a:r>
            <a:endParaRPr b="0" i="0" sz="900" u="none" cap="none" strike="noStrike">
              <a:solidFill>
                <a:schemeClr val="dk1"/>
              </a:solidFill>
              <a:latin typeface="Calibri"/>
              <a:ea typeface="Calibri"/>
              <a:cs typeface="Calibri"/>
              <a:sym typeface="Calibri"/>
            </a:endParaRPr>
          </a:p>
          <a:p>
            <a:pPr indent="0" lvl="0" marL="0" marR="0" rtl="0" algn="l">
              <a:lnSpc>
                <a:spcPct val="128000"/>
              </a:lnSpc>
              <a:spcBef>
                <a:spcPts val="0"/>
              </a:spcBef>
              <a:spcAft>
                <a:spcPts val="0"/>
              </a:spcAft>
              <a:buClr>
                <a:srgbClr val="DCE6F5"/>
              </a:buClr>
              <a:buSzPts val="900"/>
              <a:buFont typeface="Courier New"/>
              <a:buNone/>
            </a:pPr>
            <a:r>
              <a:rPr b="0" i="0" lang="en-US" sz="900" u="none" cap="none" strike="noStrike">
                <a:solidFill>
                  <a:srgbClr val="DCE6F5"/>
                </a:solidFill>
                <a:latin typeface="Courier New"/>
                <a:ea typeface="Courier New"/>
                <a:cs typeface="Courier New"/>
                <a:sym typeface="Courier New"/>
              </a:rPr>
              <a:t>release_hash = sha256(Path(f"releases/{VERSION}/manifest.csv"))</a:t>
            </a:r>
            <a:endParaRPr b="0" i="0" sz="900" u="none" cap="none" strike="noStrike">
              <a:solidFill>
                <a:schemeClr val="dk1"/>
              </a:solidFill>
              <a:latin typeface="Calibri"/>
              <a:ea typeface="Calibri"/>
              <a:cs typeface="Calibri"/>
              <a:sym typeface="Calibri"/>
            </a:endParaRPr>
          </a:p>
          <a:p>
            <a:pPr indent="0" lvl="0" marL="0" marR="0" rtl="0" algn="l">
              <a:lnSpc>
                <a:spcPct val="128000"/>
              </a:lnSpc>
              <a:spcBef>
                <a:spcPts val="0"/>
              </a:spcBef>
              <a:spcAft>
                <a:spcPts val="0"/>
              </a:spcAft>
              <a:buClr>
                <a:srgbClr val="DCE6F5"/>
              </a:buClr>
              <a:buSzPts val="900"/>
              <a:buFont typeface="Courier New"/>
              <a:buNone/>
            </a:pPr>
            <a:r>
              <a:rPr b="0" i="0" lang="en-US" sz="900" u="none" cap="none" strike="noStrike">
                <a:solidFill>
                  <a:srgbClr val="DCE6F5"/>
                </a:solidFill>
                <a:latin typeface="Courier New"/>
                <a:ea typeface="Courier New"/>
                <a:cs typeface="Courier New"/>
                <a:sym typeface="Courier New"/>
              </a:rPr>
              <a:t>json.dump({</a:t>
            </a:r>
            <a:endParaRPr b="0" i="0" sz="900" u="none" cap="none" strike="noStrike">
              <a:solidFill>
                <a:schemeClr val="dk1"/>
              </a:solidFill>
              <a:latin typeface="Calibri"/>
              <a:ea typeface="Calibri"/>
              <a:cs typeface="Calibri"/>
              <a:sym typeface="Calibri"/>
            </a:endParaRPr>
          </a:p>
          <a:p>
            <a:pPr indent="0" lvl="0" marL="0" marR="0" rtl="0" algn="l">
              <a:lnSpc>
                <a:spcPct val="128000"/>
              </a:lnSpc>
              <a:spcBef>
                <a:spcPts val="0"/>
              </a:spcBef>
              <a:spcAft>
                <a:spcPts val="0"/>
              </a:spcAft>
              <a:buClr>
                <a:srgbClr val="DCE6F5"/>
              </a:buClr>
              <a:buSzPts val="900"/>
              <a:buFont typeface="Courier New"/>
              <a:buNone/>
            </a:pPr>
            <a:r>
              <a:rPr b="0" i="0" lang="en-US" sz="900" u="none" cap="none" strike="noStrike">
                <a:solidFill>
                  <a:srgbClr val="DCE6F5"/>
                </a:solidFill>
                <a:latin typeface="Courier New"/>
                <a:ea typeface="Courier New"/>
                <a:cs typeface="Courier New"/>
                <a:sym typeface="Courier New"/>
              </a:rPr>
              <a:t>    "version": VERSION,</a:t>
            </a:r>
            <a:endParaRPr b="0" i="0" sz="900" u="none" cap="none" strike="noStrike">
              <a:solidFill>
                <a:schemeClr val="dk1"/>
              </a:solidFill>
              <a:latin typeface="Calibri"/>
              <a:ea typeface="Calibri"/>
              <a:cs typeface="Calibri"/>
              <a:sym typeface="Calibri"/>
            </a:endParaRPr>
          </a:p>
          <a:p>
            <a:pPr indent="0" lvl="0" marL="0" marR="0" rtl="0" algn="l">
              <a:lnSpc>
                <a:spcPct val="128000"/>
              </a:lnSpc>
              <a:spcBef>
                <a:spcPts val="0"/>
              </a:spcBef>
              <a:spcAft>
                <a:spcPts val="0"/>
              </a:spcAft>
              <a:buClr>
                <a:srgbClr val="DCE6F5"/>
              </a:buClr>
              <a:buSzPts val="900"/>
              <a:buFont typeface="Courier New"/>
              <a:buNone/>
            </a:pPr>
            <a:r>
              <a:rPr b="0" i="0" lang="en-US" sz="900" u="none" cap="none" strike="noStrike">
                <a:solidFill>
                  <a:srgbClr val="DCE6F5"/>
                </a:solidFill>
                <a:latin typeface="Courier New"/>
                <a:ea typeface="Courier New"/>
                <a:cs typeface="Courier New"/>
                <a:sym typeface="Courier New"/>
              </a:rPr>
              <a:t>    "spec_version": "annotation-spec-v2",</a:t>
            </a:r>
            <a:endParaRPr b="0" i="0" sz="900" u="none" cap="none" strike="noStrike">
              <a:solidFill>
                <a:schemeClr val="dk1"/>
              </a:solidFill>
              <a:latin typeface="Calibri"/>
              <a:ea typeface="Calibri"/>
              <a:cs typeface="Calibri"/>
              <a:sym typeface="Calibri"/>
            </a:endParaRPr>
          </a:p>
          <a:p>
            <a:pPr indent="0" lvl="0" marL="0" marR="0" rtl="0" algn="l">
              <a:lnSpc>
                <a:spcPct val="128000"/>
              </a:lnSpc>
              <a:spcBef>
                <a:spcPts val="0"/>
              </a:spcBef>
              <a:spcAft>
                <a:spcPts val="0"/>
              </a:spcAft>
              <a:buClr>
                <a:srgbClr val="DCE6F5"/>
              </a:buClr>
              <a:buSzPts val="900"/>
              <a:buFont typeface="Courier New"/>
              <a:buNone/>
            </a:pPr>
            <a:r>
              <a:rPr b="0" i="0" lang="en-US" sz="900" u="none" cap="none" strike="noStrike">
                <a:solidFill>
                  <a:srgbClr val="DCE6F5"/>
                </a:solidFill>
                <a:latin typeface="Courier New"/>
                <a:ea typeface="Courier New"/>
                <a:cs typeface="Courier New"/>
                <a:sym typeface="Courier New"/>
              </a:rPr>
              <a:t>    "release_hash": release_hash,</a:t>
            </a:r>
            <a:endParaRPr b="0" i="0" sz="900" u="none" cap="none" strike="noStrike">
              <a:solidFill>
                <a:schemeClr val="dk1"/>
              </a:solidFill>
              <a:latin typeface="Calibri"/>
              <a:ea typeface="Calibri"/>
              <a:cs typeface="Calibri"/>
              <a:sym typeface="Calibri"/>
            </a:endParaRPr>
          </a:p>
          <a:p>
            <a:pPr indent="0" lvl="0" marL="0" marR="0" rtl="0" algn="l">
              <a:lnSpc>
                <a:spcPct val="128000"/>
              </a:lnSpc>
              <a:spcBef>
                <a:spcPts val="0"/>
              </a:spcBef>
              <a:spcAft>
                <a:spcPts val="0"/>
              </a:spcAft>
              <a:buClr>
                <a:srgbClr val="DCE6F5"/>
              </a:buClr>
              <a:buSzPts val="900"/>
              <a:buFont typeface="Courier New"/>
              <a:buNone/>
            </a:pPr>
            <a:r>
              <a:rPr b="0" i="0" lang="en-US" sz="900" u="none" cap="none" strike="noStrike">
                <a:solidFill>
                  <a:srgbClr val="DCE6F5"/>
                </a:solidFill>
                <a:latin typeface="Courier New"/>
                <a:ea typeface="Courier New"/>
                <a:cs typeface="Courier New"/>
                <a:sym typeface="Courier New"/>
              </a:rPr>
              <a:t>    "changelog": {"relabelled": 447, "added": 800,</a:t>
            </a:r>
            <a:endParaRPr b="0" i="0" sz="900" u="none" cap="none" strike="noStrike">
              <a:solidFill>
                <a:schemeClr val="dk1"/>
              </a:solidFill>
              <a:latin typeface="Calibri"/>
              <a:ea typeface="Calibri"/>
              <a:cs typeface="Calibri"/>
              <a:sym typeface="Calibri"/>
            </a:endParaRPr>
          </a:p>
          <a:p>
            <a:pPr indent="0" lvl="0" marL="0" marR="0" rtl="0" algn="l">
              <a:lnSpc>
                <a:spcPct val="128000"/>
              </a:lnSpc>
              <a:spcBef>
                <a:spcPts val="0"/>
              </a:spcBef>
              <a:spcAft>
                <a:spcPts val="0"/>
              </a:spcAft>
              <a:buClr>
                <a:srgbClr val="DCE6F5"/>
              </a:buClr>
              <a:buSzPts val="900"/>
              <a:buFont typeface="Courier New"/>
              <a:buNone/>
            </a:pPr>
            <a:r>
              <a:rPr b="0" i="0" lang="en-US" sz="900" u="none" cap="none" strike="noStrike">
                <a:solidFill>
                  <a:srgbClr val="DCE6F5"/>
                </a:solidFill>
                <a:latin typeface="Courier New"/>
                <a:ea typeface="Courier New"/>
                <a:cs typeface="Courier New"/>
                <a:sym typeface="Courier New"/>
              </a:rPr>
              <a:t>                  "removed_duplicates": 61},</a:t>
            </a:r>
            <a:endParaRPr b="0" i="0" sz="900" u="none" cap="none" strike="noStrike">
              <a:solidFill>
                <a:schemeClr val="dk1"/>
              </a:solidFill>
              <a:latin typeface="Calibri"/>
              <a:ea typeface="Calibri"/>
              <a:cs typeface="Calibri"/>
              <a:sym typeface="Calibri"/>
            </a:endParaRPr>
          </a:p>
          <a:p>
            <a:pPr indent="0" lvl="0" marL="0" marR="0" rtl="0" algn="l">
              <a:lnSpc>
                <a:spcPct val="128000"/>
              </a:lnSpc>
              <a:spcBef>
                <a:spcPts val="0"/>
              </a:spcBef>
              <a:spcAft>
                <a:spcPts val="0"/>
              </a:spcAft>
              <a:buClr>
                <a:srgbClr val="DCE6F5"/>
              </a:buClr>
              <a:buSzPts val="900"/>
              <a:buFont typeface="Courier New"/>
              <a:buNone/>
            </a:pPr>
            <a:r>
              <a:rPr b="0" i="0" lang="en-US" sz="900" u="none" cap="none" strike="noStrike">
                <a:solidFill>
                  <a:srgbClr val="DCE6F5"/>
                </a:solidFill>
                <a:latin typeface="Courier New"/>
                <a:ea typeface="Courier New"/>
                <a:cs typeface="Courier New"/>
                <a:sym typeface="Courier New"/>
              </a:rPr>
              <a:t>}, open(f"releases/{VERSION}/RELEASE.json", "w"), indent=2)</a:t>
            </a:r>
            <a:endParaRPr b="0" i="0" sz="900" u="none" cap="none" strike="noStrike">
              <a:solidFill>
                <a:schemeClr val="dk1"/>
              </a:solidFill>
              <a:latin typeface="Calibri"/>
              <a:ea typeface="Calibri"/>
              <a:cs typeface="Calibri"/>
              <a:sym typeface="Calibri"/>
            </a:endParaRPr>
          </a:p>
          <a:p>
            <a:pPr indent="0" lvl="0" marL="0" marR="0" rtl="0" algn="l">
              <a:lnSpc>
                <a:spcPct val="128000"/>
              </a:lnSpc>
              <a:spcBef>
                <a:spcPts val="0"/>
              </a:spcBef>
              <a:spcAft>
                <a:spcPts val="0"/>
              </a:spcAft>
              <a:buClr>
                <a:srgbClr val="DCE6F5"/>
              </a:buClr>
              <a:buSzPts val="900"/>
              <a:buFont typeface="Courier New"/>
              <a:buNone/>
            </a:pPr>
            <a:r>
              <a:rPr b="0" i="0" lang="en-US" sz="900" u="none" cap="none" strike="noStrike">
                <a:solidFill>
                  <a:srgbClr val="DCE6F5"/>
                </a:solidFill>
                <a:latin typeface="Courier New"/>
                <a:ea typeface="Courier New"/>
                <a:cs typeface="Courier New"/>
                <a:sym typeface="Courier New"/>
              </a:rPr>
              <a:t>print(f"{VERSION} released (test split UNCHANGED from v1)")</a:t>
            </a:r>
            <a:endParaRPr b="0" i="0" sz="900" u="none" cap="none" strike="noStrike">
              <a:solidFill>
                <a:schemeClr val="dk1"/>
              </a:solidFill>
              <a:latin typeface="Calibri"/>
              <a:ea typeface="Calibri"/>
              <a:cs typeface="Calibri"/>
              <a:sym typeface="Calibri"/>
            </a:endParaRPr>
          </a:p>
        </p:txBody>
      </p:sp>
      <p:sp>
        <p:nvSpPr>
          <p:cNvPr id="2729" name="Google Shape;2729;p98"/>
          <p:cNvSpPr/>
          <p:nvPr/>
        </p:nvSpPr>
        <p:spPr>
          <a:xfrm>
            <a:off x="7973568" y="1389888"/>
            <a:ext cx="3712464" cy="1090422"/>
          </a:xfrm>
          <a:prstGeom prst="roundRect">
            <a:avLst>
              <a:gd fmla="val 5870" name="adj"/>
            </a:avLst>
          </a:prstGeom>
          <a:solidFill>
            <a:srgbClr val="F2F6F9"/>
          </a:solidFill>
          <a:ln cap="flat" cmpd="sng" w="12700">
            <a:solidFill>
              <a:srgbClr val="D9E2E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30" name="Google Shape;2730;p98"/>
          <p:cNvSpPr/>
          <p:nvPr/>
        </p:nvSpPr>
        <p:spPr>
          <a:xfrm>
            <a:off x="8101584" y="1508760"/>
            <a:ext cx="237744" cy="237744"/>
          </a:xfrm>
          <a:prstGeom prst="ellipse">
            <a:avLst/>
          </a:prstGeom>
          <a:solidFill>
            <a:srgbClr val="00A79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31" name="Google Shape;2731;p98"/>
          <p:cNvSpPr/>
          <p:nvPr/>
        </p:nvSpPr>
        <p:spPr>
          <a:xfrm>
            <a:off x="8101584" y="1508760"/>
            <a:ext cx="237744" cy="23774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000"/>
              <a:buFont typeface="Calibri"/>
              <a:buNone/>
            </a:pPr>
            <a:r>
              <a:rPr b="1" i="0" lang="en-US" sz="1000" u="none" cap="none" strike="noStrike">
                <a:solidFill>
                  <a:srgbClr val="FFFFFF"/>
                </a:solidFill>
                <a:latin typeface="Calibri"/>
                <a:ea typeface="Calibri"/>
                <a:cs typeface="Calibri"/>
                <a:sym typeface="Calibri"/>
              </a:rPr>
              <a:t>1</a:t>
            </a:r>
            <a:endParaRPr b="0" i="0" sz="1000" u="none" cap="none" strike="noStrike">
              <a:solidFill>
                <a:schemeClr val="dk1"/>
              </a:solidFill>
              <a:latin typeface="Calibri"/>
              <a:ea typeface="Calibri"/>
              <a:cs typeface="Calibri"/>
              <a:sym typeface="Calibri"/>
            </a:endParaRPr>
          </a:p>
        </p:txBody>
      </p:sp>
      <p:sp>
        <p:nvSpPr>
          <p:cNvPr id="2732" name="Google Shape;2732;p98"/>
          <p:cNvSpPr/>
          <p:nvPr/>
        </p:nvSpPr>
        <p:spPr>
          <a:xfrm>
            <a:off x="8430768" y="1444752"/>
            <a:ext cx="3145536"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D2A5C"/>
              </a:buClr>
              <a:buSzPts val="1150"/>
              <a:buFont typeface="Calibri"/>
              <a:buNone/>
            </a:pPr>
            <a:r>
              <a:rPr b="1" i="0" lang="en-US" sz="1150" u="none" cap="none" strike="noStrike">
                <a:solidFill>
                  <a:srgbClr val="1D2A5C"/>
                </a:solidFill>
                <a:latin typeface="Calibri"/>
                <a:ea typeface="Calibri"/>
                <a:cs typeface="Calibri"/>
                <a:sym typeface="Calibri"/>
              </a:rPr>
              <a:t>Immutable by construction</a:t>
            </a:r>
            <a:endParaRPr b="0" i="0" sz="1150" u="none" cap="none" strike="noStrike">
              <a:solidFill>
                <a:schemeClr val="dk1"/>
              </a:solidFill>
              <a:latin typeface="Calibri"/>
              <a:ea typeface="Calibri"/>
              <a:cs typeface="Calibri"/>
              <a:sym typeface="Calibri"/>
            </a:endParaRPr>
          </a:p>
        </p:txBody>
      </p:sp>
      <p:sp>
        <p:nvSpPr>
          <p:cNvPr id="2733" name="Google Shape;2733;p98"/>
          <p:cNvSpPr/>
          <p:nvPr/>
        </p:nvSpPr>
        <p:spPr>
          <a:xfrm>
            <a:off x="8430768" y="1719072"/>
            <a:ext cx="3145536" cy="688086"/>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5F6B7A"/>
              </a:buClr>
              <a:buSzPts val="1000"/>
              <a:buFont typeface="Calibri"/>
              <a:buNone/>
            </a:pPr>
            <a:r>
              <a:rPr b="0" i="0" lang="en-US" sz="1000" u="none" cap="none" strike="noStrike">
                <a:solidFill>
                  <a:srgbClr val="5F6B7A"/>
                </a:solidFill>
                <a:latin typeface="Calibri"/>
                <a:ea typeface="Calibri"/>
                <a:cs typeface="Calibri"/>
                <a:sym typeface="Calibri"/>
              </a:rPr>
              <a:t>Tag over image hashes, manifest, spec version, changelog; v3 supersedes, never edits.</a:t>
            </a:r>
            <a:endParaRPr b="0" i="0" sz="1000" u="none" cap="none" strike="noStrike">
              <a:solidFill>
                <a:schemeClr val="dk1"/>
              </a:solidFill>
              <a:latin typeface="Calibri"/>
              <a:ea typeface="Calibri"/>
              <a:cs typeface="Calibri"/>
              <a:sym typeface="Calibri"/>
            </a:endParaRPr>
          </a:p>
        </p:txBody>
      </p:sp>
      <p:sp>
        <p:nvSpPr>
          <p:cNvPr id="2734" name="Google Shape;2734;p98"/>
          <p:cNvSpPr/>
          <p:nvPr/>
        </p:nvSpPr>
        <p:spPr>
          <a:xfrm>
            <a:off x="7973568" y="2681478"/>
            <a:ext cx="3712464" cy="1090422"/>
          </a:xfrm>
          <a:prstGeom prst="roundRect">
            <a:avLst>
              <a:gd fmla="val 5870" name="adj"/>
            </a:avLst>
          </a:prstGeom>
          <a:solidFill>
            <a:srgbClr val="F2F6F9"/>
          </a:solidFill>
          <a:ln cap="flat" cmpd="sng" w="12700">
            <a:solidFill>
              <a:srgbClr val="D9E2E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35" name="Google Shape;2735;p98"/>
          <p:cNvSpPr/>
          <p:nvPr/>
        </p:nvSpPr>
        <p:spPr>
          <a:xfrm>
            <a:off x="8101584" y="2800350"/>
            <a:ext cx="237744" cy="237744"/>
          </a:xfrm>
          <a:prstGeom prst="ellipse">
            <a:avLst/>
          </a:prstGeom>
          <a:solidFill>
            <a:srgbClr val="29ABE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36" name="Google Shape;2736;p98"/>
          <p:cNvSpPr/>
          <p:nvPr/>
        </p:nvSpPr>
        <p:spPr>
          <a:xfrm>
            <a:off x="8101584" y="2800350"/>
            <a:ext cx="237744" cy="23774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000"/>
              <a:buFont typeface="Calibri"/>
              <a:buNone/>
            </a:pPr>
            <a:r>
              <a:rPr b="1" i="0" lang="en-US" sz="1000" u="none" cap="none" strike="noStrike">
                <a:solidFill>
                  <a:srgbClr val="FFFFFF"/>
                </a:solidFill>
                <a:latin typeface="Calibri"/>
                <a:ea typeface="Calibri"/>
                <a:cs typeface="Calibri"/>
                <a:sym typeface="Calibri"/>
              </a:rPr>
              <a:t>2</a:t>
            </a:r>
            <a:endParaRPr b="0" i="0" sz="1000" u="none" cap="none" strike="noStrike">
              <a:solidFill>
                <a:schemeClr val="dk1"/>
              </a:solidFill>
              <a:latin typeface="Calibri"/>
              <a:ea typeface="Calibri"/>
              <a:cs typeface="Calibri"/>
              <a:sym typeface="Calibri"/>
            </a:endParaRPr>
          </a:p>
        </p:txBody>
      </p:sp>
      <p:sp>
        <p:nvSpPr>
          <p:cNvPr id="2737" name="Google Shape;2737;p98"/>
          <p:cNvSpPr/>
          <p:nvPr/>
        </p:nvSpPr>
        <p:spPr>
          <a:xfrm>
            <a:off x="8430768" y="2736342"/>
            <a:ext cx="3145536"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D2A5C"/>
              </a:buClr>
              <a:buSzPts val="1150"/>
              <a:buFont typeface="Calibri"/>
              <a:buNone/>
            </a:pPr>
            <a:r>
              <a:rPr b="1" i="0" lang="en-US" sz="1150" u="none" cap="none" strike="noStrike">
                <a:solidFill>
                  <a:srgbClr val="1D2A5C"/>
                </a:solidFill>
                <a:latin typeface="Calibri"/>
                <a:ea typeface="Calibri"/>
                <a:cs typeface="Calibri"/>
                <a:sym typeface="Calibri"/>
              </a:rPr>
              <a:t>Metrics need a version</a:t>
            </a:r>
            <a:endParaRPr b="0" i="0" sz="1150" u="none" cap="none" strike="noStrike">
              <a:solidFill>
                <a:schemeClr val="dk1"/>
              </a:solidFill>
              <a:latin typeface="Calibri"/>
              <a:ea typeface="Calibri"/>
              <a:cs typeface="Calibri"/>
              <a:sym typeface="Calibri"/>
            </a:endParaRPr>
          </a:p>
        </p:txBody>
      </p:sp>
      <p:sp>
        <p:nvSpPr>
          <p:cNvPr id="2738" name="Google Shape;2738;p98"/>
          <p:cNvSpPr/>
          <p:nvPr/>
        </p:nvSpPr>
        <p:spPr>
          <a:xfrm>
            <a:off x="8430768" y="3010662"/>
            <a:ext cx="3145536" cy="688086"/>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5F6B7A"/>
              </a:buClr>
              <a:buSzPts val="1000"/>
              <a:buFont typeface="Calibri"/>
              <a:buNone/>
            </a:pPr>
            <a:r>
              <a:rPr b="0" i="0" lang="en-US" sz="1000" u="none" cap="none" strike="noStrike">
                <a:solidFill>
                  <a:srgbClr val="5F6B7A"/>
                </a:solidFill>
                <a:latin typeface="Calibri"/>
                <a:ea typeface="Calibri"/>
                <a:cs typeface="Calibri"/>
                <a:sym typeface="Calibri"/>
              </a:rPr>
              <a:t>Metrics without a dataset version attached are anecdotes.</a:t>
            </a:r>
            <a:endParaRPr b="0" i="0" sz="1000" u="none" cap="none" strike="noStrike">
              <a:solidFill>
                <a:schemeClr val="dk1"/>
              </a:solidFill>
              <a:latin typeface="Calibri"/>
              <a:ea typeface="Calibri"/>
              <a:cs typeface="Calibri"/>
              <a:sym typeface="Calibri"/>
            </a:endParaRPr>
          </a:p>
        </p:txBody>
      </p:sp>
      <p:sp>
        <p:nvSpPr>
          <p:cNvPr id="2739" name="Google Shape;2739;p98"/>
          <p:cNvSpPr/>
          <p:nvPr/>
        </p:nvSpPr>
        <p:spPr>
          <a:xfrm>
            <a:off x="7973568" y="3973068"/>
            <a:ext cx="3712464" cy="1090422"/>
          </a:xfrm>
          <a:prstGeom prst="roundRect">
            <a:avLst>
              <a:gd fmla="val 5870" name="adj"/>
            </a:avLst>
          </a:prstGeom>
          <a:solidFill>
            <a:srgbClr val="F2F6F9"/>
          </a:solidFill>
          <a:ln cap="flat" cmpd="sng" w="12700">
            <a:solidFill>
              <a:srgbClr val="D9E2E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40" name="Google Shape;2740;p98"/>
          <p:cNvSpPr/>
          <p:nvPr/>
        </p:nvSpPr>
        <p:spPr>
          <a:xfrm>
            <a:off x="8101584" y="4091940"/>
            <a:ext cx="237744" cy="237744"/>
          </a:xfrm>
          <a:prstGeom prst="ellipse">
            <a:avLst/>
          </a:prstGeom>
          <a:solidFill>
            <a:srgbClr val="F5822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41" name="Google Shape;2741;p98"/>
          <p:cNvSpPr/>
          <p:nvPr/>
        </p:nvSpPr>
        <p:spPr>
          <a:xfrm>
            <a:off x="8101584" y="4091940"/>
            <a:ext cx="237744" cy="23774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000"/>
              <a:buFont typeface="Calibri"/>
              <a:buNone/>
            </a:pPr>
            <a:r>
              <a:rPr b="1" i="0" lang="en-US" sz="1000" u="none" cap="none" strike="noStrike">
                <a:solidFill>
                  <a:srgbClr val="FFFFFF"/>
                </a:solidFill>
                <a:latin typeface="Calibri"/>
                <a:ea typeface="Calibri"/>
                <a:cs typeface="Calibri"/>
                <a:sym typeface="Calibri"/>
              </a:rPr>
              <a:t>3</a:t>
            </a:r>
            <a:endParaRPr b="0" i="0" sz="1000" u="none" cap="none" strike="noStrike">
              <a:solidFill>
                <a:schemeClr val="dk1"/>
              </a:solidFill>
              <a:latin typeface="Calibri"/>
              <a:ea typeface="Calibri"/>
              <a:cs typeface="Calibri"/>
              <a:sym typeface="Calibri"/>
            </a:endParaRPr>
          </a:p>
        </p:txBody>
      </p:sp>
      <p:sp>
        <p:nvSpPr>
          <p:cNvPr id="2742" name="Google Shape;2742;p98"/>
          <p:cNvSpPr/>
          <p:nvPr/>
        </p:nvSpPr>
        <p:spPr>
          <a:xfrm>
            <a:off x="8430768" y="4027932"/>
            <a:ext cx="3145536"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D2A5C"/>
              </a:buClr>
              <a:buSzPts val="1150"/>
              <a:buFont typeface="Calibri"/>
              <a:buNone/>
            </a:pPr>
            <a:r>
              <a:rPr b="1" i="0" lang="en-US" sz="1150" u="none" cap="none" strike="noStrike">
                <a:solidFill>
                  <a:srgbClr val="1D2A5C"/>
                </a:solidFill>
                <a:latin typeface="Calibri"/>
                <a:ea typeface="Calibri"/>
                <a:cs typeface="Calibri"/>
                <a:sym typeface="Calibri"/>
              </a:rPr>
              <a:t>Test split frozen at v1</a:t>
            </a:r>
            <a:endParaRPr b="0" i="0" sz="1150" u="none" cap="none" strike="noStrike">
              <a:solidFill>
                <a:schemeClr val="dk1"/>
              </a:solidFill>
              <a:latin typeface="Calibri"/>
              <a:ea typeface="Calibri"/>
              <a:cs typeface="Calibri"/>
              <a:sym typeface="Calibri"/>
            </a:endParaRPr>
          </a:p>
        </p:txBody>
      </p:sp>
      <p:sp>
        <p:nvSpPr>
          <p:cNvPr id="2743" name="Google Shape;2743;p98"/>
          <p:cNvSpPr/>
          <p:nvPr/>
        </p:nvSpPr>
        <p:spPr>
          <a:xfrm>
            <a:off x="8430768" y="4302252"/>
            <a:ext cx="3145536" cy="688086"/>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5F6B7A"/>
              </a:buClr>
              <a:buSzPts val="1000"/>
              <a:buFont typeface="Calibri"/>
              <a:buNone/>
            </a:pPr>
            <a:r>
              <a:rPr b="0" i="0" lang="en-US" sz="1000" u="none" cap="none" strike="noStrike">
                <a:solidFill>
                  <a:srgbClr val="5F6B7A"/>
                </a:solidFill>
                <a:latin typeface="Calibri"/>
                <a:ea typeface="Calibri"/>
                <a:cs typeface="Calibri"/>
                <a:sym typeface="Calibri"/>
              </a:rPr>
              <a:t>Additions only, never re-shuffled; assignment by hash of session_id.</a:t>
            </a:r>
            <a:endParaRPr b="0" i="0" sz="1000" u="none" cap="none" strike="noStrike">
              <a:solidFill>
                <a:schemeClr val="dk1"/>
              </a:solidFill>
              <a:latin typeface="Calibri"/>
              <a:ea typeface="Calibri"/>
              <a:cs typeface="Calibri"/>
              <a:sym typeface="Calibri"/>
            </a:endParaRPr>
          </a:p>
        </p:txBody>
      </p:sp>
      <p:sp>
        <p:nvSpPr>
          <p:cNvPr id="2744" name="Google Shape;2744;p98"/>
          <p:cNvSpPr/>
          <p:nvPr/>
        </p:nvSpPr>
        <p:spPr>
          <a:xfrm>
            <a:off x="7973568" y="5264658"/>
            <a:ext cx="3712464" cy="1090422"/>
          </a:xfrm>
          <a:prstGeom prst="roundRect">
            <a:avLst>
              <a:gd fmla="val 5870" name="adj"/>
            </a:avLst>
          </a:prstGeom>
          <a:solidFill>
            <a:srgbClr val="F2F6F9"/>
          </a:solidFill>
          <a:ln cap="flat" cmpd="sng" w="12700">
            <a:solidFill>
              <a:srgbClr val="D9E2E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45" name="Google Shape;2745;p98"/>
          <p:cNvSpPr/>
          <p:nvPr/>
        </p:nvSpPr>
        <p:spPr>
          <a:xfrm>
            <a:off x="8101584" y="5383530"/>
            <a:ext cx="237744" cy="237744"/>
          </a:xfrm>
          <a:prstGeom prst="ellipse">
            <a:avLst/>
          </a:prstGeom>
          <a:solidFill>
            <a:srgbClr val="8DC63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46" name="Google Shape;2746;p98"/>
          <p:cNvSpPr/>
          <p:nvPr/>
        </p:nvSpPr>
        <p:spPr>
          <a:xfrm>
            <a:off x="8101584" y="5383530"/>
            <a:ext cx="237744" cy="23774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000"/>
              <a:buFont typeface="Calibri"/>
              <a:buNone/>
            </a:pPr>
            <a:r>
              <a:rPr b="1" i="0" lang="en-US" sz="1000" u="none" cap="none" strike="noStrike">
                <a:solidFill>
                  <a:srgbClr val="FFFFFF"/>
                </a:solidFill>
                <a:latin typeface="Calibri"/>
                <a:ea typeface="Calibri"/>
                <a:cs typeface="Calibri"/>
                <a:sym typeface="Calibri"/>
              </a:rPr>
              <a:t>4</a:t>
            </a:r>
            <a:endParaRPr b="0" i="0" sz="1000" u="none" cap="none" strike="noStrike">
              <a:solidFill>
                <a:schemeClr val="dk1"/>
              </a:solidFill>
              <a:latin typeface="Calibri"/>
              <a:ea typeface="Calibri"/>
              <a:cs typeface="Calibri"/>
              <a:sym typeface="Calibri"/>
            </a:endParaRPr>
          </a:p>
        </p:txBody>
      </p:sp>
      <p:sp>
        <p:nvSpPr>
          <p:cNvPr id="2747" name="Google Shape;2747;p98"/>
          <p:cNvSpPr/>
          <p:nvPr/>
        </p:nvSpPr>
        <p:spPr>
          <a:xfrm>
            <a:off x="8430768" y="5319522"/>
            <a:ext cx="3145536"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D2A5C"/>
              </a:buClr>
              <a:buSzPts val="1150"/>
              <a:buFont typeface="Calibri"/>
              <a:buNone/>
            </a:pPr>
            <a:r>
              <a:rPr b="1" i="0" lang="en-US" sz="1150" u="none" cap="none" strike="noStrike">
                <a:solidFill>
                  <a:srgbClr val="1D2A5C"/>
                </a:solidFill>
                <a:latin typeface="Calibri"/>
                <a:ea typeface="Calibri"/>
                <a:cs typeface="Calibri"/>
                <a:sym typeface="Calibri"/>
              </a:rPr>
              <a:t>Changelog answers 'why'</a:t>
            </a:r>
            <a:endParaRPr b="0" i="0" sz="1150" u="none" cap="none" strike="noStrike">
              <a:solidFill>
                <a:schemeClr val="dk1"/>
              </a:solidFill>
              <a:latin typeface="Calibri"/>
              <a:ea typeface="Calibri"/>
              <a:cs typeface="Calibri"/>
              <a:sym typeface="Calibri"/>
            </a:endParaRPr>
          </a:p>
        </p:txBody>
      </p:sp>
      <p:sp>
        <p:nvSpPr>
          <p:cNvPr id="2748" name="Google Shape;2748;p98"/>
          <p:cNvSpPr/>
          <p:nvPr/>
        </p:nvSpPr>
        <p:spPr>
          <a:xfrm>
            <a:off x="8430768" y="5593842"/>
            <a:ext cx="3145536" cy="688086"/>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5F6B7A"/>
              </a:buClr>
              <a:buSzPts val="1000"/>
              <a:buFont typeface="Calibri"/>
              <a:buNone/>
            </a:pPr>
            <a:r>
              <a:rPr b="0" i="0" lang="en-US" sz="1000" u="none" cap="none" strike="noStrike">
                <a:solidFill>
                  <a:srgbClr val="5F6B7A"/>
                </a:solidFill>
                <a:latin typeface="Calibri"/>
                <a:ea typeface="Calibri"/>
                <a:cs typeface="Calibri"/>
                <a:sym typeface="Calibri"/>
              </a:rPr>
              <a:t>v2's gain is split into cleaning vs new data — measured separately.</a:t>
            </a:r>
            <a:endParaRPr b="0" i="0" sz="1000" u="none" cap="none" strike="noStrike">
              <a:solidFill>
                <a:schemeClr val="dk1"/>
              </a:solidFill>
              <a:latin typeface="Calibri"/>
              <a:ea typeface="Calibri"/>
              <a:cs typeface="Calibri"/>
              <a:sym typeface="Calibri"/>
            </a:endParaRPr>
          </a:p>
        </p:txBody>
      </p:sp>
    </p:spTree>
  </p:cSld>
  <p:clrMapOvr>
    <a:masterClrMapping/>
  </p:clrMapOvr>
</p:sld>
</file>

<file path=ppt/slides/slide9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753" name="Shape 2753"/>
        <p:cNvGrpSpPr/>
        <p:nvPr/>
      </p:nvGrpSpPr>
      <p:grpSpPr>
        <a:xfrm>
          <a:off x="0" y="0"/>
          <a:ext cx="0" cy="0"/>
          <a:chOff x="0" y="0"/>
          <a:chExt cx="0" cy="0"/>
        </a:xfrm>
      </p:grpSpPr>
      <p:sp>
        <p:nvSpPr>
          <p:cNvPr id="2754" name="Google Shape;2754;p99"/>
          <p:cNvSpPr/>
          <p:nvPr/>
        </p:nvSpPr>
        <p:spPr>
          <a:xfrm>
            <a:off x="502920" y="274320"/>
            <a:ext cx="9646920" cy="56692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D2A5C"/>
              </a:buClr>
              <a:buSzPts val="2700"/>
              <a:buFont typeface="Calibri"/>
              <a:buNone/>
            </a:pPr>
            <a:r>
              <a:rPr b="1" i="0" lang="en-US" sz="2700" u="none" cap="none" strike="noStrike">
                <a:solidFill>
                  <a:srgbClr val="1D2A5C"/>
                </a:solidFill>
                <a:latin typeface="Calibri"/>
                <a:ea typeface="Calibri"/>
                <a:cs typeface="Calibri"/>
                <a:sym typeface="Calibri"/>
              </a:rPr>
              <a:t>Lab 5 — Audit and Curate Dataset v2</a:t>
            </a:r>
            <a:endParaRPr b="0" i="0" sz="2700" u="none" cap="none" strike="noStrike">
              <a:solidFill>
                <a:schemeClr val="dk1"/>
              </a:solidFill>
              <a:latin typeface="Calibri"/>
              <a:ea typeface="Calibri"/>
              <a:cs typeface="Calibri"/>
              <a:sym typeface="Calibri"/>
            </a:endParaRPr>
          </a:p>
        </p:txBody>
      </p:sp>
      <p:sp>
        <p:nvSpPr>
          <p:cNvPr id="2755" name="Google Shape;2755;p99"/>
          <p:cNvSpPr/>
          <p:nvPr/>
        </p:nvSpPr>
        <p:spPr>
          <a:xfrm>
            <a:off x="502920" y="859536"/>
            <a:ext cx="9646920" cy="31089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F6B7A"/>
              </a:buClr>
              <a:buSzPts val="1250"/>
              <a:buFont typeface="Arial"/>
              <a:buNone/>
            </a:pPr>
            <a:r>
              <a:rPr b="0" i="0" lang="en-US" sz="1250" u="none" cap="none" strike="noStrike">
                <a:solidFill>
                  <a:srgbClr val="5F6B7A"/>
                </a:solidFill>
                <a:latin typeface="Arial"/>
                <a:ea typeface="Arial"/>
                <a:cs typeface="Arial"/>
                <a:sym typeface="Arial"/>
              </a:rPr>
              <a:t>المختبر 5 — تدقيق وتنظيم النسخة الثانية</a:t>
            </a:r>
            <a:endParaRPr b="0" i="0" sz="1250" u="none" cap="none" strike="noStrike">
              <a:solidFill>
                <a:schemeClr val="dk1"/>
              </a:solidFill>
              <a:latin typeface="Calibri"/>
              <a:ea typeface="Calibri"/>
              <a:cs typeface="Calibri"/>
              <a:sym typeface="Calibri"/>
            </a:endParaRPr>
          </a:p>
        </p:txBody>
      </p:sp>
      <p:pic>
        <p:nvPicPr>
          <p:cNvPr descr="/sessions/blissful-determined-ritchie/build/assets/sdaia_logo.png" id="2756" name="Google Shape;2756;p99"/>
          <p:cNvPicPr preferRelativeResize="0"/>
          <p:nvPr/>
        </p:nvPicPr>
        <p:blipFill rotWithShape="1">
          <a:blip r:embed="rId3">
            <a:alphaModFix/>
          </a:blip>
          <a:srcRect b="0" l="0" r="0" t="0"/>
          <a:stretch/>
        </p:blipFill>
        <p:spPr>
          <a:xfrm>
            <a:off x="10625328" y="310896"/>
            <a:ext cx="1078992" cy="264111"/>
          </a:xfrm>
          <a:prstGeom prst="rect">
            <a:avLst/>
          </a:prstGeom>
          <a:noFill/>
          <a:ln>
            <a:noFill/>
          </a:ln>
        </p:spPr>
      </p:pic>
      <p:sp>
        <p:nvSpPr>
          <p:cNvPr id="2757" name="Google Shape;2757;p99"/>
          <p:cNvSpPr/>
          <p:nvPr/>
        </p:nvSpPr>
        <p:spPr>
          <a:xfrm>
            <a:off x="502920" y="6528816"/>
            <a:ext cx="8686800"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A79D"/>
              </a:buClr>
              <a:buSzPts val="800"/>
              <a:buFont typeface="Calibri"/>
              <a:buNone/>
            </a:pPr>
            <a:r>
              <a:rPr b="1" i="0" lang="en-US" sz="800" u="none" cap="none" strike="noStrike">
                <a:solidFill>
                  <a:srgbClr val="00A79D"/>
                </a:solidFill>
                <a:latin typeface="Calibri"/>
                <a:ea typeface="Calibri"/>
                <a:cs typeface="Calibri"/>
                <a:sym typeface="Calibri"/>
              </a:rPr>
              <a:t>MODULE 5 · LAB   </a:t>
            </a:r>
            <a:r>
              <a:rPr b="0" i="0" lang="en-US" sz="800" u="none" cap="none" strike="noStrike">
                <a:solidFill>
                  <a:srgbClr val="8A96A6"/>
                </a:solidFill>
                <a:latin typeface="Calibri"/>
                <a:ea typeface="Calibri"/>
                <a:cs typeface="Calibri"/>
                <a:sym typeface="Calibri"/>
              </a:rPr>
              <a:t>SDA-AIE-212 · Computer Vision Systems Development</a:t>
            </a:r>
            <a:endParaRPr b="0" i="0" sz="800" u="none" cap="none" strike="noStrike">
              <a:solidFill>
                <a:schemeClr val="dk1"/>
              </a:solidFill>
              <a:latin typeface="Calibri"/>
              <a:ea typeface="Calibri"/>
              <a:cs typeface="Calibri"/>
              <a:sym typeface="Calibri"/>
            </a:endParaRPr>
          </a:p>
        </p:txBody>
      </p:sp>
      <p:sp>
        <p:nvSpPr>
          <p:cNvPr id="2758" name="Google Shape;2758;p99"/>
          <p:cNvSpPr/>
          <p:nvPr/>
        </p:nvSpPr>
        <p:spPr>
          <a:xfrm>
            <a:off x="11292840" y="6528816"/>
            <a:ext cx="411480" cy="219456"/>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8A96A6"/>
              </a:buClr>
              <a:buSzPts val="900"/>
              <a:buFont typeface="Calibri"/>
              <a:buNone/>
            </a:pPr>
            <a:r>
              <a:rPr b="0" i="0" lang="en-US" sz="900" u="none" cap="none" strike="noStrike">
                <a:solidFill>
                  <a:srgbClr val="8A96A6"/>
                </a:solidFill>
                <a:latin typeface="Calibri"/>
                <a:ea typeface="Calibri"/>
                <a:cs typeface="Calibri"/>
                <a:sym typeface="Calibri"/>
              </a:rPr>
              <a:t>99</a:t>
            </a:r>
            <a:endParaRPr b="0" i="0" sz="900" u="none" cap="none" strike="noStrike">
              <a:solidFill>
                <a:schemeClr val="dk1"/>
              </a:solidFill>
              <a:latin typeface="Calibri"/>
              <a:ea typeface="Calibri"/>
              <a:cs typeface="Calibri"/>
              <a:sym typeface="Calibri"/>
            </a:endParaRPr>
          </a:p>
        </p:txBody>
      </p:sp>
      <p:sp>
        <p:nvSpPr>
          <p:cNvPr id="2759" name="Google Shape;2759;p99"/>
          <p:cNvSpPr/>
          <p:nvPr/>
        </p:nvSpPr>
        <p:spPr>
          <a:xfrm>
            <a:off x="502920" y="1389888"/>
            <a:ext cx="5806440" cy="932688"/>
          </a:xfrm>
          <a:prstGeom prst="roundRect">
            <a:avLst>
              <a:gd fmla="val 7843" name="adj"/>
            </a:avLst>
          </a:prstGeom>
          <a:solidFill>
            <a:srgbClr val="E9F6F5"/>
          </a:solidFill>
          <a:ln cap="flat" cmpd="sng" w="12700">
            <a:solidFill>
              <a:srgbClr val="00A79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60" name="Google Shape;2760;p99"/>
          <p:cNvSpPr/>
          <p:nvPr/>
        </p:nvSpPr>
        <p:spPr>
          <a:xfrm>
            <a:off x="649224" y="1463040"/>
            <a:ext cx="5532120"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A79D"/>
              </a:buClr>
              <a:buSzPts val="900"/>
              <a:buFont typeface="Calibri"/>
              <a:buNone/>
            </a:pPr>
            <a:r>
              <a:rPr b="1" i="0" lang="en-US" sz="900" u="none" cap="none" strike="noStrike">
                <a:solidFill>
                  <a:srgbClr val="00A79D"/>
                </a:solidFill>
                <a:latin typeface="Calibri"/>
                <a:ea typeface="Calibri"/>
                <a:cs typeface="Calibri"/>
                <a:sym typeface="Calibri"/>
              </a:rPr>
              <a:t>OBJECTIVE</a:t>
            </a:r>
            <a:endParaRPr b="0" i="0" sz="900" u="none" cap="none" strike="noStrike">
              <a:solidFill>
                <a:schemeClr val="dk1"/>
              </a:solidFill>
              <a:latin typeface="Calibri"/>
              <a:ea typeface="Calibri"/>
              <a:cs typeface="Calibri"/>
              <a:sym typeface="Calibri"/>
            </a:endParaRPr>
          </a:p>
        </p:txBody>
      </p:sp>
      <p:sp>
        <p:nvSpPr>
          <p:cNvPr id="2761" name="Google Shape;2761;p99"/>
          <p:cNvSpPr/>
          <p:nvPr/>
        </p:nvSpPr>
        <p:spPr>
          <a:xfrm>
            <a:off x="649224" y="1682496"/>
            <a:ext cx="5532120" cy="585216"/>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23293B"/>
              </a:buClr>
              <a:buSzPts val="939"/>
              <a:buFont typeface="Calibri"/>
              <a:buNone/>
            </a:pPr>
            <a:r>
              <a:rPr b="0" i="0" lang="en-US" sz="940" u="none" cap="none" strike="noStrike">
                <a:solidFill>
                  <a:srgbClr val="23293B"/>
                </a:solidFill>
                <a:latin typeface="Calibri"/>
                <a:ea typeface="Calibri"/>
                <a:cs typeface="Calibri"/>
                <a:sym typeface="Calibri"/>
              </a:rPr>
              <a:t>Find and triage label errors with model-assisted auditing, fix the annotation spec, run agreement analysis, and cut the versioned dates-qc-v2 release</a:t>
            </a:r>
            <a:endParaRPr b="0" i="0" sz="940" u="none" cap="none" strike="noStrike">
              <a:solidFill>
                <a:schemeClr val="dk1"/>
              </a:solidFill>
              <a:latin typeface="Calibri"/>
              <a:ea typeface="Calibri"/>
              <a:cs typeface="Calibri"/>
              <a:sym typeface="Calibri"/>
            </a:endParaRPr>
          </a:p>
        </p:txBody>
      </p:sp>
      <p:sp>
        <p:nvSpPr>
          <p:cNvPr id="2762" name="Google Shape;2762;p99"/>
          <p:cNvSpPr/>
          <p:nvPr/>
        </p:nvSpPr>
        <p:spPr>
          <a:xfrm>
            <a:off x="6510528" y="1389888"/>
            <a:ext cx="1600200" cy="932688"/>
          </a:xfrm>
          <a:prstGeom prst="roundRect">
            <a:avLst>
              <a:gd fmla="val 7843" name="adj"/>
            </a:avLst>
          </a:prstGeom>
          <a:solidFill>
            <a:srgbClr val="F2F6F9"/>
          </a:solidFill>
          <a:ln cap="flat" cmpd="sng" w="12700">
            <a:solidFill>
              <a:srgbClr val="D9E2E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63" name="Google Shape;2763;p99"/>
          <p:cNvSpPr/>
          <p:nvPr/>
        </p:nvSpPr>
        <p:spPr>
          <a:xfrm>
            <a:off x="6656832" y="1463040"/>
            <a:ext cx="1325880"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A79D"/>
              </a:buClr>
              <a:buSzPts val="900"/>
              <a:buFont typeface="Calibri"/>
              <a:buNone/>
            </a:pPr>
            <a:r>
              <a:rPr b="1" i="0" lang="en-US" sz="900" u="none" cap="none" strike="noStrike">
                <a:solidFill>
                  <a:srgbClr val="00A79D"/>
                </a:solidFill>
                <a:latin typeface="Calibri"/>
                <a:ea typeface="Calibri"/>
                <a:cs typeface="Calibri"/>
                <a:sym typeface="Calibri"/>
              </a:rPr>
              <a:t>DURATION</a:t>
            </a:r>
            <a:endParaRPr b="0" i="0" sz="900" u="none" cap="none" strike="noStrike">
              <a:solidFill>
                <a:schemeClr val="dk1"/>
              </a:solidFill>
              <a:latin typeface="Calibri"/>
              <a:ea typeface="Calibri"/>
              <a:cs typeface="Calibri"/>
              <a:sym typeface="Calibri"/>
            </a:endParaRPr>
          </a:p>
        </p:txBody>
      </p:sp>
      <p:sp>
        <p:nvSpPr>
          <p:cNvPr id="2764" name="Google Shape;2764;p99"/>
          <p:cNvSpPr/>
          <p:nvPr/>
        </p:nvSpPr>
        <p:spPr>
          <a:xfrm>
            <a:off x="6656832" y="1682496"/>
            <a:ext cx="1325880" cy="585216"/>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23293B"/>
              </a:buClr>
              <a:buSzPts val="1050"/>
              <a:buFont typeface="Calibri"/>
              <a:buNone/>
            </a:pPr>
            <a:r>
              <a:rPr b="0" i="0" lang="en-US" sz="1050" u="none" cap="none" strike="noStrike">
                <a:solidFill>
                  <a:srgbClr val="23293B"/>
                </a:solidFill>
                <a:latin typeface="Calibri"/>
                <a:ea typeface="Calibri"/>
                <a:cs typeface="Calibri"/>
                <a:sym typeface="Calibri"/>
              </a:rPr>
              <a:t>50 minutes</a:t>
            </a:r>
            <a:endParaRPr b="0" i="0" sz="1050" u="none" cap="none" strike="noStrike">
              <a:solidFill>
                <a:schemeClr val="dk1"/>
              </a:solidFill>
              <a:latin typeface="Calibri"/>
              <a:ea typeface="Calibri"/>
              <a:cs typeface="Calibri"/>
              <a:sym typeface="Calibri"/>
            </a:endParaRPr>
          </a:p>
        </p:txBody>
      </p:sp>
      <p:sp>
        <p:nvSpPr>
          <p:cNvPr id="2765" name="Google Shape;2765;p99"/>
          <p:cNvSpPr/>
          <p:nvPr/>
        </p:nvSpPr>
        <p:spPr>
          <a:xfrm>
            <a:off x="8311896" y="1389888"/>
            <a:ext cx="3383280" cy="932688"/>
          </a:xfrm>
          <a:prstGeom prst="roundRect">
            <a:avLst>
              <a:gd fmla="val 7843" name="adj"/>
            </a:avLst>
          </a:prstGeom>
          <a:solidFill>
            <a:srgbClr val="F2F6F9"/>
          </a:solidFill>
          <a:ln cap="flat" cmpd="sng" w="12700">
            <a:solidFill>
              <a:srgbClr val="D9E2E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66" name="Google Shape;2766;p99"/>
          <p:cNvSpPr/>
          <p:nvPr/>
        </p:nvSpPr>
        <p:spPr>
          <a:xfrm>
            <a:off x="8458200" y="1463040"/>
            <a:ext cx="3108960"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A79D"/>
              </a:buClr>
              <a:buSzPts val="900"/>
              <a:buFont typeface="Calibri"/>
              <a:buNone/>
            </a:pPr>
            <a:r>
              <a:rPr b="1" i="0" lang="en-US" sz="900" u="none" cap="none" strike="noStrike">
                <a:solidFill>
                  <a:srgbClr val="00A79D"/>
                </a:solidFill>
                <a:latin typeface="Calibri"/>
                <a:ea typeface="Calibri"/>
                <a:cs typeface="Calibri"/>
                <a:sym typeface="Calibri"/>
              </a:rPr>
              <a:t>SETUP</a:t>
            </a:r>
            <a:endParaRPr b="0" i="0" sz="900" u="none" cap="none" strike="noStrike">
              <a:solidFill>
                <a:schemeClr val="dk1"/>
              </a:solidFill>
              <a:latin typeface="Calibri"/>
              <a:ea typeface="Calibri"/>
              <a:cs typeface="Calibri"/>
              <a:sym typeface="Calibri"/>
            </a:endParaRPr>
          </a:p>
        </p:txBody>
      </p:sp>
      <p:sp>
        <p:nvSpPr>
          <p:cNvPr id="2767" name="Google Shape;2767;p99"/>
          <p:cNvSpPr/>
          <p:nvPr/>
        </p:nvSpPr>
        <p:spPr>
          <a:xfrm>
            <a:off x="8458200" y="1682496"/>
            <a:ext cx="3108960" cy="585216"/>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23293B"/>
              </a:buClr>
              <a:buSzPts val="1050"/>
              <a:buFont typeface="Calibri"/>
              <a:buNone/>
            </a:pPr>
            <a:r>
              <a:rPr b="0" i="0" lang="en-US" sz="1050" u="none" cap="none" strike="noStrike">
                <a:solidFill>
                  <a:srgbClr val="23293B"/>
                </a:solidFill>
                <a:latin typeface="Calibri"/>
                <a:ea typeface="Calibri"/>
                <a:cs typeface="Calibri"/>
                <a:sym typeface="Calibri"/>
              </a:rPr>
              <a:t>M2 + M3 checkpoints; git checkout lab5-start; CVAT/Label Studio reachable</a:t>
            </a:r>
            <a:endParaRPr b="0" i="0" sz="1050" u="none" cap="none" strike="noStrike">
              <a:solidFill>
                <a:schemeClr val="dk1"/>
              </a:solidFill>
              <a:latin typeface="Calibri"/>
              <a:ea typeface="Calibri"/>
              <a:cs typeface="Calibri"/>
              <a:sym typeface="Calibri"/>
            </a:endParaRPr>
          </a:p>
        </p:txBody>
      </p:sp>
      <p:sp>
        <p:nvSpPr>
          <p:cNvPr id="2768" name="Google Shape;2768;p99"/>
          <p:cNvSpPr/>
          <p:nvPr/>
        </p:nvSpPr>
        <p:spPr>
          <a:xfrm>
            <a:off x="502920" y="2661666"/>
            <a:ext cx="274320" cy="274320"/>
          </a:xfrm>
          <a:prstGeom prst="ellipse">
            <a:avLst/>
          </a:prstGeom>
          <a:solidFill>
            <a:srgbClr val="1D2A5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69" name="Google Shape;2769;p99"/>
          <p:cNvSpPr/>
          <p:nvPr/>
        </p:nvSpPr>
        <p:spPr>
          <a:xfrm>
            <a:off x="502920" y="2661666"/>
            <a:ext cx="274320" cy="2743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100"/>
              <a:buFont typeface="Calibri"/>
              <a:buNone/>
            </a:pPr>
            <a:r>
              <a:rPr b="1" i="0" lang="en-US" sz="1100" u="none" cap="none" strike="noStrike">
                <a:solidFill>
                  <a:srgbClr val="FFFFFF"/>
                </a:solidFill>
                <a:latin typeface="Calibri"/>
                <a:ea typeface="Calibri"/>
                <a:cs typeface="Calibri"/>
                <a:sym typeface="Calibri"/>
              </a:rPr>
              <a:t>1</a:t>
            </a:r>
            <a:endParaRPr b="0" i="0" sz="1100" u="none" cap="none" strike="noStrike">
              <a:solidFill>
                <a:schemeClr val="dk1"/>
              </a:solidFill>
              <a:latin typeface="Calibri"/>
              <a:ea typeface="Calibri"/>
              <a:cs typeface="Calibri"/>
              <a:sym typeface="Calibri"/>
            </a:endParaRPr>
          </a:p>
        </p:txBody>
      </p:sp>
      <p:sp>
        <p:nvSpPr>
          <p:cNvPr id="2770" name="Google Shape;2770;p99"/>
          <p:cNvSpPr/>
          <p:nvPr/>
        </p:nvSpPr>
        <p:spPr>
          <a:xfrm>
            <a:off x="886968" y="2661666"/>
            <a:ext cx="658368" cy="274320"/>
          </a:xfrm>
          <a:prstGeom prst="roundRect">
            <a:avLst>
              <a:gd fmla="val 50000" name="adj"/>
            </a:avLst>
          </a:prstGeom>
          <a:solidFill>
            <a:srgbClr val="E9F6F5"/>
          </a:solidFill>
          <a:ln cap="flat" cmpd="sng" w="9525">
            <a:solidFill>
              <a:srgbClr val="00A79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71" name="Google Shape;2771;p99"/>
          <p:cNvSpPr/>
          <p:nvPr/>
        </p:nvSpPr>
        <p:spPr>
          <a:xfrm>
            <a:off x="886968" y="2661666"/>
            <a:ext cx="658368" cy="2743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56A63"/>
              </a:buClr>
              <a:buSzPts val="900"/>
              <a:buFont typeface="Calibri"/>
              <a:buNone/>
            </a:pPr>
            <a:r>
              <a:rPr b="1" i="0" lang="en-US" sz="900" u="none" cap="none" strike="noStrike">
                <a:solidFill>
                  <a:srgbClr val="056A63"/>
                </a:solidFill>
                <a:latin typeface="Calibri"/>
                <a:ea typeface="Calibri"/>
                <a:cs typeface="Calibri"/>
                <a:sym typeface="Calibri"/>
              </a:rPr>
              <a:t>10 min</a:t>
            </a:r>
            <a:endParaRPr b="0" i="0" sz="900" u="none" cap="none" strike="noStrike">
              <a:solidFill>
                <a:schemeClr val="dk1"/>
              </a:solidFill>
              <a:latin typeface="Calibri"/>
              <a:ea typeface="Calibri"/>
              <a:cs typeface="Calibri"/>
              <a:sym typeface="Calibri"/>
            </a:endParaRPr>
          </a:p>
        </p:txBody>
      </p:sp>
      <p:sp>
        <p:nvSpPr>
          <p:cNvPr id="2772" name="Google Shape;2772;p99"/>
          <p:cNvSpPr/>
          <p:nvPr/>
        </p:nvSpPr>
        <p:spPr>
          <a:xfrm>
            <a:off x="1673352" y="2523744"/>
            <a:ext cx="5733288" cy="5867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3293B"/>
              </a:buClr>
              <a:buSzPts val="1150"/>
              <a:buFont typeface="Calibri"/>
              <a:buNone/>
            </a:pPr>
            <a:r>
              <a:rPr b="0" i="0" lang="en-US" sz="1150" u="none" cap="none" strike="noStrike">
                <a:solidFill>
                  <a:srgbClr val="23293B"/>
                </a:solidFill>
                <a:latin typeface="Calibri"/>
                <a:ea typeface="Calibri"/>
                <a:cs typeface="Calibri"/>
                <a:sym typeface="Calibri"/>
              </a:rPr>
              <a:t>Run audit_labels.py; triage the top 40: label error / model error / ambiguous</a:t>
            </a:r>
            <a:endParaRPr b="0" i="0" sz="1150" u="none" cap="none" strike="noStrike">
              <a:solidFill>
                <a:schemeClr val="dk1"/>
              </a:solidFill>
              <a:latin typeface="Calibri"/>
              <a:ea typeface="Calibri"/>
              <a:cs typeface="Calibri"/>
              <a:sym typeface="Calibri"/>
            </a:endParaRPr>
          </a:p>
        </p:txBody>
      </p:sp>
      <p:sp>
        <p:nvSpPr>
          <p:cNvPr id="2773" name="Google Shape;2773;p99"/>
          <p:cNvSpPr/>
          <p:nvPr/>
        </p:nvSpPr>
        <p:spPr>
          <a:xfrm>
            <a:off x="502920" y="3303270"/>
            <a:ext cx="274320" cy="274320"/>
          </a:xfrm>
          <a:prstGeom prst="ellipse">
            <a:avLst/>
          </a:prstGeom>
          <a:solidFill>
            <a:srgbClr val="1D2A5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74" name="Google Shape;2774;p99"/>
          <p:cNvSpPr/>
          <p:nvPr/>
        </p:nvSpPr>
        <p:spPr>
          <a:xfrm>
            <a:off x="502920" y="3303270"/>
            <a:ext cx="274320" cy="2743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100"/>
              <a:buFont typeface="Calibri"/>
              <a:buNone/>
            </a:pPr>
            <a:r>
              <a:rPr b="1" i="0" lang="en-US" sz="1100" u="none" cap="none" strike="noStrike">
                <a:solidFill>
                  <a:srgbClr val="FFFFFF"/>
                </a:solidFill>
                <a:latin typeface="Calibri"/>
                <a:ea typeface="Calibri"/>
                <a:cs typeface="Calibri"/>
                <a:sym typeface="Calibri"/>
              </a:rPr>
              <a:t>2</a:t>
            </a:r>
            <a:endParaRPr b="0" i="0" sz="1100" u="none" cap="none" strike="noStrike">
              <a:solidFill>
                <a:schemeClr val="dk1"/>
              </a:solidFill>
              <a:latin typeface="Calibri"/>
              <a:ea typeface="Calibri"/>
              <a:cs typeface="Calibri"/>
              <a:sym typeface="Calibri"/>
            </a:endParaRPr>
          </a:p>
        </p:txBody>
      </p:sp>
      <p:sp>
        <p:nvSpPr>
          <p:cNvPr id="2775" name="Google Shape;2775;p99"/>
          <p:cNvSpPr/>
          <p:nvPr/>
        </p:nvSpPr>
        <p:spPr>
          <a:xfrm>
            <a:off x="886968" y="3303270"/>
            <a:ext cx="658368" cy="274320"/>
          </a:xfrm>
          <a:prstGeom prst="roundRect">
            <a:avLst>
              <a:gd fmla="val 50000" name="adj"/>
            </a:avLst>
          </a:prstGeom>
          <a:solidFill>
            <a:srgbClr val="E9F6F5"/>
          </a:solidFill>
          <a:ln cap="flat" cmpd="sng" w="9525">
            <a:solidFill>
              <a:srgbClr val="00A79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76" name="Google Shape;2776;p99"/>
          <p:cNvSpPr/>
          <p:nvPr/>
        </p:nvSpPr>
        <p:spPr>
          <a:xfrm>
            <a:off x="886968" y="3303270"/>
            <a:ext cx="658368" cy="2743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56A63"/>
              </a:buClr>
              <a:buSzPts val="900"/>
              <a:buFont typeface="Calibri"/>
              <a:buNone/>
            </a:pPr>
            <a:r>
              <a:rPr b="1" i="0" lang="en-US" sz="900" u="none" cap="none" strike="noStrike">
                <a:solidFill>
                  <a:srgbClr val="056A63"/>
                </a:solidFill>
                <a:latin typeface="Calibri"/>
                <a:ea typeface="Calibri"/>
                <a:cs typeface="Calibri"/>
                <a:sym typeface="Calibri"/>
              </a:rPr>
              <a:t>8 min</a:t>
            </a:r>
            <a:endParaRPr b="0" i="0" sz="900" u="none" cap="none" strike="noStrike">
              <a:solidFill>
                <a:schemeClr val="dk1"/>
              </a:solidFill>
              <a:latin typeface="Calibri"/>
              <a:ea typeface="Calibri"/>
              <a:cs typeface="Calibri"/>
              <a:sym typeface="Calibri"/>
            </a:endParaRPr>
          </a:p>
        </p:txBody>
      </p:sp>
      <p:sp>
        <p:nvSpPr>
          <p:cNvPr id="2777" name="Google Shape;2777;p99"/>
          <p:cNvSpPr/>
          <p:nvPr/>
        </p:nvSpPr>
        <p:spPr>
          <a:xfrm>
            <a:off x="1673352" y="3165348"/>
            <a:ext cx="5733288" cy="5867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3293B"/>
              </a:buClr>
              <a:buSzPts val="1150"/>
              <a:buFont typeface="Calibri"/>
              <a:buNone/>
            </a:pPr>
            <a:r>
              <a:rPr b="0" i="0" lang="en-US" sz="1150" u="none" cap="none" strike="noStrike">
                <a:solidFill>
                  <a:srgbClr val="23293B"/>
                </a:solidFill>
                <a:latin typeface="Calibri"/>
                <a:ea typeface="Calibri"/>
                <a:cs typeface="Calibri"/>
                <a:sym typeface="Calibri"/>
              </a:rPr>
              <a:t>Draft one boundary rule + one gallery entry; PR against ANNOTATION_SPEC.md</a:t>
            </a:r>
            <a:endParaRPr b="0" i="0" sz="1150" u="none" cap="none" strike="noStrike">
              <a:solidFill>
                <a:schemeClr val="dk1"/>
              </a:solidFill>
              <a:latin typeface="Calibri"/>
              <a:ea typeface="Calibri"/>
              <a:cs typeface="Calibri"/>
              <a:sym typeface="Calibri"/>
            </a:endParaRPr>
          </a:p>
        </p:txBody>
      </p:sp>
      <p:sp>
        <p:nvSpPr>
          <p:cNvPr id="2778" name="Google Shape;2778;p99"/>
          <p:cNvSpPr/>
          <p:nvPr/>
        </p:nvSpPr>
        <p:spPr>
          <a:xfrm>
            <a:off x="502920" y="3944874"/>
            <a:ext cx="274320" cy="274320"/>
          </a:xfrm>
          <a:prstGeom prst="ellipse">
            <a:avLst/>
          </a:prstGeom>
          <a:solidFill>
            <a:srgbClr val="1D2A5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79" name="Google Shape;2779;p99"/>
          <p:cNvSpPr/>
          <p:nvPr/>
        </p:nvSpPr>
        <p:spPr>
          <a:xfrm>
            <a:off x="502920" y="3944874"/>
            <a:ext cx="274320" cy="2743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100"/>
              <a:buFont typeface="Calibri"/>
              <a:buNone/>
            </a:pPr>
            <a:r>
              <a:rPr b="1" i="0" lang="en-US" sz="1100" u="none" cap="none" strike="noStrike">
                <a:solidFill>
                  <a:srgbClr val="FFFFFF"/>
                </a:solidFill>
                <a:latin typeface="Calibri"/>
                <a:ea typeface="Calibri"/>
                <a:cs typeface="Calibri"/>
                <a:sym typeface="Calibri"/>
              </a:rPr>
              <a:t>3</a:t>
            </a:r>
            <a:endParaRPr b="0" i="0" sz="1100" u="none" cap="none" strike="noStrike">
              <a:solidFill>
                <a:schemeClr val="dk1"/>
              </a:solidFill>
              <a:latin typeface="Calibri"/>
              <a:ea typeface="Calibri"/>
              <a:cs typeface="Calibri"/>
              <a:sym typeface="Calibri"/>
            </a:endParaRPr>
          </a:p>
        </p:txBody>
      </p:sp>
      <p:sp>
        <p:nvSpPr>
          <p:cNvPr id="2780" name="Google Shape;2780;p99"/>
          <p:cNvSpPr/>
          <p:nvPr/>
        </p:nvSpPr>
        <p:spPr>
          <a:xfrm>
            <a:off x="886968" y="3944874"/>
            <a:ext cx="658368" cy="274320"/>
          </a:xfrm>
          <a:prstGeom prst="roundRect">
            <a:avLst>
              <a:gd fmla="val 50000" name="adj"/>
            </a:avLst>
          </a:prstGeom>
          <a:solidFill>
            <a:srgbClr val="E9F6F5"/>
          </a:solidFill>
          <a:ln cap="flat" cmpd="sng" w="9525">
            <a:solidFill>
              <a:srgbClr val="00A79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81" name="Google Shape;2781;p99"/>
          <p:cNvSpPr/>
          <p:nvPr/>
        </p:nvSpPr>
        <p:spPr>
          <a:xfrm>
            <a:off x="886968" y="3944874"/>
            <a:ext cx="658368" cy="2743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56A63"/>
              </a:buClr>
              <a:buSzPts val="900"/>
              <a:buFont typeface="Calibri"/>
              <a:buNone/>
            </a:pPr>
            <a:r>
              <a:rPr b="1" i="0" lang="en-US" sz="900" u="none" cap="none" strike="noStrike">
                <a:solidFill>
                  <a:srgbClr val="056A63"/>
                </a:solidFill>
                <a:latin typeface="Calibri"/>
                <a:ea typeface="Calibri"/>
                <a:cs typeface="Calibri"/>
                <a:sym typeface="Calibri"/>
              </a:rPr>
              <a:t>8 min</a:t>
            </a:r>
            <a:endParaRPr b="0" i="0" sz="900" u="none" cap="none" strike="noStrike">
              <a:solidFill>
                <a:schemeClr val="dk1"/>
              </a:solidFill>
              <a:latin typeface="Calibri"/>
              <a:ea typeface="Calibri"/>
              <a:cs typeface="Calibri"/>
              <a:sym typeface="Calibri"/>
            </a:endParaRPr>
          </a:p>
        </p:txBody>
      </p:sp>
      <p:sp>
        <p:nvSpPr>
          <p:cNvPr id="2782" name="Google Shape;2782;p99"/>
          <p:cNvSpPr/>
          <p:nvPr/>
        </p:nvSpPr>
        <p:spPr>
          <a:xfrm>
            <a:off x="1673352" y="3806952"/>
            <a:ext cx="5733288" cy="5867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3293B"/>
              </a:buClr>
              <a:buSzPts val="1150"/>
              <a:buFont typeface="Calibri"/>
              <a:buNone/>
            </a:pPr>
            <a:r>
              <a:rPr b="0" i="0" lang="en-US" sz="1150" u="none" cap="none" strike="noStrike">
                <a:solidFill>
                  <a:srgbClr val="23293B"/>
                </a:solidFill>
                <a:latin typeface="Calibri"/>
                <a:ea typeface="Calibri"/>
                <a:cs typeface="Calibri"/>
                <a:sym typeface="Calibri"/>
              </a:rPr>
              <a:t>Run agreement.py; find the class pair driving annotator disagreement</a:t>
            </a:r>
            <a:endParaRPr b="0" i="0" sz="1150" u="none" cap="none" strike="noStrike">
              <a:solidFill>
                <a:schemeClr val="dk1"/>
              </a:solidFill>
              <a:latin typeface="Calibri"/>
              <a:ea typeface="Calibri"/>
              <a:cs typeface="Calibri"/>
              <a:sym typeface="Calibri"/>
            </a:endParaRPr>
          </a:p>
        </p:txBody>
      </p:sp>
      <p:sp>
        <p:nvSpPr>
          <p:cNvPr id="2783" name="Google Shape;2783;p99"/>
          <p:cNvSpPr/>
          <p:nvPr/>
        </p:nvSpPr>
        <p:spPr>
          <a:xfrm>
            <a:off x="502920" y="4586478"/>
            <a:ext cx="274320" cy="274320"/>
          </a:xfrm>
          <a:prstGeom prst="ellipse">
            <a:avLst/>
          </a:prstGeom>
          <a:solidFill>
            <a:srgbClr val="1D2A5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84" name="Google Shape;2784;p99"/>
          <p:cNvSpPr/>
          <p:nvPr/>
        </p:nvSpPr>
        <p:spPr>
          <a:xfrm>
            <a:off x="502920" y="4586478"/>
            <a:ext cx="274320" cy="2743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100"/>
              <a:buFont typeface="Calibri"/>
              <a:buNone/>
            </a:pPr>
            <a:r>
              <a:rPr b="1" i="0" lang="en-US" sz="1100" u="none" cap="none" strike="noStrike">
                <a:solidFill>
                  <a:srgbClr val="FFFFFF"/>
                </a:solidFill>
                <a:latin typeface="Calibri"/>
                <a:ea typeface="Calibri"/>
                <a:cs typeface="Calibri"/>
                <a:sym typeface="Calibri"/>
              </a:rPr>
              <a:t>4</a:t>
            </a:r>
            <a:endParaRPr b="0" i="0" sz="1100" u="none" cap="none" strike="noStrike">
              <a:solidFill>
                <a:schemeClr val="dk1"/>
              </a:solidFill>
              <a:latin typeface="Calibri"/>
              <a:ea typeface="Calibri"/>
              <a:cs typeface="Calibri"/>
              <a:sym typeface="Calibri"/>
            </a:endParaRPr>
          </a:p>
        </p:txBody>
      </p:sp>
      <p:sp>
        <p:nvSpPr>
          <p:cNvPr id="2785" name="Google Shape;2785;p99"/>
          <p:cNvSpPr/>
          <p:nvPr/>
        </p:nvSpPr>
        <p:spPr>
          <a:xfrm>
            <a:off x="886968" y="4586478"/>
            <a:ext cx="658368" cy="274320"/>
          </a:xfrm>
          <a:prstGeom prst="roundRect">
            <a:avLst>
              <a:gd fmla="val 50000" name="adj"/>
            </a:avLst>
          </a:prstGeom>
          <a:solidFill>
            <a:srgbClr val="E9F6F5"/>
          </a:solidFill>
          <a:ln cap="flat" cmpd="sng" w="9525">
            <a:solidFill>
              <a:srgbClr val="00A79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86" name="Google Shape;2786;p99"/>
          <p:cNvSpPr/>
          <p:nvPr/>
        </p:nvSpPr>
        <p:spPr>
          <a:xfrm>
            <a:off x="886968" y="4586478"/>
            <a:ext cx="658368" cy="2743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56A63"/>
              </a:buClr>
              <a:buSzPts val="900"/>
              <a:buFont typeface="Calibri"/>
              <a:buNone/>
            </a:pPr>
            <a:r>
              <a:rPr b="1" i="0" lang="en-US" sz="900" u="none" cap="none" strike="noStrike">
                <a:solidFill>
                  <a:srgbClr val="056A63"/>
                </a:solidFill>
                <a:latin typeface="Calibri"/>
                <a:ea typeface="Calibri"/>
                <a:cs typeface="Calibri"/>
                <a:sym typeface="Calibri"/>
              </a:rPr>
              <a:t>12 min</a:t>
            </a:r>
            <a:endParaRPr b="0" i="0" sz="900" u="none" cap="none" strike="noStrike">
              <a:solidFill>
                <a:schemeClr val="dk1"/>
              </a:solidFill>
              <a:latin typeface="Calibri"/>
              <a:ea typeface="Calibri"/>
              <a:cs typeface="Calibri"/>
              <a:sym typeface="Calibri"/>
            </a:endParaRPr>
          </a:p>
        </p:txBody>
      </p:sp>
      <p:sp>
        <p:nvSpPr>
          <p:cNvPr id="2787" name="Google Shape;2787;p99"/>
          <p:cNvSpPr/>
          <p:nvPr/>
        </p:nvSpPr>
        <p:spPr>
          <a:xfrm>
            <a:off x="1673352" y="4448556"/>
            <a:ext cx="5733288" cy="5867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3293B"/>
              </a:buClr>
              <a:buSzPts val="1150"/>
              <a:buFont typeface="Calibri"/>
              <a:buNone/>
            </a:pPr>
            <a:r>
              <a:rPr b="0" i="0" lang="en-US" sz="1150" u="none" cap="none" strike="noStrike">
                <a:solidFill>
                  <a:srgbClr val="23293B"/>
                </a:solidFill>
                <a:latin typeface="Calibri"/>
                <a:ea typeface="Calibri"/>
                <a:cs typeface="Calibri"/>
                <a:sym typeface="Calibri"/>
              </a:rPr>
              <a:t>Relabel triaged errors (pre-labelling ON); note your own correction rate</a:t>
            </a:r>
            <a:endParaRPr b="0" i="0" sz="1150" u="none" cap="none" strike="noStrike">
              <a:solidFill>
                <a:schemeClr val="dk1"/>
              </a:solidFill>
              <a:latin typeface="Calibri"/>
              <a:ea typeface="Calibri"/>
              <a:cs typeface="Calibri"/>
              <a:sym typeface="Calibri"/>
            </a:endParaRPr>
          </a:p>
        </p:txBody>
      </p:sp>
      <p:sp>
        <p:nvSpPr>
          <p:cNvPr id="2788" name="Google Shape;2788;p99"/>
          <p:cNvSpPr/>
          <p:nvPr/>
        </p:nvSpPr>
        <p:spPr>
          <a:xfrm>
            <a:off x="502920" y="5228082"/>
            <a:ext cx="274320" cy="274320"/>
          </a:xfrm>
          <a:prstGeom prst="ellipse">
            <a:avLst/>
          </a:prstGeom>
          <a:solidFill>
            <a:srgbClr val="1D2A5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89" name="Google Shape;2789;p99"/>
          <p:cNvSpPr/>
          <p:nvPr/>
        </p:nvSpPr>
        <p:spPr>
          <a:xfrm>
            <a:off x="502920" y="5228082"/>
            <a:ext cx="274320" cy="2743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100"/>
              <a:buFont typeface="Calibri"/>
              <a:buNone/>
            </a:pPr>
            <a:r>
              <a:rPr b="1" i="0" lang="en-US" sz="1100" u="none" cap="none" strike="noStrike">
                <a:solidFill>
                  <a:srgbClr val="FFFFFF"/>
                </a:solidFill>
                <a:latin typeface="Calibri"/>
                <a:ea typeface="Calibri"/>
                <a:cs typeface="Calibri"/>
                <a:sym typeface="Calibri"/>
              </a:rPr>
              <a:t>5</a:t>
            </a:r>
            <a:endParaRPr b="0" i="0" sz="1100" u="none" cap="none" strike="noStrike">
              <a:solidFill>
                <a:schemeClr val="dk1"/>
              </a:solidFill>
              <a:latin typeface="Calibri"/>
              <a:ea typeface="Calibri"/>
              <a:cs typeface="Calibri"/>
              <a:sym typeface="Calibri"/>
            </a:endParaRPr>
          </a:p>
        </p:txBody>
      </p:sp>
      <p:sp>
        <p:nvSpPr>
          <p:cNvPr id="2790" name="Google Shape;2790;p99"/>
          <p:cNvSpPr/>
          <p:nvPr/>
        </p:nvSpPr>
        <p:spPr>
          <a:xfrm>
            <a:off x="886968" y="5228082"/>
            <a:ext cx="658368" cy="274320"/>
          </a:xfrm>
          <a:prstGeom prst="roundRect">
            <a:avLst>
              <a:gd fmla="val 50000" name="adj"/>
            </a:avLst>
          </a:prstGeom>
          <a:solidFill>
            <a:srgbClr val="E9F6F5"/>
          </a:solidFill>
          <a:ln cap="flat" cmpd="sng" w="9525">
            <a:solidFill>
              <a:srgbClr val="00A79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91" name="Google Shape;2791;p99"/>
          <p:cNvSpPr/>
          <p:nvPr/>
        </p:nvSpPr>
        <p:spPr>
          <a:xfrm>
            <a:off x="886968" y="5228082"/>
            <a:ext cx="658368" cy="2743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56A63"/>
              </a:buClr>
              <a:buSzPts val="900"/>
              <a:buFont typeface="Calibri"/>
              <a:buNone/>
            </a:pPr>
            <a:r>
              <a:rPr b="1" i="0" lang="en-US" sz="900" u="none" cap="none" strike="noStrike">
                <a:solidFill>
                  <a:srgbClr val="056A63"/>
                </a:solidFill>
                <a:latin typeface="Calibri"/>
                <a:ea typeface="Calibri"/>
                <a:cs typeface="Calibri"/>
                <a:sym typeface="Calibri"/>
              </a:rPr>
              <a:t>8 min</a:t>
            </a:r>
            <a:endParaRPr b="0" i="0" sz="900" u="none" cap="none" strike="noStrike">
              <a:solidFill>
                <a:schemeClr val="dk1"/>
              </a:solidFill>
              <a:latin typeface="Calibri"/>
              <a:ea typeface="Calibri"/>
              <a:cs typeface="Calibri"/>
              <a:sym typeface="Calibri"/>
            </a:endParaRPr>
          </a:p>
        </p:txBody>
      </p:sp>
      <p:sp>
        <p:nvSpPr>
          <p:cNvPr id="2792" name="Google Shape;2792;p99"/>
          <p:cNvSpPr/>
          <p:nvPr/>
        </p:nvSpPr>
        <p:spPr>
          <a:xfrm>
            <a:off x="1673352" y="5090160"/>
            <a:ext cx="5733288" cy="5867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3293B"/>
              </a:buClr>
              <a:buSzPts val="1150"/>
              <a:buFont typeface="Calibri"/>
              <a:buNone/>
            </a:pPr>
            <a:r>
              <a:rPr b="0" i="0" lang="en-US" sz="1150" u="none" cap="none" strike="noStrike">
                <a:solidFill>
                  <a:srgbClr val="23293B"/>
                </a:solidFill>
                <a:latin typeface="Calibri"/>
                <a:ea typeface="Calibri"/>
                <a:cs typeface="Calibri"/>
                <a:sym typeface="Calibri"/>
              </a:rPr>
              <a:t>Select round-2 batch + random control; cut the release; verify split freeze</a:t>
            </a:r>
            <a:endParaRPr b="0" i="0" sz="1150" u="none" cap="none" strike="noStrike">
              <a:solidFill>
                <a:schemeClr val="dk1"/>
              </a:solidFill>
              <a:latin typeface="Calibri"/>
              <a:ea typeface="Calibri"/>
              <a:cs typeface="Calibri"/>
              <a:sym typeface="Calibri"/>
            </a:endParaRPr>
          </a:p>
        </p:txBody>
      </p:sp>
      <p:sp>
        <p:nvSpPr>
          <p:cNvPr id="2793" name="Google Shape;2793;p99"/>
          <p:cNvSpPr/>
          <p:nvPr/>
        </p:nvSpPr>
        <p:spPr>
          <a:xfrm>
            <a:off x="502920" y="5869686"/>
            <a:ext cx="274320" cy="274320"/>
          </a:xfrm>
          <a:prstGeom prst="ellipse">
            <a:avLst/>
          </a:prstGeom>
          <a:solidFill>
            <a:srgbClr val="1D2A5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94" name="Google Shape;2794;p99"/>
          <p:cNvSpPr/>
          <p:nvPr/>
        </p:nvSpPr>
        <p:spPr>
          <a:xfrm>
            <a:off x="502920" y="5869686"/>
            <a:ext cx="274320" cy="2743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100"/>
              <a:buFont typeface="Calibri"/>
              <a:buNone/>
            </a:pPr>
            <a:r>
              <a:rPr b="1" i="0" lang="en-US" sz="1100" u="none" cap="none" strike="noStrike">
                <a:solidFill>
                  <a:srgbClr val="FFFFFF"/>
                </a:solidFill>
                <a:latin typeface="Calibri"/>
                <a:ea typeface="Calibri"/>
                <a:cs typeface="Calibri"/>
                <a:sym typeface="Calibri"/>
              </a:rPr>
              <a:t>6</a:t>
            </a:r>
            <a:endParaRPr b="0" i="0" sz="1100" u="none" cap="none" strike="noStrike">
              <a:solidFill>
                <a:schemeClr val="dk1"/>
              </a:solidFill>
              <a:latin typeface="Calibri"/>
              <a:ea typeface="Calibri"/>
              <a:cs typeface="Calibri"/>
              <a:sym typeface="Calibri"/>
            </a:endParaRPr>
          </a:p>
        </p:txBody>
      </p:sp>
      <p:sp>
        <p:nvSpPr>
          <p:cNvPr id="2795" name="Google Shape;2795;p99"/>
          <p:cNvSpPr/>
          <p:nvPr/>
        </p:nvSpPr>
        <p:spPr>
          <a:xfrm>
            <a:off x="886968" y="5869686"/>
            <a:ext cx="658368" cy="274320"/>
          </a:xfrm>
          <a:prstGeom prst="roundRect">
            <a:avLst>
              <a:gd fmla="val 50000" name="adj"/>
            </a:avLst>
          </a:prstGeom>
          <a:solidFill>
            <a:srgbClr val="E9F6F5"/>
          </a:solidFill>
          <a:ln cap="flat" cmpd="sng" w="9525">
            <a:solidFill>
              <a:srgbClr val="00A79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96" name="Google Shape;2796;p99"/>
          <p:cNvSpPr/>
          <p:nvPr/>
        </p:nvSpPr>
        <p:spPr>
          <a:xfrm>
            <a:off x="886968" y="5869686"/>
            <a:ext cx="658368" cy="2743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56A63"/>
              </a:buClr>
              <a:buSzPts val="900"/>
              <a:buFont typeface="Calibri"/>
              <a:buNone/>
            </a:pPr>
            <a:r>
              <a:rPr b="1" i="0" lang="en-US" sz="900" u="none" cap="none" strike="noStrike">
                <a:solidFill>
                  <a:srgbClr val="056A63"/>
                </a:solidFill>
                <a:latin typeface="Calibri"/>
                <a:ea typeface="Calibri"/>
                <a:cs typeface="Calibri"/>
                <a:sym typeface="Calibri"/>
              </a:rPr>
              <a:t>4 min</a:t>
            </a:r>
            <a:endParaRPr b="0" i="0" sz="900" u="none" cap="none" strike="noStrike">
              <a:solidFill>
                <a:schemeClr val="dk1"/>
              </a:solidFill>
              <a:latin typeface="Calibri"/>
              <a:ea typeface="Calibri"/>
              <a:cs typeface="Calibri"/>
              <a:sym typeface="Calibri"/>
            </a:endParaRPr>
          </a:p>
        </p:txBody>
      </p:sp>
      <p:sp>
        <p:nvSpPr>
          <p:cNvPr id="2797" name="Google Shape;2797;p99"/>
          <p:cNvSpPr/>
          <p:nvPr/>
        </p:nvSpPr>
        <p:spPr>
          <a:xfrm>
            <a:off x="1673352" y="5731764"/>
            <a:ext cx="5733288" cy="5867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3293B"/>
              </a:buClr>
              <a:buSzPts val="1150"/>
              <a:buFont typeface="Calibri"/>
              <a:buNone/>
            </a:pPr>
            <a:r>
              <a:rPr b="0" i="0" lang="en-US" sz="1150" u="none" cap="none" strike="noStrike">
                <a:solidFill>
                  <a:srgbClr val="23293B"/>
                </a:solidFill>
                <a:latin typeface="Calibri"/>
                <a:ea typeface="Calibri"/>
                <a:cs typeface="Calibri"/>
                <a:sym typeface="Calibri"/>
              </a:rPr>
              <a:t>Commit; record v1 baseline numbers for the Hour-5 retrain comparison</a:t>
            </a:r>
            <a:endParaRPr b="0" i="0" sz="1150" u="none" cap="none" strike="noStrike">
              <a:solidFill>
                <a:schemeClr val="dk1"/>
              </a:solidFill>
              <a:latin typeface="Calibri"/>
              <a:ea typeface="Calibri"/>
              <a:cs typeface="Calibri"/>
              <a:sym typeface="Calibri"/>
            </a:endParaRPr>
          </a:p>
        </p:txBody>
      </p:sp>
      <p:sp>
        <p:nvSpPr>
          <p:cNvPr id="2798" name="Google Shape;2798;p99"/>
          <p:cNvSpPr/>
          <p:nvPr/>
        </p:nvSpPr>
        <p:spPr>
          <a:xfrm>
            <a:off x="7635240" y="2505456"/>
            <a:ext cx="4050792" cy="3849624"/>
          </a:xfrm>
          <a:prstGeom prst="roundRect">
            <a:avLst>
              <a:gd fmla="val 2375" name="adj"/>
            </a:avLst>
          </a:prstGeom>
          <a:solidFill>
            <a:srgbClr val="0F172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99" name="Google Shape;2799;p99"/>
          <p:cNvSpPr/>
          <p:nvPr/>
        </p:nvSpPr>
        <p:spPr>
          <a:xfrm>
            <a:off x="7818120" y="2615184"/>
            <a:ext cx="3685032" cy="2377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EEAD4"/>
              </a:buClr>
              <a:buSzPts val="900"/>
              <a:buFont typeface="Calibri"/>
              <a:buNone/>
            </a:pPr>
            <a:r>
              <a:rPr b="1" i="0" lang="en-US" sz="900" u="none" cap="none" strike="noStrike">
                <a:solidFill>
                  <a:srgbClr val="5EEAD4"/>
                </a:solidFill>
                <a:latin typeface="Calibri"/>
                <a:ea typeface="Calibri"/>
                <a:cs typeface="Calibri"/>
                <a:sym typeface="Calibri"/>
              </a:rPr>
              <a:t>EXPECTED OUTPUT</a:t>
            </a:r>
            <a:endParaRPr b="0" i="0" sz="900" u="none" cap="none" strike="noStrike">
              <a:solidFill>
                <a:schemeClr val="dk1"/>
              </a:solidFill>
              <a:latin typeface="Calibri"/>
              <a:ea typeface="Calibri"/>
              <a:cs typeface="Calibri"/>
              <a:sym typeface="Calibri"/>
            </a:endParaRPr>
          </a:p>
        </p:txBody>
      </p:sp>
      <p:sp>
        <p:nvSpPr>
          <p:cNvPr id="2800" name="Google Shape;2800;p99"/>
          <p:cNvSpPr/>
          <p:nvPr/>
        </p:nvSpPr>
        <p:spPr>
          <a:xfrm>
            <a:off x="7818120" y="2907792"/>
            <a:ext cx="3703320" cy="3300984"/>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DCE6F5"/>
              </a:buClr>
              <a:buSzPts val="900"/>
              <a:buFont typeface="Courier New"/>
              <a:buNone/>
            </a:pPr>
            <a:r>
              <a:rPr b="0" i="0" lang="en-US" sz="900" u="none" cap="none" strike="noStrike">
                <a:solidFill>
                  <a:srgbClr val="DCE6F5"/>
                </a:solidFill>
                <a:latin typeface="Courier New"/>
                <a:ea typeface="Courier New"/>
                <a:cs typeface="Courier New"/>
                <a:sym typeface="Courier New"/>
              </a:rPr>
              <a:t>$ python scripts/audit_labels.py</a:t>
            </a:r>
            <a:endParaRPr b="0" i="0" sz="900" u="none" cap="none" strike="noStrike">
              <a:solidFill>
                <a:schemeClr val="dk1"/>
              </a:solidFill>
              <a:latin typeface="Calibri"/>
              <a:ea typeface="Calibri"/>
              <a:cs typeface="Calibri"/>
              <a:sym typeface="Calibri"/>
            </a:endParaRPr>
          </a:p>
          <a:p>
            <a:pPr indent="0" lvl="0" marL="0" marR="0" rtl="0" algn="l">
              <a:lnSpc>
                <a:spcPct val="130000"/>
              </a:lnSpc>
              <a:spcBef>
                <a:spcPts val="0"/>
              </a:spcBef>
              <a:spcAft>
                <a:spcPts val="0"/>
              </a:spcAft>
              <a:buClr>
                <a:srgbClr val="DCE6F5"/>
              </a:buClr>
              <a:buSzPts val="900"/>
              <a:buFont typeface="Courier New"/>
              <a:buNone/>
            </a:pPr>
            <a:r>
              <a:rPr b="0" i="0" lang="en-US" sz="900" u="none" cap="none" strike="noStrike">
                <a:solidFill>
                  <a:srgbClr val="DCE6F5"/>
                </a:solidFill>
                <a:latin typeface="Courier New"/>
                <a:ea typeface="Courier New"/>
                <a:cs typeface="Courier New"/>
                <a:sym typeface="Courier New"/>
              </a:rPr>
              <a:t>top item: s041_f0187.jpg</a:t>
            </a:r>
            <a:endParaRPr b="0" i="0" sz="900" u="none" cap="none" strike="noStrike">
              <a:solidFill>
                <a:schemeClr val="dk1"/>
              </a:solidFill>
              <a:latin typeface="Calibri"/>
              <a:ea typeface="Calibri"/>
              <a:cs typeface="Calibri"/>
              <a:sym typeface="Calibri"/>
            </a:endParaRPr>
          </a:p>
          <a:p>
            <a:pPr indent="0" lvl="0" marL="0" marR="0" rtl="0" algn="l">
              <a:lnSpc>
                <a:spcPct val="130000"/>
              </a:lnSpc>
              <a:spcBef>
                <a:spcPts val="0"/>
              </a:spcBef>
              <a:spcAft>
                <a:spcPts val="0"/>
              </a:spcAft>
              <a:buClr>
                <a:srgbClr val="DCE6F5"/>
              </a:buClr>
              <a:buSzPts val="900"/>
              <a:buFont typeface="Courier New"/>
              <a:buNone/>
            </a:pPr>
            <a:r>
              <a:rPr b="0" i="0" lang="en-US" sz="900" u="none" cap="none" strike="noStrike">
                <a:solidFill>
                  <a:srgbClr val="DCE6F5"/>
                </a:solidFill>
                <a:latin typeface="Courier New"/>
                <a:ea typeface="Courier New"/>
                <a:cs typeface="Courier New"/>
                <a:sym typeface="Courier New"/>
              </a:rPr>
              <a:t>  label=standard pred=reject (0.97)</a:t>
            </a:r>
            <a:endParaRPr b="0" i="0" sz="900" u="none" cap="none" strike="noStrike">
              <a:solidFill>
                <a:schemeClr val="dk1"/>
              </a:solidFill>
              <a:latin typeface="Calibri"/>
              <a:ea typeface="Calibri"/>
              <a:cs typeface="Calibri"/>
              <a:sym typeface="Calibri"/>
            </a:endParaRPr>
          </a:p>
          <a:p>
            <a:pPr indent="0" lvl="0" marL="0" marR="0" rtl="0" algn="l">
              <a:lnSpc>
                <a:spcPct val="130000"/>
              </a:lnSpc>
              <a:spcBef>
                <a:spcPts val="0"/>
              </a:spcBef>
              <a:spcAft>
                <a:spcPts val="0"/>
              </a:spcAft>
              <a:buClr>
                <a:srgbClr val="DCE6F5"/>
              </a:buClr>
              <a:buSzPts val="900"/>
              <a:buFont typeface="Courier New"/>
              <a:buNone/>
            </a:pPr>
            <a:r>
              <a:rPr b="0" i="0" lang="en-US" sz="900" u="none" cap="none" strike="noStrike">
                <a:solidFill>
                  <a:srgbClr val="DCE6F5"/>
                </a:solidFill>
                <a:latin typeface="Courier New"/>
                <a:ea typeface="Courier New"/>
                <a:cs typeface="Courier New"/>
                <a:sym typeface="Courier New"/>
              </a:rPr>
              <a:t>$ python scripts/agreement.py</a:t>
            </a:r>
            <a:endParaRPr b="0" i="0" sz="900" u="none" cap="none" strike="noStrike">
              <a:solidFill>
                <a:schemeClr val="dk1"/>
              </a:solidFill>
              <a:latin typeface="Calibri"/>
              <a:ea typeface="Calibri"/>
              <a:cs typeface="Calibri"/>
              <a:sym typeface="Calibri"/>
            </a:endParaRPr>
          </a:p>
          <a:p>
            <a:pPr indent="0" lvl="0" marL="0" marR="0" rtl="0" algn="l">
              <a:lnSpc>
                <a:spcPct val="130000"/>
              </a:lnSpc>
              <a:spcBef>
                <a:spcPts val="0"/>
              </a:spcBef>
              <a:spcAft>
                <a:spcPts val="0"/>
              </a:spcAft>
              <a:buClr>
                <a:srgbClr val="DCE6F5"/>
              </a:buClr>
              <a:buSzPts val="900"/>
              <a:buFont typeface="Courier New"/>
              <a:buNone/>
            </a:pPr>
            <a:r>
              <a:rPr b="0" i="0" lang="en-US" sz="900" u="none" cap="none" strike="noStrike">
                <a:solidFill>
                  <a:srgbClr val="DCE6F5"/>
                </a:solidFill>
                <a:latin typeface="Courier New"/>
                <a:ea typeface="Courier New"/>
                <a:cs typeface="Courier New"/>
                <a:sym typeface="Courier New"/>
              </a:rPr>
              <a:t>class kappa: 0.792  (bar: &gt;= 0.85)</a:t>
            </a:r>
            <a:endParaRPr b="0" i="0" sz="900" u="none" cap="none" strike="noStrike">
              <a:solidFill>
                <a:schemeClr val="dk1"/>
              </a:solidFill>
              <a:latin typeface="Calibri"/>
              <a:ea typeface="Calibri"/>
              <a:cs typeface="Calibri"/>
              <a:sym typeface="Calibri"/>
            </a:endParaRPr>
          </a:p>
          <a:p>
            <a:pPr indent="0" lvl="0" marL="0" marR="0" rtl="0" algn="l">
              <a:lnSpc>
                <a:spcPct val="130000"/>
              </a:lnSpc>
              <a:spcBef>
                <a:spcPts val="0"/>
              </a:spcBef>
              <a:spcAft>
                <a:spcPts val="0"/>
              </a:spcAft>
              <a:buClr>
                <a:srgbClr val="DCE6F5"/>
              </a:buClr>
              <a:buSzPts val="900"/>
              <a:buFont typeface="Courier New"/>
              <a:buNone/>
            </a:pPr>
            <a:r>
              <a:rPr b="0" i="0" lang="en-US" sz="900" u="none" cap="none" strike="noStrike">
                <a:solidFill>
                  <a:srgbClr val="DCE6F5"/>
                </a:solidFill>
                <a:latin typeface="Courier New"/>
                <a:ea typeface="Courier New"/>
                <a:cs typeface="Courier New"/>
                <a:sym typeface="Courier New"/>
              </a:rPr>
              <a:t>localisation: median IoU=0.872</a:t>
            </a:r>
            <a:endParaRPr b="0" i="0" sz="900" u="none" cap="none" strike="noStrike">
              <a:solidFill>
                <a:schemeClr val="dk1"/>
              </a:solidFill>
              <a:latin typeface="Calibri"/>
              <a:ea typeface="Calibri"/>
              <a:cs typeface="Calibri"/>
              <a:sym typeface="Calibri"/>
            </a:endParaRPr>
          </a:p>
          <a:p>
            <a:pPr indent="0" lvl="0" marL="0" marR="0" rtl="0" algn="l">
              <a:lnSpc>
                <a:spcPct val="130000"/>
              </a:lnSpc>
              <a:spcBef>
                <a:spcPts val="0"/>
              </a:spcBef>
              <a:spcAft>
                <a:spcPts val="0"/>
              </a:spcAft>
              <a:buClr>
                <a:srgbClr val="DCE6F5"/>
              </a:buClr>
              <a:buSzPts val="900"/>
              <a:buFont typeface="Courier New"/>
              <a:buNone/>
            </a:pPr>
            <a:r>
              <a:rPr b="0" i="0" lang="en-US" sz="900" u="none" cap="none" strike="noStrike">
                <a:solidFill>
                  <a:srgbClr val="DCE6F5"/>
                </a:solidFill>
                <a:latin typeface="Courier New"/>
                <a:ea typeface="Courier New"/>
                <a:cs typeface="Courier New"/>
                <a:sym typeface="Courier New"/>
              </a:rPr>
              <a:t>$ python scripts/release_dataset.py</a:t>
            </a:r>
            <a:endParaRPr b="0" i="0" sz="900" u="none" cap="none" strike="noStrike">
              <a:solidFill>
                <a:schemeClr val="dk1"/>
              </a:solidFill>
              <a:latin typeface="Calibri"/>
              <a:ea typeface="Calibri"/>
              <a:cs typeface="Calibri"/>
              <a:sym typeface="Calibri"/>
            </a:endParaRPr>
          </a:p>
          <a:p>
            <a:pPr indent="0" lvl="0" marL="0" marR="0" rtl="0" algn="l">
              <a:lnSpc>
                <a:spcPct val="130000"/>
              </a:lnSpc>
              <a:spcBef>
                <a:spcPts val="0"/>
              </a:spcBef>
              <a:spcAft>
                <a:spcPts val="0"/>
              </a:spcAft>
              <a:buClr>
                <a:srgbClr val="DCE6F5"/>
              </a:buClr>
              <a:buSzPts val="900"/>
              <a:buFont typeface="Courier New"/>
              <a:buNone/>
            </a:pPr>
            <a:r>
              <a:rPr b="0" i="0" lang="en-US" sz="900" u="none" cap="none" strike="noStrike">
                <a:solidFill>
                  <a:srgbClr val="DCE6F5"/>
                </a:solidFill>
                <a:latin typeface="Courier New"/>
                <a:ea typeface="Courier New"/>
                <a:cs typeface="Courier New"/>
                <a:sym typeface="Courier New"/>
              </a:rPr>
              <a:t>dates-qc-v2 released: 9e4f21c07ab3...</a:t>
            </a:r>
            <a:endParaRPr b="0" i="0" sz="900" u="none" cap="none" strike="noStrike">
              <a:solidFill>
                <a:schemeClr val="dk1"/>
              </a:solidFill>
              <a:latin typeface="Calibri"/>
              <a:ea typeface="Calibri"/>
              <a:cs typeface="Calibri"/>
              <a:sym typeface="Calibri"/>
            </a:endParaRPr>
          </a:p>
          <a:p>
            <a:pPr indent="0" lvl="0" marL="0" marR="0" rtl="0" algn="l">
              <a:lnSpc>
                <a:spcPct val="130000"/>
              </a:lnSpc>
              <a:spcBef>
                <a:spcPts val="0"/>
              </a:spcBef>
              <a:spcAft>
                <a:spcPts val="0"/>
              </a:spcAft>
              <a:buClr>
                <a:srgbClr val="DCE6F5"/>
              </a:buClr>
              <a:buSzPts val="900"/>
              <a:buFont typeface="Courier New"/>
              <a:buNone/>
            </a:pPr>
            <a:r>
              <a:rPr b="0" i="0" lang="en-US" sz="900" u="none" cap="none" strike="noStrike">
                <a:solidFill>
                  <a:srgbClr val="DCE6F5"/>
                </a:solidFill>
                <a:latin typeface="Courier New"/>
                <a:ea typeface="Courier New"/>
                <a:cs typeface="Courier New"/>
                <a:sym typeface="Courier New"/>
              </a:rPr>
              <a:t>(test split UNCHANGED from v1)</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10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805" name="Shape 2805"/>
        <p:cNvGrpSpPr/>
        <p:nvPr/>
      </p:nvGrpSpPr>
      <p:grpSpPr>
        <a:xfrm>
          <a:off x="0" y="0"/>
          <a:ext cx="0" cy="0"/>
          <a:chOff x="0" y="0"/>
          <a:chExt cx="0" cy="0"/>
        </a:xfrm>
      </p:grpSpPr>
      <p:sp>
        <p:nvSpPr>
          <p:cNvPr id="2806" name="Google Shape;2806;p100"/>
          <p:cNvSpPr/>
          <p:nvPr/>
        </p:nvSpPr>
        <p:spPr>
          <a:xfrm>
            <a:off x="502920" y="274320"/>
            <a:ext cx="9646920" cy="56692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D2A5C"/>
              </a:buClr>
              <a:buSzPts val="2700"/>
              <a:buFont typeface="Calibri"/>
              <a:buNone/>
            </a:pPr>
            <a:r>
              <a:rPr b="1" i="0" lang="en-US" sz="2700" u="none" cap="none" strike="noStrike">
                <a:solidFill>
                  <a:srgbClr val="1D2A5C"/>
                </a:solidFill>
                <a:latin typeface="Calibri"/>
                <a:ea typeface="Calibri"/>
                <a:cs typeface="Calibri"/>
                <a:sym typeface="Calibri"/>
              </a:rPr>
              <a:t>Lab 5 Troubleshooting</a:t>
            </a:r>
            <a:endParaRPr b="0" i="0" sz="2700" u="none" cap="none" strike="noStrike">
              <a:solidFill>
                <a:schemeClr val="dk1"/>
              </a:solidFill>
              <a:latin typeface="Calibri"/>
              <a:ea typeface="Calibri"/>
              <a:cs typeface="Calibri"/>
              <a:sym typeface="Calibri"/>
            </a:endParaRPr>
          </a:p>
        </p:txBody>
      </p:sp>
      <p:sp>
        <p:nvSpPr>
          <p:cNvPr id="2807" name="Google Shape;2807;p100"/>
          <p:cNvSpPr/>
          <p:nvPr/>
        </p:nvSpPr>
        <p:spPr>
          <a:xfrm>
            <a:off x="502920" y="859536"/>
            <a:ext cx="9646920" cy="31089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F6B7A"/>
              </a:buClr>
              <a:buSzPts val="1250"/>
              <a:buFont typeface="Arial"/>
              <a:buNone/>
            </a:pPr>
            <a:r>
              <a:rPr b="0" i="0" lang="en-US" sz="1250" u="none" cap="none" strike="noStrike">
                <a:solidFill>
                  <a:srgbClr val="5F6B7A"/>
                </a:solidFill>
                <a:latin typeface="Arial"/>
                <a:ea typeface="Arial"/>
                <a:cs typeface="Arial"/>
                <a:sym typeface="Arial"/>
              </a:rPr>
              <a:t>استكشاف أخطاء المختبر 5</a:t>
            </a:r>
            <a:endParaRPr b="0" i="0" sz="1250" u="none" cap="none" strike="noStrike">
              <a:solidFill>
                <a:schemeClr val="dk1"/>
              </a:solidFill>
              <a:latin typeface="Calibri"/>
              <a:ea typeface="Calibri"/>
              <a:cs typeface="Calibri"/>
              <a:sym typeface="Calibri"/>
            </a:endParaRPr>
          </a:p>
        </p:txBody>
      </p:sp>
      <p:pic>
        <p:nvPicPr>
          <p:cNvPr descr="/sessions/blissful-determined-ritchie/build/assets/sdaia_logo.png" id="2808" name="Google Shape;2808;p100"/>
          <p:cNvPicPr preferRelativeResize="0"/>
          <p:nvPr/>
        </p:nvPicPr>
        <p:blipFill rotWithShape="1">
          <a:blip r:embed="rId3">
            <a:alphaModFix/>
          </a:blip>
          <a:srcRect b="0" l="0" r="0" t="0"/>
          <a:stretch/>
        </p:blipFill>
        <p:spPr>
          <a:xfrm>
            <a:off x="10625328" y="310896"/>
            <a:ext cx="1078992" cy="264111"/>
          </a:xfrm>
          <a:prstGeom prst="rect">
            <a:avLst/>
          </a:prstGeom>
          <a:noFill/>
          <a:ln>
            <a:noFill/>
          </a:ln>
        </p:spPr>
      </p:pic>
      <p:sp>
        <p:nvSpPr>
          <p:cNvPr id="2809" name="Google Shape;2809;p100"/>
          <p:cNvSpPr/>
          <p:nvPr/>
        </p:nvSpPr>
        <p:spPr>
          <a:xfrm>
            <a:off x="502920" y="6528816"/>
            <a:ext cx="8686800"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A79D"/>
              </a:buClr>
              <a:buSzPts val="800"/>
              <a:buFont typeface="Calibri"/>
              <a:buNone/>
            </a:pPr>
            <a:r>
              <a:rPr b="1" i="0" lang="en-US" sz="800" u="none" cap="none" strike="noStrike">
                <a:solidFill>
                  <a:srgbClr val="00A79D"/>
                </a:solidFill>
                <a:latin typeface="Calibri"/>
                <a:ea typeface="Calibri"/>
                <a:cs typeface="Calibri"/>
                <a:sym typeface="Calibri"/>
              </a:rPr>
              <a:t>MODULE 5 · LAB   </a:t>
            </a:r>
            <a:r>
              <a:rPr b="0" i="0" lang="en-US" sz="800" u="none" cap="none" strike="noStrike">
                <a:solidFill>
                  <a:srgbClr val="8A96A6"/>
                </a:solidFill>
                <a:latin typeface="Calibri"/>
                <a:ea typeface="Calibri"/>
                <a:cs typeface="Calibri"/>
                <a:sym typeface="Calibri"/>
              </a:rPr>
              <a:t>SDA-AIE-212 · Computer Vision Systems Development</a:t>
            </a:r>
            <a:endParaRPr b="0" i="0" sz="800" u="none" cap="none" strike="noStrike">
              <a:solidFill>
                <a:schemeClr val="dk1"/>
              </a:solidFill>
              <a:latin typeface="Calibri"/>
              <a:ea typeface="Calibri"/>
              <a:cs typeface="Calibri"/>
              <a:sym typeface="Calibri"/>
            </a:endParaRPr>
          </a:p>
        </p:txBody>
      </p:sp>
      <p:sp>
        <p:nvSpPr>
          <p:cNvPr id="2810" name="Google Shape;2810;p100"/>
          <p:cNvSpPr/>
          <p:nvPr/>
        </p:nvSpPr>
        <p:spPr>
          <a:xfrm>
            <a:off x="11292840" y="6528816"/>
            <a:ext cx="411480" cy="219456"/>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8A96A6"/>
              </a:buClr>
              <a:buSzPts val="900"/>
              <a:buFont typeface="Calibri"/>
              <a:buNone/>
            </a:pPr>
            <a:r>
              <a:rPr b="0" i="0" lang="en-US" sz="900" u="none" cap="none" strike="noStrike">
                <a:solidFill>
                  <a:srgbClr val="8A96A6"/>
                </a:solidFill>
                <a:latin typeface="Calibri"/>
                <a:ea typeface="Calibri"/>
                <a:cs typeface="Calibri"/>
                <a:sym typeface="Calibri"/>
              </a:rPr>
              <a:t>100</a:t>
            </a:r>
            <a:endParaRPr b="0" i="0" sz="900" u="none" cap="none" strike="noStrike">
              <a:solidFill>
                <a:schemeClr val="dk1"/>
              </a:solidFill>
              <a:latin typeface="Calibri"/>
              <a:ea typeface="Calibri"/>
              <a:cs typeface="Calibri"/>
              <a:sym typeface="Calibri"/>
            </a:endParaRPr>
          </a:p>
        </p:txBody>
      </p:sp>
      <p:graphicFrame>
        <p:nvGraphicFramePr>
          <p:cNvPr id="2811" name="Google Shape;2811;p100"/>
          <p:cNvGraphicFramePr/>
          <p:nvPr/>
        </p:nvGraphicFramePr>
        <p:xfrm>
          <a:off x="502920" y="1389888"/>
          <a:ext cx="3000000" cy="3000000"/>
        </p:xfrm>
        <a:graphic>
          <a:graphicData uri="http://schemas.openxmlformats.org/drawingml/2006/table">
            <a:tbl>
              <a:tblPr>
                <a:noFill/>
                <a:tableStyleId>{F80342BA-3033-44D6-9F91-622DC7A4C435}</a:tableStyleId>
              </a:tblPr>
              <a:tblGrid>
                <a:gridCol w="3518375"/>
                <a:gridCol w="3783275"/>
                <a:gridCol w="3884200"/>
              </a:tblGrid>
              <a:tr h="713225">
                <a:tc>
                  <a:txBody>
                    <a:bodyPr/>
                    <a:lstStyle/>
                    <a:p>
                      <a:pPr indent="0" lvl="0" marL="0" marR="0" rtl="0" algn="l">
                        <a:spcBef>
                          <a:spcPts val="0"/>
                        </a:spcBef>
                        <a:spcAft>
                          <a:spcPts val="0"/>
                        </a:spcAft>
                        <a:buClr>
                          <a:srgbClr val="FFFFFF"/>
                        </a:buClr>
                        <a:buSzPts val="1150"/>
                        <a:buFont typeface="Calibri"/>
                        <a:buNone/>
                      </a:pPr>
                      <a:r>
                        <a:rPr b="1" lang="en-US" sz="1150" u="none" cap="none" strike="noStrike">
                          <a:solidFill>
                            <a:srgbClr val="FFFFFF"/>
                          </a:solidFill>
                          <a:latin typeface="Calibri"/>
                          <a:ea typeface="Calibri"/>
                          <a:cs typeface="Calibri"/>
                          <a:sym typeface="Calibri"/>
                        </a:rPr>
                        <a:t>Symptom</a:t>
                      </a:r>
                      <a:endParaRPr sz="1150" u="none" cap="none" strike="noStrike">
                        <a:latin typeface="Calibri"/>
                        <a:ea typeface="Calibri"/>
                        <a:cs typeface="Calibri"/>
                        <a:sym typeface="Calibri"/>
                      </a:endParaRPr>
                    </a:p>
                  </a:txBody>
                  <a:tcPr marT="64000" marB="64000" marR="64000" marL="64000" anchor="ctr">
                    <a:lnL cap="flat" cmpd="sng" w="9525">
                      <a:solidFill>
                        <a:srgbClr val="D9E2EA"/>
                      </a:solidFill>
                      <a:prstDash val="solid"/>
                      <a:round/>
                      <a:headEnd len="sm" w="sm" type="none"/>
                      <a:tailEnd len="sm" w="sm" type="none"/>
                    </a:lnL>
                    <a:lnR cap="flat" cmpd="sng" w="9525">
                      <a:solidFill>
                        <a:srgbClr val="D9E2EA"/>
                      </a:solidFill>
                      <a:prstDash val="solid"/>
                      <a:round/>
                      <a:headEnd len="sm" w="sm" type="none"/>
                      <a:tailEnd len="sm" w="sm" type="none"/>
                    </a:lnR>
                    <a:lnT cap="flat" cmpd="sng" w="9525">
                      <a:solidFill>
                        <a:srgbClr val="D9E2EA"/>
                      </a:solidFill>
                      <a:prstDash val="solid"/>
                      <a:round/>
                      <a:headEnd len="sm" w="sm" type="none"/>
                      <a:tailEnd len="sm" w="sm" type="none"/>
                    </a:lnT>
                    <a:lnB cap="flat" cmpd="sng" w="9525">
                      <a:solidFill>
                        <a:srgbClr val="D9E2EA"/>
                      </a:solidFill>
                      <a:prstDash val="solid"/>
                      <a:round/>
                      <a:headEnd len="sm" w="sm" type="none"/>
                      <a:tailEnd len="sm" w="sm" type="none"/>
                    </a:lnB>
                    <a:solidFill>
                      <a:srgbClr val="1D2A5C"/>
                    </a:solidFill>
                  </a:tcPr>
                </a:tc>
                <a:tc>
                  <a:txBody>
                    <a:bodyPr/>
                    <a:lstStyle/>
                    <a:p>
                      <a:pPr indent="0" lvl="0" marL="0" marR="0" rtl="0" algn="l">
                        <a:spcBef>
                          <a:spcPts val="0"/>
                        </a:spcBef>
                        <a:spcAft>
                          <a:spcPts val="0"/>
                        </a:spcAft>
                        <a:buClr>
                          <a:srgbClr val="FFFFFF"/>
                        </a:buClr>
                        <a:buSzPts val="1150"/>
                        <a:buFont typeface="Calibri"/>
                        <a:buNone/>
                      </a:pPr>
                      <a:r>
                        <a:rPr b="1" lang="en-US" sz="1150" u="none" cap="none" strike="noStrike">
                          <a:solidFill>
                            <a:srgbClr val="FFFFFF"/>
                          </a:solidFill>
                          <a:latin typeface="Calibri"/>
                          <a:ea typeface="Calibri"/>
                          <a:cs typeface="Calibri"/>
                          <a:sym typeface="Calibri"/>
                        </a:rPr>
                        <a:t>Cause</a:t>
                      </a:r>
                      <a:endParaRPr sz="1150" u="none" cap="none" strike="noStrike">
                        <a:latin typeface="Calibri"/>
                        <a:ea typeface="Calibri"/>
                        <a:cs typeface="Calibri"/>
                        <a:sym typeface="Calibri"/>
                      </a:endParaRPr>
                    </a:p>
                  </a:txBody>
                  <a:tcPr marT="64000" marB="64000" marR="64000" marL="64000" anchor="ctr">
                    <a:lnL cap="flat" cmpd="sng" w="9525">
                      <a:solidFill>
                        <a:srgbClr val="D9E2EA"/>
                      </a:solidFill>
                      <a:prstDash val="solid"/>
                      <a:round/>
                      <a:headEnd len="sm" w="sm" type="none"/>
                      <a:tailEnd len="sm" w="sm" type="none"/>
                    </a:lnL>
                    <a:lnR cap="flat" cmpd="sng" w="9525">
                      <a:solidFill>
                        <a:srgbClr val="D9E2EA"/>
                      </a:solidFill>
                      <a:prstDash val="solid"/>
                      <a:round/>
                      <a:headEnd len="sm" w="sm" type="none"/>
                      <a:tailEnd len="sm" w="sm" type="none"/>
                    </a:lnR>
                    <a:lnT cap="flat" cmpd="sng" w="9525">
                      <a:solidFill>
                        <a:srgbClr val="D9E2EA"/>
                      </a:solidFill>
                      <a:prstDash val="solid"/>
                      <a:round/>
                      <a:headEnd len="sm" w="sm" type="none"/>
                      <a:tailEnd len="sm" w="sm" type="none"/>
                    </a:lnT>
                    <a:lnB cap="flat" cmpd="sng" w="9525">
                      <a:solidFill>
                        <a:srgbClr val="D9E2EA"/>
                      </a:solidFill>
                      <a:prstDash val="solid"/>
                      <a:round/>
                      <a:headEnd len="sm" w="sm" type="none"/>
                      <a:tailEnd len="sm" w="sm" type="none"/>
                    </a:lnB>
                    <a:solidFill>
                      <a:srgbClr val="1D2A5C"/>
                    </a:solidFill>
                  </a:tcPr>
                </a:tc>
                <a:tc>
                  <a:txBody>
                    <a:bodyPr/>
                    <a:lstStyle/>
                    <a:p>
                      <a:pPr indent="0" lvl="0" marL="0" marR="0" rtl="0" algn="l">
                        <a:spcBef>
                          <a:spcPts val="0"/>
                        </a:spcBef>
                        <a:spcAft>
                          <a:spcPts val="0"/>
                        </a:spcAft>
                        <a:buClr>
                          <a:srgbClr val="FFFFFF"/>
                        </a:buClr>
                        <a:buSzPts val="1150"/>
                        <a:buFont typeface="Calibri"/>
                        <a:buNone/>
                      </a:pPr>
                      <a:r>
                        <a:rPr b="1" lang="en-US" sz="1150" u="none" cap="none" strike="noStrike">
                          <a:solidFill>
                            <a:srgbClr val="FFFFFF"/>
                          </a:solidFill>
                          <a:latin typeface="Calibri"/>
                          <a:ea typeface="Calibri"/>
                          <a:cs typeface="Calibri"/>
                          <a:sym typeface="Calibri"/>
                        </a:rPr>
                        <a:t>Fix</a:t>
                      </a:r>
                      <a:endParaRPr sz="1150" u="none" cap="none" strike="noStrike">
                        <a:latin typeface="Calibri"/>
                        <a:ea typeface="Calibri"/>
                        <a:cs typeface="Calibri"/>
                        <a:sym typeface="Calibri"/>
                      </a:endParaRPr>
                    </a:p>
                  </a:txBody>
                  <a:tcPr marT="64000" marB="64000" marR="64000" marL="64000" anchor="ctr">
                    <a:lnL cap="flat" cmpd="sng" w="9525">
                      <a:solidFill>
                        <a:srgbClr val="D9E2EA"/>
                      </a:solidFill>
                      <a:prstDash val="solid"/>
                      <a:round/>
                      <a:headEnd len="sm" w="sm" type="none"/>
                      <a:tailEnd len="sm" w="sm" type="none"/>
                    </a:lnL>
                    <a:lnR cap="flat" cmpd="sng" w="9525">
                      <a:solidFill>
                        <a:srgbClr val="D9E2EA"/>
                      </a:solidFill>
                      <a:prstDash val="solid"/>
                      <a:round/>
                      <a:headEnd len="sm" w="sm" type="none"/>
                      <a:tailEnd len="sm" w="sm" type="none"/>
                    </a:lnR>
                    <a:lnT cap="flat" cmpd="sng" w="9525">
                      <a:solidFill>
                        <a:srgbClr val="D9E2EA"/>
                      </a:solidFill>
                      <a:prstDash val="solid"/>
                      <a:round/>
                      <a:headEnd len="sm" w="sm" type="none"/>
                      <a:tailEnd len="sm" w="sm" type="none"/>
                    </a:lnT>
                    <a:lnB cap="flat" cmpd="sng" w="9525">
                      <a:solidFill>
                        <a:srgbClr val="D9E2EA"/>
                      </a:solidFill>
                      <a:prstDash val="solid"/>
                      <a:round/>
                      <a:headEnd len="sm" w="sm" type="none"/>
                      <a:tailEnd len="sm" w="sm" type="none"/>
                    </a:lnB>
                    <a:solidFill>
                      <a:srgbClr val="1D2A5C"/>
                    </a:solidFill>
                  </a:tcPr>
                </a:tc>
              </a:tr>
              <a:tr h="713225">
                <a:tc>
                  <a:txBody>
                    <a:bodyPr/>
                    <a:lstStyle/>
                    <a:p>
                      <a:pPr indent="0" lvl="0" marL="0" marR="0" rtl="0" algn="l">
                        <a:spcBef>
                          <a:spcPts val="0"/>
                        </a:spcBef>
                        <a:spcAft>
                          <a:spcPts val="0"/>
                        </a:spcAft>
                        <a:buClr>
                          <a:srgbClr val="1D2A5C"/>
                        </a:buClr>
                        <a:buSzPts val="1150"/>
                        <a:buFont typeface="Calibri"/>
                        <a:buNone/>
                      </a:pPr>
                      <a:r>
                        <a:rPr b="1" lang="en-US" sz="1150" u="none" cap="none" strike="noStrike">
                          <a:solidFill>
                            <a:srgbClr val="1D2A5C"/>
                          </a:solidFill>
                          <a:latin typeface="Calibri"/>
                          <a:ea typeface="Calibri"/>
                          <a:cs typeface="Calibri"/>
                          <a:sym typeface="Calibri"/>
                        </a:rPr>
                        <a:t>Audit top-40 all model errors</a:t>
                      </a:r>
                      <a:endParaRPr sz="1150" u="none" cap="none" strike="noStrike">
                        <a:latin typeface="Calibri"/>
                        <a:ea typeface="Calibri"/>
                        <a:cs typeface="Calibri"/>
                        <a:sym typeface="Calibri"/>
                      </a:endParaRPr>
                    </a:p>
                  </a:txBody>
                  <a:tcPr marT="64000" marB="64000" marR="64000" marL="64000" anchor="ctr">
                    <a:lnL cap="flat" cmpd="sng" w="9525">
                      <a:solidFill>
                        <a:srgbClr val="D9E2EA"/>
                      </a:solidFill>
                      <a:prstDash val="solid"/>
                      <a:round/>
                      <a:headEnd len="sm" w="sm" type="none"/>
                      <a:tailEnd len="sm" w="sm" type="none"/>
                    </a:lnL>
                    <a:lnR cap="flat" cmpd="sng" w="9525">
                      <a:solidFill>
                        <a:srgbClr val="D9E2EA"/>
                      </a:solidFill>
                      <a:prstDash val="solid"/>
                      <a:round/>
                      <a:headEnd len="sm" w="sm" type="none"/>
                      <a:tailEnd len="sm" w="sm" type="none"/>
                    </a:lnR>
                    <a:lnT cap="flat" cmpd="sng" w="9525">
                      <a:solidFill>
                        <a:srgbClr val="D9E2EA"/>
                      </a:solidFill>
                      <a:prstDash val="solid"/>
                      <a:round/>
                      <a:headEnd len="sm" w="sm" type="none"/>
                      <a:tailEnd len="sm" w="sm" type="none"/>
                    </a:lnT>
                    <a:lnB cap="flat" cmpd="sng" w="9525">
                      <a:solidFill>
                        <a:srgbClr val="D9E2EA"/>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23293B"/>
                        </a:buClr>
                        <a:buSzPts val="1150"/>
                        <a:buFont typeface="Calibri"/>
                        <a:buNone/>
                      </a:pPr>
                      <a:r>
                        <a:rPr lang="en-US" sz="1150" u="none" cap="none" strike="noStrike">
                          <a:solidFill>
                            <a:srgbClr val="23293B"/>
                          </a:solidFill>
                          <a:latin typeface="Calibri"/>
                          <a:ea typeface="Calibri"/>
                          <a:cs typeface="Calibri"/>
                          <a:sym typeface="Calibri"/>
                        </a:rPr>
                        <a:t>wrong (underfit) checkpoint loaded</a:t>
                      </a:r>
                      <a:endParaRPr sz="1150" u="none" cap="none" strike="noStrike">
                        <a:latin typeface="Calibri"/>
                        <a:ea typeface="Calibri"/>
                        <a:cs typeface="Calibri"/>
                        <a:sym typeface="Calibri"/>
                      </a:endParaRPr>
                    </a:p>
                  </a:txBody>
                  <a:tcPr marT="64000" marB="64000" marR="64000" marL="64000" anchor="ctr">
                    <a:lnL cap="flat" cmpd="sng" w="9525">
                      <a:solidFill>
                        <a:srgbClr val="D9E2EA"/>
                      </a:solidFill>
                      <a:prstDash val="solid"/>
                      <a:round/>
                      <a:headEnd len="sm" w="sm" type="none"/>
                      <a:tailEnd len="sm" w="sm" type="none"/>
                    </a:lnL>
                    <a:lnR cap="flat" cmpd="sng" w="9525">
                      <a:solidFill>
                        <a:srgbClr val="D9E2EA"/>
                      </a:solidFill>
                      <a:prstDash val="solid"/>
                      <a:round/>
                      <a:headEnd len="sm" w="sm" type="none"/>
                      <a:tailEnd len="sm" w="sm" type="none"/>
                    </a:lnR>
                    <a:lnT cap="flat" cmpd="sng" w="9525">
                      <a:solidFill>
                        <a:srgbClr val="D9E2EA"/>
                      </a:solidFill>
                      <a:prstDash val="solid"/>
                      <a:round/>
                      <a:headEnd len="sm" w="sm" type="none"/>
                      <a:tailEnd len="sm" w="sm" type="none"/>
                    </a:lnT>
                    <a:lnB cap="flat" cmpd="sng" w="9525">
                      <a:solidFill>
                        <a:srgbClr val="D9E2EA"/>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23293B"/>
                        </a:buClr>
                        <a:buSzPts val="1150"/>
                        <a:buFont typeface="Calibri"/>
                        <a:buNone/>
                      </a:pPr>
                      <a:r>
                        <a:rPr lang="en-US" sz="1150" u="none" cap="none" strike="noStrike">
                          <a:solidFill>
                            <a:srgbClr val="23293B"/>
                          </a:solidFill>
                          <a:latin typeface="Calibri"/>
                          <a:ea typeface="Calibri"/>
                          <a:cs typeface="Calibri"/>
                          <a:sym typeface="Calibri"/>
                        </a:rPr>
                        <a:t>load best.pt; verify val F1 first</a:t>
                      </a:r>
                      <a:endParaRPr sz="1150" u="none" cap="none" strike="noStrike">
                        <a:latin typeface="Calibri"/>
                        <a:ea typeface="Calibri"/>
                        <a:cs typeface="Calibri"/>
                        <a:sym typeface="Calibri"/>
                      </a:endParaRPr>
                    </a:p>
                  </a:txBody>
                  <a:tcPr marT="64000" marB="64000" marR="64000" marL="64000" anchor="ctr">
                    <a:lnL cap="flat" cmpd="sng" w="9525">
                      <a:solidFill>
                        <a:srgbClr val="D9E2EA"/>
                      </a:solidFill>
                      <a:prstDash val="solid"/>
                      <a:round/>
                      <a:headEnd len="sm" w="sm" type="none"/>
                      <a:tailEnd len="sm" w="sm" type="none"/>
                    </a:lnL>
                    <a:lnR cap="flat" cmpd="sng" w="9525">
                      <a:solidFill>
                        <a:srgbClr val="D9E2EA"/>
                      </a:solidFill>
                      <a:prstDash val="solid"/>
                      <a:round/>
                      <a:headEnd len="sm" w="sm" type="none"/>
                      <a:tailEnd len="sm" w="sm" type="none"/>
                    </a:lnR>
                    <a:lnT cap="flat" cmpd="sng" w="9525">
                      <a:solidFill>
                        <a:srgbClr val="D9E2EA"/>
                      </a:solidFill>
                      <a:prstDash val="solid"/>
                      <a:round/>
                      <a:headEnd len="sm" w="sm" type="none"/>
                      <a:tailEnd len="sm" w="sm" type="none"/>
                    </a:lnT>
                    <a:lnB cap="flat" cmpd="sng" w="9525">
                      <a:solidFill>
                        <a:srgbClr val="D9E2EA"/>
                      </a:solidFill>
                      <a:prstDash val="solid"/>
                      <a:round/>
                      <a:headEnd len="sm" w="sm" type="none"/>
                      <a:tailEnd len="sm" w="sm" type="none"/>
                    </a:lnB>
                    <a:solidFill>
                      <a:srgbClr val="FFFFFF"/>
                    </a:solidFill>
                  </a:tcPr>
                </a:tc>
              </a:tr>
              <a:tr h="713225">
                <a:tc>
                  <a:txBody>
                    <a:bodyPr/>
                    <a:lstStyle/>
                    <a:p>
                      <a:pPr indent="0" lvl="0" marL="0" marR="0" rtl="0" algn="l">
                        <a:spcBef>
                          <a:spcPts val="0"/>
                        </a:spcBef>
                        <a:spcAft>
                          <a:spcPts val="0"/>
                        </a:spcAft>
                        <a:buClr>
                          <a:srgbClr val="1D2A5C"/>
                        </a:buClr>
                        <a:buSzPts val="1150"/>
                        <a:buFont typeface="Calibri"/>
                        <a:buNone/>
                      </a:pPr>
                      <a:r>
                        <a:rPr b="1" lang="en-US" sz="1150" u="none" cap="none" strike="noStrike">
                          <a:solidFill>
                            <a:srgbClr val="1D2A5C"/>
                          </a:solidFill>
                          <a:latin typeface="Calibri"/>
                          <a:ea typeface="Calibri"/>
                          <a:cs typeface="Calibri"/>
                          <a:sym typeface="Calibri"/>
                        </a:rPr>
                        <a:t>Kappa suspiciously = 1.0</a:t>
                      </a:r>
                      <a:endParaRPr sz="1150" u="none" cap="none" strike="noStrike">
                        <a:latin typeface="Calibri"/>
                        <a:ea typeface="Calibri"/>
                        <a:cs typeface="Calibri"/>
                        <a:sym typeface="Calibri"/>
                      </a:endParaRPr>
                    </a:p>
                  </a:txBody>
                  <a:tcPr marT="64000" marB="64000" marR="64000" marL="64000" anchor="ctr">
                    <a:lnL cap="flat" cmpd="sng" w="9525">
                      <a:solidFill>
                        <a:srgbClr val="D9E2EA"/>
                      </a:solidFill>
                      <a:prstDash val="solid"/>
                      <a:round/>
                      <a:headEnd len="sm" w="sm" type="none"/>
                      <a:tailEnd len="sm" w="sm" type="none"/>
                    </a:lnL>
                    <a:lnR cap="flat" cmpd="sng" w="9525">
                      <a:solidFill>
                        <a:srgbClr val="D9E2EA"/>
                      </a:solidFill>
                      <a:prstDash val="solid"/>
                      <a:round/>
                      <a:headEnd len="sm" w="sm" type="none"/>
                      <a:tailEnd len="sm" w="sm" type="none"/>
                    </a:lnR>
                    <a:lnT cap="flat" cmpd="sng" w="9525">
                      <a:solidFill>
                        <a:srgbClr val="D9E2EA"/>
                      </a:solidFill>
                      <a:prstDash val="solid"/>
                      <a:round/>
                      <a:headEnd len="sm" w="sm" type="none"/>
                      <a:tailEnd len="sm" w="sm" type="none"/>
                    </a:lnT>
                    <a:lnB cap="flat" cmpd="sng" w="9525">
                      <a:solidFill>
                        <a:srgbClr val="D9E2EA"/>
                      </a:solidFill>
                      <a:prstDash val="solid"/>
                      <a:round/>
                      <a:headEnd len="sm" w="sm" type="none"/>
                      <a:tailEnd len="sm" w="sm" type="none"/>
                    </a:lnB>
                    <a:solidFill>
                      <a:srgbClr val="F2F6F9"/>
                    </a:solidFill>
                  </a:tcPr>
                </a:tc>
                <a:tc>
                  <a:txBody>
                    <a:bodyPr/>
                    <a:lstStyle/>
                    <a:p>
                      <a:pPr indent="0" lvl="0" marL="0" marR="0" rtl="0" algn="l">
                        <a:spcBef>
                          <a:spcPts val="0"/>
                        </a:spcBef>
                        <a:spcAft>
                          <a:spcPts val="0"/>
                        </a:spcAft>
                        <a:buClr>
                          <a:srgbClr val="23293B"/>
                        </a:buClr>
                        <a:buSzPts val="1150"/>
                        <a:buFont typeface="Calibri"/>
                        <a:buNone/>
                      </a:pPr>
                      <a:r>
                        <a:rPr lang="en-US" sz="1150" u="none" cap="none" strike="noStrike">
                          <a:solidFill>
                            <a:srgbClr val="23293B"/>
                          </a:solidFill>
                          <a:latin typeface="Calibri"/>
                          <a:ea typeface="Calibri"/>
                          <a:cs typeface="Calibri"/>
                          <a:sym typeface="Calibri"/>
                        </a:rPr>
                        <a:t>annotator compared against themselves</a:t>
                      </a:r>
                      <a:endParaRPr sz="1150" u="none" cap="none" strike="noStrike">
                        <a:latin typeface="Calibri"/>
                        <a:ea typeface="Calibri"/>
                        <a:cs typeface="Calibri"/>
                        <a:sym typeface="Calibri"/>
                      </a:endParaRPr>
                    </a:p>
                  </a:txBody>
                  <a:tcPr marT="64000" marB="64000" marR="64000" marL="64000" anchor="ctr">
                    <a:lnL cap="flat" cmpd="sng" w="9525">
                      <a:solidFill>
                        <a:srgbClr val="D9E2EA"/>
                      </a:solidFill>
                      <a:prstDash val="solid"/>
                      <a:round/>
                      <a:headEnd len="sm" w="sm" type="none"/>
                      <a:tailEnd len="sm" w="sm" type="none"/>
                    </a:lnL>
                    <a:lnR cap="flat" cmpd="sng" w="9525">
                      <a:solidFill>
                        <a:srgbClr val="D9E2EA"/>
                      </a:solidFill>
                      <a:prstDash val="solid"/>
                      <a:round/>
                      <a:headEnd len="sm" w="sm" type="none"/>
                      <a:tailEnd len="sm" w="sm" type="none"/>
                    </a:lnR>
                    <a:lnT cap="flat" cmpd="sng" w="9525">
                      <a:solidFill>
                        <a:srgbClr val="D9E2EA"/>
                      </a:solidFill>
                      <a:prstDash val="solid"/>
                      <a:round/>
                      <a:headEnd len="sm" w="sm" type="none"/>
                      <a:tailEnd len="sm" w="sm" type="none"/>
                    </a:lnT>
                    <a:lnB cap="flat" cmpd="sng" w="9525">
                      <a:solidFill>
                        <a:srgbClr val="D9E2EA"/>
                      </a:solidFill>
                      <a:prstDash val="solid"/>
                      <a:round/>
                      <a:headEnd len="sm" w="sm" type="none"/>
                      <a:tailEnd len="sm" w="sm" type="none"/>
                    </a:lnB>
                    <a:solidFill>
                      <a:srgbClr val="F2F6F9"/>
                    </a:solidFill>
                  </a:tcPr>
                </a:tc>
                <a:tc>
                  <a:txBody>
                    <a:bodyPr/>
                    <a:lstStyle/>
                    <a:p>
                      <a:pPr indent="0" lvl="0" marL="0" marR="0" rtl="0" algn="l">
                        <a:spcBef>
                          <a:spcPts val="0"/>
                        </a:spcBef>
                        <a:spcAft>
                          <a:spcPts val="0"/>
                        </a:spcAft>
                        <a:buClr>
                          <a:srgbClr val="23293B"/>
                        </a:buClr>
                        <a:buSzPts val="1150"/>
                        <a:buFont typeface="Calibri"/>
                        <a:buNone/>
                      </a:pPr>
                      <a:r>
                        <a:rPr lang="en-US" sz="1150" u="none" cap="none" strike="noStrike">
                          <a:solidFill>
                            <a:srgbClr val="23293B"/>
                          </a:solidFill>
                          <a:latin typeface="Calibri"/>
                          <a:ea typeface="Calibri"/>
                          <a:cs typeface="Calibri"/>
                          <a:sym typeface="Calibri"/>
                        </a:rPr>
                        <a:t>check annotator IDs in the QA join</a:t>
                      </a:r>
                      <a:endParaRPr sz="1150" u="none" cap="none" strike="noStrike">
                        <a:latin typeface="Calibri"/>
                        <a:ea typeface="Calibri"/>
                        <a:cs typeface="Calibri"/>
                        <a:sym typeface="Calibri"/>
                      </a:endParaRPr>
                    </a:p>
                  </a:txBody>
                  <a:tcPr marT="64000" marB="64000" marR="64000" marL="64000" anchor="ctr">
                    <a:lnL cap="flat" cmpd="sng" w="9525">
                      <a:solidFill>
                        <a:srgbClr val="D9E2EA"/>
                      </a:solidFill>
                      <a:prstDash val="solid"/>
                      <a:round/>
                      <a:headEnd len="sm" w="sm" type="none"/>
                      <a:tailEnd len="sm" w="sm" type="none"/>
                    </a:lnL>
                    <a:lnR cap="flat" cmpd="sng" w="9525">
                      <a:solidFill>
                        <a:srgbClr val="D9E2EA"/>
                      </a:solidFill>
                      <a:prstDash val="solid"/>
                      <a:round/>
                      <a:headEnd len="sm" w="sm" type="none"/>
                      <a:tailEnd len="sm" w="sm" type="none"/>
                    </a:lnR>
                    <a:lnT cap="flat" cmpd="sng" w="9525">
                      <a:solidFill>
                        <a:srgbClr val="D9E2EA"/>
                      </a:solidFill>
                      <a:prstDash val="solid"/>
                      <a:round/>
                      <a:headEnd len="sm" w="sm" type="none"/>
                      <a:tailEnd len="sm" w="sm" type="none"/>
                    </a:lnT>
                    <a:lnB cap="flat" cmpd="sng" w="9525">
                      <a:solidFill>
                        <a:srgbClr val="D9E2EA"/>
                      </a:solidFill>
                      <a:prstDash val="solid"/>
                      <a:round/>
                      <a:headEnd len="sm" w="sm" type="none"/>
                      <a:tailEnd len="sm" w="sm" type="none"/>
                    </a:lnB>
                    <a:solidFill>
                      <a:srgbClr val="F2F6F9"/>
                    </a:solidFill>
                  </a:tcPr>
                </a:tc>
              </a:tr>
              <a:tr h="713225">
                <a:tc>
                  <a:txBody>
                    <a:bodyPr/>
                    <a:lstStyle/>
                    <a:p>
                      <a:pPr indent="0" lvl="0" marL="0" marR="0" rtl="0" algn="l">
                        <a:spcBef>
                          <a:spcPts val="0"/>
                        </a:spcBef>
                        <a:spcAft>
                          <a:spcPts val="0"/>
                        </a:spcAft>
                        <a:buClr>
                          <a:srgbClr val="1D2A5C"/>
                        </a:buClr>
                        <a:buSzPts val="1150"/>
                        <a:buFont typeface="Calibri"/>
                        <a:buNone/>
                      </a:pPr>
                      <a:r>
                        <a:rPr b="1" lang="en-US" sz="1150" u="none" cap="none" strike="noStrike">
                          <a:solidFill>
                            <a:srgbClr val="1D2A5C"/>
                          </a:solidFill>
                          <a:latin typeface="Calibri"/>
                          <a:ea typeface="Calibri"/>
                          <a:cs typeface="Calibri"/>
                          <a:sym typeface="Calibri"/>
                        </a:rPr>
                        <a:t>CVAT tasks empty</a:t>
                      </a:r>
                      <a:endParaRPr sz="1150" u="none" cap="none" strike="noStrike">
                        <a:latin typeface="Calibri"/>
                        <a:ea typeface="Calibri"/>
                        <a:cs typeface="Calibri"/>
                        <a:sym typeface="Calibri"/>
                      </a:endParaRPr>
                    </a:p>
                  </a:txBody>
                  <a:tcPr marT="64000" marB="64000" marR="64000" marL="64000" anchor="ctr">
                    <a:lnL cap="flat" cmpd="sng" w="9525">
                      <a:solidFill>
                        <a:srgbClr val="D9E2EA"/>
                      </a:solidFill>
                      <a:prstDash val="solid"/>
                      <a:round/>
                      <a:headEnd len="sm" w="sm" type="none"/>
                      <a:tailEnd len="sm" w="sm" type="none"/>
                    </a:lnL>
                    <a:lnR cap="flat" cmpd="sng" w="9525">
                      <a:solidFill>
                        <a:srgbClr val="D9E2EA"/>
                      </a:solidFill>
                      <a:prstDash val="solid"/>
                      <a:round/>
                      <a:headEnd len="sm" w="sm" type="none"/>
                      <a:tailEnd len="sm" w="sm" type="none"/>
                    </a:lnR>
                    <a:lnT cap="flat" cmpd="sng" w="9525">
                      <a:solidFill>
                        <a:srgbClr val="D9E2EA"/>
                      </a:solidFill>
                      <a:prstDash val="solid"/>
                      <a:round/>
                      <a:headEnd len="sm" w="sm" type="none"/>
                      <a:tailEnd len="sm" w="sm" type="none"/>
                    </a:lnT>
                    <a:lnB cap="flat" cmpd="sng" w="9525">
                      <a:solidFill>
                        <a:srgbClr val="D9E2EA"/>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23293B"/>
                        </a:buClr>
                        <a:buSzPts val="1150"/>
                        <a:buFont typeface="Calibri"/>
                        <a:buNone/>
                      </a:pPr>
                      <a:r>
                        <a:rPr lang="en-US" sz="1150" u="none" cap="none" strike="noStrike">
                          <a:solidFill>
                            <a:srgbClr val="23293B"/>
                          </a:solidFill>
                          <a:latin typeface="Calibri"/>
                          <a:ea typeface="Calibri"/>
                          <a:cs typeface="Calibri"/>
                          <a:sym typeface="Calibri"/>
                        </a:rPr>
                        <a:t>export path/format mismatch</a:t>
                      </a:r>
                      <a:endParaRPr sz="1150" u="none" cap="none" strike="noStrike">
                        <a:latin typeface="Calibri"/>
                        <a:ea typeface="Calibri"/>
                        <a:cs typeface="Calibri"/>
                        <a:sym typeface="Calibri"/>
                      </a:endParaRPr>
                    </a:p>
                  </a:txBody>
                  <a:tcPr marT="64000" marB="64000" marR="64000" marL="64000" anchor="ctr">
                    <a:lnL cap="flat" cmpd="sng" w="9525">
                      <a:solidFill>
                        <a:srgbClr val="D9E2EA"/>
                      </a:solidFill>
                      <a:prstDash val="solid"/>
                      <a:round/>
                      <a:headEnd len="sm" w="sm" type="none"/>
                      <a:tailEnd len="sm" w="sm" type="none"/>
                    </a:lnL>
                    <a:lnR cap="flat" cmpd="sng" w="9525">
                      <a:solidFill>
                        <a:srgbClr val="D9E2EA"/>
                      </a:solidFill>
                      <a:prstDash val="solid"/>
                      <a:round/>
                      <a:headEnd len="sm" w="sm" type="none"/>
                      <a:tailEnd len="sm" w="sm" type="none"/>
                    </a:lnR>
                    <a:lnT cap="flat" cmpd="sng" w="9525">
                      <a:solidFill>
                        <a:srgbClr val="D9E2EA"/>
                      </a:solidFill>
                      <a:prstDash val="solid"/>
                      <a:round/>
                      <a:headEnd len="sm" w="sm" type="none"/>
                      <a:tailEnd len="sm" w="sm" type="none"/>
                    </a:lnT>
                    <a:lnB cap="flat" cmpd="sng" w="9525">
                      <a:solidFill>
                        <a:srgbClr val="D9E2EA"/>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23293B"/>
                        </a:buClr>
                        <a:buSzPts val="1150"/>
                        <a:buFont typeface="Calibri"/>
                        <a:buNone/>
                      </a:pPr>
                      <a:r>
                        <a:rPr lang="en-US" sz="1150" u="none" cap="none" strike="noStrike">
                          <a:solidFill>
                            <a:srgbClr val="23293B"/>
                          </a:solidFill>
                          <a:latin typeface="Calibri"/>
                          <a:ea typeface="Calibri"/>
                          <a:cs typeface="Calibri"/>
                          <a:sym typeface="Calibri"/>
                        </a:rPr>
                        <a:t>re-export as YOLO 1.1; check assignment</a:t>
                      </a:r>
                      <a:endParaRPr sz="1150" u="none" cap="none" strike="noStrike">
                        <a:latin typeface="Calibri"/>
                        <a:ea typeface="Calibri"/>
                        <a:cs typeface="Calibri"/>
                        <a:sym typeface="Calibri"/>
                      </a:endParaRPr>
                    </a:p>
                  </a:txBody>
                  <a:tcPr marT="64000" marB="64000" marR="64000" marL="64000" anchor="ctr">
                    <a:lnL cap="flat" cmpd="sng" w="9525">
                      <a:solidFill>
                        <a:srgbClr val="D9E2EA"/>
                      </a:solidFill>
                      <a:prstDash val="solid"/>
                      <a:round/>
                      <a:headEnd len="sm" w="sm" type="none"/>
                      <a:tailEnd len="sm" w="sm" type="none"/>
                    </a:lnL>
                    <a:lnR cap="flat" cmpd="sng" w="9525">
                      <a:solidFill>
                        <a:srgbClr val="D9E2EA"/>
                      </a:solidFill>
                      <a:prstDash val="solid"/>
                      <a:round/>
                      <a:headEnd len="sm" w="sm" type="none"/>
                      <a:tailEnd len="sm" w="sm" type="none"/>
                    </a:lnR>
                    <a:lnT cap="flat" cmpd="sng" w="9525">
                      <a:solidFill>
                        <a:srgbClr val="D9E2EA"/>
                      </a:solidFill>
                      <a:prstDash val="solid"/>
                      <a:round/>
                      <a:headEnd len="sm" w="sm" type="none"/>
                      <a:tailEnd len="sm" w="sm" type="none"/>
                    </a:lnT>
                    <a:lnB cap="flat" cmpd="sng" w="9525">
                      <a:solidFill>
                        <a:srgbClr val="D9E2EA"/>
                      </a:solidFill>
                      <a:prstDash val="solid"/>
                      <a:round/>
                      <a:headEnd len="sm" w="sm" type="none"/>
                      <a:tailEnd len="sm" w="sm" type="none"/>
                    </a:lnB>
                    <a:solidFill>
                      <a:srgbClr val="FFFFFF"/>
                    </a:solidFill>
                  </a:tcPr>
                </a:tc>
              </a:tr>
              <a:tr h="713225">
                <a:tc>
                  <a:txBody>
                    <a:bodyPr/>
                    <a:lstStyle/>
                    <a:p>
                      <a:pPr indent="0" lvl="0" marL="0" marR="0" rtl="0" algn="l">
                        <a:spcBef>
                          <a:spcPts val="0"/>
                        </a:spcBef>
                        <a:spcAft>
                          <a:spcPts val="0"/>
                        </a:spcAft>
                        <a:buClr>
                          <a:srgbClr val="1D2A5C"/>
                        </a:buClr>
                        <a:buSzPts val="1150"/>
                        <a:buFont typeface="Calibri"/>
                        <a:buNone/>
                      </a:pPr>
                      <a:r>
                        <a:rPr b="1" lang="en-US" sz="1150" u="none" cap="none" strike="noStrike">
                          <a:solidFill>
                            <a:srgbClr val="1D2A5C"/>
                          </a:solidFill>
                          <a:latin typeface="Calibri"/>
                          <a:ea typeface="Calibri"/>
                          <a:cs typeface="Calibri"/>
                          <a:sym typeface="Calibri"/>
                        </a:rPr>
                        <a:t>Release hash differs per machine</a:t>
                      </a:r>
                      <a:endParaRPr sz="1150" u="none" cap="none" strike="noStrike">
                        <a:latin typeface="Calibri"/>
                        <a:ea typeface="Calibri"/>
                        <a:cs typeface="Calibri"/>
                        <a:sym typeface="Calibri"/>
                      </a:endParaRPr>
                    </a:p>
                  </a:txBody>
                  <a:tcPr marT="64000" marB="64000" marR="64000" marL="64000" anchor="ctr">
                    <a:lnL cap="flat" cmpd="sng" w="9525">
                      <a:solidFill>
                        <a:srgbClr val="D9E2EA"/>
                      </a:solidFill>
                      <a:prstDash val="solid"/>
                      <a:round/>
                      <a:headEnd len="sm" w="sm" type="none"/>
                      <a:tailEnd len="sm" w="sm" type="none"/>
                    </a:lnL>
                    <a:lnR cap="flat" cmpd="sng" w="9525">
                      <a:solidFill>
                        <a:srgbClr val="D9E2EA"/>
                      </a:solidFill>
                      <a:prstDash val="solid"/>
                      <a:round/>
                      <a:headEnd len="sm" w="sm" type="none"/>
                      <a:tailEnd len="sm" w="sm" type="none"/>
                    </a:lnR>
                    <a:lnT cap="flat" cmpd="sng" w="9525">
                      <a:solidFill>
                        <a:srgbClr val="D9E2EA"/>
                      </a:solidFill>
                      <a:prstDash val="solid"/>
                      <a:round/>
                      <a:headEnd len="sm" w="sm" type="none"/>
                      <a:tailEnd len="sm" w="sm" type="none"/>
                    </a:lnT>
                    <a:lnB cap="flat" cmpd="sng" w="9525">
                      <a:solidFill>
                        <a:srgbClr val="D9E2EA"/>
                      </a:solidFill>
                      <a:prstDash val="solid"/>
                      <a:round/>
                      <a:headEnd len="sm" w="sm" type="none"/>
                      <a:tailEnd len="sm" w="sm" type="none"/>
                    </a:lnB>
                    <a:solidFill>
                      <a:srgbClr val="F2F6F9"/>
                    </a:solidFill>
                  </a:tcPr>
                </a:tc>
                <a:tc>
                  <a:txBody>
                    <a:bodyPr/>
                    <a:lstStyle/>
                    <a:p>
                      <a:pPr indent="0" lvl="0" marL="0" marR="0" rtl="0" algn="l">
                        <a:spcBef>
                          <a:spcPts val="0"/>
                        </a:spcBef>
                        <a:spcAft>
                          <a:spcPts val="0"/>
                        </a:spcAft>
                        <a:buClr>
                          <a:srgbClr val="23293B"/>
                        </a:buClr>
                        <a:buSzPts val="1150"/>
                        <a:buFont typeface="Calibri"/>
                        <a:buNone/>
                      </a:pPr>
                      <a:r>
                        <a:rPr lang="en-US" sz="1150" u="none" cap="none" strike="noStrike">
                          <a:solidFill>
                            <a:srgbClr val="23293B"/>
                          </a:solidFill>
                          <a:latin typeface="Calibri"/>
                          <a:ea typeface="Calibri"/>
                          <a:cs typeface="Calibri"/>
                          <a:sym typeface="Calibri"/>
                        </a:rPr>
                        <a:t>line-ending mutation in manifest CSV</a:t>
                      </a:r>
                      <a:endParaRPr sz="1150" u="none" cap="none" strike="noStrike">
                        <a:latin typeface="Calibri"/>
                        <a:ea typeface="Calibri"/>
                        <a:cs typeface="Calibri"/>
                        <a:sym typeface="Calibri"/>
                      </a:endParaRPr>
                    </a:p>
                  </a:txBody>
                  <a:tcPr marT="64000" marB="64000" marR="64000" marL="64000" anchor="ctr">
                    <a:lnL cap="flat" cmpd="sng" w="9525">
                      <a:solidFill>
                        <a:srgbClr val="D9E2EA"/>
                      </a:solidFill>
                      <a:prstDash val="solid"/>
                      <a:round/>
                      <a:headEnd len="sm" w="sm" type="none"/>
                      <a:tailEnd len="sm" w="sm" type="none"/>
                    </a:lnL>
                    <a:lnR cap="flat" cmpd="sng" w="9525">
                      <a:solidFill>
                        <a:srgbClr val="D9E2EA"/>
                      </a:solidFill>
                      <a:prstDash val="solid"/>
                      <a:round/>
                      <a:headEnd len="sm" w="sm" type="none"/>
                      <a:tailEnd len="sm" w="sm" type="none"/>
                    </a:lnR>
                    <a:lnT cap="flat" cmpd="sng" w="9525">
                      <a:solidFill>
                        <a:srgbClr val="D9E2EA"/>
                      </a:solidFill>
                      <a:prstDash val="solid"/>
                      <a:round/>
                      <a:headEnd len="sm" w="sm" type="none"/>
                      <a:tailEnd len="sm" w="sm" type="none"/>
                    </a:lnT>
                    <a:lnB cap="flat" cmpd="sng" w="9525">
                      <a:solidFill>
                        <a:srgbClr val="D9E2EA"/>
                      </a:solidFill>
                      <a:prstDash val="solid"/>
                      <a:round/>
                      <a:headEnd len="sm" w="sm" type="none"/>
                      <a:tailEnd len="sm" w="sm" type="none"/>
                    </a:lnB>
                    <a:solidFill>
                      <a:srgbClr val="F2F6F9"/>
                    </a:solidFill>
                  </a:tcPr>
                </a:tc>
                <a:tc>
                  <a:txBody>
                    <a:bodyPr/>
                    <a:lstStyle/>
                    <a:p>
                      <a:pPr indent="0" lvl="0" marL="0" marR="0" rtl="0" algn="l">
                        <a:spcBef>
                          <a:spcPts val="0"/>
                        </a:spcBef>
                        <a:spcAft>
                          <a:spcPts val="0"/>
                        </a:spcAft>
                        <a:buClr>
                          <a:srgbClr val="23293B"/>
                        </a:buClr>
                        <a:buSzPts val="1150"/>
                        <a:buFont typeface="Calibri"/>
                        <a:buNone/>
                      </a:pPr>
                      <a:r>
                        <a:rPr lang="en-US" sz="1150" u="none" cap="none" strike="noStrike">
                          <a:solidFill>
                            <a:srgbClr val="23293B"/>
                          </a:solidFill>
                          <a:latin typeface="Calibri"/>
                          <a:ea typeface="Calibri"/>
                          <a:cs typeface="Calibri"/>
                          <a:sym typeface="Calibri"/>
                        </a:rPr>
                        <a:t>write newline=""; hash bytes, not text</a:t>
                      </a:r>
                      <a:endParaRPr sz="1150" u="none" cap="none" strike="noStrike">
                        <a:latin typeface="Calibri"/>
                        <a:ea typeface="Calibri"/>
                        <a:cs typeface="Calibri"/>
                        <a:sym typeface="Calibri"/>
                      </a:endParaRPr>
                    </a:p>
                  </a:txBody>
                  <a:tcPr marT="64000" marB="64000" marR="64000" marL="64000" anchor="ctr">
                    <a:lnL cap="flat" cmpd="sng" w="9525">
                      <a:solidFill>
                        <a:srgbClr val="D9E2EA"/>
                      </a:solidFill>
                      <a:prstDash val="solid"/>
                      <a:round/>
                      <a:headEnd len="sm" w="sm" type="none"/>
                      <a:tailEnd len="sm" w="sm" type="none"/>
                    </a:lnL>
                    <a:lnR cap="flat" cmpd="sng" w="9525">
                      <a:solidFill>
                        <a:srgbClr val="D9E2EA"/>
                      </a:solidFill>
                      <a:prstDash val="solid"/>
                      <a:round/>
                      <a:headEnd len="sm" w="sm" type="none"/>
                      <a:tailEnd len="sm" w="sm" type="none"/>
                    </a:lnR>
                    <a:lnT cap="flat" cmpd="sng" w="9525">
                      <a:solidFill>
                        <a:srgbClr val="D9E2EA"/>
                      </a:solidFill>
                      <a:prstDash val="solid"/>
                      <a:round/>
                      <a:headEnd len="sm" w="sm" type="none"/>
                      <a:tailEnd len="sm" w="sm" type="none"/>
                    </a:lnT>
                    <a:lnB cap="flat" cmpd="sng" w="9525">
                      <a:solidFill>
                        <a:srgbClr val="D9E2EA"/>
                      </a:solidFill>
                      <a:prstDash val="solid"/>
                      <a:round/>
                      <a:headEnd len="sm" w="sm" type="none"/>
                      <a:tailEnd len="sm" w="sm" type="none"/>
                    </a:lnB>
                    <a:solidFill>
                      <a:srgbClr val="F2F6F9"/>
                    </a:solidFill>
                  </a:tcPr>
                </a:tc>
              </a:tr>
              <a:tr h="713225">
                <a:tc>
                  <a:txBody>
                    <a:bodyPr/>
                    <a:lstStyle/>
                    <a:p>
                      <a:pPr indent="0" lvl="0" marL="0" marR="0" rtl="0" algn="l">
                        <a:spcBef>
                          <a:spcPts val="0"/>
                        </a:spcBef>
                        <a:spcAft>
                          <a:spcPts val="0"/>
                        </a:spcAft>
                        <a:buClr>
                          <a:srgbClr val="1D2A5C"/>
                        </a:buClr>
                        <a:buSzPts val="1150"/>
                        <a:buFont typeface="Calibri"/>
                        <a:buNone/>
                      </a:pPr>
                      <a:r>
                        <a:rPr b="1" lang="en-US" sz="1150" u="none" cap="none" strike="noStrike">
                          <a:solidFill>
                            <a:srgbClr val="1D2A5C"/>
                          </a:solidFill>
                          <a:latin typeface="Calibri"/>
                          <a:ea typeface="Calibri"/>
                          <a:cs typeface="Calibri"/>
                          <a:sym typeface="Calibri"/>
                        </a:rPr>
                        <a:t>Split-freeze verify fails</a:t>
                      </a:r>
                      <a:endParaRPr sz="1150" u="none" cap="none" strike="noStrike">
                        <a:latin typeface="Calibri"/>
                        <a:ea typeface="Calibri"/>
                        <a:cs typeface="Calibri"/>
                        <a:sym typeface="Calibri"/>
                      </a:endParaRPr>
                    </a:p>
                  </a:txBody>
                  <a:tcPr marT="64000" marB="64000" marR="64000" marL="64000" anchor="ctr">
                    <a:lnL cap="flat" cmpd="sng" w="9525">
                      <a:solidFill>
                        <a:srgbClr val="D9E2EA"/>
                      </a:solidFill>
                      <a:prstDash val="solid"/>
                      <a:round/>
                      <a:headEnd len="sm" w="sm" type="none"/>
                      <a:tailEnd len="sm" w="sm" type="none"/>
                    </a:lnL>
                    <a:lnR cap="flat" cmpd="sng" w="9525">
                      <a:solidFill>
                        <a:srgbClr val="D9E2EA"/>
                      </a:solidFill>
                      <a:prstDash val="solid"/>
                      <a:round/>
                      <a:headEnd len="sm" w="sm" type="none"/>
                      <a:tailEnd len="sm" w="sm" type="none"/>
                    </a:lnR>
                    <a:lnT cap="flat" cmpd="sng" w="9525">
                      <a:solidFill>
                        <a:srgbClr val="D9E2EA"/>
                      </a:solidFill>
                      <a:prstDash val="solid"/>
                      <a:round/>
                      <a:headEnd len="sm" w="sm" type="none"/>
                      <a:tailEnd len="sm" w="sm" type="none"/>
                    </a:lnT>
                    <a:lnB cap="flat" cmpd="sng" w="9525">
                      <a:solidFill>
                        <a:srgbClr val="D9E2EA"/>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23293B"/>
                        </a:buClr>
                        <a:buSzPts val="1150"/>
                        <a:buFont typeface="Calibri"/>
                        <a:buNone/>
                      </a:pPr>
                      <a:r>
                        <a:rPr lang="en-US" sz="1150" u="none" cap="none" strike="noStrike">
                          <a:solidFill>
                            <a:srgbClr val="23293B"/>
                          </a:solidFill>
                          <a:latin typeface="Calibri"/>
                          <a:ea typeface="Calibri"/>
                          <a:cs typeface="Calibri"/>
                          <a:sym typeface="Calibri"/>
                        </a:rPr>
                        <a:t>v2 manifest re-assigned a session</a:t>
                      </a:r>
                      <a:endParaRPr sz="1150" u="none" cap="none" strike="noStrike">
                        <a:latin typeface="Calibri"/>
                        <a:ea typeface="Calibri"/>
                        <a:cs typeface="Calibri"/>
                        <a:sym typeface="Calibri"/>
                      </a:endParaRPr>
                    </a:p>
                  </a:txBody>
                  <a:tcPr marT="64000" marB="64000" marR="64000" marL="64000" anchor="ctr">
                    <a:lnL cap="flat" cmpd="sng" w="9525">
                      <a:solidFill>
                        <a:srgbClr val="D9E2EA"/>
                      </a:solidFill>
                      <a:prstDash val="solid"/>
                      <a:round/>
                      <a:headEnd len="sm" w="sm" type="none"/>
                      <a:tailEnd len="sm" w="sm" type="none"/>
                    </a:lnL>
                    <a:lnR cap="flat" cmpd="sng" w="9525">
                      <a:solidFill>
                        <a:srgbClr val="D9E2EA"/>
                      </a:solidFill>
                      <a:prstDash val="solid"/>
                      <a:round/>
                      <a:headEnd len="sm" w="sm" type="none"/>
                      <a:tailEnd len="sm" w="sm" type="none"/>
                    </a:lnR>
                    <a:lnT cap="flat" cmpd="sng" w="9525">
                      <a:solidFill>
                        <a:srgbClr val="D9E2EA"/>
                      </a:solidFill>
                      <a:prstDash val="solid"/>
                      <a:round/>
                      <a:headEnd len="sm" w="sm" type="none"/>
                      <a:tailEnd len="sm" w="sm" type="none"/>
                    </a:lnT>
                    <a:lnB cap="flat" cmpd="sng" w="9525">
                      <a:solidFill>
                        <a:srgbClr val="D9E2EA"/>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23293B"/>
                        </a:buClr>
                        <a:buSzPts val="1150"/>
                        <a:buFont typeface="Calibri"/>
                        <a:buNone/>
                      </a:pPr>
                      <a:r>
                        <a:rPr lang="en-US" sz="1150" u="none" cap="none" strike="noStrike">
                          <a:solidFill>
                            <a:srgbClr val="23293B"/>
                          </a:solidFill>
                          <a:latin typeface="Calibri"/>
                          <a:ea typeface="Calibri"/>
                          <a:cs typeface="Calibri"/>
                          <a:sym typeface="Calibri"/>
                        </a:rPr>
                        <a:t>restore split column from v1</a:t>
                      </a:r>
                      <a:endParaRPr sz="1150" u="none" cap="none" strike="noStrike">
                        <a:latin typeface="Calibri"/>
                        <a:ea typeface="Calibri"/>
                        <a:cs typeface="Calibri"/>
                        <a:sym typeface="Calibri"/>
                      </a:endParaRPr>
                    </a:p>
                  </a:txBody>
                  <a:tcPr marT="64000" marB="64000" marR="64000" marL="64000" anchor="ctr">
                    <a:lnL cap="flat" cmpd="sng" w="9525">
                      <a:solidFill>
                        <a:srgbClr val="D9E2EA"/>
                      </a:solidFill>
                      <a:prstDash val="solid"/>
                      <a:round/>
                      <a:headEnd len="sm" w="sm" type="none"/>
                      <a:tailEnd len="sm" w="sm" type="none"/>
                    </a:lnL>
                    <a:lnR cap="flat" cmpd="sng" w="9525">
                      <a:solidFill>
                        <a:srgbClr val="D9E2EA"/>
                      </a:solidFill>
                      <a:prstDash val="solid"/>
                      <a:round/>
                      <a:headEnd len="sm" w="sm" type="none"/>
                      <a:tailEnd len="sm" w="sm" type="none"/>
                    </a:lnR>
                    <a:lnT cap="flat" cmpd="sng" w="9525">
                      <a:solidFill>
                        <a:srgbClr val="D9E2EA"/>
                      </a:solidFill>
                      <a:prstDash val="solid"/>
                      <a:round/>
                      <a:headEnd len="sm" w="sm" type="none"/>
                      <a:tailEnd len="sm" w="sm" type="none"/>
                    </a:lnT>
                    <a:lnB cap="flat" cmpd="sng" w="9525">
                      <a:solidFill>
                        <a:srgbClr val="D9E2EA"/>
                      </a:solidFill>
                      <a:prstDash val="solid"/>
                      <a:round/>
                      <a:headEnd len="sm" w="sm" type="none"/>
                      <a:tailEnd len="sm" w="sm" type="none"/>
                    </a:lnB>
                    <a:solidFill>
                      <a:srgbClr val="FFFFFF"/>
                    </a:solidFill>
                  </a:tcPr>
                </a:tc>
              </a:tr>
            </a:tbl>
          </a:graphicData>
        </a:graphic>
      </p:graphicFrame>
    </p:spTree>
  </p:cSld>
  <p:clrMapOvr>
    <a:masterClrMapping/>
  </p:clrMapOvr>
</p:sld>
</file>

<file path=ppt/slides/slide10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816" name="Shape 2816"/>
        <p:cNvGrpSpPr/>
        <p:nvPr/>
      </p:nvGrpSpPr>
      <p:grpSpPr>
        <a:xfrm>
          <a:off x="0" y="0"/>
          <a:ext cx="0" cy="0"/>
          <a:chOff x="0" y="0"/>
          <a:chExt cx="0" cy="0"/>
        </a:xfrm>
      </p:grpSpPr>
      <p:sp>
        <p:nvSpPr>
          <p:cNvPr id="2817" name="Google Shape;2817;p101"/>
          <p:cNvSpPr/>
          <p:nvPr/>
        </p:nvSpPr>
        <p:spPr>
          <a:xfrm>
            <a:off x="502920" y="274320"/>
            <a:ext cx="9646920" cy="56692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D2A5C"/>
              </a:buClr>
              <a:buSzPts val="2700"/>
              <a:buFont typeface="Calibri"/>
              <a:buNone/>
            </a:pPr>
            <a:r>
              <a:rPr b="1" i="0" lang="en-US" sz="2700" u="none" cap="none" strike="noStrike">
                <a:solidFill>
                  <a:srgbClr val="1D2A5C"/>
                </a:solidFill>
                <a:latin typeface="Calibri"/>
                <a:ea typeface="Calibri"/>
                <a:cs typeface="Calibri"/>
                <a:sym typeface="Calibri"/>
              </a:rPr>
              <a:t>Module 5 Quiz</a:t>
            </a:r>
            <a:endParaRPr b="0" i="0" sz="2700" u="none" cap="none" strike="noStrike">
              <a:solidFill>
                <a:schemeClr val="dk1"/>
              </a:solidFill>
              <a:latin typeface="Calibri"/>
              <a:ea typeface="Calibri"/>
              <a:cs typeface="Calibri"/>
              <a:sym typeface="Calibri"/>
            </a:endParaRPr>
          </a:p>
        </p:txBody>
      </p:sp>
      <p:sp>
        <p:nvSpPr>
          <p:cNvPr id="2818" name="Google Shape;2818;p101"/>
          <p:cNvSpPr/>
          <p:nvPr/>
        </p:nvSpPr>
        <p:spPr>
          <a:xfrm>
            <a:off x="502920" y="859536"/>
            <a:ext cx="9646920" cy="31089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F6B7A"/>
              </a:buClr>
              <a:buSzPts val="1250"/>
              <a:buFont typeface="Arial"/>
              <a:buNone/>
            </a:pPr>
            <a:r>
              <a:rPr b="0" i="0" lang="en-US" sz="1250" u="none" cap="none" strike="noStrike">
                <a:solidFill>
                  <a:srgbClr val="5F6B7A"/>
                </a:solidFill>
                <a:latin typeface="Arial"/>
                <a:ea typeface="Arial"/>
                <a:cs typeface="Arial"/>
                <a:sym typeface="Arial"/>
              </a:rPr>
              <a:t>اختبار الوحدة الخامسة</a:t>
            </a:r>
            <a:endParaRPr b="0" i="0" sz="1250" u="none" cap="none" strike="noStrike">
              <a:solidFill>
                <a:schemeClr val="dk1"/>
              </a:solidFill>
              <a:latin typeface="Calibri"/>
              <a:ea typeface="Calibri"/>
              <a:cs typeface="Calibri"/>
              <a:sym typeface="Calibri"/>
            </a:endParaRPr>
          </a:p>
        </p:txBody>
      </p:sp>
      <p:pic>
        <p:nvPicPr>
          <p:cNvPr descr="/sessions/blissful-determined-ritchie/build/assets/sdaia_logo.png" id="2819" name="Google Shape;2819;p101"/>
          <p:cNvPicPr preferRelativeResize="0"/>
          <p:nvPr/>
        </p:nvPicPr>
        <p:blipFill rotWithShape="1">
          <a:blip r:embed="rId3">
            <a:alphaModFix/>
          </a:blip>
          <a:srcRect b="0" l="0" r="0" t="0"/>
          <a:stretch/>
        </p:blipFill>
        <p:spPr>
          <a:xfrm>
            <a:off x="10625328" y="310896"/>
            <a:ext cx="1078992" cy="264111"/>
          </a:xfrm>
          <a:prstGeom prst="rect">
            <a:avLst/>
          </a:prstGeom>
          <a:noFill/>
          <a:ln>
            <a:noFill/>
          </a:ln>
        </p:spPr>
      </p:pic>
      <p:sp>
        <p:nvSpPr>
          <p:cNvPr id="2820" name="Google Shape;2820;p101"/>
          <p:cNvSpPr/>
          <p:nvPr/>
        </p:nvSpPr>
        <p:spPr>
          <a:xfrm>
            <a:off x="502920" y="6528816"/>
            <a:ext cx="8686800"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A79D"/>
              </a:buClr>
              <a:buSzPts val="800"/>
              <a:buFont typeface="Calibri"/>
              <a:buNone/>
            </a:pPr>
            <a:r>
              <a:rPr b="1" i="0" lang="en-US" sz="800" u="none" cap="none" strike="noStrike">
                <a:solidFill>
                  <a:srgbClr val="00A79D"/>
                </a:solidFill>
                <a:latin typeface="Calibri"/>
                <a:ea typeface="Calibri"/>
                <a:cs typeface="Calibri"/>
                <a:sym typeface="Calibri"/>
              </a:rPr>
              <a:t>MODULE 5   </a:t>
            </a:r>
            <a:r>
              <a:rPr b="0" i="0" lang="en-US" sz="800" u="none" cap="none" strike="noStrike">
                <a:solidFill>
                  <a:srgbClr val="8A96A6"/>
                </a:solidFill>
                <a:latin typeface="Calibri"/>
                <a:ea typeface="Calibri"/>
                <a:cs typeface="Calibri"/>
                <a:sym typeface="Calibri"/>
              </a:rPr>
              <a:t>SDA-AIE-212 · Computer Vision Systems Development</a:t>
            </a:r>
            <a:endParaRPr b="0" i="0" sz="800" u="none" cap="none" strike="noStrike">
              <a:solidFill>
                <a:schemeClr val="dk1"/>
              </a:solidFill>
              <a:latin typeface="Calibri"/>
              <a:ea typeface="Calibri"/>
              <a:cs typeface="Calibri"/>
              <a:sym typeface="Calibri"/>
            </a:endParaRPr>
          </a:p>
        </p:txBody>
      </p:sp>
      <p:sp>
        <p:nvSpPr>
          <p:cNvPr id="2821" name="Google Shape;2821;p101"/>
          <p:cNvSpPr/>
          <p:nvPr/>
        </p:nvSpPr>
        <p:spPr>
          <a:xfrm>
            <a:off x="11292840" y="6528816"/>
            <a:ext cx="411480" cy="219456"/>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8A96A6"/>
              </a:buClr>
              <a:buSzPts val="900"/>
              <a:buFont typeface="Calibri"/>
              <a:buNone/>
            </a:pPr>
            <a:r>
              <a:rPr b="0" i="0" lang="en-US" sz="900" u="none" cap="none" strike="noStrike">
                <a:solidFill>
                  <a:srgbClr val="8A96A6"/>
                </a:solidFill>
                <a:latin typeface="Calibri"/>
                <a:ea typeface="Calibri"/>
                <a:cs typeface="Calibri"/>
                <a:sym typeface="Calibri"/>
              </a:rPr>
              <a:t>101</a:t>
            </a:r>
            <a:endParaRPr b="0" i="0" sz="900" u="none" cap="none" strike="noStrike">
              <a:solidFill>
                <a:schemeClr val="dk1"/>
              </a:solidFill>
              <a:latin typeface="Calibri"/>
              <a:ea typeface="Calibri"/>
              <a:cs typeface="Calibri"/>
              <a:sym typeface="Calibri"/>
            </a:endParaRPr>
          </a:p>
        </p:txBody>
      </p:sp>
      <p:sp>
        <p:nvSpPr>
          <p:cNvPr id="2822" name="Google Shape;2822;p101"/>
          <p:cNvSpPr/>
          <p:nvPr/>
        </p:nvSpPr>
        <p:spPr>
          <a:xfrm>
            <a:off x="502920" y="1417320"/>
            <a:ext cx="11183112" cy="801014"/>
          </a:xfrm>
          <a:prstGeom prst="roundRect">
            <a:avLst>
              <a:gd fmla="val 9132" name="adj"/>
            </a:avLst>
          </a:prstGeom>
          <a:solidFill>
            <a:srgbClr val="F2F6F9"/>
          </a:solidFill>
          <a:ln cap="flat" cmpd="sng" w="9525">
            <a:solidFill>
              <a:srgbClr val="D9E2E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23" name="Google Shape;2823;p101"/>
          <p:cNvSpPr/>
          <p:nvPr/>
        </p:nvSpPr>
        <p:spPr>
          <a:xfrm>
            <a:off x="649224" y="1644091"/>
            <a:ext cx="347472" cy="347472"/>
          </a:xfrm>
          <a:prstGeom prst="ellipse">
            <a:avLst/>
          </a:prstGeom>
          <a:solidFill>
            <a:srgbClr val="F5822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24" name="Google Shape;2824;p101"/>
          <p:cNvSpPr/>
          <p:nvPr/>
        </p:nvSpPr>
        <p:spPr>
          <a:xfrm>
            <a:off x="649224" y="1644091"/>
            <a:ext cx="347472" cy="34747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050"/>
              <a:buFont typeface="Calibri"/>
              <a:buNone/>
            </a:pPr>
            <a:r>
              <a:rPr b="1" i="0" lang="en-US" sz="1050" u="none" cap="none" strike="noStrike">
                <a:solidFill>
                  <a:srgbClr val="FFFFFF"/>
                </a:solidFill>
                <a:latin typeface="Calibri"/>
                <a:ea typeface="Calibri"/>
                <a:cs typeface="Calibri"/>
                <a:sym typeface="Calibri"/>
              </a:rPr>
              <a:t>Q1</a:t>
            </a:r>
            <a:endParaRPr b="0" i="0" sz="1050" u="none" cap="none" strike="noStrike">
              <a:solidFill>
                <a:schemeClr val="dk1"/>
              </a:solidFill>
              <a:latin typeface="Calibri"/>
              <a:ea typeface="Calibri"/>
              <a:cs typeface="Calibri"/>
              <a:sym typeface="Calibri"/>
            </a:endParaRPr>
          </a:p>
        </p:txBody>
      </p:sp>
      <p:sp>
        <p:nvSpPr>
          <p:cNvPr id="2825" name="Google Shape;2825;p101"/>
          <p:cNvSpPr/>
          <p:nvPr/>
        </p:nvSpPr>
        <p:spPr>
          <a:xfrm>
            <a:off x="1161288" y="1417320"/>
            <a:ext cx="10332720" cy="80101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3293B"/>
              </a:buClr>
              <a:buSzPts val="1250"/>
              <a:buFont typeface="Calibri"/>
              <a:buNone/>
            </a:pPr>
            <a:r>
              <a:rPr b="0" i="0" lang="en-US" sz="1250" u="none" cap="none" strike="noStrike">
                <a:solidFill>
                  <a:srgbClr val="23293B"/>
                </a:solidFill>
                <a:latin typeface="Calibri"/>
                <a:ea typeface="Calibri"/>
                <a:cs typeface="Calibri"/>
                <a:sym typeface="Calibri"/>
              </a:rPr>
              <a:t>Why does Cohen's kappa beat raw percent agreement?</a:t>
            </a:r>
            <a:endParaRPr b="0" i="0" sz="1250" u="none" cap="none" strike="noStrike">
              <a:solidFill>
                <a:schemeClr val="dk1"/>
              </a:solidFill>
              <a:latin typeface="Calibri"/>
              <a:ea typeface="Calibri"/>
              <a:cs typeface="Calibri"/>
              <a:sym typeface="Calibri"/>
            </a:endParaRPr>
          </a:p>
        </p:txBody>
      </p:sp>
      <p:sp>
        <p:nvSpPr>
          <p:cNvPr id="2826" name="Google Shape;2826;p101"/>
          <p:cNvSpPr/>
          <p:nvPr/>
        </p:nvSpPr>
        <p:spPr>
          <a:xfrm>
            <a:off x="502920" y="2346350"/>
            <a:ext cx="11183112" cy="801014"/>
          </a:xfrm>
          <a:prstGeom prst="roundRect">
            <a:avLst>
              <a:gd fmla="val 9132" name="adj"/>
            </a:avLst>
          </a:prstGeom>
          <a:solidFill>
            <a:srgbClr val="F2F6F9"/>
          </a:solidFill>
          <a:ln cap="flat" cmpd="sng" w="9525">
            <a:solidFill>
              <a:srgbClr val="D9E2E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27" name="Google Shape;2827;p101"/>
          <p:cNvSpPr/>
          <p:nvPr/>
        </p:nvSpPr>
        <p:spPr>
          <a:xfrm>
            <a:off x="649224" y="2573122"/>
            <a:ext cx="347472" cy="347472"/>
          </a:xfrm>
          <a:prstGeom prst="ellipse">
            <a:avLst/>
          </a:prstGeom>
          <a:solidFill>
            <a:srgbClr val="F5822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28" name="Google Shape;2828;p101"/>
          <p:cNvSpPr/>
          <p:nvPr/>
        </p:nvSpPr>
        <p:spPr>
          <a:xfrm>
            <a:off x="649224" y="2573122"/>
            <a:ext cx="347472" cy="34747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050"/>
              <a:buFont typeface="Calibri"/>
              <a:buNone/>
            </a:pPr>
            <a:r>
              <a:rPr b="1" i="0" lang="en-US" sz="1050" u="none" cap="none" strike="noStrike">
                <a:solidFill>
                  <a:srgbClr val="FFFFFF"/>
                </a:solidFill>
                <a:latin typeface="Calibri"/>
                <a:ea typeface="Calibri"/>
                <a:cs typeface="Calibri"/>
                <a:sym typeface="Calibri"/>
              </a:rPr>
              <a:t>Q2</a:t>
            </a:r>
            <a:endParaRPr b="0" i="0" sz="1050" u="none" cap="none" strike="noStrike">
              <a:solidFill>
                <a:schemeClr val="dk1"/>
              </a:solidFill>
              <a:latin typeface="Calibri"/>
              <a:ea typeface="Calibri"/>
              <a:cs typeface="Calibri"/>
              <a:sym typeface="Calibri"/>
            </a:endParaRPr>
          </a:p>
        </p:txBody>
      </p:sp>
      <p:sp>
        <p:nvSpPr>
          <p:cNvPr id="2829" name="Google Shape;2829;p101"/>
          <p:cNvSpPr/>
          <p:nvPr/>
        </p:nvSpPr>
        <p:spPr>
          <a:xfrm>
            <a:off x="1161288" y="2346350"/>
            <a:ext cx="10332720" cy="80101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3293B"/>
              </a:buClr>
              <a:buSzPts val="1250"/>
              <a:buFont typeface="Calibri"/>
              <a:buNone/>
            </a:pPr>
            <a:r>
              <a:rPr b="0" i="0" lang="en-US" sz="1250" u="none" cap="none" strike="noStrike">
                <a:solidFill>
                  <a:srgbClr val="23293B"/>
                </a:solidFill>
                <a:latin typeface="Calibri"/>
                <a:ea typeface="Calibri"/>
                <a:cs typeface="Calibri"/>
                <a:sym typeface="Calibri"/>
              </a:rPr>
              <a:t>Two annotators agree perfectly with each other but both fail gold tasks. Diagnosis?</a:t>
            </a:r>
            <a:endParaRPr b="0" i="0" sz="1250" u="none" cap="none" strike="noStrike">
              <a:solidFill>
                <a:schemeClr val="dk1"/>
              </a:solidFill>
              <a:latin typeface="Calibri"/>
              <a:ea typeface="Calibri"/>
              <a:cs typeface="Calibri"/>
              <a:sym typeface="Calibri"/>
            </a:endParaRPr>
          </a:p>
        </p:txBody>
      </p:sp>
      <p:sp>
        <p:nvSpPr>
          <p:cNvPr id="2830" name="Google Shape;2830;p101"/>
          <p:cNvSpPr/>
          <p:nvPr/>
        </p:nvSpPr>
        <p:spPr>
          <a:xfrm>
            <a:off x="502920" y="3275381"/>
            <a:ext cx="11183112" cy="801014"/>
          </a:xfrm>
          <a:prstGeom prst="roundRect">
            <a:avLst>
              <a:gd fmla="val 9132" name="adj"/>
            </a:avLst>
          </a:prstGeom>
          <a:solidFill>
            <a:srgbClr val="F2F6F9"/>
          </a:solidFill>
          <a:ln cap="flat" cmpd="sng" w="9525">
            <a:solidFill>
              <a:srgbClr val="D9E2E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31" name="Google Shape;2831;p101"/>
          <p:cNvSpPr/>
          <p:nvPr/>
        </p:nvSpPr>
        <p:spPr>
          <a:xfrm>
            <a:off x="649224" y="3502152"/>
            <a:ext cx="347472" cy="347472"/>
          </a:xfrm>
          <a:prstGeom prst="ellipse">
            <a:avLst/>
          </a:prstGeom>
          <a:solidFill>
            <a:srgbClr val="F5822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32" name="Google Shape;2832;p101"/>
          <p:cNvSpPr/>
          <p:nvPr/>
        </p:nvSpPr>
        <p:spPr>
          <a:xfrm>
            <a:off x="649224" y="3502152"/>
            <a:ext cx="347472" cy="34747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050"/>
              <a:buFont typeface="Calibri"/>
              <a:buNone/>
            </a:pPr>
            <a:r>
              <a:rPr b="1" i="0" lang="en-US" sz="1050" u="none" cap="none" strike="noStrike">
                <a:solidFill>
                  <a:srgbClr val="FFFFFF"/>
                </a:solidFill>
                <a:latin typeface="Calibri"/>
                <a:ea typeface="Calibri"/>
                <a:cs typeface="Calibri"/>
                <a:sym typeface="Calibri"/>
              </a:rPr>
              <a:t>Q3</a:t>
            </a:r>
            <a:endParaRPr b="0" i="0" sz="1050" u="none" cap="none" strike="noStrike">
              <a:solidFill>
                <a:schemeClr val="dk1"/>
              </a:solidFill>
              <a:latin typeface="Calibri"/>
              <a:ea typeface="Calibri"/>
              <a:cs typeface="Calibri"/>
              <a:sym typeface="Calibri"/>
            </a:endParaRPr>
          </a:p>
        </p:txBody>
      </p:sp>
      <p:sp>
        <p:nvSpPr>
          <p:cNvPr id="2833" name="Google Shape;2833;p101"/>
          <p:cNvSpPr/>
          <p:nvPr/>
        </p:nvSpPr>
        <p:spPr>
          <a:xfrm>
            <a:off x="1161288" y="3275381"/>
            <a:ext cx="10332720" cy="80101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3293B"/>
              </a:buClr>
              <a:buSzPts val="1250"/>
              <a:buFont typeface="Calibri"/>
              <a:buNone/>
            </a:pPr>
            <a:r>
              <a:rPr b="0" i="0" lang="en-US" sz="1250" u="none" cap="none" strike="noStrike">
                <a:solidFill>
                  <a:srgbClr val="23293B"/>
                </a:solidFill>
                <a:latin typeface="Calibri"/>
                <a:ea typeface="Calibri"/>
                <a:cs typeface="Calibri"/>
                <a:sym typeface="Calibri"/>
              </a:rPr>
              <a:t>Name the three triage categories for a loss-ranked audit item, and where the third goes.</a:t>
            </a:r>
            <a:endParaRPr b="0" i="0" sz="1250" u="none" cap="none" strike="noStrike">
              <a:solidFill>
                <a:schemeClr val="dk1"/>
              </a:solidFill>
              <a:latin typeface="Calibri"/>
              <a:ea typeface="Calibri"/>
              <a:cs typeface="Calibri"/>
              <a:sym typeface="Calibri"/>
            </a:endParaRPr>
          </a:p>
        </p:txBody>
      </p:sp>
      <p:sp>
        <p:nvSpPr>
          <p:cNvPr id="2834" name="Google Shape;2834;p101"/>
          <p:cNvSpPr/>
          <p:nvPr/>
        </p:nvSpPr>
        <p:spPr>
          <a:xfrm>
            <a:off x="502920" y="4204411"/>
            <a:ext cx="11183112" cy="801014"/>
          </a:xfrm>
          <a:prstGeom prst="roundRect">
            <a:avLst>
              <a:gd fmla="val 9132" name="adj"/>
            </a:avLst>
          </a:prstGeom>
          <a:solidFill>
            <a:srgbClr val="F2F6F9"/>
          </a:solidFill>
          <a:ln cap="flat" cmpd="sng" w="9525">
            <a:solidFill>
              <a:srgbClr val="D9E2E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35" name="Google Shape;2835;p101"/>
          <p:cNvSpPr/>
          <p:nvPr/>
        </p:nvSpPr>
        <p:spPr>
          <a:xfrm>
            <a:off x="649224" y="4431182"/>
            <a:ext cx="347472" cy="347472"/>
          </a:xfrm>
          <a:prstGeom prst="ellipse">
            <a:avLst/>
          </a:prstGeom>
          <a:solidFill>
            <a:srgbClr val="F5822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36" name="Google Shape;2836;p101"/>
          <p:cNvSpPr/>
          <p:nvPr/>
        </p:nvSpPr>
        <p:spPr>
          <a:xfrm>
            <a:off x="649224" y="4431182"/>
            <a:ext cx="347472" cy="34747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050"/>
              <a:buFont typeface="Calibri"/>
              <a:buNone/>
            </a:pPr>
            <a:r>
              <a:rPr b="1" i="0" lang="en-US" sz="1050" u="none" cap="none" strike="noStrike">
                <a:solidFill>
                  <a:srgbClr val="FFFFFF"/>
                </a:solidFill>
                <a:latin typeface="Calibri"/>
                <a:ea typeface="Calibri"/>
                <a:cs typeface="Calibri"/>
                <a:sym typeface="Calibri"/>
              </a:rPr>
              <a:t>Q4</a:t>
            </a:r>
            <a:endParaRPr b="0" i="0" sz="1050" u="none" cap="none" strike="noStrike">
              <a:solidFill>
                <a:schemeClr val="dk1"/>
              </a:solidFill>
              <a:latin typeface="Calibri"/>
              <a:ea typeface="Calibri"/>
              <a:cs typeface="Calibri"/>
              <a:sym typeface="Calibri"/>
            </a:endParaRPr>
          </a:p>
        </p:txBody>
      </p:sp>
      <p:sp>
        <p:nvSpPr>
          <p:cNvPr id="2837" name="Google Shape;2837;p101"/>
          <p:cNvSpPr/>
          <p:nvPr/>
        </p:nvSpPr>
        <p:spPr>
          <a:xfrm>
            <a:off x="1161288" y="4204411"/>
            <a:ext cx="10332720" cy="80101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3293B"/>
              </a:buClr>
              <a:buSzPts val="1250"/>
              <a:buFont typeface="Calibri"/>
              <a:buNone/>
            </a:pPr>
            <a:r>
              <a:rPr b="0" i="0" lang="en-US" sz="1250" u="none" cap="none" strike="noStrike">
                <a:solidFill>
                  <a:srgbClr val="23293B"/>
                </a:solidFill>
                <a:latin typeface="Calibri"/>
                <a:ea typeface="Calibri"/>
                <a:cs typeface="Calibri"/>
                <a:sym typeface="Calibri"/>
              </a:rPr>
              <a:t>Why must the test split never be re-shuffled between releases?</a:t>
            </a:r>
            <a:endParaRPr b="0" i="0" sz="1250" u="none" cap="none" strike="noStrike">
              <a:solidFill>
                <a:schemeClr val="dk1"/>
              </a:solidFill>
              <a:latin typeface="Calibri"/>
              <a:ea typeface="Calibri"/>
              <a:cs typeface="Calibri"/>
              <a:sym typeface="Calibri"/>
            </a:endParaRPr>
          </a:p>
        </p:txBody>
      </p:sp>
      <p:sp>
        <p:nvSpPr>
          <p:cNvPr id="2838" name="Google Shape;2838;p101"/>
          <p:cNvSpPr/>
          <p:nvPr/>
        </p:nvSpPr>
        <p:spPr>
          <a:xfrm>
            <a:off x="502920" y="5133442"/>
            <a:ext cx="11183112" cy="801014"/>
          </a:xfrm>
          <a:prstGeom prst="roundRect">
            <a:avLst>
              <a:gd fmla="val 9132" name="adj"/>
            </a:avLst>
          </a:prstGeom>
          <a:solidFill>
            <a:srgbClr val="F2F6F9"/>
          </a:solidFill>
          <a:ln cap="flat" cmpd="sng" w="9525">
            <a:solidFill>
              <a:srgbClr val="D9E2E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39" name="Google Shape;2839;p101"/>
          <p:cNvSpPr/>
          <p:nvPr/>
        </p:nvSpPr>
        <p:spPr>
          <a:xfrm>
            <a:off x="649224" y="5360213"/>
            <a:ext cx="347472" cy="347472"/>
          </a:xfrm>
          <a:prstGeom prst="ellipse">
            <a:avLst/>
          </a:prstGeom>
          <a:solidFill>
            <a:srgbClr val="F5822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40" name="Google Shape;2840;p101"/>
          <p:cNvSpPr/>
          <p:nvPr/>
        </p:nvSpPr>
        <p:spPr>
          <a:xfrm>
            <a:off x="649224" y="5360213"/>
            <a:ext cx="347472" cy="34747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050"/>
              <a:buFont typeface="Calibri"/>
              <a:buNone/>
            </a:pPr>
            <a:r>
              <a:rPr b="1" i="0" lang="en-US" sz="1050" u="none" cap="none" strike="noStrike">
                <a:solidFill>
                  <a:srgbClr val="FFFFFF"/>
                </a:solidFill>
                <a:latin typeface="Calibri"/>
                <a:ea typeface="Calibri"/>
                <a:cs typeface="Calibri"/>
                <a:sym typeface="Calibri"/>
              </a:rPr>
              <a:t>Q5</a:t>
            </a:r>
            <a:endParaRPr b="0" i="0" sz="1050" u="none" cap="none" strike="noStrike">
              <a:solidFill>
                <a:schemeClr val="dk1"/>
              </a:solidFill>
              <a:latin typeface="Calibri"/>
              <a:ea typeface="Calibri"/>
              <a:cs typeface="Calibri"/>
              <a:sym typeface="Calibri"/>
            </a:endParaRPr>
          </a:p>
        </p:txBody>
      </p:sp>
      <p:sp>
        <p:nvSpPr>
          <p:cNvPr id="2841" name="Google Shape;2841;p101"/>
          <p:cNvSpPr/>
          <p:nvPr/>
        </p:nvSpPr>
        <p:spPr>
          <a:xfrm>
            <a:off x="1161288" y="5133442"/>
            <a:ext cx="10332720" cy="80101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3293B"/>
              </a:buClr>
              <a:buSzPts val="1250"/>
              <a:buFont typeface="Calibri"/>
              <a:buNone/>
            </a:pPr>
            <a:r>
              <a:rPr b="0" i="0" lang="en-US" sz="1250" u="none" cap="none" strike="noStrike">
                <a:solidFill>
                  <a:srgbClr val="23293B"/>
                </a:solidFill>
                <a:latin typeface="Calibri"/>
                <a:ea typeface="Calibri"/>
                <a:cs typeface="Calibri"/>
                <a:sym typeface="Calibri"/>
              </a:rPr>
              <a:t>True or false: pre-labelling always improves dataset quality because it speeds annotation.</a:t>
            </a:r>
            <a:endParaRPr b="0" i="0" sz="1250" u="none" cap="none" strike="noStrike">
              <a:solidFill>
                <a:schemeClr val="dk1"/>
              </a:solidFill>
              <a:latin typeface="Calibri"/>
              <a:ea typeface="Calibri"/>
              <a:cs typeface="Calibri"/>
              <a:sym typeface="Calibri"/>
            </a:endParaRPr>
          </a:p>
        </p:txBody>
      </p:sp>
      <p:sp>
        <p:nvSpPr>
          <p:cNvPr id="2842" name="Google Shape;2842;p101"/>
          <p:cNvSpPr/>
          <p:nvPr/>
        </p:nvSpPr>
        <p:spPr>
          <a:xfrm>
            <a:off x="502920" y="6099048"/>
            <a:ext cx="11183112"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8A96A6"/>
              </a:buClr>
              <a:buSzPts val="1000"/>
              <a:buFont typeface="Calibri"/>
              <a:buNone/>
            </a:pPr>
            <a:r>
              <a:rPr b="0" i="1" lang="en-US" sz="1000" u="none" cap="none" strike="noStrike">
                <a:solidFill>
                  <a:srgbClr val="8A96A6"/>
                </a:solidFill>
                <a:latin typeface="Calibri"/>
                <a:ea typeface="Calibri"/>
                <a:cs typeface="Calibri"/>
                <a:sym typeface="Calibri"/>
              </a:rPr>
              <a:t>Answers and marking guidance: speaker notes below ▼</a:t>
            </a:r>
            <a:endParaRPr b="0" i="0" sz="1000" u="none" cap="none" strike="noStrike">
              <a:solidFill>
                <a:schemeClr val="dk1"/>
              </a:solidFill>
              <a:latin typeface="Calibri"/>
              <a:ea typeface="Calibri"/>
              <a:cs typeface="Calibri"/>
              <a:sym typeface="Calibri"/>
            </a:endParaRPr>
          </a:p>
        </p:txBody>
      </p:sp>
    </p:spTree>
  </p:cSld>
  <p:clrMapOvr>
    <a:masterClrMapping/>
  </p:clrMapOvr>
</p:sld>
</file>

<file path=ppt/slides/slide10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847" name="Shape 2847"/>
        <p:cNvGrpSpPr/>
        <p:nvPr/>
      </p:nvGrpSpPr>
      <p:grpSpPr>
        <a:xfrm>
          <a:off x="0" y="0"/>
          <a:ext cx="0" cy="0"/>
          <a:chOff x="0" y="0"/>
          <a:chExt cx="0" cy="0"/>
        </a:xfrm>
      </p:grpSpPr>
      <p:sp>
        <p:nvSpPr>
          <p:cNvPr id="2848" name="Google Shape;2848;p102"/>
          <p:cNvSpPr/>
          <p:nvPr/>
        </p:nvSpPr>
        <p:spPr>
          <a:xfrm>
            <a:off x="502920" y="274320"/>
            <a:ext cx="9646920" cy="56692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D2A5C"/>
              </a:buClr>
              <a:buSzPts val="2700"/>
              <a:buFont typeface="Calibri"/>
              <a:buNone/>
            </a:pPr>
            <a:r>
              <a:rPr b="1" i="0" lang="en-US" sz="2700" u="none" cap="none" strike="noStrike">
                <a:solidFill>
                  <a:srgbClr val="1D2A5C"/>
                </a:solidFill>
                <a:latin typeface="Calibri"/>
                <a:ea typeface="Calibri"/>
                <a:cs typeface="Calibri"/>
                <a:sym typeface="Calibri"/>
              </a:rPr>
              <a:t>Extra Exercises</a:t>
            </a:r>
            <a:endParaRPr b="0" i="0" sz="2700" u="none" cap="none" strike="noStrike">
              <a:solidFill>
                <a:schemeClr val="dk1"/>
              </a:solidFill>
              <a:latin typeface="Calibri"/>
              <a:ea typeface="Calibri"/>
              <a:cs typeface="Calibri"/>
              <a:sym typeface="Calibri"/>
            </a:endParaRPr>
          </a:p>
        </p:txBody>
      </p:sp>
      <p:sp>
        <p:nvSpPr>
          <p:cNvPr id="2849" name="Google Shape;2849;p102"/>
          <p:cNvSpPr/>
          <p:nvPr/>
        </p:nvSpPr>
        <p:spPr>
          <a:xfrm>
            <a:off x="502920" y="859536"/>
            <a:ext cx="9646920" cy="31089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F6B7A"/>
              </a:buClr>
              <a:buSzPts val="1250"/>
              <a:buFont typeface="Arial"/>
              <a:buNone/>
            </a:pPr>
            <a:r>
              <a:rPr b="0" i="0" lang="en-US" sz="1250" u="none" cap="none" strike="noStrike">
                <a:solidFill>
                  <a:srgbClr val="5F6B7A"/>
                </a:solidFill>
                <a:latin typeface="Arial"/>
                <a:ea typeface="Arial"/>
                <a:cs typeface="Arial"/>
                <a:sym typeface="Arial"/>
              </a:rPr>
              <a:t>تمارين إضافية</a:t>
            </a:r>
            <a:endParaRPr b="0" i="0" sz="1250" u="none" cap="none" strike="noStrike">
              <a:solidFill>
                <a:schemeClr val="dk1"/>
              </a:solidFill>
              <a:latin typeface="Calibri"/>
              <a:ea typeface="Calibri"/>
              <a:cs typeface="Calibri"/>
              <a:sym typeface="Calibri"/>
            </a:endParaRPr>
          </a:p>
        </p:txBody>
      </p:sp>
      <p:pic>
        <p:nvPicPr>
          <p:cNvPr descr="/sessions/blissful-determined-ritchie/build/assets/sdaia_logo.png" id="2850" name="Google Shape;2850;p102"/>
          <p:cNvPicPr preferRelativeResize="0"/>
          <p:nvPr/>
        </p:nvPicPr>
        <p:blipFill rotWithShape="1">
          <a:blip r:embed="rId3">
            <a:alphaModFix/>
          </a:blip>
          <a:srcRect b="0" l="0" r="0" t="0"/>
          <a:stretch/>
        </p:blipFill>
        <p:spPr>
          <a:xfrm>
            <a:off x="10625328" y="310896"/>
            <a:ext cx="1078992" cy="264111"/>
          </a:xfrm>
          <a:prstGeom prst="rect">
            <a:avLst/>
          </a:prstGeom>
          <a:noFill/>
          <a:ln>
            <a:noFill/>
          </a:ln>
        </p:spPr>
      </p:pic>
      <p:sp>
        <p:nvSpPr>
          <p:cNvPr id="2851" name="Google Shape;2851;p102"/>
          <p:cNvSpPr/>
          <p:nvPr/>
        </p:nvSpPr>
        <p:spPr>
          <a:xfrm>
            <a:off x="502920" y="6528816"/>
            <a:ext cx="8686800"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A79D"/>
              </a:buClr>
              <a:buSzPts val="800"/>
              <a:buFont typeface="Calibri"/>
              <a:buNone/>
            </a:pPr>
            <a:r>
              <a:rPr b="1" i="0" lang="en-US" sz="800" u="none" cap="none" strike="noStrike">
                <a:solidFill>
                  <a:srgbClr val="00A79D"/>
                </a:solidFill>
                <a:latin typeface="Calibri"/>
                <a:ea typeface="Calibri"/>
                <a:cs typeface="Calibri"/>
                <a:sym typeface="Calibri"/>
              </a:rPr>
              <a:t>MODULE 5   </a:t>
            </a:r>
            <a:r>
              <a:rPr b="0" i="0" lang="en-US" sz="800" u="none" cap="none" strike="noStrike">
                <a:solidFill>
                  <a:srgbClr val="8A96A6"/>
                </a:solidFill>
                <a:latin typeface="Calibri"/>
                <a:ea typeface="Calibri"/>
                <a:cs typeface="Calibri"/>
                <a:sym typeface="Calibri"/>
              </a:rPr>
              <a:t>SDA-AIE-212 · Computer Vision Systems Development</a:t>
            </a:r>
            <a:endParaRPr b="0" i="0" sz="800" u="none" cap="none" strike="noStrike">
              <a:solidFill>
                <a:schemeClr val="dk1"/>
              </a:solidFill>
              <a:latin typeface="Calibri"/>
              <a:ea typeface="Calibri"/>
              <a:cs typeface="Calibri"/>
              <a:sym typeface="Calibri"/>
            </a:endParaRPr>
          </a:p>
        </p:txBody>
      </p:sp>
      <p:sp>
        <p:nvSpPr>
          <p:cNvPr id="2852" name="Google Shape;2852;p102"/>
          <p:cNvSpPr/>
          <p:nvPr/>
        </p:nvSpPr>
        <p:spPr>
          <a:xfrm>
            <a:off x="11292840" y="6528816"/>
            <a:ext cx="411480" cy="219456"/>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8A96A6"/>
              </a:buClr>
              <a:buSzPts val="900"/>
              <a:buFont typeface="Calibri"/>
              <a:buNone/>
            </a:pPr>
            <a:r>
              <a:rPr b="0" i="0" lang="en-US" sz="900" u="none" cap="none" strike="noStrike">
                <a:solidFill>
                  <a:srgbClr val="8A96A6"/>
                </a:solidFill>
                <a:latin typeface="Calibri"/>
                <a:ea typeface="Calibri"/>
                <a:cs typeface="Calibri"/>
                <a:sym typeface="Calibri"/>
              </a:rPr>
              <a:t>102</a:t>
            </a:r>
            <a:endParaRPr b="0" i="0" sz="900" u="none" cap="none" strike="noStrike">
              <a:solidFill>
                <a:schemeClr val="dk1"/>
              </a:solidFill>
              <a:latin typeface="Calibri"/>
              <a:ea typeface="Calibri"/>
              <a:cs typeface="Calibri"/>
              <a:sym typeface="Calibri"/>
            </a:endParaRPr>
          </a:p>
        </p:txBody>
      </p:sp>
      <p:sp>
        <p:nvSpPr>
          <p:cNvPr id="2853" name="Google Shape;2853;p102"/>
          <p:cNvSpPr/>
          <p:nvPr/>
        </p:nvSpPr>
        <p:spPr>
          <a:xfrm>
            <a:off x="502920" y="1559052"/>
            <a:ext cx="329184" cy="329184"/>
          </a:xfrm>
          <a:prstGeom prst="ellipse">
            <a:avLst/>
          </a:prstGeom>
          <a:solidFill>
            <a:srgbClr val="00A79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54" name="Google Shape;2854;p102"/>
          <p:cNvSpPr/>
          <p:nvPr/>
        </p:nvSpPr>
        <p:spPr>
          <a:xfrm>
            <a:off x="502920" y="1559052"/>
            <a:ext cx="329184" cy="32918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300"/>
              <a:buFont typeface="Calibri"/>
              <a:buNone/>
            </a:pPr>
            <a:r>
              <a:rPr b="1" i="0" lang="en-US" sz="1300" u="none" cap="none" strike="noStrike">
                <a:solidFill>
                  <a:srgbClr val="FFFFFF"/>
                </a:solidFill>
                <a:latin typeface="Calibri"/>
                <a:ea typeface="Calibri"/>
                <a:cs typeface="Calibri"/>
                <a:sym typeface="Calibri"/>
              </a:rPr>
              <a:t>1</a:t>
            </a:r>
            <a:endParaRPr b="0" i="0" sz="1300" u="none" cap="none" strike="noStrike">
              <a:solidFill>
                <a:schemeClr val="dk1"/>
              </a:solidFill>
              <a:latin typeface="Calibri"/>
              <a:ea typeface="Calibri"/>
              <a:cs typeface="Calibri"/>
              <a:sym typeface="Calibri"/>
            </a:endParaRPr>
          </a:p>
        </p:txBody>
      </p:sp>
      <p:sp>
        <p:nvSpPr>
          <p:cNvPr id="2855" name="Google Shape;2855;p102"/>
          <p:cNvSpPr/>
          <p:nvPr/>
        </p:nvSpPr>
        <p:spPr>
          <a:xfrm>
            <a:off x="1005840" y="1495044"/>
            <a:ext cx="10682935"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D2A5C"/>
              </a:buClr>
              <a:buSzPts val="1400"/>
              <a:buFont typeface="Calibri"/>
              <a:buNone/>
            </a:pPr>
            <a:r>
              <a:rPr b="1" i="0" lang="en-US" sz="1400" u="none" cap="none" strike="noStrike">
                <a:solidFill>
                  <a:srgbClr val="1D2A5C"/>
                </a:solidFill>
                <a:latin typeface="Calibri"/>
                <a:ea typeface="Calibri"/>
                <a:cs typeface="Calibri"/>
                <a:sym typeface="Calibri"/>
              </a:rPr>
              <a:t>Debugging: branch sim-anchor-bias</a:t>
            </a:r>
            <a:endParaRPr b="0" i="0" sz="1400" u="none" cap="none" strike="noStrike">
              <a:solidFill>
                <a:schemeClr val="dk1"/>
              </a:solidFill>
              <a:latin typeface="Calibri"/>
              <a:ea typeface="Calibri"/>
              <a:cs typeface="Calibri"/>
              <a:sym typeface="Calibri"/>
            </a:endParaRPr>
          </a:p>
        </p:txBody>
      </p:sp>
      <p:sp>
        <p:nvSpPr>
          <p:cNvPr id="2856" name="Google Shape;2856;p102"/>
          <p:cNvSpPr/>
          <p:nvPr/>
        </p:nvSpPr>
        <p:spPr>
          <a:xfrm>
            <a:off x="1005840" y="1796796"/>
            <a:ext cx="10682935" cy="841248"/>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5F6B7A"/>
              </a:buClr>
              <a:buSzPts val="1150"/>
              <a:buFont typeface="Calibri"/>
              <a:buNone/>
            </a:pPr>
            <a:r>
              <a:rPr b="0" i="0" lang="en-US" sz="1150" u="none" cap="none" strike="noStrike">
                <a:solidFill>
                  <a:srgbClr val="5F6B7A"/>
                </a:solidFill>
                <a:latin typeface="Calibri"/>
                <a:ea typeface="Calibri"/>
                <a:cs typeface="Calibri"/>
                <a:sym typeface="Calibri"/>
              </a:rPr>
              <a:t>v2b was pre-labelled at conf=0.05; val mAP rises, frozen-test mAP falls. Explain the divergence and name the two defences.</a:t>
            </a:r>
            <a:endParaRPr b="0" i="0" sz="1150" u="none" cap="none" strike="noStrike">
              <a:solidFill>
                <a:schemeClr val="dk1"/>
              </a:solidFill>
              <a:latin typeface="Calibri"/>
              <a:ea typeface="Calibri"/>
              <a:cs typeface="Calibri"/>
              <a:sym typeface="Calibri"/>
            </a:endParaRPr>
          </a:p>
        </p:txBody>
      </p:sp>
      <p:sp>
        <p:nvSpPr>
          <p:cNvPr id="2857" name="Google Shape;2857;p102"/>
          <p:cNvSpPr/>
          <p:nvPr/>
        </p:nvSpPr>
        <p:spPr>
          <a:xfrm>
            <a:off x="502920" y="2747772"/>
            <a:ext cx="329184" cy="329184"/>
          </a:xfrm>
          <a:prstGeom prst="ellipse">
            <a:avLst/>
          </a:prstGeom>
          <a:solidFill>
            <a:srgbClr val="29ABE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58" name="Google Shape;2858;p102"/>
          <p:cNvSpPr/>
          <p:nvPr/>
        </p:nvSpPr>
        <p:spPr>
          <a:xfrm>
            <a:off x="502920" y="2747772"/>
            <a:ext cx="329184" cy="32918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300"/>
              <a:buFont typeface="Calibri"/>
              <a:buNone/>
            </a:pPr>
            <a:r>
              <a:rPr b="1" i="0" lang="en-US" sz="1300" u="none" cap="none" strike="noStrike">
                <a:solidFill>
                  <a:srgbClr val="FFFFFF"/>
                </a:solidFill>
                <a:latin typeface="Calibri"/>
                <a:ea typeface="Calibri"/>
                <a:cs typeface="Calibri"/>
                <a:sym typeface="Calibri"/>
              </a:rPr>
              <a:t>2</a:t>
            </a:r>
            <a:endParaRPr b="0" i="0" sz="1300" u="none" cap="none" strike="noStrike">
              <a:solidFill>
                <a:schemeClr val="dk1"/>
              </a:solidFill>
              <a:latin typeface="Calibri"/>
              <a:ea typeface="Calibri"/>
              <a:cs typeface="Calibri"/>
              <a:sym typeface="Calibri"/>
            </a:endParaRPr>
          </a:p>
        </p:txBody>
      </p:sp>
      <p:sp>
        <p:nvSpPr>
          <p:cNvPr id="2859" name="Google Shape;2859;p102"/>
          <p:cNvSpPr/>
          <p:nvPr/>
        </p:nvSpPr>
        <p:spPr>
          <a:xfrm>
            <a:off x="1005840" y="2683764"/>
            <a:ext cx="10682935"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D2A5C"/>
              </a:buClr>
              <a:buSzPts val="1400"/>
              <a:buFont typeface="Calibri"/>
              <a:buNone/>
            </a:pPr>
            <a:r>
              <a:rPr b="1" i="0" lang="en-US" sz="1400" u="none" cap="none" strike="noStrike">
                <a:solidFill>
                  <a:srgbClr val="1D2A5C"/>
                </a:solidFill>
                <a:latin typeface="Calibri"/>
                <a:ea typeface="Calibri"/>
                <a:cs typeface="Calibri"/>
                <a:sym typeface="Calibri"/>
              </a:rPr>
              <a:t>Code review: a dangerous dataset PR</a:t>
            </a:r>
            <a:endParaRPr b="0" i="0" sz="1400" u="none" cap="none" strike="noStrike">
              <a:solidFill>
                <a:schemeClr val="dk1"/>
              </a:solidFill>
              <a:latin typeface="Calibri"/>
              <a:ea typeface="Calibri"/>
              <a:cs typeface="Calibri"/>
              <a:sym typeface="Calibri"/>
            </a:endParaRPr>
          </a:p>
        </p:txBody>
      </p:sp>
      <p:sp>
        <p:nvSpPr>
          <p:cNvPr id="2860" name="Google Shape;2860;p102"/>
          <p:cNvSpPr/>
          <p:nvPr/>
        </p:nvSpPr>
        <p:spPr>
          <a:xfrm>
            <a:off x="1005840" y="2985516"/>
            <a:ext cx="10682935" cy="841248"/>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5F6B7A"/>
              </a:buClr>
              <a:buSzPts val="1150"/>
              <a:buFont typeface="Calibri"/>
              <a:buNone/>
            </a:pPr>
            <a:r>
              <a:rPr b="0" i="0" lang="en-US" sz="1150" u="none" cap="none" strike="noStrike">
                <a:solidFill>
                  <a:srgbClr val="5F6B7A"/>
                </a:solidFill>
                <a:latin typeface="Calibri"/>
                <a:ea typeface="Calibri"/>
                <a:cs typeface="Calibri"/>
                <a:sym typeface="Calibri"/>
              </a:rPr>
              <a:t>It edits three 'unfair' test-split labels, bumps the spec without re-annotation, and has no changelog. Three findings with downstream cost.</a:t>
            </a:r>
            <a:endParaRPr b="0" i="0" sz="1150" u="none" cap="none" strike="noStrike">
              <a:solidFill>
                <a:schemeClr val="dk1"/>
              </a:solidFill>
              <a:latin typeface="Calibri"/>
              <a:ea typeface="Calibri"/>
              <a:cs typeface="Calibri"/>
              <a:sym typeface="Calibri"/>
            </a:endParaRPr>
          </a:p>
        </p:txBody>
      </p:sp>
      <p:sp>
        <p:nvSpPr>
          <p:cNvPr id="2861" name="Google Shape;2861;p102"/>
          <p:cNvSpPr/>
          <p:nvPr/>
        </p:nvSpPr>
        <p:spPr>
          <a:xfrm>
            <a:off x="502920" y="3936492"/>
            <a:ext cx="329184" cy="329184"/>
          </a:xfrm>
          <a:prstGeom prst="ellipse">
            <a:avLst/>
          </a:prstGeom>
          <a:solidFill>
            <a:srgbClr val="F5822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62" name="Google Shape;2862;p102"/>
          <p:cNvSpPr/>
          <p:nvPr/>
        </p:nvSpPr>
        <p:spPr>
          <a:xfrm>
            <a:off x="502920" y="3936492"/>
            <a:ext cx="329184" cy="32918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300"/>
              <a:buFont typeface="Calibri"/>
              <a:buNone/>
            </a:pPr>
            <a:r>
              <a:rPr b="1" i="0" lang="en-US" sz="1300" u="none" cap="none" strike="noStrike">
                <a:solidFill>
                  <a:srgbClr val="FFFFFF"/>
                </a:solidFill>
                <a:latin typeface="Calibri"/>
                <a:ea typeface="Calibri"/>
                <a:cs typeface="Calibri"/>
                <a:sym typeface="Calibri"/>
              </a:rPr>
              <a:t>3</a:t>
            </a:r>
            <a:endParaRPr b="0" i="0" sz="1300" u="none" cap="none" strike="noStrike">
              <a:solidFill>
                <a:schemeClr val="dk1"/>
              </a:solidFill>
              <a:latin typeface="Calibri"/>
              <a:ea typeface="Calibri"/>
              <a:cs typeface="Calibri"/>
              <a:sym typeface="Calibri"/>
            </a:endParaRPr>
          </a:p>
        </p:txBody>
      </p:sp>
      <p:sp>
        <p:nvSpPr>
          <p:cNvPr id="2863" name="Google Shape;2863;p102"/>
          <p:cNvSpPr/>
          <p:nvPr/>
        </p:nvSpPr>
        <p:spPr>
          <a:xfrm>
            <a:off x="1005840" y="3872484"/>
            <a:ext cx="10682935"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D2A5C"/>
              </a:buClr>
              <a:buSzPts val="1400"/>
              <a:buFont typeface="Calibri"/>
              <a:buNone/>
            </a:pPr>
            <a:r>
              <a:rPr b="1" i="0" lang="en-US" sz="1400" u="none" cap="none" strike="noStrike">
                <a:solidFill>
                  <a:srgbClr val="1D2A5C"/>
                </a:solidFill>
                <a:latin typeface="Calibri"/>
                <a:ea typeface="Calibri"/>
                <a:cs typeface="Calibri"/>
                <a:sym typeface="Calibri"/>
              </a:rPr>
              <a:t>Discussion: the vendor's QA discount</a:t>
            </a:r>
            <a:endParaRPr b="0" i="0" sz="1400" u="none" cap="none" strike="noStrike">
              <a:solidFill>
                <a:schemeClr val="dk1"/>
              </a:solidFill>
              <a:latin typeface="Calibri"/>
              <a:ea typeface="Calibri"/>
              <a:cs typeface="Calibri"/>
              <a:sym typeface="Calibri"/>
            </a:endParaRPr>
          </a:p>
        </p:txBody>
      </p:sp>
      <p:sp>
        <p:nvSpPr>
          <p:cNvPr id="2864" name="Google Shape;2864;p102"/>
          <p:cNvSpPr/>
          <p:nvPr/>
        </p:nvSpPr>
        <p:spPr>
          <a:xfrm>
            <a:off x="1005840" y="4174236"/>
            <a:ext cx="10682935" cy="841248"/>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5F6B7A"/>
              </a:buClr>
              <a:buSzPts val="1150"/>
              <a:buFont typeface="Calibri"/>
              <a:buNone/>
            </a:pPr>
            <a:r>
              <a:rPr b="0" i="0" lang="en-US" sz="1150" u="none" cap="none" strike="noStrike">
                <a:solidFill>
                  <a:srgbClr val="5F6B7A"/>
                </a:solidFill>
                <a:latin typeface="Calibri"/>
                <a:ea typeface="Calibri"/>
                <a:cs typeface="Calibri"/>
                <a:sym typeface="Calibri"/>
              </a:rPr>
              <a:t>-30% per box if QA sampling drops from 10% to 2%. Price the offer using rework at kappa &lt; 0.75 and relabelling-round cost.</a:t>
            </a:r>
            <a:endParaRPr b="0" i="0" sz="1150" u="none" cap="none" strike="noStrike">
              <a:solidFill>
                <a:schemeClr val="dk1"/>
              </a:solidFill>
              <a:latin typeface="Calibri"/>
              <a:ea typeface="Calibri"/>
              <a:cs typeface="Calibri"/>
              <a:sym typeface="Calibri"/>
            </a:endParaRPr>
          </a:p>
        </p:txBody>
      </p:sp>
      <p:sp>
        <p:nvSpPr>
          <p:cNvPr id="2865" name="Google Shape;2865;p102"/>
          <p:cNvSpPr/>
          <p:nvPr/>
        </p:nvSpPr>
        <p:spPr>
          <a:xfrm>
            <a:off x="502920" y="5125212"/>
            <a:ext cx="329184" cy="329184"/>
          </a:xfrm>
          <a:prstGeom prst="ellipse">
            <a:avLst/>
          </a:prstGeom>
          <a:solidFill>
            <a:srgbClr val="8DC63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66" name="Google Shape;2866;p102"/>
          <p:cNvSpPr/>
          <p:nvPr/>
        </p:nvSpPr>
        <p:spPr>
          <a:xfrm>
            <a:off x="502920" y="5125212"/>
            <a:ext cx="329184" cy="32918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300"/>
              <a:buFont typeface="Calibri"/>
              <a:buNone/>
            </a:pPr>
            <a:r>
              <a:rPr b="1" i="0" lang="en-US" sz="1300" u="none" cap="none" strike="noStrike">
                <a:solidFill>
                  <a:srgbClr val="FFFFFF"/>
                </a:solidFill>
                <a:latin typeface="Calibri"/>
                <a:ea typeface="Calibri"/>
                <a:cs typeface="Calibri"/>
                <a:sym typeface="Calibri"/>
              </a:rPr>
              <a:t>4</a:t>
            </a:r>
            <a:endParaRPr b="0" i="0" sz="1300" u="none" cap="none" strike="noStrike">
              <a:solidFill>
                <a:schemeClr val="dk1"/>
              </a:solidFill>
              <a:latin typeface="Calibri"/>
              <a:ea typeface="Calibri"/>
              <a:cs typeface="Calibri"/>
              <a:sym typeface="Calibri"/>
            </a:endParaRPr>
          </a:p>
        </p:txBody>
      </p:sp>
      <p:sp>
        <p:nvSpPr>
          <p:cNvPr id="2867" name="Google Shape;2867;p102"/>
          <p:cNvSpPr/>
          <p:nvPr/>
        </p:nvSpPr>
        <p:spPr>
          <a:xfrm>
            <a:off x="1005840" y="5061204"/>
            <a:ext cx="10682935"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D2A5C"/>
              </a:buClr>
              <a:buSzPts val="1400"/>
              <a:buFont typeface="Calibri"/>
              <a:buNone/>
            </a:pPr>
            <a:r>
              <a:rPr b="1" i="0" lang="en-US" sz="1400" u="none" cap="none" strike="noStrike">
                <a:solidFill>
                  <a:srgbClr val="1D2A5C"/>
                </a:solidFill>
                <a:latin typeface="Calibri"/>
                <a:ea typeface="Calibri"/>
                <a:cs typeface="Calibri"/>
                <a:sym typeface="Calibri"/>
              </a:rPr>
              <a:t>Discussion: PDPL flow-back pipeline</a:t>
            </a:r>
            <a:endParaRPr b="0" i="0" sz="1400" u="none" cap="none" strike="noStrike">
              <a:solidFill>
                <a:schemeClr val="dk1"/>
              </a:solidFill>
              <a:latin typeface="Calibri"/>
              <a:ea typeface="Calibri"/>
              <a:cs typeface="Calibri"/>
              <a:sym typeface="Calibri"/>
            </a:endParaRPr>
          </a:p>
        </p:txBody>
      </p:sp>
      <p:sp>
        <p:nvSpPr>
          <p:cNvPr id="2868" name="Google Shape;2868;p102"/>
          <p:cNvSpPr/>
          <p:nvPr/>
        </p:nvSpPr>
        <p:spPr>
          <a:xfrm>
            <a:off x="1005840" y="5362956"/>
            <a:ext cx="10682935" cy="841248"/>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5F6B7A"/>
              </a:buClr>
              <a:buSzPts val="1150"/>
              <a:buFont typeface="Calibri"/>
              <a:buNone/>
            </a:pPr>
            <a:r>
              <a:rPr b="0" i="0" lang="en-US" sz="1150" u="none" cap="none" strike="noStrike">
                <a:solidFill>
                  <a:srgbClr val="5F6B7A"/>
                </a:solidFill>
                <a:latin typeface="Calibri"/>
                <a:ea typeface="Calibri"/>
                <a:cs typeface="Calibri"/>
                <a:sym typeface="Calibri"/>
              </a:rPr>
              <a:t>Production frames contain workers' hands. Design masking before vendor export, purpose limitation, retention, access log — and who signs off.</a:t>
            </a:r>
            <a:endParaRPr b="0" i="0" sz="1150" u="none" cap="none" strike="noStrike">
              <a:solidFill>
                <a:schemeClr val="dk1"/>
              </a:solidFill>
              <a:latin typeface="Calibri"/>
              <a:ea typeface="Calibri"/>
              <a:cs typeface="Calibri"/>
              <a:sym typeface="Calibri"/>
            </a:endParaRPr>
          </a:p>
        </p:txBody>
      </p:sp>
    </p:spTree>
  </p:cSld>
  <p:clrMapOvr>
    <a:masterClrMapping/>
  </p:clrMapOvr>
</p:sld>
</file>

<file path=ppt/slides/slide10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873" name="Shape 2873"/>
        <p:cNvGrpSpPr/>
        <p:nvPr/>
      </p:nvGrpSpPr>
      <p:grpSpPr>
        <a:xfrm>
          <a:off x="0" y="0"/>
          <a:ext cx="0" cy="0"/>
          <a:chOff x="0" y="0"/>
          <a:chExt cx="0" cy="0"/>
        </a:xfrm>
      </p:grpSpPr>
      <p:sp>
        <p:nvSpPr>
          <p:cNvPr id="2874" name="Google Shape;2874;p103"/>
          <p:cNvSpPr/>
          <p:nvPr/>
        </p:nvSpPr>
        <p:spPr>
          <a:xfrm>
            <a:off x="502920" y="274320"/>
            <a:ext cx="9646920" cy="56692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D2A5C"/>
              </a:buClr>
              <a:buSzPts val="2700"/>
              <a:buFont typeface="Calibri"/>
              <a:buNone/>
            </a:pPr>
            <a:r>
              <a:rPr b="1" i="0" lang="en-US" sz="2700" u="none" cap="none" strike="noStrike">
                <a:solidFill>
                  <a:srgbClr val="1D2A5C"/>
                </a:solidFill>
                <a:latin typeface="Calibri"/>
                <a:ea typeface="Calibri"/>
                <a:cs typeface="Calibri"/>
                <a:sym typeface="Calibri"/>
              </a:rPr>
              <a:t>Drone-Based Palm Health Survey in Al-Ahsa</a:t>
            </a:r>
            <a:endParaRPr b="0" i="0" sz="2700" u="none" cap="none" strike="noStrike">
              <a:solidFill>
                <a:schemeClr val="dk1"/>
              </a:solidFill>
              <a:latin typeface="Calibri"/>
              <a:ea typeface="Calibri"/>
              <a:cs typeface="Calibri"/>
              <a:sym typeface="Calibri"/>
            </a:endParaRPr>
          </a:p>
        </p:txBody>
      </p:sp>
      <p:sp>
        <p:nvSpPr>
          <p:cNvPr id="2875" name="Google Shape;2875;p103"/>
          <p:cNvSpPr/>
          <p:nvPr/>
        </p:nvSpPr>
        <p:spPr>
          <a:xfrm>
            <a:off x="502920" y="859536"/>
            <a:ext cx="9646920" cy="31089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F6B7A"/>
              </a:buClr>
              <a:buSzPts val="1250"/>
              <a:buFont typeface="Arial"/>
              <a:buNone/>
            </a:pPr>
            <a:r>
              <a:rPr b="0" i="0" lang="en-US" sz="1250" u="none" cap="none" strike="noStrike">
                <a:solidFill>
                  <a:srgbClr val="5F6B7A"/>
                </a:solidFill>
                <a:latin typeface="Arial"/>
                <a:ea typeface="Arial"/>
                <a:cs typeface="Arial"/>
                <a:sym typeface="Arial"/>
              </a:rPr>
              <a:t>مسح صحة النخيل بالطائرات المسيرة في الأحساء</a:t>
            </a:r>
            <a:endParaRPr b="0" i="0" sz="1250" u="none" cap="none" strike="noStrike">
              <a:solidFill>
                <a:schemeClr val="dk1"/>
              </a:solidFill>
              <a:latin typeface="Calibri"/>
              <a:ea typeface="Calibri"/>
              <a:cs typeface="Calibri"/>
              <a:sym typeface="Calibri"/>
            </a:endParaRPr>
          </a:p>
        </p:txBody>
      </p:sp>
      <p:pic>
        <p:nvPicPr>
          <p:cNvPr descr="/sessions/blissful-determined-ritchie/build/assets/sdaia_logo.png" id="2876" name="Google Shape;2876;p103"/>
          <p:cNvPicPr preferRelativeResize="0"/>
          <p:nvPr/>
        </p:nvPicPr>
        <p:blipFill rotWithShape="1">
          <a:blip r:embed="rId3">
            <a:alphaModFix/>
          </a:blip>
          <a:srcRect b="0" l="0" r="0" t="0"/>
          <a:stretch/>
        </p:blipFill>
        <p:spPr>
          <a:xfrm>
            <a:off x="10625328" y="310896"/>
            <a:ext cx="1078992" cy="264111"/>
          </a:xfrm>
          <a:prstGeom prst="rect">
            <a:avLst/>
          </a:prstGeom>
          <a:noFill/>
          <a:ln>
            <a:noFill/>
          </a:ln>
        </p:spPr>
      </p:pic>
      <p:sp>
        <p:nvSpPr>
          <p:cNvPr id="2877" name="Google Shape;2877;p103"/>
          <p:cNvSpPr/>
          <p:nvPr/>
        </p:nvSpPr>
        <p:spPr>
          <a:xfrm>
            <a:off x="502920" y="6528816"/>
            <a:ext cx="8686800"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A79D"/>
              </a:buClr>
              <a:buSzPts val="800"/>
              <a:buFont typeface="Calibri"/>
              <a:buNone/>
            </a:pPr>
            <a:r>
              <a:rPr b="1" i="0" lang="en-US" sz="800" u="none" cap="none" strike="noStrike">
                <a:solidFill>
                  <a:srgbClr val="00A79D"/>
                </a:solidFill>
                <a:latin typeface="Calibri"/>
                <a:ea typeface="Calibri"/>
                <a:cs typeface="Calibri"/>
                <a:sym typeface="Calibri"/>
              </a:rPr>
              <a:t>MODULE 5 · CASE STUDY   </a:t>
            </a:r>
            <a:r>
              <a:rPr b="0" i="0" lang="en-US" sz="800" u="none" cap="none" strike="noStrike">
                <a:solidFill>
                  <a:srgbClr val="8A96A6"/>
                </a:solidFill>
                <a:latin typeface="Calibri"/>
                <a:ea typeface="Calibri"/>
                <a:cs typeface="Calibri"/>
                <a:sym typeface="Calibri"/>
              </a:rPr>
              <a:t>SDA-AIE-212 · Computer Vision Systems Development</a:t>
            </a:r>
            <a:endParaRPr b="0" i="0" sz="800" u="none" cap="none" strike="noStrike">
              <a:solidFill>
                <a:schemeClr val="dk1"/>
              </a:solidFill>
              <a:latin typeface="Calibri"/>
              <a:ea typeface="Calibri"/>
              <a:cs typeface="Calibri"/>
              <a:sym typeface="Calibri"/>
            </a:endParaRPr>
          </a:p>
        </p:txBody>
      </p:sp>
      <p:sp>
        <p:nvSpPr>
          <p:cNvPr id="2878" name="Google Shape;2878;p103"/>
          <p:cNvSpPr/>
          <p:nvPr/>
        </p:nvSpPr>
        <p:spPr>
          <a:xfrm>
            <a:off x="11292840" y="6528816"/>
            <a:ext cx="411480" cy="219456"/>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8A96A6"/>
              </a:buClr>
              <a:buSzPts val="900"/>
              <a:buFont typeface="Calibri"/>
              <a:buNone/>
            </a:pPr>
            <a:r>
              <a:rPr b="0" i="0" lang="en-US" sz="900" u="none" cap="none" strike="noStrike">
                <a:solidFill>
                  <a:srgbClr val="8A96A6"/>
                </a:solidFill>
                <a:latin typeface="Calibri"/>
                <a:ea typeface="Calibri"/>
                <a:cs typeface="Calibri"/>
                <a:sym typeface="Calibri"/>
              </a:rPr>
              <a:t>103</a:t>
            </a:r>
            <a:endParaRPr b="0" i="0" sz="900" u="none" cap="none" strike="noStrike">
              <a:solidFill>
                <a:schemeClr val="dk1"/>
              </a:solidFill>
              <a:latin typeface="Calibri"/>
              <a:ea typeface="Calibri"/>
              <a:cs typeface="Calibri"/>
              <a:sym typeface="Calibri"/>
            </a:endParaRPr>
          </a:p>
        </p:txBody>
      </p:sp>
      <p:sp>
        <p:nvSpPr>
          <p:cNvPr id="2879" name="Google Shape;2879;p103"/>
          <p:cNvSpPr/>
          <p:nvPr/>
        </p:nvSpPr>
        <p:spPr>
          <a:xfrm>
            <a:off x="502920" y="1389888"/>
            <a:ext cx="6035040" cy="2377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A79D"/>
              </a:buClr>
              <a:buSzPts val="1000"/>
              <a:buFont typeface="Calibri"/>
              <a:buNone/>
            </a:pPr>
            <a:r>
              <a:rPr b="1" i="0" lang="en-US" sz="1000" u="none" cap="none" strike="noStrike">
                <a:solidFill>
                  <a:srgbClr val="00A79D"/>
                </a:solidFill>
                <a:latin typeface="Calibri"/>
                <a:ea typeface="Calibri"/>
                <a:cs typeface="Calibri"/>
                <a:sym typeface="Calibri"/>
              </a:rPr>
              <a:t>SCENARIO</a:t>
            </a:r>
            <a:endParaRPr b="0" i="0" sz="1000" u="none" cap="none" strike="noStrike">
              <a:solidFill>
                <a:schemeClr val="dk1"/>
              </a:solidFill>
              <a:latin typeface="Calibri"/>
              <a:ea typeface="Calibri"/>
              <a:cs typeface="Calibri"/>
              <a:sym typeface="Calibri"/>
            </a:endParaRPr>
          </a:p>
        </p:txBody>
      </p:sp>
      <p:sp>
        <p:nvSpPr>
          <p:cNvPr id="2880" name="Google Shape;2880;p103"/>
          <p:cNvSpPr/>
          <p:nvPr/>
        </p:nvSpPr>
        <p:spPr>
          <a:xfrm>
            <a:off x="502920" y="1645920"/>
            <a:ext cx="6035040" cy="896112"/>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23293B"/>
              </a:buClr>
              <a:buSzPts val="1150"/>
              <a:buFont typeface="Calibri"/>
              <a:buNone/>
            </a:pPr>
            <a:r>
              <a:rPr b="0" i="0" lang="en-US" sz="1150" u="none" cap="none" strike="noStrike">
                <a:solidFill>
                  <a:srgbClr val="23293B"/>
                </a:solidFill>
                <a:latin typeface="Calibri"/>
                <a:ea typeface="Calibri"/>
                <a:cs typeface="Calibri"/>
                <a:sym typeface="Calibri"/>
              </a:rPr>
              <a:t>An agricultural services company surveys 2.4M date palms yearly by drone for a government sustainability programme, classifying canopies as healthy / pest-stressed / drought-stressed / dead. The first 40,000-canopy vendor round arrives on time and on budget — but agronomists reject 31% of the model's pest-stress flags in the field.</a:t>
            </a:r>
            <a:endParaRPr b="0" i="0" sz="1150" u="none" cap="none" strike="noStrike">
              <a:solidFill>
                <a:schemeClr val="dk1"/>
              </a:solidFill>
              <a:latin typeface="Calibri"/>
              <a:ea typeface="Calibri"/>
              <a:cs typeface="Calibri"/>
              <a:sym typeface="Calibri"/>
            </a:endParaRPr>
          </a:p>
        </p:txBody>
      </p:sp>
      <p:sp>
        <p:nvSpPr>
          <p:cNvPr id="2881" name="Google Shape;2881;p103"/>
          <p:cNvSpPr/>
          <p:nvPr/>
        </p:nvSpPr>
        <p:spPr>
          <a:xfrm>
            <a:off x="502920" y="2706624"/>
            <a:ext cx="6035040" cy="2377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A79D"/>
              </a:buClr>
              <a:buSzPts val="1000"/>
              <a:buFont typeface="Calibri"/>
              <a:buNone/>
            </a:pPr>
            <a:r>
              <a:rPr b="1" i="0" lang="en-US" sz="1000" u="none" cap="none" strike="noStrike">
                <a:solidFill>
                  <a:srgbClr val="00A79D"/>
                </a:solidFill>
                <a:latin typeface="Calibri"/>
                <a:ea typeface="Calibri"/>
                <a:cs typeface="Calibri"/>
                <a:sym typeface="Calibri"/>
              </a:rPr>
              <a:t>BUSINESS CONTEXT</a:t>
            </a:r>
            <a:endParaRPr b="0" i="0" sz="1000" u="none" cap="none" strike="noStrike">
              <a:solidFill>
                <a:schemeClr val="dk1"/>
              </a:solidFill>
              <a:latin typeface="Calibri"/>
              <a:ea typeface="Calibri"/>
              <a:cs typeface="Calibri"/>
              <a:sym typeface="Calibri"/>
            </a:endParaRPr>
          </a:p>
        </p:txBody>
      </p:sp>
      <p:sp>
        <p:nvSpPr>
          <p:cNvPr id="2882" name="Google Shape;2882;p103"/>
          <p:cNvSpPr/>
          <p:nvPr/>
        </p:nvSpPr>
        <p:spPr>
          <a:xfrm>
            <a:off x="502920" y="2962656"/>
            <a:ext cx="6035040" cy="6858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5F6B7A"/>
              </a:buClr>
              <a:buSzPts val="1150"/>
              <a:buFont typeface="Calibri"/>
              <a:buNone/>
            </a:pPr>
            <a:r>
              <a:rPr b="0" i="0" lang="en-US" sz="1150" u="none" cap="none" strike="noStrike">
                <a:solidFill>
                  <a:srgbClr val="5F6B7A"/>
                </a:solidFill>
                <a:latin typeface="Calibri"/>
                <a:ea typeface="Calibri"/>
                <a:cs typeface="Calibri"/>
                <a:sym typeface="Calibri"/>
              </a:rPr>
              <a:t>Pest flags trigger physical inspections at ~180 SAR each; false flags burn the inspection budget, and missed weevil infestations spread to neighbouring farms. The ministry requires evidence of survey quality before renewing the mandate.</a:t>
            </a:r>
            <a:endParaRPr b="0" i="0" sz="1150" u="none" cap="none" strike="noStrike">
              <a:solidFill>
                <a:schemeClr val="dk1"/>
              </a:solidFill>
              <a:latin typeface="Calibri"/>
              <a:ea typeface="Calibri"/>
              <a:cs typeface="Calibri"/>
              <a:sym typeface="Calibri"/>
            </a:endParaRPr>
          </a:p>
        </p:txBody>
      </p:sp>
      <p:sp>
        <p:nvSpPr>
          <p:cNvPr id="2883" name="Google Shape;2883;p103"/>
          <p:cNvSpPr/>
          <p:nvPr/>
        </p:nvSpPr>
        <p:spPr>
          <a:xfrm>
            <a:off x="502920" y="3813048"/>
            <a:ext cx="6035040" cy="2377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A79D"/>
              </a:buClr>
              <a:buSzPts val="1000"/>
              <a:buFont typeface="Calibri"/>
              <a:buNone/>
            </a:pPr>
            <a:r>
              <a:rPr b="1" i="0" lang="en-US" sz="1000" u="none" cap="none" strike="noStrike">
                <a:solidFill>
                  <a:srgbClr val="00A79D"/>
                </a:solidFill>
                <a:latin typeface="Calibri"/>
                <a:ea typeface="Calibri"/>
                <a:cs typeface="Calibri"/>
                <a:sym typeface="Calibri"/>
              </a:rPr>
              <a:t>TECHNICAL CHALLENGE</a:t>
            </a:r>
            <a:endParaRPr b="0" i="0" sz="1000" u="none" cap="none" strike="noStrike">
              <a:solidFill>
                <a:schemeClr val="dk1"/>
              </a:solidFill>
              <a:latin typeface="Calibri"/>
              <a:ea typeface="Calibri"/>
              <a:cs typeface="Calibri"/>
              <a:sym typeface="Calibri"/>
            </a:endParaRPr>
          </a:p>
        </p:txBody>
      </p:sp>
      <p:sp>
        <p:nvSpPr>
          <p:cNvPr id="2884" name="Google Shape;2884;p103"/>
          <p:cNvSpPr/>
          <p:nvPr/>
        </p:nvSpPr>
        <p:spPr>
          <a:xfrm>
            <a:off x="502920" y="4069080"/>
            <a:ext cx="6035040" cy="475488"/>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5F6B7A"/>
              </a:buClr>
              <a:buSzPts val="1150"/>
              <a:buFont typeface="Calibri"/>
              <a:buNone/>
            </a:pPr>
            <a:r>
              <a:rPr b="0" i="0" lang="en-US" sz="1150" u="none" cap="none" strike="noStrike">
                <a:solidFill>
                  <a:srgbClr val="5F6B7A"/>
                </a:solidFill>
                <a:latin typeface="Calibri"/>
                <a:ea typeface="Calibri"/>
                <a:cs typeface="Calibri"/>
                <a:sym typeface="Calibri"/>
              </a:rPr>
              <a:t>Diagnose whether the failure is model, labels, or spec — with numbers — and design the second annotation round to fix it within a 55,000-canopy budget.</a:t>
            </a:r>
            <a:endParaRPr b="0" i="0" sz="1150" u="none" cap="none" strike="noStrike">
              <a:solidFill>
                <a:schemeClr val="dk1"/>
              </a:solidFill>
              <a:latin typeface="Calibri"/>
              <a:ea typeface="Calibri"/>
              <a:cs typeface="Calibri"/>
              <a:sym typeface="Calibri"/>
            </a:endParaRPr>
          </a:p>
        </p:txBody>
      </p:sp>
      <p:sp>
        <p:nvSpPr>
          <p:cNvPr id="2885" name="Google Shape;2885;p103"/>
          <p:cNvSpPr/>
          <p:nvPr/>
        </p:nvSpPr>
        <p:spPr>
          <a:xfrm>
            <a:off x="6858000" y="1389888"/>
            <a:ext cx="4828032" cy="2184684"/>
          </a:xfrm>
          <a:prstGeom prst="roundRect">
            <a:avLst>
              <a:gd fmla="val 3767" name="adj"/>
            </a:avLst>
          </a:prstGeom>
          <a:solidFill>
            <a:srgbClr val="F2F6F9"/>
          </a:solidFill>
          <a:ln cap="flat" cmpd="sng" w="12700">
            <a:solidFill>
              <a:srgbClr val="D9E2E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86" name="Google Shape;2886;p103"/>
          <p:cNvSpPr/>
          <p:nvPr/>
        </p:nvSpPr>
        <p:spPr>
          <a:xfrm>
            <a:off x="7040880" y="1481328"/>
            <a:ext cx="4462272" cy="2377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58220"/>
              </a:buClr>
              <a:buSzPts val="950"/>
              <a:buFont typeface="Calibri"/>
              <a:buNone/>
            </a:pPr>
            <a:r>
              <a:rPr b="1" i="0" lang="en-US" sz="950" u="none" cap="none" strike="noStrike">
                <a:solidFill>
                  <a:srgbClr val="F58220"/>
                </a:solidFill>
                <a:latin typeface="Calibri"/>
                <a:ea typeface="Calibri"/>
                <a:cs typeface="Calibri"/>
                <a:sym typeface="Calibri"/>
              </a:rPr>
              <a:t>CONSTRAINTS</a:t>
            </a:r>
            <a:endParaRPr b="0" i="0" sz="950" u="none" cap="none" strike="noStrike">
              <a:solidFill>
                <a:schemeClr val="dk1"/>
              </a:solidFill>
              <a:latin typeface="Calibri"/>
              <a:ea typeface="Calibri"/>
              <a:cs typeface="Calibri"/>
              <a:sym typeface="Calibri"/>
            </a:endParaRPr>
          </a:p>
        </p:txBody>
      </p:sp>
      <p:sp>
        <p:nvSpPr>
          <p:cNvPr id="2887" name="Google Shape;2887;p103"/>
          <p:cNvSpPr/>
          <p:nvPr/>
        </p:nvSpPr>
        <p:spPr>
          <a:xfrm>
            <a:off x="7095744" y="1755648"/>
            <a:ext cx="4370832" cy="1681764"/>
          </a:xfrm>
          <a:prstGeom prst="rect">
            <a:avLst/>
          </a:prstGeom>
          <a:noFill/>
          <a:ln>
            <a:noFill/>
          </a:ln>
        </p:spPr>
        <p:txBody>
          <a:bodyPr anchorCtr="0" anchor="t" bIns="0" lIns="0" spcFirstLastPara="1" rIns="0" wrap="square" tIns="0">
            <a:noAutofit/>
          </a:bodyPr>
          <a:lstStyle/>
          <a:p>
            <a:pPr indent="-127000" lvl="0" marL="127000" marR="0" rtl="0" algn="l">
              <a:spcBef>
                <a:spcPts val="0"/>
              </a:spcBef>
              <a:spcAft>
                <a:spcPts val="0"/>
              </a:spcAft>
              <a:buClr>
                <a:srgbClr val="23293B"/>
              </a:buClr>
              <a:buSzPts val="1050"/>
              <a:buFont typeface="Calibri"/>
              <a:buChar char="•"/>
            </a:pPr>
            <a:r>
              <a:rPr b="0" i="0" lang="en-US" sz="1050" u="none" cap="none" strike="noStrike">
                <a:solidFill>
                  <a:srgbClr val="23293B"/>
                </a:solidFill>
                <a:latin typeface="Calibri"/>
                <a:ea typeface="Calibri"/>
                <a:cs typeface="Calibri"/>
                <a:sym typeface="Calibri"/>
              </a:rPr>
              <a:t>Only 600 canopies field-verifiable per round</a:t>
            </a:r>
            <a:endParaRPr b="0" i="0" sz="1050" u="none" cap="none" strike="noStrike">
              <a:solidFill>
                <a:schemeClr val="dk1"/>
              </a:solidFill>
              <a:latin typeface="Calibri"/>
              <a:ea typeface="Calibri"/>
              <a:cs typeface="Calibri"/>
              <a:sym typeface="Calibri"/>
            </a:endParaRPr>
          </a:p>
          <a:p>
            <a:pPr indent="-127000" lvl="0" marL="127000" marR="0" rtl="0" algn="l">
              <a:spcBef>
                <a:spcPts val="500"/>
              </a:spcBef>
              <a:spcAft>
                <a:spcPts val="0"/>
              </a:spcAft>
              <a:buClr>
                <a:srgbClr val="23293B"/>
              </a:buClr>
              <a:buSzPts val="1050"/>
              <a:buFont typeface="Calibri"/>
              <a:buChar char="•"/>
            </a:pPr>
            <a:r>
              <a:rPr b="0" i="0" lang="en-US" sz="1050" u="none" cap="none" strike="noStrike">
                <a:solidFill>
                  <a:srgbClr val="23293B"/>
                </a:solidFill>
                <a:latin typeface="Calibri"/>
                <a:ea typeface="Calibri"/>
                <a:cs typeface="Calibri"/>
                <a:sym typeface="Calibri"/>
              </a:rPr>
              <a:t>Pest vs drought stress look similar in RGB</a:t>
            </a:r>
            <a:endParaRPr b="0" i="0" sz="1050" u="none" cap="none" strike="noStrike">
              <a:solidFill>
                <a:schemeClr val="dk1"/>
              </a:solidFill>
              <a:latin typeface="Calibri"/>
              <a:ea typeface="Calibri"/>
              <a:cs typeface="Calibri"/>
              <a:sym typeface="Calibri"/>
            </a:endParaRPr>
          </a:p>
          <a:p>
            <a:pPr indent="-127000" lvl="0" marL="127000" marR="0" rtl="0" algn="l">
              <a:spcBef>
                <a:spcPts val="500"/>
              </a:spcBef>
              <a:spcAft>
                <a:spcPts val="0"/>
              </a:spcAft>
              <a:buClr>
                <a:srgbClr val="23293B"/>
              </a:buClr>
              <a:buSzPts val="1050"/>
              <a:buFont typeface="Calibri"/>
              <a:buChar char="•"/>
            </a:pPr>
            <a:r>
              <a:rPr b="0" i="0" lang="en-US" sz="1050" u="none" cap="none" strike="noStrike">
                <a:solidFill>
                  <a:srgbClr val="23293B"/>
                </a:solidFill>
                <a:latin typeface="Calibri"/>
                <a:ea typeface="Calibri"/>
                <a:cs typeface="Calibri"/>
                <a:sym typeface="Calibri"/>
              </a:rPr>
              <a:t>No agreement metrics in the vendor contract</a:t>
            </a:r>
            <a:endParaRPr b="0" i="0" sz="1050" u="none" cap="none" strike="noStrike">
              <a:solidFill>
                <a:schemeClr val="dk1"/>
              </a:solidFill>
              <a:latin typeface="Calibri"/>
              <a:ea typeface="Calibri"/>
              <a:cs typeface="Calibri"/>
              <a:sym typeface="Calibri"/>
            </a:endParaRPr>
          </a:p>
          <a:p>
            <a:pPr indent="-127000" lvl="0" marL="127000" marR="0" rtl="0" algn="l">
              <a:spcBef>
                <a:spcPts val="500"/>
              </a:spcBef>
              <a:spcAft>
                <a:spcPts val="0"/>
              </a:spcAft>
              <a:buClr>
                <a:srgbClr val="23293B"/>
              </a:buClr>
              <a:buSzPts val="1050"/>
              <a:buFont typeface="Calibri"/>
              <a:buChar char="•"/>
            </a:pPr>
            <a:r>
              <a:rPr b="0" i="0" lang="en-US" sz="1050" u="none" cap="none" strike="noStrike">
                <a:solidFill>
                  <a:srgbClr val="23293B"/>
                </a:solidFill>
                <a:latin typeface="Calibri"/>
                <a:ea typeface="Calibri"/>
                <a:cs typeface="Calibri"/>
                <a:sym typeface="Calibri"/>
              </a:rPr>
              <a:t>Private-farm imagery access restrictions</a:t>
            </a:r>
            <a:endParaRPr b="0" i="0" sz="1050" u="none" cap="none" strike="noStrike">
              <a:solidFill>
                <a:schemeClr val="dk1"/>
              </a:solidFill>
              <a:latin typeface="Calibri"/>
              <a:ea typeface="Calibri"/>
              <a:cs typeface="Calibri"/>
              <a:sym typeface="Calibri"/>
            </a:endParaRPr>
          </a:p>
        </p:txBody>
      </p:sp>
      <p:sp>
        <p:nvSpPr>
          <p:cNvPr id="2888" name="Google Shape;2888;p103"/>
          <p:cNvSpPr/>
          <p:nvPr/>
        </p:nvSpPr>
        <p:spPr>
          <a:xfrm>
            <a:off x="6858000" y="3803172"/>
            <a:ext cx="4828032" cy="2551908"/>
          </a:xfrm>
          <a:prstGeom prst="roundRect">
            <a:avLst>
              <a:gd fmla="val 3225" name="adj"/>
            </a:avLst>
          </a:prstGeom>
          <a:solidFill>
            <a:srgbClr val="E9F6F5"/>
          </a:solidFill>
          <a:ln cap="flat" cmpd="sng" w="12700">
            <a:solidFill>
              <a:srgbClr val="00A79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89" name="Google Shape;2889;p103"/>
          <p:cNvSpPr/>
          <p:nvPr/>
        </p:nvSpPr>
        <p:spPr>
          <a:xfrm>
            <a:off x="7040880" y="3894612"/>
            <a:ext cx="4462272" cy="2377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A79D"/>
              </a:buClr>
              <a:buSzPts val="950"/>
              <a:buFont typeface="Calibri"/>
              <a:buNone/>
            </a:pPr>
            <a:r>
              <a:rPr b="1" i="0" lang="en-US" sz="950" u="none" cap="none" strike="noStrike">
                <a:solidFill>
                  <a:srgbClr val="00A79D"/>
                </a:solidFill>
                <a:latin typeface="Calibri"/>
                <a:ea typeface="Calibri"/>
                <a:cs typeface="Calibri"/>
                <a:sym typeface="Calibri"/>
              </a:rPr>
              <a:t>DISCUSSION QUESTIONS</a:t>
            </a:r>
            <a:endParaRPr b="0" i="0" sz="950" u="none" cap="none" strike="noStrike">
              <a:solidFill>
                <a:schemeClr val="dk1"/>
              </a:solidFill>
              <a:latin typeface="Calibri"/>
              <a:ea typeface="Calibri"/>
              <a:cs typeface="Calibri"/>
              <a:sym typeface="Calibri"/>
            </a:endParaRPr>
          </a:p>
        </p:txBody>
      </p:sp>
      <p:sp>
        <p:nvSpPr>
          <p:cNvPr id="2890" name="Google Shape;2890;p103"/>
          <p:cNvSpPr/>
          <p:nvPr/>
        </p:nvSpPr>
        <p:spPr>
          <a:xfrm>
            <a:off x="7095744" y="4168932"/>
            <a:ext cx="4370832" cy="2048988"/>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23293B"/>
              </a:buClr>
              <a:buSzPts val="1050"/>
              <a:buFont typeface="Calibri"/>
              <a:buNone/>
            </a:pPr>
            <a:r>
              <a:rPr b="0" i="0" lang="en-US" sz="1050" u="none" cap="none" strike="noStrike">
                <a:solidFill>
                  <a:srgbClr val="23293B"/>
                </a:solidFill>
                <a:latin typeface="Calibri"/>
                <a:ea typeface="Calibri"/>
                <a:cs typeface="Calibri"/>
                <a:sym typeface="Calibri"/>
              </a:rPr>
              <a:t>1.  Why were excellent validation metrics compatible with 31% field rejection?</a:t>
            </a:r>
            <a:endParaRPr b="0" i="0" sz="1050" u="none" cap="none" strike="noStrike">
              <a:solidFill>
                <a:schemeClr val="dk1"/>
              </a:solidFill>
              <a:latin typeface="Calibri"/>
              <a:ea typeface="Calibri"/>
              <a:cs typeface="Calibri"/>
              <a:sym typeface="Calibri"/>
            </a:endParaRPr>
          </a:p>
          <a:p>
            <a:pPr indent="0" lvl="0" marL="0" marR="0" rtl="0" algn="l">
              <a:spcBef>
                <a:spcPts val="600"/>
              </a:spcBef>
              <a:spcAft>
                <a:spcPts val="0"/>
              </a:spcAft>
              <a:buClr>
                <a:srgbClr val="23293B"/>
              </a:buClr>
              <a:buSzPts val="1050"/>
              <a:buFont typeface="Calibri"/>
              <a:buNone/>
            </a:pPr>
            <a:r>
              <a:rPr b="0" i="0" lang="en-US" sz="1050" u="none" cap="none" strike="noStrike">
                <a:solidFill>
                  <a:srgbClr val="23293B"/>
                </a:solidFill>
                <a:latin typeface="Calibri"/>
                <a:ea typeface="Calibri"/>
                <a:cs typeface="Calibri"/>
                <a:sym typeface="Calibri"/>
              </a:rPr>
              <a:t>2.  Was adding an 'uncertain' class an admission of failure? Argue both sides.</a:t>
            </a:r>
            <a:endParaRPr b="0" i="0" sz="1050" u="none" cap="none" strike="noStrike">
              <a:solidFill>
                <a:schemeClr val="dk1"/>
              </a:solidFill>
              <a:latin typeface="Calibri"/>
              <a:ea typeface="Calibri"/>
              <a:cs typeface="Calibri"/>
              <a:sym typeface="Calibri"/>
            </a:endParaRPr>
          </a:p>
          <a:p>
            <a:pPr indent="0" lvl="0" marL="0" marR="0" rtl="0" algn="l">
              <a:spcBef>
                <a:spcPts val="600"/>
              </a:spcBef>
              <a:spcAft>
                <a:spcPts val="0"/>
              </a:spcAft>
              <a:buClr>
                <a:srgbClr val="23293B"/>
              </a:buClr>
              <a:buSzPts val="1050"/>
              <a:buFont typeface="Calibri"/>
              <a:buNone/>
            </a:pPr>
            <a:r>
              <a:rPr b="0" i="0" lang="en-US" sz="1050" u="none" cap="none" strike="noStrike">
                <a:solidFill>
                  <a:srgbClr val="23293B"/>
                </a:solidFill>
                <a:latin typeface="Calibri"/>
                <a:ea typeface="Calibri"/>
                <a:cs typeface="Calibri"/>
                <a:sym typeface="Calibri"/>
              </a:rPr>
              <a:t>3.  Which 600 canopies get field verification? Design the stratification.</a:t>
            </a:r>
            <a:endParaRPr b="0" i="0" sz="1050" u="none" cap="none" strike="noStrike">
              <a:solidFill>
                <a:schemeClr val="dk1"/>
              </a:solidFill>
              <a:latin typeface="Calibri"/>
              <a:ea typeface="Calibri"/>
              <a:cs typeface="Calibri"/>
              <a:sym typeface="Calibri"/>
            </a:endParaRPr>
          </a:p>
          <a:p>
            <a:pPr indent="0" lvl="0" marL="0" marR="0" rtl="0" algn="l">
              <a:spcBef>
                <a:spcPts val="600"/>
              </a:spcBef>
              <a:spcAft>
                <a:spcPts val="0"/>
              </a:spcAft>
              <a:buClr>
                <a:srgbClr val="23293B"/>
              </a:buClr>
              <a:buSzPts val="1050"/>
              <a:buFont typeface="Calibri"/>
              <a:buNone/>
            </a:pPr>
            <a:r>
              <a:rPr b="0" i="0" lang="en-US" sz="1050" u="none" cap="none" strike="noStrike">
                <a:solidFill>
                  <a:srgbClr val="23293B"/>
                </a:solidFill>
                <a:latin typeface="Calibri"/>
                <a:ea typeface="Calibri"/>
                <a:cs typeface="Calibri"/>
                <a:sym typeface="Calibri"/>
              </a:rPr>
              <a:t>4.  Vendor wants full-res imagery to 'improve tooling' — your response?</a:t>
            </a:r>
            <a:endParaRPr b="0" i="0" sz="1050" u="none" cap="none" strike="noStrike">
              <a:solidFill>
                <a:schemeClr val="dk1"/>
              </a:solidFill>
              <a:latin typeface="Calibri"/>
              <a:ea typeface="Calibri"/>
              <a:cs typeface="Calibri"/>
              <a:sym typeface="Calibri"/>
            </a:endParaRPr>
          </a:p>
        </p:txBody>
      </p:sp>
    </p:spTree>
  </p:cSld>
  <p:clrMapOvr>
    <a:masterClrMapping/>
  </p:clrMapOvr>
</p:sld>
</file>

<file path=ppt/slides/slide10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895" name="Shape 2895"/>
        <p:cNvGrpSpPr/>
        <p:nvPr/>
      </p:nvGrpSpPr>
      <p:grpSpPr>
        <a:xfrm>
          <a:off x="0" y="0"/>
          <a:ext cx="0" cy="0"/>
          <a:chOff x="0" y="0"/>
          <a:chExt cx="0" cy="0"/>
        </a:xfrm>
      </p:grpSpPr>
      <p:sp>
        <p:nvSpPr>
          <p:cNvPr id="2896" name="Google Shape;2896;p104"/>
          <p:cNvSpPr/>
          <p:nvPr/>
        </p:nvSpPr>
        <p:spPr>
          <a:xfrm>
            <a:off x="502920" y="274320"/>
            <a:ext cx="9646920" cy="56692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D2A5C"/>
              </a:buClr>
              <a:buSzPts val="2700"/>
              <a:buFont typeface="Calibri"/>
              <a:buNone/>
            </a:pPr>
            <a:r>
              <a:rPr b="1" i="0" lang="en-US" sz="2700" u="none" cap="none" strike="noStrike">
                <a:solidFill>
                  <a:srgbClr val="1D2A5C"/>
                </a:solidFill>
                <a:latin typeface="Calibri"/>
                <a:ea typeface="Calibri"/>
                <a:cs typeface="Calibri"/>
                <a:sym typeface="Calibri"/>
              </a:rPr>
              <a:t>Module 5 Benchmarks and Targets</a:t>
            </a:r>
            <a:endParaRPr b="0" i="0" sz="2700" u="none" cap="none" strike="noStrike">
              <a:solidFill>
                <a:schemeClr val="dk1"/>
              </a:solidFill>
              <a:latin typeface="Calibri"/>
              <a:ea typeface="Calibri"/>
              <a:cs typeface="Calibri"/>
              <a:sym typeface="Calibri"/>
            </a:endParaRPr>
          </a:p>
        </p:txBody>
      </p:sp>
      <p:sp>
        <p:nvSpPr>
          <p:cNvPr id="2897" name="Google Shape;2897;p104"/>
          <p:cNvSpPr/>
          <p:nvPr/>
        </p:nvSpPr>
        <p:spPr>
          <a:xfrm>
            <a:off x="502920" y="859536"/>
            <a:ext cx="9646920" cy="31089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F6B7A"/>
              </a:buClr>
              <a:buSzPts val="1250"/>
              <a:buFont typeface="Arial"/>
              <a:buNone/>
            </a:pPr>
            <a:r>
              <a:rPr b="0" i="0" lang="en-US" sz="1250" u="none" cap="none" strike="noStrike">
                <a:solidFill>
                  <a:srgbClr val="5F6B7A"/>
                </a:solidFill>
                <a:latin typeface="Arial"/>
                <a:ea typeface="Arial"/>
                <a:cs typeface="Arial"/>
                <a:sym typeface="Arial"/>
              </a:rPr>
              <a:t>معايير وأهداف الوحدة الخامسة</a:t>
            </a:r>
            <a:endParaRPr b="0" i="0" sz="1250" u="none" cap="none" strike="noStrike">
              <a:solidFill>
                <a:schemeClr val="dk1"/>
              </a:solidFill>
              <a:latin typeface="Calibri"/>
              <a:ea typeface="Calibri"/>
              <a:cs typeface="Calibri"/>
              <a:sym typeface="Calibri"/>
            </a:endParaRPr>
          </a:p>
        </p:txBody>
      </p:sp>
      <p:pic>
        <p:nvPicPr>
          <p:cNvPr descr="/sessions/blissful-determined-ritchie/build/assets/sdaia_logo.png" id="2898" name="Google Shape;2898;p104"/>
          <p:cNvPicPr preferRelativeResize="0"/>
          <p:nvPr/>
        </p:nvPicPr>
        <p:blipFill rotWithShape="1">
          <a:blip r:embed="rId3">
            <a:alphaModFix/>
          </a:blip>
          <a:srcRect b="0" l="0" r="0" t="0"/>
          <a:stretch/>
        </p:blipFill>
        <p:spPr>
          <a:xfrm>
            <a:off x="10625328" y="310896"/>
            <a:ext cx="1078992" cy="264111"/>
          </a:xfrm>
          <a:prstGeom prst="rect">
            <a:avLst/>
          </a:prstGeom>
          <a:noFill/>
          <a:ln>
            <a:noFill/>
          </a:ln>
        </p:spPr>
      </p:pic>
      <p:sp>
        <p:nvSpPr>
          <p:cNvPr id="2899" name="Google Shape;2899;p104"/>
          <p:cNvSpPr/>
          <p:nvPr/>
        </p:nvSpPr>
        <p:spPr>
          <a:xfrm>
            <a:off x="502920" y="6528816"/>
            <a:ext cx="8686800"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A79D"/>
              </a:buClr>
              <a:buSzPts val="800"/>
              <a:buFont typeface="Calibri"/>
              <a:buNone/>
            </a:pPr>
            <a:r>
              <a:rPr b="1" i="0" lang="en-US" sz="800" u="none" cap="none" strike="noStrike">
                <a:solidFill>
                  <a:srgbClr val="00A79D"/>
                </a:solidFill>
                <a:latin typeface="Calibri"/>
                <a:ea typeface="Calibri"/>
                <a:cs typeface="Calibri"/>
                <a:sym typeface="Calibri"/>
              </a:rPr>
              <a:t>MODULE 5   </a:t>
            </a:r>
            <a:r>
              <a:rPr b="0" i="0" lang="en-US" sz="800" u="none" cap="none" strike="noStrike">
                <a:solidFill>
                  <a:srgbClr val="8A96A6"/>
                </a:solidFill>
                <a:latin typeface="Calibri"/>
                <a:ea typeface="Calibri"/>
                <a:cs typeface="Calibri"/>
                <a:sym typeface="Calibri"/>
              </a:rPr>
              <a:t>SDA-AIE-212 · Computer Vision Systems Development</a:t>
            </a:r>
            <a:endParaRPr b="0" i="0" sz="800" u="none" cap="none" strike="noStrike">
              <a:solidFill>
                <a:schemeClr val="dk1"/>
              </a:solidFill>
              <a:latin typeface="Calibri"/>
              <a:ea typeface="Calibri"/>
              <a:cs typeface="Calibri"/>
              <a:sym typeface="Calibri"/>
            </a:endParaRPr>
          </a:p>
        </p:txBody>
      </p:sp>
      <p:sp>
        <p:nvSpPr>
          <p:cNvPr id="2900" name="Google Shape;2900;p104"/>
          <p:cNvSpPr/>
          <p:nvPr/>
        </p:nvSpPr>
        <p:spPr>
          <a:xfrm>
            <a:off x="11292840" y="6528816"/>
            <a:ext cx="411480" cy="219456"/>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8A96A6"/>
              </a:buClr>
              <a:buSzPts val="900"/>
              <a:buFont typeface="Calibri"/>
              <a:buNone/>
            </a:pPr>
            <a:r>
              <a:rPr b="0" i="0" lang="en-US" sz="900" u="none" cap="none" strike="noStrike">
                <a:solidFill>
                  <a:srgbClr val="8A96A6"/>
                </a:solidFill>
                <a:latin typeface="Calibri"/>
                <a:ea typeface="Calibri"/>
                <a:cs typeface="Calibri"/>
                <a:sym typeface="Calibri"/>
              </a:rPr>
              <a:t>104</a:t>
            </a:r>
            <a:endParaRPr b="0" i="0" sz="900" u="none" cap="none" strike="noStrike">
              <a:solidFill>
                <a:schemeClr val="dk1"/>
              </a:solidFill>
              <a:latin typeface="Calibri"/>
              <a:ea typeface="Calibri"/>
              <a:cs typeface="Calibri"/>
              <a:sym typeface="Calibri"/>
            </a:endParaRPr>
          </a:p>
        </p:txBody>
      </p:sp>
      <p:graphicFrame>
        <p:nvGraphicFramePr>
          <p:cNvPr id="2901" name="Google Shape;2901;p104"/>
          <p:cNvGraphicFramePr/>
          <p:nvPr/>
        </p:nvGraphicFramePr>
        <p:xfrm>
          <a:off x="502920" y="1389888"/>
          <a:ext cx="3000000" cy="3000000"/>
        </p:xfrm>
        <a:graphic>
          <a:graphicData uri="http://schemas.openxmlformats.org/drawingml/2006/table">
            <a:tbl>
              <a:tblPr>
                <a:noFill/>
                <a:tableStyleId>{F80342BA-3033-44D6-9F91-622DC7A4C435}</a:tableStyleId>
              </a:tblPr>
              <a:tblGrid>
                <a:gridCol w="3960050"/>
                <a:gridCol w="3906175"/>
                <a:gridCol w="3319625"/>
              </a:tblGrid>
              <a:tr h="696250">
                <a:tc>
                  <a:txBody>
                    <a:bodyPr/>
                    <a:lstStyle/>
                    <a:p>
                      <a:pPr indent="0" lvl="0" marL="0" marR="0" rtl="0" algn="l">
                        <a:spcBef>
                          <a:spcPts val="0"/>
                        </a:spcBef>
                        <a:spcAft>
                          <a:spcPts val="0"/>
                        </a:spcAft>
                        <a:buClr>
                          <a:srgbClr val="FFFFFF"/>
                        </a:buClr>
                        <a:buSzPts val="1050"/>
                        <a:buFont typeface="Calibri"/>
                        <a:buNone/>
                      </a:pPr>
                      <a:r>
                        <a:rPr b="1" lang="en-US" sz="1050" u="none" cap="none" strike="noStrike">
                          <a:solidFill>
                            <a:srgbClr val="FFFFFF"/>
                          </a:solidFill>
                          <a:latin typeface="Calibri"/>
                          <a:ea typeface="Calibri"/>
                          <a:cs typeface="Calibri"/>
                          <a:sym typeface="Calibri"/>
                        </a:rPr>
                        <a:t>Metric</a:t>
                      </a:r>
                      <a:endParaRPr sz="1050" u="none" cap="none" strike="noStrike">
                        <a:latin typeface="Calibri"/>
                        <a:ea typeface="Calibri"/>
                        <a:cs typeface="Calibri"/>
                        <a:sym typeface="Calibri"/>
                      </a:endParaRPr>
                    </a:p>
                  </a:txBody>
                  <a:tcPr marT="64000" marB="64000" marR="64000" marL="64000" anchor="ctr">
                    <a:lnL cap="flat" cmpd="sng" w="9525">
                      <a:solidFill>
                        <a:srgbClr val="D9E2EA"/>
                      </a:solidFill>
                      <a:prstDash val="solid"/>
                      <a:round/>
                      <a:headEnd len="sm" w="sm" type="none"/>
                      <a:tailEnd len="sm" w="sm" type="none"/>
                    </a:lnL>
                    <a:lnR cap="flat" cmpd="sng" w="9525">
                      <a:solidFill>
                        <a:srgbClr val="D9E2EA"/>
                      </a:solidFill>
                      <a:prstDash val="solid"/>
                      <a:round/>
                      <a:headEnd len="sm" w="sm" type="none"/>
                      <a:tailEnd len="sm" w="sm" type="none"/>
                    </a:lnR>
                    <a:lnT cap="flat" cmpd="sng" w="9525">
                      <a:solidFill>
                        <a:srgbClr val="D9E2EA"/>
                      </a:solidFill>
                      <a:prstDash val="solid"/>
                      <a:round/>
                      <a:headEnd len="sm" w="sm" type="none"/>
                      <a:tailEnd len="sm" w="sm" type="none"/>
                    </a:lnT>
                    <a:lnB cap="flat" cmpd="sng" w="9525">
                      <a:solidFill>
                        <a:srgbClr val="D9E2EA"/>
                      </a:solidFill>
                      <a:prstDash val="solid"/>
                      <a:round/>
                      <a:headEnd len="sm" w="sm" type="none"/>
                      <a:tailEnd len="sm" w="sm" type="none"/>
                    </a:lnB>
                    <a:solidFill>
                      <a:srgbClr val="1D2A5C"/>
                    </a:solidFill>
                  </a:tcPr>
                </a:tc>
                <a:tc>
                  <a:txBody>
                    <a:bodyPr/>
                    <a:lstStyle/>
                    <a:p>
                      <a:pPr indent="0" lvl="0" marL="0" marR="0" rtl="0" algn="l">
                        <a:spcBef>
                          <a:spcPts val="0"/>
                        </a:spcBef>
                        <a:spcAft>
                          <a:spcPts val="0"/>
                        </a:spcAft>
                        <a:buClr>
                          <a:srgbClr val="FFFFFF"/>
                        </a:buClr>
                        <a:buSzPts val="1050"/>
                        <a:buFont typeface="Calibri"/>
                        <a:buNone/>
                      </a:pPr>
                      <a:r>
                        <a:rPr b="1" lang="en-US" sz="1050" u="none" cap="none" strike="noStrike">
                          <a:solidFill>
                            <a:srgbClr val="FFFFFF"/>
                          </a:solidFill>
                          <a:latin typeface="Calibri"/>
                          <a:ea typeface="Calibri"/>
                          <a:cs typeface="Calibri"/>
                          <a:sym typeface="Calibri"/>
                        </a:rPr>
                        <a:t>Target after M5</a:t>
                      </a:r>
                      <a:endParaRPr sz="1050" u="none" cap="none" strike="noStrike">
                        <a:latin typeface="Calibri"/>
                        <a:ea typeface="Calibri"/>
                        <a:cs typeface="Calibri"/>
                        <a:sym typeface="Calibri"/>
                      </a:endParaRPr>
                    </a:p>
                  </a:txBody>
                  <a:tcPr marT="64000" marB="64000" marR="64000" marL="64000" anchor="ctr">
                    <a:lnL cap="flat" cmpd="sng" w="9525">
                      <a:solidFill>
                        <a:srgbClr val="D9E2EA"/>
                      </a:solidFill>
                      <a:prstDash val="solid"/>
                      <a:round/>
                      <a:headEnd len="sm" w="sm" type="none"/>
                      <a:tailEnd len="sm" w="sm" type="none"/>
                    </a:lnL>
                    <a:lnR cap="flat" cmpd="sng" w="9525">
                      <a:solidFill>
                        <a:srgbClr val="D9E2EA"/>
                      </a:solidFill>
                      <a:prstDash val="solid"/>
                      <a:round/>
                      <a:headEnd len="sm" w="sm" type="none"/>
                      <a:tailEnd len="sm" w="sm" type="none"/>
                    </a:lnR>
                    <a:lnT cap="flat" cmpd="sng" w="9525">
                      <a:solidFill>
                        <a:srgbClr val="D9E2EA"/>
                      </a:solidFill>
                      <a:prstDash val="solid"/>
                      <a:round/>
                      <a:headEnd len="sm" w="sm" type="none"/>
                      <a:tailEnd len="sm" w="sm" type="none"/>
                    </a:lnT>
                    <a:lnB cap="flat" cmpd="sng" w="9525">
                      <a:solidFill>
                        <a:srgbClr val="D9E2EA"/>
                      </a:solidFill>
                      <a:prstDash val="solid"/>
                      <a:round/>
                      <a:headEnd len="sm" w="sm" type="none"/>
                      <a:tailEnd len="sm" w="sm" type="none"/>
                    </a:lnB>
                    <a:solidFill>
                      <a:srgbClr val="1D2A5C"/>
                    </a:solidFill>
                  </a:tcPr>
                </a:tc>
                <a:tc>
                  <a:txBody>
                    <a:bodyPr/>
                    <a:lstStyle/>
                    <a:p>
                      <a:pPr indent="0" lvl="0" marL="0" marR="0" rtl="0" algn="l">
                        <a:spcBef>
                          <a:spcPts val="0"/>
                        </a:spcBef>
                        <a:spcAft>
                          <a:spcPts val="0"/>
                        </a:spcAft>
                        <a:buClr>
                          <a:srgbClr val="FFFFFF"/>
                        </a:buClr>
                        <a:buSzPts val="1050"/>
                        <a:buFont typeface="Calibri"/>
                        <a:buNone/>
                      </a:pPr>
                      <a:r>
                        <a:rPr b="1" lang="en-US" sz="1050" u="none" cap="none" strike="noStrike">
                          <a:solidFill>
                            <a:srgbClr val="FFFFFF"/>
                          </a:solidFill>
                          <a:latin typeface="Calibri"/>
                          <a:ea typeface="Calibri"/>
                          <a:cs typeface="Calibri"/>
                          <a:sym typeface="Calibri"/>
                        </a:rPr>
                        <a:t>How measured</a:t>
                      </a:r>
                      <a:endParaRPr sz="1050" u="none" cap="none" strike="noStrike">
                        <a:latin typeface="Calibri"/>
                        <a:ea typeface="Calibri"/>
                        <a:cs typeface="Calibri"/>
                        <a:sym typeface="Calibri"/>
                      </a:endParaRPr>
                    </a:p>
                  </a:txBody>
                  <a:tcPr marT="64000" marB="64000" marR="64000" marL="64000" anchor="ctr">
                    <a:lnL cap="flat" cmpd="sng" w="9525">
                      <a:solidFill>
                        <a:srgbClr val="D9E2EA"/>
                      </a:solidFill>
                      <a:prstDash val="solid"/>
                      <a:round/>
                      <a:headEnd len="sm" w="sm" type="none"/>
                      <a:tailEnd len="sm" w="sm" type="none"/>
                    </a:lnL>
                    <a:lnR cap="flat" cmpd="sng" w="9525">
                      <a:solidFill>
                        <a:srgbClr val="D9E2EA"/>
                      </a:solidFill>
                      <a:prstDash val="solid"/>
                      <a:round/>
                      <a:headEnd len="sm" w="sm" type="none"/>
                      <a:tailEnd len="sm" w="sm" type="none"/>
                    </a:lnR>
                    <a:lnT cap="flat" cmpd="sng" w="9525">
                      <a:solidFill>
                        <a:srgbClr val="D9E2EA"/>
                      </a:solidFill>
                      <a:prstDash val="solid"/>
                      <a:round/>
                      <a:headEnd len="sm" w="sm" type="none"/>
                      <a:tailEnd len="sm" w="sm" type="none"/>
                    </a:lnT>
                    <a:lnB cap="flat" cmpd="sng" w="9525">
                      <a:solidFill>
                        <a:srgbClr val="D9E2EA"/>
                      </a:solidFill>
                      <a:prstDash val="solid"/>
                      <a:round/>
                      <a:headEnd len="sm" w="sm" type="none"/>
                      <a:tailEnd len="sm" w="sm" type="none"/>
                    </a:lnB>
                    <a:solidFill>
                      <a:srgbClr val="1D2A5C"/>
                    </a:solidFill>
                  </a:tcPr>
                </a:tc>
              </a:tr>
              <a:tr h="696250">
                <a:tc>
                  <a:txBody>
                    <a:bodyPr/>
                    <a:lstStyle/>
                    <a:p>
                      <a:pPr indent="0" lvl="0" marL="0" marR="0" rtl="0" algn="l">
                        <a:spcBef>
                          <a:spcPts val="0"/>
                        </a:spcBef>
                        <a:spcAft>
                          <a:spcPts val="0"/>
                        </a:spcAft>
                        <a:buClr>
                          <a:srgbClr val="1D2A5C"/>
                        </a:buClr>
                        <a:buSzPts val="1050"/>
                        <a:buFont typeface="Calibri"/>
                        <a:buNone/>
                      </a:pPr>
                      <a:r>
                        <a:rPr b="1" lang="en-US" sz="1050" u="none" cap="none" strike="noStrike">
                          <a:solidFill>
                            <a:srgbClr val="1D2A5C"/>
                          </a:solidFill>
                          <a:latin typeface="Calibri"/>
                          <a:ea typeface="Calibri"/>
                          <a:cs typeface="Calibri"/>
                          <a:sym typeface="Calibri"/>
                        </a:rPr>
                        <a:t>Label errors found in top-300 ranking</a:t>
                      </a:r>
                      <a:endParaRPr sz="1050" u="none" cap="none" strike="noStrike">
                        <a:latin typeface="Calibri"/>
                        <a:ea typeface="Calibri"/>
                        <a:cs typeface="Calibri"/>
                        <a:sym typeface="Calibri"/>
                      </a:endParaRPr>
                    </a:p>
                  </a:txBody>
                  <a:tcPr marT="64000" marB="64000" marR="64000" marL="64000" anchor="ctr">
                    <a:lnL cap="flat" cmpd="sng" w="9525">
                      <a:solidFill>
                        <a:srgbClr val="D9E2EA"/>
                      </a:solidFill>
                      <a:prstDash val="solid"/>
                      <a:round/>
                      <a:headEnd len="sm" w="sm" type="none"/>
                      <a:tailEnd len="sm" w="sm" type="none"/>
                    </a:lnL>
                    <a:lnR cap="flat" cmpd="sng" w="9525">
                      <a:solidFill>
                        <a:srgbClr val="D9E2EA"/>
                      </a:solidFill>
                      <a:prstDash val="solid"/>
                      <a:round/>
                      <a:headEnd len="sm" w="sm" type="none"/>
                      <a:tailEnd len="sm" w="sm" type="none"/>
                    </a:lnR>
                    <a:lnT cap="flat" cmpd="sng" w="9525">
                      <a:solidFill>
                        <a:srgbClr val="D9E2EA"/>
                      </a:solidFill>
                      <a:prstDash val="solid"/>
                      <a:round/>
                      <a:headEnd len="sm" w="sm" type="none"/>
                      <a:tailEnd len="sm" w="sm" type="none"/>
                    </a:lnT>
                    <a:lnB cap="flat" cmpd="sng" w="9525">
                      <a:solidFill>
                        <a:srgbClr val="D9E2EA"/>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23293B"/>
                        </a:buClr>
                        <a:buSzPts val="1050"/>
                        <a:buFont typeface="Calibri"/>
                        <a:buNone/>
                      </a:pPr>
                      <a:r>
                        <a:rPr lang="en-US" sz="1050" u="none" cap="none" strike="noStrike">
                          <a:solidFill>
                            <a:srgbClr val="23293B"/>
                          </a:solidFill>
                          <a:latin typeface="Calibri"/>
                          <a:ea typeface="Calibri"/>
                          <a:cs typeface="Calibri"/>
                          <a:sym typeface="Calibri"/>
                        </a:rPr>
                        <a:t>&gt;= 70% of planted errors</a:t>
                      </a:r>
                      <a:endParaRPr sz="1050" u="none" cap="none" strike="noStrike">
                        <a:latin typeface="Calibri"/>
                        <a:ea typeface="Calibri"/>
                        <a:cs typeface="Calibri"/>
                        <a:sym typeface="Calibri"/>
                      </a:endParaRPr>
                    </a:p>
                  </a:txBody>
                  <a:tcPr marT="64000" marB="64000" marR="64000" marL="64000" anchor="ctr">
                    <a:lnL cap="flat" cmpd="sng" w="9525">
                      <a:solidFill>
                        <a:srgbClr val="D9E2EA"/>
                      </a:solidFill>
                      <a:prstDash val="solid"/>
                      <a:round/>
                      <a:headEnd len="sm" w="sm" type="none"/>
                      <a:tailEnd len="sm" w="sm" type="none"/>
                    </a:lnL>
                    <a:lnR cap="flat" cmpd="sng" w="9525">
                      <a:solidFill>
                        <a:srgbClr val="D9E2EA"/>
                      </a:solidFill>
                      <a:prstDash val="solid"/>
                      <a:round/>
                      <a:headEnd len="sm" w="sm" type="none"/>
                      <a:tailEnd len="sm" w="sm" type="none"/>
                    </a:lnR>
                    <a:lnT cap="flat" cmpd="sng" w="9525">
                      <a:solidFill>
                        <a:srgbClr val="D9E2EA"/>
                      </a:solidFill>
                      <a:prstDash val="solid"/>
                      <a:round/>
                      <a:headEnd len="sm" w="sm" type="none"/>
                      <a:tailEnd len="sm" w="sm" type="none"/>
                    </a:lnT>
                    <a:lnB cap="flat" cmpd="sng" w="9525">
                      <a:solidFill>
                        <a:srgbClr val="D9E2EA"/>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23293B"/>
                        </a:buClr>
                        <a:buSzPts val="1050"/>
                        <a:buFont typeface="Calibri"/>
                        <a:buNone/>
                      </a:pPr>
                      <a:r>
                        <a:rPr lang="en-US" sz="1050" u="none" cap="none" strike="noStrike">
                          <a:solidFill>
                            <a:srgbClr val="23293B"/>
                          </a:solidFill>
                          <a:latin typeface="Calibri"/>
                          <a:ea typeface="Calibri"/>
                          <a:cs typeface="Calibri"/>
                          <a:sym typeface="Calibri"/>
                        </a:rPr>
                        <a:t>triage sheet vs answer key</a:t>
                      </a:r>
                      <a:endParaRPr sz="1050" u="none" cap="none" strike="noStrike">
                        <a:latin typeface="Calibri"/>
                        <a:ea typeface="Calibri"/>
                        <a:cs typeface="Calibri"/>
                        <a:sym typeface="Calibri"/>
                      </a:endParaRPr>
                    </a:p>
                  </a:txBody>
                  <a:tcPr marT="64000" marB="64000" marR="64000" marL="64000" anchor="ctr">
                    <a:lnL cap="flat" cmpd="sng" w="9525">
                      <a:solidFill>
                        <a:srgbClr val="D9E2EA"/>
                      </a:solidFill>
                      <a:prstDash val="solid"/>
                      <a:round/>
                      <a:headEnd len="sm" w="sm" type="none"/>
                      <a:tailEnd len="sm" w="sm" type="none"/>
                    </a:lnL>
                    <a:lnR cap="flat" cmpd="sng" w="9525">
                      <a:solidFill>
                        <a:srgbClr val="D9E2EA"/>
                      </a:solidFill>
                      <a:prstDash val="solid"/>
                      <a:round/>
                      <a:headEnd len="sm" w="sm" type="none"/>
                      <a:tailEnd len="sm" w="sm" type="none"/>
                    </a:lnR>
                    <a:lnT cap="flat" cmpd="sng" w="9525">
                      <a:solidFill>
                        <a:srgbClr val="D9E2EA"/>
                      </a:solidFill>
                      <a:prstDash val="solid"/>
                      <a:round/>
                      <a:headEnd len="sm" w="sm" type="none"/>
                      <a:tailEnd len="sm" w="sm" type="none"/>
                    </a:lnT>
                    <a:lnB cap="flat" cmpd="sng" w="9525">
                      <a:solidFill>
                        <a:srgbClr val="D9E2EA"/>
                      </a:solidFill>
                      <a:prstDash val="solid"/>
                      <a:round/>
                      <a:headEnd len="sm" w="sm" type="none"/>
                      <a:tailEnd len="sm" w="sm" type="none"/>
                    </a:lnB>
                    <a:solidFill>
                      <a:srgbClr val="FFFFFF"/>
                    </a:solidFill>
                  </a:tcPr>
                </a:tc>
              </a:tr>
              <a:tr h="696250">
                <a:tc>
                  <a:txBody>
                    <a:bodyPr/>
                    <a:lstStyle/>
                    <a:p>
                      <a:pPr indent="0" lvl="0" marL="0" marR="0" rtl="0" algn="l">
                        <a:spcBef>
                          <a:spcPts val="0"/>
                        </a:spcBef>
                        <a:spcAft>
                          <a:spcPts val="0"/>
                        </a:spcAft>
                        <a:buClr>
                          <a:srgbClr val="1D2A5C"/>
                        </a:buClr>
                        <a:buSzPts val="1050"/>
                        <a:buFont typeface="Calibri"/>
                        <a:buNone/>
                      </a:pPr>
                      <a:r>
                        <a:rPr b="1" lang="en-US" sz="1050" u="none" cap="none" strike="noStrike">
                          <a:solidFill>
                            <a:srgbClr val="1D2A5C"/>
                          </a:solidFill>
                          <a:latin typeface="Calibri"/>
                          <a:ea typeface="Calibri"/>
                          <a:cs typeface="Calibri"/>
                          <a:sym typeface="Calibri"/>
                        </a:rPr>
                        <a:t>Triage accuracy (top 40)</a:t>
                      </a:r>
                      <a:endParaRPr sz="1050" u="none" cap="none" strike="noStrike">
                        <a:latin typeface="Calibri"/>
                        <a:ea typeface="Calibri"/>
                        <a:cs typeface="Calibri"/>
                        <a:sym typeface="Calibri"/>
                      </a:endParaRPr>
                    </a:p>
                  </a:txBody>
                  <a:tcPr marT="64000" marB="64000" marR="64000" marL="64000" anchor="ctr">
                    <a:lnL cap="flat" cmpd="sng" w="9525">
                      <a:solidFill>
                        <a:srgbClr val="D9E2EA"/>
                      </a:solidFill>
                      <a:prstDash val="solid"/>
                      <a:round/>
                      <a:headEnd len="sm" w="sm" type="none"/>
                      <a:tailEnd len="sm" w="sm" type="none"/>
                    </a:lnL>
                    <a:lnR cap="flat" cmpd="sng" w="9525">
                      <a:solidFill>
                        <a:srgbClr val="D9E2EA"/>
                      </a:solidFill>
                      <a:prstDash val="solid"/>
                      <a:round/>
                      <a:headEnd len="sm" w="sm" type="none"/>
                      <a:tailEnd len="sm" w="sm" type="none"/>
                    </a:lnR>
                    <a:lnT cap="flat" cmpd="sng" w="9525">
                      <a:solidFill>
                        <a:srgbClr val="D9E2EA"/>
                      </a:solidFill>
                      <a:prstDash val="solid"/>
                      <a:round/>
                      <a:headEnd len="sm" w="sm" type="none"/>
                      <a:tailEnd len="sm" w="sm" type="none"/>
                    </a:lnT>
                    <a:lnB cap="flat" cmpd="sng" w="9525">
                      <a:solidFill>
                        <a:srgbClr val="D9E2EA"/>
                      </a:solidFill>
                      <a:prstDash val="solid"/>
                      <a:round/>
                      <a:headEnd len="sm" w="sm" type="none"/>
                      <a:tailEnd len="sm" w="sm" type="none"/>
                    </a:lnB>
                    <a:solidFill>
                      <a:srgbClr val="F2F6F9"/>
                    </a:solidFill>
                  </a:tcPr>
                </a:tc>
                <a:tc>
                  <a:txBody>
                    <a:bodyPr/>
                    <a:lstStyle/>
                    <a:p>
                      <a:pPr indent="0" lvl="0" marL="0" marR="0" rtl="0" algn="l">
                        <a:spcBef>
                          <a:spcPts val="0"/>
                        </a:spcBef>
                        <a:spcAft>
                          <a:spcPts val="0"/>
                        </a:spcAft>
                        <a:buClr>
                          <a:srgbClr val="23293B"/>
                        </a:buClr>
                        <a:buSzPts val="1050"/>
                        <a:buFont typeface="Calibri"/>
                        <a:buNone/>
                      </a:pPr>
                      <a:r>
                        <a:rPr lang="en-US" sz="1050" u="none" cap="none" strike="noStrike">
                          <a:solidFill>
                            <a:srgbClr val="23293B"/>
                          </a:solidFill>
                          <a:latin typeface="Calibri"/>
                          <a:ea typeface="Calibri"/>
                          <a:cs typeface="Calibri"/>
                          <a:sym typeface="Calibri"/>
                        </a:rPr>
                        <a:t>&gt;= 80% match to reference</a:t>
                      </a:r>
                      <a:endParaRPr sz="1050" u="none" cap="none" strike="noStrike">
                        <a:latin typeface="Calibri"/>
                        <a:ea typeface="Calibri"/>
                        <a:cs typeface="Calibri"/>
                        <a:sym typeface="Calibri"/>
                      </a:endParaRPr>
                    </a:p>
                  </a:txBody>
                  <a:tcPr marT="64000" marB="64000" marR="64000" marL="64000" anchor="ctr">
                    <a:lnL cap="flat" cmpd="sng" w="9525">
                      <a:solidFill>
                        <a:srgbClr val="D9E2EA"/>
                      </a:solidFill>
                      <a:prstDash val="solid"/>
                      <a:round/>
                      <a:headEnd len="sm" w="sm" type="none"/>
                      <a:tailEnd len="sm" w="sm" type="none"/>
                    </a:lnL>
                    <a:lnR cap="flat" cmpd="sng" w="9525">
                      <a:solidFill>
                        <a:srgbClr val="D9E2EA"/>
                      </a:solidFill>
                      <a:prstDash val="solid"/>
                      <a:round/>
                      <a:headEnd len="sm" w="sm" type="none"/>
                      <a:tailEnd len="sm" w="sm" type="none"/>
                    </a:lnR>
                    <a:lnT cap="flat" cmpd="sng" w="9525">
                      <a:solidFill>
                        <a:srgbClr val="D9E2EA"/>
                      </a:solidFill>
                      <a:prstDash val="solid"/>
                      <a:round/>
                      <a:headEnd len="sm" w="sm" type="none"/>
                      <a:tailEnd len="sm" w="sm" type="none"/>
                    </a:lnT>
                    <a:lnB cap="flat" cmpd="sng" w="9525">
                      <a:solidFill>
                        <a:srgbClr val="D9E2EA"/>
                      </a:solidFill>
                      <a:prstDash val="solid"/>
                      <a:round/>
                      <a:headEnd len="sm" w="sm" type="none"/>
                      <a:tailEnd len="sm" w="sm" type="none"/>
                    </a:lnB>
                    <a:solidFill>
                      <a:srgbClr val="F2F6F9"/>
                    </a:solidFill>
                  </a:tcPr>
                </a:tc>
                <a:tc>
                  <a:txBody>
                    <a:bodyPr/>
                    <a:lstStyle/>
                    <a:p>
                      <a:pPr indent="0" lvl="0" marL="0" marR="0" rtl="0" algn="l">
                        <a:spcBef>
                          <a:spcPts val="0"/>
                        </a:spcBef>
                        <a:spcAft>
                          <a:spcPts val="0"/>
                        </a:spcAft>
                        <a:buClr>
                          <a:srgbClr val="23293B"/>
                        </a:buClr>
                        <a:buSzPts val="1050"/>
                        <a:buFont typeface="Calibri"/>
                        <a:buNone/>
                      </a:pPr>
                      <a:r>
                        <a:rPr lang="en-US" sz="1050" u="none" cap="none" strike="noStrike">
                          <a:solidFill>
                            <a:srgbClr val="23293B"/>
                          </a:solidFill>
                          <a:latin typeface="Calibri"/>
                          <a:ea typeface="Calibri"/>
                          <a:cs typeface="Calibri"/>
                          <a:sym typeface="Calibri"/>
                        </a:rPr>
                        <a:t>instructor key</a:t>
                      </a:r>
                      <a:endParaRPr sz="1050" u="none" cap="none" strike="noStrike">
                        <a:latin typeface="Calibri"/>
                        <a:ea typeface="Calibri"/>
                        <a:cs typeface="Calibri"/>
                        <a:sym typeface="Calibri"/>
                      </a:endParaRPr>
                    </a:p>
                  </a:txBody>
                  <a:tcPr marT="64000" marB="64000" marR="64000" marL="64000" anchor="ctr">
                    <a:lnL cap="flat" cmpd="sng" w="9525">
                      <a:solidFill>
                        <a:srgbClr val="D9E2EA"/>
                      </a:solidFill>
                      <a:prstDash val="solid"/>
                      <a:round/>
                      <a:headEnd len="sm" w="sm" type="none"/>
                      <a:tailEnd len="sm" w="sm" type="none"/>
                    </a:lnL>
                    <a:lnR cap="flat" cmpd="sng" w="9525">
                      <a:solidFill>
                        <a:srgbClr val="D9E2EA"/>
                      </a:solidFill>
                      <a:prstDash val="solid"/>
                      <a:round/>
                      <a:headEnd len="sm" w="sm" type="none"/>
                      <a:tailEnd len="sm" w="sm" type="none"/>
                    </a:lnR>
                    <a:lnT cap="flat" cmpd="sng" w="9525">
                      <a:solidFill>
                        <a:srgbClr val="D9E2EA"/>
                      </a:solidFill>
                      <a:prstDash val="solid"/>
                      <a:round/>
                      <a:headEnd len="sm" w="sm" type="none"/>
                      <a:tailEnd len="sm" w="sm" type="none"/>
                    </a:lnT>
                    <a:lnB cap="flat" cmpd="sng" w="9525">
                      <a:solidFill>
                        <a:srgbClr val="D9E2EA"/>
                      </a:solidFill>
                      <a:prstDash val="solid"/>
                      <a:round/>
                      <a:headEnd len="sm" w="sm" type="none"/>
                      <a:tailEnd len="sm" w="sm" type="none"/>
                    </a:lnB>
                    <a:solidFill>
                      <a:srgbClr val="F2F6F9"/>
                    </a:solidFill>
                  </a:tcPr>
                </a:tc>
              </a:tr>
              <a:tr h="696250">
                <a:tc>
                  <a:txBody>
                    <a:bodyPr/>
                    <a:lstStyle/>
                    <a:p>
                      <a:pPr indent="0" lvl="0" marL="0" marR="0" rtl="0" algn="l">
                        <a:spcBef>
                          <a:spcPts val="0"/>
                        </a:spcBef>
                        <a:spcAft>
                          <a:spcPts val="0"/>
                        </a:spcAft>
                        <a:buClr>
                          <a:srgbClr val="1D2A5C"/>
                        </a:buClr>
                        <a:buSzPts val="1050"/>
                        <a:buFont typeface="Calibri"/>
                        <a:buNone/>
                      </a:pPr>
                      <a:r>
                        <a:rPr b="1" lang="en-US" sz="1050" u="none" cap="none" strike="noStrike">
                          <a:solidFill>
                            <a:srgbClr val="1D2A5C"/>
                          </a:solidFill>
                          <a:latin typeface="Calibri"/>
                          <a:ea typeface="Calibri"/>
                          <a:cs typeface="Calibri"/>
                          <a:sym typeface="Calibri"/>
                        </a:rPr>
                        <a:t>Class kappa post-spec-fix</a:t>
                      </a:r>
                      <a:endParaRPr sz="1050" u="none" cap="none" strike="noStrike">
                        <a:latin typeface="Calibri"/>
                        <a:ea typeface="Calibri"/>
                        <a:cs typeface="Calibri"/>
                        <a:sym typeface="Calibri"/>
                      </a:endParaRPr>
                    </a:p>
                  </a:txBody>
                  <a:tcPr marT="64000" marB="64000" marR="64000" marL="64000" anchor="ctr">
                    <a:lnL cap="flat" cmpd="sng" w="9525">
                      <a:solidFill>
                        <a:srgbClr val="D9E2EA"/>
                      </a:solidFill>
                      <a:prstDash val="solid"/>
                      <a:round/>
                      <a:headEnd len="sm" w="sm" type="none"/>
                      <a:tailEnd len="sm" w="sm" type="none"/>
                    </a:lnL>
                    <a:lnR cap="flat" cmpd="sng" w="9525">
                      <a:solidFill>
                        <a:srgbClr val="D9E2EA"/>
                      </a:solidFill>
                      <a:prstDash val="solid"/>
                      <a:round/>
                      <a:headEnd len="sm" w="sm" type="none"/>
                      <a:tailEnd len="sm" w="sm" type="none"/>
                    </a:lnR>
                    <a:lnT cap="flat" cmpd="sng" w="9525">
                      <a:solidFill>
                        <a:srgbClr val="D9E2EA"/>
                      </a:solidFill>
                      <a:prstDash val="solid"/>
                      <a:round/>
                      <a:headEnd len="sm" w="sm" type="none"/>
                      <a:tailEnd len="sm" w="sm" type="none"/>
                    </a:lnT>
                    <a:lnB cap="flat" cmpd="sng" w="9525">
                      <a:solidFill>
                        <a:srgbClr val="D9E2EA"/>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23293B"/>
                        </a:buClr>
                        <a:buSzPts val="1050"/>
                        <a:buFont typeface="Calibri"/>
                        <a:buNone/>
                      </a:pPr>
                      <a:r>
                        <a:rPr lang="en-US" sz="1050" u="none" cap="none" strike="noStrike">
                          <a:solidFill>
                            <a:srgbClr val="23293B"/>
                          </a:solidFill>
                          <a:latin typeface="Calibri"/>
                          <a:ea typeface="Calibri"/>
                          <a:cs typeface="Calibri"/>
                          <a:sym typeface="Calibri"/>
                        </a:rPr>
                        <a:t>&gt;= 0.85</a:t>
                      </a:r>
                      <a:endParaRPr sz="1050" u="none" cap="none" strike="noStrike">
                        <a:latin typeface="Calibri"/>
                        <a:ea typeface="Calibri"/>
                        <a:cs typeface="Calibri"/>
                        <a:sym typeface="Calibri"/>
                      </a:endParaRPr>
                    </a:p>
                  </a:txBody>
                  <a:tcPr marT="64000" marB="64000" marR="64000" marL="64000" anchor="ctr">
                    <a:lnL cap="flat" cmpd="sng" w="9525">
                      <a:solidFill>
                        <a:srgbClr val="D9E2EA"/>
                      </a:solidFill>
                      <a:prstDash val="solid"/>
                      <a:round/>
                      <a:headEnd len="sm" w="sm" type="none"/>
                      <a:tailEnd len="sm" w="sm" type="none"/>
                    </a:lnL>
                    <a:lnR cap="flat" cmpd="sng" w="9525">
                      <a:solidFill>
                        <a:srgbClr val="D9E2EA"/>
                      </a:solidFill>
                      <a:prstDash val="solid"/>
                      <a:round/>
                      <a:headEnd len="sm" w="sm" type="none"/>
                      <a:tailEnd len="sm" w="sm" type="none"/>
                    </a:lnR>
                    <a:lnT cap="flat" cmpd="sng" w="9525">
                      <a:solidFill>
                        <a:srgbClr val="D9E2EA"/>
                      </a:solidFill>
                      <a:prstDash val="solid"/>
                      <a:round/>
                      <a:headEnd len="sm" w="sm" type="none"/>
                      <a:tailEnd len="sm" w="sm" type="none"/>
                    </a:lnT>
                    <a:lnB cap="flat" cmpd="sng" w="9525">
                      <a:solidFill>
                        <a:srgbClr val="D9E2EA"/>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23293B"/>
                        </a:buClr>
                        <a:buSzPts val="1050"/>
                        <a:buFont typeface="Calibri"/>
                        <a:buNone/>
                      </a:pPr>
                      <a:r>
                        <a:rPr lang="en-US" sz="1050" u="none" cap="none" strike="noStrike">
                          <a:solidFill>
                            <a:srgbClr val="23293B"/>
                          </a:solidFill>
                          <a:latin typeface="Calibri"/>
                          <a:ea typeface="Calibri"/>
                          <a:cs typeface="Calibri"/>
                          <a:sym typeface="Calibri"/>
                        </a:rPr>
                        <a:t>agreement.py</a:t>
                      </a:r>
                      <a:endParaRPr sz="1050" u="none" cap="none" strike="noStrike">
                        <a:latin typeface="Calibri"/>
                        <a:ea typeface="Calibri"/>
                        <a:cs typeface="Calibri"/>
                        <a:sym typeface="Calibri"/>
                      </a:endParaRPr>
                    </a:p>
                  </a:txBody>
                  <a:tcPr marT="64000" marB="64000" marR="64000" marL="64000" anchor="ctr">
                    <a:lnL cap="flat" cmpd="sng" w="9525">
                      <a:solidFill>
                        <a:srgbClr val="D9E2EA"/>
                      </a:solidFill>
                      <a:prstDash val="solid"/>
                      <a:round/>
                      <a:headEnd len="sm" w="sm" type="none"/>
                      <a:tailEnd len="sm" w="sm" type="none"/>
                    </a:lnL>
                    <a:lnR cap="flat" cmpd="sng" w="9525">
                      <a:solidFill>
                        <a:srgbClr val="D9E2EA"/>
                      </a:solidFill>
                      <a:prstDash val="solid"/>
                      <a:round/>
                      <a:headEnd len="sm" w="sm" type="none"/>
                      <a:tailEnd len="sm" w="sm" type="none"/>
                    </a:lnR>
                    <a:lnT cap="flat" cmpd="sng" w="9525">
                      <a:solidFill>
                        <a:srgbClr val="D9E2EA"/>
                      </a:solidFill>
                      <a:prstDash val="solid"/>
                      <a:round/>
                      <a:headEnd len="sm" w="sm" type="none"/>
                      <a:tailEnd len="sm" w="sm" type="none"/>
                    </a:lnT>
                    <a:lnB cap="flat" cmpd="sng" w="9525">
                      <a:solidFill>
                        <a:srgbClr val="D9E2EA"/>
                      </a:solidFill>
                      <a:prstDash val="solid"/>
                      <a:round/>
                      <a:headEnd len="sm" w="sm" type="none"/>
                      <a:tailEnd len="sm" w="sm" type="none"/>
                    </a:lnB>
                    <a:solidFill>
                      <a:srgbClr val="FFFFFF"/>
                    </a:solidFill>
                  </a:tcPr>
                </a:tc>
              </a:tr>
              <a:tr h="696250">
                <a:tc>
                  <a:txBody>
                    <a:bodyPr/>
                    <a:lstStyle/>
                    <a:p>
                      <a:pPr indent="0" lvl="0" marL="0" marR="0" rtl="0" algn="l">
                        <a:spcBef>
                          <a:spcPts val="0"/>
                        </a:spcBef>
                        <a:spcAft>
                          <a:spcPts val="0"/>
                        </a:spcAft>
                        <a:buClr>
                          <a:srgbClr val="1D2A5C"/>
                        </a:buClr>
                        <a:buSzPts val="1050"/>
                        <a:buFont typeface="Calibri"/>
                        <a:buNone/>
                      </a:pPr>
                      <a:r>
                        <a:rPr b="1" lang="en-US" sz="1050" u="none" cap="none" strike="noStrike">
                          <a:solidFill>
                            <a:srgbClr val="1D2A5C"/>
                          </a:solidFill>
                          <a:latin typeface="Calibri"/>
                          <a:ea typeface="Calibri"/>
                          <a:cs typeface="Calibri"/>
                          <a:sym typeface="Calibri"/>
                        </a:rPr>
                        <a:t>Test-split freeze v1 to v2</a:t>
                      </a:r>
                      <a:endParaRPr sz="1050" u="none" cap="none" strike="noStrike">
                        <a:latin typeface="Calibri"/>
                        <a:ea typeface="Calibri"/>
                        <a:cs typeface="Calibri"/>
                        <a:sym typeface="Calibri"/>
                      </a:endParaRPr>
                    </a:p>
                  </a:txBody>
                  <a:tcPr marT="64000" marB="64000" marR="64000" marL="64000" anchor="ctr">
                    <a:lnL cap="flat" cmpd="sng" w="9525">
                      <a:solidFill>
                        <a:srgbClr val="D9E2EA"/>
                      </a:solidFill>
                      <a:prstDash val="solid"/>
                      <a:round/>
                      <a:headEnd len="sm" w="sm" type="none"/>
                      <a:tailEnd len="sm" w="sm" type="none"/>
                    </a:lnL>
                    <a:lnR cap="flat" cmpd="sng" w="9525">
                      <a:solidFill>
                        <a:srgbClr val="D9E2EA"/>
                      </a:solidFill>
                      <a:prstDash val="solid"/>
                      <a:round/>
                      <a:headEnd len="sm" w="sm" type="none"/>
                      <a:tailEnd len="sm" w="sm" type="none"/>
                    </a:lnR>
                    <a:lnT cap="flat" cmpd="sng" w="9525">
                      <a:solidFill>
                        <a:srgbClr val="D9E2EA"/>
                      </a:solidFill>
                      <a:prstDash val="solid"/>
                      <a:round/>
                      <a:headEnd len="sm" w="sm" type="none"/>
                      <a:tailEnd len="sm" w="sm" type="none"/>
                    </a:lnT>
                    <a:lnB cap="flat" cmpd="sng" w="9525">
                      <a:solidFill>
                        <a:srgbClr val="D9E2EA"/>
                      </a:solidFill>
                      <a:prstDash val="solid"/>
                      <a:round/>
                      <a:headEnd len="sm" w="sm" type="none"/>
                      <a:tailEnd len="sm" w="sm" type="none"/>
                    </a:lnB>
                    <a:solidFill>
                      <a:srgbClr val="F2F6F9"/>
                    </a:solidFill>
                  </a:tcPr>
                </a:tc>
                <a:tc>
                  <a:txBody>
                    <a:bodyPr/>
                    <a:lstStyle/>
                    <a:p>
                      <a:pPr indent="0" lvl="0" marL="0" marR="0" rtl="0" algn="l">
                        <a:spcBef>
                          <a:spcPts val="0"/>
                        </a:spcBef>
                        <a:spcAft>
                          <a:spcPts val="0"/>
                        </a:spcAft>
                        <a:buClr>
                          <a:srgbClr val="23293B"/>
                        </a:buClr>
                        <a:buSzPts val="1050"/>
                        <a:buFont typeface="Calibri"/>
                        <a:buNone/>
                      </a:pPr>
                      <a:r>
                        <a:rPr lang="en-US" sz="1050" u="none" cap="none" strike="noStrike">
                          <a:solidFill>
                            <a:srgbClr val="23293B"/>
                          </a:solidFill>
                          <a:latin typeface="Calibri"/>
                          <a:ea typeface="Calibri"/>
                          <a:cs typeface="Calibri"/>
                          <a:sym typeface="Calibri"/>
                        </a:rPr>
                        <a:t>byte-identical</a:t>
                      </a:r>
                      <a:endParaRPr sz="1050" u="none" cap="none" strike="noStrike">
                        <a:latin typeface="Calibri"/>
                        <a:ea typeface="Calibri"/>
                        <a:cs typeface="Calibri"/>
                        <a:sym typeface="Calibri"/>
                      </a:endParaRPr>
                    </a:p>
                  </a:txBody>
                  <a:tcPr marT="64000" marB="64000" marR="64000" marL="64000" anchor="ctr">
                    <a:lnL cap="flat" cmpd="sng" w="9525">
                      <a:solidFill>
                        <a:srgbClr val="D9E2EA"/>
                      </a:solidFill>
                      <a:prstDash val="solid"/>
                      <a:round/>
                      <a:headEnd len="sm" w="sm" type="none"/>
                      <a:tailEnd len="sm" w="sm" type="none"/>
                    </a:lnL>
                    <a:lnR cap="flat" cmpd="sng" w="9525">
                      <a:solidFill>
                        <a:srgbClr val="D9E2EA"/>
                      </a:solidFill>
                      <a:prstDash val="solid"/>
                      <a:round/>
                      <a:headEnd len="sm" w="sm" type="none"/>
                      <a:tailEnd len="sm" w="sm" type="none"/>
                    </a:lnR>
                    <a:lnT cap="flat" cmpd="sng" w="9525">
                      <a:solidFill>
                        <a:srgbClr val="D9E2EA"/>
                      </a:solidFill>
                      <a:prstDash val="solid"/>
                      <a:round/>
                      <a:headEnd len="sm" w="sm" type="none"/>
                      <a:tailEnd len="sm" w="sm" type="none"/>
                    </a:lnT>
                    <a:lnB cap="flat" cmpd="sng" w="9525">
                      <a:solidFill>
                        <a:srgbClr val="D9E2EA"/>
                      </a:solidFill>
                      <a:prstDash val="solid"/>
                      <a:round/>
                      <a:headEnd len="sm" w="sm" type="none"/>
                      <a:tailEnd len="sm" w="sm" type="none"/>
                    </a:lnB>
                    <a:solidFill>
                      <a:srgbClr val="F2F6F9"/>
                    </a:solidFill>
                  </a:tcPr>
                </a:tc>
                <a:tc>
                  <a:txBody>
                    <a:bodyPr/>
                    <a:lstStyle/>
                    <a:p>
                      <a:pPr indent="0" lvl="0" marL="0" marR="0" rtl="0" algn="l">
                        <a:spcBef>
                          <a:spcPts val="0"/>
                        </a:spcBef>
                        <a:spcAft>
                          <a:spcPts val="0"/>
                        </a:spcAft>
                        <a:buClr>
                          <a:srgbClr val="23293B"/>
                        </a:buClr>
                        <a:buSzPts val="1050"/>
                        <a:buFont typeface="Calibri"/>
                        <a:buNone/>
                      </a:pPr>
                      <a:r>
                        <a:rPr lang="en-US" sz="1050" u="none" cap="none" strike="noStrike">
                          <a:solidFill>
                            <a:srgbClr val="23293B"/>
                          </a:solidFill>
                          <a:latin typeface="Calibri"/>
                          <a:ea typeface="Calibri"/>
                          <a:cs typeface="Calibri"/>
                          <a:sym typeface="Calibri"/>
                        </a:rPr>
                        <a:t>verify_split_freeze.py</a:t>
                      </a:r>
                      <a:endParaRPr sz="1050" u="none" cap="none" strike="noStrike">
                        <a:latin typeface="Calibri"/>
                        <a:ea typeface="Calibri"/>
                        <a:cs typeface="Calibri"/>
                        <a:sym typeface="Calibri"/>
                      </a:endParaRPr>
                    </a:p>
                  </a:txBody>
                  <a:tcPr marT="64000" marB="64000" marR="64000" marL="64000" anchor="ctr">
                    <a:lnL cap="flat" cmpd="sng" w="9525">
                      <a:solidFill>
                        <a:srgbClr val="D9E2EA"/>
                      </a:solidFill>
                      <a:prstDash val="solid"/>
                      <a:round/>
                      <a:headEnd len="sm" w="sm" type="none"/>
                      <a:tailEnd len="sm" w="sm" type="none"/>
                    </a:lnL>
                    <a:lnR cap="flat" cmpd="sng" w="9525">
                      <a:solidFill>
                        <a:srgbClr val="D9E2EA"/>
                      </a:solidFill>
                      <a:prstDash val="solid"/>
                      <a:round/>
                      <a:headEnd len="sm" w="sm" type="none"/>
                      <a:tailEnd len="sm" w="sm" type="none"/>
                    </a:lnR>
                    <a:lnT cap="flat" cmpd="sng" w="9525">
                      <a:solidFill>
                        <a:srgbClr val="D9E2EA"/>
                      </a:solidFill>
                      <a:prstDash val="solid"/>
                      <a:round/>
                      <a:headEnd len="sm" w="sm" type="none"/>
                      <a:tailEnd len="sm" w="sm" type="none"/>
                    </a:lnT>
                    <a:lnB cap="flat" cmpd="sng" w="9525">
                      <a:solidFill>
                        <a:srgbClr val="D9E2EA"/>
                      </a:solidFill>
                      <a:prstDash val="solid"/>
                      <a:round/>
                      <a:headEnd len="sm" w="sm" type="none"/>
                      <a:tailEnd len="sm" w="sm" type="none"/>
                    </a:lnB>
                    <a:solidFill>
                      <a:srgbClr val="F2F6F9"/>
                    </a:solidFill>
                  </a:tcPr>
                </a:tc>
              </a:tr>
              <a:tr h="696250">
                <a:tc>
                  <a:txBody>
                    <a:bodyPr/>
                    <a:lstStyle/>
                    <a:p>
                      <a:pPr indent="0" lvl="0" marL="0" marR="0" rtl="0" algn="l">
                        <a:spcBef>
                          <a:spcPts val="0"/>
                        </a:spcBef>
                        <a:spcAft>
                          <a:spcPts val="0"/>
                        </a:spcAft>
                        <a:buClr>
                          <a:srgbClr val="1D2A5C"/>
                        </a:buClr>
                        <a:buSzPts val="1050"/>
                        <a:buFont typeface="Calibri"/>
                        <a:buNone/>
                      </a:pPr>
                      <a:r>
                        <a:rPr b="1" lang="en-US" sz="1050" u="none" cap="none" strike="noStrike">
                          <a:solidFill>
                            <a:srgbClr val="1D2A5C"/>
                          </a:solidFill>
                          <a:latin typeface="Calibri"/>
                          <a:ea typeface="Calibri"/>
                          <a:cs typeface="Calibri"/>
                          <a:sym typeface="Calibri"/>
                        </a:rPr>
                        <a:t>Release completeness</a:t>
                      </a:r>
                      <a:endParaRPr sz="1050" u="none" cap="none" strike="noStrike">
                        <a:latin typeface="Calibri"/>
                        <a:ea typeface="Calibri"/>
                        <a:cs typeface="Calibri"/>
                        <a:sym typeface="Calibri"/>
                      </a:endParaRPr>
                    </a:p>
                  </a:txBody>
                  <a:tcPr marT="64000" marB="64000" marR="64000" marL="64000" anchor="ctr">
                    <a:lnL cap="flat" cmpd="sng" w="9525">
                      <a:solidFill>
                        <a:srgbClr val="D9E2EA"/>
                      </a:solidFill>
                      <a:prstDash val="solid"/>
                      <a:round/>
                      <a:headEnd len="sm" w="sm" type="none"/>
                      <a:tailEnd len="sm" w="sm" type="none"/>
                    </a:lnL>
                    <a:lnR cap="flat" cmpd="sng" w="9525">
                      <a:solidFill>
                        <a:srgbClr val="D9E2EA"/>
                      </a:solidFill>
                      <a:prstDash val="solid"/>
                      <a:round/>
                      <a:headEnd len="sm" w="sm" type="none"/>
                      <a:tailEnd len="sm" w="sm" type="none"/>
                    </a:lnR>
                    <a:lnT cap="flat" cmpd="sng" w="9525">
                      <a:solidFill>
                        <a:srgbClr val="D9E2EA"/>
                      </a:solidFill>
                      <a:prstDash val="solid"/>
                      <a:round/>
                      <a:headEnd len="sm" w="sm" type="none"/>
                      <a:tailEnd len="sm" w="sm" type="none"/>
                    </a:lnT>
                    <a:lnB cap="flat" cmpd="sng" w="9525">
                      <a:solidFill>
                        <a:srgbClr val="D9E2EA"/>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23293B"/>
                        </a:buClr>
                        <a:buSzPts val="1050"/>
                        <a:buFont typeface="Calibri"/>
                        <a:buNone/>
                      </a:pPr>
                      <a:r>
                        <a:rPr lang="en-US" sz="1050" u="none" cap="none" strike="noStrike">
                          <a:solidFill>
                            <a:srgbClr val="23293B"/>
                          </a:solidFill>
                          <a:latin typeface="Calibri"/>
                          <a:ea typeface="Calibri"/>
                          <a:cs typeface="Calibri"/>
                          <a:sym typeface="Calibri"/>
                        </a:rPr>
                        <a:t>manifest + hashes + spec + changelog</a:t>
                      </a:r>
                      <a:endParaRPr sz="1050" u="none" cap="none" strike="noStrike">
                        <a:latin typeface="Calibri"/>
                        <a:ea typeface="Calibri"/>
                        <a:cs typeface="Calibri"/>
                        <a:sym typeface="Calibri"/>
                      </a:endParaRPr>
                    </a:p>
                  </a:txBody>
                  <a:tcPr marT="64000" marB="64000" marR="64000" marL="64000" anchor="ctr">
                    <a:lnL cap="flat" cmpd="sng" w="9525">
                      <a:solidFill>
                        <a:srgbClr val="D9E2EA"/>
                      </a:solidFill>
                      <a:prstDash val="solid"/>
                      <a:round/>
                      <a:headEnd len="sm" w="sm" type="none"/>
                      <a:tailEnd len="sm" w="sm" type="none"/>
                    </a:lnL>
                    <a:lnR cap="flat" cmpd="sng" w="9525">
                      <a:solidFill>
                        <a:srgbClr val="D9E2EA"/>
                      </a:solidFill>
                      <a:prstDash val="solid"/>
                      <a:round/>
                      <a:headEnd len="sm" w="sm" type="none"/>
                      <a:tailEnd len="sm" w="sm" type="none"/>
                    </a:lnR>
                    <a:lnT cap="flat" cmpd="sng" w="9525">
                      <a:solidFill>
                        <a:srgbClr val="D9E2EA"/>
                      </a:solidFill>
                      <a:prstDash val="solid"/>
                      <a:round/>
                      <a:headEnd len="sm" w="sm" type="none"/>
                      <a:tailEnd len="sm" w="sm" type="none"/>
                    </a:lnT>
                    <a:lnB cap="flat" cmpd="sng" w="9525">
                      <a:solidFill>
                        <a:srgbClr val="D9E2EA"/>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23293B"/>
                        </a:buClr>
                        <a:buSzPts val="1050"/>
                        <a:buFont typeface="Calibri"/>
                        <a:buNone/>
                      </a:pPr>
                      <a:r>
                        <a:rPr lang="en-US" sz="1050" u="none" cap="none" strike="noStrike">
                          <a:solidFill>
                            <a:srgbClr val="23293B"/>
                          </a:solidFill>
                          <a:latin typeface="Calibri"/>
                          <a:ea typeface="Calibri"/>
                          <a:cs typeface="Calibri"/>
                          <a:sym typeface="Calibri"/>
                        </a:rPr>
                        <a:t>release checklist</a:t>
                      </a:r>
                      <a:endParaRPr sz="1050" u="none" cap="none" strike="noStrike">
                        <a:latin typeface="Calibri"/>
                        <a:ea typeface="Calibri"/>
                        <a:cs typeface="Calibri"/>
                        <a:sym typeface="Calibri"/>
                      </a:endParaRPr>
                    </a:p>
                  </a:txBody>
                  <a:tcPr marT="64000" marB="64000" marR="64000" marL="64000" anchor="ctr">
                    <a:lnL cap="flat" cmpd="sng" w="9525">
                      <a:solidFill>
                        <a:srgbClr val="D9E2EA"/>
                      </a:solidFill>
                      <a:prstDash val="solid"/>
                      <a:round/>
                      <a:headEnd len="sm" w="sm" type="none"/>
                      <a:tailEnd len="sm" w="sm" type="none"/>
                    </a:lnL>
                    <a:lnR cap="flat" cmpd="sng" w="9525">
                      <a:solidFill>
                        <a:srgbClr val="D9E2EA"/>
                      </a:solidFill>
                      <a:prstDash val="solid"/>
                      <a:round/>
                      <a:headEnd len="sm" w="sm" type="none"/>
                      <a:tailEnd len="sm" w="sm" type="none"/>
                    </a:lnR>
                    <a:lnT cap="flat" cmpd="sng" w="9525">
                      <a:solidFill>
                        <a:srgbClr val="D9E2EA"/>
                      </a:solidFill>
                      <a:prstDash val="solid"/>
                      <a:round/>
                      <a:headEnd len="sm" w="sm" type="none"/>
                      <a:tailEnd len="sm" w="sm" type="none"/>
                    </a:lnT>
                    <a:lnB cap="flat" cmpd="sng" w="9525">
                      <a:solidFill>
                        <a:srgbClr val="D9E2EA"/>
                      </a:solidFill>
                      <a:prstDash val="solid"/>
                      <a:round/>
                      <a:headEnd len="sm" w="sm" type="none"/>
                      <a:tailEnd len="sm" w="sm" type="none"/>
                    </a:lnB>
                    <a:solidFill>
                      <a:srgbClr val="FFFFFF"/>
                    </a:solidFill>
                  </a:tcPr>
                </a:tc>
              </a:tr>
              <a:tr h="696250">
                <a:tc>
                  <a:txBody>
                    <a:bodyPr/>
                    <a:lstStyle/>
                    <a:p>
                      <a:pPr indent="0" lvl="0" marL="0" marR="0" rtl="0" algn="l">
                        <a:spcBef>
                          <a:spcPts val="0"/>
                        </a:spcBef>
                        <a:spcAft>
                          <a:spcPts val="0"/>
                        </a:spcAft>
                        <a:buClr>
                          <a:srgbClr val="1D2A5C"/>
                        </a:buClr>
                        <a:buSzPts val="1050"/>
                        <a:buFont typeface="Calibri"/>
                        <a:buNone/>
                      </a:pPr>
                      <a:r>
                        <a:rPr b="1" lang="en-US" sz="1050" u="none" cap="none" strike="noStrike">
                          <a:solidFill>
                            <a:srgbClr val="1D2A5C"/>
                          </a:solidFill>
                          <a:latin typeface="Calibri"/>
                          <a:ea typeface="Calibri"/>
                          <a:cs typeface="Calibri"/>
                          <a:sym typeface="Calibri"/>
                        </a:rPr>
                        <a:t>v2 retrain delta (Day 3 H5)</a:t>
                      </a:r>
                      <a:endParaRPr sz="1050" u="none" cap="none" strike="noStrike">
                        <a:latin typeface="Calibri"/>
                        <a:ea typeface="Calibri"/>
                        <a:cs typeface="Calibri"/>
                        <a:sym typeface="Calibri"/>
                      </a:endParaRPr>
                    </a:p>
                  </a:txBody>
                  <a:tcPr marT="64000" marB="64000" marR="64000" marL="64000" anchor="ctr">
                    <a:lnL cap="flat" cmpd="sng" w="9525">
                      <a:solidFill>
                        <a:srgbClr val="D9E2EA"/>
                      </a:solidFill>
                      <a:prstDash val="solid"/>
                      <a:round/>
                      <a:headEnd len="sm" w="sm" type="none"/>
                      <a:tailEnd len="sm" w="sm" type="none"/>
                    </a:lnL>
                    <a:lnR cap="flat" cmpd="sng" w="9525">
                      <a:solidFill>
                        <a:srgbClr val="D9E2EA"/>
                      </a:solidFill>
                      <a:prstDash val="solid"/>
                      <a:round/>
                      <a:headEnd len="sm" w="sm" type="none"/>
                      <a:tailEnd len="sm" w="sm" type="none"/>
                    </a:lnR>
                    <a:lnT cap="flat" cmpd="sng" w="9525">
                      <a:solidFill>
                        <a:srgbClr val="D9E2EA"/>
                      </a:solidFill>
                      <a:prstDash val="solid"/>
                      <a:round/>
                      <a:headEnd len="sm" w="sm" type="none"/>
                      <a:tailEnd len="sm" w="sm" type="none"/>
                    </a:lnT>
                    <a:lnB cap="flat" cmpd="sng" w="9525">
                      <a:solidFill>
                        <a:srgbClr val="D9E2EA"/>
                      </a:solidFill>
                      <a:prstDash val="solid"/>
                      <a:round/>
                      <a:headEnd len="sm" w="sm" type="none"/>
                      <a:tailEnd len="sm" w="sm" type="none"/>
                    </a:lnB>
                    <a:solidFill>
                      <a:srgbClr val="F2F6F9"/>
                    </a:solidFill>
                  </a:tcPr>
                </a:tc>
                <a:tc>
                  <a:txBody>
                    <a:bodyPr/>
                    <a:lstStyle/>
                    <a:p>
                      <a:pPr indent="0" lvl="0" marL="0" marR="0" rtl="0" algn="l">
                        <a:spcBef>
                          <a:spcPts val="0"/>
                        </a:spcBef>
                        <a:spcAft>
                          <a:spcPts val="0"/>
                        </a:spcAft>
                        <a:buClr>
                          <a:srgbClr val="23293B"/>
                        </a:buClr>
                        <a:buSzPts val="1050"/>
                        <a:buFont typeface="Calibri"/>
                        <a:buNone/>
                      </a:pPr>
                      <a:r>
                        <a:rPr lang="en-US" sz="1050" u="none" cap="none" strike="noStrike">
                          <a:solidFill>
                            <a:srgbClr val="23293B"/>
                          </a:solidFill>
                          <a:latin typeface="Calibri"/>
                          <a:ea typeface="Calibri"/>
                          <a:cs typeface="Calibri"/>
                          <a:sym typeface="Calibri"/>
                        </a:rPr>
                        <a:t>insect_damage AP +0.05 or better</a:t>
                      </a:r>
                      <a:endParaRPr sz="1050" u="none" cap="none" strike="noStrike">
                        <a:latin typeface="Calibri"/>
                        <a:ea typeface="Calibri"/>
                        <a:cs typeface="Calibri"/>
                        <a:sym typeface="Calibri"/>
                      </a:endParaRPr>
                    </a:p>
                  </a:txBody>
                  <a:tcPr marT="64000" marB="64000" marR="64000" marL="64000" anchor="ctr">
                    <a:lnL cap="flat" cmpd="sng" w="9525">
                      <a:solidFill>
                        <a:srgbClr val="D9E2EA"/>
                      </a:solidFill>
                      <a:prstDash val="solid"/>
                      <a:round/>
                      <a:headEnd len="sm" w="sm" type="none"/>
                      <a:tailEnd len="sm" w="sm" type="none"/>
                    </a:lnL>
                    <a:lnR cap="flat" cmpd="sng" w="9525">
                      <a:solidFill>
                        <a:srgbClr val="D9E2EA"/>
                      </a:solidFill>
                      <a:prstDash val="solid"/>
                      <a:round/>
                      <a:headEnd len="sm" w="sm" type="none"/>
                      <a:tailEnd len="sm" w="sm" type="none"/>
                    </a:lnR>
                    <a:lnT cap="flat" cmpd="sng" w="9525">
                      <a:solidFill>
                        <a:srgbClr val="D9E2EA"/>
                      </a:solidFill>
                      <a:prstDash val="solid"/>
                      <a:round/>
                      <a:headEnd len="sm" w="sm" type="none"/>
                      <a:tailEnd len="sm" w="sm" type="none"/>
                    </a:lnT>
                    <a:lnB cap="flat" cmpd="sng" w="9525">
                      <a:solidFill>
                        <a:srgbClr val="D9E2EA"/>
                      </a:solidFill>
                      <a:prstDash val="solid"/>
                      <a:round/>
                      <a:headEnd len="sm" w="sm" type="none"/>
                      <a:tailEnd len="sm" w="sm" type="none"/>
                    </a:lnB>
                    <a:solidFill>
                      <a:srgbClr val="F2F6F9"/>
                    </a:solidFill>
                  </a:tcPr>
                </a:tc>
                <a:tc>
                  <a:txBody>
                    <a:bodyPr/>
                    <a:lstStyle/>
                    <a:p>
                      <a:pPr indent="0" lvl="0" marL="0" marR="0" rtl="0" algn="l">
                        <a:spcBef>
                          <a:spcPts val="0"/>
                        </a:spcBef>
                        <a:spcAft>
                          <a:spcPts val="0"/>
                        </a:spcAft>
                        <a:buClr>
                          <a:srgbClr val="23293B"/>
                        </a:buClr>
                        <a:buSzPts val="1050"/>
                        <a:buFont typeface="Calibri"/>
                        <a:buNone/>
                      </a:pPr>
                      <a:r>
                        <a:rPr lang="en-US" sz="1050" u="none" cap="none" strike="noStrike">
                          <a:solidFill>
                            <a:srgbClr val="23293B"/>
                          </a:solidFill>
                          <a:latin typeface="Calibri"/>
                          <a:ea typeface="Calibri"/>
                          <a:cs typeface="Calibri"/>
                          <a:sym typeface="Calibri"/>
                        </a:rPr>
                        <a:t>frozen-test comparison</a:t>
                      </a:r>
                      <a:endParaRPr sz="1050" u="none" cap="none" strike="noStrike">
                        <a:latin typeface="Calibri"/>
                        <a:ea typeface="Calibri"/>
                        <a:cs typeface="Calibri"/>
                        <a:sym typeface="Calibri"/>
                      </a:endParaRPr>
                    </a:p>
                  </a:txBody>
                  <a:tcPr marT="64000" marB="64000" marR="64000" marL="64000" anchor="ctr">
                    <a:lnL cap="flat" cmpd="sng" w="9525">
                      <a:solidFill>
                        <a:srgbClr val="D9E2EA"/>
                      </a:solidFill>
                      <a:prstDash val="solid"/>
                      <a:round/>
                      <a:headEnd len="sm" w="sm" type="none"/>
                      <a:tailEnd len="sm" w="sm" type="none"/>
                    </a:lnL>
                    <a:lnR cap="flat" cmpd="sng" w="9525">
                      <a:solidFill>
                        <a:srgbClr val="D9E2EA"/>
                      </a:solidFill>
                      <a:prstDash val="solid"/>
                      <a:round/>
                      <a:headEnd len="sm" w="sm" type="none"/>
                      <a:tailEnd len="sm" w="sm" type="none"/>
                    </a:lnR>
                    <a:lnT cap="flat" cmpd="sng" w="9525">
                      <a:solidFill>
                        <a:srgbClr val="D9E2EA"/>
                      </a:solidFill>
                      <a:prstDash val="solid"/>
                      <a:round/>
                      <a:headEnd len="sm" w="sm" type="none"/>
                      <a:tailEnd len="sm" w="sm" type="none"/>
                    </a:lnT>
                    <a:lnB cap="flat" cmpd="sng" w="9525">
                      <a:solidFill>
                        <a:srgbClr val="D9E2EA"/>
                      </a:solidFill>
                      <a:prstDash val="solid"/>
                      <a:round/>
                      <a:headEnd len="sm" w="sm" type="none"/>
                      <a:tailEnd len="sm" w="sm" type="none"/>
                    </a:lnB>
                    <a:solidFill>
                      <a:srgbClr val="F2F6F9"/>
                    </a:solidFill>
                  </a:tcPr>
                </a:tc>
              </a:tr>
            </a:tbl>
          </a:graphicData>
        </a:graphic>
      </p:graphicFrame>
    </p:spTree>
  </p:cSld>
  <p:clrMapOvr>
    <a:masterClrMapping/>
  </p:clrMapOvr>
</p:sld>
</file>

<file path=ppt/slides/slide10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41F49"/>
        </a:solidFill>
      </p:bgPr>
    </p:bg>
    <p:spTree>
      <p:nvGrpSpPr>
        <p:cNvPr id="2906" name="Shape 2906"/>
        <p:cNvGrpSpPr/>
        <p:nvPr/>
      </p:nvGrpSpPr>
      <p:grpSpPr>
        <a:xfrm>
          <a:off x="0" y="0"/>
          <a:ext cx="0" cy="0"/>
          <a:chOff x="0" y="0"/>
          <a:chExt cx="0" cy="0"/>
        </a:xfrm>
      </p:grpSpPr>
      <p:sp>
        <p:nvSpPr>
          <p:cNvPr id="2907" name="Google Shape;2907;p105"/>
          <p:cNvSpPr/>
          <p:nvPr/>
        </p:nvSpPr>
        <p:spPr>
          <a:xfrm>
            <a:off x="9418320" y="6149340"/>
            <a:ext cx="411480" cy="356616"/>
          </a:xfrm>
          <a:prstGeom prst="triangle">
            <a:avLst>
              <a:gd fmla="val 50000" name="adj"/>
            </a:avLst>
          </a:prstGeom>
          <a:solidFill>
            <a:srgbClr val="00A79D">
              <a:alpha val="18039"/>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08" name="Google Shape;2908;p105"/>
          <p:cNvSpPr/>
          <p:nvPr/>
        </p:nvSpPr>
        <p:spPr>
          <a:xfrm rot="10800000">
            <a:off x="9857232" y="5806440"/>
            <a:ext cx="411480" cy="356616"/>
          </a:xfrm>
          <a:prstGeom prst="triangle">
            <a:avLst>
              <a:gd fmla="val 50000" name="adj"/>
            </a:avLst>
          </a:prstGeom>
          <a:solidFill>
            <a:srgbClr val="29ABE2">
              <a:alpha val="18039"/>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09" name="Google Shape;2909;p105"/>
          <p:cNvSpPr/>
          <p:nvPr/>
        </p:nvSpPr>
        <p:spPr>
          <a:xfrm rot="10800000">
            <a:off x="9857232" y="6492240"/>
            <a:ext cx="411480" cy="356616"/>
          </a:xfrm>
          <a:prstGeom prst="triangle">
            <a:avLst>
              <a:gd fmla="val 50000" name="adj"/>
            </a:avLst>
          </a:prstGeom>
          <a:solidFill>
            <a:srgbClr val="F58220">
              <a:alpha val="18039"/>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10" name="Google Shape;2910;p105"/>
          <p:cNvSpPr/>
          <p:nvPr/>
        </p:nvSpPr>
        <p:spPr>
          <a:xfrm>
            <a:off x="10296144" y="6149340"/>
            <a:ext cx="411480" cy="356616"/>
          </a:xfrm>
          <a:prstGeom prst="triangle">
            <a:avLst>
              <a:gd fmla="val 50000" name="adj"/>
            </a:avLst>
          </a:prstGeom>
          <a:solidFill>
            <a:srgbClr val="8DC63F">
              <a:alpha val="18039"/>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11" name="Google Shape;2911;p105"/>
          <p:cNvSpPr/>
          <p:nvPr/>
        </p:nvSpPr>
        <p:spPr>
          <a:xfrm>
            <a:off x="10296144" y="5463540"/>
            <a:ext cx="411480" cy="356616"/>
          </a:xfrm>
          <a:prstGeom prst="triangle">
            <a:avLst>
              <a:gd fmla="val 50000" name="adj"/>
            </a:avLst>
          </a:prstGeom>
          <a:solidFill>
            <a:srgbClr val="1D2A5C">
              <a:alpha val="18039"/>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12" name="Google Shape;2912;p105"/>
          <p:cNvSpPr/>
          <p:nvPr/>
        </p:nvSpPr>
        <p:spPr>
          <a:xfrm rot="10800000">
            <a:off x="10735056" y="5806440"/>
            <a:ext cx="411480" cy="356616"/>
          </a:xfrm>
          <a:prstGeom prst="triangle">
            <a:avLst>
              <a:gd fmla="val 50000" name="adj"/>
            </a:avLst>
          </a:prstGeom>
          <a:solidFill>
            <a:srgbClr val="29ABE2">
              <a:alpha val="18039"/>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13" name="Google Shape;2913;p105"/>
          <p:cNvSpPr/>
          <p:nvPr/>
        </p:nvSpPr>
        <p:spPr>
          <a:xfrm>
            <a:off x="10735056" y="6492240"/>
            <a:ext cx="411480" cy="356616"/>
          </a:xfrm>
          <a:prstGeom prst="triangle">
            <a:avLst>
              <a:gd fmla="val 50000" name="adj"/>
            </a:avLst>
          </a:prstGeom>
          <a:solidFill>
            <a:srgbClr val="00A79D">
              <a:alpha val="18039"/>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14" name="Google Shape;2914;p105"/>
          <p:cNvSpPr/>
          <p:nvPr/>
        </p:nvSpPr>
        <p:spPr>
          <a:xfrm rot="10800000">
            <a:off x="11173968" y="6149340"/>
            <a:ext cx="411480" cy="356616"/>
          </a:xfrm>
          <a:prstGeom prst="triangle">
            <a:avLst>
              <a:gd fmla="val 50000" name="adj"/>
            </a:avLst>
          </a:prstGeom>
          <a:solidFill>
            <a:srgbClr val="F58220">
              <a:alpha val="18039"/>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15" name="Google Shape;2915;p105"/>
          <p:cNvSpPr/>
          <p:nvPr/>
        </p:nvSpPr>
        <p:spPr>
          <a:xfrm>
            <a:off x="365760" y="747522"/>
            <a:ext cx="233172" cy="202082"/>
          </a:xfrm>
          <a:prstGeom prst="triangle">
            <a:avLst>
              <a:gd fmla="val 50000" name="adj"/>
            </a:avLst>
          </a:prstGeom>
          <a:solidFill>
            <a:srgbClr val="00A79D">
              <a:alpha val="18039"/>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16" name="Google Shape;2916;p105"/>
          <p:cNvSpPr/>
          <p:nvPr/>
        </p:nvSpPr>
        <p:spPr>
          <a:xfrm rot="10800000">
            <a:off x="614477" y="553212"/>
            <a:ext cx="233172" cy="202082"/>
          </a:xfrm>
          <a:prstGeom prst="triangle">
            <a:avLst>
              <a:gd fmla="val 50000" name="adj"/>
            </a:avLst>
          </a:prstGeom>
          <a:solidFill>
            <a:srgbClr val="29ABE2">
              <a:alpha val="18039"/>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17" name="Google Shape;2917;p105"/>
          <p:cNvSpPr/>
          <p:nvPr/>
        </p:nvSpPr>
        <p:spPr>
          <a:xfrm rot="10800000">
            <a:off x="614477" y="941832"/>
            <a:ext cx="233172" cy="202082"/>
          </a:xfrm>
          <a:prstGeom prst="triangle">
            <a:avLst>
              <a:gd fmla="val 50000" name="adj"/>
            </a:avLst>
          </a:prstGeom>
          <a:solidFill>
            <a:srgbClr val="F58220">
              <a:alpha val="18039"/>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18" name="Google Shape;2918;p105"/>
          <p:cNvSpPr/>
          <p:nvPr/>
        </p:nvSpPr>
        <p:spPr>
          <a:xfrm>
            <a:off x="863194" y="747522"/>
            <a:ext cx="233172" cy="202082"/>
          </a:xfrm>
          <a:prstGeom prst="triangle">
            <a:avLst>
              <a:gd fmla="val 50000" name="adj"/>
            </a:avLst>
          </a:prstGeom>
          <a:solidFill>
            <a:srgbClr val="8DC63F">
              <a:alpha val="18039"/>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19" name="Google Shape;2919;p105"/>
          <p:cNvSpPr/>
          <p:nvPr/>
        </p:nvSpPr>
        <p:spPr>
          <a:xfrm>
            <a:off x="863194" y="358902"/>
            <a:ext cx="233172" cy="202082"/>
          </a:xfrm>
          <a:prstGeom prst="triangle">
            <a:avLst>
              <a:gd fmla="val 50000" name="adj"/>
            </a:avLst>
          </a:prstGeom>
          <a:solidFill>
            <a:srgbClr val="1D2A5C">
              <a:alpha val="18039"/>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20" name="Google Shape;2920;p105"/>
          <p:cNvSpPr/>
          <p:nvPr/>
        </p:nvSpPr>
        <p:spPr>
          <a:xfrm rot="10800000">
            <a:off x="1111910" y="553212"/>
            <a:ext cx="233172" cy="202082"/>
          </a:xfrm>
          <a:prstGeom prst="triangle">
            <a:avLst>
              <a:gd fmla="val 50000" name="adj"/>
            </a:avLst>
          </a:prstGeom>
          <a:solidFill>
            <a:srgbClr val="29ABE2">
              <a:alpha val="18039"/>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21" name="Google Shape;2921;p105"/>
          <p:cNvSpPr/>
          <p:nvPr/>
        </p:nvSpPr>
        <p:spPr>
          <a:xfrm>
            <a:off x="1111910" y="941832"/>
            <a:ext cx="233172" cy="202082"/>
          </a:xfrm>
          <a:prstGeom prst="triangle">
            <a:avLst>
              <a:gd fmla="val 50000" name="adj"/>
            </a:avLst>
          </a:prstGeom>
          <a:solidFill>
            <a:srgbClr val="00A79D">
              <a:alpha val="18039"/>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22" name="Google Shape;2922;p105"/>
          <p:cNvSpPr/>
          <p:nvPr/>
        </p:nvSpPr>
        <p:spPr>
          <a:xfrm rot="10800000">
            <a:off x="1360627" y="747522"/>
            <a:ext cx="233172" cy="202082"/>
          </a:xfrm>
          <a:prstGeom prst="triangle">
            <a:avLst>
              <a:gd fmla="val 50000" name="adj"/>
            </a:avLst>
          </a:prstGeom>
          <a:solidFill>
            <a:srgbClr val="F58220">
              <a:alpha val="18039"/>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23" name="Google Shape;2923;p105"/>
          <p:cNvSpPr/>
          <p:nvPr/>
        </p:nvSpPr>
        <p:spPr>
          <a:xfrm>
            <a:off x="10332720" y="347472"/>
            <a:ext cx="1481328" cy="566928"/>
          </a:xfrm>
          <a:prstGeom prst="roundRect">
            <a:avLst>
              <a:gd fmla="val 14516" name="adj"/>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sessions/blissful-determined-ritchie/build/assets/sdaia_logo.png" id="2924" name="Google Shape;2924;p105"/>
          <p:cNvPicPr preferRelativeResize="0"/>
          <p:nvPr/>
        </p:nvPicPr>
        <p:blipFill rotWithShape="1">
          <a:blip r:embed="rId3">
            <a:alphaModFix/>
          </a:blip>
          <a:srcRect b="0" l="0" r="0" t="0"/>
          <a:stretch/>
        </p:blipFill>
        <p:spPr>
          <a:xfrm>
            <a:off x="10442448" y="438912"/>
            <a:ext cx="1261872" cy="308876"/>
          </a:xfrm>
          <a:prstGeom prst="rect">
            <a:avLst/>
          </a:prstGeom>
          <a:noFill/>
          <a:ln>
            <a:noFill/>
          </a:ln>
        </p:spPr>
      </p:pic>
      <p:sp>
        <p:nvSpPr>
          <p:cNvPr id="2925" name="Google Shape;2925;p105"/>
          <p:cNvSpPr/>
          <p:nvPr/>
        </p:nvSpPr>
        <p:spPr>
          <a:xfrm>
            <a:off x="777240" y="1325880"/>
            <a:ext cx="548640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A79D"/>
              </a:buClr>
              <a:buSzPts val="2000"/>
              <a:buFont typeface="Calibri"/>
              <a:buNone/>
            </a:pPr>
            <a:r>
              <a:rPr b="1" i="0" lang="en-US" sz="2000" u="none" cap="none" strike="noStrike">
                <a:solidFill>
                  <a:srgbClr val="00A79D"/>
                </a:solidFill>
                <a:latin typeface="Calibri"/>
                <a:ea typeface="Calibri"/>
                <a:cs typeface="Calibri"/>
                <a:sym typeface="Calibri"/>
              </a:rPr>
              <a:t>MODULE 6</a:t>
            </a:r>
            <a:endParaRPr b="0" i="0" sz="2000" u="none" cap="none" strike="noStrike">
              <a:solidFill>
                <a:schemeClr val="dk1"/>
              </a:solidFill>
              <a:latin typeface="Calibri"/>
              <a:ea typeface="Calibri"/>
              <a:cs typeface="Calibri"/>
              <a:sym typeface="Calibri"/>
            </a:endParaRPr>
          </a:p>
        </p:txBody>
      </p:sp>
      <p:sp>
        <p:nvSpPr>
          <p:cNvPr id="2926" name="Google Shape;2926;p105"/>
          <p:cNvSpPr/>
          <p:nvPr/>
        </p:nvSpPr>
        <p:spPr>
          <a:xfrm>
            <a:off x="749808" y="1828800"/>
            <a:ext cx="7589520" cy="13716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FFFFFF"/>
              </a:buClr>
              <a:buSzPts val="3600"/>
              <a:buFont typeface="Calibri"/>
              <a:buNone/>
            </a:pPr>
            <a:r>
              <a:rPr b="1" i="0" lang="en-US" sz="3600" u="none" cap="none" strike="noStrike">
                <a:solidFill>
                  <a:srgbClr val="FFFFFF"/>
                </a:solidFill>
                <a:latin typeface="Calibri"/>
                <a:ea typeface="Calibri"/>
                <a:cs typeface="Calibri"/>
                <a:sym typeface="Calibri"/>
              </a:rPr>
              <a:t>Model Evaluation for Vision Tasks</a:t>
            </a:r>
            <a:endParaRPr b="0" i="0" sz="3600" u="none" cap="none" strike="noStrike">
              <a:solidFill>
                <a:schemeClr val="dk1"/>
              </a:solidFill>
              <a:latin typeface="Calibri"/>
              <a:ea typeface="Calibri"/>
              <a:cs typeface="Calibri"/>
              <a:sym typeface="Calibri"/>
            </a:endParaRPr>
          </a:p>
        </p:txBody>
      </p:sp>
      <p:sp>
        <p:nvSpPr>
          <p:cNvPr id="2927" name="Google Shape;2927;p105"/>
          <p:cNvSpPr/>
          <p:nvPr/>
        </p:nvSpPr>
        <p:spPr>
          <a:xfrm>
            <a:off x="777240" y="3127248"/>
            <a:ext cx="758952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B9C8E8"/>
              </a:buClr>
              <a:buSzPts val="1700"/>
              <a:buFont typeface="Arial"/>
              <a:buNone/>
            </a:pPr>
            <a:r>
              <a:rPr b="0" i="0" lang="en-US" sz="1700" u="none" cap="none" strike="noStrike">
                <a:solidFill>
                  <a:srgbClr val="B9C8E8"/>
                </a:solidFill>
                <a:latin typeface="Arial"/>
                <a:ea typeface="Arial"/>
                <a:cs typeface="Arial"/>
                <a:sym typeface="Arial"/>
              </a:rPr>
              <a:t>تقييم النماذج لمهام الرؤية الحاسوبية</a:t>
            </a:r>
            <a:endParaRPr b="0" i="0" sz="1700" u="none" cap="none" strike="noStrike">
              <a:solidFill>
                <a:schemeClr val="dk1"/>
              </a:solidFill>
              <a:latin typeface="Calibri"/>
              <a:ea typeface="Calibri"/>
              <a:cs typeface="Calibri"/>
              <a:sym typeface="Calibri"/>
            </a:endParaRPr>
          </a:p>
        </p:txBody>
      </p:sp>
      <p:sp>
        <p:nvSpPr>
          <p:cNvPr id="2928" name="Google Shape;2928;p105"/>
          <p:cNvSpPr/>
          <p:nvPr/>
        </p:nvSpPr>
        <p:spPr>
          <a:xfrm>
            <a:off x="804672" y="3703320"/>
            <a:ext cx="6949440" cy="2560320"/>
          </a:xfrm>
          <a:prstGeom prst="rect">
            <a:avLst/>
          </a:prstGeom>
          <a:noFill/>
          <a:ln>
            <a:noFill/>
          </a:ln>
        </p:spPr>
        <p:txBody>
          <a:bodyPr anchorCtr="0" anchor="t" bIns="0" lIns="0" spcFirstLastPara="1" rIns="0" wrap="square" tIns="0">
            <a:noAutofit/>
          </a:bodyPr>
          <a:lstStyle/>
          <a:p>
            <a:pPr indent="-177800" lvl="0" marL="177800" marR="0" rtl="0" algn="l">
              <a:spcBef>
                <a:spcPts val="0"/>
              </a:spcBef>
              <a:spcAft>
                <a:spcPts val="0"/>
              </a:spcAft>
              <a:buClr>
                <a:srgbClr val="DCE6F8"/>
              </a:buClr>
              <a:buSzPts val="1300"/>
              <a:buFont typeface="Calibri"/>
              <a:buChar char="▪"/>
            </a:pPr>
            <a:r>
              <a:rPr b="0" i="0" lang="en-US" sz="1300" u="none" cap="none" strike="noStrike">
                <a:solidFill>
                  <a:srgbClr val="DCE6F8"/>
                </a:solidFill>
                <a:latin typeface="Calibri"/>
                <a:ea typeface="Calibri"/>
                <a:cs typeface="Calibri"/>
                <a:sym typeface="Calibri"/>
              </a:rPr>
              <a:t>IoU and the matching problem</a:t>
            </a:r>
            <a:endParaRPr b="0" i="0" sz="1300" u="none" cap="none" strike="noStrike">
              <a:solidFill>
                <a:schemeClr val="dk1"/>
              </a:solidFill>
              <a:latin typeface="Calibri"/>
              <a:ea typeface="Calibri"/>
              <a:cs typeface="Calibri"/>
              <a:sym typeface="Calibri"/>
            </a:endParaRPr>
          </a:p>
          <a:p>
            <a:pPr indent="-177800" lvl="0" marL="177800" marR="0" rtl="0" algn="l">
              <a:spcBef>
                <a:spcPts val="800"/>
              </a:spcBef>
              <a:spcAft>
                <a:spcPts val="0"/>
              </a:spcAft>
              <a:buClr>
                <a:srgbClr val="DCE6F8"/>
              </a:buClr>
              <a:buSzPts val="1300"/>
              <a:buFont typeface="Calibri"/>
              <a:buChar char="▪"/>
            </a:pPr>
            <a:r>
              <a:rPr b="0" i="0" lang="en-US" sz="1300" u="none" cap="none" strike="noStrike">
                <a:solidFill>
                  <a:srgbClr val="DCE6F8"/>
                </a:solidFill>
                <a:latin typeface="Calibri"/>
                <a:ea typeface="Calibri"/>
                <a:cs typeface="Calibri"/>
                <a:sym typeface="Calibri"/>
              </a:rPr>
              <a:t>Precision, recall, AP and the mAP variants</a:t>
            </a:r>
            <a:endParaRPr b="0" i="0" sz="1300" u="none" cap="none" strike="noStrike">
              <a:solidFill>
                <a:schemeClr val="dk1"/>
              </a:solidFill>
              <a:latin typeface="Calibri"/>
              <a:ea typeface="Calibri"/>
              <a:cs typeface="Calibri"/>
              <a:sym typeface="Calibri"/>
            </a:endParaRPr>
          </a:p>
          <a:p>
            <a:pPr indent="-177800" lvl="0" marL="177800" marR="0" rtl="0" algn="l">
              <a:spcBef>
                <a:spcPts val="800"/>
              </a:spcBef>
              <a:spcAft>
                <a:spcPts val="0"/>
              </a:spcAft>
              <a:buClr>
                <a:srgbClr val="DCE6F8"/>
              </a:buClr>
              <a:buSzPts val="1300"/>
              <a:buFont typeface="Calibri"/>
              <a:buChar char="▪"/>
            </a:pPr>
            <a:r>
              <a:rPr b="0" i="0" lang="en-US" sz="1300" u="none" cap="none" strike="noStrike">
                <a:solidFill>
                  <a:srgbClr val="DCE6F8"/>
                </a:solidFill>
                <a:latin typeface="Calibri"/>
                <a:ea typeface="Calibri"/>
                <a:cs typeface="Calibri"/>
                <a:sym typeface="Calibri"/>
              </a:rPr>
              <a:t>Slices: the aggregate is always hiding something</a:t>
            </a:r>
            <a:endParaRPr b="0" i="0" sz="1300" u="none" cap="none" strike="noStrike">
              <a:solidFill>
                <a:schemeClr val="dk1"/>
              </a:solidFill>
              <a:latin typeface="Calibri"/>
              <a:ea typeface="Calibri"/>
              <a:cs typeface="Calibri"/>
              <a:sym typeface="Calibri"/>
            </a:endParaRPr>
          </a:p>
          <a:p>
            <a:pPr indent="-177800" lvl="0" marL="177800" marR="0" rtl="0" algn="l">
              <a:spcBef>
                <a:spcPts val="800"/>
              </a:spcBef>
              <a:spcAft>
                <a:spcPts val="0"/>
              </a:spcAft>
              <a:buClr>
                <a:srgbClr val="DCE6F8"/>
              </a:buClr>
              <a:buSzPts val="1300"/>
              <a:buFont typeface="Calibri"/>
              <a:buChar char="▪"/>
            </a:pPr>
            <a:r>
              <a:rPr b="0" i="0" lang="en-US" sz="1300" u="none" cap="none" strike="noStrike">
                <a:solidFill>
                  <a:srgbClr val="DCE6F8"/>
                </a:solidFill>
                <a:latin typeface="Calibri"/>
                <a:ea typeface="Calibri"/>
                <a:cs typeface="Calibri"/>
                <a:sym typeface="Calibri"/>
              </a:rPr>
              <a:t>Error taxonomy + the harness as an engineering artefact</a:t>
            </a:r>
            <a:endParaRPr b="0" i="0" sz="1300" u="none" cap="none" strike="noStrike">
              <a:solidFill>
                <a:schemeClr val="dk1"/>
              </a:solidFill>
              <a:latin typeface="Calibri"/>
              <a:ea typeface="Calibri"/>
              <a:cs typeface="Calibri"/>
              <a:sym typeface="Calibri"/>
            </a:endParaRPr>
          </a:p>
        </p:txBody>
      </p:sp>
      <p:sp>
        <p:nvSpPr>
          <p:cNvPr id="2929" name="Google Shape;2929;p105"/>
          <p:cNvSpPr/>
          <p:nvPr/>
        </p:nvSpPr>
        <p:spPr>
          <a:xfrm>
            <a:off x="8366760" y="3520440"/>
            <a:ext cx="3383280" cy="2286000"/>
          </a:xfrm>
          <a:prstGeom prst="roundRect">
            <a:avLst>
              <a:gd fmla="val 4000" name="adj"/>
            </a:avLst>
          </a:prstGeom>
          <a:solidFill>
            <a:srgbClr val="1C2C63"/>
          </a:solidFill>
          <a:ln cap="flat" cmpd="sng" w="15875">
            <a:solidFill>
              <a:srgbClr val="00A79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30" name="Google Shape;2930;p105"/>
          <p:cNvSpPr/>
          <p:nvPr/>
        </p:nvSpPr>
        <p:spPr>
          <a:xfrm>
            <a:off x="8595360" y="3703320"/>
            <a:ext cx="292608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A79D"/>
              </a:buClr>
              <a:buSzPts val="1000"/>
              <a:buFont typeface="Calibri"/>
              <a:buNone/>
            </a:pPr>
            <a:r>
              <a:rPr b="1" i="0" lang="en-US" sz="1000" u="none" cap="none" strike="noStrike">
                <a:solidFill>
                  <a:srgbClr val="00A79D"/>
                </a:solidFill>
                <a:latin typeface="Calibri"/>
                <a:ea typeface="Calibri"/>
                <a:cs typeface="Calibri"/>
                <a:sym typeface="Calibri"/>
              </a:rPr>
              <a:t>MODULE OUTCOME</a:t>
            </a:r>
            <a:endParaRPr b="0" i="0" sz="1000" u="none" cap="none" strike="noStrike">
              <a:solidFill>
                <a:schemeClr val="dk1"/>
              </a:solidFill>
              <a:latin typeface="Calibri"/>
              <a:ea typeface="Calibri"/>
              <a:cs typeface="Calibri"/>
              <a:sym typeface="Calibri"/>
            </a:endParaRPr>
          </a:p>
        </p:txBody>
      </p:sp>
      <p:sp>
        <p:nvSpPr>
          <p:cNvPr id="2931" name="Google Shape;2931;p105"/>
          <p:cNvSpPr/>
          <p:nvPr/>
        </p:nvSpPr>
        <p:spPr>
          <a:xfrm>
            <a:off x="8595360" y="4041648"/>
            <a:ext cx="2971800" cy="16002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FFFFFF"/>
              </a:buClr>
              <a:buSzPts val="1250"/>
              <a:buFont typeface="Calibri"/>
              <a:buNone/>
            </a:pPr>
            <a:r>
              <a:rPr b="0" i="0" lang="en-US" sz="1250" u="none" cap="none" strike="noStrike">
                <a:solidFill>
                  <a:srgbClr val="FFFFFF"/>
                </a:solidFill>
                <a:latin typeface="Calibri"/>
                <a:ea typeface="Calibri"/>
                <a:cs typeface="Calibri"/>
                <a:sym typeface="Calibri"/>
              </a:rPr>
              <a:t>A deterministic, versioned evaluation harness with per-class and per-slice reporting — the capstone's referee and regression gate</a:t>
            </a:r>
            <a:endParaRPr b="0" i="0" sz="1250" u="none" cap="none" strike="noStrike">
              <a:solidFill>
                <a:schemeClr val="dk1"/>
              </a:solidFill>
              <a:latin typeface="Calibri"/>
              <a:ea typeface="Calibri"/>
              <a:cs typeface="Calibri"/>
              <a:sym typeface="Calibri"/>
            </a:endParaRPr>
          </a:p>
        </p:txBody>
      </p:sp>
      <p:sp>
        <p:nvSpPr>
          <p:cNvPr id="2932" name="Google Shape;2932;p105"/>
          <p:cNvSpPr/>
          <p:nvPr/>
        </p:nvSpPr>
        <p:spPr>
          <a:xfrm>
            <a:off x="11292840" y="6528816"/>
            <a:ext cx="411480" cy="219456"/>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5A6A96"/>
              </a:buClr>
              <a:buSzPts val="900"/>
              <a:buFont typeface="Calibri"/>
              <a:buNone/>
            </a:pPr>
            <a:r>
              <a:rPr b="0" i="0" lang="en-US" sz="900" u="none" cap="none" strike="noStrike">
                <a:solidFill>
                  <a:srgbClr val="5A6A96"/>
                </a:solidFill>
                <a:latin typeface="Calibri"/>
                <a:ea typeface="Calibri"/>
                <a:cs typeface="Calibri"/>
                <a:sym typeface="Calibri"/>
              </a:rPr>
              <a:t>105</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10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937" name="Shape 2937"/>
        <p:cNvGrpSpPr/>
        <p:nvPr/>
      </p:nvGrpSpPr>
      <p:grpSpPr>
        <a:xfrm>
          <a:off x="0" y="0"/>
          <a:ext cx="0" cy="0"/>
          <a:chOff x="0" y="0"/>
          <a:chExt cx="0" cy="0"/>
        </a:xfrm>
      </p:grpSpPr>
      <p:sp>
        <p:nvSpPr>
          <p:cNvPr id="2938" name="Google Shape;2938;p107"/>
          <p:cNvSpPr/>
          <p:nvPr/>
        </p:nvSpPr>
        <p:spPr>
          <a:xfrm>
            <a:off x="502920" y="274320"/>
            <a:ext cx="9646920" cy="56692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D2A5C"/>
              </a:buClr>
              <a:buSzPts val="2700"/>
              <a:buFont typeface="Calibri"/>
              <a:buNone/>
            </a:pPr>
            <a:r>
              <a:rPr b="1" i="0" lang="en-US" sz="2700" u="none" cap="none" strike="noStrike">
                <a:solidFill>
                  <a:srgbClr val="1D2A5C"/>
                </a:solidFill>
                <a:latin typeface="Calibri"/>
                <a:ea typeface="Calibri"/>
                <a:cs typeface="Calibri"/>
                <a:sym typeface="Calibri"/>
              </a:rPr>
              <a:t>Industry Use Cases</a:t>
            </a:r>
            <a:endParaRPr b="0" i="0" sz="2700" u="none" cap="none" strike="noStrike">
              <a:solidFill>
                <a:schemeClr val="dk1"/>
              </a:solidFill>
              <a:latin typeface="Calibri"/>
              <a:ea typeface="Calibri"/>
              <a:cs typeface="Calibri"/>
              <a:sym typeface="Calibri"/>
            </a:endParaRPr>
          </a:p>
        </p:txBody>
      </p:sp>
      <p:sp>
        <p:nvSpPr>
          <p:cNvPr id="2939" name="Google Shape;2939;p107"/>
          <p:cNvSpPr/>
          <p:nvPr/>
        </p:nvSpPr>
        <p:spPr>
          <a:xfrm>
            <a:off x="502920" y="859536"/>
            <a:ext cx="9646920" cy="31089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F6B7A"/>
              </a:buClr>
              <a:buSzPts val="1250"/>
              <a:buFont typeface="Arial"/>
              <a:buNone/>
            </a:pPr>
            <a:r>
              <a:rPr b="0" i="0" lang="en-US" sz="1250" u="none" cap="none" strike="noStrike">
                <a:solidFill>
                  <a:srgbClr val="5F6B7A"/>
                </a:solidFill>
                <a:latin typeface="Arial"/>
                <a:ea typeface="Arial"/>
                <a:cs typeface="Arial"/>
                <a:sym typeface="Arial"/>
              </a:rPr>
              <a:t>حالات استخدام صناعية</a:t>
            </a:r>
            <a:endParaRPr b="0" i="0" sz="1250" u="none" cap="none" strike="noStrike">
              <a:solidFill>
                <a:schemeClr val="dk1"/>
              </a:solidFill>
              <a:latin typeface="Calibri"/>
              <a:ea typeface="Calibri"/>
              <a:cs typeface="Calibri"/>
              <a:sym typeface="Calibri"/>
            </a:endParaRPr>
          </a:p>
        </p:txBody>
      </p:sp>
      <p:pic>
        <p:nvPicPr>
          <p:cNvPr descr="/sessions/blissful-determined-ritchie/build/assets/sdaia_logo.png" id="2940" name="Google Shape;2940;p107"/>
          <p:cNvPicPr preferRelativeResize="0"/>
          <p:nvPr/>
        </p:nvPicPr>
        <p:blipFill rotWithShape="1">
          <a:blip r:embed="rId3">
            <a:alphaModFix/>
          </a:blip>
          <a:srcRect b="0" l="0" r="0" t="0"/>
          <a:stretch/>
        </p:blipFill>
        <p:spPr>
          <a:xfrm>
            <a:off x="10625328" y="310896"/>
            <a:ext cx="1078992" cy="264111"/>
          </a:xfrm>
          <a:prstGeom prst="rect">
            <a:avLst/>
          </a:prstGeom>
          <a:noFill/>
          <a:ln>
            <a:noFill/>
          </a:ln>
        </p:spPr>
      </p:pic>
      <p:sp>
        <p:nvSpPr>
          <p:cNvPr id="2941" name="Google Shape;2941;p107"/>
          <p:cNvSpPr/>
          <p:nvPr/>
        </p:nvSpPr>
        <p:spPr>
          <a:xfrm>
            <a:off x="502920" y="6528816"/>
            <a:ext cx="8686800"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A79D"/>
              </a:buClr>
              <a:buSzPts val="800"/>
              <a:buFont typeface="Calibri"/>
              <a:buNone/>
            </a:pPr>
            <a:r>
              <a:rPr b="1" i="0" lang="en-US" sz="800" u="none" cap="none" strike="noStrike">
                <a:solidFill>
                  <a:srgbClr val="00A79D"/>
                </a:solidFill>
                <a:latin typeface="Calibri"/>
                <a:ea typeface="Calibri"/>
                <a:cs typeface="Calibri"/>
                <a:sym typeface="Calibri"/>
              </a:rPr>
              <a:t>MODULE 6   </a:t>
            </a:r>
            <a:r>
              <a:rPr b="0" i="0" lang="en-US" sz="800" u="none" cap="none" strike="noStrike">
                <a:solidFill>
                  <a:srgbClr val="8A96A6"/>
                </a:solidFill>
                <a:latin typeface="Calibri"/>
                <a:ea typeface="Calibri"/>
                <a:cs typeface="Calibri"/>
                <a:sym typeface="Calibri"/>
              </a:rPr>
              <a:t>SDA-AIE-212 · Computer Vision Systems Development</a:t>
            </a:r>
            <a:endParaRPr b="0" i="0" sz="800" u="none" cap="none" strike="noStrike">
              <a:solidFill>
                <a:schemeClr val="dk1"/>
              </a:solidFill>
              <a:latin typeface="Calibri"/>
              <a:ea typeface="Calibri"/>
              <a:cs typeface="Calibri"/>
              <a:sym typeface="Calibri"/>
            </a:endParaRPr>
          </a:p>
        </p:txBody>
      </p:sp>
      <p:sp>
        <p:nvSpPr>
          <p:cNvPr id="2942" name="Google Shape;2942;p107"/>
          <p:cNvSpPr/>
          <p:nvPr/>
        </p:nvSpPr>
        <p:spPr>
          <a:xfrm>
            <a:off x="11292840" y="6528816"/>
            <a:ext cx="411480" cy="219456"/>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8A96A6"/>
              </a:buClr>
              <a:buSzPts val="900"/>
              <a:buFont typeface="Calibri"/>
              <a:buNone/>
            </a:pPr>
            <a:r>
              <a:rPr b="0" i="0" lang="en-US" sz="900" u="none" cap="none" strike="noStrike">
                <a:solidFill>
                  <a:srgbClr val="8A96A6"/>
                </a:solidFill>
                <a:latin typeface="Calibri"/>
                <a:ea typeface="Calibri"/>
                <a:cs typeface="Calibri"/>
                <a:sym typeface="Calibri"/>
              </a:rPr>
              <a:t>107</a:t>
            </a:r>
            <a:endParaRPr b="0" i="0" sz="900" u="none" cap="none" strike="noStrike">
              <a:solidFill>
                <a:schemeClr val="dk1"/>
              </a:solidFill>
              <a:latin typeface="Calibri"/>
              <a:ea typeface="Calibri"/>
              <a:cs typeface="Calibri"/>
              <a:sym typeface="Calibri"/>
            </a:endParaRPr>
          </a:p>
        </p:txBody>
      </p:sp>
      <p:sp>
        <p:nvSpPr>
          <p:cNvPr id="2943" name="Google Shape;2943;p107"/>
          <p:cNvSpPr/>
          <p:nvPr/>
        </p:nvSpPr>
        <p:spPr>
          <a:xfrm>
            <a:off x="502920" y="1389888"/>
            <a:ext cx="5455768" cy="2354580"/>
          </a:xfrm>
          <a:prstGeom prst="roundRect">
            <a:avLst>
              <a:gd fmla="val 3107" name="adj"/>
            </a:avLst>
          </a:prstGeom>
          <a:solidFill>
            <a:srgbClr val="F2F6F9"/>
          </a:solidFill>
          <a:ln cap="flat" cmpd="sng" w="12700">
            <a:solidFill>
              <a:srgbClr val="D9E2E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44" name="Google Shape;2944;p107"/>
          <p:cNvSpPr/>
          <p:nvPr/>
        </p:nvSpPr>
        <p:spPr>
          <a:xfrm>
            <a:off x="667512" y="1536192"/>
            <a:ext cx="310896" cy="310896"/>
          </a:xfrm>
          <a:prstGeom prst="ellipse">
            <a:avLst/>
          </a:prstGeom>
          <a:solidFill>
            <a:srgbClr val="00A79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45" name="Google Shape;2945;p107"/>
          <p:cNvSpPr/>
          <p:nvPr/>
        </p:nvSpPr>
        <p:spPr>
          <a:xfrm>
            <a:off x="667512" y="1536192"/>
            <a:ext cx="310896" cy="31089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200"/>
              <a:buFont typeface="Calibri"/>
              <a:buNone/>
            </a:pPr>
            <a:r>
              <a:rPr b="1" i="0" lang="en-US" sz="1200" u="none" cap="none" strike="noStrike">
                <a:solidFill>
                  <a:srgbClr val="FFFFFF"/>
                </a:solidFill>
                <a:latin typeface="Calibri"/>
                <a:ea typeface="Calibri"/>
                <a:cs typeface="Calibri"/>
                <a:sym typeface="Calibri"/>
              </a:rPr>
              <a:t>1</a:t>
            </a:r>
            <a:endParaRPr b="0" i="0" sz="1200" u="none" cap="none" strike="noStrike">
              <a:solidFill>
                <a:schemeClr val="dk1"/>
              </a:solidFill>
              <a:latin typeface="Calibri"/>
              <a:ea typeface="Calibri"/>
              <a:cs typeface="Calibri"/>
              <a:sym typeface="Calibri"/>
            </a:endParaRPr>
          </a:p>
        </p:txBody>
      </p:sp>
      <p:sp>
        <p:nvSpPr>
          <p:cNvPr id="2946" name="Google Shape;2946;p107"/>
          <p:cNvSpPr/>
          <p:nvPr/>
        </p:nvSpPr>
        <p:spPr>
          <a:xfrm>
            <a:off x="1088136" y="1499616"/>
            <a:ext cx="4724248" cy="38404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D2A5C"/>
              </a:buClr>
              <a:buSzPts val="1250"/>
              <a:buFont typeface="Calibri"/>
              <a:buNone/>
            </a:pPr>
            <a:r>
              <a:rPr b="1" i="0" lang="en-US" sz="1250" u="none" cap="none" strike="noStrike">
                <a:solidFill>
                  <a:srgbClr val="1D2A5C"/>
                </a:solidFill>
                <a:latin typeface="Calibri"/>
                <a:ea typeface="Calibri"/>
                <a:cs typeface="Calibri"/>
                <a:sym typeface="Calibri"/>
              </a:rPr>
              <a:t>Tamr Vision harness</a:t>
            </a:r>
            <a:endParaRPr b="0" i="0" sz="1250" u="none" cap="none" strike="noStrike">
              <a:solidFill>
                <a:schemeClr val="dk1"/>
              </a:solidFill>
              <a:latin typeface="Calibri"/>
              <a:ea typeface="Calibri"/>
              <a:cs typeface="Calibri"/>
              <a:sym typeface="Calibri"/>
            </a:endParaRPr>
          </a:p>
        </p:txBody>
      </p:sp>
      <p:sp>
        <p:nvSpPr>
          <p:cNvPr id="2947" name="Google Shape;2947;p107"/>
          <p:cNvSpPr/>
          <p:nvPr/>
        </p:nvSpPr>
        <p:spPr>
          <a:xfrm>
            <a:off x="685800" y="1920240"/>
            <a:ext cx="5090008" cy="17145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5F6B7A"/>
              </a:buClr>
              <a:buSzPts val="1100"/>
              <a:buFont typeface="Calibri"/>
              <a:buNone/>
            </a:pPr>
            <a:r>
              <a:rPr b="0" i="0" lang="en-US" sz="1100" u="none" cap="none" strike="noStrike">
                <a:solidFill>
                  <a:srgbClr val="5F6B7A"/>
                </a:solidFill>
                <a:latin typeface="Calibri"/>
                <a:ea typeface="Calibri"/>
                <a:cs typeface="Calibri"/>
                <a:sym typeface="Calibri"/>
              </a:rPr>
              <a:t>Per-class, per-session, per-fruit-size slices over the frozen v1 test split; proved v2's insect_damage +0.089 was real, not test-set drift.</a:t>
            </a:r>
            <a:endParaRPr b="0" i="0" sz="1100" u="none" cap="none" strike="noStrike">
              <a:solidFill>
                <a:schemeClr val="dk1"/>
              </a:solidFill>
              <a:latin typeface="Calibri"/>
              <a:ea typeface="Calibri"/>
              <a:cs typeface="Calibri"/>
              <a:sym typeface="Calibri"/>
            </a:endParaRPr>
          </a:p>
        </p:txBody>
      </p:sp>
      <p:sp>
        <p:nvSpPr>
          <p:cNvPr id="2948" name="Google Shape;2948;p107"/>
          <p:cNvSpPr/>
          <p:nvPr/>
        </p:nvSpPr>
        <p:spPr>
          <a:xfrm>
            <a:off x="6233008" y="1389888"/>
            <a:ext cx="5455768" cy="2354580"/>
          </a:xfrm>
          <a:prstGeom prst="roundRect">
            <a:avLst>
              <a:gd fmla="val 3107" name="adj"/>
            </a:avLst>
          </a:prstGeom>
          <a:solidFill>
            <a:srgbClr val="F2F6F9"/>
          </a:solidFill>
          <a:ln cap="flat" cmpd="sng" w="12700">
            <a:solidFill>
              <a:srgbClr val="D9E2E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49" name="Google Shape;2949;p107"/>
          <p:cNvSpPr/>
          <p:nvPr/>
        </p:nvSpPr>
        <p:spPr>
          <a:xfrm>
            <a:off x="6397600" y="1536192"/>
            <a:ext cx="310896" cy="310896"/>
          </a:xfrm>
          <a:prstGeom prst="ellipse">
            <a:avLst/>
          </a:prstGeom>
          <a:solidFill>
            <a:srgbClr val="29ABE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50" name="Google Shape;2950;p107"/>
          <p:cNvSpPr/>
          <p:nvPr/>
        </p:nvSpPr>
        <p:spPr>
          <a:xfrm>
            <a:off x="6397600" y="1536192"/>
            <a:ext cx="310896" cy="31089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200"/>
              <a:buFont typeface="Calibri"/>
              <a:buNone/>
            </a:pPr>
            <a:r>
              <a:rPr b="1" i="0" lang="en-US" sz="1200" u="none" cap="none" strike="noStrike">
                <a:solidFill>
                  <a:srgbClr val="FFFFFF"/>
                </a:solidFill>
                <a:latin typeface="Calibri"/>
                <a:ea typeface="Calibri"/>
                <a:cs typeface="Calibri"/>
                <a:sym typeface="Calibri"/>
              </a:rPr>
              <a:t>2</a:t>
            </a:r>
            <a:endParaRPr b="0" i="0" sz="1200" u="none" cap="none" strike="noStrike">
              <a:solidFill>
                <a:schemeClr val="dk1"/>
              </a:solidFill>
              <a:latin typeface="Calibri"/>
              <a:ea typeface="Calibri"/>
              <a:cs typeface="Calibri"/>
              <a:sym typeface="Calibri"/>
            </a:endParaRPr>
          </a:p>
        </p:txBody>
      </p:sp>
      <p:sp>
        <p:nvSpPr>
          <p:cNvPr id="2951" name="Google Shape;2951;p107"/>
          <p:cNvSpPr/>
          <p:nvPr/>
        </p:nvSpPr>
        <p:spPr>
          <a:xfrm>
            <a:off x="6818224" y="1499616"/>
            <a:ext cx="4724248" cy="38404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D2A5C"/>
              </a:buClr>
              <a:buSzPts val="1250"/>
              <a:buFont typeface="Calibri"/>
              <a:buNone/>
            </a:pPr>
            <a:r>
              <a:rPr b="1" i="0" lang="en-US" sz="1250" u="none" cap="none" strike="noStrike">
                <a:solidFill>
                  <a:srgbClr val="1D2A5C"/>
                </a:solidFill>
                <a:latin typeface="Calibri"/>
                <a:ea typeface="Calibri"/>
                <a:cs typeface="Calibri"/>
                <a:sym typeface="Calibri"/>
              </a:rPr>
              <a:t>Riyadh smart traffic</a:t>
            </a:r>
            <a:endParaRPr b="0" i="0" sz="1250" u="none" cap="none" strike="noStrike">
              <a:solidFill>
                <a:schemeClr val="dk1"/>
              </a:solidFill>
              <a:latin typeface="Calibri"/>
              <a:ea typeface="Calibri"/>
              <a:cs typeface="Calibri"/>
              <a:sym typeface="Calibri"/>
            </a:endParaRPr>
          </a:p>
        </p:txBody>
      </p:sp>
      <p:sp>
        <p:nvSpPr>
          <p:cNvPr id="2952" name="Google Shape;2952;p107"/>
          <p:cNvSpPr/>
          <p:nvPr/>
        </p:nvSpPr>
        <p:spPr>
          <a:xfrm>
            <a:off x="6415888" y="1920240"/>
            <a:ext cx="5090008" cy="17145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5F6B7A"/>
              </a:buClr>
              <a:buSzPts val="1100"/>
              <a:buFont typeface="Calibri"/>
              <a:buNone/>
            </a:pPr>
            <a:r>
              <a:rPr b="0" i="0" lang="en-US" sz="1100" u="none" cap="none" strike="noStrike">
                <a:solidFill>
                  <a:srgbClr val="5F6B7A"/>
                </a:solidFill>
                <a:latin typeface="Calibri"/>
                <a:ea typeface="Calibri"/>
                <a:cs typeface="Calibri"/>
                <a:sym typeface="Calibri"/>
              </a:rPr>
              <a:t>Fleet vehicle-detection mAP of 0.91 concealed 0.62 recall on motorcycles at night — found by class x time-of-day slicing after two misses.</a:t>
            </a:r>
            <a:endParaRPr b="0" i="0" sz="1100" u="none" cap="none" strike="noStrike">
              <a:solidFill>
                <a:schemeClr val="dk1"/>
              </a:solidFill>
              <a:latin typeface="Calibri"/>
              <a:ea typeface="Calibri"/>
              <a:cs typeface="Calibri"/>
              <a:sym typeface="Calibri"/>
            </a:endParaRPr>
          </a:p>
        </p:txBody>
      </p:sp>
      <p:sp>
        <p:nvSpPr>
          <p:cNvPr id="2953" name="Google Shape;2953;p107"/>
          <p:cNvSpPr/>
          <p:nvPr/>
        </p:nvSpPr>
        <p:spPr>
          <a:xfrm>
            <a:off x="502920" y="4000500"/>
            <a:ext cx="5455768" cy="2354580"/>
          </a:xfrm>
          <a:prstGeom prst="roundRect">
            <a:avLst>
              <a:gd fmla="val 3107" name="adj"/>
            </a:avLst>
          </a:prstGeom>
          <a:solidFill>
            <a:srgbClr val="F2F6F9"/>
          </a:solidFill>
          <a:ln cap="flat" cmpd="sng" w="12700">
            <a:solidFill>
              <a:srgbClr val="D9E2E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54" name="Google Shape;2954;p107"/>
          <p:cNvSpPr/>
          <p:nvPr/>
        </p:nvSpPr>
        <p:spPr>
          <a:xfrm>
            <a:off x="667512" y="4146804"/>
            <a:ext cx="310896" cy="310896"/>
          </a:xfrm>
          <a:prstGeom prst="ellipse">
            <a:avLst/>
          </a:prstGeom>
          <a:solidFill>
            <a:srgbClr val="F5822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55" name="Google Shape;2955;p107"/>
          <p:cNvSpPr/>
          <p:nvPr/>
        </p:nvSpPr>
        <p:spPr>
          <a:xfrm>
            <a:off x="667512" y="4146804"/>
            <a:ext cx="310896" cy="31089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200"/>
              <a:buFont typeface="Calibri"/>
              <a:buNone/>
            </a:pPr>
            <a:r>
              <a:rPr b="1" i="0" lang="en-US" sz="1200" u="none" cap="none" strike="noStrike">
                <a:solidFill>
                  <a:srgbClr val="FFFFFF"/>
                </a:solidFill>
                <a:latin typeface="Calibri"/>
                <a:ea typeface="Calibri"/>
                <a:cs typeface="Calibri"/>
                <a:sym typeface="Calibri"/>
              </a:rPr>
              <a:t>3</a:t>
            </a:r>
            <a:endParaRPr b="0" i="0" sz="1200" u="none" cap="none" strike="noStrike">
              <a:solidFill>
                <a:schemeClr val="dk1"/>
              </a:solidFill>
              <a:latin typeface="Calibri"/>
              <a:ea typeface="Calibri"/>
              <a:cs typeface="Calibri"/>
              <a:sym typeface="Calibri"/>
            </a:endParaRPr>
          </a:p>
        </p:txBody>
      </p:sp>
      <p:sp>
        <p:nvSpPr>
          <p:cNvPr id="2956" name="Google Shape;2956;p107"/>
          <p:cNvSpPr/>
          <p:nvPr/>
        </p:nvSpPr>
        <p:spPr>
          <a:xfrm>
            <a:off x="1088136" y="4110228"/>
            <a:ext cx="4724248" cy="38404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D2A5C"/>
              </a:buClr>
              <a:buSzPts val="1250"/>
              <a:buFont typeface="Calibri"/>
              <a:buNone/>
            </a:pPr>
            <a:r>
              <a:rPr b="1" i="0" lang="en-US" sz="1250" u="none" cap="none" strike="noStrike">
                <a:solidFill>
                  <a:srgbClr val="1D2A5C"/>
                </a:solidFill>
                <a:latin typeface="Calibri"/>
                <a:ea typeface="Calibri"/>
                <a:cs typeface="Calibri"/>
                <a:sym typeface="Calibri"/>
              </a:rPr>
              <a:t>Regional bank documents</a:t>
            </a:r>
            <a:endParaRPr b="0" i="0" sz="1250" u="none" cap="none" strike="noStrike">
              <a:solidFill>
                <a:schemeClr val="dk1"/>
              </a:solidFill>
              <a:latin typeface="Calibri"/>
              <a:ea typeface="Calibri"/>
              <a:cs typeface="Calibri"/>
              <a:sym typeface="Calibri"/>
            </a:endParaRPr>
          </a:p>
        </p:txBody>
      </p:sp>
      <p:sp>
        <p:nvSpPr>
          <p:cNvPr id="2957" name="Google Shape;2957;p107"/>
          <p:cNvSpPr/>
          <p:nvPr/>
        </p:nvSpPr>
        <p:spPr>
          <a:xfrm>
            <a:off x="685800" y="4530852"/>
            <a:ext cx="5090008" cy="17145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5F6B7A"/>
              </a:buClr>
              <a:buSzPts val="1100"/>
              <a:buFont typeface="Calibri"/>
              <a:buNone/>
            </a:pPr>
            <a:r>
              <a:rPr b="0" i="0" lang="en-US" sz="1100" u="none" cap="none" strike="noStrike">
                <a:solidFill>
                  <a:srgbClr val="5F6B7A"/>
                </a:solidFill>
                <a:latin typeface="Calibri"/>
                <a:ea typeface="Calibri"/>
                <a:cs typeface="Calibri"/>
                <a:sym typeface="Calibri"/>
              </a:rPr>
              <a:t>Acceptance is a frozen 5,000-document harness run witnessed by vendor and bank; disagreements resolved by the error gallery, not argument.</a:t>
            </a:r>
            <a:endParaRPr b="0" i="0" sz="1100" u="none" cap="none" strike="noStrike">
              <a:solidFill>
                <a:schemeClr val="dk1"/>
              </a:solidFill>
              <a:latin typeface="Calibri"/>
              <a:ea typeface="Calibri"/>
              <a:cs typeface="Calibri"/>
              <a:sym typeface="Calibri"/>
            </a:endParaRPr>
          </a:p>
        </p:txBody>
      </p:sp>
    </p:spTree>
  </p:cSld>
  <p:clrMapOvr>
    <a:masterClrMapping/>
  </p:clrMapOvr>
</p:sld>
</file>

<file path=ppt/slides/slide10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962" name="Shape 2962"/>
        <p:cNvGrpSpPr/>
        <p:nvPr/>
      </p:nvGrpSpPr>
      <p:grpSpPr>
        <a:xfrm>
          <a:off x="0" y="0"/>
          <a:ext cx="0" cy="0"/>
          <a:chOff x="0" y="0"/>
          <a:chExt cx="0" cy="0"/>
        </a:xfrm>
      </p:grpSpPr>
      <p:sp>
        <p:nvSpPr>
          <p:cNvPr id="2963" name="Google Shape;2963;p106"/>
          <p:cNvSpPr/>
          <p:nvPr/>
        </p:nvSpPr>
        <p:spPr>
          <a:xfrm>
            <a:off x="502920" y="274320"/>
            <a:ext cx="9646920" cy="56692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D2A5C"/>
              </a:buClr>
              <a:buSzPts val="2700"/>
              <a:buFont typeface="Calibri"/>
              <a:buNone/>
            </a:pPr>
            <a:r>
              <a:rPr b="1" i="0" lang="en-US" sz="2700" u="none" cap="none" strike="noStrike">
                <a:solidFill>
                  <a:srgbClr val="1D2A5C"/>
                </a:solidFill>
                <a:latin typeface="Calibri"/>
                <a:ea typeface="Calibri"/>
                <a:cs typeface="Calibri"/>
                <a:sym typeface="Calibri"/>
              </a:rPr>
              <a:t>Why This Matters</a:t>
            </a:r>
            <a:endParaRPr b="0" i="0" sz="2700" u="none" cap="none" strike="noStrike">
              <a:solidFill>
                <a:schemeClr val="dk1"/>
              </a:solidFill>
              <a:latin typeface="Calibri"/>
              <a:ea typeface="Calibri"/>
              <a:cs typeface="Calibri"/>
              <a:sym typeface="Calibri"/>
            </a:endParaRPr>
          </a:p>
        </p:txBody>
      </p:sp>
      <p:sp>
        <p:nvSpPr>
          <p:cNvPr id="2964" name="Google Shape;2964;p106"/>
          <p:cNvSpPr/>
          <p:nvPr/>
        </p:nvSpPr>
        <p:spPr>
          <a:xfrm>
            <a:off x="502920" y="859536"/>
            <a:ext cx="9646920" cy="31089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F6B7A"/>
              </a:buClr>
              <a:buSzPts val="1250"/>
              <a:buFont typeface="Arial"/>
              <a:buNone/>
            </a:pPr>
            <a:r>
              <a:rPr b="0" i="0" lang="en-US" sz="1250" u="none" cap="none" strike="noStrike">
                <a:solidFill>
                  <a:srgbClr val="5F6B7A"/>
                </a:solidFill>
                <a:latin typeface="Arial"/>
                <a:ea typeface="Arial"/>
                <a:cs typeface="Arial"/>
                <a:sym typeface="Arial"/>
              </a:rPr>
              <a:t>لماذا هذا مهم</a:t>
            </a:r>
            <a:endParaRPr b="0" i="0" sz="1250" u="none" cap="none" strike="noStrike">
              <a:solidFill>
                <a:schemeClr val="dk1"/>
              </a:solidFill>
              <a:latin typeface="Calibri"/>
              <a:ea typeface="Calibri"/>
              <a:cs typeface="Calibri"/>
              <a:sym typeface="Calibri"/>
            </a:endParaRPr>
          </a:p>
        </p:txBody>
      </p:sp>
      <p:pic>
        <p:nvPicPr>
          <p:cNvPr descr="/sessions/blissful-determined-ritchie/build/assets/sdaia_logo.png" id="2965" name="Google Shape;2965;p106"/>
          <p:cNvPicPr preferRelativeResize="0"/>
          <p:nvPr/>
        </p:nvPicPr>
        <p:blipFill rotWithShape="1">
          <a:blip r:embed="rId3">
            <a:alphaModFix/>
          </a:blip>
          <a:srcRect b="0" l="0" r="0" t="0"/>
          <a:stretch/>
        </p:blipFill>
        <p:spPr>
          <a:xfrm>
            <a:off x="10625328" y="310896"/>
            <a:ext cx="1078992" cy="264111"/>
          </a:xfrm>
          <a:prstGeom prst="rect">
            <a:avLst/>
          </a:prstGeom>
          <a:noFill/>
          <a:ln>
            <a:noFill/>
          </a:ln>
        </p:spPr>
      </p:pic>
      <p:sp>
        <p:nvSpPr>
          <p:cNvPr id="2966" name="Google Shape;2966;p106"/>
          <p:cNvSpPr/>
          <p:nvPr/>
        </p:nvSpPr>
        <p:spPr>
          <a:xfrm>
            <a:off x="502920" y="6528816"/>
            <a:ext cx="8686800"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A79D"/>
              </a:buClr>
              <a:buSzPts val="800"/>
              <a:buFont typeface="Calibri"/>
              <a:buNone/>
            </a:pPr>
            <a:r>
              <a:rPr b="1" i="0" lang="en-US" sz="800" u="none" cap="none" strike="noStrike">
                <a:solidFill>
                  <a:srgbClr val="00A79D"/>
                </a:solidFill>
                <a:latin typeface="Calibri"/>
                <a:ea typeface="Calibri"/>
                <a:cs typeface="Calibri"/>
                <a:sym typeface="Calibri"/>
              </a:rPr>
              <a:t>MODULE 6   </a:t>
            </a:r>
            <a:r>
              <a:rPr b="0" i="0" lang="en-US" sz="800" u="none" cap="none" strike="noStrike">
                <a:solidFill>
                  <a:srgbClr val="8A96A6"/>
                </a:solidFill>
                <a:latin typeface="Calibri"/>
                <a:ea typeface="Calibri"/>
                <a:cs typeface="Calibri"/>
                <a:sym typeface="Calibri"/>
              </a:rPr>
              <a:t>SDA-AIE-212 · Computer Vision Systems Development</a:t>
            </a:r>
            <a:endParaRPr b="0" i="0" sz="800" u="none" cap="none" strike="noStrike">
              <a:solidFill>
                <a:schemeClr val="dk1"/>
              </a:solidFill>
              <a:latin typeface="Calibri"/>
              <a:ea typeface="Calibri"/>
              <a:cs typeface="Calibri"/>
              <a:sym typeface="Calibri"/>
            </a:endParaRPr>
          </a:p>
        </p:txBody>
      </p:sp>
      <p:sp>
        <p:nvSpPr>
          <p:cNvPr id="2967" name="Google Shape;2967;p106"/>
          <p:cNvSpPr/>
          <p:nvPr/>
        </p:nvSpPr>
        <p:spPr>
          <a:xfrm>
            <a:off x="11292840" y="6528816"/>
            <a:ext cx="411480" cy="219456"/>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8A96A6"/>
              </a:buClr>
              <a:buSzPts val="900"/>
              <a:buFont typeface="Calibri"/>
              <a:buNone/>
            </a:pPr>
            <a:r>
              <a:rPr b="0" i="0" lang="en-US" sz="900" u="none" cap="none" strike="noStrike">
                <a:solidFill>
                  <a:srgbClr val="8A96A6"/>
                </a:solidFill>
                <a:latin typeface="Calibri"/>
                <a:ea typeface="Calibri"/>
                <a:cs typeface="Calibri"/>
                <a:sym typeface="Calibri"/>
              </a:rPr>
              <a:t>106</a:t>
            </a:r>
            <a:endParaRPr b="0" i="0" sz="900" u="none" cap="none" strike="noStrike">
              <a:solidFill>
                <a:schemeClr val="dk1"/>
              </a:solidFill>
              <a:latin typeface="Calibri"/>
              <a:ea typeface="Calibri"/>
              <a:cs typeface="Calibri"/>
              <a:sym typeface="Calibri"/>
            </a:endParaRPr>
          </a:p>
        </p:txBody>
      </p:sp>
      <p:sp>
        <p:nvSpPr>
          <p:cNvPr id="2968" name="Google Shape;2968;p106"/>
          <p:cNvSpPr/>
          <p:nvPr/>
        </p:nvSpPr>
        <p:spPr>
          <a:xfrm>
            <a:off x="502920" y="1559052"/>
            <a:ext cx="329184" cy="329184"/>
          </a:xfrm>
          <a:prstGeom prst="ellipse">
            <a:avLst/>
          </a:prstGeom>
          <a:solidFill>
            <a:srgbClr val="00A79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69" name="Google Shape;2969;p106"/>
          <p:cNvSpPr/>
          <p:nvPr/>
        </p:nvSpPr>
        <p:spPr>
          <a:xfrm>
            <a:off x="502920" y="1559052"/>
            <a:ext cx="329184" cy="32918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300"/>
              <a:buFont typeface="Calibri"/>
              <a:buNone/>
            </a:pPr>
            <a:r>
              <a:rPr b="1" i="0" lang="en-US" sz="1300" u="none" cap="none" strike="noStrike">
                <a:solidFill>
                  <a:srgbClr val="FFFFFF"/>
                </a:solidFill>
                <a:latin typeface="Calibri"/>
                <a:ea typeface="Calibri"/>
                <a:cs typeface="Calibri"/>
                <a:sym typeface="Calibri"/>
              </a:rPr>
              <a:t>1</a:t>
            </a:r>
            <a:endParaRPr b="0" i="0" sz="1300" u="none" cap="none" strike="noStrike">
              <a:solidFill>
                <a:schemeClr val="dk1"/>
              </a:solidFill>
              <a:latin typeface="Calibri"/>
              <a:ea typeface="Calibri"/>
              <a:cs typeface="Calibri"/>
              <a:sym typeface="Calibri"/>
            </a:endParaRPr>
          </a:p>
        </p:txBody>
      </p:sp>
      <p:sp>
        <p:nvSpPr>
          <p:cNvPr id="2970" name="Google Shape;2970;p106"/>
          <p:cNvSpPr/>
          <p:nvPr/>
        </p:nvSpPr>
        <p:spPr>
          <a:xfrm>
            <a:off x="1005840" y="1495044"/>
            <a:ext cx="10682935"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D2A5C"/>
              </a:buClr>
              <a:buSzPts val="1400"/>
              <a:buFont typeface="Calibri"/>
              <a:buNone/>
            </a:pPr>
            <a:r>
              <a:rPr b="1" i="0" lang="en-US" sz="1400" u="none" cap="none" strike="noStrike">
                <a:solidFill>
                  <a:srgbClr val="1D2A5C"/>
                </a:solidFill>
                <a:latin typeface="Calibri"/>
                <a:ea typeface="Calibri"/>
                <a:cs typeface="Calibri"/>
                <a:sym typeface="Calibri"/>
              </a:rPr>
              <a:t>Vision systems are bought, renewed and litigated on numbers</a:t>
            </a:r>
            <a:endParaRPr b="0" i="0" sz="1400" u="none" cap="none" strike="noStrike">
              <a:solidFill>
                <a:schemeClr val="dk1"/>
              </a:solidFill>
              <a:latin typeface="Calibri"/>
              <a:ea typeface="Calibri"/>
              <a:cs typeface="Calibri"/>
              <a:sym typeface="Calibri"/>
            </a:endParaRPr>
          </a:p>
        </p:txBody>
      </p:sp>
      <p:sp>
        <p:nvSpPr>
          <p:cNvPr id="2971" name="Google Shape;2971;p106"/>
          <p:cNvSpPr/>
          <p:nvPr/>
        </p:nvSpPr>
        <p:spPr>
          <a:xfrm>
            <a:off x="1005840" y="1796796"/>
            <a:ext cx="10682935" cy="841248"/>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5F6B7A"/>
              </a:buClr>
              <a:buSzPts val="1150"/>
              <a:buFont typeface="Calibri"/>
              <a:buNone/>
            </a:pPr>
            <a:r>
              <a:rPr b="0" i="0" lang="en-US" sz="1150" u="none" cap="none" strike="noStrike">
                <a:solidFill>
                  <a:srgbClr val="5F6B7A"/>
                </a:solidFill>
                <a:latin typeface="Calibri"/>
                <a:ea typeface="Calibri"/>
                <a:cs typeface="Calibri"/>
                <a:sym typeface="Calibri"/>
              </a:rPr>
              <a:t>'mAP is 0.87' cannot answer what decides contracts: escape rates, night degradation, whether a retrain made the model better or just different.</a:t>
            </a:r>
            <a:endParaRPr b="0" i="0" sz="1150" u="none" cap="none" strike="noStrike">
              <a:solidFill>
                <a:schemeClr val="dk1"/>
              </a:solidFill>
              <a:latin typeface="Calibri"/>
              <a:ea typeface="Calibri"/>
              <a:cs typeface="Calibri"/>
              <a:sym typeface="Calibri"/>
            </a:endParaRPr>
          </a:p>
        </p:txBody>
      </p:sp>
      <p:sp>
        <p:nvSpPr>
          <p:cNvPr id="2972" name="Google Shape;2972;p106"/>
          <p:cNvSpPr/>
          <p:nvPr/>
        </p:nvSpPr>
        <p:spPr>
          <a:xfrm>
            <a:off x="502920" y="2747772"/>
            <a:ext cx="329184" cy="329184"/>
          </a:xfrm>
          <a:prstGeom prst="ellipse">
            <a:avLst/>
          </a:prstGeom>
          <a:solidFill>
            <a:srgbClr val="29ABE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73" name="Google Shape;2973;p106"/>
          <p:cNvSpPr/>
          <p:nvPr/>
        </p:nvSpPr>
        <p:spPr>
          <a:xfrm>
            <a:off x="502920" y="2747772"/>
            <a:ext cx="329184" cy="32918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300"/>
              <a:buFont typeface="Calibri"/>
              <a:buNone/>
            </a:pPr>
            <a:r>
              <a:rPr b="1" i="0" lang="en-US" sz="1300" u="none" cap="none" strike="noStrike">
                <a:solidFill>
                  <a:srgbClr val="FFFFFF"/>
                </a:solidFill>
                <a:latin typeface="Calibri"/>
                <a:ea typeface="Calibri"/>
                <a:cs typeface="Calibri"/>
                <a:sym typeface="Calibri"/>
              </a:rPr>
              <a:t>2</a:t>
            </a:r>
            <a:endParaRPr b="0" i="0" sz="1300" u="none" cap="none" strike="noStrike">
              <a:solidFill>
                <a:schemeClr val="dk1"/>
              </a:solidFill>
              <a:latin typeface="Calibri"/>
              <a:ea typeface="Calibri"/>
              <a:cs typeface="Calibri"/>
              <a:sym typeface="Calibri"/>
            </a:endParaRPr>
          </a:p>
        </p:txBody>
      </p:sp>
      <p:sp>
        <p:nvSpPr>
          <p:cNvPr id="2974" name="Google Shape;2974;p106"/>
          <p:cNvSpPr/>
          <p:nvPr/>
        </p:nvSpPr>
        <p:spPr>
          <a:xfrm>
            <a:off x="1005840" y="2683764"/>
            <a:ext cx="10682935"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D2A5C"/>
              </a:buClr>
              <a:buSzPts val="1400"/>
              <a:buFont typeface="Calibri"/>
              <a:buNone/>
            </a:pPr>
            <a:r>
              <a:rPr b="1" i="0" lang="en-US" sz="1400" u="none" cap="none" strike="noStrike">
                <a:solidFill>
                  <a:srgbClr val="1D2A5C"/>
                </a:solidFill>
                <a:latin typeface="Calibri"/>
                <a:ea typeface="Calibri"/>
                <a:cs typeface="Calibri"/>
                <a:sym typeface="Calibri"/>
              </a:rPr>
              <a:t>Aggregates hide minority-slice failures</a:t>
            </a:r>
            <a:endParaRPr b="0" i="0" sz="1400" u="none" cap="none" strike="noStrike">
              <a:solidFill>
                <a:schemeClr val="dk1"/>
              </a:solidFill>
              <a:latin typeface="Calibri"/>
              <a:ea typeface="Calibri"/>
              <a:cs typeface="Calibri"/>
              <a:sym typeface="Calibri"/>
            </a:endParaRPr>
          </a:p>
        </p:txBody>
      </p:sp>
      <p:sp>
        <p:nvSpPr>
          <p:cNvPr id="2975" name="Google Shape;2975;p106"/>
          <p:cNvSpPr/>
          <p:nvPr/>
        </p:nvSpPr>
        <p:spPr>
          <a:xfrm>
            <a:off x="1005840" y="2985516"/>
            <a:ext cx="10682935" cy="841248"/>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5F6B7A"/>
              </a:buClr>
              <a:buSzPts val="1150"/>
              <a:buFont typeface="Calibri"/>
              <a:buNone/>
            </a:pPr>
            <a:r>
              <a:rPr b="0" i="0" lang="en-US" sz="1150" u="none" cap="none" strike="noStrike">
                <a:solidFill>
                  <a:srgbClr val="5F6B7A"/>
                </a:solidFill>
                <a:latin typeface="Calibri"/>
                <a:ea typeface="Calibri"/>
                <a:cs typeface="Calibri"/>
                <a:sym typeface="Calibri"/>
              </a:rPr>
              <a:t>The M1 hospital case — five weeks of green dashboards over a 17-point per-site drop — is the canonical shape. Slice-level evaluation is the only defence.</a:t>
            </a:r>
            <a:endParaRPr b="0" i="0" sz="1150" u="none" cap="none" strike="noStrike">
              <a:solidFill>
                <a:schemeClr val="dk1"/>
              </a:solidFill>
              <a:latin typeface="Calibri"/>
              <a:ea typeface="Calibri"/>
              <a:cs typeface="Calibri"/>
              <a:sym typeface="Calibri"/>
            </a:endParaRPr>
          </a:p>
        </p:txBody>
      </p:sp>
      <p:sp>
        <p:nvSpPr>
          <p:cNvPr id="2976" name="Google Shape;2976;p106"/>
          <p:cNvSpPr/>
          <p:nvPr/>
        </p:nvSpPr>
        <p:spPr>
          <a:xfrm>
            <a:off x="502920" y="3936492"/>
            <a:ext cx="329184" cy="329184"/>
          </a:xfrm>
          <a:prstGeom prst="ellipse">
            <a:avLst/>
          </a:prstGeom>
          <a:solidFill>
            <a:srgbClr val="F5822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77" name="Google Shape;2977;p106"/>
          <p:cNvSpPr/>
          <p:nvPr/>
        </p:nvSpPr>
        <p:spPr>
          <a:xfrm>
            <a:off x="502920" y="3936492"/>
            <a:ext cx="329184" cy="32918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300"/>
              <a:buFont typeface="Calibri"/>
              <a:buNone/>
            </a:pPr>
            <a:r>
              <a:rPr b="1" i="0" lang="en-US" sz="1300" u="none" cap="none" strike="noStrike">
                <a:solidFill>
                  <a:srgbClr val="FFFFFF"/>
                </a:solidFill>
                <a:latin typeface="Calibri"/>
                <a:ea typeface="Calibri"/>
                <a:cs typeface="Calibri"/>
                <a:sym typeface="Calibri"/>
              </a:rPr>
              <a:t>3</a:t>
            </a:r>
            <a:endParaRPr b="0" i="0" sz="1300" u="none" cap="none" strike="noStrike">
              <a:solidFill>
                <a:schemeClr val="dk1"/>
              </a:solidFill>
              <a:latin typeface="Calibri"/>
              <a:ea typeface="Calibri"/>
              <a:cs typeface="Calibri"/>
              <a:sym typeface="Calibri"/>
            </a:endParaRPr>
          </a:p>
        </p:txBody>
      </p:sp>
      <p:sp>
        <p:nvSpPr>
          <p:cNvPr id="2978" name="Google Shape;2978;p106"/>
          <p:cNvSpPr/>
          <p:nvPr/>
        </p:nvSpPr>
        <p:spPr>
          <a:xfrm>
            <a:off x="1005840" y="3872484"/>
            <a:ext cx="10682935"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D2A5C"/>
              </a:buClr>
              <a:buSzPts val="1400"/>
              <a:buFont typeface="Calibri"/>
              <a:buNone/>
            </a:pPr>
            <a:r>
              <a:rPr b="1" i="0" lang="en-US" sz="1400" u="none" cap="none" strike="noStrike">
                <a:solidFill>
                  <a:srgbClr val="1D2A5C"/>
                </a:solidFill>
                <a:latin typeface="Calibri"/>
                <a:ea typeface="Calibri"/>
                <a:cs typeface="Calibri"/>
                <a:sym typeface="Calibri"/>
              </a:rPr>
              <a:t>The harness is a contractual artefact</a:t>
            </a:r>
            <a:endParaRPr b="0" i="0" sz="1400" u="none" cap="none" strike="noStrike">
              <a:solidFill>
                <a:schemeClr val="dk1"/>
              </a:solidFill>
              <a:latin typeface="Calibri"/>
              <a:ea typeface="Calibri"/>
              <a:cs typeface="Calibri"/>
              <a:sym typeface="Calibri"/>
            </a:endParaRPr>
          </a:p>
        </p:txBody>
      </p:sp>
      <p:sp>
        <p:nvSpPr>
          <p:cNvPr id="2979" name="Google Shape;2979;p106"/>
          <p:cNvSpPr/>
          <p:nvPr/>
        </p:nvSpPr>
        <p:spPr>
          <a:xfrm>
            <a:off x="1005840" y="4174236"/>
            <a:ext cx="10682935" cy="841248"/>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5F6B7A"/>
              </a:buClr>
              <a:buSzPts val="1150"/>
              <a:buFont typeface="Calibri"/>
              <a:buNone/>
            </a:pPr>
            <a:r>
              <a:rPr b="0" i="0" lang="en-US" sz="1150" u="none" cap="none" strike="noStrike">
                <a:solidFill>
                  <a:srgbClr val="5F6B7A"/>
                </a:solidFill>
                <a:latin typeface="Calibri"/>
                <a:ea typeface="Calibri"/>
                <a:cs typeface="Calibri"/>
                <a:sym typeface="Calibri"/>
              </a:rPr>
              <a:t>In regional procurement a rigorous, reproducible harness is increasingly what 'acceptance testing' means for a vision system.</a:t>
            </a:r>
            <a:endParaRPr b="0" i="0" sz="1150" u="none" cap="none" strike="noStrike">
              <a:solidFill>
                <a:schemeClr val="dk1"/>
              </a:solidFill>
              <a:latin typeface="Calibri"/>
              <a:ea typeface="Calibri"/>
              <a:cs typeface="Calibri"/>
              <a:sym typeface="Calibri"/>
            </a:endParaRPr>
          </a:p>
        </p:txBody>
      </p:sp>
      <p:sp>
        <p:nvSpPr>
          <p:cNvPr id="2980" name="Google Shape;2980;p106"/>
          <p:cNvSpPr/>
          <p:nvPr/>
        </p:nvSpPr>
        <p:spPr>
          <a:xfrm>
            <a:off x="502920" y="5125212"/>
            <a:ext cx="329184" cy="329184"/>
          </a:xfrm>
          <a:prstGeom prst="ellipse">
            <a:avLst/>
          </a:prstGeom>
          <a:solidFill>
            <a:srgbClr val="8DC63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81" name="Google Shape;2981;p106"/>
          <p:cNvSpPr/>
          <p:nvPr/>
        </p:nvSpPr>
        <p:spPr>
          <a:xfrm>
            <a:off x="502920" y="5125212"/>
            <a:ext cx="329184" cy="32918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300"/>
              <a:buFont typeface="Calibri"/>
              <a:buNone/>
            </a:pPr>
            <a:r>
              <a:rPr b="1" i="0" lang="en-US" sz="1300" u="none" cap="none" strike="noStrike">
                <a:solidFill>
                  <a:srgbClr val="FFFFFF"/>
                </a:solidFill>
                <a:latin typeface="Calibri"/>
                <a:ea typeface="Calibri"/>
                <a:cs typeface="Calibri"/>
                <a:sym typeface="Calibri"/>
              </a:rPr>
              <a:t>4</a:t>
            </a:r>
            <a:endParaRPr b="0" i="0" sz="1300" u="none" cap="none" strike="noStrike">
              <a:solidFill>
                <a:schemeClr val="dk1"/>
              </a:solidFill>
              <a:latin typeface="Calibri"/>
              <a:ea typeface="Calibri"/>
              <a:cs typeface="Calibri"/>
              <a:sym typeface="Calibri"/>
            </a:endParaRPr>
          </a:p>
        </p:txBody>
      </p:sp>
      <p:sp>
        <p:nvSpPr>
          <p:cNvPr id="2982" name="Google Shape;2982;p106"/>
          <p:cNvSpPr/>
          <p:nvPr/>
        </p:nvSpPr>
        <p:spPr>
          <a:xfrm>
            <a:off x="1005840" y="5061204"/>
            <a:ext cx="10682935"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D2A5C"/>
              </a:buClr>
              <a:buSzPts val="1400"/>
              <a:buFont typeface="Calibri"/>
              <a:buNone/>
            </a:pPr>
            <a:r>
              <a:rPr b="1" i="0" lang="en-US" sz="1400" u="none" cap="none" strike="noStrike">
                <a:solidFill>
                  <a:srgbClr val="1D2A5C"/>
                </a:solidFill>
                <a:latin typeface="Calibri"/>
                <a:ea typeface="Calibri"/>
                <a:cs typeface="Calibri"/>
                <a:sym typeface="Calibri"/>
              </a:rPr>
              <a:t>Numbers stop being framework magic</a:t>
            </a:r>
            <a:endParaRPr b="0" i="0" sz="1400" u="none" cap="none" strike="noStrike">
              <a:solidFill>
                <a:schemeClr val="dk1"/>
              </a:solidFill>
              <a:latin typeface="Calibri"/>
              <a:ea typeface="Calibri"/>
              <a:cs typeface="Calibri"/>
              <a:sym typeface="Calibri"/>
            </a:endParaRPr>
          </a:p>
        </p:txBody>
      </p:sp>
      <p:sp>
        <p:nvSpPr>
          <p:cNvPr id="2983" name="Google Shape;2983;p106"/>
          <p:cNvSpPr/>
          <p:nvPr/>
        </p:nvSpPr>
        <p:spPr>
          <a:xfrm>
            <a:off x="1005840" y="5362956"/>
            <a:ext cx="10682935" cy="841248"/>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5F6B7A"/>
              </a:buClr>
              <a:buSzPts val="1150"/>
              <a:buFont typeface="Calibri"/>
              <a:buNone/>
            </a:pPr>
            <a:r>
              <a:rPr b="0" i="0" lang="en-US" sz="1150" u="none" cap="none" strike="noStrike">
                <a:solidFill>
                  <a:srgbClr val="5F6B7A"/>
                </a:solidFill>
                <a:latin typeface="Calibri"/>
                <a:ea typeface="Calibri"/>
                <a:cs typeface="Calibri"/>
                <a:sym typeface="Calibri"/>
              </a:rPr>
              <a:t>Implement IoU matching and mAP by hand once; then build the harness that referees the capstone and the SDA-AIE-216 regression gate.</a:t>
            </a:r>
            <a:endParaRPr b="0" i="0" sz="1150" u="none" cap="none" strike="noStrike">
              <a:solidFill>
                <a:schemeClr val="dk1"/>
              </a:solidFill>
              <a:latin typeface="Calibri"/>
              <a:ea typeface="Calibri"/>
              <a:cs typeface="Calibri"/>
              <a:sym typeface="Calibri"/>
            </a:endParaRPr>
          </a:p>
        </p:txBody>
      </p:sp>
    </p:spTree>
  </p:cSld>
  <p:clrMapOvr>
    <a:masterClrMapping/>
  </p:clrMapOvr>
</p:sld>
</file>

<file path=ppt/slides/slide10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988" name="Shape 2988"/>
        <p:cNvGrpSpPr/>
        <p:nvPr/>
      </p:nvGrpSpPr>
      <p:grpSpPr>
        <a:xfrm>
          <a:off x="0" y="0"/>
          <a:ext cx="0" cy="0"/>
          <a:chOff x="0" y="0"/>
          <a:chExt cx="0" cy="0"/>
        </a:xfrm>
      </p:grpSpPr>
      <p:sp>
        <p:nvSpPr>
          <p:cNvPr id="2989" name="Google Shape;2989;p108"/>
          <p:cNvSpPr/>
          <p:nvPr/>
        </p:nvSpPr>
        <p:spPr>
          <a:xfrm>
            <a:off x="502920" y="274320"/>
            <a:ext cx="9646920" cy="56692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D2A5C"/>
              </a:buClr>
              <a:buSzPts val="2700"/>
              <a:buFont typeface="Calibri"/>
              <a:buNone/>
            </a:pPr>
            <a:r>
              <a:rPr b="1" i="0" lang="en-US" sz="2700" u="none" cap="none" strike="noStrike">
                <a:solidFill>
                  <a:srgbClr val="1D2A5C"/>
                </a:solidFill>
                <a:latin typeface="Calibri"/>
                <a:ea typeface="Calibri"/>
                <a:cs typeface="Calibri"/>
                <a:sym typeface="Calibri"/>
              </a:rPr>
              <a:t>Learning Objectives</a:t>
            </a:r>
            <a:endParaRPr b="0" i="0" sz="2700" u="none" cap="none" strike="noStrike">
              <a:solidFill>
                <a:schemeClr val="dk1"/>
              </a:solidFill>
              <a:latin typeface="Calibri"/>
              <a:ea typeface="Calibri"/>
              <a:cs typeface="Calibri"/>
              <a:sym typeface="Calibri"/>
            </a:endParaRPr>
          </a:p>
        </p:txBody>
      </p:sp>
      <p:sp>
        <p:nvSpPr>
          <p:cNvPr id="2990" name="Google Shape;2990;p108"/>
          <p:cNvSpPr/>
          <p:nvPr/>
        </p:nvSpPr>
        <p:spPr>
          <a:xfrm>
            <a:off x="502920" y="859536"/>
            <a:ext cx="9646920" cy="31089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F6B7A"/>
              </a:buClr>
              <a:buSzPts val="1250"/>
              <a:buFont typeface="Arial"/>
              <a:buNone/>
            </a:pPr>
            <a:r>
              <a:rPr b="0" i="0" lang="en-US" sz="1250" u="none" cap="none" strike="noStrike">
                <a:solidFill>
                  <a:srgbClr val="5F6B7A"/>
                </a:solidFill>
                <a:latin typeface="Arial"/>
                <a:ea typeface="Arial"/>
                <a:cs typeface="Arial"/>
                <a:sym typeface="Arial"/>
              </a:rPr>
              <a:t>أهداف التعلم</a:t>
            </a:r>
            <a:endParaRPr b="0" i="0" sz="1250" u="none" cap="none" strike="noStrike">
              <a:solidFill>
                <a:schemeClr val="dk1"/>
              </a:solidFill>
              <a:latin typeface="Calibri"/>
              <a:ea typeface="Calibri"/>
              <a:cs typeface="Calibri"/>
              <a:sym typeface="Calibri"/>
            </a:endParaRPr>
          </a:p>
        </p:txBody>
      </p:sp>
      <p:pic>
        <p:nvPicPr>
          <p:cNvPr descr="/sessions/blissful-determined-ritchie/build/assets/sdaia_logo.png" id="2991" name="Google Shape;2991;p108"/>
          <p:cNvPicPr preferRelativeResize="0"/>
          <p:nvPr/>
        </p:nvPicPr>
        <p:blipFill rotWithShape="1">
          <a:blip r:embed="rId3">
            <a:alphaModFix/>
          </a:blip>
          <a:srcRect b="0" l="0" r="0" t="0"/>
          <a:stretch/>
        </p:blipFill>
        <p:spPr>
          <a:xfrm>
            <a:off x="10625328" y="310896"/>
            <a:ext cx="1078992" cy="264111"/>
          </a:xfrm>
          <a:prstGeom prst="rect">
            <a:avLst/>
          </a:prstGeom>
          <a:noFill/>
          <a:ln>
            <a:noFill/>
          </a:ln>
        </p:spPr>
      </p:pic>
      <p:sp>
        <p:nvSpPr>
          <p:cNvPr id="2992" name="Google Shape;2992;p108"/>
          <p:cNvSpPr/>
          <p:nvPr/>
        </p:nvSpPr>
        <p:spPr>
          <a:xfrm>
            <a:off x="502920" y="6528816"/>
            <a:ext cx="8686800"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A79D"/>
              </a:buClr>
              <a:buSzPts val="800"/>
              <a:buFont typeface="Calibri"/>
              <a:buNone/>
            </a:pPr>
            <a:r>
              <a:rPr b="1" i="0" lang="en-US" sz="800" u="none" cap="none" strike="noStrike">
                <a:solidFill>
                  <a:srgbClr val="00A79D"/>
                </a:solidFill>
                <a:latin typeface="Calibri"/>
                <a:ea typeface="Calibri"/>
                <a:cs typeface="Calibri"/>
                <a:sym typeface="Calibri"/>
              </a:rPr>
              <a:t>MODULE 6   </a:t>
            </a:r>
            <a:r>
              <a:rPr b="0" i="0" lang="en-US" sz="800" u="none" cap="none" strike="noStrike">
                <a:solidFill>
                  <a:srgbClr val="8A96A6"/>
                </a:solidFill>
                <a:latin typeface="Calibri"/>
                <a:ea typeface="Calibri"/>
                <a:cs typeface="Calibri"/>
                <a:sym typeface="Calibri"/>
              </a:rPr>
              <a:t>SDA-AIE-212 · Computer Vision Systems Development</a:t>
            </a:r>
            <a:endParaRPr b="0" i="0" sz="800" u="none" cap="none" strike="noStrike">
              <a:solidFill>
                <a:schemeClr val="dk1"/>
              </a:solidFill>
              <a:latin typeface="Calibri"/>
              <a:ea typeface="Calibri"/>
              <a:cs typeface="Calibri"/>
              <a:sym typeface="Calibri"/>
            </a:endParaRPr>
          </a:p>
        </p:txBody>
      </p:sp>
      <p:sp>
        <p:nvSpPr>
          <p:cNvPr id="2993" name="Google Shape;2993;p108"/>
          <p:cNvSpPr/>
          <p:nvPr/>
        </p:nvSpPr>
        <p:spPr>
          <a:xfrm>
            <a:off x="11292840" y="6528816"/>
            <a:ext cx="411480" cy="219456"/>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8A96A6"/>
              </a:buClr>
              <a:buSzPts val="900"/>
              <a:buFont typeface="Calibri"/>
              <a:buNone/>
            </a:pPr>
            <a:r>
              <a:rPr b="0" i="0" lang="en-US" sz="900" u="none" cap="none" strike="noStrike">
                <a:solidFill>
                  <a:srgbClr val="8A96A6"/>
                </a:solidFill>
                <a:latin typeface="Calibri"/>
                <a:ea typeface="Calibri"/>
                <a:cs typeface="Calibri"/>
                <a:sym typeface="Calibri"/>
              </a:rPr>
              <a:t>108</a:t>
            </a:r>
            <a:endParaRPr b="0" i="0" sz="900" u="none" cap="none" strike="noStrike">
              <a:solidFill>
                <a:schemeClr val="dk1"/>
              </a:solidFill>
              <a:latin typeface="Calibri"/>
              <a:ea typeface="Calibri"/>
              <a:cs typeface="Calibri"/>
              <a:sym typeface="Calibri"/>
            </a:endParaRPr>
          </a:p>
        </p:txBody>
      </p:sp>
      <p:sp>
        <p:nvSpPr>
          <p:cNvPr id="2994" name="Google Shape;2994;p108"/>
          <p:cNvSpPr/>
          <p:nvPr/>
        </p:nvSpPr>
        <p:spPr>
          <a:xfrm>
            <a:off x="502920" y="1499616"/>
            <a:ext cx="11183112" cy="832104"/>
          </a:xfrm>
          <a:prstGeom prst="roundRect">
            <a:avLst>
              <a:gd fmla="val 7692" name="adj"/>
            </a:avLst>
          </a:prstGeom>
          <a:solidFill>
            <a:srgbClr val="FAFCFE"/>
          </a:solidFill>
          <a:ln cap="flat" cmpd="sng" w="9525">
            <a:solidFill>
              <a:srgbClr val="D9E2E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95" name="Google Shape;2995;p108"/>
          <p:cNvSpPr/>
          <p:nvPr/>
        </p:nvSpPr>
        <p:spPr>
          <a:xfrm>
            <a:off x="649224" y="1751076"/>
            <a:ext cx="329184" cy="329184"/>
          </a:xfrm>
          <a:prstGeom prst="ellipse">
            <a:avLst/>
          </a:prstGeom>
          <a:solidFill>
            <a:srgbClr val="00A79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96" name="Google Shape;2996;p108"/>
          <p:cNvSpPr/>
          <p:nvPr/>
        </p:nvSpPr>
        <p:spPr>
          <a:xfrm>
            <a:off x="649224" y="1751076"/>
            <a:ext cx="329184" cy="32918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150"/>
              <a:buFont typeface="Calibri"/>
              <a:buNone/>
            </a:pPr>
            <a:r>
              <a:rPr b="1" i="0" lang="en-US" sz="1150" u="none" cap="none" strike="noStrike">
                <a:solidFill>
                  <a:srgbClr val="FFFFFF"/>
                </a:solidFill>
                <a:latin typeface="Calibri"/>
                <a:ea typeface="Calibri"/>
                <a:cs typeface="Calibri"/>
                <a:sym typeface="Calibri"/>
              </a:rPr>
              <a:t>6.1</a:t>
            </a:r>
            <a:endParaRPr b="0" i="0" sz="1150" u="none" cap="none" strike="noStrike">
              <a:solidFill>
                <a:schemeClr val="dk1"/>
              </a:solidFill>
              <a:latin typeface="Calibri"/>
              <a:ea typeface="Calibri"/>
              <a:cs typeface="Calibri"/>
              <a:sym typeface="Calibri"/>
            </a:endParaRPr>
          </a:p>
        </p:txBody>
      </p:sp>
      <p:sp>
        <p:nvSpPr>
          <p:cNvPr id="2997" name="Google Shape;2997;p108"/>
          <p:cNvSpPr/>
          <p:nvPr/>
        </p:nvSpPr>
        <p:spPr>
          <a:xfrm>
            <a:off x="1143000" y="1499616"/>
            <a:ext cx="8321040" cy="83210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3293B"/>
              </a:buClr>
              <a:buSzPts val="1250"/>
              <a:buFont typeface="Calibri"/>
              <a:buNone/>
            </a:pPr>
            <a:r>
              <a:rPr b="0" i="0" lang="en-US" sz="1250" u="none" cap="none" strike="noStrike">
                <a:solidFill>
                  <a:srgbClr val="23293B"/>
                </a:solidFill>
                <a:latin typeface="Calibri"/>
                <a:ea typeface="Calibri"/>
                <a:cs typeface="Calibri"/>
                <a:sym typeface="Calibri"/>
              </a:rPr>
              <a:t>Implement IoU matching and AP/mAP computation from raw predictions</a:t>
            </a:r>
            <a:endParaRPr b="0" i="0" sz="1250" u="none" cap="none" strike="noStrike">
              <a:solidFill>
                <a:schemeClr val="dk1"/>
              </a:solidFill>
              <a:latin typeface="Calibri"/>
              <a:ea typeface="Calibri"/>
              <a:cs typeface="Calibri"/>
              <a:sym typeface="Calibri"/>
            </a:endParaRPr>
          </a:p>
        </p:txBody>
      </p:sp>
      <p:sp>
        <p:nvSpPr>
          <p:cNvPr id="2998" name="Google Shape;2998;p108"/>
          <p:cNvSpPr/>
          <p:nvPr/>
        </p:nvSpPr>
        <p:spPr>
          <a:xfrm>
            <a:off x="9646920" y="1741932"/>
            <a:ext cx="658368" cy="310896"/>
          </a:xfrm>
          <a:prstGeom prst="roundRect">
            <a:avLst>
              <a:gd fmla="val 50000" name="adj"/>
            </a:avLst>
          </a:prstGeom>
          <a:solidFill>
            <a:srgbClr val="E9F6F5"/>
          </a:solidFill>
          <a:ln cap="flat" cmpd="sng" w="9525">
            <a:solidFill>
              <a:srgbClr val="00A79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99" name="Google Shape;2999;p108"/>
          <p:cNvSpPr/>
          <p:nvPr/>
        </p:nvSpPr>
        <p:spPr>
          <a:xfrm>
            <a:off x="9646920" y="1741932"/>
            <a:ext cx="658368" cy="31089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56A63"/>
              </a:buClr>
              <a:buSzPts val="950"/>
              <a:buFont typeface="Calibri"/>
              <a:buNone/>
            </a:pPr>
            <a:r>
              <a:rPr b="1" i="0" lang="en-US" sz="950" u="none" cap="none" strike="noStrike">
                <a:solidFill>
                  <a:srgbClr val="056A63"/>
                </a:solidFill>
                <a:latin typeface="Calibri"/>
                <a:ea typeface="Calibri"/>
                <a:cs typeface="Calibri"/>
                <a:sym typeface="Calibri"/>
              </a:rPr>
              <a:t>LO5</a:t>
            </a:r>
            <a:endParaRPr b="0" i="0" sz="950" u="none" cap="none" strike="noStrike">
              <a:solidFill>
                <a:schemeClr val="dk1"/>
              </a:solidFill>
              <a:latin typeface="Calibri"/>
              <a:ea typeface="Calibri"/>
              <a:cs typeface="Calibri"/>
              <a:sym typeface="Calibri"/>
            </a:endParaRPr>
          </a:p>
        </p:txBody>
      </p:sp>
      <p:sp>
        <p:nvSpPr>
          <p:cNvPr id="3000" name="Google Shape;3000;p108"/>
          <p:cNvSpPr/>
          <p:nvPr/>
        </p:nvSpPr>
        <p:spPr>
          <a:xfrm>
            <a:off x="502920" y="2459736"/>
            <a:ext cx="11183112" cy="832104"/>
          </a:xfrm>
          <a:prstGeom prst="roundRect">
            <a:avLst>
              <a:gd fmla="val 7692" name="adj"/>
            </a:avLst>
          </a:prstGeom>
          <a:solidFill>
            <a:srgbClr val="F2F6F9"/>
          </a:solidFill>
          <a:ln cap="flat" cmpd="sng" w="9525">
            <a:solidFill>
              <a:srgbClr val="D9E2E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01" name="Google Shape;3001;p108"/>
          <p:cNvSpPr/>
          <p:nvPr/>
        </p:nvSpPr>
        <p:spPr>
          <a:xfrm>
            <a:off x="649224" y="2711196"/>
            <a:ext cx="329184" cy="329184"/>
          </a:xfrm>
          <a:prstGeom prst="ellipse">
            <a:avLst/>
          </a:prstGeom>
          <a:solidFill>
            <a:srgbClr val="00A79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02" name="Google Shape;3002;p108"/>
          <p:cNvSpPr/>
          <p:nvPr/>
        </p:nvSpPr>
        <p:spPr>
          <a:xfrm>
            <a:off x="649224" y="2711196"/>
            <a:ext cx="329184" cy="32918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150"/>
              <a:buFont typeface="Calibri"/>
              <a:buNone/>
            </a:pPr>
            <a:r>
              <a:rPr b="1" i="0" lang="en-US" sz="1150" u="none" cap="none" strike="noStrike">
                <a:solidFill>
                  <a:srgbClr val="FFFFFF"/>
                </a:solidFill>
                <a:latin typeface="Calibri"/>
                <a:ea typeface="Calibri"/>
                <a:cs typeface="Calibri"/>
                <a:sym typeface="Calibri"/>
              </a:rPr>
              <a:t>6.2</a:t>
            </a:r>
            <a:endParaRPr b="0" i="0" sz="1150" u="none" cap="none" strike="noStrike">
              <a:solidFill>
                <a:schemeClr val="dk1"/>
              </a:solidFill>
              <a:latin typeface="Calibri"/>
              <a:ea typeface="Calibri"/>
              <a:cs typeface="Calibri"/>
              <a:sym typeface="Calibri"/>
            </a:endParaRPr>
          </a:p>
        </p:txBody>
      </p:sp>
      <p:sp>
        <p:nvSpPr>
          <p:cNvPr id="3003" name="Google Shape;3003;p108"/>
          <p:cNvSpPr/>
          <p:nvPr/>
        </p:nvSpPr>
        <p:spPr>
          <a:xfrm>
            <a:off x="1143000" y="2459736"/>
            <a:ext cx="8321040" cy="83210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3293B"/>
              </a:buClr>
              <a:buSzPts val="1250"/>
              <a:buFont typeface="Calibri"/>
              <a:buNone/>
            </a:pPr>
            <a:r>
              <a:rPr b="0" i="0" lang="en-US" sz="1250" u="none" cap="none" strike="noStrike">
                <a:solidFill>
                  <a:srgbClr val="23293B"/>
                </a:solidFill>
                <a:latin typeface="Calibri"/>
                <a:ea typeface="Calibri"/>
                <a:cs typeface="Calibri"/>
                <a:sym typeface="Calibri"/>
              </a:rPr>
              <a:t>Interpret mAP variants, per-class AP, PR curves; choose operating points vs constraints</a:t>
            </a:r>
            <a:endParaRPr b="0" i="0" sz="1250" u="none" cap="none" strike="noStrike">
              <a:solidFill>
                <a:schemeClr val="dk1"/>
              </a:solidFill>
              <a:latin typeface="Calibri"/>
              <a:ea typeface="Calibri"/>
              <a:cs typeface="Calibri"/>
              <a:sym typeface="Calibri"/>
            </a:endParaRPr>
          </a:p>
        </p:txBody>
      </p:sp>
      <p:sp>
        <p:nvSpPr>
          <p:cNvPr id="3004" name="Google Shape;3004;p108"/>
          <p:cNvSpPr/>
          <p:nvPr/>
        </p:nvSpPr>
        <p:spPr>
          <a:xfrm>
            <a:off x="9646920" y="2702052"/>
            <a:ext cx="658368" cy="310896"/>
          </a:xfrm>
          <a:prstGeom prst="roundRect">
            <a:avLst>
              <a:gd fmla="val 50000" name="adj"/>
            </a:avLst>
          </a:prstGeom>
          <a:solidFill>
            <a:srgbClr val="E9F6F5"/>
          </a:solidFill>
          <a:ln cap="flat" cmpd="sng" w="9525">
            <a:solidFill>
              <a:srgbClr val="00A79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05" name="Google Shape;3005;p108"/>
          <p:cNvSpPr/>
          <p:nvPr/>
        </p:nvSpPr>
        <p:spPr>
          <a:xfrm>
            <a:off x="9646920" y="2702052"/>
            <a:ext cx="658368" cy="31089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56A63"/>
              </a:buClr>
              <a:buSzPts val="950"/>
              <a:buFont typeface="Calibri"/>
              <a:buNone/>
            </a:pPr>
            <a:r>
              <a:rPr b="1" i="0" lang="en-US" sz="950" u="none" cap="none" strike="noStrike">
                <a:solidFill>
                  <a:srgbClr val="056A63"/>
                </a:solidFill>
                <a:latin typeface="Calibri"/>
                <a:ea typeface="Calibri"/>
                <a:cs typeface="Calibri"/>
                <a:sym typeface="Calibri"/>
              </a:rPr>
              <a:t>LO5</a:t>
            </a:r>
            <a:endParaRPr b="0" i="0" sz="950" u="none" cap="none" strike="noStrike">
              <a:solidFill>
                <a:schemeClr val="dk1"/>
              </a:solidFill>
              <a:latin typeface="Calibri"/>
              <a:ea typeface="Calibri"/>
              <a:cs typeface="Calibri"/>
              <a:sym typeface="Calibri"/>
            </a:endParaRPr>
          </a:p>
        </p:txBody>
      </p:sp>
      <p:sp>
        <p:nvSpPr>
          <p:cNvPr id="3006" name="Google Shape;3006;p108"/>
          <p:cNvSpPr/>
          <p:nvPr/>
        </p:nvSpPr>
        <p:spPr>
          <a:xfrm>
            <a:off x="10360152" y="2702052"/>
            <a:ext cx="658368" cy="310896"/>
          </a:xfrm>
          <a:prstGeom prst="roundRect">
            <a:avLst>
              <a:gd fmla="val 50000" name="adj"/>
            </a:avLst>
          </a:prstGeom>
          <a:solidFill>
            <a:srgbClr val="E9F6F5"/>
          </a:solidFill>
          <a:ln cap="flat" cmpd="sng" w="9525">
            <a:solidFill>
              <a:srgbClr val="00A79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07" name="Google Shape;3007;p108"/>
          <p:cNvSpPr/>
          <p:nvPr/>
        </p:nvSpPr>
        <p:spPr>
          <a:xfrm>
            <a:off x="10360152" y="2702052"/>
            <a:ext cx="658368" cy="31089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56A63"/>
              </a:buClr>
              <a:buSzPts val="950"/>
              <a:buFont typeface="Calibri"/>
              <a:buNone/>
            </a:pPr>
            <a:r>
              <a:rPr b="1" i="0" lang="en-US" sz="950" u="none" cap="none" strike="noStrike">
                <a:solidFill>
                  <a:srgbClr val="056A63"/>
                </a:solidFill>
                <a:latin typeface="Calibri"/>
                <a:ea typeface="Calibri"/>
                <a:cs typeface="Calibri"/>
                <a:sym typeface="Calibri"/>
              </a:rPr>
              <a:t>LO2</a:t>
            </a:r>
            <a:endParaRPr b="0" i="0" sz="950" u="none" cap="none" strike="noStrike">
              <a:solidFill>
                <a:schemeClr val="dk1"/>
              </a:solidFill>
              <a:latin typeface="Calibri"/>
              <a:ea typeface="Calibri"/>
              <a:cs typeface="Calibri"/>
              <a:sym typeface="Calibri"/>
            </a:endParaRPr>
          </a:p>
        </p:txBody>
      </p:sp>
      <p:sp>
        <p:nvSpPr>
          <p:cNvPr id="3008" name="Google Shape;3008;p108"/>
          <p:cNvSpPr/>
          <p:nvPr/>
        </p:nvSpPr>
        <p:spPr>
          <a:xfrm>
            <a:off x="502920" y="3419856"/>
            <a:ext cx="11183112" cy="832104"/>
          </a:xfrm>
          <a:prstGeom prst="roundRect">
            <a:avLst>
              <a:gd fmla="val 7692" name="adj"/>
            </a:avLst>
          </a:prstGeom>
          <a:solidFill>
            <a:srgbClr val="FAFCFE"/>
          </a:solidFill>
          <a:ln cap="flat" cmpd="sng" w="9525">
            <a:solidFill>
              <a:srgbClr val="D9E2E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09" name="Google Shape;3009;p108"/>
          <p:cNvSpPr/>
          <p:nvPr/>
        </p:nvSpPr>
        <p:spPr>
          <a:xfrm>
            <a:off x="649224" y="3671316"/>
            <a:ext cx="329184" cy="329184"/>
          </a:xfrm>
          <a:prstGeom prst="ellipse">
            <a:avLst/>
          </a:prstGeom>
          <a:solidFill>
            <a:srgbClr val="00A79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10" name="Google Shape;3010;p108"/>
          <p:cNvSpPr/>
          <p:nvPr/>
        </p:nvSpPr>
        <p:spPr>
          <a:xfrm>
            <a:off x="649224" y="3671316"/>
            <a:ext cx="329184" cy="32918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150"/>
              <a:buFont typeface="Calibri"/>
              <a:buNone/>
            </a:pPr>
            <a:r>
              <a:rPr b="1" i="0" lang="en-US" sz="1150" u="none" cap="none" strike="noStrike">
                <a:solidFill>
                  <a:srgbClr val="FFFFFF"/>
                </a:solidFill>
                <a:latin typeface="Calibri"/>
                <a:ea typeface="Calibri"/>
                <a:cs typeface="Calibri"/>
                <a:sym typeface="Calibri"/>
              </a:rPr>
              <a:t>6.3</a:t>
            </a:r>
            <a:endParaRPr b="0" i="0" sz="1150" u="none" cap="none" strike="noStrike">
              <a:solidFill>
                <a:schemeClr val="dk1"/>
              </a:solidFill>
              <a:latin typeface="Calibri"/>
              <a:ea typeface="Calibri"/>
              <a:cs typeface="Calibri"/>
              <a:sym typeface="Calibri"/>
            </a:endParaRPr>
          </a:p>
        </p:txBody>
      </p:sp>
      <p:sp>
        <p:nvSpPr>
          <p:cNvPr id="3011" name="Google Shape;3011;p108"/>
          <p:cNvSpPr/>
          <p:nvPr/>
        </p:nvSpPr>
        <p:spPr>
          <a:xfrm>
            <a:off x="1143000" y="3419856"/>
            <a:ext cx="8321040" cy="83210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3293B"/>
              </a:buClr>
              <a:buSzPts val="1250"/>
              <a:buFont typeface="Calibri"/>
              <a:buNone/>
            </a:pPr>
            <a:r>
              <a:rPr b="0" i="0" lang="en-US" sz="1250" u="none" cap="none" strike="noStrike">
                <a:solidFill>
                  <a:srgbClr val="23293B"/>
                </a:solidFill>
                <a:latin typeface="Calibri"/>
                <a:ea typeface="Calibri"/>
                <a:cs typeface="Calibri"/>
                <a:sym typeface="Calibri"/>
              </a:rPr>
              <a:t>Design slice-based evaluation; detect minority-slice failures hidden by aggregates</a:t>
            </a:r>
            <a:endParaRPr b="0" i="0" sz="1250" u="none" cap="none" strike="noStrike">
              <a:solidFill>
                <a:schemeClr val="dk1"/>
              </a:solidFill>
              <a:latin typeface="Calibri"/>
              <a:ea typeface="Calibri"/>
              <a:cs typeface="Calibri"/>
              <a:sym typeface="Calibri"/>
            </a:endParaRPr>
          </a:p>
        </p:txBody>
      </p:sp>
      <p:sp>
        <p:nvSpPr>
          <p:cNvPr id="3012" name="Google Shape;3012;p108"/>
          <p:cNvSpPr/>
          <p:nvPr/>
        </p:nvSpPr>
        <p:spPr>
          <a:xfrm>
            <a:off x="9646920" y="3662172"/>
            <a:ext cx="658368" cy="310896"/>
          </a:xfrm>
          <a:prstGeom prst="roundRect">
            <a:avLst>
              <a:gd fmla="val 50000" name="adj"/>
            </a:avLst>
          </a:prstGeom>
          <a:solidFill>
            <a:srgbClr val="E9F6F5"/>
          </a:solidFill>
          <a:ln cap="flat" cmpd="sng" w="9525">
            <a:solidFill>
              <a:srgbClr val="00A79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13" name="Google Shape;3013;p108"/>
          <p:cNvSpPr/>
          <p:nvPr/>
        </p:nvSpPr>
        <p:spPr>
          <a:xfrm>
            <a:off x="9646920" y="3662172"/>
            <a:ext cx="658368" cy="31089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56A63"/>
              </a:buClr>
              <a:buSzPts val="950"/>
              <a:buFont typeface="Calibri"/>
              <a:buNone/>
            </a:pPr>
            <a:r>
              <a:rPr b="1" i="0" lang="en-US" sz="950" u="none" cap="none" strike="noStrike">
                <a:solidFill>
                  <a:srgbClr val="056A63"/>
                </a:solidFill>
                <a:latin typeface="Calibri"/>
                <a:ea typeface="Calibri"/>
                <a:cs typeface="Calibri"/>
                <a:sym typeface="Calibri"/>
              </a:rPr>
              <a:t>LO5</a:t>
            </a:r>
            <a:endParaRPr b="0" i="0" sz="950" u="none" cap="none" strike="noStrike">
              <a:solidFill>
                <a:schemeClr val="dk1"/>
              </a:solidFill>
              <a:latin typeface="Calibri"/>
              <a:ea typeface="Calibri"/>
              <a:cs typeface="Calibri"/>
              <a:sym typeface="Calibri"/>
            </a:endParaRPr>
          </a:p>
        </p:txBody>
      </p:sp>
      <p:sp>
        <p:nvSpPr>
          <p:cNvPr id="3014" name="Google Shape;3014;p108"/>
          <p:cNvSpPr/>
          <p:nvPr/>
        </p:nvSpPr>
        <p:spPr>
          <a:xfrm>
            <a:off x="10360152" y="3662172"/>
            <a:ext cx="658368" cy="310896"/>
          </a:xfrm>
          <a:prstGeom prst="roundRect">
            <a:avLst>
              <a:gd fmla="val 50000" name="adj"/>
            </a:avLst>
          </a:prstGeom>
          <a:solidFill>
            <a:srgbClr val="E9F6F5"/>
          </a:solidFill>
          <a:ln cap="flat" cmpd="sng" w="9525">
            <a:solidFill>
              <a:srgbClr val="00A79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15" name="Google Shape;3015;p108"/>
          <p:cNvSpPr/>
          <p:nvPr/>
        </p:nvSpPr>
        <p:spPr>
          <a:xfrm>
            <a:off x="10360152" y="3662172"/>
            <a:ext cx="658368" cy="31089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56A63"/>
              </a:buClr>
              <a:buSzPts val="950"/>
              <a:buFont typeface="Calibri"/>
              <a:buNone/>
            </a:pPr>
            <a:r>
              <a:rPr b="1" i="0" lang="en-US" sz="950" u="none" cap="none" strike="noStrike">
                <a:solidFill>
                  <a:srgbClr val="056A63"/>
                </a:solidFill>
                <a:latin typeface="Calibri"/>
                <a:ea typeface="Calibri"/>
                <a:cs typeface="Calibri"/>
                <a:sym typeface="Calibri"/>
              </a:rPr>
              <a:t>LO3</a:t>
            </a:r>
            <a:endParaRPr b="0" i="0" sz="950" u="none" cap="none" strike="noStrike">
              <a:solidFill>
                <a:schemeClr val="dk1"/>
              </a:solidFill>
              <a:latin typeface="Calibri"/>
              <a:ea typeface="Calibri"/>
              <a:cs typeface="Calibri"/>
              <a:sym typeface="Calibri"/>
            </a:endParaRPr>
          </a:p>
        </p:txBody>
      </p:sp>
      <p:sp>
        <p:nvSpPr>
          <p:cNvPr id="3016" name="Google Shape;3016;p108"/>
          <p:cNvSpPr/>
          <p:nvPr/>
        </p:nvSpPr>
        <p:spPr>
          <a:xfrm>
            <a:off x="502920" y="4379976"/>
            <a:ext cx="11183112" cy="832104"/>
          </a:xfrm>
          <a:prstGeom prst="roundRect">
            <a:avLst>
              <a:gd fmla="val 7692" name="adj"/>
            </a:avLst>
          </a:prstGeom>
          <a:solidFill>
            <a:srgbClr val="F2F6F9"/>
          </a:solidFill>
          <a:ln cap="flat" cmpd="sng" w="9525">
            <a:solidFill>
              <a:srgbClr val="D9E2E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17" name="Google Shape;3017;p108"/>
          <p:cNvSpPr/>
          <p:nvPr/>
        </p:nvSpPr>
        <p:spPr>
          <a:xfrm>
            <a:off x="649224" y="4631436"/>
            <a:ext cx="329184" cy="329184"/>
          </a:xfrm>
          <a:prstGeom prst="ellipse">
            <a:avLst/>
          </a:prstGeom>
          <a:solidFill>
            <a:srgbClr val="00A79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18" name="Google Shape;3018;p108"/>
          <p:cNvSpPr/>
          <p:nvPr/>
        </p:nvSpPr>
        <p:spPr>
          <a:xfrm>
            <a:off x="649224" y="4631436"/>
            <a:ext cx="329184" cy="32918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150"/>
              <a:buFont typeface="Calibri"/>
              <a:buNone/>
            </a:pPr>
            <a:r>
              <a:rPr b="1" i="0" lang="en-US" sz="1150" u="none" cap="none" strike="noStrike">
                <a:solidFill>
                  <a:srgbClr val="FFFFFF"/>
                </a:solidFill>
                <a:latin typeface="Calibri"/>
                <a:ea typeface="Calibri"/>
                <a:cs typeface="Calibri"/>
                <a:sym typeface="Calibri"/>
              </a:rPr>
              <a:t>6.4</a:t>
            </a:r>
            <a:endParaRPr b="0" i="0" sz="1150" u="none" cap="none" strike="noStrike">
              <a:solidFill>
                <a:schemeClr val="dk1"/>
              </a:solidFill>
              <a:latin typeface="Calibri"/>
              <a:ea typeface="Calibri"/>
              <a:cs typeface="Calibri"/>
              <a:sym typeface="Calibri"/>
            </a:endParaRPr>
          </a:p>
        </p:txBody>
      </p:sp>
      <p:sp>
        <p:nvSpPr>
          <p:cNvPr id="3019" name="Google Shape;3019;p108"/>
          <p:cNvSpPr/>
          <p:nvPr/>
        </p:nvSpPr>
        <p:spPr>
          <a:xfrm>
            <a:off x="1143000" y="4379976"/>
            <a:ext cx="8321040" cy="83210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3293B"/>
              </a:buClr>
              <a:buSzPts val="1250"/>
              <a:buFont typeface="Calibri"/>
              <a:buNone/>
            </a:pPr>
            <a:r>
              <a:rPr b="0" i="0" lang="en-US" sz="1250" u="none" cap="none" strike="noStrike">
                <a:solidFill>
                  <a:srgbClr val="23293B"/>
                </a:solidFill>
                <a:latin typeface="Calibri"/>
                <a:ea typeface="Calibri"/>
                <a:cs typeface="Calibri"/>
                <a:sym typeface="Calibri"/>
              </a:rPr>
              <a:t>Classify detection errors into a taxonomy; prioritise remediation by error mass</a:t>
            </a:r>
            <a:endParaRPr b="0" i="0" sz="1250" u="none" cap="none" strike="noStrike">
              <a:solidFill>
                <a:schemeClr val="dk1"/>
              </a:solidFill>
              <a:latin typeface="Calibri"/>
              <a:ea typeface="Calibri"/>
              <a:cs typeface="Calibri"/>
              <a:sym typeface="Calibri"/>
            </a:endParaRPr>
          </a:p>
        </p:txBody>
      </p:sp>
      <p:sp>
        <p:nvSpPr>
          <p:cNvPr id="3020" name="Google Shape;3020;p108"/>
          <p:cNvSpPr/>
          <p:nvPr/>
        </p:nvSpPr>
        <p:spPr>
          <a:xfrm>
            <a:off x="9646920" y="4622292"/>
            <a:ext cx="658368" cy="310896"/>
          </a:xfrm>
          <a:prstGeom prst="roundRect">
            <a:avLst>
              <a:gd fmla="val 50000" name="adj"/>
            </a:avLst>
          </a:prstGeom>
          <a:solidFill>
            <a:srgbClr val="E9F6F5"/>
          </a:solidFill>
          <a:ln cap="flat" cmpd="sng" w="9525">
            <a:solidFill>
              <a:srgbClr val="00A79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21" name="Google Shape;3021;p108"/>
          <p:cNvSpPr/>
          <p:nvPr/>
        </p:nvSpPr>
        <p:spPr>
          <a:xfrm>
            <a:off x="9646920" y="4622292"/>
            <a:ext cx="658368" cy="31089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56A63"/>
              </a:buClr>
              <a:buSzPts val="950"/>
              <a:buFont typeface="Calibri"/>
              <a:buNone/>
            </a:pPr>
            <a:r>
              <a:rPr b="1" i="0" lang="en-US" sz="950" u="none" cap="none" strike="noStrike">
                <a:solidFill>
                  <a:srgbClr val="056A63"/>
                </a:solidFill>
                <a:latin typeface="Calibri"/>
                <a:ea typeface="Calibri"/>
                <a:cs typeface="Calibri"/>
                <a:sym typeface="Calibri"/>
              </a:rPr>
              <a:t>LO5</a:t>
            </a:r>
            <a:endParaRPr b="0" i="0" sz="950" u="none" cap="none" strike="noStrike">
              <a:solidFill>
                <a:schemeClr val="dk1"/>
              </a:solidFill>
              <a:latin typeface="Calibri"/>
              <a:ea typeface="Calibri"/>
              <a:cs typeface="Calibri"/>
              <a:sym typeface="Calibri"/>
            </a:endParaRPr>
          </a:p>
        </p:txBody>
      </p:sp>
      <p:sp>
        <p:nvSpPr>
          <p:cNvPr id="3022" name="Google Shape;3022;p108"/>
          <p:cNvSpPr/>
          <p:nvPr/>
        </p:nvSpPr>
        <p:spPr>
          <a:xfrm>
            <a:off x="502920" y="5340096"/>
            <a:ext cx="11183112" cy="832104"/>
          </a:xfrm>
          <a:prstGeom prst="roundRect">
            <a:avLst>
              <a:gd fmla="val 7692" name="adj"/>
            </a:avLst>
          </a:prstGeom>
          <a:solidFill>
            <a:srgbClr val="FAFCFE"/>
          </a:solidFill>
          <a:ln cap="flat" cmpd="sng" w="9525">
            <a:solidFill>
              <a:srgbClr val="D9E2E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23" name="Google Shape;3023;p108"/>
          <p:cNvSpPr/>
          <p:nvPr/>
        </p:nvSpPr>
        <p:spPr>
          <a:xfrm>
            <a:off x="649224" y="5591556"/>
            <a:ext cx="329184" cy="329184"/>
          </a:xfrm>
          <a:prstGeom prst="ellipse">
            <a:avLst/>
          </a:prstGeom>
          <a:solidFill>
            <a:srgbClr val="00A79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24" name="Google Shape;3024;p108"/>
          <p:cNvSpPr/>
          <p:nvPr/>
        </p:nvSpPr>
        <p:spPr>
          <a:xfrm>
            <a:off x="649224" y="5591556"/>
            <a:ext cx="329184" cy="32918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150"/>
              <a:buFont typeface="Calibri"/>
              <a:buNone/>
            </a:pPr>
            <a:r>
              <a:rPr b="1" i="0" lang="en-US" sz="1150" u="none" cap="none" strike="noStrike">
                <a:solidFill>
                  <a:srgbClr val="FFFFFF"/>
                </a:solidFill>
                <a:latin typeface="Calibri"/>
                <a:ea typeface="Calibri"/>
                <a:cs typeface="Calibri"/>
                <a:sym typeface="Calibri"/>
              </a:rPr>
              <a:t>6.5</a:t>
            </a:r>
            <a:endParaRPr b="0" i="0" sz="1150" u="none" cap="none" strike="noStrike">
              <a:solidFill>
                <a:schemeClr val="dk1"/>
              </a:solidFill>
              <a:latin typeface="Calibri"/>
              <a:ea typeface="Calibri"/>
              <a:cs typeface="Calibri"/>
              <a:sym typeface="Calibri"/>
            </a:endParaRPr>
          </a:p>
        </p:txBody>
      </p:sp>
      <p:sp>
        <p:nvSpPr>
          <p:cNvPr id="3025" name="Google Shape;3025;p108"/>
          <p:cNvSpPr/>
          <p:nvPr/>
        </p:nvSpPr>
        <p:spPr>
          <a:xfrm>
            <a:off x="1143000" y="5340096"/>
            <a:ext cx="8321040" cy="83210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3293B"/>
              </a:buClr>
              <a:buSzPts val="1250"/>
              <a:buFont typeface="Calibri"/>
              <a:buNone/>
            </a:pPr>
            <a:r>
              <a:rPr b="0" i="0" lang="en-US" sz="1250" u="none" cap="none" strike="noStrike">
                <a:solidFill>
                  <a:srgbClr val="23293B"/>
                </a:solidFill>
                <a:latin typeface="Calibri"/>
                <a:ea typeface="Calibri"/>
                <a:cs typeface="Calibri"/>
                <a:sym typeface="Calibri"/>
              </a:rPr>
              <a:t>Build a deterministic, versioned evaluation harness usable as a regression gate</a:t>
            </a:r>
            <a:endParaRPr b="0" i="0" sz="1250" u="none" cap="none" strike="noStrike">
              <a:solidFill>
                <a:schemeClr val="dk1"/>
              </a:solidFill>
              <a:latin typeface="Calibri"/>
              <a:ea typeface="Calibri"/>
              <a:cs typeface="Calibri"/>
              <a:sym typeface="Calibri"/>
            </a:endParaRPr>
          </a:p>
        </p:txBody>
      </p:sp>
      <p:sp>
        <p:nvSpPr>
          <p:cNvPr id="3026" name="Google Shape;3026;p108"/>
          <p:cNvSpPr/>
          <p:nvPr/>
        </p:nvSpPr>
        <p:spPr>
          <a:xfrm>
            <a:off x="9646920" y="5582412"/>
            <a:ext cx="658368" cy="310896"/>
          </a:xfrm>
          <a:prstGeom prst="roundRect">
            <a:avLst>
              <a:gd fmla="val 50000" name="adj"/>
            </a:avLst>
          </a:prstGeom>
          <a:solidFill>
            <a:srgbClr val="E9F6F5"/>
          </a:solidFill>
          <a:ln cap="flat" cmpd="sng" w="9525">
            <a:solidFill>
              <a:srgbClr val="00A79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27" name="Google Shape;3027;p108"/>
          <p:cNvSpPr/>
          <p:nvPr/>
        </p:nvSpPr>
        <p:spPr>
          <a:xfrm>
            <a:off x="9646920" y="5582412"/>
            <a:ext cx="658368" cy="31089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56A63"/>
              </a:buClr>
              <a:buSzPts val="950"/>
              <a:buFont typeface="Calibri"/>
              <a:buNone/>
            </a:pPr>
            <a:r>
              <a:rPr b="1" i="0" lang="en-US" sz="950" u="none" cap="none" strike="noStrike">
                <a:solidFill>
                  <a:srgbClr val="056A63"/>
                </a:solidFill>
                <a:latin typeface="Calibri"/>
                <a:ea typeface="Calibri"/>
                <a:cs typeface="Calibri"/>
                <a:sym typeface="Calibri"/>
              </a:rPr>
              <a:t>LO5</a:t>
            </a:r>
            <a:endParaRPr b="0" i="0" sz="950" u="none" cap="none" strike="noStrike">
              <a:solidFill>
                <a:schemeClr val="dk1"/>
              </a:solidFill>
              <a:latin typeface="Calibri"/>
              <a:ea typeface="Calibri"/>
              <a:cs typeface="Calibri"/>
              <a:sym typeface="Calibri"/>
            </a:endParaRPr>
          </a:p>
        </p:txBody>
      </p:sp>
      <p:sp>
        <p:nvSpPr>
          <p:cNvPr id="3028" name="Google Shape;3028;p108"/>
          <p:cNvSpPr/>
          <p:nvPr/>
        </p:nvSpPr>
        <p:spPr>
          <a:xfrm>
            <a:off x="10360152" y="5582412"/>
            <a:ext cx="658368" cy="310896"/>
          </a:xfrm>
          <a:prstGeom prst="roundRect">
            <a:avLst>
              <a:gd fmla="val 50000" name="adj"/>
            </a:avLst>
          </a:prstGeom>
          <a:solidFill>
            <a:srgbClr val="E9F6F5"/>
          </a:solidFill>
          <a:ln cap="flat" cmpd="sng" w="9525">
            <a:solidFill>
              <a:srgbClr val="00A79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29" name="Google Shape;3029;p108"/>
          <p:cNvSpPr/>
          <p:nvPr/>
        </p:nvSpPr>
        <p:spPr>
          <a:xfrm>
            <a:off x="10360152" y="5582412"/>
            <a:ext cx="658368" cy="31089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56A63"/>
              </a:buClr>
              <a:buSzPts val="950"/>
              <a:buFont typeface="Calibri"/>
              <a:buNone/>
            </a:pPr>
            <a:r>
              <a:rPr b="1" i="0" lang="en-US" sz="950" u="none" cap="none" strike="noStrike">
                <a:solidFill>
                  <a:srgbClr val="056A63"/>
                </a:solidFill>
                <a:latin typeface="Calibri"/>
                <a:ea typeface="Calibri"/>
                <a:cs typeface="Calibri"/>
                <a:sym typeface="Calibri"/>
              </a:rPr>
              <a:t>LO6</a:t>
            </a:r>
            <a:endParaRPr b="0" i="0" sz="950" u="none" cap="none" strike="noStrike">
              <a:solidFill>
                <a:schemeClr val="dk1"/>
              </a:solidFill>
              <a:latin typeface="Calibri"/>
              <a:ea typeface="Calibri"/>
              <a:cs typeface="Calibri"/>
              <a:sym typeface="Calibri"/>
            </a:endParaRPr>
          </a:p>
        </p:txBody>
      </p:sp>
    </p:spTree>
  </p:cSld>
  <p:clrMapOvr>
    <a:masterClrMapping/>
  </p:clrMapOvr>
</p:sld>
</file>

<file path=ppt/slides/slide10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034" name="Shape 3034"/>
        <p:cNvGrpSpPr/>
        <p:nvPr/>
      </p:nvGrpSpPr>
      <p:grpSpPr>
        <a:xfrm>
          <a:off x="0" y="0"/>
          <a:ext cx="0" cy="0"/>
          <a:chOff x="0" y="0"/>
          <a:chExt cx="0" cy="0"/>
        </a:xfrm>
      </p:grpSpPr>
      <p:sp>
        <p:nvSpPr>
          <p:cNvPr id="3035" name="Google Shape;3035;p109"/>
          <p:cNvSpPr/>
          <p:nvPr/>
        </p:nvSpPr>
        <p:spPr>
          <a:xfrm>
            <a:off x="502920" y="274320"/>
            <a:ext cx="9646920" cy="56692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D2A5C"/>
              </a:buClr>
              <a:buSzPts val="2700"/>
              <a:buFont typeface="Calibri"/>
              <a:buNone/>
            </a:pPr>
            <a:r>
              <a:rPr b="1" i="0" lang="en-US" sz="2700" u="none" cap="none" strike="noStrike">
                <a:solidFill>
                  <a:srgbClr val="1D2A5C"/>
                </a:solidFill>
                <a:latin typeface="Calibri"/>
                <a:ea typeface="Calibri"/>
                <a:cs typeface="Calibri"/>
                <a:sym typeface="Calibri"/>
              </a:rPr>
              <a:t>The Matching Procedure</a:t>
            </a:r>
            <a:endParaRPr b="0" i="0" sz="2700" u="none" cap="none" strike="noStrike">
              <a:solidFill>
                <a:schemeClr val="dk1"/>
              </a:solidFill>
              <a:latin typeface="Calibri"/>
              <a:ea typeface="Calibri"/>
              <a:cs typeface="Calibri"/>
              <a:sym typeface="Calibri"/>
            </a:endParaRPr>
          </a:p>
        </p:txBody>
      </p:sp>
      <p:sp>
        <p:nvSpPr>
          <p:cNvPr id="3036" name="Google Shape;3036;p109"/>
          <p:cNvSpPr/>
          <p:nvPr/>
        </p:nvSpPr>
        <p:spPr>
          <a:xfrm>
            <a:off x="502920" y="859536"/>
            <a:ext cx="9646920" cy="31089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F6B7A"/>
              </a:buClr>
              <a:buSzPts val="1250"/>
              <a:buFont typeface="Arial"/>
              <a:buNone/>
            </a:pPr>
            <a:r>
              <a:rPr b="0" i="0" lang="en-US" sz="1250" u="none" cap="none" strike="noStrike">
                <a:solidFill>
                  <a:srgbClr val="5F6B7A"/>
                </a:solidFill>
                <a:latin typeface="Arial"/>
                <a:ea typeface="Arial"/>
                <a:cs typeface="Arial"/>
                <a:sym typeface="Arial"/>
              </a:rPr>
              <a:t>إجراء المطابقة</a:t>
            </a:r>
            <a:endParaRPr b="0" i="0" sz="1250" u="none" cap="none" strike="noStrike">
              <a:solidFill>
                <a:schemeClr val="dk1"/>
              </a:solidFill>
              <a:latin typeface="Calibri"/>
              <a:ea typeface="Calibri"/>
              <a:cs typeface="Calibri"/>
              <a:sym typeface="Calibri"/>
            </a:endParaRPr>
          </a:p>
        </p:txBody>
      </p:sp>
      <p:pic>
        <p:nvPicPr>
          <p:cNvPr descr="/sessions/blissful-determined-ritchie/build/assets/sdaia_logo.png" id="3037" name="Google Shape;3037;p109"/>
          <p:cNvPicPr preferRelativeResize="0"/>
          <p:nvPr/>
        </p:nvPicPr>
        <p:blipFill rotWithShape="1">
          <a:blip r:embed="rId3">
            <a:alphaModFix/>
          </a:blip>
          <a:srcRect b="0" l="0" r="0" t="0"/>
          <a:stretch/>
        </p:blipFill>
        <p:spPr>
          <a:xfrm>
            <a:off x="10625328" y="310896"/>
            <a:ext cx="1078992" cy="264111"/>
          </a:xfrm>
          <a:prstGeom prst="rect">
            <a:avLst/>
          </a:prstGeom>
          <a:noFill/>
          <a:ln>
            <a:noFill/>
          </a:ln>
        </p:spPr>
      </p:pic>
      <p:sp>
        <p:nvSpPr>
          <p:cNvPr id="3038" name="Google Shape;3038;p109"/>
          <p:cNvSpPr/>
          <p:nvPr/>
        </p:nvSpPr>
        <p:spPr>
          <a:xfrm>
            <a:off x="502920" y="6528816"/>
            <a:ext cx="8686800"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A79D"/>
              </a:buClr>
              <a:buSzPts val="800"/>
              <a:buFont typeface="Calibri"/>
              <a:buNone/>
            </a:pPr>
            <a:r>
              <a:rPr b="1" i="0" lang="en-US" sz="800" u="none" cap="none" strike="noStrike">
                <a:solidFill>
                  <a:srgbClr val="00A79D"/>
                </a:solidFill>
                <a:latin typeface="Calibri"/>
                <a:ea typeface="Calibri"/>
                <a:cs typeface="Calibri"/>
                <a:sym typeface="Calibri"/>
              </a:rPr>
              <a:t>MODULE 6   </a:t>
            </a:r>
            <a:r>
              <a:rPr b="0" i="0" lang="en-US" sz="800" u="none" cap="none" strike="noStrike">
                <a:solidFill>
                  <a:srgbClr val="8A96A6"/>
                </a:solidFill>
                <a:latin typeface="Calibri"/>
                <a:ea typeface="Calibri"/>
                <a:cs typeface="Calibri"/>
                <a:sym typeface="Calibri"/>
              </a:rPr>
              <a:t>SDA-AIE-212 · Computer Vision Systems Development</a:t>
            </a:r>
            <a:endParaRPr b="0" i="0" sz="800" u="none" cap="none" strike="noStrike">
              <a:solidFill>
                <a:schemeClr val="dk1"/>
              </a:solidFill>
              <a:latin typeface="Calibri"/>
              <a:ea typeface="Calibri"/>
              <a:cs typeface="Calibri"/>
              <a:sym typeface="Calibri"/>
            </a:endParaRPr>
          </a:p>
        </p:txBody>
      </p:sp>
      <p:sp>
        <p:nvSpPr>
          <p:cNvPr id="3039" name="Google Shape;3039;p109"/>
          <p:cNvSpPr/>
          <p:nvPr/>
        </p:nvSpPr>
        <p:spPr>
          <a:xfrm>
            <a:off x="11292840" y="6528816"/>
            <a:ext cx="411480" cy="219456"/>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8A96A6"/>
              </a:buClr>
              <a:buSzPts val="900"/>
              <a:buFont typeface="Calibri"/>
              <a:buNone/>
            </a:pPr>
            <a:r>
              <a:rPr b="0" i="0" lang="en-US" sz="900" u="none" cap="none" strike="noStrike">
                <a:solidFill>
                  <a:srgbClr val="8A96A6"/>
                </a:solidFill>
                <a:latin typeface="Calibri"/>
                <a:ea typeface="Calibri"/>
                <a:cs typeface="Calibri"/>
                <a:sym typeface="Calibri"/>
              </a:rPr>
              <a:t>109</a:t>
            </a:r>
            <a:endParaRPr b="0" i="0" sz="900" u="none" cap="none" strike="noStrike">
              <a:solidFill>
                <a:schemeClr val="dk1"/>
              </a:solidFill>
              <a:latin typeface="Calibri"/>
              <a:ea typeface="Calibri"/>
              <a:cs typeface="Calibri"/>
              <a:sym typeface="Calibri"/>
            </a:endParaRPr>
          </a:p>
        </p:txBody>
      </p:sp>
      <p:sp>
        <p:nvSpPr>
          <p:cNvPr id="3040" name="Google Shape;3040;p109"/>
          <p:cNvSpPr/>
          <p:nvPr/>
        </p:nvSpPr>
        <p:spPr>
          <a:xfrm>
            <a:off x="502920" y="1389888"/>
            <a:ext cx="11185855" cy="384048"/>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5F6B7A"/>
              </a:buClr>
              <a:buSzPts val="1250"/>
              <a:buFont typeface="Calibri"/>
              <a:buNone/>
            </a:pPr>
            <a:r>
              <a:rPr b="0" i="1" lang="en-US" sz="1250" u="none" cap="none" strike="noStrike">
                <a:solidFill>
                  <a:srgbClr val="5F6B7A"/>
                </a:solidFill>
                <a:latin typeface="Calibri"/>
                <a:ea typeface="Calibri"/>
                <a:cs typeface="Calibri"/>
                <a:sym typeface="Calibri"/>
              </a:rPr>
              <a:t>Which prediction corresponds to which ground truth? Every subtlety that trips practitioners lives here.</a:t>
            </a:r>
            <a:endParaRPr b="0" i="0" sz="1250" u="none" cap="none" strike="noStrike">
              <a:solidFill>
                <a:schemeClr val="dk1"/>
              </a:solidFill>
              <a:latin typeface="Calibri"/>
              <a:ea typeface="Calibri"/>
              <a:cs typeface="Calibri"/>
              <a:sym typeface="Calibri"/>
            </a:endParaRPr>
          </a:p>
        </p:txBody>
      </p:sp>
      <p:sp>
        <p:nvSpPr>
          <p:cNvPr id="3041" name="Google Shape;3041;p109"/>
          <p:cNvSpPr/>
          <p:nvPr/>
        </p:nvSpPr>
        <p:spPr>
          <a:xfrm>
            <a:off x="502920" y="3118104"/>
            <a:ext cx="2508428" cy="1371600"/>
          </a:xfrm>
          <a:prstGeom prst="roundRect">
            <a:avLst>
              <a:gd fmla="val 4667" name="adj"/>
            </a:avLst>
          </a:prstGeom>
          <a:solidFill>
            <a:srgbClr val="F2F6F9"/>
          </a:solidFill>
          <a:ln cap="flat" cmpd="sng" w="15875">
            <a:solidFill>
              <a:srgbClr val="00A79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42" name="Google Shape;3042;p109"/>
          <p:cNvSpPr/>
          <p:nvPr/>
        </p:nvSpPr>
        <p:spPr>
          <a:xfrm>
            <a:off x="576072" y="3172968"/>
            <a:ext cx="2362124" cy="6172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D2A5C"/>
              </a:buClr>
              <a:buSzPts val="1250"/>
              <a:buFont typeface="Calibri"/>
              <a:buNone/>
            </a:pPr>
            <a:r>
              <a:rPr b="1" i="0" lang="en-US" sz="1250" u="none" cap="none" strike="noStrike">
                <a:solidFill>
                  <a:srgbClr val="1D2A5C"/>
                </a:solidFill>
                <a:latin typeface="Calibri"/>
                <a:ea typeface="Calibri"/>
                <a:cs typeface="Calibri"/>
                <a:sym typeface="Calibri"/>
              </a:rPr>
              <a:t>Sort by confidence</a:t>
            </a:r>
            <a:endParaRPr b="0" i="0" sz="1250" u="none" cap="none" strike="noStrike">
              <a:solidFill>
                <a:schemeClr val="dk1"/>
              </a:solidFill>
              <a:latin typeface="Calibri"/>
              <a:ea typeface="Calibri"/>
              <a:cs typeface="Calibri"/>
              <a:sym typeface="Calibri"/>
            </a:endParaRPr>
          </a:p>
        </p:txBody>
      </p:sp>
      <p:sp>
        <p:nvSpPr>
          <p:cNvPr id="3043" name="Google Shape;3043;p109"/>
          <p:cNvSpPr/>
          <p:nvPr/>
        </p:nvSpPr>
        <p:spPr>
          <a:xfrm>
            <a:off x="576072" y="3776472"/>
            <a:ext cx="2362124" cy="658368"/>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rgbClr val="5F6B7A"/>
              </a:buClr>
              <a:buSzPts val="950"/>
              <a:buFont typeface="Calibri"/>
              <a:buNone/>
            </a:pPr>
            <a:r>
              <a:rPr b="0" i="0" lang="en-US" sz="950" u="none" cap="none" strike="noStrike">
                <a:solidFill>
                  <a:srgbClr val="5F6B7A"/>
                </a:solidFill>
                <a:latin typeface="Calibri"/>
                <a:ea typeface="Calibri"/>
                <a:cs typeface="Calibri"/>
                <a:sym typeface="Calibri"/>
              </a:rPr>
              <a:t>descending; greedy order matters</a:t>
            </a:r>
            <a:endParaRPr b="0" i="0" sz="950" u="none" cap="none" strike="noStrike">
              <a:solidFill>
                <a:schemeClr val="dk1"/>
              </a:solidFill>
              <a:latin typeface="Calibri"/>
              <a:ea typeface="Calibri"/>
              <a:cs typeface="Calibri"/>
              <a:sym typeface="Calibri"/>
            </a:endParaRPr>
          </a:p>
        </p:txBody>
      </p:sp>
      <p:cxnSp>
        <p:nvCxnSpPr>
          <p:cNvPr id="3044" name="Google Shape;3044;p109"/>
          <p:cNvCxnSpPr/>
          <p:nvPr/>
        </p:nvCxnSpPr>
        <p:spPr>
          <a:xfrm>
            <a:off x="3066212" y="3803904"/>
            <a:ext cx="274320" cy="0"/>
          </a:xfrm>
          <a:prstGeom prst="straightConnector1">
            <a:avLst/>
          </a:prstGeom>
          <a:noFill/>
          <a:ln cap="flat" cmpd="sng" w="19050">
            <a:solidFill>
              <a:srgbClr val="8A96A6"/>
            </a:solidFill>
            <a:prstDash val="solid"/>
            <a:round/>
            <a:headEnd len="sm" w="sm" type="none"/>
            <a:tailEnd len="med" w="med" type="triangle"/>
          </a:ln>
        </p:spPr>
      </p:cxnSp>
      <p:sp>
        <p:nvSpPr>
          <p:cNvPr id="3045" name="Google Shape;3045;p109"/>
          <p:cNvSpPr/>
          <p:nvPr/>
        </p:nvSpPr>
        <p:spPr>
          <a:xfrm>
            <a:off x="3395396" y="3118104"/>
            <a:ext cx="2508428" cy="1371600"/>
          </a:xfrm>
          <a:prstGeom prst="roundRect">
            <a:avLst>
              <a:gd fmla="val 4667" name="adj"/>
            </a:avLst>
          </a:prstGeom>
          <a:solidFill>
            <a:srgbClr val="F2F6F9"/>
          </a:solidFill>
          <a:ln cap="flat" cmpd="sng" w="15875">
            <a:solidFill>
              <a:srgbClr val="00A79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46" name="Google Shape;3046;p109"/>
          <p:cNvSpPr/>
          <p:nvPr/>
        </p:nvSpPr>
        <p:spPr>
          <a:xfrm>
            <a:off x="3468548" y="3172968"/>
            <a:ext cx="2362124" cy="6172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D2A5C"/>
              </a:buClr>
              <a:buSzPts val="1250"/>
              <a:buFont typeface="Calibri"/>
              <a:buNone/>
            </a:pPr>
            <a:r>
              <a:rPr b="1" i="0" lang="en-US" sz="1250" u="none" cap="none" strike="noStrike">
                <a:solidFill>
                  <a:srgbClr val="1D2A5C"/>
                </a:solidFill>
                <a:latin typeface="Calibri"/>
                <a:ea typeface="Calibri"/>
                <a:cs typeface="Calibri"/>
                <a:sym typeface="Calibri"/>
              </a:rPr>
              <a:t>IoU vs unmatched GT</a:t>
            </a:r>
            <a:endParaRPr b="0" i="0" sz="1250" u="none" cap="none" strike="noStrike">
              <a:solidFill>
                <a:schemeClr val="dk1"/>
              </a:solidFill>
              <a:latin typeface="Calibri"/>
              <a:ea typeface="Calibri"/>
              <a:cs typeface="Calibri"/>
              <a:sym typeface="Calibri"/>
            </a:endParaRPr>
          </a:p>
        </p:txBody>
      </p:sp>
      <p:sp>
        <p:nvSpPr>
          <p:cNvPr id="3047" name="Google Shape;3047;p109"/>
          <p:cNvSpPr/>
          <p:nvPr/>
        </p:nvSpPr>
        <p:spPr>
          <a:xfrm>
            <a:off x="3468548" y="3776472"/>
            <a:ext cx="2362124" cy="658368"/>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rgbClr val="5F6B7A"/>
              </a:buClr>
              <a:buSzPts val="950"/>
              <a:buFont typeface="Calibri"/>
              <a:buNone/>
            </a:pPr>
            <a:r>
              <a:rPr b="0" i="0" lang="en-US" sz="950" u="none" cap="none" strike="noStrike">
                <a:solidFill>
                  <a:srgbClr val="5F6B7A"/>
                </a:solidFill>
                <a:latin typeface="Calibri"/>
                <a:ea typeface="Calibri"/>
                <a:cs typeface="Calibri"/>
                <a:sym typeface="Calibri"/>
              </a:rPr>
              <a:t>same class, same image only</a:t>
            </a:r>
            <a:endParaRPr b="0" i="0" sz="950" u="none" cap="none" strike="noStrike">
              <a:solidFill>
                <a:schemeClr val="dk1"/>
              </a:solidFill>
              <a:latin typeface="Calibri"/>
              <a:ea typeface="Calibri"/>
              <a:cs typeface="Calibri"/>
              <a:sym typeface="Calibri"/>
            </a:endParaRPr>
          </a:p>
        </p:txBody>
      </p:sp>
      <p:cxnSp>
        <p:nvCxnSpPr>
          <p:cNvPr id="3048" name="Google Shape;3048;p109"/>
          <p:cNvCxnSpPr/>
          <p:nvPr/>
        </p:nvCxnSpPr>
        <p:spPr>
          <a:xfrm>
            <a:off x="5958688" y="3803904"/>
            <a:ext cx="274320" cy="0"/>
          </a:xfrm>
          <a:prstGeom prst="straightConnector1">
            <a:avLst/>
          </a:prstGeom>
          <a:noFill/>
          <a:ln cap="flat" cmpd="sng" w="19050">
            <a:solidFill>
              <a:srgbClr val="8A96A6"/>
            </a:solidFill>
            <a:prstDash val="solid"/>
            <a:round/>
            <a:headEnd len="sm" w="sm" type="none"/>
            <a:tailEnd len="med" w="med" type="triangle"/>
          </a:ln>
        </p:spPr>
      </p:cxnSp>
      <p:cxnSp>
        <p:nvCxnSpPr>
          <p:cNvPr id="3049" name="Google Shape;3049;p109"/>
          <p:cNvCxnSpPr/>
          <p:nvPr/>
        </p:nvCxnSpPr>
        <p:spPr>
          <a:xfrm>
            <a:off x="4649610" y="4489704"/>
            <a:ext cx="0" cy="274320"/>
          </a:xfrm>
          <a:prstGeom prst="straightConnector1">
            <a:avLst/>
          </a:prstGeom>
          <a:noFill/>
          <a:ln cap="flat" cmpd="sng" w="15875">
            <a:solidFill>
              <a:srgbClr val="E8503A"/>
            </a:solidFill>
            <a:prstDash val="dash"/>
            <a:round/>
            <a:headEnd len="sm" w="sm" type="none"/>
            <a:tailEnd len="sm" w="sm" type="none"/>
          </a:ln>
        </p:spPr>
      </p:cxnSp>
      <p:sp>
        <p:nvSpPr>
          <p:cNvPr id="3050" name="Google Shape;3050;p109"/>
          <p:cNvSpPr/>
          <p:nvPr/>
        </p:nvSpPr>
        <p:spPr>
          <a:xfrm>
            <a:off x="3349676" y="4764024"/>
            <a:ext cx="2599868" cy="475488"/>
          </a:xfrm>
          <a:prstGeom prst="roundRect">
            <a:avLst>
              <a:gd fmla="val 11538" name="adj"/>
            </a:avLst>
          </a:prstGeom>
          <a:solidFill>
            <a:srgbClr val="FDEDEA"/>
          </a:solidFill>
          <a:ln cap="flat" cmpd="sng" w="12700">
            <a:solidFill>
              <a:srgbClr val="E8503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51" name="Google Shape;3051;p109"/>
          <p:cNvSpPr/>
          <p:nvPr/>
        </p:nvSpPr>
        <p:spPr>
          <a:xfrm>
            <a:off x="3395396" y="4764024"/>
            <a:ext cx="2508428" cy="47548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E8503A"/>
              </a:buClr>
              <a:buSzPts val="950"/>
              <a:buFont typeface="Calibri"/>
              <a:buNone/>
            </a:pPr>
            <a:r>
              <a:rPr b="1" i="0" lang="en-US" sz="950" u="none" cap="none" strike="noStrike">
                <a:solidFill>
                  <a:srgbClr val="E8503A"/>
                </a:solidFill>
                <a:latin typeface="Calibri"/>
                <a:ea typeface="Calibri"/>
                <a:cs typeface="Calibri"/>
                <a:sym typeface="Calibri"/>
              </a:rPr>
              <a:t>a confident sloppy box steals the GT from a precise one</a:t>
            </a:r>
            <a:endParaRPr b="0" i="0" sz="950" u="none" cap="none" strike="noStrike">
              <a:solidFill>
                <a:schemeClr val="dk1"/>
              </a:solidFill>
              <a:latin typeface="Calibri"/>
              <a:ea typeface="Calibri"/>
              <a:cs typeface="Calibri"/>
              <a:sym typeface="Calibri"/>
            </a:endParaRPr>
          </a:p>
        </p:txBody>
      </p:sp>
      <p:sp>
        <p:nvSpPr>
          <p:cNvPr id="3052" name="Google Shape;3052;p109"/>
          <p:cNvSpPr/>
          <p:nvPr/>
        </p:nvSpPr>
        <p:spPr>
          <a:xfrm>
            <a:off x="6287872" y="3118104"/>
            <a:ext cx="2508428" cy="1371600"/>
          </a:xfrm>
          <a:prstGeom prst="roundRect">
            <a:avLst>
              <a:gd fmla="val 4667" name="adj"/>
            </a:avLst>
          </a:prstGeom>
          <a:solidFill>
            <a:srgbClr val="F2F6F9"/>
          </a:solidFill>
          <a:ln cap="flat" cmpd="sng" w="15875">
            <a:solidFill>
              <a:srgbClr val="00A79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53" name="Google Shape;3053;p109"/>
          <p:cNvSpPr/>
          <p:nvPr/>
        </p:nvSpPr>
        <p:spPr>
          <a:xfrm>
            <a:off x="6361024" y="3172968"/>
            <a:ext cx="2362124" cy="6172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D2A5C"/>
              </a:buClr>
              <a:buSzPts val="1250"/>
              <a:buFont typeface="Calibri"/>
              <a:buNone/>
            </a:pPr>
            <a:r>
              <a:rPr b="1" i="0" lang="en-US" sz="1250" u="none" cap="none" strike="noStrike">
                <a:solidFill>
                  <a:srgbClr val="1D2A5C"/>
                </a:solidFill>
                <a:latin typeface="Calibri"/>
                <a:ea typeface="Calibri"/>
                <a:cs typeface="Calibri"/>
                <a:sym typeface="Calibri"/>
              </a:rPr>
              <a:t>IoU &gt;= 0.5: TP</a:t>
            </a:r>
            <a:endParaRPr b="0" i="0" sz="1250" u="none" cap="none" strike="noStrike">
              <a:solidFill>
                <a:schemeClr val="dk1"/>
              </a:solidFill>
              <a:latin typeface="Calibri"/>
              <a:ea typeface="Calibri"/>
              <a:cs typeface="Calibri"/>
              <a:sym typeface="Calibri"/>
            </a:endParaRPr>
          </a:p>
        </p:txBody>
      </p:sp>
      <p:sp>
        <p:nvSpPr>
          <p:cNvPr id="3054" name="Google Shape;3054;p109"/>
          <p:cNvSpPr/>
          <p:nvPr/>
        </p:nvSpPr>
        <p:spPr>
          <a:xfrm>
            <a:off x="6361024" y="3776472"/>
            <a:ext cx="2362124" cy="658368"/>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rgbClr val="5F6B7A"/>
              </a:buClr>
              <a:buSzPts val="950"/>
              <a:buFont typeface="Calibri"/>
              <a:buNone/>
            </a:pPr>
            <a:r>
              <a:rPr b="0" i="0" lang="en-US" sz="950" u="none" cap="none" strike="noStrike">
                <a:solidFill>
                  <a:srgbClr val="5F6B7A"/>
                </a:solidFill>
                <a:latin typeface="Calibri"/>
                <a:ea typeface="Calibri"/>
                <a:cs typeface="Calibri"/>
                <a:sym typeface="Calibri"/>
              </a:rPr>
              <a:t>GT consumed; else prediction is FP</a:t>
            </a:r>
            <a:endParaRPr b="0" i="0" sz="950" u="none" cap="none" strike="noStrike">
              <a:solidFill>
                <a:schemeClr val="dk1"/>
              </a:solidFill>
              <a:latin typeface="Calibri"/>
              <a:ea typeface="Calibri"/>
              <a:cs typeface="Calibri"/>
              <a:sym typeface="Calibri"/>
            </a:endParaRPr>
          </a:p>
        </p:txBody>
      </p:sp>
      <p:cxnSp>
        <p:nvCxnSpPr>
          <p:cNvPr id="3055" name="Google Shape;3055;p109"/>
          <p:cNvCxnSpPr/>
          <p:nvPr/>
        </p:nvCxnSpPr>
        <p:spPr>
          <a:xfrm>
            <a:off x="8851163" y="3803904"/>
            <a:ext cx="274320" cy="0"/>
          </a:xfrm>
          <a:prstGeom prst="straightConnector1">
            <a:avLst/>
          </a:prstGeom>
          <a:noFill/>
          <a:ln cap="flat" cmpd="sng" w="19050">
            <a:solidFill>
              <a:srgbClr val="8A96A6"/>
            </a:solidFill>
            <a:prstDash val="solid"/>
            <a:round/>
            <a:headEnd len="sm" w="sm" type="none"/>
            <a:tailEnd len="med" w="med" type="triangle"/>
          </a:ln>
        </p:spPr>
      </p:cxnSp>
      <p:cxnSp>
        <p:nvCxnSpPr>
          <p:cNvPr id="3056" name="Google Shape;3056;p109"/>
          <p:cNvCxnSpPr/>
          <p:nvPr/>
        </p:nvCxnSpPr>
        <p:spPr>
          <a:xfrm>
            <a:off x="7542086" y="4489704"/>
            <a:ext cx="0" cy="274320"/>
          </a:xfrm>
          <a:prstGeom prst="straightConnector1">
            <a:avLst/>
          </a:prstGeom>
          <a:noFill/>
          <a:ln cap="flat" cmpd="sng" w="15875">
            <a:solidFill>
              <a:srgbClr val="E8503A"/>
            </a:solidFill>
            <a:prstDash val="dash"/>
            <a:round/>
            <a:headEnd len="sm" w="sm" type="none"/>
            <a:tailEnd len="sm" w="sm" type="none"/>
          </a:ln>
        </p:spPr>
      </p:cxnSp>
      <p:sp>
        <p:nvSpPr>
          <p:cNvPr id="3057" name="Google Shape;3057;p109"/>
          <p:cNvSpPr/>
          <p:nvPr/>
        </p:nvSpPr>
        <p:spPr>
          <a:xfrm>
            <a:off x="6242152" y="4764024"/>
            <a:ext cx="2599868" cy="475488"/>
          </a:xfrm>
          <a:prstGeom prst="roundRect">
            <a:avLst>
              <a:gd fmla="val 11538" name="adj"/>
            </a:avLst>
          </a:prstGeom>
          <a:solidFill>
            <a:srgbClr val="FDEDEA"/>
          </a:solidFill>
          <a:ln cap="flat" cmpd="sng" w="12700">
            <a:solidFill>
              <a:srgbClr val="E8503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58" name="Google Shape;3058;p109"/>
          <p:cNvSpPr/>
          <p:nvPr/>
        </p:nvSpPr>
        <p:spPr>
          <a:xfrm>
            <a:off x="6287872" y="4764024"/>
            <a:ext cx="2508428" cy="47548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E8503A"/>
              </a:buClr>
              <a:buSzPts val="950"/>
              <a:buFont typeface="Calibri"/>
              <a:buNone/>
            </a:pPr>
            <a:r>
              <a:rPr b="1" i="0" lang="en-US" sz="950" u="none" cap="none" strike="noStrike">
                <a:solidFill>
                  <a:srgbClr val="E8503A"/>
                </a:solidFill>
                <a:latin typeface="Calibri"/>
                <a:ea typeface="Calibri"/>
                <a:cs typeface="Calibri"/>
                <a:sym typeface="Calibri"/>
              </a:rPr>
              <a:t>wrong class: FP AND leaves an FN — double punishment</a:t>
            </a:r>
            <a:endParaRPr b="0" i="0" sz="950" u="none" cap="none" strike="noStrike">
              <a:solidFill>
                <a:schemeClr val="dk1"/>
              </a:solidFill>
              <a:latin typeface="Calibri"/>
              <a:ea typeface="Calibri"/>
              <a:cs typeface="Calibri"/>
              <a:sym typeface="Calibri"/>
            </a:endParaRPr>
          </a:p>
        </p:txBody>
      </p:sp>
      <p:sp>
        <p:nvSpPr>
          <p:cNvPr id="3059" name="Google Shape;3059;p109"/>
          <p:cNvSpPr/>
          <p:nvPr/>
        </p:nvSpPr>
        <p:spPr>
          <a:xfrm>
            <a:off x="9180347" y="3118104"/>
            <a:ext cx="2508428" cy="1371600"/>
          </a:xfrm>
          <a:prstGeom prst="roundRect">
            <a:avLst>
              <a:gd fmla="val 4667" name="adj"/>
            </a:avLst>
          </a:prstGeom>
          <a:solidFill>
            <a:srgbClr val="1D2A5C"/>
          </a:solidFill>
          <a:ln cap="flat" cmpd="sng" w="15875">
            <a:solidFill>
              <a:srgbClr val="00A79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60" name="Google Shape;3060;p109"/>
          <p:cNvSpPr/>
          <p:nvPr/>
        </p:nvSpPr>
        <p:spPr>
          <a:xfrm>
            <a:off x="9253499" y="3172968"/>
            <a:ext cx="2362124" cy="6172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250"/>
              <a:buFont typeface="Calibri"/>
              <a:buNone/>
            </a:pPr>
            <a:r>
              <a:rPr b="1" i="0" lang="en-US" sz="1250" u="none" cap="none" strike="noStrike">
                <a:solidFill>
                  <a:srgbClr val="FFFFFF"/>
                </a:solidFill>
                <a:latin typeface="Calibri"/>
                <a:ea typeface="Calibri"/>
                <a:cs typeface="Calibri"/>
                <a:sym typeface="Calibri"/>
              </a:rPr>
              <a:t>Leftover GT = FN</a:t>
            </a:r>
            <a:endParaRPr b="0" i="0" sz="1250" u="none" cap="none" strike="noStrike">
              <a:solidFill>
                <a:schemeClr val="dk1"/>
              </a:solidFill>
              <a:latin typeface="Calibri"/>
              <a:ea typeface="Calibri"/>
              <a:cs typeface="Calibri"/>
              <a:sym typeface="Calibri"/>
            </a:endParaRPr>
          </a:p>
        </p:txBody>
      </p:sp>
      <p:sp>
        <p:nvSpPr>
          <p:cNvPr id="3061" name="Google Shape;3061;p109"/>
          <p:cNvSpPr/>
          <p:nvPr/>
        </p:nvSpPr>
        <p:spPr>
          <a:xfrm>
            <a:off x="9253499" y="3776472"/>
            <a:ext cx="2362124" cy="658368"/>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rgbClr val="B9C8E8"/>
              </a:buClr>
              <a:buSzPts val="950"/>
              <a:buFont typeface="Calibri"/>
              <a:buNone/>
            </a:pPr>
            <a:r>
              <a:rPr b="0" i="0" lang="en-US" sz="950" u="none" cap="none" strike="noStrike">
                <a:solidFill>
                  <a:srgbClr val="B9C8E8"/>
                </a:solidFill>
                <a:latin typeface="Calibri"/>
                <a:ea typeface="Calibri"/>
                <a:cs typeface="Calibri"/>
                <a:sym typeface="Calibri"/>
              </a:rPr>
              <a:t>misses, at any confidence</a:t>
            </a:r>
            <a:endParaRPr b="0" i="0" sz="950" u="none" cap="none" strike="noStrike">
              <a:solidFill>
                <a:schemeClr val="dk1"/>
              </a:solidFill>
              <a:latin typeface="Calibri"/>
              <a:ea typeface="Calibri"/>
              <a:cs typeface="Calibri"/>
              <a:sym typeface="Calibri"/>
            </a:endParaRPr>
          </a:p>
        </p:txBody>
      </p:sp>
    </p:spTree>
  </p:cSld>
  <p:clrMapOvr>
    <a:masterClrMapping/>
  </p:clrMapOvr>
</p:sld>
</file>

<file path=ppt/slides/slide1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066" name="Shape 3066"/>
        <p:cNvGrpSpPr/>
        <p:nvPr/>
      </p:nvGrpSpPr>
      <p:grpSpPr>
        <a:xfrm>
          <a:off x="0" y="0"/>
          <a:ext cx="0" cy="0"/>
          <a:chOff x="0" y="0"/>
          <a:chExt cx="0" cy="0"/>
        </a:xfrm>
      </p:grpSpPr>
      <p:sp>
        <p:nvSpPr>
          <p:cNvPr id="3067" name="Google Shape;3067;p110"/>
          <p:cNvSpPr/>
          <p:nvPr/>
        </p:nvSpPr>
        <p:spPr>
          <a:xfrm>
            <a:off x="502920" y="274320"/>
            <a:ext cx="9646920" cy="56692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D2A5C"/>
              </a:buClr>
              <a:buSzPts val="2700"/>
              <a:buFont typeface="Calibri"/>
              <a:buNone/>
            </a:pPr>
            <a:r>
              <a:rPr b="1" i="0" lang="en-US" sz="2700" u="none" cap="none" strike="noStrike">
                <a:solidFill>
                  <a:srgbClr val="1D2A5C"/>
                </a:solidFill>
                <a:latin typeface="Calibri"/>
                <a:ea typeface="Calibri"/>
                <a:cs typeface="Calibri"/>
                <a:sym typeface="Calibri"/>
              </a:rPr>
              <a:t>mAP@0.5 vs mAP@0.5:0.95</a:t>
            </a:r>
            <a:endParaRPr b="0" i="0" sz="2700" u="none" cap="none" strike="noStrike">
              <a:solidFill>
                <a:schemeClr val="dk1"/>
              </a:solidFill>
              <a:latin typeface="Calibri"/>
              <a:ea typeface="Calibri"/>
              <a:cs typeface="Calibri"/>
              <a:sym typeface="Calibri"/>
            </a:endParaRPr>
          </a:p>
        </p:txBody>
      </p:sp>
      <p:sp>
        <p:nvSpPr>
          <p:cNvPr id="3068" name="Google Shape;3068;p110"/>
          <p:cNvSpPr/>
          <p:nvPr/>
        </p:nvSpPr>
        <p:spPr>
          <a:xfrm>
            <a:off x="502920" y="859536"/>
            <a:ext cx="9646920" cy="31089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F6B7A"/>
              </a:buClr>
              <a:buSzPts val="1250"/>
              <a:buFont typeface="Arial"/>
              <a:buNone/>
            </a:pPr>
            <a:r>
              <a:rPr b="0" i="0" lang="en-US" sz="1250" u="none" cap="none" strike="noStrike">
                <a:solidFill>
                  <a:srgbClr val="5F6B7A"/>
                </a:solidFill>
                <a:latin typeface="Arial"/>
                <a:ea typeface="Arial"/>
                <a:cs typeface="Arial"/>
                <a:sym typeface="Arial"/>
              </a:rPr>
              <a:t>مقارنة متغيرات mAP</a:t>
            </a:r>
            <a:endParaRPr b="0" i="0" sz="1250" u="none" cap="none" strike="noStrike">
              <a:solidFill>
                <a:schemeClr val="dk1"/>
              </a:solidFill>
              <a:latin typeface="Calibri"/>
              <a:ea typeface="Calibri"/>
              <a:cs typeface="Calibri"/>
              <a:sym typeface="Calibri"/>
            </a:endParaRPr>
          </a:p>
        </p:txBody>
      </p:sp>
      <p:pic>
        <p:nvPicPr>
          <p:cNvPr descr="/sessions/blissful-determined-ritchie/build/assets/sdaia_logo.png" id="3069" name="Google Shape;3069;p110"/>
          <p:cNvPicPr preferRelativeResize="0"/>
          <p:nvPr/>
        </p:nvPicPr>
        <p:blipFill rotWithShape="1">
          <a:blip r:embed="rId3">
            <a:alphaModFix/>
          </a:blip>
          <a:srcRect b="0" l="0" r="0" t="0"/>
          <a:stretch/>
        </p:blipFill>
        <p:spPr>
          <a:xfrm>
            <a:off x="10625328" y="310896"/>
            <a:ext cx="1078992" cy="264111"/>
          </a:xfrm>
          <a:prstGeom prst="rect">
            <a:avLst/>
          </a:prstGeom>
          <a:noFill/>
          <a:ln>
            <a:noFill/>
          </a:ln>
        </p:spPr>
      </p:pic>
      <p:sp>
        <p:nvSpPr>
          <p:cNvPr id="3070" name="Google Shape;3070;p110"/>
          <p:cNvSpPr/>
          <p:nvPr/>
        </p:nvSpPr>
        <p:spPr>
          <a:xfrm>
            <a:off x="502920" y="6528816"/>
            <a:ext cx="8686800"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A79D"/>
              </a:buClr>
              <a:buSzPts val="800"/>
              <a:buFont typeface="Calibri"/>
              <a:buNone/>
            </a:pPr>
            <a:r>
              <a:rPr b="1" i="0" lang="en-US" sz="800" u="none" cap="none" strike="noStrike">
                <a:solidFill>
                  <a:srgbClr val="00A79D"/>
                </a:solidFill>
                <a:latin typeface="Calibri"/>
                <a:ea typeface="Calibri"/>
                <a:cs typeface="Calibri"/>
                <a:sym typeface="Calibri"/>
              </a:rPr>
              <a:t>MODULE 6   </a:t>
            </a:r>
            <a:r>
              <a:rPr b="0" i="0" lang="en-US" sz="800" u="none" cap="none" strike="noStrike">
                <a:solidFill>
                  <a:srgbClr val="8A96A6"/>
                </a:solidFill>
                <a:latin typeface="Calibri"/>
                <a:ea typeface="Calibri"/>
                <a:cs typeface="Calibri"/>
                <a:sym typeface="Calibri"/>
              </a:rPr>
              <a:t>SDA-AIE-212 · Computer Vision Systems Development</a:t>
            </a:r>
            <a:endParaRPr b="0" i="0" sz="800" u="none" cap="none" strike="noStrike">
              <a:solidFill>
                <a:schemeClr val="dk1"/>
              </a:solidFill>
              <a:latin typeface="Calibri"/>
              <a:ea typeface="Calibri"/>
              <a:cs typeface="Calibri"/>
              <a:sym typeface="Calibri"/>
            </a:endParaRPr>
          </a:p>
        </p:txBody>
      </p:sp>
      <p:sp>
        <p:nvSpPr>
          <p:cNvPr id="3071" name="Google Shape;3071;p110"/>
          <p:cNvSpPr/>
          <p:nvPr/>
        </p:nvSpPr>
        <p:spPr>
          <a:xfrm>
            <a:off x="11292840" y="6528816"/>
            <a:ext cx="411480" cy="219456"/>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8A96A6"/>
              </a:buClr>
              <a:buSzPts val="900"/>
              <a:buFont typeface="Calibri"/>
              <a:buNone/>
            </a:pPr>
            <a:r>
              <a:rPr b="0" i="0" lang="en-US" sz="900" u="none" cap="none" strike="noStrike">
                <a:solidFill>
                  <a:srgbClr val="8A96A6"/>
                </a:solidFill>
                <a:latin typeface="Calibri"/>
                <a:ea typeface="Calibri"/>
                <a:cs typeface="Calibri"/>
                <a:sym typeface="Calibri"/>
              </a:rPr>
              <a:t>110</a:t>
            </a:r>
            <a:endParaRPr b="0" i="0" sz="900" u="none" cap="none" strike="noStrike">
              <a:solidFill>
                <a:schemeClr val="dk1"/>
              </a:solidFill>
              <a:latin typeface="Calibri"/>
              <a:ea typeface="Calibri"/>
              <a:cs typeface="Calibri"/>
              <a:sym typeface="Calibri"/>
            </a:endParaRPr>
          </a:p>
        </p:txBody>
      </p:sp>
      <p:sp>
        <p:nvSpPr>
          <p:cNvPr id="3072" name="Google Shape;3072;p110"/>
          <p:cNvSpPr/>
          <p:nvPr/>
        </p:nvSpPr>
        <p:spPr>
          <a:xfrm>
            <a:off x="502920" y="1389888"/>
            <a:ext cx="11185855" cy="384048"/>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5F6B7A"/>
              </a:buClr>
              <a:buSzPts val="1250"/>
              <a:buFont typeface="Calibri"/>
              <a:buNone/>
            </a:pPr>
            <a:r>
              <a:rPr b="0" i="1" lang="en-US" sz="1250" u="none" cap="none" strike="noStrike">
                <a:solidFill>
                  <a:srgbClr val="5F6B7A"/>
                </a:solidFill>
                <a:latin typeface="Calibri"/>
                <a:ea typeface="Calibri"/>
                <a:cs typeface="Calibri"/>
                <a:sym typeface="Calibri"/>
              </a:rPr>
              <a:t>AP is threshold-free; deployment is not — the M3 confidence sweep belongs in the harness, not in a notebook.</a:t>
            </a:r>
            <a:endParaRPr b="0" i="0" sz="1250" u="none" cap="none" strike="noStrike">
              <a:solidFill>
                <a:schemeClr val="dk1"/>
              </a:solidFill>
              <a:latin typeface="Calibri"/>
              <a:ea typeface="Calibri"/>
              <a:cs typeface="Calibri"/>
              <a:sym typeface="Calibri"/>
            </a:endParaRPr>
          </a:p>
        </p:txBody>
      </p:sp>
      <p:sp>
        <p:nvSpPr>
          <p:cNvPr id="3073" name="Google Shape;3073;p110"/>
          <p:cNvSpPr/>
          <p:nvPr/>
        </p:nvSpPr>
        <p:spPr>
          <a:xfrm>
            <a:off x="502920" y="1892808"/>
            <a:ext cx="5432908" cy="2478024"/>
          </a:xfrm>
          <a:prstGeom prst="roundRect">
            <a:avLst>
              <a:gd fmla="val 3321" name="adj"/>
            </a:avLst>
          </a:prstGeom>
          <a:solidFill>
            <a:srgbClr val="F2F6F9"/>
          </a:solidFill>
          <a:ln cap="flat" cmpd="sng" w="12700">
            <a:solidFill>
              <a:srgbClr val="D9E2E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74" name="Google Shape;3074;p110"/>
          <p:cNvSpPr/>
          <p:nvPr/>
        </p:nvSpPr>
        <p:spPr>
          <a:xfrm>
            <a:off x="704088" y="2084832"/>
            <a:ext cx="146304" cy="146304"/>
          </a:xfrm>
          <a:prstGeom prst="ellipse">
            <a:avLst/>
          </a:prstGeom>
          <a:solidFill>
            <a:srgbClr val="00A79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75" name="Google Shape;3075;p110"/>
          <p:cNvSpPr/>
          <p:nvPr/>
        </p:nvSpPr>
        <p:spPr>
          <a:xfrm>
            <a:off x="960120" y="1984248"/>
            <a:ext cx="4838548"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D2A5C"/>
              </a:buClr>
              <a:buSzPts val="1400"/>
              <a:buFont typeface="Calibri"/>
              <a:buNone/>
            </a:pPr>
            <a:r>
              <a:rPr b="1" i="0" lang="en-US" sz="1400" u="none" cap="none" strike="noStrike">
                <a:solidFill>
                  <a:srgbClr val="1D2A5C"/>
                </a:solidFill>
                <a:latin typeface="Calibri"/>
                <a:ea typeface="Calibri"/>
                <a:cs typeface="Calibri"/>
                <a:sym typeface="Calibri"/>
              </a:rPr>
              <a:t>mAP@0.5</a:t>
            </a:r>
            <a:endParaRPr b="0" i="0" sz="1400" u="none" cap="none" strike="noStrike">
              <a:solidFill>
                <a:schemeClr val="dk1"/>
              </a:solidFill>
              <a:latin typeface="Calibri"/>
              <a:ea typeface="Calibri"/>
              <a:cs typeface="Calibri"/>
              <a:sym typeface="Calibri"/>
            </a:endParaRPr>
          </a:p>
        </p:txBody>
      </p:sp>
      <p:sp>
        <p:nvSpPr>
          <p:cNvPr id="3076" name="Google Shape;3076;p110"/>
          <p:cNvSpPr/>
          <p:nvPr/>
        </p:nvSpPr>
        <p:spPr>
          <a:xfrm>
            <a:off x="758952" y="2423160"/>
            <a:ext cx="4975708" cy="1819656"/>
          </a:xfrm>
          <a:prstGeom prst="rect">
            <a:avLst/>
          </a:prstGeom>
          <a:noFill/>
          <a:ln>
            <a:noFill/>
          </a:ln>
        </p:spPr>
        <p:txBody>
          <a:bodyPr anchorCtr="0" anchor="t" bIns="0" lIns="0" spcFirstLastPara="1" rIns="0" wrap="square" tIns="0">
            <a:noAutofit/>
          </a:bodyPr>
          <a:lstStyle/>
          <a:p>
            <a:pPr indent="-152400" lvl="0" marL="152400" marR="0" rtl="0" algn="l">
              <a:spcBef>
                <a:spcPts val="0"/>
              </a:spcBef>
              <a:spcAft>
                <a:spcPts val="0"/>
              </a:spcAft>
              <a:buClr>
                <a:srgbClr val="23293B"/>
              </a:buClr>
              <a:buSzPts val="1150"/>
              <a:buFont typeface="Calibri"/>
              <a:buChar char="•"/>
            </a:pPr>
            <a:r>
              <a:rPr b="0" i="0" lang="en-US" sz="1150" u="none" cap="none" strike="noStrike">
                <a:solidFill>
                  <a:srgbClr val="23293B"/>
                </a:solidFill>
                <a:latin typeface="Calibri"/>
                <a:ea typeface="Calibri"/>
                <a:cs typeface="Calibri"/>
                <a:sym typeface="Calibri"/>
              </a:rPr>
              <a:t>Does the detector find and roughly localise things?</a:t>
            </a:r>
            <a:endParaRPr b="0" i="0" sz="1150" u="none" cap="none" strike="noStrike">
              <a:solidFill>
                <a:schemeClr val="dk1"/>
              </a:solidFill>
              <a:latin typeface="Calibri"/>
              <a:ea typeface="Calibri"/>
              <a:cs typeface="Calibri"/>
              <a:sym typeface="Calibri"/>
            </a:endParaRPr>
          </a:p>
          <a:p>
            <a:pPr indent="-152400" lvl="0" marL="152400" marR="0" rtl="0" algn="l">
              <a:spcBef>
                <a:spcPts val="700"/>
              </a:spcBef>
              <a:spcAft>
                <a:spcPts val="0"/>
              </a:spcAft>
              <a:buClr>
                <a:srgbClr val="23293B"/>
              </a:buClr>
              <a:buSzPts val="1150"/>
              <a:buFont typeface="Calibri"/>
              <a:buChar char="•"/>
            </a:pPr>
            <a:r>
              <a:rPr b="0" i="0" lang="en-US" sz="1150" u="none" cap="none" strike="noStrike">
                <a:solidFill>
                  <a:srgbClr val="23293B"/>
                </a:solidFill>
                <a:latin typeface="Calibri"/>
                <a:ea typeface="Calibri"/>
                <a:cs typeface="Calibri"/>
                <a:sym typeface="Calibri"/>
              </a:rPr>
              <a:t>The applied headline where presence matters most</a:t>
            </a:r>
            <a:endParaRPr b="0" i="0" sz="1150" u="none" cap="none" strike="noStrike">
              <a:solidFill>
                <a:schemeClr val="dk1"/>
              </a:solidFill>
              <a:latin typeface="Calibri"/>
              <a:ea typeface="Calibri"/>
              <a:cs typeface="Calibri"/>
              <a:sym typeface="Calibri"/>
            </a:endParaRPr>
          </a:p>
          <a:p>
            <a:pPr indent="-152400" lvl="0" marL="152400" marR="0" rtl="0" algn="l">
              <a:spcBef>
                <a:spcPts val="700"/>
              </a:spcBef>
              <a:spcAft>
                <a:spcPts val="0"/>
              </a:spcAft>
              <a:buClr>
                <a:srgbClr val="23293B"/>
              </a:buClr>
              <a:buSzPts val="1150"/>
              <a:buFont typeface="Calibri"/>
              <a:buChar char="•"/>
            </a:pPr>
            <a:r>
              <a:rPr b="0" i="0" lang="en-US" sz="1150" u="none" cap="none" strike="noStrike">
                <a:solidFill>
                  <a:srgbClr val="23293B"/>
                </a:solidFill>
                <a:latin typeface="Calibri"/>
                <a:ea typeface="Calibri"/>
                <a:cs typeface="Calibri"/>
                <a:sym typeface="Calibri"/>
              </a:rPr>
              <a:t>IoU 0.5 as the definition of a correct detection</a:t>
            </a:r>
            <a:endParaRPr b="0" i="0" sz="1150" u="none" cap="none" strike="noStrike">
              <a:solidFill>
                <a:schemeClr val="dk1"/>
              </a:solidFill>
              <a:latin typeface="Calibri"/>
              <a:ea typeface="Calibri"/>
              <a:cs typeface="Calibri"/>
              <a:sym typeface="Calibri"/>
            </a:endParaRPr>
          </a:p>
        </p:txBody>
      </p:sp>
      <p:sp>
        <p:nvSpPr>
          <p:cNvPr id="3077" name="Google Shape;3077;p110"/>
          <p:cNvSpPr/>
          <p:nvPr/>
        </p:nvSpPr>
        <p:spPr>
          <a:xfrm>
            <a:off x="6255868" y="1892808"/>
            <a:ext cx="5432908" cy="2478024"/>
          </a:xfrm>
          <a:prstGeom prst="roundRect">
            <a:avLst>
              <a:gd fmla="val 3321" name="adj"/>
            </a:avLst>
          </a:prstGeom>
          <a:solidFill>
            <a:srgbClr val="F2F6F9"/>
          </a:solidFill>
          <a:ln cap="flat" cmpd="sng" w="12700">
            <a:solidFill>
              <a:srgbClr val="D9E2E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78" name="Google Shape;3078;p110"/>
          <p:cNvSpPr/>
          <p:nvPr/>
        </p:nvSpPr>
        <p:spPr>
          <a:xfrm>
            <a:off x="6457036" y="2084832"/>
            <a:ext cx="146304" cy="146304"/>
          </a:xfrm>
          <a:prstGeom prst="ellipse">
            <a:avLst/>
          </a:prstGeom>
          <a:solidFill>
            <a:srgbClr val="29ABE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79" name="Google Shape;3079;p110"/>
          <p:cNvSpPr/>
          <p:nvPr/>
        </p:nvSpPr>
        <p:spPr>
          <a:xfrm>
            <a:off x="6713068" y="1984248"/>
            <a:ext cx="4838548"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D2A5C"/>
              </a:buClr>
              <a:buSzPts val="1400"/>
              <a:buFont typeface="Calibri"/>
              <a:buNone/>
            </a:pPr>
            <a:r>
              <a:rPr b="1" i="0" lang="en-US" sz="1400" u="none" cap="none" strike="noStrike">
                <a:solidFill>
                  <a:srgbClr val="1D2A5C"/>
                </a:solidFill>
                <a:latin typeface="Calibri"/>
                <a:ea typeface="Calibri"/>
                <a:cs typeface="Calibri"/>
                <a:sym typeface="Calibri"/>
              </a:rPr>
              <a:t>mAP@0.5:0.95 (COCO)</a:t>
            </a:r>
            <a:endParaRPr b="0" i="0" sz="1400" u="none" cap="none" strike="noStrike">
              <a:solidFill>
                <a:schemeClr val="dk1"/>
              </a:solidFill>
              <a:latin typeface="Calibri"/>
              <a:ea typeface="Calibri"/>
              <a:cs typeface="Calibri"/>
              <a:sym typeface="Calibri"/>
            </a:endParaRPr>
          </a:p>
        </p:txBody>
      </p:sp>
      <p:sp>
        <p:nvSpPr>
          <p:cNvPr id="3080" name="Google Shape;3080;p110"/>
          <p:cNvSpPr/>
          <p:nvPr/>
        </p:nvSpPr>
        <p:spPr>
          <a:xfrm>
            <a:off x="6511900" y="2423160"/>
            <a:ext cx="4975708" cy="1819656"/>
          </a:xfrm>
          <a:prstGeom prst="rect">
            <a:avLst/>
          </a:prstGeom>
          <a:noFill/>
          <a:ln>
            <a:noFill/>
          </a:ln>
        </p:spPr>
        <p:txBody>
          <a:bodyPr anchorCtr="0" anchor="t" bIns="0" lIns="0" spcFirstLastPara="1" rIns="0" wrap="square" tIns="0">
            <a:noAutofit/>
          </a:bodyPr>
          <a:lstStyle/>
          <a:p>
            <a:pPr indent="-152400" lvl="0" marL="152400" marR="0" rtl="0" algn="l">
              <a:spcBef>
                <a:spcPts val="0"/>
              </a:spcBef>
              <a:spcAft>
                <a:spcPts val="0"/>
              </a:spcAft>
              <a:buClr>
                <a:srgbClr val="23293B"/>
              </a:buClr>
              <a:buSzPts val="1150"/>
              <a:buFont typeface="Calibri"/>
              <a:buChar char="•"/>
            </a:pPr>
            <a:r>
              <a:rPr b="0" i="0" lang="en-US" sz="1150" u="none" cap="none" strike="noStrike">
                <a:solidFill>
                  <a:srgbClr val="23293B"/>
                </a:solidFill>
                <a:latin typeface="Calibri"/>
                <a:ea typeface="Calibri"/>
                <a:cs typeface="Calibri"/>
                <a:sym typeface="Calibri"/>
              </a:rPr>
              <a:t>Averaged over IoU thresholds 0.5 to 0.95</a:t>
            </a:r>
            <a:endParaRPr b="0" i="0" sz="1150" u="none" cap="none" strike="noStrike">
              <a:solidFill>
                <a:schemeClr val="dk1"/>
              </a:solidFill>
              <a:latin typeface="Calibri"/>
              <a:ea typeface="Calibri"/>
              <a:cs typeface="Calibri"/>
              <a:sym typeface="Calibri"/>
            </a:endParaRPr>
          </a:p>
          <a:p>
            <a:pPr indent="-152400" lvl="0" marL="152400" marR="0" rtl="0" algn="l">
              <a:spcBef>
                <a:spcPts val="700"/>
              </a:spcBef>
              <a:spcAft>
                <a:spcPts val="0"/>
              </a:spcAft>
              <a:buClr>
                <a:srgbClr val="23293B"/>
              </a:buClr>
              <a:buSzPts val="1150"/>
              <a:buFont typeface="Calibri"/>
              <a:buChar char="•"/>
            </a:pPr>
            <a:r>
              <a:rPr b="0" i="0" lang="en-US" sz="1150" u="none" cap="none" strike="noStrike">
                <a:solidFill>
                  <a:srgbClr val="23293B"/>
                </a:solidFill>
                <a:latin typeface="Calibri"/>
                <a:ea typeface="Calibri"/>
                <a:cs typeface="Calibri"/>
                <a:sym typeface="Calibri"/>
              </a:rPr>
              <a:t>Additionally rewards tight localisation</a:t>
            </a:r>
            <a:endParaRPr b="0" i="0" sz="1150" u="none" cap="none" strike="noStrike">
              <a:solidFill>
                <a:schemeClr val="dk1"/>
              </a:solidFill>
              <a:latin typeface="Calibri"/>
              <a:ea typeface="Calibri"/>
              <a:cs typeface="Calibri"/>
              <a:sym typeface="Calibri"/>
            </a:endParaRPr>
          </a:p>
          <a:p>
            <a:pPr indent="-152400" lvl="0" marL="152400" marR="0" rtl="0" algn="l">
              <a:spcBef>
                <a:spcPts val="700"/>
              </a:spcBef>
              <a:spcAft>
                <a:spcPts val="0"/>
              </a:spcAft>
              <a:buClr>
                <a:srgbClr val="23293B"/>
              </a:buClr>
              <a:buSzPts val="1150"/>
              <a:buFont typeface="Calibri"/>
              <a:buChar char="•"/>
            </a:pPr>
            <a:r>
              <a:rPr b="0" i="0" lang="en-US" sz="1150" u="none" cap="none" strike="noStrike">
                <a:solidFill>
                  <a:srgbClr val="23293B"/>
                </a:solidFill>
                <a:latin typeface="Calibri"/>
                <a:ea typeface="Calibri"/>
                <a:cs typeface="Calibri"/>
                <a:sym typeface="Calibri"/>
              </a:rPr>
              <a:t>Eject-gate targeting pays for it: box centres drive actuation</a:t>
            </a:r>
            <a:endParaRPr b="0" i="0" sz="1150" u="none" cap="none" strike="noStrike">
              <a:solidFill>
                <a:schemeClr val="dk1"/>
              </a:solidFill>
              <a:latin typeface="Calibri"/>
              <a:ea typeface="Calibri"/>
              <a:cs typeface="Calibri"/>
              <a:sym typeface="Calibri"/>
            </a:endParaRPr>
          </a:p>
        </p:txBody>
      </p:sp>
      <p:sp>
        <p:nvSpPr>
          <p:cNvPr id="3081" name="Google Shape;3081;p110"/>
          <p:cNvSpPr/>
          <p:nvPr/>
        </p:nvSpPr>
        <p:spPr>
          <a:xfrm>
            <a:off x="3455518" y="4535424"/>
            <a:ext cx="5280660" cy="457200"/>
          </a:xfrm>
          <a:prstGeom prst="roundRect">
            <a:avLst>
              <a:gd fmla="val 50000" name="adj"/>
            </a:avLst>
          </a:prstGeom>
          <a:solidFill>
            <a:srgbClr val="FEF3E7"/>
          </a:solidFill>
          <a:ln cap="flat" cmpd="sng" w="15875">
            <a:solidFill>
              <a:srgbClr val="F5822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82" name="Google Shape;3082;p110"/>
          <p:cNvSpPr/>
          <p:nvPr/>
        </p:nvSpPr>
        <p:spPr>
          <a:xfrm>
            <a:off x="3546958" y="4535424"/>
            <a:ext cx="5097780"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B35A0F"/>
              </a:buClr>
              <a:buSzPts val="1200"/>
              <a:buFont typeface="Calibri"/>
              <a:buNone/>
            </a:pPr>
            <a:r>
              <a:rPr b="1" i="0" lang="en-US" sz="1200" u="none" cap="none" strike="noStrike">
                <a:solidFill>
                  <a:srgbClr val="B35A0F"/>
                </a:solidFill>
                <a:latin typeface="Calibri"/>
                <a:ea typeface="Calibri"/>
                <a:cs typeface="Calibri"/>
                <a:sym typeface="Calibri"/>
              </a:rPr>
              <a:t>Report both — and know which one the use case pays for.</a:t>
            </a:r>
            <a:endParaRPr b="0" i="0" sz="1200" u="none" cap="none" strike="noStrike">
              <a:solidFill>
                <a:schemeClr val="dk1"/>
              </a:solidFill>
              <a:latin typeface="Calibri"/>
              <a:ea typeface="Calibri"/>
              <a:cs typeface="Calibri"/>
              <a:sym typeface="Calibri"/>
            </a:endParaRPr>
          </a:p>
        </p:txBody>
      </p:sp>
    </p:spTree>
  </p:cSld>
  <p:clrMapOvr>
    <a:masterClrMapping/>
  </p:clrMapOvr>
</p:sld>
</file>

<file path=ppt/slides/slide1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087" name="Shape 3087"/>
        <p:cNvGrpSpPr/>
        <p:nvPr/>
      </p:nvGrpSpPr>
      <p:grpSpPr>
        <a:xfrm>
          <a:off x="0" y="0"/>
          <a:ext cx="0" cy="0"/>
          <a:chOff x="0" y="0"/>
          <a:chExt cx="0" cy="0"/>
        </a:xfrm>
      </p:grpSpPr>
      <p:sp>
        <p:nvSpPr>
          <p:cNvPr id="3088" name="Google Shape;3088;p111"/>
          <p:cNvSpPr/>
          <p:nvPr/>
        </p:nvSpPr>
        <p:spPr>
          <a:xfrm>
            <a:off x="502920" y="274320"/>
            <a:ext cx="9646920" cy="56692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D2A5C"/>
              </a:buClr>
              <a:buSzPts val="2700"/>
              <a:buFont typeface="Calibri"/>
              <a:buNone/>
            </a:pPr>
            <a:r>
              <a:rPr b="1" i="0" lang="en-US" sz="2700" u="none" cap="none" strike="noStrike">
                <a:solidFill>
                  <a:srgbClr val="1D2A5C"/>
                </a:solidFill>
                <a:latin typeface="Calibri"/>
                <a:ea typeface="Calibri"/>
                <a:cs typeface="Calibri"/>
                <a:sym typeface="Calibri"/>
              </a:rPr>
              <a:t>The Aggregate Is Always Hiding Something</a:t>
            </a:r>
            <a:endParaRPr b="0" i="0" sz="2700" u="none" cap="none" strike="noStrike">
              <a:solidFill>
                <a:schemeClr val="dk1"/>
              </a:solidFill>
              <a:latin typeface="Calibri"/>
              <a:ea typeface="Calibri"/>
              <a:cs typeface="Calibri"/>
              <a:sym typeface="Calibri"/>
            </a:endParaRPr>
          </a:p>
        </p:txBody>
      </p:sp>
      <p:sp>
        <p:nvSpPr>
          <p:cNvPr id="3089" name="Google Shape;3089;p111"/>
          <p:cNvSpPr/>
          <p:nvPr/>
        </p:nvSpPr>
        <p:spPr>
          <a:xfrm>
            <a:off x="502920" y="859536"/>
            <a:ext cx="9646920" cy="31089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F6B7A"/>
              </a:buClr>
              <a:buSzPts val="1250"/>
              <a:buFont typeface="Arial"/>
              <a:buNone/>
            </a:pPr>
            <a:r>
              <a:rPr b="0" i="0" lang="en-US" sz="1250" u="none" cap="none" strike="noStrike">
                <a:solidFill>
                  <a:srgbClr val="5F6B7A"/>
                </a:solidFill>
                <a:latin typeface="Arial"/>
                <a:ea typeface="Arial"/>
                <a:cs typeface="Arial"/>
                <a:sym typeface="Arial"/>
              </a:rPr>
              <a:t>الرقم الإجمالي يخفي شيئًا دائمًا</a:t>
            </a:r>
            <a:endParaRPr b="0" i="0" sz="1250" u="none" cap="none" strike="noStrike">
              <a:solidFill>
                <a:schemeClr val="dk1"/>
              </a:solidFill>
              <a:latin typeface="Calibri"/>
              <a:ea typeface="Calibri"/>
              <a:cs typeface="Calibri"/>
              <a:sym typeface="Calibri"/>
            </a:endParaRPr>
          </a:p>
        </p:txBody>
      </p:sp>
      <p:pic>
        <p:nvPicPr>
          <p:cNvPr descr="/sessions/blissful-determined-ritchie/build/assets/sdaia_logo.png" id="3090" name="Google Shape;3090;p111"/>
          <p:cNvPicPr preferRelativeResize="0"/>
          <p:nvPr/>
        </p:nvPicPr>
        <p:blipFill rotWithShape="1">
          <a:blip r:embed="rId3">
            <a:alphaModFix/>
          </a:blip>
          <a:srcRect b="0" l="0" r="0" t="0"/>
          <a:stretch/>
        </p:blipFill>
        <p:spPr>
          <a:xfrm>
            <a:off x="10625328" y="310896"/>
            <a:ext cx="1078992" cy="264111"/>
          </a:xfrm>
          <a:prstGeom prst="rect">
            <a:avLst/>
          </a:prstGeom>
          <a:noFill/>
          <a:ln>
            <a:noFill/>
          </a:ln>
        </p:spPr>
      </p:pic>
      <p:sp>
        <p:nvSpPr>
          <p:cNvPr id="3091" name="Google Shape;3091;p111"/>
          <p:cNvSpPr/>
          <p:nvPr/>
        </p:nvSpPr>
        <p:spPr>
          <a:xfrm>
            <a:off x="502920" y="6528816"/>
            <a:ext cx="8686800"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A79D"/>
              </a:buClr>
              <a:buSzPts val="800"/>
              <a:buFont typeface="Calibri"/>
              <a:buNone/>
            </a:pPr>
            <a:r>
              <a:rPr b="1" i="0" lang="en-US" sz="800" u="none" cap="none" strike="noStrike">
                <a:solidFill>
                  <a:srgbClr val="00A79D"/>
                </a:solidFill>
                <a:latin typeface="Calibri"/>
                <a:ea typeface="Calibri"/>
                <a:cs typeface="Calibri"/>
                <a:sym typeface="Calibri"/>
              </a:rPr>
              <a:t>MODULE 6   </a:t>
            </a:r>
            <a:r>
              <a:rPr b="0" i="0" lang="en-US" sz="800" u="none" cap="none" strike="noStrike">
                <a:solidFill>
                  <a:srgbClr val="8A96A6"/>
                </a:solidFill>
                <a:latin typeface="Calibri"/>
                <a:ea typeface="Calibri"/>
                <a:cs typeface="Calibri"/>
                <a:sym typeface="Calibri"/>
              </a:rPr>
              <a:t>SDA-AIE-212 · Computer Vision Systems Development</a:t>
            </a:r>
            <a:endParaRPr b="0" i="0" sz="800" u="none" cap="none" strike="noStrike">
              <a:solidFill>
                <a:schemeClr val="dk1"/>
              </a:solidFill>
              <a:latin typeface="Calibri"/>
              <a:ea typeface="Calibri"/>
              <a:cs typeface="Calibri"/>
              <a:sym typeface="Calibri"/>
            </a:endParaRPr>
          </a:p>
        </p:txBody>
      </p:sp>
      <p:sp>
        <p:nvSpPr>
          <p:cNvPr id="3092" name="Google Shape;3092;p111"/>
          <p:cNvSpPr/>
          <p:nvPr/>
        </p:nvSpPr>
        <p:spPr>
          <a:xfrm>
            <a:off x="11292840" y="6528816"/>
            <a:ext cx="411480" cy="219456"/>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8A96A6"/>
              </a:buClr>
              <a:buSzPts val="900"/>
              <a:buFont typeface="Calibri"/>
              <a:buNone/>
            </a:pPr>
            <a:r>
              <a:rPr b="0" i="0" lang="en-US" sz="900" u="none" cap="none" strike="noStrike">
                <a:solidFill>
                  <a:srgbClr val="8A96A6"/>
                </a:solidFill>
                <a:latin typeface="Calibri"/>
                <a:ea typeface="Calibri"/>
                <a:cs typeface="Calibri"/>
                <a:sym typeface="Calibri"/>
              </a:rPr>
              <a:t>111</a:t>
            </a:r>
            <a:endParaRPr b="0" i="0" sz="900" u="none" cap="none" strike="noStrike">
              <a:solidFill>
                <a:schemeClr val="dk1"/>
              </a:solidFill>
              <a:latin typeface="Calibri"/>
              <a:ea typeface="Calibri"/>
              <a:cs typeface="Calibri"/>
              <a:sym typeface="Calibri"/>
            </a:endParaRPr>
          </a:p>
        </p:txBody>
      </p:sp>
      <p:sp>
        <p:nvSpPr>
          <p:cNvPr id="3093" name="Google Shape;3093;p111"/>
          <p:cNvSpPr/>
          <p:nvPr/>
        </p:nvSpPr>
        <p:spPr>
          <a:xfrm>
            <a:off x="502920" y="1559052"/>
            <a:ext cx="329184" cy="329184"/>
          </a:xfrm>
          <a:prstGeom prst="ellipse">
            <a:avLst/>
          </a:prstGeom>
          <a:solidFill>
            <a:srgbClr val="00A79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94" name="Google Shape;3094;p111"/>
          <p:cNvSpPr/>
          <p:nvPr/>
        </p:nvSpPr>
        <p:spPr>
          <a:xfrm>
            <a:off x="502920" y="1559052"/>
            <a:ext cx="329184" cy="32918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300"/>
              <a:buFont typeface="Calibri"/>
              <a:buNone/>
            </a:pPr>
            <a:r>
              <a:rPr b="1" i="0" lang="en-US" sz="1300" u="none" cap="none" strike="noStrike">
                <a:solidFill>
                  <a:srgbClr val="FFFFFF"/>
                </a:solidFill>
                <a:latin typeface="Calibri"/>
                <a:ea typeface="Calibri"/>
                <a:cs typeface="Calibri"/>
                <a:sym typeface="Calibri"/>
              </a:rPr>
              <a:t>1</a:t>
            </a:r>
            <a:endParaRPr b="0" i="0" sz="1300" u="none" cap="none" strike="noStrike">
              <a:solidFill>
                <a:schemeClr val="dk1"/>
              </a:solidFill>
              <a:latin typeface="Calibri"/>
              <a:ea typeface="Calibri"/>
              <a:cs typeface="Calibri"/>
              <a:sym typeface="Calibri"/>
            </a:endParaRPr>
          </a:p>
        </p:txBody>
      </p:sp>
      <p:sp>
        <p:nvSpPr>
          <p:cNvPr id="3095" name="Google Shape;3095;p111"/>
          <p:cNvSpPr/>
          <p:nvPr/>
        </p:nvSpPr>
        <p:spPr>
          <a:xfrm>
            <a:off x="1005840" y="1495044"/>
            <a:ext cx="493776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D2A5C"/>
              </a:buClr>
              <a:buSzPts val="1400"/>
              <a:buFont typeface="Calibri"/>
              <a:buNone/>
            </a:pPr>
            <a:r>
              <a:rPr b="1" i="0" lang="en-US" sz="1400" u="none" cap="none" strike="noStrike">
                <a:solidFill>
                  <a:srgbClr val="1D2A5C"/>
                </a:solidFill>
                <a:latin typeface="Calibri"/>
                <a:ea typeface="Calibri"/>
                <a:cs typeface="Calibri"/>
                <a:sym typeface="Calibri"/>
              </a:rPr>
              <a:t>A slice is any subset with a reason to differ</a:t>
            </a:r>
            <a:endParaRPr b="0" i="0" sz="1400" u="none" cap="none" strike="noStrike">
              <a:solidFill>
                <a:schemeClr val="dk1"/>
              </a:solidFill>
              <a:latin typeface="Calibri"/>
              <a:ea typeface="Calibri"/>
              <a:cs typeface="Calibri"/>
              <a:sym typeface="Calibri"/>
            </a:endParaRPr>
          </a:p>
        </p:txBody>
      </p:sp>
      <p:sp>
        <p:nvSpPr>
          <p:cNvPr id="3096" name="Google Shape;3096;p111"/>
          <p:cNvSpPr/>
          <p:nvPr/>
        </p:nvSpPr>
        <p:spPr>
          <a:xfrm>
            <a:off x="1005840" y="1796796"/>
            <a:ext cx="4937760" cy="841248"/>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5F6B7A"/>
              </a:buClr>
              <a:buSzPts val="1150"/>
              <a:buFont typeface="Calibri"/>
              <a:buNone/>
            </a:pPr>
            <a:r>
              <a:rPr b="0" i="0" lang="en-US" sz="1150" u="none" cap="none" strike="noStrike">
                <a:solidFill>
                  <a:srgbClr val="5F6B7A"/>
                </a:solidFill>
                <a:latin typeface="Calibri"/>
                <a:ea typeface="Calibri"/>
                <a:cs typeface="Calibri"/>
                <a:sym typeface="Calibri"/>
              </a:rPr>
              <a:t>Class, session/station, object size, lighting bucket, dataset release, capture date.</a:t>
            </a:r>
            <a:endParaRPr b="0" i="0" sz="1150" u="none" cap="none" strike="noStrike">
              <a:solidFill>
                <a:schemeClr val="dk1"/>
              </a:solidFill>
              <a:latin typeface="Calibri"/>
              <a:ea typeface="Calibri"/>
              <a:cs typeface="Calibri"/>
              <a:sym typeface="Calibri"/>
            </a:endParaRPr>
          </a:p>
        </p:txBody>
      </p:sp>
      <p:sp>
        <p:nvSpPr>
          <p:cNvPr id="3097" name="Google Shape;3097;p111"/>
          <p:cNvSpPr/>
          <p:nvPr/>
        </p:nvSpPr>
        <p:spPr>
          <a:xfrm>
            <a:off x="502920" y="2747772"/>
            <a:ext cx="329184" cy="329184"/>
          </a:xfrm>
          <a:prstGeom prst="ellipse">
            <a:avLst/>
          </a:prstGeom>
          <a:solidFill>
            <a:srgbClr val="29ABE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98" name="Google Shape;3098;p111"/>
          <p:cNvSpPr/>
          <p:nvPr/>
        </p:nvSpPr>
        <p:spPr>
          <a:xfrm>
            <a:off x="502920" y="2747772"/>
            <a:ext cx="329184" cy="32918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300"/>
              <a:buFont typeface="Calibri"/>
              <a:buNone/>
            </a:pPr>
            <a:r>
              <a:rPr b="1" i="0" lang="en-US" sz="1300" u="none" cap="none" strike="noStrike">
                <a:solidFill>
                  <a:srgbClr val="FFFFFF"/>
                </a:solidFill>
                <a:latin typeface="Calibri"/>
                <a:ea typeface="Calibri"/>
                <a:cs typeface="Calibri"/>
                <a:sym typeface="Calibri"/>
              </a:rPr>
              <a:t>2</a:t>
            </a:r>
            <a:endParaRPr b="0" i="0" sz="1300" u="none" cap="none" strike="noStrike">
              <a:solidFill>
                <a:schemeClr val="dk1"/>
              </a:solidFill>
              <a:latin typeface="Calibri"/>
              <a:ea typeface="Calibri"/>
              <a:cs typeface="Calibri"/>
              <a:sym typeface="Calibri"/>
            </a:endParaRPr>
          </a:p>
        </p:txBody>
      </p:sp>
      <p:sp>
        <p:nvSpPr>
          <p:cNvPr id="3099" name="Google Shape;3099;p111"/>
          <p:cNvSpPr/>
          <p:nvPr/>
        </p:nvSpPr>
        <p:spPr>
          <a:xfrm>
            <a:off x="1005840" y="2683764"/>
            <a:ext cx="493776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D2A5C"/>
              </a:buClr>
              <a:buSzPts val="1400"/>
              <a:buFont typeface="Calibri"/>
              <a:buNone/>
            </a:pPr>
            <a:r>
              <a:rPr b="1" i="0" lang="en-US" sz="1400" u="none" cap="none" strike="noStrike">
                <a:solidFill>
                  <a:srgbClr val="1D2A5C"/>
                </a:solidFill>
                <a:latin typeface="Calibri"/>
                <a:ea typeface="Calibri"/>
                <a:cs typeface="Calibri"/>
                <a:sym typeface="Calibri"/>
              </a:rPr>
              <a:t>Slices are declared in config, not improvised</a:t>
            </a:r>
            <a:endParaRPr b="0" i="0" sz="1400" u="none" cap="none" strike="noStrike">
              <a:solidFill>
                <a:schemeClr val="dk1"/>
              </a:solidFill>
              <a:latin typeface="Calibri"/>
              <a:ea typeface="Calibri"/>
              <a:cs typeface="Calibri"/>
              <a:sym typeface="Calibri"/>
            </a:endParaRPr>
          </a:p>
        </p:txBody>
      </p:sp>
      <p:sp>
        <p:nvSpPr>
          <p:cNvPr id="3100" name="Google Shape;3100;p111"/>
          <p:cNvSpPr/>
          <p:nvPr/>
        </p:nvSpPr>
        <p:spPr>
          <a:xfrm>
            <a:off x="1005840" y="2985516"/>
            <a:ext cx="4937760" cy="841248"/>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5F6B7A"/>
              </a:buClr>
              <a:buSzPts val="1150"/>
              <a:buFont typeface="Calibri"/>
              <a:buNone/>
            </a:pPr>
            <a:r>
              <a:rPr b="0" i="0" lang="en-US" sz="1150" u="none" cap="none" strike="noStrike">
                <a:solidFill>
                  <a:srgbClr val="5F6B7A"/>
                </a:solidFill>
                <a:latin typeface="Calibri"/>
                <a:ea typeface="Calibri"/>
                <a:cs typeface="Calibri"/>
                <a:sym typeface="Calibri"/>
              </a:rPr>
              <a:t>Post-hoc slicing after seeing results is p-hacking with extra steps; the taxonomy is reviewed like code.</a:t>
            </a:r>
            <a:endParaRPr b="0" i="0" sz="1150" u="none" cap="none" strike="noStrike">
              <a:solidFill>
                <a:schemeClr val="dk1"/>
              </a:solidFill>
              <a:latin typeface="Calibri"/>
              <a:ea typeface="Calibri"/>
              <a:cs typeface="Calibri"/>
              <a:sym typeface="Calibri"/>
            </a:endParaRPr>
          </a:p>
        </p:txBody>
      </p:sp>
      <p:sp>
        <p:nvSpPr>
          <p:cNvPr id="3101" name="Google Shape;3101;p111"/>
          <p:cNvSpPr/>
          <p:nvPr/>
        </p:nvSpPr>
        <p:spPr>
          <a:xfrm>
            <a:off x="502920" y="3936492"/>
            <a:ext cx="329184" cy="329184"/>
          </a:xfrm>
          <a:prstGeom prst="ellipse">
            <a:avLst/>
          </a:prstGeom>
          <a:solidFill>
            <a:srgbClr val="F5822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02" name="Google Shape;3102;p111"/>
          <p:cNvSpPr/>
          <p:nvPr/>
        </p:nvSpPr>
        <p:spPr>
          <a:xfrm>
            <a:off x="502920" y="3936492"/>
            <a:ext cx="329184" cy="32918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300"/>
              <a:buFont typeface="Calibri"/>
              <a:buNone/>
            </a:pPr>
            <a:r>
              <a:rPr b="1" i="0" lang="en-US" sz="1300" u="none" cap="none" strike="noStrike">
                <a:solidFill>
                  <a:srgbClr val="FFFFFF"/>
                </a:solidFill>
                <a:latin typeface="Calibri"/>
                <a:ea typeface="Calibri"/>
                <a:cs typeface="Calibri"/>
                <a:sym typeface="Calibri"/>
              </a:rPr>
              <a:t>3</a:t>
            </a:r>
            <a:endParaRPr b="0" i="0" sz="1300" u="none" cap="none" strike="noStrike">
              <a:solidFill>
                <a:schemeClr val="dk1"/>
              </a:solidFill>
              <a:latin typeface="Calibri"/>
              <a:ea typeface="Calibri"/>
              <a:cs typeface="Calibri"/>
              <a:sym typeface="Calibri"/>
            </a:endParaRPr>
          </a:p>
        </p:txBody>
      </p:sp>
      <p:sp>
        <p:nvSpPr>
          <p:cNvPr id="3103" name="Google Shape;3103;p111"/>
          <p:cNvSpPr/>
          <p:nvPr/>
        </p:nvSpPr>
        <p:spPr>
          <a:xfrm>
            <a:off x="1005840" y="3872484"/>
            <a:ext cx="493776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D2A5C"/>
              </a:buClr>
              <a:buSzPts val="1400"/>
              <a:buFont typeface="Calibri"/>
              <a:buNone/>
            </a:pPr>
            <a:r>
              <a:rPr b="1" i="0" lang="en-US" sz="1400" u="none" cap="none" strike="noStrike">
                <a:solidFill>
                  <a:srgbClr val="1D2A5C"/>
                </a:solidFill>
                <a:latin typeface="Calibri"/>
                <a:ea typeface="Calibri"/>
                <a:cs typeface="Calibri"/>
                <a:sym typeface="Calibri"/>
              </a:rPr>
              <a:t>Every slice report carries n</a:t>
            </a:r>
            <a:endParaRPr b="0" i="0" sz="1400" u="none" cap="none" strike="noStrike">
              <a:solidFill>
                <a:schemeClr val="dk1"/>
              </a:solidFill>
              <a:latin typeface="Calibri"/>
              <a:ea typeface="Calibri"/>
              <a:cs typeface="Calibri"/>
              <a:sym typeface="Calibri"/>
            </a:endParaRPr>
          </a:p>
        </p:txBody>
      </p:sp>
      <p:sp>
        <p:nvSpPr>
          <p:cNvPr id="3104" name="Google Shape;3104;p111"/>
          <p:cNvSpPr/>
          <p:nvPr/>
        </p:nvSpPr>
        <p:spPr>
          <a:xfrm>
            <a:off x="1005840" y="4174236"/>
            <a:ext cx="4937760" cy="841248"/>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5F6B7A"/>
              </a:buClr>
              <a:buSzPts val="1150"/>
              <a:buFont typeface="Calibri"/>
              <a:buNone/>
            </a:pPr>
            <a:r>
              <a:rPr b="0" i="0" lang="en-US" sz="1150" u="none" cap="none" strike="noStrike">
                <a:solidFill>
                  <a:srgbClr val="5F6B7A"/>
                </a:solidFill>
                <a:latin typeface="Calibri"/>
                <a:ea typeface="Calibri"/>
                <a:cs typeface="Calibri"/>
                <a:sym typeface="Calibri"/>
              </a:rPr>
              <a:t>A 0.71 recall on a 14-item slice is a hypothesis, not a finding; slices under 50 instances render greyed out.</a:t>
            </a:r>
            <a:endParaRPr b="0" i="0" sz="1150" u="none" cap="none" strike="noStrike">
              <a:solidFill>
                <a:schemeClr val="dk1"/>
              </a:solidFill>
              <a:latin typeface="Calibri"/>
              <a:ea typeface="Calibri"/>
              <a:cs typeface="Calibri"/>
              <a:sym typeface="Calibri"/>
            </a:endParaRPr>
          </a:p>
        </p:txBody>
      </p:sp>
      <p:sp>
        <p:nvSpPr>
          <p:cNvPr id="3105" name="Google Shape;3105;p111"/>
          <p:cNvSpPr/>
          <p:nvPr/>
        </p:nvSpPr>
        <p:spPr>
          <a:xfrm>
            <a:off x="502920" y="5125212"/>
            <a:ext cx="329184" cy="329184"/>
          </a:xfrm>
          <a:prstGeom prst="ellipse">
            <a:avLst/>
          </a:prstGeom>
          <a:solidFill>
            <a:srgbClr val="8DC63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06" name="Google Shape;3106;p111"/>
          <p:cNvSpPr/>
          <p:nvPr/>
        </p:nvSpPr>
        <p:spPr>
          <a:xfrm>
            <a:off x="502920" y="5125212"/>
            <a:ext cx="329184" cy="32918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300"/>
              <a:buFont typeface="Calibri"/>
              <a:buNone/>
            </a:pPr>
            <a:r>
              <a:rPr b="1" i="0" lang="en-US" sz="1300" u="none" cap="none" strike="noStrike">
                <a:solidFill>
                  <a:srgbClr val="FFFFFF"/>
                </a:solidFill>
                <a:latin typeface="Calibri"/>
                <a:ea typeface="Calibri"/>
                <a:cs typeface="Calibri"/>
                <a:sym typeface="Calibri"/>
              </a:rPr>
              <a:t>4</a:t>
            </a:r>
            <a:endParaRPr b="0" i="0" sz="1300" u="none" cap="none" strike="noStrike">
              <a:solidFill>
                <a:schemeClr val="dk1"/>
              </a:solidFill>
              <a:latin typeface="Calibri"/>
              <a:ea typeface="Calibri"/>
              <a:cs typeface="Calibri"/>
              <a:sym typeface="Calibri"/>
            </a:endParaRPr>
          </a:p>
        </p:txBody>
      </p:sp>
      <p:sp>
        <p:nvSpPr>
          <p:cNvPr id="3107" name="Google Shape;3107;p111"/>
          <p:cNvSpPr/>
          <p:nvPr/>
        </p:nvSpPr>
        <p:spPr>
          <a:xfrm>
            <a:off x="1005840" y="5061204"/>
            <a:ext cx="493776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D2A5C"/>
              </a:buClr>
              <a:buSzPts val="1400"/>
              <a:buFont typeface="Calibri"/>
              <a:buNone/>
            </a:pPr>
            <a:r>
              <a:rPr b="1" i="0" lang="en-US" sz="1400" u="none" cap="none" strike="noStrike">
                <a:solidFill>
                  <a:srgbClr val="1D2A5C"/>
                </a:solidFill>
                <a:latin typeface="Calibri"/>
                <a:ea typeface="Calibri"/>
                <a:cs typeface="Calibri"/>
                <a:sym typeface="Calibri"/>
              </a:rPr>
              <a:t>The headline is the worst slice, not the mean</a:t>
            </a:r>
            <a:endParaRPr b="0" i="0" sz="1400" u="none" cap="none" strike="noStrike">
              <a:solidFill>
                <a:schemeClr val="dk1"/>
              </a:solidFill>
              <a:latin typeface="Calibri"/>
              <a:ea typeface="Calibri"/>
              <a:cs typeface="Calibri"/>
              <a:sym typeface="Calibri"/>
            </a:endParaRPr>
          </a:p>
        </p:txBody>
      </p:sp>
      <p:sp>
        <p:nvSpPr>
          <p:cNvPr id="3108" name="Google Shape;3108;p111"/>
          <p:cNvSpPr/>
          <p:nvPr/>
        </p:nvSpPr>
        <p:spPr>
          <a:xfrm>
            <a:off x="1005840" y="5362956"/>
            <a:ext cx="4937760" cy="841248"/>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5F6B7A"/>
              </a:buClr>
              <a:buSzPts val="1150"/>
              <a:buFont typeface="Calibri"/>
              <a:buNone/>
            </a:pPr>
            <a:r>
              <a:rPr b="0" i="0" lang="en-US" sz="1150" u="none" cap="none" strike="noStrike">
                <a:solidFill>
                  <a:srgbClr val="5F6B7A"/>
                </a:solidFill>
                <a:latin typeface="Calibri"/>
                <a:ea typeface="Calibri"/>
                <a:cs typeface="Calibri"/>
                <a:sym typeface="Calibri"/>
              </a:rPr>
              <a:t>Min recall across sessions catches what the mean launders. Fine on average, broken at one site = broken.</a:t>
            </a:r>
            <a:endParaRPr b="0" i="0" sz="1150" u="none" cap="none" strike="noStrike">
              <a:solidFill>
                <a:schemeClr val="dk1"/>
              </a:solidFill>
              <a:latin typeface="Calibri"/>
              <a:ea typeface="Calibri"/>
              <a:cs typeface="Calibri"/>
              <a:sym typeface="Calibri"/>
            </a:endParaRPr>
          </a:p>
        </p:txBody>
      </p:sp>
      <p:sp>
        <p:nvSpPr>
          <p:cNvPr id="3109" name="Google Shape;3109;p111"/>
          <p:cNvSpPr/>
          <p:nvPr/>
        </p:nvSpPr>
        <p:spPr>
          <a:xfrm>
            <a:off x="6355080" y="2775204"/>
            <a:ext cx="1563624" cy="2194560"/>
          </a:xfrm>
          <a:prstGeom prst="roundRect">
            <a:avLst>
              <a:gd fmla="val 5263" name="adj"/>
            </a:avLst>
          </a:prstGeom>
          <a:solidFill>
            <a:srgbClr val="E9F6F5"/>
          </a:solidFill>
          <a:ln cap="flat" cmpd="sng" w="12700">
            <a:solidFill>
              <a:srgbClr val="D9E2E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10" name="Google Shape;3110;p111"/>
          <p:cNvSpPr/>
          <p:nvPr/>
        </p:nvSpPr>
        <p:spPr>
          <a:xfrm>
            <a:off x="6446520" y="2884932"/>
            <a:ext cx="1380744" cy="96560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0A79D"/>
              </a:buClr>
              <a:buSzPts val="3800"/>
              <a:buFont typeface="Calibri"/>
              <a:buNone/>
            </a:pPr>
            <a:r>
              <a:rPr b="1" i="0" lang="en-US" sz="3800" u="none" cap="none" strike="noStrike">
                <a:solidFill>
                  <a:srgbClr val="00A79D"/>
                </a:solidFill>
                <a:latin typeface="Calibri"/>
                <a:ea typeface="Calibri"/>
                <a:cs typeface="Calibri"/>
                <a:sym typeface="Calibri"/>
              </a:rPr>
              <a:t>0.872</a:t>
            </a:r>
            <a:endParaRPr b="0" i="0" sz="3800" u="none" cap="none" strike="noStrike">
              <a:solidFill>
                <a:schemeClr val="dk1"/>
              </a:solidFill>
              <a:latin typeface="Calibri"/>
              <a:ea typeface="Calibri"/>
              <a:cs typeface="Calibri"/>
              <a:sym typeface="Calibri"/>
            </a:endParaRPr>
          </a:p>
        </p:txBody>
      </p:sp>
      <p:sp>
        <p:nvSpPr>
          <p:cNvPr id="3111" name="Google Shape;3111;p111"/>
          <p:cNvSpPr/>
          <p:nvPr/>
        </p:nvSpPr>
        <p:spPr>
          <a:xfrm>
            <a:off x="6492240" y="3916375"/>
            <a:ext cx="1289304" cy="32004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D2A5C"/>
              </a:buClr>
              <a:buSzPts val="1250"/>
              <a:buFont typeface="Calibri"/>
              <a:buNone/>
            </a:pPr>
            <a:r>
              <a:rPr b="1" i="0" lang="en-US" sz="1250" u="none" cap="none" strike="noStrike">
                <a:solidFill>
                  <a:srgbClr val="1D2A5C"/>
                </a:solidFill>
                <a:latin typeface="Calibri"/>
                <a:ea typeface="Calibri"/>
                <a:cs typeface="Calibri"/>
                <a:sym typeface="Calibri"/>
              </a:rPr>
              <a:t>aggregate mAP@0.5</a:t>
            </a:r>
            <a:endParaRPr b="0" i="0" sz="1250" u="none" cap="none" strike="noStrike">
              <a:solidFill>
                <a:schemeClr val="dk1"/>
              </a:solidFill>
              <a:latin typeface="Calibri"/>
              <a:ea typeface="Calibri"/>
              <a:cs typeface="Calibri"/>
              <a:sym typeface="Calibri"/>
            </a:endParaRPr>
          </a:p>
        </p:txBody>
      </p:sp>
      <p:sp>
        <p:nvSpPr>
          <p:cNvPr id="3112" name="Google Shape;3112;p111"/>
          <p:cNvSpPr/>
          <p:nvPr/>
        </p:nvSpPr>
        <p:spPr>
          <a:xfrm>
            <a:off x="6492240" y="4263847"/>
            <a:ext cx="1289304" cy="658368"/>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rgbClr val="5F6B7A"/>
              </a:buClr>
              <a:buSzPts val="1000"/>
              <a:buFont typeface="Calibri"/>
              <a:buNone/>
            </a:pPr>
            <a:r>
              <a:rPr b="0" i="0" lang="en-US" sz="1000" u="none" cap="none" strike="noStrike">
                <a:solidFill>
                  <a:srgbClr val="5F6B7A"/>
                </a:solidFill>
                <a:latin typeface="Calibri"/>
                <a:ea typeface="Calibri"/>
                <a:cs typeface="Calibri"/>
                <a:sym typeface="Calibri"/>
              </a:rPr>
              <a:t>green — and insufficient</a:t>
            </a:r>
            <a:endParaRPr b="0" i="0" sz="1000" u="none" cap="none" strike="noStrike">
              <a:solidFill>
                <a:schemeClr val="dk1"/>
              </a:solidFill>
              <a:latin typeface="Calibri"/>
              <a:ea typeface="Calibri"/>
              <a:cs typeface="Calibri"/>
              <a:sym typeface="Calibri"/>
            </a:endParaRPr>
          </a:p>
        </p:txBody>
      </p:sp>
      <p:sp>
        <p:nvSpPr>
          <p:cNvPr id="3113" name="Google Shape;3113;p111"/>
          <p:cNvSpPr/>
          <p:nvPr/>
        </p:nvSpPr>
        <p:spPr>
          <a:xfrm>
            <a:off x="8238744" y="2775204"/>
            <a:ext cx="1563624" cy="2194560"/>
          </a:xfrm>
          <a:prstGeom prst="roundRect">
            <a:avLst>
              <a:gd fmla="val 5263" name="adj"/>
            </a:avLst>
          </a:prstGeom>
          <a:solidFill>
            <a:srgbClr val="F2F6F9"/>
          </a:solidFill>
          <a:ln cap="flat" cmpd="sng" w="12700">
            <a:solidFill>
              <a:srgbClr val="D9E2E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14" name="Google Shape;3114;p111"/>
          <p:cNvSpPr/>
          <p:nvPr/>
        </p:nvSpPr>
        <p:spPr>
          <a:xfrm>
            <a:off x="8330184" y="2884932"/>
            <a:ext cx="1380744" cy="96560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E8503A"/>
              </a:buClr>
              <a:buSzPts val="3800"/>
              <a:buFont typeface="Calibri"/>
              <a:buNone/>
            </a:pPr>
            <a:r>
              <a:rPr b="1" i="0" lang="en-US" sz="3800" u="none" cap="none" strike="noStrike">
                <a:solidFill>
                  <a:srgbClr val="E8503A"/>
                </a:solidFill>
                <a:latin typeface="Calibri"/>
                <a:ea typeface="Calibri"/>
                <a:cs typeface="Calibri"/>
                <a:sym typeface="Calibri"/>
              </a:rPr>
              <a:t>0.71</a:t>
            </a:r>
            <a:endParaRPr b="0" i="0" sz="3800" u="none" cap="none" strike="noStrike">
              <a:solidFill>
                <a:schemeClr val="dk1"/>
              </a:solidFill>
              <a:latin typeface="Calibri"/>
              <a:ea typeface="Calibri"/>
              <a:cs typeface="Calibri"/>
              <a:sym typeface="Calibri"/>
            </a:endParaRPr>
          </a:p>
        </p:txBody>
      </p:sp>
      <p:sp>
        <p:nvSpPr>
          <p:cNvPr id="3115" name="Google Shape;3115;p111"/>
          <p:cNvSpPr/>
          <p:nvPr/>
        </p:nvSpPr>
        <p:spPr>
          <a:xfrm>
            <a:off x="8375904" y="3916375"/>
            <a:ext cx="1289304" cy="32004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D2A5C"/>
              </a:buClr>
              <a:buSzPts val="1250"/>
              <a:buFont typeface="Calibri"/>
              <a:buNone/>
            </a:pPr>
            <a:r>
              <a:rPr b="1" i="0" lang="en-US" sz="1250" u="none" cap="none" strike="noStrike">
                <a:solidFill>
                  <a:srgbClr val="1D2A5C"/>
                </a:solidFill>
                <a:latin typeface="Calibri"/>
                <a:ea typeface="Calibri"/>
                <a:cs typeface="Calibri"/>
                <a:sym typeface="Calibri"/>
              </a:rPr>
              <a:t>session s09 recall</a:t>
            </a:r>
            <a:endParaRPr b="0" i="0" sz="1250" u="none" cap="none" strike="noStrike">
              <a:solidFill>
                <a:schemeClr val="dk1"/>
              </a:solidFill>
              <a:latin typeface="Calibri"/>
              <a:ea typeface="Calibri"/>
              <a:cs typeface="Calibri"/>
              <a:sym typeface="Calibri"/>
            </a:endParaRPr>
          </a:p>
        </p:txBody>
      </p:sp>
      <p:sp>
        <p:nvSpPr>
          <p:cNvPr id="3116" name="Google Shape;3116;p111"/>
          <p:cNvSpPr/>
          <p:nvPr/>
        </p:nvSpPr>
        <p:spPr>
          <a:xfrm>
            <a:off x="8375904" y="4263847"/>
            <a:ext cx="1289304" cy="658368"/>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rgbClr val="5F6B7A"/>
              </a:buClr>
              <a:buSzPts val="1000"/>
              <a:buFont typeface="Calibri"/>
              <a:buNone/>
            </a:pPr>
            <a:r>
              <a:rPr b="0" i="0" lang="en-US" sz="1000" u="none" cap="none" strike="noStrike">
                <a:solidFill>
                  <a:srgbClr val="5F6B7A"/>
                </a:solidFill>
                <a:latin typeface="Calibri"/>
                <a:ea typeface="Calibri"/>
                <a:cs typeface="Calibri"/>
                <a:sym typeface="Calibri"/>
              </a:rPr>
              <a:t>evening captures, n=142</a:t>
            </a:r>
            <a:endParaRPr b="0" i="0" sz="1000" u="none" cap="none" strike="noStrike">
              <a:solidFill>
                <a:schemeClr val="dk1"/>
              </a:solidFill>
              <a:latin typeface="Calibri"/>
              <a:ea typeface="Calibri"/>
              <a:cs typeface="Calibri"/>
              <a:sym typeface="Calibri"/>
            </a:endParaRPr>
          </a:p>
        </p:txBody>
      </p:sp>
      <p:sp>
        <p:nvSpPr>
          <p:cNvPr id="3117" name="Google Shape;3117;p111"/>
          <p:cNvSpPr/>
          <p:nvPr/>
        </p:nvSpPr>
        <p:spPr>
          <a:xfrm>
            <a:off x="10122408" y="2775204"/>
            <a:ext cx="1563624" cy="2194560"/>
          </a:xfrm>
          <a:prstGeom prst="roundRect">
            <a:avLst>
              <a:gd fmla="val 5263" name="adj"/>
            </a:avLst>
          </a:prstGeom>
          <a:solidFill>
            <a:srgbClr val="F2F6F9"/>
          </a:solidFill>
          <a:ln cap="flat" cmpd="sng" w="12700">
            <a:solidFill>
              <a:srgbClr val="D9E2E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18" name="Google Shape;3118;p111"/>
          <p:cNvSpPr/>
          <p:nvPr/>
        </p:nvSpPr>
        <p:spPr>
          <a:xfrm>
            <a:off x="10213848" y="2884932"/>
            <a:ext cx="1380744" cy="96560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58220"/>
              </a:buClr>
              <a:buSzPts val="3800"/>
              <a:buFont typeface="Calibri"/>
              <a:buNone/>
            </a:pPr>
            <a:r>
              <a:rPr b="1" i="0" lang="en-US" sz="3800" u="none" cap="none" strike="noStrike">
                <a:solidFill>
                  <a:srgbClr val="F58220"/>
                </a:solidFill>
                <a:latin typeface="Calibri"/>
                <a:ea typeface="Calibri"/>
                <a:cs typeface="Calibri"/>
                <a:sym typeface="Calibri"/>
              </a:rPr>
              <a:t>50</a:t>
            </a:r>
            <a:endParaRPr b="0" i="0" sz="3800" u="none" cap="none" strike="noStrike">
              <a:solidFill>
                <a:schemeClr val="dk1"/>
              </a:solidFill>
              <a:latin typeface="Calibri"/>
              <a:ea typeface="Calibri"/>
              <a:cs typeface="Calibri"/>
              <a:sym typeface="Calibri"/>
            </a:endParaRPr>
          </a:p>
        </p:txBody>
      </p:sp>
      <p:sp>
        <p:nvSpPr>
          <p:cNvPr id="3119" name="Google Shape;3119;p111"/>
          <p:cNvSpPr/>
          <p:nvPr/>
        </p:nvSpPr>
        <p:spPr>
          <a:xfrm>
            <a:off x="10259568" y="3916375"/>
            <a:ext cx="1289304" cy="32004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D2A5C"/>
              </a:buClr>
              <a:buSzPts val="1250"/>
              <a:buFont typeface="Calibri"/>
              <a:buNone/>
            </a:pPr>
            <a:r>
              <a:rPr b="1" i="0" lang="en-US" sz="1250" u="none" cap="none" strike="noStrike">
                <a:solidFill>
                  <a:srgbClr val="1D2A5C"/>
                </a:solidFill>
                <a:latin typeface="Calibri"/>
                <a:ea typeface="Calibri"/>
                <a:cs typeface="Calibri"/>
                <a:sym typeface="Calibri"/>
              </a:rPr>
              <a:t>min n per slice</a:t>
            </a:r>
            <a:endParaRPr b="0" i="0" sz="1250" u="none" cap="none" strike="noStrike">
              <a:solidFill>
                <a:schemeClr val="dk1"/>
              </a:solidFill>
              <a:latin typeface="Calibri"/>
              <a:ea typeface="Calibri"/>
              <a:cs typeface="Calibri"/>
              <a:sym typeface="Calibri"/>
            </a:endParaRPr>
          </a:p>
        </p:txBody>
      </p:sp>
      <p:sp>
        <p:nvSpPr>
          <p:cNvPr id="3120" name="Google Shape;3120;p111"/>
          <p:cNvSpPr/>
          <p:nvPr/>
        </p:nvSpPr>
        <p:spPr>
          <a:xfrm>
            <a:off x="10259568" y="4263847"/>
            <a:ext cx="1289304" cy="658368"/>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rgbClr val="5F6B7A"/>
              </a:buClr>
              <a:buSzPts val="1000"/>
              <a:buFont typeface="Calibri"/>
              <a:buNone/>
            </a:pPr>
            <a:r>
              <a:rPr b="0" i="0" lang="en-US" sz="1000" u="none" cap="none" strike="noStrike">
                <a:solidFill>
                  <a:srgbClr val="5F6B7A"/>
                </a:solidFill>
                <a:latin typeface="Calibri"/>
                <a:ea typeface="Calibri"/>
                <a:cs typeface="Calibri"/>
                <a:sym typeface="Calibri"/>
              </a:rPr>
              <a:t>under-powered = greyed</a:t>
            </a:r>
            <a:endParaRPr b="0" i="0" sz="1000" u="none" cap="none" strike="noStrike">
              <a:solidFill>
                <a:schemeClr val="dk1"/>
              </a:solidFill>
              <a:latin typeface="Calibri"/>
              <a:ea typeface="Calibri"/>
              <a:cs typeface="Calibri"/>
              <a:sym typeface="Calibri"/>
            </a:endParaRPr>
          </a:p>
        </p:txBody>
      </p:sp>
    </p:spTree>
  </p:cSld>
  <p:clrMapOvr>
    <a:masterClrMapping/>
  </p:clrMapOvr>
</p:sld>
</file>

<file path=ppt/slides/slide1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125" name="Shape 3125"/>
        <p:cNvGrpSpPr/>
        <p:nvPr/>
      </p:nvGrpSpPr>
      <p:grpSpPr>
        <a:xfrm>
          <a:off x="0" y="0"/>
          <a:ext cx="0" cy="0"/>
          <a:chOff x="0" y="0"/>
          <a:chExt cx="0" cy="0"/>
        </a:xfrm>
      </p:grpSpPr>
      <p:sp>
        <p:nvSpPr>
          <p:cNvPr id="3126" name="Google Shape;3126;p112"/>
          <p:cNvSpPr/>
          <p:nvPr/>
        </p:nvSpPr>
        <p:spPr>
          <a:xfrm>
            <a:off x="502920" y="274320"/>
            <a:ext cx="9646920" cy="56692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D2A5C"/>
              </a:buClr>
              <a:buSzPts val="2700"/>
              <a:buFont typeface="Calibri"/>
              <a:buNone/>
            </a:pPr>
            <a:r>
              <a:rPr b="1" i="0" lang="en-US" sz="2700" u="none" cap="none" strike="noStrike">
                <a:solidFill>
                  <a:srgbClr val="1D2A5C"/>
                </a:solidFill>
                <a:latin typeface="Calibri"/>
                <a:ea typeface="Calibri"/>
                <a:cs typeface="Calibri"/>
                <a:sym typeface="Calibri"/>
              </a:rPr>
              <a:t>The Detection Error Taxonomy</a:t>
            </a:r>
            <a:endParaRPr b="0" i="0" sz="2700" u="none" cap="none" strike="noStrike">
              <a:solidFill>
                <a:schemeClr val="dk1"/>
              </a:solidFill>
              <a:latin typeface="Calibri"/>
              <a:ea typeface="Calibri"/>
              <a:cs typeface="Calibri"/>
              <a:sym typeface="Calibri"/>
            </a:endParaRPr>
          </a:p>
        </p:txBody>
      </p:sp>
      <p:sp>
        <p:nvSpPr>
          <p:cNvPr id="3127" name="Google Shape;3127;p112"/>
          <p:cNvSpPr/>
          <p:nvPr/>
        </p:nvSpPr>
        <p:spPr>
          <a:xfrm>
            <a:off x="502920" y="859536"/>
            <a:ext cx="9646920" cy="31089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F6B7A"/>
              </a:buClr>
              <a:buSzPts val="1250"/>
              <a:buFont typeface="Arial"/>
              <a:buNone/>
            </a:pPr>
            <a:r>
              <a:rPr b="0" i="0" lang="en-US" sz="1250" u="none" cap="none" strike="noStrike">
                <a:solidFill>
                  <a:srgbClr val="5F6B7A"/>
                </a:solidFill>
                <a:latin typeface="Arial"/>
                <a:ea typeface="Arial"/>
                <a:cs typeface="Arial"/>
                <a:sym typeface="Arial"/>
              </a:rPr>
              <a:t>تصنيف أخطاء الاكتشاف</a:t>
            </a:r>
            <a:endParaRPr b="0" i="0" sz="1250" u="none" cap="none" strike="noStrike">
              <a:solidFill>
                <a:schemeClr val="dk1"/>
              </a:solidFill>
              <a:latin typeface="Calibri"/>
              <a:ea typeface="Calibri"/>
              <a:cs typeface="Calibri"/>
              <a:sym typeface="Calibri"/>
            </a:endParaRPr>
          </a:p>
        </p:txBody>
      </p:sp>
      <p:pic>
        <p:nvPicPr>
          <p:cNvPr descr="/sessions/blissful-determined-ritchie/build/assets/sdaia_logo.png" id="3128" name="Google Shape;3128;p112"/>
          <p:cNvPicPr preferRelativeResize="0"/>
          <p:nvPr/>
        </p:nvPicPr>
        <p:blipFill rotWithShape="1">
          <a:blip r:embed="rId3">
            <a:alphaModFix/>
          </a:blip>
          <a:srcRect b="0" l="0" r="0" t="0"/>
          <a:stretch/>
        </p:blipFill>
        <p:spPr>
          <a:xfrm>
            <a:off x="10625328" y="310896"/>
            <a:ext cx="1078992" cy="264111"/>
          </a:xfrm>
          <a:prstGeom prst="rect">
            <a:avLst/>
          </a:prstGeom>
          <a:noFill/>
          <a:ln>
            <a:noFill/>
          </a:ln>
        </p:spPr>
      </p:pic>
      <p:sp>
        <p:nvSpPr>
          <p:cNvPr id="3129" name="Google Shape;3129;p112"/>
          <p:cNvSpPr/>
          <p:nvPr/>
        </p:nvSpPr>
        <p:spPr>
          <a:xfrm>
            <a:off x="502920" y="6528816"/>
            <a:ext cx="8686800"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A79D"/>
              </a:buClr>
              <a:buSzPts val="800"/>
              <a:buFont typeface="Calibri"/>
              <a:buNone/>
            </a:pPr>
            <a:r>
              <a:rPr b="1" i="0" lang="en-US" sz="800" u="none" cap="none" strike="noStrike">
                <a:solidFill>
                  <a:srgbClr val="00A79D"/>
                </a:solidFill>
                <a:latin typeface="Calibri"/>
                <a:ea typeface="Calibri"/>
                <a:cs typeface="Calibri"/>
                <a:sym typeface="Calibri"/>
              </a:rPr>
              <a:t>MODULE 6   </a:t>
            </a:r>
            <a:r>
              <a:rPr b="0" i="0" lang="en-US" sz="800" u="none" cap="none" strike="noStrike">
                <a:solidFill>
                  <a:srgbClr val="8A96A6"/>
                </a:solidFill>
                <a:latin typeface="Calibri"/>
                <a:ea typeface="Calibri"/>
                <a:cs typeface="Calibri"/>
                <a:sym typeface="Calibri"/>
              </a:rPr>
              <a:t>SDA-AIE-212 · Computer Vision Systems Development</a:t>
            </a:r>
            <a:endParaRPr b="0" i="0" sz="800" u="none" cap="none" strike="noStrike">
              <a:solidFill>
                <a:schemeClr val="dk1"/>
              </a:solidFill>
              <a:latin typeface="Calibri"/>
              <a:ea typeface="Calibri"/>
              <a:cs typeface="Calibri"/>
              <a:sym typeface="Calibri"/>
            </a:endParaRPr>
          </a:p>
        </p:txBody>
      </p:sp>
      <p:sp>
        <p:nvSpPr>
          <p:cNvPr id="3130" name="Google Shape;3130;p112"/>
          <p:cNvSpPr/>
          <p:nvPr/>
        </p:nvSpPr>
        <p:spPr>
          <a:xfrm>
            <a:off x="11292840" y="6528816"/>
            <a:ext cx="411480" cy="219456"/>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8A96A6"/>
              </a:buClr>
              <a:buSzPts val="900"/>
              <a:buFont typeface="Calibri"/>
              <a:buNone/>
            </a:pPr>
            <a:r>
              <a:rPr b="0" i="0" lang="en-US" sz="900" u="none" cap="none" strike="noStrike">
                <a:solidFill>
                  <a:srgbClr val="8A96A6"/>
                </a:solidFill>
                <a:latin typeface="Calibri"/>
                <a:ea typeface="Calibri"/>
                <a:cs typeface="Calibri"/>
                <a:sym typeface="Calibri"/>
              </a:rPr>
              <a:t>112</a:t>
            </a:r>
            <a:endParaRPr b="0" i="0" sz="900" u="none" cap="none" strike="noStrike">
              <a:solidFill>
                <a:schemeClr val="dk1"/>
              </a:solidFill>
              <a:latin typeface="Calibri"/>
              <a:ea typeface="Calibri"/>
              <a:cs typeface="Calibri"/>
              <a:sym typeface="Calibri"/>
            </a:endParaRPr>
          </a:p>
        </p:txBody>
      </p:sp>
      <p:sp>
        <p:nvSpPr>
          <p:cNvPr id="3131" name="Google Shape;3131;p112"/>
          <p:cNvSpPr/>
          <p:nvPr/>
        </p:nvSpPr>
        <p:spPr>
          <a:xfrm>
            <a:off x="502920" y="1389888"/>
            <a:ext cx="11185855" cy="3657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5F6B7A"/>
              </a:buClr>
              <a:buSzPts val="1250"/>
              <a:buFont typeface="Calibri"/>
              <a:buNone/>
            </a:pPr>
            <a:r>
              <a:rPr b="0" i="1" lang="en-US" sz="1250" u="none" cap="none" strike="noStrike">
                <a:solidFill>
                  <a:srgbClr val="5F6B7A"/>
                </a:solidFill>
                <a:latin typeface="Calibri"/>
                <a:ea typeface="Calibri"/>
                <a:cs typeface="Calibri"/>
                <a:sym typeface="Calibri"/>
              </a:rPr>
              <a:t>On dates-qc v1, misclassification carried 41% of error mass — M5's spec fix, not a bigger model, was the right spend.</a:t>
            </a:r>
            <a:endParaRPr b="0" i="0" sz="1250" u="none" cap="none" strike="noStrike">
              <a:solidFill>
                <a:schemeClr val="dk1"/>
              </a:solidFill>
              <a:latin typeface="Calibri"/>
              <a:ea typeface="Calibri"/>
              <a:cs typeface="Calibri"/>
              <a:sym typeface="Calibri"/>
            </a:endParaRPr>
          </a:p>
        </p:txBody>
      </p:sp>
      <p:graphicFrame>
        <p:nvGraphicFramePr>
          <p:cNvPr id="3132" name="Google Shape;3132;p112"/>
          <p:cNvGraphicFramePr/>
          <p:nvPr/>
        </p:nvGraphicFramePr>
        <p:xfrm>
          <a:off x="502920" y="1865376"/>
          <a:ext cx="3000000" cy="3000000"/>
        </p:xfrm>
        <a:graphic>
          <a:graphicData uri="http://schemas.openxmlformats.org/drawingml/2006/table">
            <a:tbl>
              <a:tblPr>
                <a:noFill/>
                <a:tableStyleId>{F80342BA-3033-44D6-9F91-622DC7A4C435}</a:tableStyleId>
              </a:tblPr>
              <a:tblGrid>
                <a:gridCol w="2061675"/>
                <a:gridCol w="3041575"/>
                <a:gridCol w="3000200"/>
                <a:gridCol w="3082400"/>
              </a:tblGrid>
              <a:tr h="713225">
                <a:tc>
                  <a:txBody>
                    <a:bodyPr/>
                    <a:lstStyle/>
                    <a:p>
                      <a:pPr indent="0" lvl="0" marL="0" marR="0" rtl="0" algn="l">
                        <a:spcBef>
                          <a:spcPts val="0"/>
                        </a:spcBef>
                        <a:spcAft>
                          <a:spcPts val="0"/>
                        </a:spcAft>
                        <a:buClr>
                          <a:srgbClr val="FFFFFF"/>
                        </a:buClr>
                        <a:buSzPts val="1150"/>
                        <a:buFont typeface="Calibri"/>
                        <a:buNone/>
                      </a:pPr>
                      <a:r>
                        <a:rPr b="1" lang="en-US" sz="1150" u="none" cap="none" strike="noStrike">
                          <a:solidFill>
                            <a:srgbClr val="FFFFFF"/>
                          </a:solidFill>
                          <a:latin typeface="Calibri"/>
                          <a:ea typeface="Calibri"/>
                          <a:cs typeface="Calibri"/>
                          <a:sym typeface="Calibri"/>
                        </a:rPr>
                        <a:t>Error</a:t>
                      </a:r>
                      <a:endParaRPr sz="1150" u="none" cap="none" strike="noStrike">
                        <a:latin typeface="Calibri"/>
                        <a:ea typeface="Calibri"/>
                        <a:cs typeface="Calibri"/>
                        <a:sym typeface="Calibri"/>
                      </a:endParaRPr>
                    </a:p>
                  </a:txBody>
                  <a:tcPr marT="64000" marB="64000" marR="64000" marL="64000" anchor="ctr">
                    <a:lnL cap="flat" cmpd="sng" w="9525">
                      <a:solidFill>
                        <a:srgbClr val="D9E2EA"/>
                      </a:solidFill>
                      <a:prstDash val="solid"/>
                      <a:round/>
                      <a:headEnd len="sm" w="sm" type="none"/>
                      <a:tailEnd len="sm" w="sm" type="none"/>
                    </a:lnL>
                    <a:lnR cap="flat" cmpd="sng" w="9525">
                      <a:solidFill>
                        <a:srgbClr val="D9E2EA"/>
                      </a:solidFill>
                      <a:prstDash val="solid"/>
                      <a:round/>
                      <a:headEnd len="sm" w="sm" type="none"/>
                      <a:tailEnd len="sm" w="sm" type="none"/>
                    </a:lnR>
                    <a:lnT cap="flat" cmpd="sng" w="9525">
                      <a:solidFill>
                        <a:srgbClr val="D9E2EA"/>
                      </a:solidFill>
                      <a:prstDash val="solid"/>
                      <a:round/>
                      <a:headEnd len="sm" w="sm" type="none"/>
                      <a:tailEnd len="sm" w="sm" type="none"/>
                    </a:lnT>
                    <a:lnB cap="flat" cmpd="sng" w="9525">
                      <a:solidFill>
                        <a:srgbClr val="D9E2EA"/>
                      </a:solidFill>
                      <a:prstDash val="solid"/>
                      <a:round/>
                      <a:headEnd len="sm" w="sm" type="none"/>
                      <a:tailEnd len="sm" w="sm" type="none"/>
                    </a:lnB>
                    <a:solidFill>
                      <a:srgbClr val="1D2A5C"/>
                    </a:solidFill>
                  </a:tcPr>
                </a:tc>
                <a:tc>
                  <a:txBody>
                    <a:bodyPr/>
                    <a:lstStyle/>
                    <a:p>
                      <a:pPr indent="0" lvl="0" marL="0" marR="0" rtl="0" algn="l">
                        <a:spcBef>
                          <a:spcPts val="0"/>
                        </a:spcBef>
                        <a:spcAft>
                          <a:spcPts val="0"/>
                        </a:spcAft>
                        <a:buClr>
                          <a:srgbClr val="FFFFFF"/>
                        </a:buClr>
                        <a:buSzPts val="1150"/>
                        <a:buFont typeface="Calibri"/>
                        <a:buNone/>
                      </a:pPr>
                      <a:r>
                        <a:rPr b="1" lang="en-US" sz="1150" u="none" cap="none" strike="noStrike">
                          <a:solidFill>
                            <a:srgbClr val="FFFFFF"/>
                          </a:solidFill>
                          <a:latin typeface="Calibri"/>
                          <a:ea typeface="Calibri"/>
                          <a:cs typeface="Calibri"/>
                          <a:sym typeface="Calibri"/>
                        </a:rPr>
                        <a:t>Definition</a:t>
                      </a:r>
                      <a:endParaRPr sz="1150" u="none" cap="none" strike="noStrike">
                        <a:latin typeface="Calibri"/>
                        <a:ea typeface="Calibri"/>
                        <a:cs typeface="Calibri"/>
                        <a:sym typeface="Calibri"/>
                      </a:endParaRPr>
                    </a:p>
                  </a:txBody>
                  <a:tcPr marT="64000" marB="64000" marR="64000" marL="64000" anchor="ctr">
                    <a:lnL cap="flat" cmpd="sng" w="9525">
                      <a:solidFill>
                        <a:srgbClr val="D9E2EA"/>
                      </a:solidFill>
                      <a:prstDash val="solid"/>
                      <a:round/>
                      <a:headEnd len="sm" w="sm" type="none"/>
                      <a:tailEnd len="sm" w="sm" type="none"/>
                    </a:lnL>
                    <a:lnR cap="flat" cmpd="sng" w="9525">
                      <a:solidFill>
                        <a:srgbClr val="D9E2EA"/>
                      </a:solidFill>
                      <a:prstDash val="solid"/>
                      <a:round/>
                      <a:headEnd len="sm" w="sm" type="none"/>
                      <a:tailEnd len="sm" w="sm" type="none"/>
                    </a:lnR>
                    <a:lnT cap="flat" cmpd="sng" w="9525">
                      <a:solidFill>
                        <a:srgbClr val="D9E2EA"/>
                      </a:solidFill>
                      <a:prstDash val="solid"/>
                      <a:round/>
                      <a:headEnd len="sm" w="sm" type="none"/>
                      <a:tailEnd len="sm" w="sm" type="none"/>
                    </a:lnT>
                    <a:lnB cap="flat" cmpd="sng" w="9525">
                      <a:solidFill>
                        <a:srgbClr val="D9E2EA"/>
                      </a:solidFill>
                      <a:prstDash val="solid"/>
                      <a:round/>
                      <a:headEnd len="sm" w="sm" type="none"/>
                      <a:tailEnd len="sm" w="sm" type="none"/>
                    </a:lnB>
                    <a:solidFill>
                      <a:srgbClr val="1D2A5C"/>
                    </a:solidFill>
                  </a:tcPr>
                </a:tc>
                <a:tc>
                  <a:txBody>
                    <a:bodyPr/>
                    <a:lstStyle/>
                    <a:p>
                      <a:pPr indent="0" lvl="0" marL="0" marR="0" rtl="0" algn="l">
                        <a:spcBef>
                          <a:spcPts val="0"/>
                        </a:spcBef>
                        <a:spcAft>
                          <a:spcPts val="0"/>
                        </a:spcAft>
                        <a:buClr>
                          <a:srgbClr val="FFFFFF"/>
                        </a:buClr>
                        <a:buSzPts val="1150"/>
                        <a:buFont typeface="Calibri"/>
                        <a:buNone/>
                      </a:pPr>
                      <a:r>
                        <a:rPr b="1" lang="en-US" sz="1150" u="none" cap="none" strike="noStrike">
                          <a:solidFill>
                            <a:srgbClr val="FFFFFF"/>
                          </a:solidFill>
                          <a:latin typeface="Calibri"/>
                          <a:ea typeface="Calibri"/>
                          <a:cs typeface="Calibri"/>
                          <a:sym typeface="Calibri"/>
                        </a:rPr>
                        <a:t>Root cause</a:t>
                      </a:r>
                      <a:endParaRPr sz="1150" u="none" cap="none" strike="noStrike">
                        <a:latin typeface="Calibri"/>
                        <a:ea typeface="Calibri"/>
                        <a:cs typeface="Calibri"/>
                        <a:sym typeface="Calibri"/>
                      </a:endParaRPr>
                    </a:p>
                  </a:txBody>
                  <a:tcPr marT="64000" marB="64000" marR="64000" marL="64000" anchor="ctr">
                    <a:lnL cap="flat" cmpd="sng" w="9525">
                      <a:solidFill>
                        <a:srgbClr val="D9E2EA"/>
                      </a:solidFill>
                      <a:prstDash val="solid"/>
                      <a:round/>
                      <a:headEnd len="sm" w="sm" type="none"/>
                      <a:tailEnd len="sm" w="sm" type="none"/>
                    </a:lnL>
                    <a:lnR cap="flat" cmpd="sng" w="9525">
                      <a:solidFill>
                        <a:srgbClr val="D9E2EA"/>
                      </a:solidFill>
                      <a:prstDash val="solid"/>
                      <a:round/>
                      <a:headEnd len="sm" w="sm" type="none"/>
                      <a:tailEnd len="sm" w="sm" type="none"/>
                    </a:lnR>
                    <a:lnT cap="flat" cmpd="sng" w="9525">
                      <a:solidFill>
                        <a:srgbClr val="D9E2EA"/>
                      </a:solidFill>
                      <a:prstDash val="solid"/>
                      <a:round/>
                      <a:headEnd len="sm" w="sm" type="none"/>
                      <a:tailEnd len="sm" w="sm" type="none"/>
                    </a:lnT>
                    <a:lnB cap="flat" cmpd="sng" w="9525">
                      <a:solidFill>
                        <a:srgbClr val="D9E2EA"/>
                      </a:solidFill>
                      <a:prstDash val="solid"/>
                      <a:round/>
                      <a:headEnd len="sm" w="sm" type="none"/>
                      <a:tailEnd len="sm" w="sm" type="none"/>
                    </a:lnB>
                    <a:solidFill>
                      <a:srgbClr val="1D2A5C"/>
                    </a:solidFill>
                  </a:tcPr>
                </a:tc>
                <a:tc>
                  <a:txBody>
                    <a:bodyPr/>
                    <a:lstStyle/>
                    <a:p>
                      <a:pPr indent="0" lvl="0" marL="0" marR="0" rtl="0" algn="l">
                        <a:spcBef>
                          <a:spcPts val="0"/>
                        </a:spcBef>
                        <a:spcAft>
                          <a:spcPts val="0"/>
                        </a:spcAft>
                        <a:buClr>
                          <a:srgbClr val="FFFFFF"/>
                        </a:buClr>
                        <a:buSzPts val="1150"/>
                        <a:buFont typeface="Calibri"/>
                        <a:buNone/>
                      </a:pPr>
                      <a:r>
                        <a:rPr b="1" lang="en-US" sz="1150" u="none" cap="none" strike="noStrike">
                          <a:solidFill>
                            <a:srgbClr val="FFFFFF"/>
                          </a:solidFill>
                          <a:latin typeface="Calibri"/>
                          <a:ea typeface="Calibri"/>
                          <a:cs typeface="Calibri"/>
                          <a:sym typeface="Calibri"/>
                        </a:rPr>
                        <a:t>Fix</a:t>
                      </a:r>
                      <a:endParaRPr sz="1150" u="none" cap="none" strike="noStrike">
                        <a:latin typeface="Calibri"/>
                        <a:ea typeface="Calibri"/>
                        <a:cs typeface="Calibri"/>
                        <a:sym typeface="Calibri"/>
                      </a:endParaRPr>
                    </a:p>
                  </a:txBody>
                  <a:tcPr marT="64000" marB="64000" marR="64000" marL="64000" anchor="ctr">
                    <a:lnL cap="flat" cmpd="sng" w="9525">
                      <a:solidFill>
                        <a:srgbClr val="D9E2EA"/>
                      </a:solidFill>
                      <a:prstDash val="solid"/>
                      <a:round/>
                      <a:headEnd len="sm" w="sm" type="none"/>
                      <a:tailEnd len="sm" w="sm" type="none"/>
                    </a:lnL>
                    <a:lnR cap="flat" cmpd="sng" w="9525">
                      <a:solidFill>
                        <a:srgbClr val="D9E2EA"/>
                      </a:solidFill>
                      <a:prstDash val="solid"/>
                      <a:round/>
                      <a:headEnd len="sm" w="sm" type="none"/>
                      <a:tailEnd len="sm" w="sm" type="none"/>
                    </a:lnR>
                    <a:lnT cap="flat" cmpd="sng" w="9525">
                      <a:solidFill>
                        <a:srgbClr val="D9E2EA"/>
                      </a:solidFill>
                      <a:prstDash val="solid"/>
                      <a:round/>
                      <a:headEnd len="sm" w="sm" type="none"/>
                      <a:tailEnd len="sm" w="sm" type="none"/>
                    </a:lnT>
                    <a:lnB cap="flat" cmpd="sng" w="9525">
                      <a:solidFill>
                        <a:srgbClr val="D9E2EA"/>
                      </a:solidFill>
                      <a:prstDash val="solid"/>
                      <a:round/>
                      <a:headEnd len="sm" w="sm" type="none"/>
                      <a:tailEnd len="sm" w="sm" type="none"/>
                    </a:lnB>
                    <a:solidFill>
                      <a:srgbClr val="1D2A5C"/>
                    </a:solidFill>
                  </a:tcPr>
                </a:tc>
              </a:tr>
              <a:tr h="713225">
                <a:tc>
                  <a:txBody>
                    <a:bodyPr/>
                    <a:lstStyle/>
                    <a:p>
                      <a:pPr indent="0" lvl="0" marL="0" marR="0" rtl="0" algn="l">
                        <a:spcBef>
                          <a:spcPts val="0"/>
                        </a:spcBef>
                        <a:spcAft>
                          <a:spcPts val="0"/>
                        </a:spcAft>
                        <a:buClr>
                          <a:srgbClr val="1D2A5C"/>
                        </a:buClr>
                        <a:buSzPts val="1150"/>
                        <a:buFont typeface="Calibri"/>
                        <a:buNone/>
                      </a:pPr>
                      <a:r>
                        <a:rPr b="1" lang="en-US" sz="1150" u="none" cap="none" strike="noStrike">
                          <a:solidFill>
                            <a:srgbClr val="1D2A5C"/>
                          </a:solidFill>
                          <a:latin typeface="Calibri"/>
                          <a:ea typeface="Calibri"/>
                          <a:cs typeface="Calibri"/>
                          <a:sym typeface="Calibri"/>
                        </a:rPr>
                        <a:t>Miss</a:t>
                      </a:r>
                      <a:endParaRPr sz="1150" u="none" cap="none" strike="noStrike">
                        <a:latin typeface="Calibri"/>
                        <a:ea typeface="Calibri"/>
                        <a:cs typeface="Calibri"/>
                        <a:sym typeface="Calibri"/>
                      </a:endParaRPr>
                    </a:p>
                  </a:txBody>
                  <a:tcPr marT="64000" marB="64000" marR="64000" marL="64000" anchor="ctr">
                    <a:lnL cap="flat" cmpd="sng" w="9525">
                      <a:solidFill>
                        <a:srgbClr val="D9E2EA"/>
                      </a:solidFill>
                      <a:prstDash val="solid"/>
                      <a:round/>
                      <a:headEnd len="sm" w="sm" type="none"/>
                      <a:tailEnd len="sm" w="sm" type="none"/>
                    </a:lnL>
                    <a:lnR cap="flat" cmpd="sng" w="9525">
                      <a:solidFill>
                        <a:srgbClr val="D9E2EA"/>
                      </a:solidFill>
                      <a:prstDash val="solid"/>
                      <a:round/>
                      <a:headEnd len="sm" w="sm" type="none"/>
                      <a:tailEnd len="sm" w="sm" type="none"/>
                    </a:lnR>
                    <a:lnT cap="flat" cmpd="sng" w="9525">
                      <a:solidFill>
                        <a:srgbClr val="D9E2EA"/>
                      </a:solidFill>
                      <a:prstDash val="solid"/>
                      <a:round/>
                      <a:headEnd len="sm" w="sm" type="none"/>
                      <a:tailEnd len="sm" w="sm" type="none"/>
                    </a:lnT>
                    <a:lnB cap="flat" cmpd="sng" w="9525">
                      <a:solidFill>
                        <a:srgbClr val="D9E2EA"/>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23293B"/>
                        </a:buClr>
                        <a:buSzPts val="1150"/>
                        <a:buFont typeface="Calibri"/>
                        <a:buNone/>
                      </a:pPr>
                      <a:r>
                        <a:rPr lang="en-US" sz="1150" u="none" cap="none" strike="noStrike">
                          <a:solidFill>
                            <a:srgbClr val="23293B"/>
                          </a:solidFill>
                          <a:latin typeface="Calibri"/>
                          <a:ea typeface="Calibri"/>
                          <a:cs typeface="Calibri"/>
                          <a:sym typeface="Calibri"/>
                        </a:rPr>
                        <a:t>GT with no prediction at any conf</a:t>
                      </a:r>
                      <a:endParaRPr sz="1150" u="none" cap="none" strike="noStrike">
                        <a:latin typeface="Calibri"/>
                        <a:ea typeface="Calibri"/>
                        <a:cs typeface="Calibri"/>
                        <a:sym typeface="Calibri"/>
                      </a:endParaRPr>
                    </a:p>
                  </a:txBody>
                  <a:tcPr marT="64000" marB="64000" marR="64000" marL="64000" anchor="ctr">
                    <a:lnL cap="flat" cmpd="sng" w="9525">
                      <a:solidFill>
                        <a:srgbClr val="D9E2EA"/>
                      </a:solidFill>
                      <a:prstDash val="solid"/>
                      <a:round/>
                      <a:headEnd len="sm" w="sm" type="none"/>
                      <a:tailEnd len="sm" w="sm" type="none"/>
                    </a:lnL>
                    <a:lnR cap="flat" cmpd="sng" w="9525">
                      <a:solidFill>
                        <a:srgbClr val="D9E2EA"/>
                      </a:solidFill>
                      <a:prstDash val="solid"/>
                      <a:round/>
                      <a:headEnd len="sm" w="sm" type="none"/>
                      <a:tailEnd len="sm" w="sm" type="none"/>
                    </a:lnR>
                    <a:lnT cap="flat" cmpd="sng" w="9525">
                      <a:solidFill>
                        <a:srgbClr val="D9E2EA"/>
                      </a:solidFill>
                      <a:prstDash val="solid"/>
                      <a:round/>
                      <a:headEnd len="sm" w="sm" type="none"/>
                      <a:tailEnd len="sm" w="sm" type="none"/>
                    </a:lnT>
                    <a:lnB cap="flat" cmpd="sng" w="9525">
                      <a:solidFill>
                        <a:srgbClr val="D9E2EA"/>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23293B"/>
                        </a:buClr>
                        <a:buSzPts val="1150"/>
                        <a:buFont typeface="Calibri"/>
                        <a:buNone/>
                      </a:pPr>
                      <a:r>
                        <a:rPr lang="en-US" sz="1150" u="none" cap="none" strike="noStrike">
                          <a:solidFill>
                            <a:srgbClr val="23293B"/>
                          </a:solidFill>
                          <a:latin typeface="Calibri"/>
                          <a:ea typeface="Calibri"/>
                          <a:cs typeface="Calibri"/>
                          <a:sym typeface="Calibri"/>
                        </a:rPr>
                        <a:t>small objects, rare class, occlusion</a:t>
                      </a:r>
                      <a:endParaRPr sz="1150" u="none" cap="none" strike="noStrike">
                        <a:latin typeface="Calibri"/>
                        <a:ea typeface="Calibri"/>
                        <a:cs typeface="Calibri"/>
                        <a:sym typeface="Calibri"/>
                      </a:endParaRPr>
                    </a:p>
                  </a:txBody>
                  <a:tcPr marT="64000" marB="64000" marR="64000" marL="64000" anchor="ctr">
                    <a:lnL cap="flat" cmpd="sng" w="9525">
                      <a:solidFill>
                        <a:srgbClr val="D9E2EA"/>
                      </a:solidFill>
                      <a:prstDash val="solid"/>
                      <a:round/>
                      <a:headEnd len="sm" w="sm" type="none"/>
                      <a:tailEnd len="sm" w="sm" type="none"/>
                    </a:lnL>
                    <a:lnR cap="flat" cmpd="sng" w="9525">
                      <a:solidFill>
                        <a:srgbClr val="D9E2EA"/>
                      </a:solidFill>
                      <a:prstDash val="solid"/>
                      <a:round/>
                      <a:headEnd len="sm" w="sm" type="none"/>
                      <a:tailEnd len="sm" w="sm" type="none"/>
                    </a:lnR>
                    <a:lnT cap="flat" cmpd="sng" w="9525">
                      <a:solidFill>
                        <a:srgbClr val="D9E2EA"/>
                      </a:solidFill>
                      <a:prstDash val="solid"/>
                      <a:round/>
                      <a:headEnd len="sm" w="sm" type="none"/>
                      <a:tailEnd len="sm" w="sm" type="none"/>
                    </a:lnT>
                    <a:lnB cap="flat" cmpd="sng" w="9525">
                      <a:solidFill>
                        <a:srgbClr val="D9E2EA"/>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23293B"/>
                        </a:buClr>
                        <a:buSzPts val="1150"/>
                        <a:buFont typeface="Calibri"/>
                        <a:buNone/>
                      </a:pPr>
                      <a:r>
                        <a:rPr lang="en-US" sz="1150" u="none" cap="none" strike="noStrike">
                          <a:solidFill>
                            <a:srgbClr val="23293B"/>
                          </a:solidFill>
                          <a:latin typeface="Calibri"/>
                          <a:ea typeface="Calibri"/>
                          <a:cs typeface="Calibri"/>
                          <a:sym typeface="Calibri"/>
                        </a:rPr>
                        <a:t>data acquisition (M5), resolution (M7)</a:t>
                      </a:r>
                      <a:endParaRPr sz="1150" u="none" cap="none" strike="noStrike">
                        <a:latin typeface="Calibri"/>
                        <a:ea typeface="Calibri"/>
                        <a:cs typeface="Calibri"/>
                        <a:sym typeface="Calibri"/>
                      </a:endParaRPr>
                    </a:p>
                  </a:txBody>
                  <a:tcPr marT="64000" marB="64000" marR="64000" marL="64000" anchor="ctr">
                    <a:lnL cap="flat" cmpd="sng" w="9525">
                      <a:solidFill>
                        <a:srgbClr val="D9E2EA"/>
                      </a:solidFill>
                      <a:prstDash val="solid"/>
                      <a:round/>
                      <a:headEnd len="sm" w="sm" type="none"/>
                      <a:tailEnd len="sm" w="sm" type="none"/>
                    </a:lnL>
                    <a:lnR cap="flat" cmpd="sng" w="9525">
                      <a:solidFill>
                        <a:srgbClr val="D9E2EA"/>
                      </a:solidFill>
                      <a:prstDash val="solid"/>
                      <a:round/>
                      <a:headEnd len="sm" w="sm" type="none"/>
                      <a:tailEnd len="sm" w="sm" type="none"/>
                    </a:lnR>
                    <a:lnT cap="flat" cmpd="sng" w="9525">
                      <a:solidFill>
                        <a:srgbClr val="D9E2EA"/>
                      </a:solidFill>
                      <a:prstDash val="solid"/>
                      <a:round/>
                      <a:headEnd len="sm" w="sm" type="none"/>
                      <a:tailEnd len="sm" w="sm" type="none"/>
                    </a:lnT>
                    <a:lnB cap="flat" cmpd="sng" w="9525">
                      <a:solidFill>
                        <a:srgbClr val="D9E2EA"/>
                      </a:solidFill>
                      <a:prstDash val="solid"/>
                      <a:round/>
                      <a:headEnd len="sm" w="sm" type="none"/>
                      <a:tailEnd len="sm" w="sm" type="none"/>
                    </a:lnB>
                    <a:solidFill>
                      <a:srgbClr val="FFFFFF"/>
                    </a:solidFill>
                  </a:tcPr>
                </a:tc>
              </a:tr>
              <a:tr h="713225">
                <a:tc>
                  <a:txBody>
                    <a:bodyPr/>
                    <a:lstStyle/>
                    <a:p>
                      <a:pPr indent="0" lvl="0" marL="0" marR="0" rtl="0" algn="l">
                        <a:spcBef>
                          <a:spcPts val="0"/>
                        </a:spcBef>
                        <a:spcAft>
                          <a:spcPts val="0"/>
                        </a:spcAft>
                        <a:buClr>
                          <a:srgbClr val="1D2A5C"/>
                        </a:buClr>
                        <a:buSzPts val="1150"/>
                        <a:buFont typeface="Calibri"/>
                        <a:buNone/>
                      </a:pPr>
                      <a:r>
                        <a:rPr b="1" lang="en-US" sz="1150" u="none" cap="none" strike="noStrike">
                          <a:solidFill>
                            <a:srgbClr val="1D2A5C"/>
                          </a:solidFill>
                          <a:latin typeface="Calibri"/>
                          <a:ea typeface="Calibri"/>
                          <a:cs typeface="Calibri"/>
                          <a:sym typeface="Calibri"/>
                        </a:rPr>
                        <a:t>Misclassification</a:t>
                      </a:r>
                      <a:endParaRPr sz="1150" u="none" cap="none" strike="noStrike">
                        <a:latin typeface="Calibri"/>
                        <a:ea typeface="Calibri"/>
                        <a:cs typeface="Calibri"/>
                        <a:sym typeface="Calibri"/>
                      </a:endParaRPr>
                    </a:p>
                  </a:txBody>
                  <a:tcPr marT="64000" marB="64000" marR="64000" marL="64000" anchor="ctr">
                    <a:lnL cap="flat" cmpd="sng" w="9525">
                      <a:solidFill>
                        <a:srgbClr val="D9E2EA"/>
                      </a:solidFill>
                      <a:prstDash val="solid"/>
                      <a:round/>
                      <a:headEnd len="sm" w="sm" type="none"/>
                      <a:tailEnd len="sm" w="sm" type="none"/>
                    </a:lnL>
                    <a:lnR cap="flat" cmpd="sng" w="9525">
                      <a:solidFill>
                        <a:srgbClr val="D9E2EA"/>
                      </a:solidFill>
                      <a:prstDash val="solid"/>
                      <a:round/>
                      <a:headEnd len="sm" w="sm" type="none"/>
                      <a:tailEnd len="sm" w="sm" type="none"/>
                    </a:lnR>
                    <a:lnT cap="flat" cmpd="sng" w="9525">
                      <a:solidFill>
                        <a:srgbClr val="D9E2EA"/>
                      </a:solidFill>
                      <a:prstDash val="solid"/>
                      <a:round/>
                      <a:headEnd len="sm" w="sm" type="none"/>
                      <a:tailEnd len="sm" w="sm" type="none"/>
                    </a:lnT>
                    <a:lnB cap="flat" cmpd="sng" w="9525">
                      <a:solidFill>
                        <a:srgbClr val="D9E2EA"/>
                      </a:solidFill>
                      <a:prstDash val="solid"/>
                      <a:round/>
                      <a:headEnd len="sm" w="sm" type="none"/>
                      <a:tailEnd len="sm" w="sm" type="none"/>
                    </a:lnB>
                    <a:solidFill>
                      <a:srgbClr val="F2F6F9"/>
                    </a:solidFill>
                  </a:tcPr>
                </a:tc>
                <a:tc>
                  <a:txBody>
                    <a:bodyPr/>
                    <a:lstStyle/>
                    <a:p>
                      <a:pPr indent="0" lvl="0" marL="0" marR="0" rtl="0" algn="l">
                        <a:spcBef>
                          <a:spcPts val="0"/>
                        </a:spcBef>
                        <a:spcAft>
                          <a:spcPts val="0"/>
                        </a:spcAft>
                        <a:buClr>
                          <a:srgbClr val="23293B"/>
                        </a:buClr>
                        <a:buSzPts val="1150"/>
                        <a:buFont typeface="Calibri"/>
                        <a:buNone/>
                      </a:pPr>
                      <a:r>
                        <a:rPr lang="en-US" sz="1150" u="none" cap="none" strike="noStrike">
                          <a:solidFill>
                            <a:srgbClr val="23293B"/>
                          </a:solidFill>
                          <a:latin typeface="Calibri"/>
                          <a:ea typeface="Calibri"/>
                          <a:cs typeface="Calibri"/>
                          <a:sym typeface="Calibri"/>
                        </a:rPr>
                        <a:t>right place (IoU &gt;= 0.5), wrong class</a:t>
                      </a:r>
                      <a:endParaRPr sz="1150" u="none" cap="none" strike="noStrike">
                        <a:latin typeface="Calibri"/>
                        <a:ea typeface="Calibri"/>
                        <a:cs typeface="Calibri"/>
                        <a:sym typeface="Calibri"/>
                      </a:endParaRPr>
                    </a:p>
                  </a:txBody>
                  <a:tcPr marT="64000" marB="64000" marR="64000" marL="64000" anchor="ctr">
                    <a:lnL cap="flat" cmpd="sng" w="9525">
                      <a:solidFill>
                        <a:srgbClr val="D9E2EA"/>
                      </a:solidFill>
                      <a:prstDash val="solid"/>
                      <a:round/>
                      <a:headEnd len="sm" w="sm" type="none"/>
                      <a:tailEnd len="sm" w="sm" type="none"/>
                    </a:lnL>
                    <a:lnR cap="flat" cmpd="sng" w="9525">
                      <a:solidFill>
                        <a:srgbClr val="D9E2EA"/>
                      </a:solidFill>
                      <a:prstDash val="solid"/>
                      <a:round/>
                      <a:headEnd len="sm" w="sm" type="none"/>
                      <a:tailEnd len="sm" w="sm" type="none"/>
                    </a:lnR>
                    <a:lnT cap="flat" cmpd="sng" w="9525">
                      <a:solidFill>
                        <a:srgbClr val="D9E2EA"/>
                      </a:solidFill>
                      <a:prstDash val="solid"/>
                      <a:round/>
                      <a:headEnd len="sm" w="sm" type="none"/>
                      <a:tailEnd len="sm" w="sm" type="none"/>
                    </a:lnT>
                    <a:lnB cap="flat" cmpd="sng" w="9525">
                      <a:solidFill>
                        <a:srgbClr val="D9E2EA"/>
                      </a:solidFill>
                      <a:prstDash val="solid"/>
                      <a:round/>
                      <a:headEnd len="sm" w="sm" type="none"/>
                      <a:tailEnd len="sm" w="sm" type="none"/>
                    </a:lnB>
                    <a:solidFill>
                      <a:srgbClr val="F2F6F9"/>
                    </a:solidFill>
                  </a:tcPr>
                </a:tc>
                <a:tc>
                  <a:txBody>
                    <a:bodyPr/>
                    <a:lstStyle/>
                    <a:p>
                      <a:pPr indent="0" lvl="0" marL="0" marR="0" rtl="0" algn="l">
                        <a:spcBef>
                          <a:spcPts val="0"/>
                        </a:spcBef>
                        <a:spcAft>
                          <a:spcPts val="0"/>
                        </a:spcAft>
                        <a:buClr>
                          <a:srgbClr val="23293B"/>
                        </a:buClr>
                        <a:buSzPts val="1150"/>
                        <a:buFont typeface="Calibri"/>
                        <a:buNone/>
                      </a:pPr>
                      <a:r>
                        <a:rPr lang="en-US" sz="1150" u="none" cap="none" strike="noStrike">
                          <a:solidFill>
                            <a:srgbClr val="23293B"/>
                          </a:solidFill>
                          <a:latin typeface="Calibri"/>
                          <a:ea typeface="Calibri"/>
                          <a:cs typeface="Calibri"/>
                          <a:sym typeface="Calibri"/>
                        </a:rPr>
                        <a:t>confusable classes, label noise</a:t>
                      </a:r>
                      <a:endParaRPr sz="1150" u="none" cap="none" strike="noStrike">
                        <a:latin typeface="Calibri"/>
                        <a:ea typeface="Calibri"/>
                        <a:cs typeface="Calibri"/>
                        <a:sym typeface="Calibri"/>
                      </a:endParaRPr>
                    </a:p>
                  </a:txBody>
                  <a:tcPr marT="64000" marB="64000" marR="64000" marL="64000" anchor="ctr">
                    <a:lnL cap="flat" cmpd="sng" w="9525">
                      <a:solidFill>
                        <a:srgbClr val="D9E2EA"/>
                      </a:solidFill>
                      <a:prstDash val="solid"/>
                      <a:round/>
                      <a:headEnd len="sm" w="sm" type="none"/>
                      <a:tailEnd len="sm" w="sm" type="none"/>
                    </a:lnL>
                    <a:lnR cap="flat" cmpd="sng" w="9525">
                      <a:solidFill>
                        <a:srgbClr val="D9E2EA"/>
                      </a:solidFill>
                      <a:prstDash val="solid"/>
                      <a:round/>
                      <a:headEnd len="sm" w="sm" type="none"/>
                      <a:tailEnd len="sm" w="sm" type="none"/>
                    </a:lnR>
                    <a:lnT cap="flat" cmpd="sng" w="9525">
                      <a:solidFill>
                        <a:srgbClr val="D9E2EA"/>
                      </a:solidFill>
                      <a:prstDash val="solid"/>
                      <a:round/>
                      <a:headEnd len="sm" w="sm" type="none"/>
                      <a:tailEnd len="sm" w="sm" type="none"/>
                    </a:lnT>
                    <a:lnB cap="flat" cmpd="sng" w="9525">
                      <a:solidFill>
                        <a:srgbClr val="D9E2EA"/>
                      </a:solidFill>
                      <a:prstDash val="solid"/>
                      <a:round/>
                      <a:headEnd len="sm" w="sm" type="none"/>
                      <a:tailEnd len="sm" w="sm" type="none"/>
                    </a:lnB>
                    <a:solidFill>
                      <a:srgbClr val="F2F6F9"/>
                    </a:solidFill>
                  </a:tcPr>
                </a:tc>
                <a:tc>
                  <a:txBody>
                    <a:bodyPr/>
                    <a:lstStyle/>
                    <a:p>
                      <a:pPr indent="0" lvl="0" marL="0" marR="0" rtl="0" algn="l">
                        <a:spcBef>
                          <a:spcPts val="0"/>
                        </a:spcBef>
                        <a:spcAft>
                          <a:spcPts val="0"/>
                        </a:spcAft>
                        <a:buClr>
                          <a:srgbClr val="23293B"/>
                        </a:buClr>
                        <a:buSzPts val="1150"/>
                        <a:buFont typeface="Calibri"/>
                        <a:buNone/>
                      </a:pPr>
                      <a:r>
                        <a:rPr lang="en-US" sz="1150" u="none" cap="none" strike="noStrike">
                          <a:solidFill>
                            <a:srgbClr val="23293B"/>
                          </a:solidFill>
                          <a:latin typeface="Calibri"/>
                          <a:ea typeface="Calibri"/>
                          <a:cs typeface="Calibri"/>
                          <a:sym typeface="Calibri"/>
                        </a:rPr>
                        <a:t>spec rules + targeted relabels (M5)</a:t>
                      </a:r>
                      <a:endParaRPr sz="1150" u="none" cap="none" strike="noStrike">
                        <a:latin typeface="Calibri"/>
                        <a:ea typeface="Calibri"/>
                        <a:cs typeface="Calibri"/>
                        <a:sym typeface="Calibri"/>
                      </a:endParaRPr>
                    </a:p>
                  </a:txBody>
                  <a:tcPr marT="64000" marB="64000" marR="64000" marL="64000" anchor="ctr">
                    <a:lnL cap="flat" cmpd="sng" w="9525">
                      <a:solidFill>
                        <a:srgbClr val="D9E2EA"/>
                      </a:solidFill>
                      <a:prstDash val="solid"/>
                      <a:round/>
                      <a:headEnd len="sm" w="sm" type="none"/>
                      <a:tailEnd len="sm" w="sm" type="none"/>
                    </a:lnL>
                    <a:lnR cap="flat" cmpd="sng" w="9525">
                      <a:solidFill>
                        <a:srgbClr val="D9E2EA"/>
                      </a:solidFill>
                      <a:prstDash val="solid"/>
                      <a:round/>
                      <a:headEnd len="sm" w="sm" type="none"/>
                      <a:tailEnd len="sm" w="sm" type="none"/>
                    </a:lnR>
                    <a:lnT cap="flat" cmpd="sng" w="9525">
                      <a:solidFill>
                        <a:srgbClr val="D9E2EA"/>
                      </a:solidFill>
                      <a:prstDash val="solid"/>
                      <a:round/>
                      <a:headEnd len="sm" w="sm" type="none"/>
                      <a:tailEnd len="sm" w="sm" type="none"/>
                    </a:lnT>
                    <a:lnB cap="flat" cmpd="sng" w="9525">
                      <a:solidFill>
                        <a:srgbClr val="D9E2EA"/>
                      </a:solidFill>
                      <a:prstDash val="solid"/>
                      <a:round/>
                      <a:headEnd len="sm" w="sm" type="none"/>
                      <a:tailEnd len="sm" w="sm" type="none"/>
                    </a:lnB>
                    <a:solidFill>
                      <a:srgbClr val="F2F6F9"/>
                    </a:solidFill>
                  </a:tcPr>
                </a:tc>
              </a:tr>
              <a:tr h="713225">
                <a:tc>
                  <a:txBody>
                    <a:bodyPr/>
                    <a:lstStyle/>
                    <a:p>
                      <a:pPr indent="0" lvl="0" marL="0" marR="0" rtl="0" algn="l">
                        <a:spcBef>
                          <a:spcPts val="0"/>
                        </a:spcBef>
                        <a:spcAft>
                          <a:spcPts val="0"/>
                        </a:spcAft>
                        <a:buClr>
                          <a:srgbClr val="1D2A5C"/>
                        </a:buClr>
                        <a:buSzPts val="1150"/>
                        <a:buFont typeface="Calibri"/>
                        <a:buNone/>
                      </a:pPr>
                      <a:r>
                        <a:rPr b="1" lang="en-US" sz="1150" u="none" cap="none" strike="noStrike">
                          <a:solidFill>
                            <a:srgbClr val="1D2A5C"/>
                          </a:solidFill>
                          <a:latin typeface="Calibri"/>
                          <a:ea typeface="Calibri"/>
                          <a:cs typeface="Calibri"/>
                          <a:sym typeface="Calibri"/>
                        </a:rPr>
                        <a:t>Localisation</a:t>
                      </a:r>
                      <a:endParaRPr sz="1150" u="none" cap="none" strike="noStrike">
                        <a:latin typeface="Calibri"/>
                        <a:ea typeface="Calibri"/>
                        <a:cs typeface="Calibri"/>
                        <a:sym typeface="Calibri"/>
                      </a:endParaRPr>
                    </a:p>
                  </a:txBody>
                  <a:tcPr marT="64000" marB="64000" marR="64000" marL="64000" anchor="ctr">
                    <a:lnL cap="flat" cmpd="sng" w="9525">
                      <a:solidFill>
                        <a:srgbClr val="D9E2EA"/>
                      </a:solidFill>
                      <a:prstDash val="solid"/>
                      <a:round/>
                      <a:headEnd len="sm" w="sm" type="none"/>
                      <a:tailEnd len="sm" w="sm" type="none"/>
                    </a:lnL>
                    <a:lnR cap="flat" cmpd="sng" w="9525">
                      <a:solidFill>
                        <a:srgbClr val="D9E2EA"/>
                      </a:solidFill>
                      <a:prstDash val="solid"/>
                      <a:round/>
                      <a:headEnd len="sm" w="sm" type="none"/>
                      <a:tailEnd len="sm" w="sm" type="none"/>
                    </a:lnR>
                    <a:lnT cap="flat" cmpd="sng" w="9525">
                      <a:solidFill>
                        <a:srgbClr val="D9E2EA"/>
                      </a:solidFill>
                      <a:prstDash val="solid"/>
                      <a:round/>
                      <a:headEnd len="sm" w="sm" type="none"/>
                      <a:tailEnd len="sm" w="sm" type="none"/>
                    </a:lnT>
                    <a:lnB cap="flat" cmpd="sng" w="9525">
                      <a:solidFill>
                        <a:srgbClr val="D9E2EA"/>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23293B"/>
                        </a:buClr>
                        <a:buSzPts val="1150"/>
                        <a:buFont typeface="Calibri"/>
                        <a:buNone/>
                      </a:pPr>
                      <a:r>
                        <a:rPr lang="en-US" sz="1150" u="none" cap="none" strike="noStrike">
                          <a:solidFill>
                            <a:srgbClr val="23293B"/>
                          </a:solidFill>
                          <a:latin typeface="Calibri"/>
                          <a:ea typeface="Calibri"/>
                          <a:cs typeface="Calibri"/>
                          <a:sym typeface="Calibri"/>
                        </a:rPr>
                        <a:t>right class, 0.1 &lt;= IoU &lt; 0.5</a:t>
                      </a:r>
                      <a:endParaRPr sz="1150" u="none" cap="none" strike="noStrike">
                        <a:latin typeface="Calibri"/>
                        <a:ea typeface="Calibri"/>
                        <a:cs typeface="Calibri"/>
                        <a:sym typeface="Calibri"/>
                      </a:endParaRPr>
                    </a:p>
                  </a:txBody>
                  <a:tcPr marT="64000" marB="64000" marR="64000" marL="64000" anchor="ctr">
                    <a:lnL cap="flat" cmpd="sng" w="9525">
                      <a:solidFill>
                        <a:srgbClr val="D9E2EA"/>
                      </a:solidFill>
                      <a:prstDash val="solid"/>
                      <a:round/>
                      <a:headEnd len="sm" w="sm" type="none"/>
                      <a:tailEnd len="sm" w="sm" type="none"/>
                    </a:lnL>
                    <a:lnR cap="flat" cmpd="sng" w="9525">
                      <a:solidFill>
                        <a:srgbClr val="D9E2EA"/>
                      </a:solidFill>
                      <a:prstDash val="solid"/>
                      <a:round/>
                      <a:headEnd len="sm" w="sm" type="none"/>
                      <a:tailEnd len="sm" w="sm" type="none"/>
                    </a:lnR>
                    <a:lnT cap="flat" cmpd="sng" w="9525">
                      <a:solidFill>
                        <a:srgbClr val="D9E2EA"/>
                      </a:solidFill>
                      <a:prstDash val="solid"/>
                      <a:round/>
                      <a:headEnd len="sm" w="sm" type="none"/>
                      <a:tailEnd len="sm" w="sm" type="none"/>
                    </a:lnT>
                    <a:lnB cap="flat" cmpd="sng" w="9525">
                      <a:solidFill>
                        <a:srgbClr val="D9E2EA"/>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23293B"/>
                        </a:buClr>
                        <a:buSzPts val="1150"/>
                        <a:buFont typeface="Calibri"/>
                        <a:buNone/>
                      </a:pPr>
                      <a:r>
                        <a:rPr lang="en-US" sz="1150" u="none" cap="none" strike="noStrike">
                          <a:solidFill>
                            <a:srgbClr val="23293B"/>
                          </a:solidFill>
                          <a:latin typeface="Calibri"/>
                          <a:ea typeface="Calibri"/>
                          <a:cs typeface="Calibri"/>
                          <a:sym typeface="Calibri"/>
                        </a:rPr>
                        <a:t>sloppy annotation, elongated objects</a:t>
                      </a:r>
                      <a:endParaRPr sz="1150" u="none" cap="none" strike="noStrike">
                        <a:latin typeface="Calibri"/>
                        <a:ea typeface="Calibri"/>
                        <a:cs typeface="Calibri"/>
                        <a:sym typeface="Calibri"/>
                      </a:endParaRPr>
                    </a:p>
                  </a:txBody>
                  <a:tcPr marT="64000" marB="64000" marR="64000" marL="64000" anchor="ctr">
                    <a:lnL cap="flat" cmpd="sng" w="9525">
                      <a:solidFill>
                        <a:srgbClr val="D9E2EA"/>
                      </a:solidFill>
                      <a:prstDash val="solid"/>
                      <a:round/>
                      <a:headEnd len="sm" w="sm" type="none"/>
                      <a:tailEnd len="sm" w="sm" type="none"/>
                    </a:lnL>
                    <a:lnR cap="flat" cmpd="sng" w="9525">
                      <a:solidFill>
                        <a:srgbClr val="D9E2EA"/>
                      </a:solidFill>
                      <a:prstDash val="solid"/>
                      <a:round/>
                      <a:headEnd len="sm" w="sm" type="none"/>
                      <a:tailEnd len="sm" w="sm" type="none"/>
                    </a:lnR>
                    <a:lnT cap="flat" cmpd="sng" w="9525">
                      <a:solidFill>
                        <a:srgbClr val="D9E2EA"/>
                      </a:solidFill>
                      <a:prstDash val="solid"/>
                      <a:round/>
                      <a:headEnd len="sm" w="sm" type="none"/>
                      <a:tailEnd len="sm" w="sm" type="none"/>
                    </a:lnT>
                    <a:lnB cap="flat" cmpd="sng" w="9525">
                      <a:solidFill>
                        <a:srgbClr val="D9E2EA"/>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23293B"/>
                        </a:buClr>
                        <a:buSzPts val="1150"/>
                        <a:buFont typeface="Calibri"/>
                        <a:buNone/>
                      </a:pPr>
                      <a:r>
                        <a:rPr lang="en-US" sz="1150" u="none" cap="none" strike="noStrike">
                          <a:solidFill>
                            <a:srgbClr val="23293B"/>
                          </a:solidFill>
                          <a:latin typeface="Calibri"/>
                          <a:ea typeface="Calibri"/>
                          <a:cs typeface="Calibri"/>
                          <a:sym typeface="Calibri"/>
                        </a:rPr>
                        <a:t>annotation QA; DFL at extreme ratios</a:t>
                      </a:r>
                      <a:endParaRPr sz="1150" u="none" cap="none" strike="noStrike">
                        <a:latin typeface="Calibri"/>
                        <a:ea typeface="Calibri"/>
                        <a:cs typeface="Calibri"/>
                        <a:sym typeface="Calibri"/>
                      </a:endParaRPr>
                    </a:p>
                  </a:txBody>
                  <a:tcPr marT="64000" marB="64000" marR="64000" marL="64000" anchor="ctr">
                    <a:lnL cap="flat" cmpd="sng" w="9525">
                      <a:solidFill>
                        <a:srgbClr val="D9E2EA"/>
                      </a:solidFill>
                      <a:prstDash val="solid"/>
                      <a:round/>
                      <a:headEnd len="sm" w="sm" type="none"/>
                      <a:tailEnd len="sm" w="sm" type="none"/>
                    </a:lnL>
                    <a:lnR cap="flat" cmpd="sng" w="9525">
                      <a:solidFill>
                        <a:srgbClr val="D9E2EA"/>
                      </a:solidFill>
                      <a:prstDash val="solid"/>
                      <a:round/>
                      <a:headEnd len="sm" w="sm" type="none"/>
                      <a:tailEnd len="sm" w="sm" type="none"/>
                    </a:lnR>
                    <a:lnT cap="flat" cmpd="sng" w="9525">
                      <a:solidFill>
                        <a:srgbClr val="D9E2EA"/>
                      </a:solidFill>
                      <a:prstDash val="solid"/>
                      <a:round/>
                      <a:headEnd len="sm" w="sm" type="none"/>
                      <a:tailEnd len="sm" w="sm" type="none"/>
                    </a:lnT>
                    <a:lnB cap="flat" cmpd="sng" w="9525">
                      <a:solidFill>
                        <a:srgbClr val="D9E2EA"/>
                      </a:solidFill>
                      <a:prstDash val="solid"/>
                      <a:round/>
                      <a:headEnd len="sm" w="sm" type="none"/>
                      <a:tailEnd len="sm" w="sm" type="none"/>
                    </a:lnB>
                    <a:solidFill>
                      <a:srgbClr val="FFFFFF"/>
                    </a:solidFill>
                  </a:tcPr>
                </a:tc>
              </a:tr>
              <a:tr h="713225">
                <a:tc>
                  <a:txBody>
                    <a:bodyPr/>
                    <a:lstStyle/>
                    <a:p>
                      <a:pPr indent="0" lvl="0" marL="0" marR="0" rtl="0" algn="l">
                        <a:spcBef>
                          <a:spcPts val="0"/>
                        </a:spcBef>
                        <a:spcAft>
                          <a:spcPts val="0"/>
                        </a:spcAft>
                        <a:buClr>
                          <a:srgbClr val="1D2A5C"/>
                        </a:buClr>
                        <a:buSzPts val="1150"/>
                        <a:buFont typeface="Calibri"/>
                        <a:buNone/>
                      </a:pPr>
                      <a:r>
                        <a:rPr b="1" lang="en-US" sz="1150" u="none" cap="none" strike="noStrike">
                          <a:solidFill>
                            <a:srgbClr val="1D2A5C"/>
                          </a:solidFill>
                          <a:latin typeface="Calibri"/>
                          <a:ea typeface="Calibri"/>
                          <a:cs typeface="Calibri"/>
                          <a:sym typeface="Calibri"/>
                        </a:rPr>
                        <a:t>Duplicate</a:t>
                      </a:r>
                      <a:endParaRPr sz="1150" u="none" cap="none" strike="noStrike">
                        <a:latin typeface="Calibri"/>
                        <a:ea typeface="Calibri"/>
                        <a:cs typeface="Calibri"/>
                        <a:sym typeface="Calibri"/>
                      </a:endParaRPr>
                    </a:p>
                  </a:txBody>
                  <a:tcPr marT="64000" marB="64000" marR="64000" marL="64000" anchor="ctr">
                    <a:lnL cap="flat" cmpd="sng" w="9525">
                      <a:solidFill>
                        <a:srgbClr val="D9E2EA"/>
                      </a:solidFill>
                      <a:prstDash val="solid"/>
                      <a:round/>
                      <a:headEnd len="sm" w="sm" type="none"/>
                      <a:tailEnd len="sm" w="sm" type="none"/>
                    </a:lnL>
                    <a:lnR cap="flat" cmpd="sng" w="9525">
                      <a:solidFill>
                        <a:srgbClr val="D9E2EA"/>
                      </a:solidFill>
                      <a:prstDash val="solid"/>
                      <a:round/>
                      <a:headEnd len="sm" w="sm" type="none"/>
                      <a:tailEnd len="sm" w="sm" type="none"/>
                    </a:lnR>
                    <a:lnT cap="flat" cmpd="sng" w="9525">
                      <a:solidFill>
                        <a:srgbClr val="D9E2EA"/>
                      </a:solidFill>
                      <a:prstDash val="solid"/>
                      <a:round/>
                      <a:headEnd len="sm" w="sm" type="none"/>
                      <a:tailEnd len="sm" w="sm" type="none"/>
                    </a:lnT>
                    <a:lnB cap="flat" cmpd="sng" w="9525">
                      <a:solidFill>
                        <a:srgbClr val="D9E2EA"/>
                      </a:solidFill>
                      <a:prstDash val="solid"/>
                      <a:round/>
                      <a:headEnd len="sm" w="sm" type="none"/>
                      <a:tailEnd len="sm" w="sm" type="none"/>
                    </a:lnB>
                    <a:solidFill>
                      <a:srgbClr val="F2F6F9"/>
                    </a:solidFill>
                  </a:tcPr>
                </a:tc>
                <a:tc>
                  <a:txBody>
                    <a:bodyPr/>
                    <a:lstStyle/>
                    <a:p>
                      <a:pPr indent="0" lvl="0" marL="0" marR="0" rtl="0" algn="l">
                        <a:spcBef>
                          <a:spcPts val="0"/>
                        </a:spcBef>
                        <a:spcAft>
                          <a:spcPts val="0"/>
                        </a:spcAft>
                        <a:buClr>
                          <a:srgbClr val="23293B"/>
                        </a:buClr>
                        <a:buSzPts val="1150"/>
                        <a:buFont typeface="Calibri"/>
                        <a:buNone/>
                      </a:pPr>
                      <a:r>
                        <a:rPr lang="en-US" sz="1150" u="none" cap="none" strike="noStrike">
                          <a:solidFill>
                            <a:srgbClr val="23293B"/>
                          </a:solidFill>
                          <a:latin typeface="Calibri"/>
                          <a:ea typeface="Calibri"/>
                          <a:cs typeface="Calibri"/>
                          <a:sym typeface="Calibri"/>
                        </a:rPr>
                        <a:t>second+ match to a consumed GT</a:t>
                      </a:r>
                      <a:endParaRPr sz="1150" u="none" cap="none" strike="noStrike">
                        <a:latin typeface="Calibri"/>
                        <a:ea typeface="Calibri"/>
                        <a:cs typeface="Calibri"/>
                        <a:sym typeface="Calibri"/>
                      </a:endParaRPr>
                    </a:p>
                  </a:txBody>
                  <a:tcPr marT="64000" marB="64000" marR="64000" marL="64000" anchor="ctr">
                    <a:lnL cap="flat" cmpd="sng" w="9525">
                      <a:solidFill>
                        <a:srgbClr val="D9E2EA"/>
                      </a:solidFill>
                      <a:prstDash val="solid"/>
                      <a:round/>
                      <a:headEnd len="sm" w="sm" type="none"/>
                      <a:tailEnd len="sm" w="sm" type="none"/>
                    </a:lnL>
                    <a:lnR cap="flat" cmpd="sng" w="9525">
                      <a:solidFill>
                        <a:srgbClr val="D9E2EA"/>
                      </a:solidFill>
                      <a:prstDash val="solid"/>
                      <a:round/>
                      <a:headEnd len="sm" w="sm" type="none"/>
                      <a:tailEnd len="sm" w="sm" type="none"/>
                    </a:lnR>
                    <a:lnT cap="flat" cmpd="sng" w="9525">
                      <a:solidFill>
                        <a:srgbClr val="D9E2EA"/>
                      </a:solidFill>
                      <a:prstDash val="solid"/>
                      <a:round/>
                      <a:headEnd len="sm" w="sm" type="none"/>
                      <a:tailEnd len="sm" w="sm" type="none"/>
                    </a:lnT>
                    <a:lnB cap="flat" cmpd="sng" w="9525">
                      <a:solidFill>
                        <a:srgbClr val="D9E2EA"/>
                      </a:solidFill>
                      <a:prstDash val="solid"/>
                      <a:round/>
                      <a:headEnd len="sm" w="sm" type="none"/>
                      <a:tailEnd len="sm" w="sm" type="none"/>
                    </a:lnB>
                    <a:solidFill>
                      <a:srgbClr val="F2F6F9"/>
                    </a:solidFill>
                  </a:tcPr>
                </a:tc>
                <a:tc>
                  <a:txBody>
                    <a:bodyPr/>
                    <a:lstStyle/>
                    <a:p>
                      <a:pPr indent="0" lvl="0" marL="0" marR="0" rtl="0" algn="l">
                        <a:spcBef>
                          <a:spcPts val="0"/>
                        </a:spcBef>
                        <a:spcAft>
                          <a:spcPts val="0"/>
                        </a:spcAft>
                        <a:buClr>
                          <a:srgbClr val="23293B"/>
                        </a:buClr>
                        <a:buSzPts val="1150"/>
                        <a:buFont typeface="Calibri"/>
                        <a:buNone/>
                      </a:pPr>
                      <a:r>
                        <a:rPr lang="en-US" sz="1150" u="none" cap="none" strike="noStrike">
                          <a:solidFill>
                            <a:srgbClr val="23293B"/>
                          </a:solidFill>
                          <a:latin typeface="Calibri"/>
                          <a:ea typeface="Calibri"/>
                          <a:cs typeface="Calibri"/>
                          <a:sym typeface="Calibri"/>
                        </a:rPr>
                        <a:t>NMS threshold vs touching objects</a:t>
                      </a:r>
                      <a:endParaRPr sz="1150" u="none" cap="none" strike="noStrike">
                        <a:latin typeface="Calibri"/>
                        <a:ea typeface="Calibri"/>
                        <a:cs typeface="Calibri"/>
                        <a:sym typeface="Calibri"/>
                      </a:endParaRPr>
                    </a:p>
                  </a:txBody>
                  <a:tcPr marT="64000" marB="64000" marR="64000" marL="64000" anchor="ctr">
                    <a:lnL cap="flat" cmpd="sng" w="9525">
                      <a:solidFill>
                        <a:srgbClr val="D9E2EA"/>
                      </a:solidFill>
                      <a:prstDash val="solid"/>
                      <a:round/>
                      <a:headEnd len="sm" w="sm" type="none"/>
                      <a:tailEnd len="sm" w="sm" type="none"/>
                    </a:lnL>
                    <a:lnR cap="flat" cmpd="sng" w="9525">
                      <a:solidFill>
                        <a:srgbClr val="D9E2EA"/>
                      </a:solidFill>
                      <a:prstDash val="solid"/>
                      <a:round/>
                      <a:headEnd len="sm" w="sm" type="none"/>
                      <a:tailEnd len="sm" w="sm" type="none"/>
                    </a:lnR>
                    <a:lnT cap="flat" cmpd="sng" w="9525">
                      <a:solidFill>
                        <a:srgbClr val="D9E2EA"/>
                      </a:solidFill>
                      <a:prstDash val="solid"/>
                      <a:round/>
                      <a:headEnd len="sm" w="sm" type="none"/>
                      <a:tailEnd len="sm" w="sm" type="none"/>
                    </a:lnT>
                    <a:lnB cap="flat" cmpd="sng" w="9525">
                      <a:solidFill>
                        <a:srgbClr val="D9E2EA"/>
                      </a:solidFill>
                      <a:prstDash val="solid"/>
                      <a:round/>
                      <a:headEnd len="sm" w="sm" type="none"/>
                      <a:tailEnd len="sm" w="sm" type="none"/>
                    </a:lnB>
                    <a:solidFill>
                      <a:srgbClr val="F2F6F9"/>
                    </a:solidFill>
                  </a:tcPr>
                </a:tc>
                <a:tc>
                  <a:txBody>
                    <a:bodyPr/>
                    <a:lstStyle/>
                    <a:p>
                      <a:pPr indent="0" lvl="0" marL="0" marR="0" rtl="0" algn="l">
                        <a:spcBef>
                          <a:spcPts val="0"/>
                        </a:spcBef>
                        <a:spcAft>
                          <a:spcPts val="0"/>
                        </a:spcAft>
                        <a:buClr>
                          <a:srgbClr val="23293B"/>
                        </a:buClr>
                        <a:buSzPts val="1150"/>
                        <a:buFont typeface="Calibri"/>
                        <a:buNone/>
                      </a:pPr>
                      <a:r>
                        <a:rPr lang="en-US" sz="1150" u="none" cap="none" strike="noStrike">
                          <a:solidFill>
                            <a:srgbClr val="23293B"/>
                          </a:solidFill>
                          <a:latin typeface="Calibri"/>
                          <a:ea typeface="Calibri"/>
                          <a:cs typeface="Calibri"/>
                          <a:sym typeface="Calibri"/>
                        </a:rPr>
                        <a:t>NMS tuning (M3), crowd-aware postproc</a:t>
                      </a:r>
                      <a:endParaRPr sz="1150" u="none" cap="none" strike="noStrike">
                        <a:latin typeface="Calibri"/>
                        <a:ea typeface="Calibri"/>
                        <a:cs typeface="Calibri"/>
                        <a:sym typeface="Calibri"/>
                      </a:endParaRPr>
                    </a:p>
                  </a:txBody>
                  <a:tcPr marT="64000" marB="64000" marR="64000" marL="64000" anchor="ctr">
                    <a:lnL cap="flat" cmpd="sng" w="9525">
                      <a:solidFill>
                        <a:srgbClr val="D9E2EA"/>
                      </a:solidFill>
                      <a:prstDash val="solid"/>
                      <a:round/>
                      <a:headEnd len="sm" w="sm" type="none"/>
                      <a:tailEnd len="sm" w="sm" type="none"/>
                    </a:lnL>
                    <a:lnR cap="flat" cmpd="sng" w="9525">
                      <a:solidFill>
                        <a:srgbClr val="D9E2EA"/>
                      </a:solidFill>
                      <a:prstDash val="solid"/>
                      <a:round/>
                      <a:headEnd len="sm" w="sm" type="none"/>
                      <a:tailEnd len="sm" w="sm" type="none"/>
                    </a:lnR>
                    <a:lnT cap="flat" cmpd="sng" w="9525">
                      <a:solidFill>
                        <a:srgbClr val="D9E2EA"/>
                      </a:solidFill>
                      <a:prstDash val="solid"/>
                      <a:round/>
                      <a:headEnd len="sm" w="sm" type="none"/>
                      <a:tailEnd len="sm" w="sm" type="none"/>
                    </a:lnT>
                    <a:lnB cap="flat" cmpd="sng" w="9525">
                      <a:solidFill>
                        <a:srgbClr val="D9E2EA"/>
                      </a:solidFill>
                      <a:prstDash val="solid"/>
                      <a:round/>
                      <a:headEnd len="sm" w="sm" type="none"/>
                      <a:tailEnd len="sm" w="sm" type="none"/>
                    </a:lnB>
                    <a:solidFill>
                      <a:srgbClr val="F2F6F9"/>
                    </a:solidFill>
                  </a:tcPr>
                </a:tc>
              </a:tr>
              <a:tr h="713225">
                <a:tc>
                  <a:txBody>
                    <a:bodyPr/>
                    <a:lstStyle/>
                    <a:p>
                      <a:pPr indent="0" lvl="0" marL="0" marR="0" rtl="0" algn="l">
                        <a:spcBef>
                          <a:spcPts val="0"/>
                        </a:spcBef>
                        <a:spcAft>
                          <a:spcPts val="0"/>
                        </a:spcAft>
                        <a:buClr>
                          <a:srgbClr val="1D2A5C"/>
                        </a:buClr>
                        <a:buSzPts val="1150"/>
                        <a:buFont typeface="Calibri"/>
                        <a:buNone/>
                      </a:pPr>
                      <a:r>
                        <a:rPr b="1" lang="en-US" sz="1150" u="none" cap="none" strike="noStrike">
                          <a:solidFill>
                            <a:srgbClr val="1D2A5C"/>
                          </a:solidFill>
                          <a:latin typeface="Calibri"/>
                          <a:ea typeface="Calibri"/>
                          <a:cs typeface="Calibri"/>
                          <a:sym typeface="Calibri"/>
                        </a:rPr>
                        <a:t>Background</a:t>
                      </a:r>
                      <a:endParaRPr sz="1150" u="none" cap="none" strike="noStrike">
                        <a:latin typeface="Calibri"/>
                        <a:ea typeface="Calibri"/>
                        <a:cs typeface="Calibri"/>
                        <a:sym typeface="Calibri"/>
                      </a:endParaRPr>
                    </a:p>
                  </a:txBody>
                  <a:tcPr marT="64000" marB="64000" marR="64000" marL="64000" anchor="ctr">
                    <a:lnL cap="flat" cmpd="sng" w="9525">
                      <a:solidFill>
                        <a:srgbClr val="D9E2EA"/>
                      </a:solidFill>
                      <a:prstDash val="solid"/>
                      <a:round/>
                      <a:headEnd len="sm" w="sm" type="none"/>
                      <a:tailEnd len="sm" w="sm" type="none"/>
                    </a:lnL>
                    <a:lnR cap="flat" cmpd="sng" w="9525">
                      <a:solidFill>
                        <a:srgbClr val="D9E2EA"/>
                      </a:solidFill>
                      <a:prstDash val="solid"/>
                      <a:round/>
                      <a:headEnd len="sm" w="sm" type="none"/>
                      <a:tailEnd len="sm" w="sm" type="none"/>
                    </a:lnR>
                    <a:lnT cap="flat" cmpd="sng" w="9525">
                      <a:solidFill>
                        <a:srgbClr val="D9E2EA"/>
                      </a:solidFill>
                      <a:prstDash val="solid"/>
                      <a:round/>
                      <a:headEnd len="sm" w="sm" type="none"/>
                      <a:tailEnd len="sm" w="sm" type="none"/>
                    </a:lnT>
                    <a:lnB cap="flat" cmpd="sng" w="9525">
                      <a:solidFill>
                        <a:srgbClr val="D9E2EA"/>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23293B"/>
                        </a:buClr>
                        <a:buSzPts val="1150"/>
                        <a:buFont typeface="Calibri"/>
                        <a:buNone/>
                      </a:pPr>
                      <a:r>
                        <a:rPr lang="en-US" sz="1150" u="none" cap="none" strike="noStrike">
                          <a:solidFill>
                            <a:srgbClr val="23293B"/>
                          </a:solidFill>
                          <a:latin typeface="Calibri"/>
                          <a:ea typeface="Calibri"/>
                          <a:cs typeface="Calibri"/>
                          <a:sym typeface="Calibri"/>
                        </a:rPr>
                        <a:t>FP with no GT overlap (IoU &lt; 0.1)</a:t>
                      </a:r>
                      <a:endParaRPr sz="1150" u="none" cap="none" strike="noStrike">
                        <a:latin typeface="Calibri"/>
                        <a:ea typeface="Calibri"/>
                        <a:cs typeface="Calibri"/>
                        <a:sym typeface="Calibri"/>
                      </a:endParaRPr>
                    </a:p>
                  </a:txBody>
                  <a:tcPr marT="64000" marB="64000" marR="64000" marL="64000" anchor="ctr">
                    <a:lnL cap="flat" cmpd="sng" w="9525">
                      <a:solidFill>
                        <a:srgbClr val="D9E2EA"/>
                      </a:solidFill>
                      <a:prstDash val="solid"/>
                      <a:round/>
                      <a:headEnd len="sm" w="sm" type="none"/>
                      <a:tailEnd len="sm" w="sm" type="none"/>
                    </a:lnL>
                    <a:lnR cap="flat" cmpd="sng" w="9525">
                      <a:solidFill>
                        <a:srgbClr val="D9E2EA"/>
                      </a:solidFill>
                      <a:prstDash val="solid"/>
                      <a:round/>
                      <a:headEnd len="sm" w="sm" type="none"/>
                      <a:tailEnd len="sm" w="sm" type="none"/>
                    </a:lnR>
                    <a:lnT cap="flat" cmpd="sng" w="9525">
                      <a:solidFill>
                        <a:srgbClr val="D9E2EA"/>
                      </a:solidFill>
                      <a:prstDash val="solid"/>
                      <a:round/>
                      <a:headEnd len="sm" w="sm" type="none"/>
                      <a:tailEnd len="sm" w="sm" type="none"/>
                    </a:lnT>
                    <a:lnB cap="flat" cmpd="sng" w="9525">
                      <a:solidFill>
                        <a:srgbClr val="D9E2EA"/>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23293B"/>
                        </a:buClr>
                        <a:buSzPts val="1150"/>
                        <a:buFont typeface="Calibri"/>
                        <a:buNone/>
                      </a:pPr>
                      <a:r>
                        <a:rPr lang="en-US" sz="1150" u="none" cap="none" strike="noStrike">
                          <a:solidFill>
                            <a:srgbClr val="23293B"/>
                          </a:solidFill>
                          <a:latin typeface="Calibri"/>
                          <a:ea typeface="Calibri"/>
                          <a:cs typeface="Calibri"/>
                          <a:sym typeface="Calibri"/>
                        </a:rPr>
                        <a:t>hard negatives: glare, belt marks</a:t>
                      </a:r>
                      <a:endParaRPr sz="1150" u="none" cap="none" strike="noStrike">
                        <a:latin typeface="Calibri"/>
                        <a:ea typeface="Calibri"/>
                        <a:cs typeface="Calibri"/>
                        <a:sym typeface="Calibri"/>
                      </a:endParaRPr>
                    </a:p>
                  </a:txBody>
                  <a:tcPr marT="64000" marB="64000" marR="64000" marL="64000" anchor="ctr">
                    <a:lnL cap="flat" cmpd="sng" w="9525">
                      <a:solidFill>
                        <a:srgbClr val="D9E2EA"/>
                      </a:solidFill>
                      <a:prstDash val="solid"/>
                      <a:round/>
                      <a:headEnd len="sm" w="sm" type="none"/>
                      <a:tailEnd len="sm" w="sm" type="none"/>
                    </a:lnL>
                    <a:lnR cap="flat" cmpd="sng" w="9525">
                      <a:solidFill>
                        <a:srgbClr val="D9E2EA"/>
                      </a:solidFill>
                      <a:prstDash val="solid"/>
                      <a:round/>
                      <a:headEnd len="sm" w="sm" type="none"/>
                      <a:tailEnd len="sm" w="sm" type="none"/>
                    </a:lnR>
                    <a:lnT cap="flat" cmpd="sng" w="9525">
                      <a:solidFill>
                        <a:srgbClr val="D9E2EA"/>
                      </a:solidFill>
                      <a:prstDash val="solid"/>
                      <a:round/>
                      <a:headEnd len="sm" w="sm" type="none"/>
                      <a:tailEnd len="sm" w="sm" type="none"/>
                    </a:lnT>
                    <a:lnB cap="flat" cmpd="sng" w="9525">
                      <a:solidFill>
                        <a:srgbClr val="D9E2EA"/>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23293B"/>
                        </a:buClr>
                        <a:buSzPts val="1150"/>
                        <a:buFont typeface="Calibri"/>
                        <a:buNone/>
                      </a:pPr>
                      <a:r>
                        <a:rPr lang="en-US" sz="1150" u="none" cap="none" strike="noStrike">
                          <a:solidFill>
                            <a:srgbClr val="23293B"/>
                          </a:solidFill>
                          <a:latin typeface="Calibri"/>
                          <a:ea typeface="Calibri"/>
                          <a:cs typeface="Calibri"/>
                          <a:sym typeface="Calibri"/>
                        </a:rPr>
                        <a:t>hard-negative mining (M5)</a:t>
                      </a:r>
                      <a:endParaRPr sz="1150" u="none" cap="none" strike="noStrike">
                        <a:latin typeface="Calibri"/>
                        <a:ea typeface="Calibri"/>
                        <a:cs typeface="Calibri"/>
                        <a:sym typeface="Calibri"/>
                      </a:endParaRPr>
                    </a:p>
                  </a:txBody>
                  <a:tcPr marT="64000" marB="64000" marR="64000" marL="64000" anchor="ctr">
                    <a:lnL cap="flat" cmpd="sng" w="9525">
                      <a:solidFill>
                        <a:srgbClr val="D9E2EA"/>
                      </a:solidFill>
                      <a:prstDash val="solid"/>
                      <a:round/>
                      <a:headEnd len="sm" w="sm" type="none"/>
                      <a:tailEnd len="sm" w="sm" type="none"/>
                    </a:lnL>
                    <a:lnR cap="flat" cmpd="sng" w="9525">
                      <a:solidFill>
                        <a:srgbClr val="D9E2EA"/>
                      </a:solidFill>
                      <a:prstDash val="solid"/>
                      <a:round/>
                      <a:headEnd len="sm" w="sm" type="none"/>
                      <a:tailEnd len="sm" w="sm" type="none"/>
                    </a:lnR>
                    <a:lnT cap="flat" cmpd="sng" w="9525">
                      <a:solidFill>
                        <a:srgbClr val="D9E2EA"/>
                      </a:solidFill>
                      <a:prstDash val="solid"/>
                      <a:round/>
                      <a:headEnd len="sm" w="sm" type="none"/>
                      <a:tailEnd len="sm" w="sm" type="none"/>
                    </a:lnT>
                    <a:lnB cap="flat" cmpd="sng" w="9525">
                      <a:solidFill>
                        <a:srgbClr val="D9E2EA"/>
                      </a:solidFill>
                      <a:prstDash val="solid"/>
                      <a:round/>
                      <a:headEnd len="sm" w="sm" type="none"/>
                      <a:tailEnd len="sm" w="sm" type="none"/>
                    </a:lnB>
                    <a:solidFill>
                      <a:srgbClr val="FFFFFF"/>
                    </a:solidFill>
                  </a:tcPr>
                </a:tc>
              </a:tr>
            </a:tbl>
          </a:graphicData>
        </a:graphic>
      </p:graphicFrame>
    </p:spTree>
  </p:cSld>
  <p:clrMapOvr>
    <a:masterClrMapping/>
  </p:clrMapOvr>
</p:sld>
</file>

<file path=ppt/slides/slide1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137" name="Shape 3137"/>
        <p:cNvGrpSpPr/>
        <p:nvPr/>
      </p:nvGrpSpPr>
      <p:grpSpPr>
        <a:xfrm>
          <a:off x="0" y="0"/>
          <a:ext cx="0" cy="0"/>
          <a:chOff x="0" y="0"/>
          <a:chExt cx="0" cy="0"/>
        </a:xfrm>
      </p:grpSpPr>
      <p:sp>
        <p:nvSpPr>
          <p:cNvPr id="3138" name="Google Shape;3138;p113"/>
          <p:cNvSpPr/>
          <p:nvPr/>
        </p:nvSpPr>
        <p:spPr>
          <a:xfrm>
            <a:off x="502920" y="274320"/>
            <a:ext cx="9646920" cy="56692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D2A5C"/>
              </a:buClr>
              <a:buSzPts val="2700"/>
              <a:buFont typeface="Calibri"/>
              <a:buNone/>
            </a:pPr>
            <a:r>
              <a:rPr b="1" i="0" lang="en-US" sz="2700" u="none" cap="none" strike="noStrike">
                <a:solidFill>
                  <a:srgbClr val="1D2A5C"/>
                </a:solidFill>
                <a:latin typeface="Calibri"/>
                <a:ea typeface="Calibri"/>
                <a:cs typeface="Calibri"/>
                <a:sym typeface="Calibri"/>
              </a:rPr>
              <a:t>The Harness as an Engineering Artefact</a:t>
            </a:r>
            <a:endParaRPr b="0" i="0" sz="2700" u="none" cap="none" strike="noStrike">
              <a:solidFill>
                <a:schemeClr val="dk1"/>
              </a:solidFill>
              <a:latin typeface="Calibri"/>
              <a:ea typeface="Calibri"/>
              <a:cs typeface="Calibri"/>
              <a:sym typeface="Calibri"/>
            </a:endParaRPr>
          </a:p>
        </p:txBody>
      </p:sp>
      <p:sp>
        <p:nvSpPr>
          <p:cNvPr id="3139" name="Google Shape;3139;p113"/>
          <p:cNvSpPr/>
          <p:nvPr/>
        </p:nvSpPr>
        <p:spPr>
          <a:xfrm>
            <a:off x="502920" y="859536"/>
            <a:ext cx="9646920" cy="31089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F6B7A"/>
              </a:buClr>
              <a:buSzPts val="1250"/>
              <a:buFont typeface="Arial"/>
              <a:buNone/>
            </a:pPr>
            <a:r>
              <a:rPr b="0" i="0" lang="en-US" sz="1250" u="none" cap="none" strike="noStrike">
                <a:solidFill>
                  <a:srgbClr val="5F6B7A"/>
                </a:solidFill>
                <a:latin typeface="Arial"/>
                <a:ea typeface="Arial"/>
                <a:cs typeface="Arial"/>
                <a:sym typeface="Arial"/>
              </a:rPr>
              <a:t>منصة التقييم كمنتج هندسي</a:t>
            </a:r>
            <a:endParaRPr b="0" i="0" sz="1250" u="none" cap="none" strike="noStrike">
              <a:solidFill>
                <a:schemeClr val="dk1"/>
              </a:solidFill>
              <a:latin typeface="Calibri"/>
              <a:ea typeface="Calibri"/>
              <a:cs typeface="Calibri"/>
              <a:sym typeface="Calibri"/>
            </a:endParaRPr>
          </a:p>
        </p:txBody>
      </p:sp>
      <p:pic>
        <p:nvPicPr>
          <p:cNvPr descr="/sessions/blissful-determined-ritchie/build/assets/sdaia_logo.png" id="3140" name="Google Shape;3140;p113"/>
          <p:cNvPicPr preferRelativeResize="0"/>
          <p:nvPr/>
        </p:nvPicPr>
        <p:blipFill rotWithShape="1">
          <a:blip r:embed="rId3">
            <a:alphaModFix/>
          </a:blip>
          <a:srcRect b="0" l="0" r="0" t="0"/>
          <a:stretch/>
        </p:blipFill>
        <p:spPr>
          <a:xfrm>
            <a:off x="10625328" y="310896"/>
            <a:ext cx="1078992" cy="264111"/>
          </a:xfrm>
          <a:prstGeom prst="rect">
            <a:avLst/>
          </a:prstGeom>
          <a:noFill/>
          <a:ln>
            <a:noFill/>
          </a:ln>
        </p:spPr>
      </p:pic>
      <p:sp>
        <p:nvSpPr>
          <p:cNvPr id="3141" name="Google Shape;3141;p113"/>
          <p:cNvSpPr/>
          <p:nvPr/>
        </p:nvSpPr>
        <p:spPr>
          <a:xfrm>
            <a:off x="502920" y="6528816"/>
            <a:ext cx="8686800"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A79D"/>
              </a:buClr>
              <a:buSzPts val="800"/>
              <a:buFont typeface="Calibri"/>
              <a:buNone/>
            </a:pPr>
            <a:r>
              <a:rPr b="1" i="0" lang="en-US" sz="800" u="none" cap="none" strike="noStrike">
                <a:solidFill>
                  <a:srgbClr val="00A79D"/>
                </a:solidFill>
                <a:latin typeface="Calibri"/>
                <a:ea typeface="Calibri"/>
                <a:cs typeface="Calibri"/>
                <a:sym typeface="Calibri"/>
              </a:rPr>
              <a:t>MODULE 6   </a:t>
            </a:r>
            <a:r>
              <a:rPr b="0" i="0" lang="en-US" sz="800" u="none" cap="none" strike="noStrike">
                <a:solidFill>
                  <a:srgbClr val="8A96A6"/>
                </a:solidFill>
                <a:latin typeface="Calibri"/>
                <a:ea typeface="Calibri"/>
                <a:cs typeface="Calibri"/>
                <a:sym typeface="Calibri"/>
              </a:rPr>
              <a:t>SDA-AIE-212 · Computer Vision Systems Development</a:t>
            </a:r>
            <a:endParaRPr b="0" i="0" sz="800" u="none" cap="none" strike="noStrike">
              <a:solidFill>
                <a:schemeClr val="dk1"/>
              </a:solidFill>
              <a:latin typeface="Calibri"/>
              <a:ea typeface="Calibri"/>
              <a:cs typeface="Calibri"/>
              <a:sym typeface="Calibri"/>
            </a:endParaRPr>
          </a:p>
        </p:txBody>
      </p:sp>
      <p:sp>
        <p:nvSpPr>
          <p:cNvPr id="3142" name="Google Shape;3142;p113"/>
          <p:cNvSpPr/>
          <p:nvPr/>
        </p:nvSpPr>
        <p:spPr>
          <a:xfrm>
            <a:off x="11292840" y="6528816"/>
            <a:ext cx="411480" cy="219456"/>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8A96A6"/>
              </a:buClr>
              <a:buSzPts val="900"/>
              <a:buFont typeface="Calibri"/>
              <a:buNone/>
            </a:pPr>
            <a:r>
              <a:rPr b="0" i="0" lang="en-US" sz="900" u="none" cap="none" strike="noStrike">
                <a:solidFill>
                  <a:srgbClr val="8A96A6"/>
                </a:solidFill>
                <a:latin typeface="Calibri"/>
                <a:ea typeface="Calibri"/>
                <a:cs typeface="Calibri"/>
                <a:sym typeface="Calibri"/>
              </a:rPr>
              <a:t>113</a:t>
            </a:r>
            <a:endParaRPr b="0" i="0" sz="900" u="none" cap="none" strike="noStrike">
              <a:solidFill>
                <a:schemeClr val="dk1"/>
              </a:solidFill>
              <a:latin typeface="Calibri"/>
              <a:ea typeface="Calibri"/>
              <a:cs typeface="Calibri"/>
              <a:sym typeface="Calibri"/>
            </a:endParaRPr>
          </a:p>
        </p:txBody>
      </p:sp>
      <p:sp>
        <p:nvSpPr>
          <p:cNvPr id="3143" name="Google Shape;3143;p113"/>
          <p:cNvSpPr/>
          <p:nvPr/>
        </p:nvSpPr>
        <p:spPr>
          <a:xfrm>
            <a:off x="502920" y="1389888"/>
            <a:ext cx="11185855" cy="384048"/>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5F6B7A"/>
              </a:buClr>
              <a:buSzPts val="1250"/>
              <a:buFont typeface="Calibri"/>
              <a:buNone/>
            </a:pPr>
            <a:r>
              <a:rPr b="0" i="1" lang="en-US" sz="1250" u="none" cap="none" strike="noStrike">
                <a:solidFill>
                  <a:srgbClr val="5F6B7A"/>
                </a:solidFill>
                <a:latin typeface="Calibri"/>
                <a:ea typeface="Calibri"/>
                <a:cs typeface="Calibri"/>
                <a:sym typeface="Calibri"/>
              </a:rPr>
              <a:t>tamr_vision/eval/ — SDA-AIE-113's code disciplines applied to evaluation, now enforced by CI-style checks.</a:t>
            </a:r>
            <a:endParaRPr b="0" i="0" sz="1250" u="none" cap="none" strike="noStrike">
              <a:solidFill>
                <a:schemeClr val="dk1"/>
              </a:solidFill>
              <a:latin typeface="Calibri"/>
              <a:ea typeface="Calibri"/>
              <a:cs typeface="Calibri"/>
              <a:sym typeface="Calibri"/>
            </a:endParaRPr>
          </a:p>
        </p:txBody>
      </p:sp>
      <p:sp>
        <p:nvSpPr>
          <p:cNvPr id="3144" name="Google Shape;3144;p113"/>
          <p:cNvSpPr/>
          <p:nvPr/>
        </p:nvSpPr>
        <p:spPr>
          <a:xfrm>
            <a:off x="502920" y="1892808"/>
            <a:ext cx="11185855" cy="790042"/>
          </a:xfrm>
          <a:prstGeom prst="roundRect">
            <a:avLst>
              <a:gd fmla="val 6944" name="adj"/>
            </a:avLst>
          </a:prstGeom>
          <a:solidFill>
            <a:srgbClr val="1D2A5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45" name="Google Shape;3145;p113"/>
          <p:cNvSpPr/>
          <p:nvPr/>
        </p:nvSpPr>
        <p:spPr>
          <a:xfrm>
            <a:off x="685800" y="1892808"/>
            <a:ext cx="4698059" cy="79004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300"/>
              <a:buFont typeface="Calibri"/>
              <a:buNone/>
            </a:pPr>
            <a:r>
              <a:rPr b="1" i="0" lang="en-US" sz="1300" u="none" cap="none" strike="noStrike">
                <a:solidFill>
                  <a:srgbClr val="FFFFFF"/>
                </a:solidFill>
                <a:latin typeface="Calibri"/>
                <a:ea typeface="Calibri"/>
                <a:cs typeface="Calibri"/>
                <a:sym typeface="Calibri"/>
              </a:rPr>
              <a:t>Frozen inputs</a:t>
            </a:r>
            <a:endParaRPr b="0" i="0" sz="1300" u="none" cap="none" strike="noStrike">
              <a:solidFill>
                <a:schemeClr val="dk1"/>
              </a:solidFill>
              <a:latin typeface="Calibri"/>
              <a:ea typeface="Calibri"/>
              <a:cs typeface="Calibri"/>
              <a:sym typeface="Calibri"/>
            </a:endParaRPr>
          </a:p>
        </p:txBody>
      </p:sp>
      <p:sp>
        <p:nvSpPr>
          <p:cNvPr id="3146" name="Google Shape;3146;p113"/>
          <p:cNvSpPr/>
          <p:nvPr/>
        </p:nvSpPr>
        <p:spPr>
          <a:xfrm>
            <a:off x="5424696" y="1892808"/>
            <a:ext cx="5928503" cy="79004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D9E4F5"/>
              </a:buClr>
              <a:buSzPts val="1050"/>
              <a:buFont typeface="Calibri"/>
              <a:buNone/>
            </a:pPr>
            <a:r>
              <a:rPr b="0" i="0" lang="en-US" sz="1050" u="none" cap="none" strike="noStrike">
                <a:solidFill>
                  <a:srgbClr val="D9E4F5"/>
                </a:solidFill>
                <a:latin typeface="Calibri"/>
                <a:ea typeface="Calibri"/>
                <a:cs typeface="Calibri"/>
                <a:sym typeface="Calibri"/>
              </a:rPr>
              <a:t>test split pinned by release hash; predictions cached to parquet</a:t>
            </a:r>
            <a:endParaRPr b="0" i="0" sz="1050" u="none" cap="none" strike="noStrike">
              <a:solidFill>
                <a:schemeClr val="dk1"/>
              </a:solidFill>
              <a:latin typeface="Calibri"/>
              <a:ea typeface="Calibri"/>
              <a:cs typeface="Calibri"/>
              <a:sym typeface="Calibri"/>
            </a:endParaRPr>
          </a:p>
        </p:txBody>
      </p:sp>
      <p:sp>
        <p:nvSpPr>
          <p:cNvPr id="3147" name="Google Shape;3147;p113"/>
          <p:cNvSpPr/>
          <p:nvPr/>
        </p:nvSpPr>
        <p:spPr>
          <a:xfrm>
            <a:off x="758952" y="2810866"/>
            <a:ext cx="10673791" cy="790042"/>
          </a:xfrm>
          <a:prstGeom prst="roundRect">
            <a:avLst>
              <a:gd fmla="val 6944" name="adj"/>
            </a:avLst>
          </a:prstGeom>
          <a:solidFill>
            <a:srgbClr val="24437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48" name="Google Shape;3148;p113"/>
          <p:cNvSpPr/>
          <p:nvPr/>
        </p:nvSpPr>
        <p:spPr>
          <a:xfrm>
            <a:off x="941832" y="2810866"/>
            <a:ext cx="4482992" cy="79004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300"/>
              <a:buFont typeface="Calibri"/>
              <a:buNone/>
            </a:pPr>
            <a:r>
              <a:rPr b="1" i="0" lang="en-US" sz="1300" u="none" cap="none" strike="noStrike">
                <a:solidFill>
                  <a:srgbClr val="FFFFFF"/>
                </a:solidFill>
                <a:latin typeface="Calibri"/>
                <a:ea typeface="Calibri"/>
                <a:cs typeface="Calibri"/>
                <a:sym typeface="Calibri"/>
              </a:rPr>
              <a:t>Determinism</a:t>
            </a:r>
            <a:endParaRPr b="0" i="0" sz="1300" u="none" cap="none" strike="noStrike">
              <a:solidFill>
                <a:schemeClr val="dk1"/>
              </a:solidFill>
              <a:latin typeface="Calibri"/>
              <a:ea typeface="Calibri"/>
              <a:cs typeface="Calibri"/>
              <a:sym typeface="Calibri"/>
            </a:endParaRPr>
          </a:p>
        </p:txBody>
      </p:sp>
      <p:sp>
        <p:nvSpPr>
          <p:cNvPr id="3149" name="Google Shape;3149;p113"/>
          <p:cNvSpPr/>
          <p:nvPr/>
        </p:nvSpPr>
        <p:spPr>
          <a:xfrm>
            <a:off x="5455420" y="2810866"/>
            <a:ext cx="5657109" cy="79004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D9E4F5"/>
              </a:buClr>
              <a:buSzPts val="1050"/>
              <a:buFont typeface="Calibri"/>
              <a:buNone/>
            </a:pPr>
            <a:r>
              <a:rPr b="0" i="0" lang="en-US" sz="1050" u="none" cap="none" strike="noStrike">
                <a:solidFill>
                  <a:srgbClr val="D9E4F5"/>
                </a:solidFill>
                <a:latin typeface="Calibri"/>
                <a:ea typeface="Calibri"/>
                <a:cs typeface="Calibri"/>
                <a:sym typeface="Calibri"/>
              </a:rPr>
              <a:t>same (model, split, config) = byte-identical reports</a:t>
            </a:r>
            <a:endParaRPr b="0" i="0" sz="1050" u="none" cap="none" strike="noStrike">
              <a:solidFill>
                <a:schemeClr val="dk1"/>
              </a:solidFill>
              <a:latin typeface="Calibri"/>
              <a:ea typeface="Calibri"/>
              <a:cs typeface="Calibri"/>
              <a:sym typeface="Calibri"/>
            </a:endParaRPr>
          </a:p>
        </p:txBody>
      </p:sp>
      <p:sp>
        <p:nvSpPr>
          <p:cNvPr id="3150" name="Google Shape;3150;p113"/>
          <p:cNvSpPr/>
          <p:nvPr/>
        </p:nvSpPr>
        <p:spPr>
          <a:xfrm>
            <a:off x="1014984" y="3728923"/>
            <a:ext cx="10161727" cy="790042"/>
          </a:xfrm>
          <a:prstGeom prst="roundRect">
            <a:avLst>
              <a:gd fmla="val 6944" name="adj"/>
            </a:avLst>
          </a:prstGeom>
          <a:solidFill>
            <a:srgbClr val="2A5CA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51" name="Google Shape;3151;p113"/>
          <p:cNvSpPr/>
          <p:nvPr/>
        </p:nvSpPr>
        <p:spPr>
          <a:xfrm>
            <a:off x="1197864" y="3728923"/>
            <a:ext cx="4267925" cy="79004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300"/>
              <a:buFont typeface="Calibri"/>
              <a:buNone/>
            </a:pPr>
            <a:r>
              <a:rPr b="1" i="0" lang="en-US" sz="1300" u="none" cap="none" strike="noStrike">
                <a:solidFill>
                  <a:srgbClr val="FFFFFF"/>
                </a:solidFill>
                <a:latin typeface="Calibri"/>
                <a:ea typeface="Calibri"/>
                <a:cs typeface="Calibri"/>
                <a:sym typeface="Calibri"/>
              </a:rPr>
              <a:t>Regression mode</a:t>
            </a:r>
            <a:endParaRPr b="0" i="0" sz="1300" u="none" cap="none" strike="noStrike">
              <a:solidFill>
                <a:schemeClr val="dk1"/>
              </a:solidFill>
              <a:latin typeface="Calibri"/>
              <a:ea typeface="Calibri"/>
              <a:cs typeface="Calibri"/>
              <a:sym typeface="Calibri"/>
            </a:endParaRPr>
          </a:p>
        </p:txBody>
      </p:sp>
      <p:sp>
        <p:nvSpPr>
          <p:cNvPr id="3152" name="Google Shape;3152;p113"/>
          <p:cNvSpPr/>
          <p:nvPr/>
        </p:nvSpPr>
        <p:spPr>
          <a:xfrm>
            <a:off x="5486144" y="3728923"/>
            <a:ext cx="5385715" cy="79004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D9E4F5"/>
              </a:buClr>
              <a:buSzPts val="1050"/>
              <a:buFont typeface="Calibri"/>
              <a:buNone/>
            </a:pPr>
            <a:r>
              <a:rPr b="0" i="0" lang="en-US" sz="1050" u="none" cap="none" strike="noStrike">
                <a:solidFill>
                  <a:srgbClr val="D9E4F5"/>
                </a:solidFill>
                <a:latin typeface="Calibri"/>
                <a:ea typeface="Calibri"/>
                <a:cs typeface="Calibri"/>
                <a:sym typeface="Calibri"/>
              </a:rPr>
              <a:t>per-slice deltas with n; flags any slice degraded &gt;= 2 points</a:t>
            </a:r>
            <a:endParaRPr b="0" i="0" sz="1050" u="none" cap="none" strike="noStrike">
              <a:solidFill>
                <a:schemeClr val="dk1"/>
              </a:solidFill>
              <a:latin typeface="Calibri"/>
              <a:ea typeface="Calibri"/>
              <a:cs typeface="Calibri"/>
              <a:sym typeface="Calibri"/>
            </a:endParaRPr>
          </a:p>
        </p:txBody>
      </p:sp>
      <p:sp>
        <p:nvSpPr>
          <p:cNvPr id="3153" name="Google Shape;3153;p113"/>
          <p:cNvSpPr/>
          <p:nvPr/>
        </p:nvSpPr>
        <p:spPr>
          <a:xfrm>
            <a:off x="1271016" y="4646981"/>
            <a:ext cx="9649663" cy="790042"/>
          </a:xfrm>
          <a:prstGeom prst="roundRect">
            <a:avLst>
              <a:gd fmla="val 6944" name="adj"/>
            </a:avLst>
          </a:prstGeom>
          <a:solidFill>
            <a:srgbClr val="1F7FB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54" name="Google Shape;3154;p113"/>
          <p:cNvSpPr/>
          <p:nvPr/>
        </p:nvSpPr>
        <p:spPr>
          <a:xfrm>
            <a:off x="1453896" y="4646981"/>
            <a:ext cx="4052859" cy="79004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300"/>
              <a:buFont typeface="Calibri"/>
              <a:buNone/>
            </a:pPr>
            <a:r>
              <a:rPr b="1" i="0" lang="en-US" sz="1300" u="none" cap="none" strike="noStrike">
                <a:solidFill>
                  <a:srgbClr val="FFFFFF"/>
                </a:solidFill>
                <a:latin typeface="Calibri"/>
                <a:ea typeface="Calibri"/>
                <a:cs typeface="Calibri"/>
                <a:sym typeface="Calibri"/>
              </a:rPr>
              <a:t>Error gallery</a:t>
            </a:r>
            <a:endParaRPr b="0" i="0" sz="1300" u="none" cap="none" strike="noStrike">
              <a:solidFill>
                <a:schemeClr val="dk1"/>
              </a:solidFill>
              <a:latin typeface="Calibri"/>
              <a:ea typeface="Calibri"/>
              <a:cs typeface="Calibri"/>
              <a:sym typeface="Calibri"/>
            </a:endParaRPr>
          </a:p>
        </p:txBody>
      </p:sp>
      <p:sp>
        <p:nvSpPr>
          <p:cNvPr id="3155" name="Google Shape;3155;p113"/>
          <p:cNvSpPr/>
          <p:nvPr/>
        </p:nvSpPr>
        <p:spPr>
          <a:xfrm>
            <a:off x="5516868" y="4646981"/>
            <a:ext cx="5114321" cy="79004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D9E4F5"/>
              </a:buClr>
              <a:buSzPts val="1050"/>
              <a:buFont typeface="Calibri"/>
              <a:buNone/>
            </a:pPr>
            <a:r>
              <a:rPr b="0" i="0" lang="en-US" sz="1050" u="none" cap="none" strike="noStrike">
                <a:solidFill>
                  <a:srgbClr val="D9E4F5"/>
                </a:solidFill>
                <a:latin typeface="Calibri"/>
                <a:ea typeface="Calibri"/>
                <a:cs typeface="Calibri"/>
                <a:sym typeface="Calibri"/>
              </a:rPr>
              <a:t>k worst frames per bucket — what stakeholders actually read</a:t>
            </a:r>
            <a:endParaRPr b="0" i="0" sz="1050" u="none" cap="none" strike="noStrike">
              <a:solidFill>
                <a:schemeClr val="dk1"/>
              </a:solidFill>
              <a:latin typeface="Calibri"/>
              <a:ea typeface="Calibri"/>
              <a:cs typeface="Calibri"/>
              <a:sym typeface="Calibri"/>
            </a:endParaRPr>
          </a:p>
        </p:txBody>
      </p:sp>
      <p:sp>
        <p:nvSpPr>
          <p:cNvPr id="3156" name="Google Shape;3156;p113"/>
          <p:cNvSpPr/>
          <p:nvPr/>
        </p:nvSpPr>
        <p:spPr>
          <a:xfrm>
            <a:off x="1527048" y="5565038"/>
            <a:ext cx="9137599" cy="790042"/>
          </a:xfrm>
          <a:prstGeom prst="roundRect">
            <a:avLst>
              <a:gd fmla="val 6944" name="adj"/>
            </a:avLst>
          </a:prstGeom>
          <a:solidFill>
            <a:srgbClr val="29ABE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57" name="Google Shape;3157;p113"/>
          <p:cNvSpPr/>
          <p:nvPr/>
        </p:nvSpPr>
        <p:spPr>
          <a:xfrm>
            <a:off x="1709928" y="5565038"/>
            <a:ext cx="3837792" cy="79004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300"/>
              <a:buFont typeface="Calibri"/>
              <a:buNone/>
            </a:pPr>
            <a:r>
              <a:rPr b="1" i="0" lang="en-US" sz="1300" u="none" cap="none" strike="noStrike">
                <a:solidFill>
                  <a:srgbClr val="FFFFFF"/>
                </a:solidFill>
                <a:latin typeface="Calibri"/>
                <a:ea typeface="Calibri"/>
                <a:cs typeface="Calibri"/>
                <a:sym typeface="Calibri"/>
              </a:rPr>
              <a:t>Honest deltas</a:t>
            </a:r>
            <a:endParaRPr b="0" i="0" sz="1300" u="none" cap="none" strike="noStrike">
              <a:solidFill>
                <a:schemeClr val="dk1"/>
              </a:solidFill>
              <a:latin typeface="Calibri"/>
              <a:ea typeface="Calibri"/>
              <a:cs typeface="Calibri"/>
              <a:sym typeface="Calibri"/>
            </a:endParaRPr>
          </a:p>
        </p:txBody>
      </p:sp>
      <p:sp>
        <p:nvSpPr>
          <p:cNvPr id="3158" name="Google Shape;3158;p113"/>
          <p:cNvSpPr/>
          <p:nvPr/>
        </p:nvSpPr>
        <p:spPr>
          <a:xfrm>
            <a:off x="5547592" y="5565038"/>
            <a:ext cx="4842928" cy="79004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D9E4F5"/>
              </a:buClr>
              <a:buSzPts val="1050"/>
              <a:buFont typeface="Calibri"/>
              <a:buNone/>
            </a:pPr>
            <a:r>
              <a:rPr b="0" i="0" lang="en-US" sz="1050" u="none" cap="none" strike="noStrike">
                <a:solidFill>
                  <a:srgbClr val="D9E4F5"/>
                </a:solidFill>
                <a:latin typeface="Calibri"/>
                <a:ea typeface="Calibri"/>
                <a:cs typeface="Calibri"/>
                <a:sym typeface="Calibri"/>
              </a:rPr>
              <a:t>|dAP| &lt; 0.01 noise; 0.01-0.03 check gallery; &gt; 0.03 real</a:t>
            </a:r>
            <a:endParaRPr b="0" i="0" sz="1050" u="none" cap="none" strike="noStrike">
              <a:solidFill>
                <a:schemeClr val="dk1"/>
              </a:solidFill>
              <a:latin typeface="Calibri"/>
              <a:ea typeface="Calibri"/>
              <a:cs typeface="Calibri"/>
              <a:sym typeface="Calibri"/>
            </a:endParaRPr>
          </a:p>
        </p:txBody>
      </p:sp>
    </p:spTree>
  </p:cSld>
  <p:clrMapOvr>
    <a:masterClrMapping/>
  </p:clrMapOvr>
</p:sld>
</file>

<file path=ppt/slides/slide1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163" name="Shape 3163"/>
        <p:cNvGrpSpPr/>
        <p:nvPr/>
      </p:nvGrpSpPr>
      <p:grpSpPr>
        <a:xfrm>
          <a:off x="0" y="0"/>
          <a:ext cx="0" cy="0"/>
          <a:chOff x="0" y="0"/>
          <a:chExt cx="0" cy="0"/>
        </a:xfrm>
      </p:grpSpPr>
      <p:sp>
        <p:nvSpPr>
          <p:cNvPr id="3164" name="Google Shape;3164;p114"/>
          <p:cNvSpPr/>
          <p:nvPr/>
        </p:nvSpPr>
        <p:spPr>
          <a:xfrm>
            <a:off x="502920" y="274320"/>
            <a:ext cx="9646920" cy="56692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D2A5C"/>
              </a:buClr>
              <a:buSzPts val="2700"/>
              <a:buFont typeface="Calibri"/>
              <a:buNone/>
            </a:pPr>
            <a:r>
              <a:rPr b="1" i="0" lang="en-US" sz="2700" u="none" cap="none" strike="noStrike">
                <a:solidFill>
                  <a:srgbClr val="1D2A5C"/>
                </a:solidFill>
                <a:latin typeface="Calibri"/>
                <a:ea typeface="Calibri"/>
                <a:cs typeface="Calibri"/>
                <a:sym typeface="Calibri"/>
              </a:rPr>
              <a:t>Common Mistakes and How to Defend</a:t>
            </a:r>
            <a:endParaRPr b="0" i="0" sz="2700" u="none" cap="none" strike="noStrike">
              <a:solidFill>
                <a:schemeClr val="dk1"/>
              </a:solidFill>
              <a:latin typeface="Calibri"/>
              <a:ea typeface="Calibri"/>
              <a:cs typeface="Calibri"/>
              <a:sym typeface="Calibri"/>
            </a:endParaRPr>
          </a:p>
        </p:txBody>
      </p:sp>
      <p:sp>
        <p:nvSpPr>
          <p:cNvPr id="3165" name="Google Shape;3165;p114"/>
          <p:cNvSpPr/>
          <p:nvPr/>
        </p:nvSpPr>
        <p:spPr>
          <a:xfrm>
            <a:off x="502920" y="859536"/>
            <a:ext cx="9646920" cy="31089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F6B7A"/>
              </a:buClr>
              <a:buSzPts val="1250"/>
              <a:buFont typeface="Arial"/>
              <a:buNone/>
            </a:pPr>
            <a:r>
              <a:rPr b="0" i="0" lang="en-US" sz="1250" u="none" cap="none" strike="noStrike">
                <a:solidFill>
                  <a:srgbClr val="5F6B7A"/>
                </a:solidFill>
                <a:latin typeface="Arial"/>
                <a:ea typeface="Arial"/>
                <a:cs typeface="Arial"/>
                <a:sym typeface="Arial"/>
              </a:rPr>
              <a:t>أخطاء شائعة وكيفية الدفاع</a:t>
            </a:r>
            <a:endParaRPr b="0" i="0" sz="1250" u="none" cap="none" strike="noStrike">
              <a:solidFill>
                <a:schemeClr val="dk1"/>
              </a:solidFill>
              <a:latin typeface="Calibri"/>
              <a:ea typeface="Calibri"/>
              <a:cs typeface="Calibri"/>
              <a:sym typeface="Calibri"/>
            </a:endParaRPr>
          </a:p>
        </p:txBody>
      </p:sp>
      <p:pic>
        <p:nvPicPr>
          <p:cNvPr descr="/sessions/blissful-determined-ritchie/build/assets/sdaia_logo.png" id="3166" name="Google Shape;3166;p114"/>
          <p:cNvPicPr preferRelativeResize="0"/>
          <p:nvPr/>
        </p:nvPicPr>
        <p:blipFill rotWithShape="1">
          <a:blip r:embed="rId3">
            <a:alphaModFix/>
          </a:blip>
          <a:srcRect b="0" l="0" r="0" t="0"/>
          <a:stretch/>
        </p:blipFill>
        <p:spPr>
          <a:xfrm>
            <a:off x="10625328" y="310896"/>
            <a:ext cx="1078992" cy="264111"/>
          </a:xfrm>
          <a:prstGeom prst="rect">
            <a:avLst/>
          </a:prstGeom>
          <a:noFill/>
          <a:ln>
            <a:noFill/>
          </a:ln>
        </p:spPr>
      </p:pic>
      <p:sp>
        <p:nvSpPr>
          <p:cNvPr id="3167" name="Google Shape;3167;p114"/>
          <p:cNvSpPr/>
          <p:nvPr/>
        </p:nvSpPr>
        <p:spPr>
          <a:xfrm>
            <a:off x="502920" y="6528816"/>
            <a:ext cx="8686800"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A79D"/>
              </a:buClr>
              <a:buSzPts val="800"/>
              <a:buFont typeface="Calibri"/>
              <a:buNone/>
            </a:pPr>
            <a:r>
              <a:rPr b="1" i="0" lang="en-US" sz="800" u="none" cap="none" strike="noStrike">
                <a:solidFill>
                  <a:srgbClr val="00A79D"/>
                </a:solidFill>
                <a:latin typeface="Calibri"/>
                <a:ea typeface="Calibri"/>
                <a:cs typeface="Calibri"/>
                <a:sym typeface="Calibri"/>
              </a:rPr>
              <a:t>MODULE 6   </a:t>
            </a:r>
            <a:r>
              <a:rPr b="0" i="0" lang="en-US" sz="800" u="none" cap="none" strike="noStrike">
                <a:solidFill>
                  <a:srgbClr val="8A96A6"/>
                </a:solidFill>
                <a:latin typeface="Calibri"/>
                <a:ea typeface="Calibri"/>
                <a:cs typeface="Calibri"/>
                <a:sym typeface="Calibri"/>
              </a:rPr>
              <a:t>SDA-AIE-212 · Computer Vision Systems Development</a:t>
            </a:r>
            <a:endParaRPr b="0" i="0" sz="800" u="none" cap="none" strike="noStrike">
              <a:solidFill>
                <a:schemeClr val="dk1"/>
              </a:solidFill>
              <a:latin typeface="Calibri"/>
              <a:ea typeface="Calibri"/>
              <a:cs typeface="Calibri"/>
              <a:sym typeface="Calibri"/>
            </a:endParaRPr>
          </a:p>
        </p:txBody>
      </p:sp>
      <p:sp>
        <p:nvSpPr>
          <p:cNvPr id="3168" name="Google Shape;3168;p114"/>
          <p:cNvSpPr/>
          <p:nvPr/>
        </p:nvSpPr>
        <p:spPr>
          <a:xfrm>
            <a:off x="11292840" y="6528816"/>
            <a:ext cx="411480" cy="219456"/>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8A96A6"/>
              </a:buClr>
              <a:buSzPts val="900"/>
              <a:buFont typeface="Calibri"/>
              <a:buNone/>
            </a:pPr>
            <a:r>
              <a:rPr b="0" i="0" lang="en-US" sz="900" u="none" cap="none" strike="noStrike">
                <a:solidFill>
                  <a:srgbClr val="8A96A6"/>
                </a:solidFill>
                <a:latin typeface="Calibri"/>
                <a:ea typeface="Calibri"/>
                <a:cs typeface="Calibri"/>
                <a:sym typeface="Calibri"/>
              </a:rPr>
              <a:t>114</a:t>
            </a:r>
            <a:endParaRPr b="0" i="0" sz="900" u="none" cap="none" strike="noStrike">
              <a:solidFill>
                <a:schemeClr val="dk1"/>
              </a:solidFill>
              <a:latin typeface="Calibri"/>
              <a:ea typeface="Calibri"/>
              <a:cs typeface="Calibri"/>
              <a:sym typeface="Calibri"/>
            </a:endParaRPr>
          </a:p>
        </p:txBody>
      </p:sp>
      <p:graphicFrame>
        <p:nvGraphicFramePr>
          <p:cNvPr id="3169" name="Google Shape;3169;p114"/>
          <p:cNvGraphicFramePr/>
          <p:nvPr/>
        </p:nvGraphicFramePr>
        <p:xfrm>
          <a:off x="502920" y="1389888"/>
          <a:ext cx="3000000" cy="3000000"/>
        </p:xfrm>
        <a:graphic>
          <a:graphicData uri="http://schemas.openxmlformats.org/drawingml/2006/table">
            <a:tbl>
              <a:tblPr>
                <a:noFill/>
                <a:tableStyleId>{F80342BA-3033-44D6-9F91-622DC7A4C435}</a:tableStyleId>
              </a:tblPr>
              <a:tblGrid>
                <a:gridCol w="3509025"/>
                <a:gridCol w="3765500"/>
                <a:gridCol w="3911325"/>
              </a:tblGrid>
              <a:tr h="696250">
                <a:tc>
                  <a:txBody>
                    <a:bodyPr/>
                    <a:lstStyle/>
                    <a:p>
                      <a:pPr indent="0" lvl="0" marL="0" marR="0" rtl="0" algn="l">
                        <a:spcBef>
                          <a:spcPts val="0"/>
                        </a:spcBef>
                        <a:spcAft>
                          <a:spcPts val="0"/>
                        </a:spcAft>
                        <a:buClr>
                          <a:srgbClr val="FFFFFF"/>
                        </a:buClr>
                        <a:buSzPts val="1050"/>
                        <a:buFont typeface="Calibri"/>
                        <a:buNone/>
                      </a:pPr>
                      <a:r>
                        <a:rPr b="1" lang="en-US" sz="1050" u="none" cap="none" strike="noStrike">
                          <a:solidFill>
                            <a:srgbClr val="FFFFFF"/>
                          </a:solidFill>
                          <a:latin typeface="Calibri"/>
                          <a:ea typeface="Calibri"/>
                          <a:cs typeface="Calibri"/>
                          <a:sym typeface="Calibri"/>
                        </a:rPr>
                        <a:t>Mistake</a:t>
                      </a:r>
                      <a:endParaRPr sz="1050" u="none" cap="none" strike="noStrike">
                        <a:latin typeface="Calibri"/>
                        <a:ea typeface="Calibri"/>
                        <a:cs typeface="Calibri"/>
                        <a:sym typeface="Calibri"/>
                      </a:endParaRPr>
                    </a:p>
                  </a:txBody>
                  <a:tcPr marT="64000" marB="64000" marR="64000" marL="64000" anchor="ctr">
                    <a:lnL cap="flat" cmpd="sng" w="9525">
                      <a:solidFill>
                        <a:srgbClr val="D9E2EA"/>
                      </a:solidFill>
                      <a:prstDash val="solid"/>
                      <a:round/>
                      <a:headEnd len="sm" w="sm" type="none"/>
                      <a:tailEnd len="sm" w="sm" type="none"/>
                    </a:lnL>
                    <a:lnR cap="flat" cmpd="sng" w="9525">
                      <a:solidFill>
                        <a:srgbClr val="D9E2EA"/>
                      </a:solidFill>
                      <a:prstDash val="solid"/>
                      <a:round/>
                      <a:headEnd len="sm" w="sm" type="none"/>
                      <a:tailEnd len="sm" w="sm" type="none"/>
                    </a:lnR>
                    <a:lnT cap="flat" cmpd="sng" w="9525">
                      <a:solidFill>
                        <a:srgbClr val="D9E2EA"/>
                      </a:solidFill>
                      <a:prstDash val="solid"/>
                      <a:round/>
                      <a:headEnd len="sm" w="sm" type="none"/>
                      <a:tailEnd len="sm" w="sm" type="none"/>
                    </a:lnT>
                    <a:lnB cap="flat" cmpd="sng" w="9525">
                      <a:solidFill>
                        <a:srgbClr val="D9E2EA"/>
                      </a:solidFill>
                      <a:prstDash val="solid"/>
                      <a:round/>
                      <a:headEnd len="sm" w="sm" type="none"/>
                      <a:tailEnd len="sm" w="sm" type="none"/>
                    </a:lnB>
                    <a:solidFill>
                      <a:srgbClr val="1D2A5C"/>
                    </a:solidFill>
                  </a:tcPr>
                </a:tc>
                <a:tc>
                  <a:txBody>
                    <a:bodyPr/>
                    <a:lstStyle/>
                    <a:p>
                      <a:pPr indent="0" lvl="0" marL="0" marR="0" rtl="0" algn="l">
                        <a:spcBef>
                          <a:spcPts val="0"/>
                        </a:spcBef>
                        <a:spcAft>
                          <a:spcPts val="0"/>
                        </a:spcAft>
                        <a:buClr>
                          <a:srgbClr val="FFFFFF"/>
                        </a:buClr>
                        <a:buSzPts val="1050"/>
                        <a:buFont typeface="Calibri"/>
                        <a:buNone/>
                      </a:pPr>
                      <a:r>
                        <a:rPr b="1" lang="en-US" sz="1050" u="none" cap="none" strike="noStrike">
                          <a:solidFill>
                            <a:srgbClr val="FFFFFF"/>
                          </a:solidFill>
                          <a:latin typeface="Calibri"/>
                          <a:ea typeface="Calibri"/>
                          <a:cs typeface="Calibri"/>
                          <a:sym typeface="Calibri"/>
                        </a:rPr>
                        <a:t>Consequence</a:t>
                      </a:r>
                      <a:endParaRPr sz="1050" u="none" cap="none" strike="noStrike">
                        <a:latin typeface="Calibri"/>
                        <a:ea typeface="Calibri"/>
                        <a:cs typeface="Calibri"/>
                        <a:sym typeface="Calibri"/>
                      </a:endParaRPr>
                    </a:p>
                  </a:txBody>
                  <a:tcPr marT="64000" marB="64000" marR="64000" marL="64000" anchor="ctr">
                    <a:lnL cap="flat" cmpd="sng" w="9525">
                      <a:solidFill>
                        <a:srgbClr val="D9E2EA"/>
                      </a:solidFill>
                      <a:prstDash val="solid"/>
                      <a:round/>
                      <a:headEnd len="sm" w="sm" type="none"/>
                      <a:tailEnd len="sm" w="sm" type="none"/>
                    </a:lnL>
                    <a:lnR cap="flat" cmpd="sng" w="9525">
                      <a:solidFill>
                        <a:srgbClr val="D9E2EA"/>
                      </a:solidFill>
                      <a:prstDash val="solid"/>
                      <a:round/>
                      <a:headEnd len="sm" w="sm" type="none"/>
                      <a:tailEnd len="sm" w="sm" type="none"/>
                    </a:lnR>
                    <a:lnT cap="flat" cmpd="sng" w="9525">
                      <a:solidFill>
                        <a:srgbClr val="D9E2EA"/>
                      </a:solidFill>
                      <a:prstDash val="solid"/>
                      <a:round/>
                      <a:headEnd len="sm" w="sm" type="none"/>
                      <a:tailEnd len="sm" w="sm" type="none"/>
                    </a:lnT>
                    <a:lnB cap="flat" cmpd="sng" w="9525">
                      <a:solidFill>
                        <a:srgbClr val="D9E2EA"/>
                      </a:solidFill>
                      <a:prstDash val="solid"/>
                      <a:round/>
                      <a:headEnd len="sm" w="sm" type="none"/>
                      <a:tailEnd len="sm" w="sm" type="none"/>
                    </a:lnB>
                    <a:solidFill>
                      <a:srgbClr val="1D2A5C"/>
                    </a:solidFill>
                  </a:tcPr>
                </a:tc>
                <a:tc>
                  <a:txBody>
                    <a:bodyPr/>
                    <a:lstStyle/>
                    <a:p>
                      <a:pPr indent="0" lvl="0" marL="0" marR="0" rtl="0" algn="l">
                        <a:spcBef>
                          <a:spcPts val="0"/>
                        </a:spcBef>
                        <a:spcAft>
                          <a:spcPts val="0"/>
                        </a:spcAft>
                        <a:buClr>
                          <a:srgbClr val="FFFFFF"/>
                        </a:buClr>
                        <a:buSzPts val="1050"/>
                        <a:buFont typeface="Calibri"/>
                        <a:buNone/>
                      </a:pPr>
                      <a:r>
                        <a:rPr b="1" lang="en-US" sz="1050" u="none" cap="none" strike="noStrike">
                          <a:solidFill>
                            <a:srgbClr val="FFFFFF"/>
                          </a:solidFill>
                          <a:latin typeface="Calibri"/>
                          <a:ea typeface="Calibri"/>
                          <a:cs typeface="Calibri"/>
                          <a:sym typeface="Calibri"/>
                        </a:rPr>
                        <a:t>Defence</a:t>
                      </a:r>
                      <a:endParaRPr sz="1050" u="none" cap="none" strike="noStrike">
                        <a:latin typeface="Calibri"/>
                        <a:ea typeface="Calibri"/>
                        <a:cs typeface="Calibri"/>
                        <a:sym typeface="Calibri"/>
                      </a:endParaRPr>
                    </a:p>
                  </a:txBody>
                  <a:tcPr marT="64000" marB="64000" marR="64000" marL="64000" anchor="ctr">
                    <a:lnL cap="flat" cmpd="sng" w="9525">
                      <a:solidFill>
                        <a:srgbClr val="D9E2EA"/>
                      </a:solidFill>
                      <a:prstDash val="solid"/>
                      <a:round/>
                      <a:headEnd len="sm" w="sm" type="none"/>
                      <a:tailEnd len="sm" w="sm" type="none"/>
                    </a:lnL>
                    <a:lnR cap="flat" cmpd="sng" w="9525">
                      <a:solidFill>
                        <a:srgbClr val="D9E2EA"/>
                      </a:solidFill>
                      <a:prstDash val="solid"/>
                      <a:round/>
                      <a:headEnd len="sm" w="sm" type="none"/>
                      <a:tailEnd len="sm" w="sm" type="none"/>
                    </a:lnR>
                    <a:lnT cap="flat" cmpd="sng" w="9525">
                      <a:solidFill>
                        <a:srgbClr val="D9E2EA"/>
                      </a:solidFill>
                      <a:prstDash val="solid"/>
                      <a:round/>
                      <a:headEnd len="sm" w="sm" type="none"/>
                      <a:tailEnd len="sm" w="sm" type="none"/>
                    </a:lnT>
                    <a:lnB cap="flat" cmpd="sng" w="9525">
                      <a:solidFill>
                        <a:srgbClr val="D9E2EA"/>
                      </a:solidFill>
                      <a:prstDash val="solid"/>
                      <a:round/>
                      <a:headEnd len="sm" w="sm" type="none"/>
                      <a:tailEnd len="sm" w="sm" type="none"/>
                    </a:lnB>
                    <a:solidFill>
                      <a:srgbClr val="1D2A5C"/>
                    </a:solidFill>
                  </a:tcPr>
                </a:tc>
              </a:tr>
              <a:tr h="696250">
                <a:tc>
                  <a:txBody>
                    <a:bodyPr/>
                    <a:lstStyle/>
                    <a:p>
                      <a:pPr indent="0" lvl="0" marL="0" marR="0" rtl="0" algn="l">
                        <a:spcBef>
                          <a:spcPts val="0"/>
                        </a:spcBef>
                        <a:spcAft>
                          <a:spcPts val="0"/>
                        </a:spcAft>
                        <a:buClr>
                          <a:srgbClr val="1D2A5C"/>
                        </a:buClr>
                        <a:buSzPts val="1050"/>
                        <a:buFont typeface="Calibri"/>
                        <a:buNone/>
                      </a:pPr>
                      <a:r>
                        <a:rPr b="1" lang="en-US" sz="1050" u="none" cap="none" strike="noStrike">
                          <a:solidFill>
                            <a:srgbClr val="1D2A5C"/>
                          </a:solidFill>
                          <a:latin typeface="Calibri"/>
                          <a:ea typeface="Calibri"/>
                          <a:cs typeface="Calibri"/>
                          <a:sym typeface="Calibri"/>
                        </a:rPr>
                        <a:t>Reporting mAP at conf=0.001</a:t>
                      </a:r>
                      <a:endParaRPr sz="1050" u="none" cap="none" strike="noStrike">
                        <a:latin typeface="Calibri"/>
                        <a:ea typeface="Calibri"/>
                        <a:cs typeface="Calibri"/>
                        <a:sym typeface="Calibri"/>
                      </a:endParaRPr>
                    </a:p>
                  </a:txBody>
                  <a:tcPr marT="64000" marB="64000" marR="64000" marL="64000" anchor="ctr">
                    <a:lnL cap="flat" cmpd="sng" w="9525">
                      <a:solidFill>
                        <a:srgbClr val="D9E2EA"/>
                      </a:solidFill>
                      <a:prstDash val="solid"/>
                      <a:round/>
                      <a:headEnd len="sm" w="sm" type="none"/>
                      <a:tailEnd len="sm" w="sm" type="none"/>
                    </a:lnL>
                    <a:lnR cap="flat" cmpd="sng" w="9525">
                      <a:solidFill>
                        <a:srgbClr val="D9E2EA"/>
                      </a:solidFill>
                      <a:prstDash val="solid"/>
                      <a:round/>
                      <a:headEnd len="sm" w="sm" type="none"/>
                      <a:tailEnd len="sm" w="sm" type="none"/>
                    </a:lnR>
                    <a:lnT cap="flat" cmpd="sng" w="9525">
                      <a:solidFill>
                        <a:srgbClr val="D9E2EA"/>
                      </a:solidFill>
                      <a:prstDash val="solid"/>
                      <a:round/>
                      <a:headEnd len="sm" w="sm" type="none"/>
                      <a:tailEnd len="sm" w="sm" type="none"/>
                    </a:lnT>
                    <a:lnB cap="flat" cmpd="sng" w="9525">
                      <a:solidFill>
                        <a:srgbClr val="D9E2EA"/>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23293B"/>
                        </a:buClr>
                        <a:buSzPts val="1050"/>
                        <a:buFont typeface="Calibri"/>
                        <a:buNone/>
                      </a:pPr>
                      <a:r>
                        <a:rPr lang="en-US" sz="1050" u="none" cap="none" strike="noStrike">
                          <a:solidFill>
                            <a:srgbClr val="23293B"/>
                          </a:solidFill>
                          <a:latin typeface="Calibri"/>
                          <a:ea typeface="Calibri"/>
                          <a:cs typeface="Calibri"/>
                          <a:sym typeface="Calibri"/>
                        </a:rPr>
                        <a:t>field precision disappoints at 0.35</a:t>
                      </a:r>
                      <a:endParaRPr sz="1050" u="none" cap="none" strike="noStrike">
                        <a:latin typeface="Calibri"/>
                        <a:ea typeface="Calibri"/>
                        <a:cs typeface="Calibri"/>
                        <a:sym typeface="Calibri"/>
                      </a:endParaRPr>
                    </a:p>
                  </a:txBody>
                  <a:tcPr marT="64000" marB="64000" marR="64000" marL="64000" anchor="ctr">
                    <a:lnL cap="flat" cmpd="sng" w="9525">
                      <a:solidFill>
                        <a:srgbClr val="D9E2EA"/>
                      </a:solidFill>
                      <a:prstDash val="solid"/>
                      <a:round/>
                      <a:headEnd len="sm" w="sm" type="none"/>
                      <a:tailEnd len="sm" w="sm" type="none"/>
                    </a:lnL>
                    <a:lnR cap="flat" cmpd="sng" w="9525">
                      <a:solidFill>
                        <a:srgbClr val="D9E2EA"/>
                      </a:solidFill>
                      <a:prstDash val="solid"/>
                      <a:round/>
                      <a:headEnd len="sm" w="sm" type="none"/>
                      <a:tailEnd len="sm" w="sm" type="none"/>
                    </a:lnR>
                    <a:lnT cap="flat" cmpd="sng" w="9525">
                      <a:solidFill>
                        <a:srgbClr val="D9E2EA"/>
                      </a:solidFill>
                      <a:prstDash val="solid"/>
                      <a:round/>
                      <a:headEnd len="sm" w="sm" type="none"/>
                      <a:tailEnd len="sm" w="sm" type="none"/>
                    </a:lnT>
                    <a:lnB cap="flat" cmpd="sng" w="9525">
                      <a:solidFill>
                        <a:srgbClr val="D9E2EA"/>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23293B"/>
                        </a:buClr>
                        <a:buSzPts val="1050"/>
                        <a:buFont typeface="Calibri"/>
                        <a:buNone/>
                      </a:pPr>
                      <a:r>
                        <a:rPr lang="en-US" sz="1050" u="none" cap="none" strike="noStrike">
                          <a:solidFill>
                            <a:srgbClr val="23293B"/>
                          </a:solidFill>
                          <a:latin typeface="Calibri"/>
                          <a:ea typeface="Calibri"/>
                          <a:cs typeface="Calibri"/>
                          <a:sym typeface="Calibri"/>
                        </a:rPr>
                        <a:t>report the deployed operating point too</a:t>
                      </a:r>
                      <a:endParaRPr sz="1050" u="none" cap="none" strike="noStrike">
                        <a:latin typeface="Calibri"/>
                        <a:ea typeface="Calibri"/>
                        <a:cs typeface="Calibri"/>
                        <a:sym typeface="Calibri"/>
                      </a:endParaRPr>
                    </a:p>
                  </a:txBody>
                  <a:tcPr marT="64000" marB="64000" marR="64000" marL="64000" anchor="ctr">
                    <a:lnL cap="flat" cmpd="sng" w="9525">
                      <a:solidFill>
                        <a:srgbClr val="D9E2EA"/>
                      </a:solidFill>
                      <a:prstDash val="solid"/>
                      <a:round/>
                      <a:headEnd len="sm" w="sm" type="none"/>
                      <a:tailEnd len="sm" w="sm" type="none"/>
                    </a:lnL>
                    <a:lnR cap="flat" cmpd="sng" w="9525">
                      <a:solidFill>
                        <a:srgbClr val="D9E2EA"/>
                      </a:solidFill>
                      <a:prstDash val="solid"/>
                      <a:round/>
                      <a:headEnd len="sm" w="sm" type="none"/>
                      <a:tailEnd len="sm" w="sm" type="none"/>
                    </a:lnR>
                    <a:lnT cap="flat" cmpd="sng" w="9525">
                      <a:solidFill>
                        <a:srgbClr val="D9E2EA"/>
                      </a:solidFill>
                      <a:prstDash val="solid"/>
                      <a:round/>
                      <a:headEnd len="sm" w="sm" type="none"/>
                      <a:tailEnd len="sm" w="sm" type="none"/>
                    </a:lnT>
                    <a:lnB cap="flat" cmpd="sng" w="9525">
                      <a:solidFill>
                        <a:srgbClr val="D9E2EA"/>
                      </a:solidFill>
                      <a:prstDash val="solid"/>
                      <a:round/>
                      <a:headEnd len="sm" w="sm" type="none"/>
                      <a:tailEnd len="sm" w="sm" type="none"/>
                    </a:lnB>
                    <a:solidFill>
                      <a:srgbClr val="FFFFFF"/>
                    </a:solidFill>
                  </a:tcPr>
                </a:tc>
              </a:tr>
              <a:tr h="696250">
                <a:tc>
                  <a:txBody>
                    <a:bodyPr/>
                    <a:lstStyle/>
                    <a:p>
                      <a:pPr indent="0" lvl="0" marL="0" marR="0" rtl="0" algn="l">
                        <a:spcBef>
                          <a:spcPts val="0"/>
                        </a:spcBef>
                        <a:spcAft>
                          <a:spcPts val="0"/>
                        </a:spcAft>
                        <a:buClr>
                          <a:srgbClr val="1D2A5C"/>
                        </a:buClr>
                        <a:buSzPts val="1050"/>
                        <a:buFont typeface="Calibri"/>
                        <a:buNone/>
                      </a:pPr>
                      <a:r>
                        <a:rPr b="1" lang="en-US" sz="1050" u="none" cap="none" strike="noStrike">
                          <a:solidFill>
                            <a:srgbClr val="1D2A5C"/>
                          </a:solidFill>
                          <a:latin typeface="Calibri"/>
                          <a:ea typeface="Calibri"/>
                          <a:cs typeface="Calibri"/>
                          <a:sym typeface="Calibri"/>
                        </a:rPr>
                        <a:t>Comparing across different splits</a:t>
                      </a:r>
                      <a:endParaRPr sz="1050" u="none" cap="none" strike="noStrike">
                        <a:latin typeface="Calibri"/>
                        <a:ea typeface="Calibri"/>
                        <a:cs typeface="Calibri"/>
                        <a:sym typeface="Calibri"/>
                      </a:endParaRPr>
                    </a:p>
                  </a:txBody>
                  <a:tcPr marT="64000" marB="64000" marR="64000" marL="64000" anchor="ctr">
                    <a:lnL cap="flat" cmpd="sng" w="9525">
                      <a:solidFill>
                        <a:srgbClr val="D9E2EA"/>
                      </a:solidFill>
                      <a:prstDash val="solid"/>
                      <a:round/>
                      <a:headEnd len="sm" w="sm" type="none"/>
                      <a:tailEnd len="sm" w="sm" type="none"/>
                    </a:lnL>
                    <a:lnR cap="flat" cmpd="sng" w="9525">
                      <a:solidFill>
                        <a:srgbClr val="D9E2EA"/>
                      </a:solidFill>
                      <a:prstDash val="solid"/>
                      <a:round/>
                      <a:headEnd len="sm" w="sm" type="none"/>
                      <a:tailEnd len="sm" w="sm" type="none"/>
                    </a:lnR>
                    <a:lnT cap="flat" cmpd="sng" w="9525">
                      <a:solidFill>
                        <a:srgbClr val="D9E2EA"/>
                      </a:solidFill>
                      <a:prstDash val="solid"/>
                      <a:round/>
                      <a:headEnd len="sm" w="sm" type="none"/>
                      <a:tailEnd len="sm" w="sm" type="none"/>
                    </a:lnT>
                    <a:lnB cap="flat" cmpd="sng" w="9525">
                      <a:solidFill>
                        <a:srgbClr val="D9E2EA"/>
                      </a:solidFill>
                      <a:prstDash val="solid"/>
                      <a:round/>
                      <a:headEnd len="sm" w="sm" type="none"/>
                      <a:tailEnd len="sm" w="sm" type="none"/>
                    </a:lnB>
                    <a:solidFill>
                      <a:srgbClr val="F2F6F9"/>
                    </a:solidFill>
                  </a:tcPr>
                </a:tc>
                <a:tc>
                  <a:txBody>
                    <a:bodyPr/>
                    <a:lstStyle/>
                    <a:p>
                      <a:pPr indent="0" lvl="0" marL="0" marR="0" rtl="0" algn="l">
                        <a:spcBef>
                          <a:spcPts val="0"/>
                        </a:spcBef>
                        <a:spcAft>
                          <a:spcPts val="0"/>
                        </a:spcAft>
                        <a:buClr>
                          <a:srgbClr val="23293B"/>
                        </a:buClr>
                        <a:buSzPts val="1050"/>
                        <a:buFont typeface="Calibri"/>
                        <a:buNone/>
                      </a:pPr>
                      <a:r>
                        <a:rPr lang="en-US" sz="1050" u="none" cap="none" strike="noStrike">
                          <a:solidFill>
                            <a:srgbClr val="23293B"/>
                          </a:solidFill>
                          <a:latin typeface="Calibri"/>
                          <a:ea typeface="Calibri"/>
                          <a:cs typeface="Calibri"/>
                          <a:sym typeface="Calibri"/>
                        </a:rPr>
                        <a:t>number moved because the exam changed</a:t>
                      </a:r>
                      <a:endParaRPr sz="1050" u="none" cap="none" strike="noStrike">
                        <a:latin typeface="Calibri"/>
                        <a:ea typeface="Calibri"/>
                        <a:cs typeface="Calibri"/>
                        <a:sym typeface="Calibri"/>
                      </a:endParaRPr>
                    </a:p>
                  </a:txBody>
                  <a:tcPr marT="64000" marB="64000" marR="64000" marL="64000" anchor="ctr">
                    <a:lnL cap="flat" cmpd="sng" w="9525">
                      <a:solidFill>
                        <a:srgbClr val="D9E2EA"/>
                      </a:solidFill>
                      <a:prstDash val="solid"/>
                      <a:round/>
                      <a:headEnd len="sm" w="sm" type="none"/>
                      <a:tailEnd len="sm" w="sm" type="none"/>
                    </a:lnL>
                    <a:lnR cap="flat" cmpd="sng" w="9525">
                      <a:solidFill>
                        <a:srgbClr val="D9E2EA"/>
                      </a:solidFill>
                      <a:prstDash val="solid"/>
                      <a:round/>
                      <a:headEnd len="sm" w="sm" type="none"/>
                      <a:tailEnd len="sm" w="sm" type="none"/>
                    </a:lnR>
                    <a:lnT cap="flat" cmpd="sng" w="9525">
                      <a:solidFill>
                        <a:srgbClr val="D9E2EA"/>
                      </a:solidFill>
                      <a:prstDash val="solid"/>
                      <a:round/>
                      <a:headEnd len="sm" w="sm" type="none"/>
                      <a:tailEnd len="sm" w="sm" type="none"/>
                    </a:lnT>
                    <a:lnB cap="flat" cmpd="sng" w="9525">
                      <a:solidFill>
                        <a:srgbClr val="D9E2EA"/>
                      </a:solidFill>
                      <a:prstDash val="solid"/>
                      <a:round/>
                      <a:headEnd len="sm" w="sm" type="none"/>
                      <a:tailEnd len="sm" w="sm" type="none"/>
                    </a:lnB>
                    <a:solidFill>
                      <a:srgbClr val="F2F6F9"/>
                    </a:solidFill>
                  </a:tcPr>
                </a:tc>
                <a:tc>
                  <a:txBody>
                    <a:bodyPr/>
                    <a:lstStyle/>
                    <a:p>
                      <a:pPr indent="0" lvl="0" marL="0" marR="0" rtl="0" algn="l">
                        <a:spcBef>
                          <a:spcPts val="0"/>
                        </a:spcBef>
                        <a:spcAft>
                          <a:spcPts val="0"/>
                        </a:spcAft>
                        <a:buClr>
                          <a:srgbClr val="23293B"/>
                        </a:buClr>
                        <a:buSzPts val="1050"/>
                        <a:buFont typeface="Calibri"/>
                        <a:buNone/>
                      </a:pPr>
                      <a:r>
                        <a:rPr lang="en-US" sz="1050" u="none" cap="none" strike="noStrike">
                          <a:solidFill>
                            <a:srgbClr val="23293B"/>
                          </a:solidFill>
                          <a:latin typeface="Calibri"/>
                          <a:ea typeface="Calibri"/>
                          <a:cs typeface="Calibri"/>
                          <a:sym typeface="Calibri"/>
                        </a:rPr>
                        <a:t>frozen splits or silence</a:t>
                      </a:r>
                      <a:endParaRPr sz="1050" u="none" cap="none" strike="noStrike">
                        <a:latin typeface="Calibri"/>
                        <a:ea typeface="Calibri"/>
                        <a:cs typeface="Calibri"/>
                        <a:sym typeface="Calibri"/>
                      </a:endParaRPr>
                    </a:p>
                  </a:txBody>
                  <a:tcPr marT="64000" marB="64000" marR="64000" marL="64000" anchor="ctr">
                    <a:lnL cap="flat" cmpd="sng" w="9525">
                      <a:solidFill>
                        <a:srgbClr val="D9E2EA"/>
                      </a:solidFill>
                      <a:prstDash val="solid"/>
                      <a:round/>
                      <a:headEnd len="sm" w="sm" type="none"/>
                      <a:tailEnd len="sm" w="sm" type="none"/>
                    </a:lnL>
                    <a:lnR cap="flat" cmpd="sng" w="9525">
                      <a:solidFill>
                        <a:srgbClr val="D9E2EA"/>
                      </a:solidFill>
                      <a:prstDash val="solid"/>
                      <a:round/>
                      <a:headEnd len="sm" w="sm" type="none"/>
                      <a:tailEnd len="sm" w="sm" type="none"/>
                    </a:lnR>
                    <a:lnT cap="flat" cmpd="sng" w="9525">
                      <a:solidFill>
                        <a:srgbClr val="D9E2EA"/>
                      </a:solidFill>
                      <a:prstDash val="solid"/>
                      <a:round/>
                      <a:headEnd len="sm" w="sm" type="none"/>
                      <a:tailEnd len="sm" w="sm" type="none"/>
                    </a:lnT>
                    <a:lnB cap="flat" cmpd="sng" w="9525">
                      <a:solidFill>
                        <a:srgbClr val="D9E2EA"/>
                      </a:solidFill>
                      <a:prstDash val="solid"/>
                      <a:round/>
                      <a:headEnd len="sm" w="sm" type="none"/>
                      <a:tailEnd len="sm" w="sm" type="none"/>
                    </a:lnB>
                    <a:solidFill>
                      <a:srgbClr val="F2F6F9"/>
                    </a:solidFill>
                  </a:tcPr>
                </a:tc>
              </a:tr>
              <a:tr h="696250">
                <a:tc>
                  <a:txBody>
                    <a:bodyPr/>
                    <a:lstStyle/>
                    <a:p>
                      <a:pPr indent="0" lvl="0" marL="0" marR="0" rtl="0" algn="l">
                        <a:spcBef>
                          <a:spcPts val="0"/>
                        </a:spcBef>
                        <a:spcAft>
                          <a:spcPts val="0"/>
                        </a:spcAft>
                        <a:buClr>
                          <a:srgbClr val="1D2A5C"/>
                        </a:buClr>
                        <a:buSzPts val="1050"/>
                        <a:buFont typeface="Calibri"/>
                        <a:buNone/>
                      </a:pPr>
                      <a:r>
                        <a:rPr b="1" lang="en-US" sz="1050" u="none" cap="none" strike="noStrike">
                          <a:solidFill>
                            <a:srgbClr val="1D2A5C"/>
                          </a:solidFill>
                          <a:latin typeface="Calibri"/>
                          <a:ea typeface="Calibri"/>
                          <a:cs typeface="Calibri"/>
                          <a:sym typeface="Calibri"/>
                        </a:rPr>
                        <a:t>Slicing after peeking</a:t>
                      </a:r>
                      <a:endParaRPr sz="1050" u="none" cap="none" strike="noStrike">
                        <a:latin typeface="Calibri"/>
                        <a:ea typeface="Calibri"/>
                        <a:cs typeface="Calibri"/>
                        <a:sym typeface="Calibri"/>
                      </a:endParaRPr>
                    </a:p>
                  </a:txBody>
                  <a:tcPr marT="64000" marB="64000" marR="64000" marL="64000" anchor="ctr">
                    <a:lnL cap="flat" cmpd="sng" w="9525">
                      <a:solidFill>
                        <a:srgbClr val="D9E2EA"/>
                      </a:solidFill>
                      <a:prstDash val="solid"/>
                      <a:round/>
                      <a:headEnd len="sm" w="sm" type="none"/>
                      <a:tailEnd len="sm" w="sm" type="none"/>
                    </a:lnL>
                    <a:lnR cap="flat" cmpd="sng" w="9525">
                      <a:solidFill>
                        <a:srgbClr val="D9E2EA"/>
                      </a:solidFill>
                      <a:prstDash val="solid"/>
                      <a:round/>
                      <a:headEnd len="sm" w="sm" type="none"/>
                      <a:tailEnd len="sm" w="sm" type="none"/>
                    </a:lnR>
                    <a:lnT cap="flat" cmpd="sng" w="9525">
                      <a:solidFill>
                        <a:srgbClr val="D9E2EA"/>
                      </a:solidFill>
                      <a:prstDash val="solid"/>
                      <a:round/>
                      <a:headEnd len="sm" w="sm" type="none"/>
                      <a:tailEnd len="sm" w="sm" type="none"/>
                    </a:lnT>
                    <a:lnB cap="flat" cmpd="sng" w="9525">
                      <a:solidFill>
                        <a:srgbClr val="D9E2EA"/>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23293B"/>
                        </a:buClr>
                        <a:buSzPts val="1050"/>
                        <a:buFont typeface="Calibri"/>
                        <a:buNone/>
                      </a:pPr>
                      <a:r>
                        <a:rPr lang="en-US" sz="1050" u="none" cap="none" strike="noStrike">
                          <a:solidFill>
                            <a:srgbClr val="23293B"/>
                          </a:solidFill>
                          <a:latin typeface="Calibri"/>
                          <a:ea typeface="Calibri"/>
                          <a:cs typeface="Calibri"/>
                          <a:sym typeface="Calibri"/>
                        </a:rPr>
                        <a:t>false discoveries 'explain' the result</a:t>
                      </a:r>
                      <a:endParaRPr sz="1050" u="none" cap="none" strike="noStrike">
                        <a:latin typeface="Calibri"/>
                        <a:ea typeface="Calibri"/>
                        <a:cs typeface="Calibri"/>
                        <a:sym typeface="Calibri"/>
                      </a:endParaRPr>
                    </a:p>
                  </a:txBody>
                  <a:tcPr marT="64000" marB="64000" marR="64000" marL="64000" anchor="ctr">
                    <a:lnL cap="flat" cmpd="sng" w="9525">
                      <a:solidFill>
                        <a:srgbClr val="D9E2EA"/>
                      </a:solidFill>
                      <a:prstDash val="solid"/>
                      <a:round/>
                      <a:headEnd len="sm" w="sm" type="none"/>
                      <a:tailEnd len="sm" w="sm" type="none"/>
                    </a:lnL>
                    <a:lnR cap="flat" cmpd="sng" w="9525">
                      <a:solidFill>
                        <a:srgbClr val="D9E2EA"/>
                      </a:solidFill>
                      <a:prstDash val="solid"/>
                      <a:round/>
                      <a:headEnd len="sm" w="sm" type="none"/>
                      <a:tailEnd len="sm" w="sm" type="none"/>
                    </a:lnR>
                    <a:lnT cap="flat" cmpd="sng" w="9525">
                      <a:solidFill>
                        <a:srgbClr val="D9E2EA"/>
                      </a:solidFill>
                      <a:prstDash val="solid"/>
                      <a:round/>
                      <a:headEnd len="sm" w="sm" type="none"/>
                      <a:tailEnd len="sm" w="sm" type="none"/>
                    </a:lnT>
                    <a:lnB cap="flat" cmpd="sng" w="9525">
                      <a:solidFill>
                        <a:srgbClr val="D9E2EA"/>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23293B"/>
                        </a:buClr>
                        <a:buSzPts val="1050"/>
                        <a:buFont typeface="Calibri"/>
                        <a:buNone/>
                      </a:pPr>
                      <a:r>
                        <a:rPr lang="en-US" sz="1050" u="none" cap="none" strike="noStrike">
                          <a:solidFill>
                            <a:srgbClr val="23293B"/>
                          </a:solidFill>
                          <a:latin typeface="Calibri"/>
                          <a:ea typeface="Calibri"/>
                          <a:cs typeface="Calibri"/>
                          <a:sym typeface="Calibri"/>
                        </a:rPr>
                        <a:t>declare the taxonomy before the run</a:t>
                      </a:r>
                      <a:endParaRPr sz="1050" u="none" cap="none" strike="noStrike">
                        <a:latin typeface="Calibri"/>
                        <a:ea typeface="Calibri"/>
                        <a:cs typeface="Calibri"/>
                        <a:sym typeface="Calibri"/>
                      </a:endParaRPr>
                    </a:p>
                  </a:txBody>
                  <a:tcPr marT="64000" marB="64000" marR="64000" marL="64000" anchor="ctr">
                    <a:lnL cap="flat" cmpd="sng" w="9525">
                      <a:solidFill>
                        <a:srgbClr val="D9E2EA"/>
                      </a:solidFill>
                      <a:prstDash val="solid"/>
                      <a:round/>
                      <a:headEnd len="sm" w="sm" type="none"/>
                      <a:tailEnd len="sm" w="sm" type="none"/>
                    </a:lnL>
                    <a:lnR cap="flat" cmpd="sng" w="9525">
                      <a:solidFill>
                        <a:srgbClr val="D9E2EA"/>
                      </a:solidFill>
                      <a:prstDash val="solid"/>
                      <a:round/>
                      <a:headEnd len="sm" w="sm" type="none"/>
                      <a:tailEnd len="sm" w="sm" type="none"/>
                    </a:lnR>
                    <a:lnT cap="flat" cmpd="sng" w="9525">
                      <a:solidFill>
                        <a:srgbClr val="D9E2EA"/>
                      </a:solidFill>
                      <a:prstDash val="solid"/>
                      <a:round/>
                      <a:headEnd len="sm" w="sm" type="none"/>
                      <a:tailEnd len="sm" w="sm" type="none"/>
                    </a:lnT>
                    <a:lnB cap="flat" cmpd="sng" w="9525">
                      <a:solidFill>
                        <a:srgbClr val="D9E2EA"/>
                      </a:solidFill>
                      <a:prstDash val="solid"/>
                      <a:round/>
                      <a:headEnd len="sm" w="sm" type="none"/>
                      <a:tailEnd len="sm" w="sm" type="none"/>
                    </a:lnB>
                    <a:solidFill>
                      <a:srgbClr val="FFFFFF"/>
                    </a:solidFill>
                  </a:tcPr>
                </a:tc>
              </a:tr>
              <a:tr h="696250">
                <a:tc>
                  <a:txBody>
                    <a:bodyPr/>
                    <a:lstStyle/>
                    <a:p>
                      <a:pPr indent="0" lvl="0" marL="0" marR="0" rtl="0" algn="l">
                        <a:spcBef>
                          <a:spcPts val="0"/>
                        </a:spcBef>
                        <a:spcAft>
                          <a:spcPts val="0"/>
                        </a:spcAft>
                        <a:buClr>
                          <a:srgbClr val="1D2A5C"/>
                        </a:buClr>
                        <a:buSzPts val="1050"/>
                        <a:buFont typeface="Calibri"/>
                        <a:buNone/>
                      </a:pPr>
                      <a:r>
                        <a:rPr b="1" lang="en-US" sz="1050" u="none" cap="none" strike="noStrike">
                          <a:solidFill>
                            <a:srgbClr val="1D2A5C"/>
                          </a:solidFill>
                          <a:latin typeface="Calibri"/>
                          <a:ea typeface="Calibri"/>
                          <a:cs typeface="Calibri"/>
                          <a:sym typeface="Calibri"/>
                        </a:rPr>
                        <a:t>Ignoring n on slices</a:t>
                      </a:r>
                      <a:endParaRPr sz="1050" u="none" cap="none" strike="noStrike">
                        <a:latin typeface="Calibri"/>
                        <a:ea typeface="Calibri"/>
                        <a:cs typeface="Calibri"/>
                        <a:sym typeface="Calibri"/>
                      </a:endParaRPr>
                    </a:p>
                  </a:txBody>
                  <a:tcPr marT="64000" marB="64000" marR="64000" marL="64000" anchor="ctr">
                    <a:lnL cap="flat" cmpd="sng" w="9525">
                      <a:solidFill>
                        <a:srgbClr val="D9E2EA"/>
                      </a:solidFill>
                      <a:prstDash val="solid"/>
                      <a:round/>
                      <a:headEnd len="sm" w="sm" type="none"/>
                      <a:tailEnd len="sm" w="sm" type="none"/>
                    </a:lnL>
                    <a:lnR cap="flat" cmpd="sng" w="9525">
                      <a:solidFill>
                        <a:srgbClr val="D9E2EA"/>
                      </a:solidFill>
                      <a:prstDash val="solid"/>
                      <a:round/>
                      <a:headEnd len="sm" w="sm" type="none"/>
                      <a:tailEnd len="sm" w="sm" type="none"/>
                    </a:lnR>
                    <a:lnT cap="flat" cmpd="sng" w="9525">
                      <a:solidFill>
                        <a:srgbClr val="D9E2EA"/>
                      </a:solidFill>
                      <a:prstDash val="solid"/>
                      <a:round/>
                      <a:headEnd len="sm" w="sm" type="none"/>
                      <a:tailEnd len="sm" w="sm" type="none"/>
                    </a:lnT>
                    <a:lnB cap="flat" cmpd="sng" w="9525">
                      <a:solidFill>
                        <a:srgbClr val="D9E2EA"/>
                      </a:solidFill>
                      <a:prstDash val="solid"/>
                      <a:round/>
                      <a:headEnd len="sm" w="sm" type="none"/>
                      <a:tailEnd len="sm" w="sm" type="none"/>
                    </a:lnB>
                    <a:solidFill>
                      <a:srgbClr val="F2F6F9"/>
                    </a:solidFill>
                  </a:tcPr>
                </a:tc>
                <a:tc>
                  <a:txBody>
                    <a:bodyPr/>
                    <a:lstStyle/>
                    <a:p>
                      <a:pPr indent="0" lvl="0" marL="0" marR="0" rtl="0" algn="l">
                        <a:spcBef>
                          <a:spcPts val="0"/>
                        </a:spcBef>
                        <a:spcAft>
                          <a:spcPts val="0"/>
                        </a:spcAft>
                        <a:buClr>
                          <a:srgbClr val="23293B"/>
                        </a:buClr>
                        <a:buSzPts val="1050"/>
                        <a:buFont typeface="Calibri"/>
                        <a:buNone/>
                      </a:pPr>
                      <a:r>
                        <a:rPr lang="en-US" sz="1050" u="none" cap="none" strike="noStrike">
                          <a:solidFill>
                            <a:srgbClr val="23293B"/>
                          </a:solidFill>
                          <a:latin typeface="Calibri"/>
                          <a:ea typeface="Calibri"/>
                          <a:cs typeface="Calibri"/>
                          <a:sym typeface="Calibri"/>
                        </a:rPr>
                        <a:t>small-slice panic drives bad retrains</a:t>
                      </a:r>
                      <a:endParaRPr sz="1050" u="none" cap="none" strike="noStrike">
                        <a:latin typeface="Calibri"/>
                        <a:ea typeface="Calibri"/>
                        <a:cs typeface="Calibri"/>
                        <a:sym typeface="Calibri"/>
                      </a:endParaRPr>
                    </a:p>
                  </a:txBody>
                  <a:tcPr marT="64000" marB="64000" marR="64000" marL="64000" anchor="ctr">
                    <a:lnL cap="flat" cmpd="sng" w="9525">
                      <a:solidFill>
                        <a:srgbClr val="D9E2EA"/>
                      </a:solidFill>
                      <a:prstDash val="solid"/>
                      <a:round/>
                      <a:headEnd len="sm" w="sm" type="none"/>
                      <a:tailEnd len="sm" w="sm" type="none"/>
                    </a:lnL>
                    <a:lnR cap="flat" cmpd="sng" w="9525">
                      <a:solidFill>
                        <a:srgbClr val="D9E2EA"/>
                      </a:solidFill>
                      <a:prstDash val="solid"/>
                      <a:round/>
                      <a:headEnd len="sm" w="sm" type="none"/>
                      <a:tailEnd len="sm" w="sm" type="none"/>
                    </a:lnR>
                    <a:lnT cap="flat" cmpd="sng" w="9525">
                      <a:solidFill>
                        <a:srgbClr val="D9E2EA"/>
                      </a:solidFill>
                      <a:prstDash val="solid"/>
                      <a:round/>
                      <a:headEnd len="sm" w="sm" type="none"/>
                      <a:tailEnd len="sm" w="sm" type="none"/>
                    </a:lnT>
                    <a:lnB cap="flat" cmpd="sng" w="9525">
                      <a:solidFill>
                        <a:srgbClr val="D9E2EA"/>
                      </a:solidFill>
                      <a:prstDash val="solid"/>
                      <a:round/>
                      <a:headEnd len="sm" w="sm" type="none"/>
                      <a:tailEnd len="sm" w="sm" type="none"/>
                    </a:lnB>
                    <a:solidFill>
                      <a:srgbClr val="F2F6F9"/>
                    </a:solidFill>
                  </a:tcPr>
                </a:tc>
                <a:tc>
                  <a:txBody>
                    <a:bodyPr/>
                    <a:lstStyle/>
                    <a:p>
                      <a:pPr indent="0" lvl="0" marL="0" marR="0" rtl="0" algn="l">
                        <a:spcBef>
                          <a:spcPts val="0"/>
                        </a:spcBef>
                        <a:spcAft>
                          <a:spcPts val="0"/>
                        </a:spcAft>
                        <a:buClr>
                          <a:srgbClr val="23293B"/>
                        </a:buClr>
                        <a:buSzPts val="1050"/>
                        <a:buFont typeface="Calibri"/>
                        <a:buNone/>
                      </a:pPr>
                      <a:r>
                        <a:rPr lang="en-US" sz="1050" u="none" cap="none" strike="noStrike">
                          <a:solidFill>
                            <a:srgbClr val="23293B"/>
                          </a:solidFill>
                          <a:latin typeface="Calibri"/>
                          <a:ea typeface="Calibri"/>
                          <a:cs typeface="Calibri"/>
                          <a:sym typeface="Calibri"/>
                        </a:rPr>
                        <a:t>grey out under-powered slices</a:t>
                      </a:r>
                      <a:endParaRPr sz="1050" u="none" cap="none" strike="noStrike">
                        <a:latin typeface="Calibri"/>
                        <a:ea typeface="Calibri"/>
                        <a:cs typeface="Calibri"/>
                        <a:sym typeface="Calibri"/>
                      </a:endParaRPr>
                    </a:p>
                  </a:txBody>
                  <a:tcPr marT="64000" marB="64000" marR="64000" marL="64000" anchor="ctr">
                    <a:lnL cap="flat" cmpd="sng" w="9525">
                      <a:solidFill>
                        <a:srgbClr val="D9E2EA"/>
                      </a:solidFill>
                      <a:prstDash val="solid"/>
                      <a:round/>
                      <a:headEnd len="sm" w="sm" type="none"/>
                      <a:tailEnd len="sm" w="sm" type="none"/>
                    </a:lnL>
                    <a:lnR cap="flat" cmpd="sng" w="9525">
                      <a:solidFill>
                        <a:srgbClr val="D9E2EA"/>
                      </a:solidFill>
                      <a:prstDash val="solid"/>
                      <a:round/>
                      <a:headEnd len="sm" w="sm" type="none"/>
                      <a:tailEnd len="sm" w="sm" type="none"/>
                    </a:lnR>
                    <a:lnT cap="flat" cmpd="sng" w="9525">
                      <a:solidFill>
                        <a:srgbClr val="D9E2EA"/>
                      </a:solidFill>
                      <a:prstDash val="solid"/>
                      <a:round/>
                      <a:headEnd len="sm" w="sm" type="none"/>
                      <a:tailEnd len="sm" w="sm" type="none"/>
                    </a:lnT>
                    <a:lnB cap="flat" cmpd="sng" w="9525">
                      <a:solidFill>
                        <a:srgbClr val="D9E2EA"/>
                      </a:solidFill>
                      <a:prstDash val="solid"/>
                      <a:round/>
                      <a:headEnd len="sm" w="sm" type="none"/>
                      <a:tailEnd len="sm" w="sm" type="none"/>
                    </a:lnB>
                    <a:solidFill>
                      <a:srgbClr val="F2F6F9"/>
                    </a:solidFill>
                  </a:tcPr>
                </a:tc>
              </a:tr>
              <a:tr h="696250">
                <a:tc>
                  <a:txBody>
                    <a:bodyPr/>
                    <a:lstStyle/>
                    <a:p>
                      <a:pPr indent="0" lvl="0" marL="0" marR="0" rtl="0" algn="l">
                        <a:spcBef>
                          <a:spcPts val="0"/>
                        </a:spcBef>
                        <a:spcAft>
                          <a:spcPts val="0"/>
                        </a:spcAft>
                        <a:buClr>
                          <a:srgbClr val="1D2A5C"/>
                        </a:buClr>
                        <a:buSzPts val="1050"/>
                        <a:buFont typeface="Calibri"/>
                        <a:buNone/>
                      </a:pPr>
                      <a:r>
                        <a:rPr b="1" lang="en-US" sz="1050" u="none" cap="none" strike="noStrike">
                          <a:solidFill>
                            <a:srgbClr val="1D2A5C"/>
                          </a:solidFill>
                          <a:latin typeface="Calibri"/>
                          <a:ea typeface="Calibri"/>
                          <a:cs typeface="Calibri"/>
                          <a:sym typeface="Calibri"/>
                        </a:rPr>
                        <a:t>Averaging away class imbalance</a:t>
                      </a:r>
                      <a:endParaRPr sz="1050" u="none" cap="none" strike="noStrike">
                        <a:latin typeface="Calibri"/>
                        <a:ea typeface="Calibri"/>
                        <a:cs typeface="Calibri"/>
                        <a:sym typeface="Calibri"/>
                      </a:endParaRPr>
                    </a:p>
                  </a:txBody>
                  <a:tcPr marT="64000" marB="64000" marR="64000" marL="64000" anchor="ctr">
                    <a:lnL cap="flat" cmpd="sng" w="9525">
                      <a:solidFill>
                        <a:srgbClr val="D9E2EA"/>
                      </a:solidFill>
                      <a:prstDash val="solid"/>
                      <a:round/>
                      <a:headEnd len="sm" w="sm" type="none"/>
                      <a:tailEnd len="sm" w="sm" type="none"/>
                    </a:lnL>
                    <a:lnR cap="flat" cmpd="sng" w="9525">
                      <a:solidFill>
                        <a:srgbClr val="D9E2EA"/>
                      </a:solidFill>
                      <a:prstDash val="solid"/>
                      <a:round/>
                      <a:headEnd len="sm" w="sm" type="none"/>
                      <a:tailEnd len="sm" w="sm" type="none"/>
                    </a:lnR>
                    <a:lnT cap="flat" cmpd="sng" w="9525">
                      <a:solidFill>
                        <a:srgbClr val="D9E2EA"/>
                      </a:solidFill>
                      <a:prstDash val="solid"/>
                      <a:round/>
                      <a:headEnd len="sm" w="sm" type="none"/>
                      <a:tailEnd len="sm" w="sm" type="none"/>
                    </a:lnT>
                    <a:lnB cap="flat" cmpd="sng" w="9525">
                      <a:solidFill>
                        <a:srgbClr val="D9E2EA"/>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23293B"/>
                        </a:buClr>
                        <a:buSzPts val="1050"/>
                        <a:buFont typeface="Calibri"/>
                        <a:buNone/>
                      </a:pPr>
                      <a:r>
                        <a:rPr lang="en-US" sz="1050" u="none" cap="none" strike="noStrike">
                          <a:solidFill>
                            <a:srgbClr val="23293B"/>
                          </a:solidFill>
                          <a:latin typeface="Calibri"/>
                          <a:ea typeface="Calibri"/>
                          <a:cs typeface="Calibri"/>
                          <a:sym typeface="Calibri"/>
                        </a:rPr>
                        <a:t>foreign_object weighs same as mould</a:t>
                      </a:r>
                      <a:endParaRPr sz="1050" u="none" cap="none" strike="noStrike">
                        <a:latin typeface="Calibri"/>
                        <a:ea typeface="Calibri"/>
                        <a:cs typeface="Calibri"/>
                        <a:sym typeface="Calibri"/>
                      </a:endParaRPr>
                    </a:p>
                  </a:txBody>
                  <a:tcPr marT="64000" marB="64000" marR="64000" marL="64000" anchor="ctr">
                    <a:lnL cap="flat" cmpd="sng" w="9525">
                      <a:solidFill>
                        <a:srgbClr val="D9E2EA"/>
                      </a:solidFill>
                      <a:prstDash val="solid"/>
                      <a:round/>
                      <a:headEnd len="sm" w="sm" type="none"/>
                      <a:tailEnd len="sm" w="sm" type="none"/>
                    </a:lnL>
                    <a:lnR cap="flat" cmpd="sng" w="9525">
                      <a:solidFill>
                        <a:srgbClr val="D9E2EA"/>
                      </a:solidFill>
                      <a:prstDash val="solid"/>
                      <a:round/>
                      <a:headEnd len="sm" w="sm" type="none"/>
                      <a:tailEnd len="sm" w="sm" type="none"/>
                    </a:lnR>
                    <a:lnT cap="flat" cmpd="sng" w="9525">
                      <a:solidFill>
                        <a:srgbClr val="D9E2EA"/>
                      </a:solidFill>
                      <a:prstDash val="solid"/>
                      <a:round/>
                      <a:headEnd len="sm" w="sm" type="none"/>
                      <a:tailEnd len="sm" w="sm" type="none"/>
                    </a:lnT>
                    <a:lnB cap="flat" cmpd="sng" w="9525">
                      <a:solidFill>
                        <a:srgbClr val="D9E2EA"/>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23293B"/>
                        </a:buClr>
                        <a:buSzPts val="1050"/>
                        <a:buFont typeface="Calibri"/>
                        <a:buNone/>
                      </a:pPr>
                      <a:r>
                        <a:rPr lang="en-US" sz="1050" u="none" cap="none" strike="noStrike">
                          <a:solidFill>
                            <a:srgbClr val="23293B"/>
                          </a:solidFill>
                          <a:latin typeface="Calibri"/>
                          <a:ea typeface="Calibri"/>
                          <a:cs typeface="Calibri"/>
                          <a:sym typeface="Calibri"/>
                        </a:rPr>
                        <a:t>per-class always; weighted row documented</a:t>
                      </a:r>
                      <a:endParaRPr sz="1050" u="none" cap="none" strike="noStrike">
                        <a:latin typeface="Calibri"/>
                        <a:ea typeface="Calibri"/>
                        <a:cs typeface="Calibri"/>
                        <a:sym typeface="Calibri"/>
                      </a:endParaRPr>
                    </a:p>
                  </a:txBody>
                  <a:tcPr marT="64000" marB="64000" marR="64000" marL="64000" anchor="ctr">
                    <a:lnL cap="flat" cmpd="sng" w="9525">
                      <a:solidFill>
                        <a:srgbClr val="D9E2EA"/>
                      </a:solidFill>
                      <a:prstDash val="solid"/>
                      <a:round/>
                      <a:headEnd len="sm" w="sm" type="none"/>
                      <a:tailEnd len="sm" w="sm" type="none"/>
                    </a:lnL>
                    <a:lnR cap="flat" cmpd="sng" w="9525">
                      <a:solidFill>
                        <a:srgbClr val="D9E2EA"/>
                      </a:solidFill>
                      <a:prstDash val="solid"/>
                      <a:round/>
                      <a:headEnd len="sm" w="sm" type="none"/>
                      <a:tailEnd len="sm" w="sm" type="none"/>
                    </a:lnR>
                    <a:lnT cap="flat" cmpd="sng" w="9525">
                      <a:solidFill>
                        <a:srgbClr val="D9E2EA"/>
                      </a:solidFill>
                      <a:prstDash val="solid"/>
                      <a:round/>
                      <a:headEnd len="sm" w="sm" type="none"/>
                      <a:tailEnd len="sm" w="sm" type="none"/>
                    </a:lnT>
                    <a:lnB cap="flat" cmpd="sng" w="9525">
                      <a:solidFill>
                        <a:srgbClr val="D9E2EA"/>
                      </a:solidFill>
                      <a:prstDash val="solid"/>
                      <a:round/>
                      <a:headEnd len="sm" w="sm" type="none"/>
                      <a:tailEnd len="sm" w="sm" type="none"/>
                    </a:lnB>
                    <a:solidFill>
                      <a:srgbClr val="FFFFFF"/>
                    </a:solidFill>
                  </a:tcPr>
                </a:tc>
              </a:tr>
              <a:tr h="696250">
                <a:tc>
                  <a:txBody>
                    <a:bodyPr/>
                    <a:lstStyle/>
                    <a:p>
                      <a:pPr indent="0" lvl="0" marL="0" marR="0" rtl="0" algn="l">
                        <a:spcBef>
                          <a:spcPts val="0"/>
                        </a:spcBef>
                        <a:spcAft>
                          <a:spcPts val="0"/>
                        </a:spcAft>
                        <a:buClr>
                          <a:srgbClr val="1D2A5C"/>
                        </a:buClr>
                        <a:buSzPts val="1050"/>
                        <a:buFont typeface="Calibri"/>
                        <a:buNone/>
                      </a:pPr>
                      <a:r>
                        <a:rPr b="1" lang="en-US" sz="1050" u="none" cap="none" strike="noStrike">
                          <a:solidFill>
                            <a:srgbClr val="1D2A5C"/>
                          </a:solidFill>
                          <a:latin typeface="Calibri"/>
                          <a:ea typeface="Calibri"/>
                          <a:cs typeface="Calibri"/>
                          <a:sym typeface="Calibri"/>
                        </a:rPr>
                        <a:t>Evaluating only the model</a:t>
                      </a:r>
                      <a:endParaRPr sz="1050" u="none" cap="none" strike="noStrike">
                        <a:latin typeface="Calibri"/>
                        <a:ea typeface="Calibri"/>
                        <a:cs typeface="Calibri"/>
                        <a:sym typeface="Calibri"/>
                      </a:endParaRPr>
                    </a:p>
                  </a:txBody>
                  <a:tcPr marT="64000" marB="64000" marR="64000" marL="64000" anchor="ctr">
                    <a:lnL cap="flat" cmpd="sng" w="9525">
                      <a:solidFill>
                        <a:srgbClr val="D9E2EA"/>
                      </a:solidFill>
                      <a:prstDash val="solid"/>
                      <a:round/>
                      <a:headEnd len="sm" w="sm" type="none"/>
                      <a:tailEnd len="sm" w="sm" type="none"/>
                    </a:lnL>
                    <a:lnR cap="flat" cmpd="sng" w="9525">
                      <a:solidFill>
                        <a:srgbClr val="D9E2EA"/>
                      </a:solidFill>
                      <a:prstDash val="solid"/>
                      <a:round/>
                      <a:headEnd len="sm" w="sm" type="none"/>
                      <a:tailEnd len="sm" w="sm" type="none"/>
                    </a:lnR>
                    <a:lnT cap="flat" cmpd="sng" w="9525">
                      <a:solidFill>
                        <a:srgbClr val="D9E2EA"/>
                      </a:solidFill>
                      <a:prstDash val="solid"/>
                      <a:round/>
                      <a:headEnd len="sm" w="sm" type="none"/>
                      <a:tailEnd len="sm" w="sm" type="none"/>
                    </a:lnT>
                    <a:lnB cap="flat" cmpd="sng" w="9525">
                      <a:solidFill>
                        <a:srgbClr val="D9E2EA"/>
                      </a:solidFill>
                      <a:prstDash val="solid"/>
                      <a:round/>
                      <a:headEnd len="sm" w="sm" type="none"/>
                      <a:tailEnd len="sm" w="sm" type="none"/>
                    </a:lnB>
                    <a:solidFill>
                      <a:srgbClr val="F2F6F9"/>
                    </a:solidFill>
                  </a:tcPr>
                </a:tc>
                <a:tc>
                  <a:txBody>
                    <a:bodyPr/>
                    <a:lstStyle/>
                    <a:p>
                      <a:pPr indent="0" lvl="0" marL="0" marR="0" rtl="0" algn="l">
                        <a:spcBef>
                          <a:spcPts val="0"/>
                        </a:spcBef>
                        <a:spcAft>
                          <a:spcPts val="0"/>
                        </a:spcAft>
                        <a:buClr>
                          <a:srgbClr val="23293B"/>
                        </a:buClr>
                        <a:buSzPts val="1050"/>
                        <a:buFont typeface="Calibri"/>
                        <a:buNone/>
                      </a:pPr>
                      <a:r>
                        <a:rPr lang="en-US" sz="1050" u="none" cap="none" strike="noStrike">
                          <a:solidFill>
                            <a:srgbClr val="23293B"/>
                          </a:solidFill>
                          <a:latin typeface="Calibri"/>
                          <a:ea typeface="Calibri"/>
                          <a:cs typeface="Calibri"/>
                          <a:sym typeface="Calibri"/>
                        </a:rPr>
                        <a:t>system outputs never graded</a:t>
                      </a:r>
                      <a:endParaRPr sz="1050" u="none" cap="none" strike="noStrike">
                        <a:latin typeface="Calibri"/>
                        <a:ea typeface="Calibri"/>
                        <a:cs typeface="Calibri"/>
                        <a:sym typeface="Calibri"/>
                      </a:endParaRPr>
                    </a:p>
                  </a:txBody>
                  <a:tcPr marT="64000" marB="64000" marR="64000" marL="64000" anchor="ctr">
                    <a:lnL cap="flat" cmpd="sng" w="9525">
                      <a:solidFill>
                        <a:srgbClr val="D9E2EA"/>
                      </a:solidFill>
                      <a:prstDash val="solid"/>
                      <a:round/>
                      <a:headEnd len="sm" w="sm" type="none"/>
                      <a:tailEnd len="sm" w="sm" type="none"/>
                    </a:lnL>
                    <a:lnR cap="flat" cmpd="sng" w="9525">
                      <a:solidFill>
                        <a:srgbClr val="D9E2EA"/>
                      </a:solidFill>
                      <a:prstDash val="solid"/>
                      <a:round/>
                      <a:headEnd len="sm" w="sm" type="none"/>
                      <a:tailEnd len="sm" w="sm" type="none"/>
                    </a:lnR>
                    <a:lnT cap="flat" cmpd="sng" w="9525">
                      <a:solidFill>
                        <a:srgbClr val="D9E2EA"/>
                      </a:solidFill>
                      <a:prstDash val="solid"/>
                      <a:round/>
                      <a:headEnd len="sm" w="sm" type="none"/>
                      <a:tailEnd len="sm" w="sm" type="none"/>
                    </a:lnT>
                    <a:lnB cap="flat" cmpd="sng" w="9525">
                      <a:solidFill>
                        <a:srgbClr val="D9E2EA"/>
                      </a:solidFill>
                      <a:prstDash val="solid"/>
                      <a:round/>
                      <a:headEnd len="sm" w="sm" type="none"/>
                      <a:tailEnd len="sm" w="sm" type="none"/>
                    </a:lnB>
                    <a:solidFill>
                      <a:srgbClr val="F2F6F9"/>
                    </a:solidFill>
                  </a:tcPr>
                </a:tc>
                <a:tc>
                  <a:txBody>
                    <a:bodyPr/>
                    <a:lstStyle/>
                    <a:p>
                      <a:pPr indent="0" lvl="0" marL="0" marR="0" rtl="0" algn="l">
                        <a:spcBef>
                          <a:spcPts val="0"/>
                        </a:spcBef>
                        <a:spcAft>
                          <a:spcPts val="0"/>
                        </a:spcAft>
                        <a:buClr>
                          <a:srgbClr val="23293B"/>
                        </a:buClr>
                        <a:buSzPts val="1050"/>
                        <a:buFont typeface="Calibri"/>
                        <a:buNone/>
                      </a:pPr>
                      <a:r>
                        <a:rPr lang="en-US" sz="1050" u="none" cap="none" strike="noStrike">
                          <a:solidFill>
                            <a:srgbClr val="23293B"/>
                          </a:solidFill>
                          <a:latin typeface="Calibri"/>
                          <a:ea typeface="Calibri"/>
                          <a:cs typeface="Calibri"/>
                          <a:sym typeface="Calibri"/>
                        </a:rPr>
                        <a:t>area-MAE + disagreement in same harness</a:t>
                      </a:r>
                      <a:endParaRPr sz="1050" u="none" cap="none" strike="noStrike">
                        <a:latin typeface="Calibri"/>
                        <a:ea typeface="Calibri"/>
                        <a:cs typeface="Calibri"/>
                        <a:sym typeface="Calibri"/>
                      </a:endParaRPr>
                    </a:p>
                  </a:txBody>
                  <a:tcPr marT="64000" marB="64000" marR="64000" marL="64000" anchor="ctr">
                    <a:lnL cap="flat" cmpd="sng" w="9525">
                      <a:solidFill>
                        <a:srgbClr val="D9E2EA"/>
                      </a:solidFill>
                      <a:prstDash val="solid"/>
                      <a:round/>
                      <a:headEnd len="sm" w="sm" type="none"/>
                      <a:tailEnd len="sm" w="sm" type="none"/>
                    </a:lnL>
                    <a:lnR cap="flat" cmpd="sng" w="9525">
                      <a:solidFill>
                        <a:srgbClr val="D9E2EA"/>
                      </a:solidFill>
                      <a:prstDash val="solid"/>
                      <a:round/>
                      <a:headEnd len="sm" w="sm" type="none"/>
                      <a:tailEnd len="sm" w="sm" type="none"/>
                    </a:lnR>
                    <a:lnT cap="flat" cmpd="sng" w="9525">
                      <a:solidFill>
                        <a:srgbClr val="D9E2EA"/>
                      </a:solidFill>
                      <a:prstDash val="solid"/>
                      <a:round/>
                      <a:headEnd len="sm" w="sm" type="none"/>
                      <a:tailEnd len="sm" w="sm" type="none"/>
                    </a:lnT>
                    <a:lnB cap="flat" cmpd="sng" w="9525">
                      <a:solidFill>
                        <a:srgbClr val="D9E2EA"/>
                      </a:solidFill>
                      <a:prstDash val="solid"/>
                      <a:round/>
                      <a:headEnd len="sm" w="sm" type="none"/>
                      <a:tailEnd len="sm" w="sm" type="none"/>
                    </a:lnB>
                    <a:solidFill>
                      <a:srgbClr val="F2F6F9"/>
                    </a:solidFill>
                  </a:tcPr>
                </a:tc>
              </a:tr>
            </a:tbl>
          </a:graphicData>
        </a:graphic>
      </p:graphicFrame>
    </p:spTree>
  </p:cSld>
  <p:clrMapOvr>
    <a:masterClrMapping/>
  </p:clrMapOvr>
</p:sld>
</file>

<file path=ppt/slides/slide1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174" name="Shape 3174"/>
        <p:cNvGrpSpPr/>
        <p:nvPr/>
      </p:nvGrpSpPr>
      <p:grpSpPr>
        <a:xfrm>
          <a:off x="0" y="0"/>
          <a:ext cx="0" cy="0"/>
          <a:chOff x="0" y="0"/>
          <a:chExt cx="0" cy="0"/>
        </a:xfrm>
      </p:grpSpPr>
      <p:sp>
        <p:nvSpPr>
          <p:cNvPr id="3175" name="Google Shape;3175;p115"/>
          <p:cNvSpPr/>
          <p:nvPr/>
        </p:nvSpPr>
        <p:spPr>
          <a:xfrm>
            <a:off x="502920" y="274320"/>
            <a:ext cx="9646920" cy="56692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D2A5C"/>
              </a:buClr>
              <a:buSzPts val="2700"/>
              <a:buFont typeface="Calibri"/>
              <a:buNone/>
            </a:pPr>
            <a:r>
              <a:rPr b="1" i="0" lang="en-US" sz="2700" u="none" cap="none" strike="noStrike">
                <a:solidFill>
                  <a:srgbClr val="1D2A5C"/>
                </a:solidFill>
                <a:latin typeface="Calibri"/>
                <a:ea typeface="Calibri"/>
                <a:cs typeface="Calibri"/>
                <a:sym typeface="Calibri"/>
              </a:rPr>
              <a:t>Matching and AP from First Principles</a:t>
            </a:r>
            <a:endParaRPr b="0" i="0" sz="2700" u="none" cap="none" strike="noStrike">
              <a:solidFill>
                <a:schemeClr val="dk1"/>
              </a:solidFill>
              <a:latin typeface="Calibri"/>
              <a:ea typeface="Calibri"/>
              <a:cs typeface="Calibri"/>
              <a:sym typeface="Calibri"/>
            </a:endParaRPr>
          </a:p>
        </p:txBody>
      </p:sp>
      <p:sp>
        <p:nvSpPr>
          <p:cNvPr id="3176" name="Google Shape;3176;p115"/>
          <p:cNvSpPr/>
          <p:nvPr/>
        </p:nvSpPr>
        <p:spPr>
          <a:xfrm>
            <a:off x="502920" y="859536"/>
            <a:ext cx="9646920" cy="31089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F6B7A"/>
              </a:buClr>
              <a:buSzPts val="1250"/>
              <a:buFont typeface="Arial"/>
              <a:buNone/>
            </a:pPr>
            <a:r>
              <a:rPr b="0" i="0" lang="en-US" sz="1250" u="none" cap="none" strike="noStrike">
                <a:solidFill>
                  <a:srgbClr val="5F6B7A"/>
                </a:solidFill>
                <a:latin typeface="Arial"/>
                <a:ea typeface="Arial"/>
                <a:cs typeface="Arial"/>
                <a:sym typeface="Arial"/>
              </a:rPr>
              <a:t>المطابقة وحساب AP من المبادئ الأولى</a:t>
            </a:r>
            <a:endParaRPr b="0" i="0" sz="1250" u="none" cap="none" strike="noStrike">
              <a:solidFill>
                <a:schemeClr val="dk1"/>
              </a:solidFill>
              <a:latin typeface="Calibri"/>
              <a:ea typeface="Calibri"/>
              <a:cs typeface="Calibri"/>
              <a:sym typeface="Calibri"/>
            </a:endParaRPr>
          </a:p>
        </p:txBody>
      </p:sp>
      <p:pic>
        <p:nvPicPr>
          <p:cNvPr descr="/sessions/blissful-determined-ritchie/build/assets/sdaia_logo.png" id="3177" name="Google Shape;3177;p115"/>
          <p:cNvPicPr preferRelativeResize="0"/>
          <p:nvPr/>
        </p:nvPicPr>
        <p:blipFill rotWithShape="1">
          <a:blip r:embed="rId3">
            <a:alphaModFix/>
          </a:blip>
          <a:srcRect b="0" l="0" r="0" t="0"/>
          <a:stretch/>
        </p:blipFill>
        <p:spPr>
          <a:xfrm>
            <a:off x="10625328" y="310896"/>
            <a:ext cx="1078992" cy="264111"/>
          </a:xfrm>
          <a:prstGeom prst="rect">
            <a:avLst/>
          </a:prstGeom>
          <a:noFill/>
          <a:ln>
            <a:noFill/>
          </a:ln>
        </p:spPr>
      </p:pic>
      <p:sp>
        <p:nvSpPr>
          <p:cNvPr id="3178" name="Google Shape;3178;p115"/>
          <p:cNvSpPr/>
          <p:nvPr/>
        </p:nvSpPr>
        <p:spPr>
          <a:xfrm>
            <a:off x="502920" y="6528816"/>
            <a:ext cx="8686800"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A79D"/>
              </a:buClr>
              <a:buSzPts val="800"/>
              <a:buFont typeface="Calibri"/>
              <a:buNone/>
            </a:pPr>
            <a:r>
              <a:rPr b="1" i="0" lang="en-US" sz="800" u="none" cap="none" strike="noStrike">
                <a:solidFill>
                  <a:srgbClr val="00A79D"/>
                </a:solidFill>
                <a:latin typeface="Calibri"/>
                <a:ea typeface="Calibri"/>
                <a:cs typeface="Calibri"/>
                <a:sym typeface="Calibri"/>
              </a:rPr>
              <a:t>MODULE 6 · CODE   </a:t>
            </a:r>
            <a:r>
              <a:rPr b="0" i="0" lang="en-US" sz="800" u="none" cap="none" strike="noStrike">
                <a:solidFill>
                  <a:srgbClr val="8A96A6"/>
                </a:solidFill>
                <a:latin typeface="Calibri"/>
                <a:ea typeface="Calibri"/>
                <a:cs typeface="Calibri"/>
                <a:sym typeface="Calibri"/>
              </a:rPr>
              <a:t>SDA-AIE-212 · Computer Vision Systems Development</a:t>
            </a:r>
            <a:endParaRPr b="0" i="0" sz="800" u="none" cap="none" strike="noStrike">
              <a:solidFill>
                <a:schemeClr val="dk1"/>
              </a:solidFill>
              <a:latin typeface="Calibri"/>
              <a:ea typeface="Calibri"/>
              <a:cs typeface="Calibri"/>
              <a:sym typeface="Calibri"/>
            </a:endParaRPr>
          </a:p>
        </p:txBody>
      </p:sp>
      <p:sp>
        <p:nvSpPr>
          <p:cNvPr id="3179" name="Google Shape;3179;p115"/>
          <p:cNvSpPr/>
          <p:nvPr/>
        </p:nvSpPr>
        <p:spPr>
          <a:xfrm>
            <a:off x="11292840" y="6528816"/>
            <a:ext cx="411480" cy="219456"/>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8A96A6"/>
              </a:buClr>
              <a:buSzPts val="900"/>
              <a:buFont typeface="Calibri"/>
              <a:buNone/>
            </a:pPr>
            <a:r>
              <a:rPr b="0" i="0" lang="en-US" sz="900" u="none" cap="none" strike="noStrike">
                <a:solidFill>
                  <a:srgbClr val="8A96A6"/>
                </a:solidFill>
                <a:latin typeface="Calibri"/>
                <a:ea typeface="Calibri"/>
                <a:cs typeface="Calibri"/>
                <a:sym typeface="Calibri"/>
              </a:rPr>
              <a:t>115</a:t>
            </a:r>
            <a:endParaRPr b="0" i="0" sz="900" u="none" cap="none" strike="noStrike">
              <a:solidFill>
                <a:schemeClr val="dk1"/>
              </a:solidFill>
              <a:latin typeface="Calibri"/>
              <a:ea typeface="Calibri"/>
              <a:cs typeface="Calibri"/>
              <a:sym typeface="Calibri"/>
            </a:endParaRPr>
          </a:p>
        </p:txBody>
      </p:sp>
      <p:sp>
        <p:nvSpPr>
          <p:cNvPr id="3180" name="Google Shape;3180;p115"/>
          <p:cNvSpPr/>
          <p:nvPr/>
        </p:nvSpPr>
        <p:spPr>
          <a:xfrm>
            <a:off x="502920" y="1389888"/>
            <a:ext cx="7178040" cy="4965192"/>
          </a:xfrm>
          <a:prstGeom prst="roundRect">
            <a:avLst>
              <a:gd fmla="val 1842" name="adj"/>
            </a:avLst>
          </a:prstGeom>
          <a:solidFill>
            <a:srgbClr val="0F172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81" name="Google Shape;3181;p115"/>
          <p:cNvSpPr/>
          <p:nvPr/>
        </p:nvSpPr>
        <p:spPr>
          <a:xfrm>
            <a:off x="704088" y="1536192"/>
            <a:ext cx="2556662" cy="292608"/>
          </a:xfrm>
          <a:prstGeom prst="roundRect">
            <a:avLst>
              <a:gd fmla="val 18750" name="adj"/>
            </a:avLst>
          </a:prstGeom>
          <a:solidFill>
            <a:srgbClr val="1E293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82" name="Google Shape;3182;p115"/>
          <p:cNvSpPr/>
          <p:nvPr/>
        </p:nvSpPr>
        <p:spPr>
          <a:xfrm>
            <a:off x="795528" y="1536192"/>
            <a:ext cx="662940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EEAD4"/>
              </a:buClr>
              <a:buSzPts val="950"/>
              <a:buFont typeface="Courier New"/>
              <a:buNone/>
            </a:pPr>
            <a:r>
              <a:rPr b="0" i="0" lang="en-US" sz="950" u="none" cap="none" strike="noStrike">
                <a:solidFill>
                  <a:srgbClr val="5EEAD4"/>
                </a:solidFill>
                <a:latin typeface="Courier New"/>
                <a:ea typeface="Courier New"/>
                <a:cs typeface="Courier New"/>
                <a:sym typeface="Courier New"/>
              </a:rPr>
              <a:t>src/tamr_vision/eval/matching.py</a:t>
            </a:r>
            <a:endParaRPr b="0" i="0" sz="950" u="none" cap="none" strike="noStrike">
              <a:solidFill>
                <a:schemeClr val="dk1"/>
              </a:solidFill>
              <a:latin typeface="Calibri"/>
              <a:ea typeface="Calibri"/>
              <a:cs typeface="Calibri"/>
              <a:sym typeface="Calibri"/>
            </a:endParaRPr>
          </a:p>
        </p:txBody>
      </p:sp>
      <p:sp>
        <p:nvSpPr>
          <p:cNvPr id="3183" name="Google Shape;3183;p115"/>
          <p:cNvSpPr/>
          <p:nvPr/>
        </p:nvSpPr>
        <p:spPr>
          <a:xfrm>
            <a:off x="758952" y="1920240"/>
            <a:ext cx="6720840" cy="4279392"/>
          </a:xfrm>
          <a:prstGeom prst="rect">
            <a:avLst/>
          </a:prstGeom>
          <a:noFill/>
          <a:ln>
            <a:noFill/>
          </a:ln>
        </p:spPr>
        <p:txBody>
          <a:bodyPr anchorCtr="0" anchor="t" bIns="0" lIns="0" spcFirstLastPara="1" rIns="0" wrap="square" tIns="0">
            <a:noAutofit/>
          </a:bodyPr>
          <a:lstStyle/>
          <a:p>
            <a:pPr indent="0" lvl="0" marL="0" marR="0" rtl="0" algn="l">
              <a:lnSpc>
                <a:spcPct val="128000"/>
              </a:lnSpc>
              <a:spcBef>
                <a:spcPts val="0"/>
              </a:spcBef>
              <a:spcAft>
                <a:spcPts val="0"/>
              </a:spcAft>
              <a:buClr>
                <a:srgbClr val="8FBF71"/>
              </a:buClr>
              <a:buSzPts val="900"/>
              <a:buFont typeface="Courier New"/>
              <a:buNone/>
            </a:pPr>
            <a:r>
              <a:rPr b="0" i="0" lang="en-US" sz="900" u="none" cap="none" strike="noStrike">
                <a:solidFill>
                  <a:srgbClr val="8FBF71"/>
                </a:solidFill>
                <a:latin typeface="Courier New"/>
                <a:ea typeface="Courier New"/>
                <a:cs typeface="Courier New"/>
                <a:sym typeface="Courier New"/>
              </a:rPr>
              <a:t>"""Implemented once, by hand, so mAP stops being magic."""</a:t>
            </a:r>
            <a:endParaRPr b="0" i="0" sz="900" u="none" cap="none" strike="noStrike">
              <a:solidFill>
                <a:schemeClr val="dk1"/>
              </a:solidFill>
              <a:latin typeface="Calibri"/>
              <a:ea typeface="Calibri"/>
              <a:cs typeface="Calibri"/>
              <a:sym typeface="Calibri"/>
            </a:endParaRPr>
          </a:p>
          <a:p>
            <a:pPr indent="0" lvl="0" marL="0" marR="0" rtl="0" algn="l">
              <a:lnSpc>
                <a:spcPct val="128000"/>
              </a:lnSpc>
              <a:spcBef>
                <a:spcPts val="0"/>
              </a:spcBef>
              <a:spcAft>
                <a:spcPts val="0"/>
              </a:spcAft>
              <a:buClr>
                <a:srgbClr val="DCE6F5"/>
              </a:buClr>
              <a:buSzPts val="900"/>
              <a:buFont typeface="Courier New"/>
              <a:buNone/>
            </a:pPr>
            <a:r>
              <a:rPr b="0" i="0" lang="en-US" sz="900" u="none" cap="none" strike="noStrike">
                <a:solidFill>
                  <a:srgbClr val="DCE6F5"/>
                </a:solidFill>
                <a:latin typeface="Courier New"/>
                <a:ea typeface="Courier New"/>
                <a:cs typeface="Courier New"/>
                <a:sym typeface="Courier New"/>
              </a:rPr>
              <a:t>import numpy as np</a:t>
            </a:r>
            <a:endParaRPr b="0" i="0" sz="900" u="none" cap="none" strike="noStrike">
              <a:solidFill>
                <a:schemeClr val="dk1"/>
              </a:solidFill>
              <a:latin typeface="Calibri"/>
              <a:ea typeface="Calibri"/>
              <a:cs typeface="Calibri"/>
              <a:sym typeface="Calibri"/>
            </a:endParaRPr>
          </a:p>
          <a:p>
            <a:pPr indent="0" lvl="0" marL="0" marR="0" rtl="0" algn="l">
              <a:lnSpc>
                <a:spcPct val="128000"/>
              </a:lnSpc>
              <a:spcBef>
                <a:spcPts val="0"/>
              </a:spcBef>
              <a:spcAft>
                <a:spcPts val="0"/>
              </a:spcAft>
              <a:buClr>
                <a:srgbClr val="DCE6F5"/>
              </a:buClr>
              <a:buSzPts val="900"/>
              <a:buFont typeface="Courier New"/>
              <a:buNone/>
            </a:pPr>
            <a:r>
              <a:rPr b="0" i="0" lang="en-US" sz="900" u="none" cap="none" strike="noStrike">
                <a:solidFill>
                  <a:srgbClr val="DCE6F5"/>
                </a:solidFill>
                <a:latin typeface="Courier New"/>
                <a:ea typeface="Courier New"/>
                <a:cs typeface="Courier New"/>
                <a:sym typeface="Courier New"/>
              </a:rPr>
              <a:t> </a:t>
            </a:r>
            <a:endParaRPr b="0" i="0" sz="900" u="none" cap="none" strike="noStrike">
              <a:solidFill>
                <a:schemeClr val="dk1"/>
              </a:solidFill>
              <a:latin typeface="Calibri"/>
              <a:ea typeface="Calibri"/>
              <a:cs typeface="Calibri"/>
              <a:sym typeface="Calibri"/>
            </a:endParaRPr>
          </a:p>
          <a:p>
            <a:pPr indent="0" lvl="0" marL="0" marR="0" rtl="0" algn="l">
              <a:lnSpc>
                <a:spcPct val="128000"/>
              </a:lnSpc>
              <a:spcBef>
                <a:spcPts val="0"/>
              </a:spcBef>
              <a:spcAft>
                <a:spcPts val="0"/>
              </a:spcAft>
              <a:buClr>
                <a:srgbClr val="DCE6F5"/>
              </a:buClr>
              <a:buSzPts val="900"/>
              <a:buFont typeface="Courier New"/>
              <a:buNone/>
            </a:pPr>
            <a:r>
              <a:rPr b="0" i="0" lang="en-US" sz="900" u="none" cap="none" strike="noStrike">
                <a:solidFill>
                  <a:srgbClr val="DCE6F5"/>
                </a:solidFill>
                <a:latin typeface="Courier New"/>
                <a:ea typeface="Courier New"/>
                <a:cs typeface="Courier New"/>
                <a:sym typeface="Courier New"/>
              </a:rPr>
              <a:t>def match_image(preds, gts, iou_thr=0.5):</a:t>
            </a:r>
            <a:endParaRPr b="0" i="0" sz="900" u="none" cap="none" strike="noStrike">
              <a:solidFill>
                <a:schemeClr val="dk1"/>
              </a:solidFill>
              <a:latin typeface="Calibri"/>
              <a:ea typeface="Calibri"/>
              <a:cs typeface="Calibri"/>
              <a:sym typeface="Calibri"/>
            </a:endParaRPr>
          </a:p>
          <a:p>
            <a:pPr indent="0" lvl="0" marL="0" marR="0" rtl="0" algn="l">
              <a:lnSpc>
                <a:spcPct val="128000"/>
              </a:lnSpc>
              <a:spcBef>
                <a:spcPts val="0"/>
              </a:spcBef>
              <a:spcAft>
                <a:spcPts val="0"/>
              </a:spcAft>
              <a:buClr>
                <a:srgbClr val="DCE6F5"/>
              </a:buClr>
              <a:buSzPts val="900"/>
              <a:buFont typeface="Courier New"/>
              <a:buNone/>
            </a:pPr>
            <a:r>
              <a:rPr b="0" i="0" lang="en-US" sz="900" u="none" cap="none" strike="noStrike">
                <a:solidFill>
                  <a:srgbClr val="DCE6F5"/>
                </a:solidFill>
                <a:latin typeface="Courier New"/>
                <a:ea typeface="Courier New"/>
                <a:cs typeface="Courier New"/>
                <a:sym typeface="Courier New"/>
              </a:rPr>
              <a:t>    order = np.argsort(-preds["conf"])       # greedy by conf</a:t>
            </a:r>
            <a:endParaRPr b="0" i="0" sz="900" u="none" cap="none" strike="noStrike">
              <a:solidFill>
                <a:schemeClr val="dk1"/>
              </a:solidFill>
              <a:latin typeface="Calibri"/>
              <a:ea typeface="Calibri"/>
              <a:cs typeface="Calibri"/>
              <a:sym typeface="Calibri"/>
            </a:endParaRPr>
          </a:p>
          <a:p>
            <a:pPr indent="0" lvl="0" marL="0" marR="0" rtl="0" algn="l">
              <a:lnSpc>
                <a:spcPct val="128000"/>
              </a:lnSpc>
              <a:spcBef>
                <a:spcPts val="0"/>
              </a:spcBef>
              <a:spcAft>
                <a:spcPts val="0"/>
              </a:spcAft>
              <a:buClr>
                <a:srgbClr val="DCE6F5"/>
              </a:buClr>
              <a:buSzPts val="900"/>
              <a:buFont typeface="Courier New"/>
              <a:buNone/>
            </a:pPr>
            <a:r>
              <a:rPr b="0" i="0" lang="en-US" sz="900" u="none" cap="none" strike="noStrike">
                <a:solidFill>
                  <a:srgbClr val="DCE6F5"/>
                </a:solidFill>
                <a:latin typeface="Courier New"/>
                <a:ea typeface="Courier New"/>
                <a:cs typeface="Courier New"/>
                <a:sym typeface="Courier New"/>
              </a:rPr>
              <a:t>    tp = np.zeros(len(order), bool)</a:t>
            </a:r>
            <a:endParaRPr b="0" i="0" sz="900" u="none" cap="none" strike="noStrike">
              <a:solidFill>
                <a:schemeClr val="dk1"/>
              </a:solidFill>
              <a:latin typeface="Calibri"/>
              <a:ea typeface="Calibri"/>
              <a:cs typeface="Calibri"/>
              <a:sym typeface="Calibri"/>
            </a:endParaRPr>
          </a:p>
          <a:p>
            <a:pPr indent="0" lvl="0" marL="0" marR="0" rtl="0" algn="l">
              <a:lnSpc>
                <a:spcPct val="128000"/>
              </a:lnSpc>
              <a:spcBef>
                <a:spcPts val="0"/>
              </a:spcBef>
              <a:spcAft>
                <a:spcPts val="0"/>
              </a:spcAft>
              <a:buClr>
                <a:srgbClr val="DCE6F5"/>
              </a:buClr>
              <a:buSzPts val="900"/>
              <a:buFont typeface="Courier New"/>
              <a:buNone/>
            </a:pPr>
            <a:r>
              <a:rPr b="0" i="0" lang="en-US" sz="900" u="none" cap="none" strike="noStrike">
                <a:solidFill>
                  <a:srgbClr val="DCE6F5"/>
                </a:solidFill>
                <a:latin typeface="Courier New"/>
                <a:ea typeface="Courier New"/>
                <a:cs typeface="Courier New"/>
                <a:sym typeface="Courier New"/>
              </a:rPr>
              <a:t>    consumed = np.zeros(len(gts["boxes"]), bool)</a:t>
            </a:r>
            <a:endParaRPr b="0" i="0" sz="900" u="none" cap="none" strike="noStrike">
              <a:solidFill>
                <a:schemeClr val="dk1"/>
              </a:solidFill>
              <a:latin typeface="Calibri"/>
              <a:ea typeface="Calibri"/>
              <a:cs typeface="Calibri"/>
              <a:sym typeface="Calibri"/>
            </a:endParaRPr>
          </a:p>
          <a:p>
            <a:pPr indent="0" lvl="0" marL="0" marR="0" rtl="0" algn="l">
              <a:lnSpc>
                <a:spcPct val="128000"/>
              </a:lnSpc>
              <a:spcBef>
                <a:spcPts val="0"/>
              </a:spcBef>
              <a:spcAft>
                <a:spcPts val="0"/>
              </a:spcAft>
              <a:buClr>
                <a:srgbClr val="DCE6F5"/>
              </a:buClr>
              <a:buSzPts val="900"/>
              <a:buFont typeface="Courier New"/>
              <a:buNone/>
            </a:pPr>
            <a:r>
              <a:rPr b="0" i="0" lang="en-US" sz="900" u="none" cap="none" strike="noStrike">
                <a:solidFill>
                  <a:srgbClr val="DCE6F5"/>
                </a:solidFill>
                <a:latin typeface="Courier New"/>
                <a:ea typeface="Courier New"/>
                <a:cs typeface="Courier New"/>
                <a:sym typeface="Courier New"/>
              </a:rPr>
              <a:t>    iou = iou_matrix(preds["boxes"], gts["boxes"])  # (P,G)</a:t>
            </a:r>
            <a:endParaRPr b="0" i="0" sz="900" u="none" cap="none" strike="noStrike">
              <a:solidFill>
                <a:schemeClr val="dk1"/>
              </a:solidFill>
              <a:latin typeface="Calibri"/>
              <a:ea typeface="Calibri"/>
              <a:cs typeface="Calibri"/>
              <a:sym typeface="Calibri"/>
            </a:endParaRPr>
          </a:p>
          <a:p>
            <a:pPr indent="0" lvl="0" marL="0" marR="0" rtl="0" algn="l">
              <a:lnSpc>
                <a:spcPct val="128000"/>
              </a:lnSpc>
              <a:spcBef>
                <a:spcPts val="0"/>
              </a:spcBef>
              <a:spcAft>
                <a:spcPts val="0"/>
              </a:spcAft>
              <a:buClr>
                <a:srgbClr val="DCE6F5"/>
              </a:buClr>
              <a:buSzPts val="900"/>
              <a:buFont typeface="Courier New"/>
              <a:buNone/>
            </a:pPr>
            <a:r>
              <a:rPr b="0" i="0" lang="en-US" sz="900" u="none" cap="none" strike="noStrike">
                <a:solidFill>
                  <a:srgbClr val="DCE6F5"/>
                </a:solidFill>
                <a:latin typeface="Courier New"/>
                <a:ea typeface="Courier New"/>
                <a:cs typeface="Courier New"/>
                <a:sym typeface="Courier New"/>
              </a:rPr>
              <a:t>    for rank, p in enumerate(order):</a:t>
            </a:r>
            <a:endParaRPr b="0" i="0" sz="900" u="none" cap="none" strike="noStrike">
              <a:solidFill>
                <a:schemeClr val="dk1"/>
              </a:solidFill>
              <a:latin typeface="Calibri"/>
              <a:ea typeface="Calibri"/>
              <a:cs typeface="Calibri"/>
              <a:sym typeface="Calibri"/>
            </a:endParaRPr>
          </a:p>
          <a:p>
            <a:pPr indent="0" lvl="0" marL="0" marR="0" rtl="0" algn="l">
              <a:lnSpc>
                <a:spcPct val="128000"/>
              </a:lnSpc>
              <a:spcBef>
                <a:spcPts val="0"/>
              </a:spcBef>
              <a:spcAft>
                <a:spcPts val="0"/>
              </a:spcAft>
              <a:buClr>
                <a:srgbClr val="DCE6F5"/>
              </a:buClr>
              <a:buSzPts val="900"/>
              <a:buFont typeface="Courier New"/>
              <a:buNone/>
            </a:pPr>
            <a:r>
              <a:rPr b="0" i="0" lang="en-US" sz="900" u="none" cap="none" strike="noStrike">
                <a:solidFill>
                  <a:srgbClr val="DCE6F5"/>
                </a:solidFill>
                <a:latin typeface="Courier New"/>
                <a:ea typeface="Courier New"/>
                <a:cs typeface="Courier New"/>
                <a:sym typeface="Courier New"/>
              </a:rPr>
              <a:t>        cand = np.where((gts["cls"] == preds["cls"][p])</a:t>
            </a:r>
            <a:endParaRPr b="0" i="0" sz="900" u="none" cap="none" strike="noStrike">
              <a:solidFill>
                <a:schemeClr val="dk1"/>
              </a:solidFill>
              <a:latin typeface="Calibri"/>
              <a:ea typeface="Calibri"/>
              <a:cs typeface="Calibri"/>
              <a:sym typeface="Calibri"/>
            </a:endParaRPr>
          </a:p>
          <a:p>
            <a:pPr indent="0" lvl="0" marL="0" marR="0" rtl="0" algn="l">
              <a:lnSpc>
                <a:spcPct val="128000"/>
              </a:lnSpc>
              <a:spcBef>
                <a:spcPts val="0"/>
              </a:spcBef>
              <a:spcAft>
                <a:spcPts val="0"/>
              </a:spcAft>
              <a:buClr>
                <a:srgbClr val="DCE6F5"/>
              </a:buClr>
              <a:buSzPts val="900"/>
              <a:buFont typeface="Courier New"/>
              <a:buNone/>
            </a:pPr>
            <a:r>
              <a:rPr b="0" i="0" lang="en-US" sz="900" u="none" cap="none" strike="noStrike">
                <a:solidFill>
                  <a:srgbClr val="DCE6F5"/>
                </a:solidFill>
                <a:latin typeface="Courier New"/>
                <a:ea typeface="Courier New"/>
                <a:cs typeface="Courier New"/>
                <a:sym typeface="Courier New"/>
              </a:rPr>
              <a:t>                        &amp; ~consumed)[0]</a:t>
            </a:r>
            <a:endParaRPr b="0" i="0" sz="900" u="none" cap="none" strike="noStrike">
              <a:solidFill>
                <a:schemeClr val="dk1"/>
              </a:solidFill>
              <a:latin typeface="Calibri"/>
              <a:ea typeface="Calibri"/>
              <a:cs typeface="Calibri"/>
              <a:sym typeface="Calibri"/>
            </a:endParaRPr>
          </a:p>
          <a:p>
            <a:pPr indent="0" lvl="0" marL="0" marR="0" rtl="0" algn="l">
              <a:lnSpc>
                <a:spcPct val="128000"/>
              </a:lnSpc>
              <a:spcBef>
                <a:spcPts val="0"/>
              </a:spcBef>
              <a:spcAft>
                <a:spcPts val="0"/>
              </a:spcAft>
              <a:buClr>
                <a:srgbClr val="DCE6F5"/>
              </a:buClr>
              <a:buSzPts val="900"/>
              <a:buFont typeface="Courier New"/>
              <a:buNone/>
            </a:pPr>
            <a:r>
              <a:rPr b="0" i="0" lang="en-US" sz="900" u="none" cap="none" strike="noStrike">
                <a:solidFill>
                  <a:srgbClr val="DCE6F5"/>
                </a:solidFill>
                <a:latin typeface="Courier New"/>
                <a:ea typeface="Courier New"/>
                <a:cs typeface="Courier New"/>
                <a:sym typeface="Courier New"/>
              </a:rPr>
              <a:t>        if len(cand) == 0:</a:t>
            </a:r>
            <a:endParaRPr b="0" i="0" sz="900" u="none" cap="none" strike="noStrike">
              <a:solidFill>
                <a:schemeClr val="dk1"/>
              </a:solidFill>
              <a:latin typeface="Calibri"/>
              <a:ea typeface="Calibri"/>
              <a:cs typeface="Calibri"/>
              <a:sym typeface="Calibri"/>
            </a:endParaRPr>
          </a:p>
          <a:p>
            <a:pPr indent="0" lvl="0" marL="0" marR="0" rtl="0" algn="l">
              <a:lnSpc>
                <a:spcPct val="128000"/>
              </a:lnSpc>
              <a:spcBef>
                <a:spcPts val="0"/>
              </a:spcBef>
              <a:spcAft>
                <a:spcPts val="0"/>
              </a:spcAft>
              <a:buClr>
                <a:srgbClr val="DCE6F5"/>
              </a:buClr>
              <a:buSzPts val="900"/>
              <a:buFont typeface="Courier New"/>
              <a:buNone/>
            </a:pPr>
            <a:r>
              <a:rPr b="0" i="0" lang="en-US" sz="900" u="none" cap="none" strike="noStrike">
                <a:solidFill>
                  <a:srgbClr val="DCE6F5"/>
                </a:solidFill>
                <a:latin typeface="Courier New"/>
                <a:ea typeface="Courier New"/>
                <a:cs typeface="Courier New"/>
                <a:sym typeface="Courier New"/>
              </a:rPr>
              <a:t>            continue                          # false positive</a:t>
            </a:r>
            <a:endParaRPr b="0" i="0" sz="900" u="none" cap="none" strike="noStrike">
              <a:solidFill>
                <a:schemeClr val="dk1"/>
              </a:solidFill>
              <a:latin typeface="Calibri"/>
              <a:ea typeface="Calibri"/>
              <a:cs typeface="Calibri"/>
              <a:sym typeface="Calibri"/>
            </a:endParaRPr>
          </a:p>
          <a:p>
            <a:pPr indent="0" lvl="0" marL="0" marR="0" rtl="0" algn="l">
              <a:lnSpc>
                <a:spcPct val="128000"/>
              </a:lnSpc>
              <a:spcBef>
                <a:spcPts val="0"/>
              </a:spcBef>
              <a:spcAft>
                <a:spcPts val="0"/>
              </a:spcAft>
              <a:buClr>
                <a:srgbClr val="DCE6F5"/>
              </a:buClr>
              <a:buSzPts val="900"/>
              <a:buFont typeface="Courier New"/>
              <a:buNone/>
            </a:pPr>
            <a:r>
              <a:rPr b="0" i="0" lang="en-US" sz="900" u="none" cap="none" strike="noStrike">
                <a:solidFill>
                  <a:srgbClr val="DCE6F5"/>
                </a:solidFill>
                <a:latin typeface="Courier New"/>
                <a:ea typeface="Courier New"/>
                <a:cs typeface="Courier New"/>
                <a:sym typeface="Courier New"/>
              </a:rPr>
              <a:t>        best = cand[np.argmax(iou[p, cand])]</a:t>
            </a:r>
            <a:endParaRPr b="0" i="0" sz="900" u="none" cap="none" strike="noStrike">
              <a:solidFill>
                <a:schemeClr val="dk1"/>
              </a:solidFill>
              <a:latin typeface="Calibri"/>
              <a:ea typeface="Calibri"/>
              <a:cs typeface="Calibri"/>
              <a:sym typeface="Calibri"/>
            </a:endParaRPr>
          </a:p>
          <a:p>
            <a:pPr indent="0" lvl="0" marL="0" marR="0" rtl="0" algn="l">
              <a:lnSpc>
                <a:spcPct val="128000"/>
              </a:lnSpc>
              <a:spcBef>
                <a:spcPts val="0"/>
              </a:spcBef>
              <a:spcAft>
                <a:spcPts val="0"/>
              </a:spcAft>
              <a:buClr>
                <a:srgbClr val="DCE6F5"/>
              </a:buClr>
              <a:buSzPts val="900"/>
              <a:buFont typeface="Courier New"/>
              <a:buNone/>
            </a:pPr>
            <a:r>
              <a:rPr b="0" i="0" lang="en-US" sz="900" u="none" cap="none" strike="noStrike">
                <a:solidFill>
                  <a:srgbClr val="DCE6F5"/>
                </a:solidFill>
                <a:latin typeface="Courier New"/>
                <a:ea typeface="Courier New"/>
                <a:cs typeface="Courier New"/>
                <a:sym typeface="Courier New"/>
              </a:rPr>
              <a:t>        if iou[p, best] &gt;= iou_thr:</a:t>
            </a:r>
            <a:endParaRPr b="0" i="0" sz="900" u="none" cap="none" strike="noStrike">
              <a:solidFill>
                <a:schemeClr val="dk1"/>
              </a:solidFill>
              <a:latin typeface="Calibri"/>
              <a:ea typeface="Calibri"/>
              <a:cs typeface="Calibri"/>
              <a:sym typeface="Calibri"/>
            </a:endParaRPr>
          </a:p>
          <a:p>
            <a:pPr indent="0" lvl="0" marL="0" marR="0" rtl="0" algn="l">
              <a:lnSpc>
                <a:spcPct val="128000"/>
              </a:lnSpc>
              <a:spcBef>
                <a:spcPts val="0"/>
              </a:spcBef>
              <a:spcAft>
                <a:spcPts val="0"/>
              </a:spcAft>
              <a:buClr>
                <a:srgbClr val="DCE6F5"/>
              </a:buClr>
              <a:buSzPts val="900"/>
              <a:buFont typeface="Courier New"/>
              <a:buNone/>
            </a:pPr>
            <a:r>
              <a:rPr b="0" i="0" lang="en-US" sz="900" u="none" cap="none" strike="noStrike">
                <a:solidFill>
                  <a:srgbClr val="DCE6F5"/>
                </a:solidFill>
                <a:latin typeface="Courier New"/>
                <a:ea typeface="Courier New"/>
                <a:cs typeface="Courier New"/>
                <a:sym typeface="Courier New"/>
              </a:rPr>
              <a:t>            tp[rank], consumed[best] = True, True</a:t>
            </a:r>
            <a:endParaRPr b="0" i="0" sz="900" u="none" cap="none" strike="noStrike">
              <a:solidFill>
                <a:schemeClr val="dk1"/>
              </a:solidFill>
              <a:latin typeface="Calibri"/>
              <a:ea typeface="Calibri"/>
              <a:cs typeface="Calibri"/>
              <a:sym typeface="Calibri"/>
            </a:endParaRPr>
          </a:p>
          <a:p>
            <a:pPr indent="0" lvl="0" marL="0" marR="0" rtl="0" algn="l">
              <a:lnSpc>
                <a:spcPct val="128000"/>
              </a:lnSpc>
              <a:spcBef>
                <a:spcPts val="0"/>
              </a:spcBef>
              <a:spcAft>
                <a:spcPts val="0"/>
              </a:spcAft>
              <a:buClr>
                <a:srgbClr val="DCE6F5"/>
              </a:buClr>
              <a:buSzPts val="900"/>
              <a:buFont typeface="Courier New"/>
              <a:buNone/>
            </a:pPr>
            <a:r>
              <a:rPr b="0" i="0" lang="en-US" sz="900" u="none" cap="none" strike="noStrike">
                <a:solidFill>
                  <a:srgbClr val="DCE6F5"/>
                </a:solidFill>
                <a:latin typeface="Courier New"/>
                <a:ea typeface="Courier New"/>
                <a:cs typeface="Courier New"/>
                <a:sym typeface="Courier New"/>
              </a:rPr>
              <a:t>    return tp[np.argsort(order)], np.where(~consumed)[0]</a:t>
            </a:r>
            <a:endParaRPr b="0" i="0" sz="900" u="none" cap="none" strike="noStrike">
              <a:solidFill>
                <a:schemeClr val="dk1"/>
              </a:solidFill>
              <a:latin typeface="Calibri"/>
              <a:ea typeface="Calibri"/>
              <a:cs typeface="Calibri"/>
              <a:sym typeface="Calibri"/>
            </a:endParaRPr>
          </a:p>
          <a:p>
            <a:pPr indent="0" lvl="0" marL="0" marR="0" rtl="0" algn="l">
              <a:lnSpc>
                <a:spcPct val="128000"/>
              </a:lnSpc>
              <a:spcBef>
                <a:spcPts val="0"/>
              </a:spcBef>
              <a:spcAft>
                <a:spcPts val="0"/>
              </a:spcAft>
              <a:buClr>
                <a:srgbClr val="DCE6F5"/>
              </a:buClr>
              <a:buSzPts val="900"/>
              <a:buFont typeface="Courier New"/>
              <a:buNone/>
            </a:pPr>
            <a:r>
              <a:rPr b="0" i="0" lang="en-US" sz="900" u="none" cap="none" strike="noStrike">
                <a:solidFill>
                  <a:srgbClr val="DCE6F5"/>
                </a:solidFill>
                <a:latin typeface="Courier New"/>
                <a:ea typeface="Courier New"/>
                <a:cs typeface="Courier New"/>
                <a:sym typeface="Courier New"/>
              </a:rPr>
              <a:t> </a:t>
            </a:r>
            <a:endParaRPr b="0" i="0" sz="900" u="none" cap="none" strike="noStrike">
              <a:solidFill>
                <a:schemeClr val="dk1"/>
              </a:solidFill>
              <a:latin typeface="Calibri"/>
              <a:ea typeface="Calibri"/>
              <a:cs typeface="Calibri"/>
              <a:sym typeface="Calibri"/>
            </a:endParaRPr>
          </a:p>
          <a:p>
            <a:pPr indent="0" lvl="0" marL="0" marR="0" rtl="0" algn="l">
              <a:lnSpc>
                <a:spcPct val="128000"/>
              </a:lnSpc>
              <a:spcBef>
                <a:spcPts val="0"/>
              </a:spcBef>
              <a:spcAft>
                <a:spcPts val="0"/>
              </a:spcAft>
              <a:buClr>
                <a:srgbClr val="DCE6F5"/>
              </a:buClr>
              <a:buSzPts val="900"/>
              <a:buFont typeface="Courier New"/>
              <a:buNone/>
            </a:pPr>
            <a:r>
              <a:rPr b="0" i="0" lang="en-US" sz="900" u="none" cap="none" strike="noStrike">
                <a:solidFill>
                  <a:srgbClr val="DCE6F5"/>
                </a:solidFill>
                <a:latin typeface="Courier New"/>
                <a:ea typeface="Courier New"/>
                <a:cs typeface="Courier New"/>
                <a:sym typeface="Courier New"/>
              </a:rPr>
              <a:t>def average_precision(tp, conf, n_gt):        # 101-pt COCO</a:t>
            </a:r>
            <a:endParaRPr b="0" i="0" sz="900" u="none" cap="none" strike="noStrike">
              <a:solidFill>
                <a:schemeClr val="dk1"/>
              </a:solidFill>
              <a:latin typeface="Calibri"/>
              <a:ea typeface="Calibri"/>
              <a:cs typeface="Calibri"/>
              <a:sym typeface="Calibri"/>
            </a:endParaRPr>
          </a:p>
          <a:p>
            <a:pPr indent="0" lvl="0" marL="0" marR="0" rtl="0" algn="l">
              <a:lnSpc>
                <a:spcPct val="128000"/>
              </a:lnSpc>
              <a:spcBef>
                <a:spcPts val="0"/>
              </a:spcBef>
              <a:spcAft>
                <a:spcPts val="0"/>
              </a:spcAft>
              <a:buClr>
                <a:srgbClr val="DCE6F5"/>
              </a:buClr>
              <a:buSzPts val="900"/>
              <a:buFont typeface="Courier New"/>
              <a:buNone/>
            </a:pPr>
            <a:r>
              <a:rPr b="0" i="0" lang="en-US" sz="900" u="none" cap="none" strike="noStrike">
                <a:solidFill>
                  <a:srgbClr val="DCE6F5"/>
                </a:solidFill>
                <a:latin typeface="Courier New"/>
                <a:ea typeface="Courier New"/>
                <a:cs typeface="Courier New"/>
                <a:sym typeface="Courier New"/>
              </a:rPr>
              <a:t>    order = np.argsort(-conf)</a:t>
            </a:r>
            <a:endParaRPr b="0" i="0" sz="900" u="none" cap="none" strike="noStrike">
              <a:solidFill>
                <a:schemeClr val="dk1"/>
              </a:solidFill>
              <a:latin typeface="Calibri"/>
              <a:ea typeface="Calibri"/>
              <a:cs typeface="Calibri"/>
              <a:sym typeface="Calibri"/>
            </a:endParaRPr>
          </a:p>
          <a:p>
            <a:pPr indent="0" lvl="0" marL="0" marR="0" rtl="0" algn="l">
              <a:lnSpc>
                <a:spcPct val="128000"/>
              </a:lnSpc>
              <a:spcBef>
                <a:spcPts val="0"/>
              </a:spcBef>
              <a:spcAft>
                <a:spcPts val="0"/>
              </a:spcAft>
              <a:buClr>
                <a:srgbClr val="DCE6F5"/>
              </a:buClr>
              <a:buSzPts val="900"/>
              <a:buFont typeface="Courier New"/>
              <a:buNone/>
            </a:pPr>
            <a:r>
              <a:rPr b="0" i="0" lang="en-US" sz="900" u="none" cap="none" strike="noStrike">
                <a:solidFill>
                  <a:srgbClr val="DCE6F5"/>
                </a:solidFill>
                <a:latin typeface="Courier New"/>
                <a:ea typeface="Courier New"/>
                <a:cs typeface="Courier New"/>
                <a:sym typeface="Courier New"/>
              </a:rPr>
              <a:t>    ctp, cfp = np.cumsum(tp[order]), np.cumsum(~tp[order])</a:t>
            </a:r>
            <a:endParaRPr b="0" i="0" sz="900" u="none" cap="none" strike="noStrike">
              <a:solidFill>
                <a:schemeClr val="dk1"/>
              </a:solidFill>
              <a:latin typeface="Calibri"/>
              <a:ea typeface="Calibri"/>
              <a:cs typeface="Calibri"/>
              <a:sym typeface="Calibri"/>
            </a:endParaRPr>
          </a:p>
          <a:p>
            <a:pPr indent="0" lvl="0" marL="0" marR="0" rtl="0" algn="l">
              <a:lnSpc>
                <a:spcPct val="128000"/>
              </a:lnSpc>
              <a:spcBef>
                <a:spcPts val="0"/>
              </a:spcBef>
              <a:spcAft>
                <a:spcPts val="0"/>
              </a:spcAft>
              <a:buClr>
                <a:srgbClr val="DCE6F5"/>
              </a:buClr>
              <a:buSzPts val="900"/>
              <a:buFont typeface="Courier New"/>
              <a:buNone/>
            </a:pPr>
            <a:r>
              <a:rPr b="0" i="0" lang="en-US" sz="900" u="none" cap="none" strike="noStrike">
                <a:solidFill>
                  <a:srgbClr val="DCE6F5"/>
                </a:solidFill>
                <a:latin typeface="Courier New"/>
                <a:ea typeface="Courier New"/>
                <a:cs typeface="Courier New"/>
                <a:sym typeface="Courier New"/>
              </a:rPr>
              <a:t>    recall = ctp / max(n_gt, 1)</a:t>
            </a:r>
            <a:endParaRPr b="0" i="0" sz="900" u="none" cap="none" strike="noStrike">
              <a:solidFill>
                <a:schemeClr val="dk1"/>
              </a:solidFill>
              <a:latin typeface="Calibri"/>
              <a:ea typeface="Calibri"/>
              <a:cs typeface="Calibri"/>
              <a:sym typeface="Calibri"/>
            </a:endParaRPr>
          </a:p>
          <a:p>
            <a:pPr indent="0" lvl="0" marL="0" marR="0" rtl="0" algn="l">
              <a:lnSpc>
                <a:spcPct val="128000"/>
              </a:lnSpc>
              <a:spcBef>
                <a:spcPts val="0"/>
              </a:spcBef>
              <a:spcAft>
                <a:spcPts val="0"/>
              </a:spcAft>
              <a:buClr>
                <a:srgbClr val="DCE6F5"/>
              </a:buClr>
              <a:buSzPts val="900"/>
              <a:buFont typeface="Courier New"/>
              <a:buNone/>
            </a:pPr>
            <a:r>
              <a:rPr b="0" i="0" lang="en-US" sz="900" u="none" cap="none" strike="noStrike">
                <a:solidFill>
                  <a:srgbClr val="DCE6F5"/>
                </a:solidFill>
                <a:latin typeface="Courier New"/>
                <a:ea typeface="Courier New"/>
                <a:cs typeface="Courier New"/>
                <a:sym typeface="Courier New"/>
              </a:rPr>
              <a:t>    prec = ctp / np.clip(ctp + cfp, 1, None)</a:t>
            </a:r>
            <a:endParaRPr b="0" i="0" sz="900" u="none" cap="none" strike="noStrike">
              <a:solidFill>
                <a:schemeClr val="dk1"/>
              </a:solidFill>
              <a:latin typeface="Calibri"/>
              <a:ea typeface="Calibri"/>
              <a:cs typeface="Calibri"/>
              <a:sym typeface="Calibri"/>
            </a:endParaRPr>
          </a:p>
          <a:p>
            <a:pPr indent="0" lvl="0" marL="0" marR="0" rtl="0" algn="l">
              <a:lnSpc>
                <a:spcPct val="128000"/>
              </a:lnSpc>
              <a:spcBef>
                <a:spcPts val="0"/>
              </a:spcBef>
              <a:spcAft>
                <a:spcPts val="0"/>
              </a:spcAft>
              <a:buClr>
                <a:srgbClr val="DCE6F5"/>
              </a:buClr>
              <a:buSzPts val="900"/>
              <a:buFont typeface="Courier New"/>
              <a:buNone/>
            </a:pPr>
            <a:r>
              <a:rPr b="0" i="0" lang="en-US" sz="900" u="none" cap="none" strike="noStrike">
                <a:solidFill>
                  <a:srgbClr val="DCE6F5"/>
                </a:solidFill>
                <a:latin typeface="Courier New"/>
                <a:ea typeface="Courier New"/>
                <a:cs typeface="Courier New"/>
                <a:sym typeface="Courier New"/>
              </a:rPr>
              <a:t>    return np.mean([prec[recall &gt;= r].max() if (recall &gt;= r).any()</a:t>
            </a:r>
            <a:endParaRPr b="0" i="0" sz="900" u="none" cap="none" strike="noStrike">
              <a:solidFill>
                <a:schemeClr val="dk1"/>
              </a:solidFill>
              <a:latin typeface="Calibri"/>
              <a:ea typeface="Calibri"/>
              <a:cs typeface="Calibri"/>
              <a:sym typeface="Calibri"/>
            </a:endParaRPr>
          </a:p>
          <a:p>
            <a:pPr indent="0" lvl="0" marL="0" marR="0" rtl="0" algn="l">
              <a:lnSpc>
                <a:spcPct val="128000"/>
              </a:lnSpc>
              <a:spcBef>
                <a:spcPts val="0"/>
              </a:spcBef>
              <a:spcAft>
                <a:spcPts val="0"/>
              </a:spcAft>
              <a:buClr>
                <a:srgbClr val="DCE6F5"/>
              </a:buClr>
              <a:buSzPts val="900"/>
              <a:buFont typeface="Courier New"/>
              <a:buNone/>
            </a:pPr>
            <a:r>
              <a:rPr b="0" i="0" lang="en-US" sz="900" u="none" cap="none" strike="noStrike">
                <a:solidFill>
                  <a:srgbClr val="DCE6F5"/>
                </a:solidFill>
                <a:latin typeface="Courier New"/>
                <a:ea typeface="Courier New"/>
                <a:cs typeface="Courier New"/>
                <a:sym typeface="Courier New"/>
              </a:rPr>
              <a:t>                    else 0.0 for r in np.linspace(0, 1, 101)])</a:t>
            </a:r>
            <a:endParaRPr b="0" i="0" sz="900" u="none" cap="none" strike="noStrike">
              <a:solidFill>
                <a:schemeClr val="dk1"/>
              </a:solidFill>
              <a:latin typeface="Calibri"/>
              <a:ea typeface="Calibri"/>
              <a:cs typeface="Calibri"/>
              <a:sym typeface="Calibri"/>
            </a:endParaRPr>
          </a:p>
        </p:txBody>
      </p:sp>
      <p:sp>
        <p:nvSpPr>
          <p:cNvPr id="3184" name="Google Shape;3184;p115"/>
          <p:cNvSpPr/>
          <p:nvPr/>
        </p:nvSpPr>
        <p:spPr>
          <a:xfrm>
            <a:off x="7973568" y="1389888"/>
            <a:ext cx="3712464" cy="1090422"/>
          </a:xfrm>
          <a:prstGeom prst="roundRect">
            <a:avLst>
              <a:gd fmla="val 5870" name="adj"/>
            </a:avLst>
          </a:prstGeom>
          <a:solidFill>
            <a:srgbClr val="F2F6F9"/>
          </a:solidFill>
          <a:ln cap="flat" cmpd="sng" w="12700">
            <a:solidFill>
              <a:srgbClr val="D9E2E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85" name="Google Shape;3185;p115"/>
          <p:cNvSpPr/>
          <p:nvPr/>
        </p:nvSpPr>
        <p:spPr>
          <a:xfrm>
            <a:off x="8101584" y="1508760"/>
            <a:ext cx="237744" cy="237744"/>
          </a:xfrm>
          <a:prstGeom prst="ellipse">
            <a:avLst/>
          </a:prstGeom>
          <a:solidFill>
            <a:srgbClr val="00A79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86" name="Google Shape;3186;p115"/>
          <p:cNvSpPr/>
          <p:nvPr/>
        </p:nvSpPr>
        <p:spPr>
          <a:xfrm>
            <a:off x="8101584" y="1508760"/>
            <a:ext cx="237744" cy="23774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000"/>
              <a:buFont typeface="Calibri"/>
              <a:buNone/>
            </a:pPr>
            <a:r>
              <a:rPr b="1" i="0" lang="en-US" sz="1000" u="none" cap="none" strike="noStrike">
                <a:solidFill>
                  <a:srgbClr val="FFFFFF"/>
                </a:solidFill>
                <a:latin typeface="Calibri"/>
                <a:ea typeface="Calibri"/>
                <a:cs typeface="Calibri"/>
                <a:sym typeface="Calibri"/>
              </a:rPr>
              <a:t>1</a:t>
            </a:r>
            <a:endParaRPr b="0" i="0" sz="1000" u="none" cap="none" strike="noStrike">
              <a:solidFill>
                <a:schemeClr val="dk1"/>
              </a:solidFill>
              <a:latin typeface="Calibri"/>
              <a:ea typeface="Calibri"/>
              <a:cs typeface="Calibri"/>
              <a:sym typeface="Calibri"/>
            </a:endParaRPr>
          </a:p>
        </p:txBody>
      </p:sp>
      <p:sp>
        <p:nvSpPr>
          <p:cNvPr id="3187" name="Google Shape;3187;p115"/>
          <p:cNvSpPr/>
          <p:nvPr/>
        </p:nvSpPr>
        <p:spPr>
          <a:xfrm>
            <a:off x="8430768" y="1444752"/>
            <a:ext cx="3145536"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D2A5C"/>
              </a:buClr>
              <a:buSzPts val="1150"/>
              <a:buFont typeface="Calibri"/>
              <a:buNone/>
            </a:pPr>
            <a:r>
              <a:rPr b="1" i="0" lang="en-US" sz="1150" u="none" cap="none" strike="noStrike">
                <a:solidFill>
                  <a:srgbClr val="1D2A5C"/>
                </a:solidFill>
                <a:latin typeface="Calibri"/>
                <a:ea typeface="Calibri"/>
                <a:cs typeface="Calibri"/>
                <a:sym typeface="Calibri"/>
              </a:rPr>
              <a:t>Greedy in confidence order</a:t>
            </a:r>
            <a:endParaRPr b="0" i="0" sz="1150" u="none" cap="none" strike="noStrike">
              <a:solidFill>
                <a:schemeClr val="dk1"/>
              </a:solidFill>
              <a:latin typeface="Calibri"/>
              <a:ea typeface="Calibri"/>
              <a:cs typeface="Calibri"/>
              <a:sym typeface="Calibri"/>
            </a:endParaRPr>
          </a:p>
        </p:txBody>
      </p:sp>
      <p:sp>
        <p:nvSpPr>
          <p:cNvPr id="3188" name="Google Shape;3188;p115"/>
          <p:cNvSpPr/>
          <p:nvPr/>
        </p:nvSpPr>
        <p:spPr>
          <a:xfrm>
            <a:off x="8430768" y="1719072"/>
            <a:ext cx="3145536" cy="688086"/>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5F6B7A"/>
              </a:buClr>
              <a:buSzPts val="1000"/>
              <a:buFont typeface="Calibri"/>
              <a:buNone/>
            </a:pPr>
            <a:r>
              <a:rPr b="0" i="0" lang="en-US" sz="1000" u="none" cap="none" strike="noStrike">
                <a:solidFill>
                  <a:srgbClr val="5F6B7A"/>
                </a:solidFill>
                <a:latin typeface="Calibri"/>
                <a:ea typeface="Calibri"/>
                <a:cs typeface="Calibri"/>
                <a:sym typeface="Calibri"/>
              </a:rPr>
              <a:t>A confident sloppy box can steal the GT from a later precise one.</a:t>
            </a:r>
            <a:endParaRPr b="0" i="0" sz="1000" u="none" cap="none" strike="noStrike">
              <a:solidFill>
                <a:schemeClr val="dk1"/>
              </a:solidFill>
              <a:latin typeface="Calibri"/>
              <a:ea typeface="Calibri"/>
              <a:cs typeface="Calibri"/>
              <a:sym typeface="Calibri"/>
            </a:endParaRPr>
          </a:p>
        </p:txBody>
      </p:sp>
      <p:sp>
        <p:nvSpPr>
          <p:cNvPr id="3189" name="Google Shape;3189;p115"/>
          <p:cNvSpPr/>
          <p:nvPr/>
        </p:nvSpPr>
        <p:spPr>
          <a:xfrm>
            <a:off x="7973568" y="2681478"/>
            <a:ext cx="3712464" cy="1090422"/>
          </a:xfrm>
          <a:prstGeom prst="roundRect">
            <a:avLst>
              <a:gd fmla="val 5870" name="adj"/>
            </a:avLst>
          </a:prstGeom>
          <a:solidFill>
            <a:srgbClr val="F2F6F9"/>
          </a:solidFill>
          <a:ln cap="flat" cmpd="sng" w="12700">
            <a:solidFill>
              <a:srgbClr val="D9E2E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90" name="Google Shape;3190;p115"/>
          <p:cNvSpPr/>
          <p:nvPr/>
        </p:nvSpPr>
        <p:spPr>
          <a:xfrm>
            <a:off x="8101584" y="2800350"/>
            <a:ext cx="237744" cy="237744"/>
          </a:xfrm>
          <a:prstGeom prst="ellipse">
            <a:avLst/>
          </a:prstGeom>
          <a:solidFill>
            <a:srgbClr val="29ABE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91" name="Google Shape;3191;p115"/>
          <p:cNvSpPr/>
          <p:nvPr/>
        </p:nvSpPr>
        <p:spPr>
          <a:xfrm>
            <a:off x="8101584" y="2800350"/>
            <a:ext cx="237744" cy="23774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000"/>
              <a:buFont typeface="Calibri"/>
              <a:buNone/>
            </a:pPr>
            <a:r>
              <a:rPr b="1" i="0" lang="en-US" sz="1000" u="none" cap="none" strike="noStrike">
                <a:solidFill>
                  <a:srgbClr val="FFFFFF"/>
                </a:solidFill>
                <a:latin typeface="Calibri"/>
                <a:ea typeface="Calibri"/>
                <a:cs typeface="Calibri"/>
                <a:sym typeface="Calibri"/>
              </a:rPr>
              <a:t>2</a:t>
            </a:r>
            <a:endParaRPr b="0" i="0" sz="1000" u="none" cap="none" strike="noStrike">
              <a:solidFill>
                <a:schemeClr val="dk1"/>
              </a:solidFill>
              <a:latin typeface="Calibri"/>
              <a:ea typeface="Calibri"/>
              <a:cs typeface="Calibri"/>
              <a:sym typeface="Calibri"/>
            </a:endParaRPr>
          </a:p>
        </p:txBody>
      </p:sp>
      <p:sp>
        <p:nvSpPr>
          <p:cNvPr id="3192" name="Google Shape;3192;p115"/>
          <p:cNvSpPr/>
          <p:nvPr/>
        </p:nvSpPr>
        <p:spPr>
          <a:xfrm>
            <a:off x="8430768" y="2736342"/>
            <a:ext cx="3145536"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D2A5C"/>
              </a:buClr>
              <a:buSzPts val="1150"/>
              <a:buFont typeface="Calibri"/>
              <a:buNone/>
            </a:pPr>
            <a:r>
              <a:rPr b="1" i="0" lang="en-US" sz="1150" u="none" cap="none" strike="noStrike">
                <a:solidFill>
                  <a:srgbClr val="1D2A5C"/>
                </a:solidFill>
                <a:latin typeface="Calibri"/>
                <a:ea typeface="Calibri"/>
                <a:cs typeface="Calibri"/>
                <a:sym typeface="Calibri"/>
              </a:rPr>
              <a:t>Same-class constraint</a:t>
            </a:r>
            <a:endParaRPr b="0" i="0" sz="1150" u="none" cap="none" strike="noStrike">
              <a:solidFill>
                <a:schemeClr val="dk1"/>
              </a:solidFill>
              <a:latin typeface="Calibri"/>
              <a:ea typeface="Calibri"/>
              <a:cs typeface="Calibri"/>
              <a:sym typeface="Calibri"/>
            </a:endParaRPr>
          </a:p>
        </p:txBody>
      </p:sp>
      <p:sp>
        <p:nvSpPr>
          <p:cNvPr id="3193" name="Google Shape;3193;p115"/>
          <p:cNvSpPr/>
          <p:nvPr/>
        </p:nvSpPr>
        <p:spPr>
          <a:xfrm>
            <a:off x="8430768" y="3010662"/>
            <a:ext cx="3145536" cy="688086"/>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5F6B7A"/>
              </a:buClr>
              <a:buSzPts val="1000"/>
              <a:buFont typeface="Calibri"/>
              <a:buNone/>
            </a:pPr>
            <a:r>
              <a:rPr b="0" i="0" lang="en-US" sz="1000" u="none" cap="none" strike="noStrike">
                <a:solidFill>
                  <a:srgbClr val="5F6B7A"/>
                </a:solidFill>
                <a:latin typeface="Calibri"/>
                <a:ea typeface="Calibri"/>
                <a:cs typeface="Calibri"/>
                <a:sym typeface="Calibri"/>
              </a:rPr>
              <a:t>A perfect box with the wrong class is FP and leaves FN — double punishment.</a:t>
            </a:r>
            <a:endParaRPr b="0" i="0" sz="1000" u="none" cap="none" strike="noStrike">
              <a:solidFill>
                <a:schemeClr val="dk1"/>
              </a:solidFill>
              <a:latin typeface="Calibri"/>
              <a:ea typeface="Calibri"/>
              <a:cs typeface="Calibri"/>
              <a:sym typeface="Calibri"/>
            </a:endParaRPr>
          </a:p>
        </p:txBody>
      </p:sp>
      <p:sp>
        <p:nvSpPr>
          <p:cNvPr id="3194" name="Google Shape;3194;p115"/>
          <p:cNvSpPr/>
          <p:nvPr/>
        </p:nvSpPr>
        <p:spPr>
          <a:xfrm>
            <a:off x="7973568" y="3973068"/>
            <a:ext cx="3712464" cy="1090422"/>
          </a:xfrm>
          <a:prstGeom prst="roundRect">
            <a:avLst>
              <a:gd fmla="val 5870" name="adj"/>
            </a:avLst>
          </a:prstGeom>
          <a:solidFill>
            <a:srgbClr val="F2F6F9"/>
          </a:solidFill>
          <a:ln cap="flat" cmpd="sng" w="12700">
            <a:solidFill>
              <a:srgbClr val="D9E2E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95" name="Google Shape;3195;p115"/>
          <p:cNvSpPr/>
          <p:nvPr/>
        </p:nvSpPr>
        <p:spPr>
          <a:xfrm>
            <a:off x="8101584" y="4091940"/>
            <a:ext cx="237744" cy="237744"/>
          </a:xfrm>
          <a:prstGeom prst="ellipse">
            <a:avLst/>
          </a:prstGeom>
          <a:solidFill>
            <a:srgbClr val="F5822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96" name="Google Shape;3196;p115"/>
          <p:cNvSpPr/>
          <p:nvPr/>
        </p:nvSpPr>
        <p:spPr>
          <a:xfrm>
            <a:off x="8101584" y="4091940"/>
            <a:ext cx="237744" cy="23774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000"/>
              <a:buFont typeface="Calibri"/>
              <a:buNone/>
            </a:pPr>
            <a:r>
              <a:rPr b="1" i="0" lang="en-US" sz="1000" u="none" cap="none" strike="noStrike">
                <a:solidFill>
                  <a:srgbClr val="FFFFFF"/>
                </a:solidFill>
                <a:latin typeface="Calibri"/>
                <a:ea typeface="Calibri"/>
                <a:cs typeface="Calibri"/>
                <a:sym typeface="Calibri"/>
              </a:rPr>
              <a:t>3</a:t>
            </a:r>
            <a:endParaRPr b="0" i="0" sz="1000" u="none" cap="none" strike="noStrike">
              <a:solidFill>
                <a:schemeClr val="dk1"/>
              </a:solidFill>
              <a:latin typeface="Calibri"/>
              <a:ea typeface="Calibri"/>
              <a:cs typeface="Calibri"/>
              <a:sym typeface="Calibri"/>
            </a:endParaRPr>
          </a:p>
        </p:txBody>
      </p:sp>
      <p:sp>
        <p:nvSpPr>
          <p:cNvPr id="3197" name="Google Shape;3197;p115"/>
          <p:cNvSpPr/>
          <p:nvPr/>
        </p:nvSpPr>
        <p:spPr>
          <a:xfrm>
            <a:off x="8430768" y="4027932"/>
            <a:ext cx="3145536"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D2A5C"/>
              </a:buClr>
              <a:buSzPts val="1150"/>
              <a:buFont typeface="Calibri"/>
              <a:buNone/>
            </a:pPr>
            <a:r>
              <a:rPr b="1" i="0" lang="en-US" sz="1150" u="none" cap="none" strike="noStrike">
                <a:solidFill>
                  <a:srgbClr val="1D2A5C"/>
                </a:solidFill>
                <a:latin typeface="Calibri"/>
                <a:ea typeface="Calibri"/>
                <a:cs typeface="Calibri"/>
                <a:sym typeface="Calibri"/>
              </a:rPr>
              <a:t>Unconsumed GT = misses</a:t>
            </a:r>
            <a:endParaRPr b="0" i="0" sz="1150" u="none" cap="none" strike="noStrike">
              <a:solidFill>
                <a:schemeClr val="dk1"/>
              </a:solidFill>
              <a:latin typeface="Calibri"/>
              <a:ea typeface="Calibri"/>
              <a:cs typeface="Calibri"/>
              <a:sym typeface="Calibri"/>
            </a:endParaRPr>
          </a:p>
        </p:txBody>
      </p:sp>
      <p:sp>
        <p:nvSpPr>
          <p:cNvPr id="3198" name="Google Shape;3198;p115"/>
          <p:cNvSpPr/>
          <p:nvPr/>
        </p:nvSpPr>
        <p:spPr>
          <a:xfrm>
            <a:off x="8430768" y="4302252"/>
            <a:ext cx="3145536" cy="688086"/>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5F6B7A"/>
              </a:buClr>
              <a:buSzPts val="1000"/>
              <a:buFont typeface="Calibri"/>
              <a:buNone/>
            </a:pPr>
            <a:r>
              <a:rPr b="0" i="0" lang="en-US" sz="1000" u="none" cap="none" strike="noStrike">
                <a:solidFill>
                  <a:srgbClr val="5F6B7A"/>
                </a:solidFill>
                <a:latin typeface="Calibri"/>
                <a:ea typeface="Calibri"/>
                <a:cs typeface="Calibri"/>
                <a:sym typeface="Calibri"/>
              </a:rPr>
              <a:t>False negatives fall out of matching, not from a separate pass.</a:t>
            </a:r>
            <a:endParaRPr b="0" i="0" sz="1000" u="none" cap="none" strike="noStrike">
              <a:solidFill>
                <a:schemeClr val="dk1"/>
              </a:solidFill>
              <a:latin typeface="Calibri"/>
              <a:ea typeface="Calibri"/>
              <a:cs typeface="Calibri"/>
              <a:sym typeface="Calibri"/>
            </a:endParaRPr>
          </a:p>
        </p:txBody>
      </p:sp>
      <p:sp>
        <p:nvSpPr>
          <p:cNvPr id="3199" name="Google Shape;3199;p115"/>
          <p:cNvSpPr/>
          <p:nvPr/>
        </p:nvSpPr>
        <p:spPr>
          <a:xfrm>
            <a:off x="7973568" y="5264658"/>
            <a:ext cx="3712464" cy="1090422"/>
          </a:xfrm>
          <a:prstGeom prst="roundRect">
            <a:avLst>
              <a:gd fmla="val 5870" name="adj"/>
            </a:avLst>
          </a:prstGeom>
          <a:solidFill>
            <a:srgbClr val="F2F6F9"/>
          </a:solidFill>
          <a:ln cap="flat" cmpd="sng" w="12700">
            <a:solidFill>
              <a:srgbClr val="D9E2E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00" name="Google Shape;3200;p115"/>
          <p:cNvSpPr/>
          <p:nvPr/>
        </p:nvSpPr>
        <p:spPr>
          <a:xfrm>
            <a:off x="8101584" y="5383530"/>
            <a:ext cx="237744" cy="237744"/>
          </a:xfrm>
          <a:prstGeom prst="ellipse">
            <a:avLst/>
          </a:prstGeom>
          <a:solidFill>
            <a:srgbClr val="8DC63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01" name="Google Shape;3201;p115"/>
          <p:cNvSpPr/>
          <p:nvPr/>
        </p:nvSpPr>
        <p:spPr>
          <a:xfrm>
            <a:off x="8101584" y="5383530"/>
            <a:ext cx="237744" cy="23774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000"/>
              <a:buFont typeface="Calibri"/>
              <a:buNone/>
            </a:pPr>
            <a:r>
              <a:rPr b="1" i="0" lang="en-US" sz="1000" u="none" cap="none" strike="noStrike">
                <a:solidFill>
                  <a:srgbClr val="FFFFFF"/>
                </a:solidFill>
                <a:latin typeface="Calibri"/>
                <a:ea typeface="Calibri"/>
                <a:cs typeface="Calibri"/>
                <a:sym typeface="Calibri"/>
              </a:rPr>
              <a:t>4</a:t>
            </a:r>
            <a:endParaRPr b="0" i="0" sz="1000" u="none" cap="none" strike="noStrike">
              <a:solidFill>
                <a:schemeClr val="dk1"/>
              </a:solidFill>
              <a:latin typeface="Calibri"/>
              <a:ea typeface="Calibri"/>
              <a:cs typeface="Calibri"/>
              <a:sym typeface="Calibri"/>
            </a:endParaRPr>
          </a:p>
        </p:txBody>
      </p:sp>
      <p:sp>
        <p:nvSpPr>
          <p:cNvPr id="3202" name="Google Shape;3202;p115"/>
          <p:cNvSpPr/>
          <p:nvPr/>
        </p:nvSpPr>
        <p:spPr>
          <a:xfrm>
            <a:off x="8430768" y="5319522"/>
            <a:ext cx="3145536"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D2A5C"/>
              </a:buClr>
              <a:buSzPts val="1150"/>
              <a:buFont typeface="Calibri"/>
              <a:buNone/>
            </a:pPr>
            <a:r>
              <a:rPr b="1" i="0" lang="en-US" sz="1150" u="none" cap="none" strike="noStrike">
                <a:solidFill>
                  <a:srgbClr val="1D2A5C"/>
                </a:solidFill>
                <a:latin typeface="Calibri"/>
                <a:ea typeface="Calibri"/>
                <a:cs typeface="Calibri"/>
                <a:sym typeface="Calibri"/>
              </a:rPr>
              <a:t>Validate vs Ultralytics</a:t>
            </a:r>
            <a:endParaRPr b="0" i="0" sz="1150" u="none" cap="none" strike="noStrike">
              <a:solidFill>
                <a:schemeClr val="dk1"/>
              </a:solidFill>
              <a:latin typeface="Calibri"/>
              <a:ea typeface="Calibri"/>
              <a:cs typeface="Calibri"/>
              <a:sym typeface="Calibri"/>
            </a:endParaRPr>
          </a:p>
        </p:txBody>
      </p:sp>
      <p:sp>
        <p:nvSpPr>
          <p:cNvPr id="3203" name="Google Shape;3203;p115"/>
          <p:cNvSpPr/>
          <p:nvPr/>
        </p:nvSpPr>
        <p:spPr>
          <a:xfrm>
            <a:off x="8430768" y="5593842"/>
            <a:ext cx="3145536" cy="688086"/>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5F6B7A"/>
              </a:buClr>
              <a:buSzPts val="1000"/>
              <a:buFont typeface="Calibri"/>
              <a:buNone/>
            </a:pPr>
            <a:r>
              <a:rPr b="0" i="0" lang="en-US" sz="1000" u="none" cap="none" strike="noStrike">
                <a:solidFill>
                  <a:srgbClr val="5F6B7A"/>
                </a:solidFill>
                <a:latin typeface="Calibri"/>
                <a:ea typeface="Calibri"/>
                <a:cs typeface="Calibri"/>
                <a:sym typeface="Calibri"/>
              </a:rPr>
              <a:t>Lab bar: per-class AP within ±0.005; the usual gap is matching order.</a:t>
            </a:r>
            <a:endParaRPr b="0" i="0" sz="1000" u="none" cap="none" strike="noStrike">
              <a:solidFill>
                <a:schemeClr val="dk1"/>
              </a:solidFill>
              <a:latin typeface="Calibri"/>
              <a:ea typeface="Calibri"/>
              <a:cs typeface="Calibri"/>
              <a:sym typeface="Calibri"/>
            </a:endParaRPr>
          </a:p>
        </p:txBody>
      </p:sp>
    </p:spTree>
  </p:cSld>
  <p:clrMapOvr>
    <a:masterClrMapping/>
  </p:clrMapOvr>
</p:sld>
</file>

<file path=ppt/slides/slide1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208" name="Shape 3208"/>
        <p:cNvGrpSpPr/>
        <p:nvPr/>
      </p:nvGrpSpPr>
      <p:grpSpPr>
        <a:xfrm>
          <a:off x="0" y="0"/>
          <a:ext cx="0" cy="0"/>
          <a:chOff x="0" y="0"/>
          <a:chExt cx="0" cy="0"/>
        </a:xfrm>
      </p:grpSpPr>
      <p:sp>
        <p:nvSpPr>
          <p:cNvPr id="3209" name="Google Shape;3209;p116"/>
          <p:cNvSpPr/>
          <p:nvPr/>
        </p:nvSpPr>
        <p:spPr>
          <a:xfrm>
            <a:off x="502920" y="274320"/>
            <a:ext cx="9646920" cy="56692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D2A5C"/>
              </a:buClr>
              <a:buSzPts val="2700"/>
              <a:buFont typeface="Calibri"/>
              <a:buNone/>
            </a:pPr>
            <a:r>
              <a:rPr b="1" i="0" lang="en-US" sz="2700" u="none" cap="none" strike="noStrike">
                <a:solidFill>
                  <a:srgbClr val="1D2A5C"/>
                </a:solidFill>
                <a:latin typeface="Calibri"/>
                <a:ea typeface="Calibri"/>
                <a:cs typeface="Calibri"/>
                <a:sym typeface="Calibri"/>
              </a:rPr>
              <a:t>The Harness Run and Regression Mode</a:t>
            </a:r>
            <a:endParaRPr b="0" i="0" sz="2700" u="none" cap="none" strike="noStrike">
              <a:solidFill>
                <a:schemeClr val="dk1"/>
              </a:solidFill>
              <a:latin typeface="Calibri"/>
              <a:ea typeface="Calibri"/>
              <a:cs typeface="Calibri"/>
              <a:sym typeface="Calibri"/>
            </a:endParaRPr>
          </a:p>
        </p:txBody>
      </p:sp>
      <p:sp>
        <p:nvSpPr>
          <p:cNvPr id="3210" name="Google Shape;3210;p116"/>
          <p:cNvSpPr/>
          <p:nvPr/>
        </p:nvSpPr>
        <p:spPr>
          <a:xfrm>
            <a:off x="502920" y="859536"/>
            <a:ext cx="9646920" cy="31089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F6B7A"/>
              </a:buClr>
              <a:buSzPts val="1250"/>
              <a:buFont typeface="Arial"/>
              <a:buNone/>
            </a:pPr>
            <a:r>
              <a:rPr b="0" i="0" lang="en-US" sz="1250" u="none" cap="none" strike="noStrike">
                <a:solidFill>
                  <a:srgbClr val="5F6B7A"/>
                </a:solidFill>
                <a:latin typeface="Arial"/>
                <a:ea typeface="Arial"/>
                <a:cs typeface="Arial"/>
                <a:sym typeface="Arial"/>
              </a:rPr>
              <a:t>تشغيل المنصة ووضع الانحدار</a:t>
            </a:r>
            <a:endParaRPr b="0" i="0" sz="1250" u="none" cap="none" strike="noStrike">
              <a:solidFill>
                <a:schemeClr val="dk1"/>
              </a:solidFill>
              <a:latin typeface="Calibri"/>
              <a:ea typeface="Calibri"/>
              <a:cs typeface="Calibri"/>
              <a:sym typeface="Calibri"/>
            </a:endParaRPr>
          </a:p>
        </p:txBody>
      </p:sp>
      <p:pic>
        <p:nvPicPr>
          <p:cNvPr descr="/sessions/blissful-determined-ritchie/build/assets/sdaia_logo.png" id="3211" name="Google Shape;3211;p116"/>
          <p:cNvPicPr preferRelativeResize="0"/>
          <p:nvPr/>
        </p:nvPicPr>
        <p:blipFill rotWithShape="1">
          <a:blip r:embed="rId3">
            <a:alphaModFix/>
          </a:blip>
          <a:srcRect b="0" l="0" r="0" t="0"/>
          <a:stretch/>
        </p:blipFill>
        <p:spPr>
          <a:xfrm>
            <a:off x="10625328" y="310896"/>
            <a:ext cx="1078992" cy="264111"/>
          </a:xfrm>
          <a:prstGeom prst="rect">
            <a:avLst/>
          </a:prstGeom>
          <a:noFill/>
          <a:ln>
            <a:noFill/>
          </a:ln>
        </p:spPr>
      </p:pic>
      <p:sp>
        <p:nvSpPr>
          <p:cNvPr id="3212" name="Google Shape;3212;p116"/>
          <p:cNvSpPr/>
          <p:nvPr/>
        </p:nvSpPr>
        <p:spPr>
          <a:xfrm>
            <a:off x="502920" y="6528816"/>
            <a:ext cx="8686800"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A79D"/>
              </a:buClr>
              <a:buSzPts val="800"/>
              <a:buFont typeface="Calibri"/>
              <a:buNone/>
            </a:pPr>
            <a:r>
              <a:rPr b="1" i="0" lang="en-US" sz="800" u="none" cap="none" strike="noStrike">
                <a:solidFill>
                  <a:srgbClr val="00A79D"/>
                </a:solidFill>
                <a:latin typeface="Calibri"/>
                <a:ea typeface="Calibri"/>
                <a:cs typeface="Calibri"/>
                <a:sym typeface="Calibri"/>
              </a:rPr>
              <a:t>MODULE 6 · CODE   </a:t>
            </a:r>
            <a:r>
              <a:rPr b="0" i="0" lang="en-US" sz="800" u="none" cap="none" strike="noStrike">
                <a:solidFill>
                  <a:srgbClr val="8A96A6"/>
                </a:solidFill>
                <a:latin typeface="Calibri"/>
                <a:ea typeface="Calibri"/>
                <a:cs typeface="Calibri"/>
                <a:sym typeface="Calibri"/>
              </a:rPr>
              <a:t>SDA-AIE-212 · Computer Vision Systems Development</a:t>
            </a:r>
            <a:endParaRPr b="0" i="0" sz="800" u="none" cap="none" strike="noStrike">
              <a:solidFill>
                <a:schemeClr val="dk1"/>
              </a:solidFill>
              <a:latin typeface="Calibri"/>
              <a:ea typeface="Calibri"/>
              <a:cs typeface="Calibri"/>
              <a:sym typeface="Calibri"/>
            </a:endParaRPr>
          </a:p>
        </p:txBody>
      </p:sp>
      <p:sp>
        <p:nvSpPr>
          <p:cNvPr id="3213" name="Google Shape;3213;p116"/>
          <p:cNvSpPr/>
          <p:nvPr/>
        </p:nvSpPr>
        <p:spPr>
          <a:xfrm>
            <a:off x="11292840" y="6528816"/>
            <a:ext cx="411480" cy="219456"/>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8A96A6"/>
              </a:buClr>
              <a:buSzPts val="900"/>
              <a:buFont typeface="Calibri"/>
              <a:buNone/>
            </a:pPr>
            <a:r>
              <a:rPr b="0" i="0" lang="en-US" sz="900" u="none" cap="none" strike="noStrike">
                <a:solidFill>
                  <a:srgbClr val="8A96A6"/>
                </a:solidFill>
                <a:latin typeface="Calibri"/>
                <a:ea typeface="Calibri"/>
                <a:cs typeface="Calibri"/>
                <a:sym typeface="Calibri"/>
              </a:rPr>
              <a:t>116</a:t>
            </a:r>
            <a:endParaRPr b="0" i="0" sz="900" u="none" cap="none" strike="noStrike">
              <a:solidFill>
                <a:schemeClr val="dk1"/>
              </a:solidFill>
              <a:latin typeface="Calibri"/>
              <a:ea typeface="Calibri"/>
              <a:cs typeface="Calibri"/>
              <a:sym typeface="Calibri"/>
            </a:endParaRPr>
          </a:p>
        </p:txBody>
      </p:sp>
      <p:sp>
        <p:nvSpPr>
          <p:cNvPr id="3214" name="Google Shape;3214;p116"/>
          <p:cNvSpPr/>
          <p:nvPr/>
        </p:nvSpPr>
        <p:spPr>
          <a:xfrm>
            <a:off x="502920" y="1389888"/>
            <a:ext cx="7178040" cy="4965192"/>
          </a:xfrm>
          <a:prstGeom prst="roundRect">
            <a:avLst>
              <a:gd fmla="val 1842" name="adj"/>
            </a:avLst>
          </a:prstGeom>
          <a:solidFill>
            <a:srgbClr val="0F172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15" name="Google Shape;3215;p116"/>
          <p:cNvSpPr/>
          <p:nvPr/>
        </p:nvSpPr>
        <p:spPr>
          <a:xfrm>
            <a:off x="704088" y="1536192"/>
            <a:ext cx="1843430" cy="292608"/>
          </a:xfrm>
          <a:prstGeom prst="roundRect">
            <a:avLst>
              <a:gd fmla="val 18750" name="adj"/>
            </a:avLst>
          </a:prstGeom>
          <a:solidFill>
            <a:srgbClr val="1E293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16" name="Google Shape;3216;p116"/>
          <p:cNvSpPr/>
          <p:nvPr/>
        </p:nvSpPr>
        <p:spPr>
          <a:xfrm>
            <a:off x="795528" y="1536192"/>
            <a:ext cx="662940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EEAD4"/>
              </a:buClr>
              <a:buSzPts val="950"/>
              <a:buFont typeface="Courier New"/>
              <a:buNone/>
            </a:pPr>
            <a:r>
              <a:rPr b="0" i="0" lang="en-US" sz="950" u="none" cap="none" strike="noStrike">
                <a:solidFill>
                  <a:srgbClr val="5EEAD4"/>
                </a:solidFill>
                <a:latin typeface="Courier New"/>
                <a:ea typeface="Courier New"/>
                <a:cs typeface="Courier New"/>
                <a:sym typeface="Courier New"/>
              </a:rPr>
              <a:t>scripts/eval_report.py</a:t>
            </a:r>
            <a:endParaRPr b="0" i="0" sz="950" u="none" cap="none" strike="noStrike">
              <a:solidFill>
                <a:schemeClr val="dk1"/>
              </a:solidFill>
              <a:latin typeface="Calibri"/>
              <a:ea typeface="Calibri"/>
              <a:cs typeface="Calibri"/>
              <a:sym typeface="Calibri"/>
            </a:endParaRPr>
          </a:p>
        </p:txBody>
      </p:sp>
      <p:sp>
        <p:nvSpPr>
          <p:cNvPr id="3217" name="Google Shape;3217;p116"/>
          <p:cNvSpPr/>
          <p:nvPr/>
        </p:nvSpPr>
        <p:spPr>
          <a:xfrm>
            <a:off x="758952" y="1920240"/>
            <a:ext cx="6720840" cy="4279392"/>
          </a:xfrm>
          <a:prstGeom prst="rect">
            <a:avLst/>
          </a:prstGeom>
          <a:noFill/>
          <a:ln>
            <a:noFill/>
          </a:ln>
        </p:spPr>
        <p:txBody>
          <a:bodyPr anchorCtr="0" anchor="t" bIns="0" lIns="0" spcFirstLastPara="1" rIns="0" wrap="square" tIns="0">
            <a:noAutofit/>
          </a:bodyPr>
          <a:lstStyle/>
          <a:p>
            <a:pPr indent="0" lvl="0" marL="0" marR="0" rtl="0" algn="l">
              <a:lnSpc>
                <a:spcPct val="128000"/>
              </a:lnSpc>
              <a:spcBef>
                <a:spcPts val="0"/>
              </a:spcBef>
              <a:spcAft>
                <a:spcPts val="0"/>
              </a:spcAft>
              <a:buClr>
                <a:srgbClr val="8FBF71"/>
              </a:buClr>
              <a:buSzPts val="900"/>
              <a:buFont typeface="Courier New"/>
              <a:buNone/>
            </a:pPr>
            <a:r>
              <a:rPr b="0" i="0" lang="en-US" sz="900" u="none" cap="none" strike="noStrike">
                <a:solidFill>
                  <a:srgbClr val="8FBF71"/>
                </a:solidFill>
                <a:latin typeface="Courier New"/>
                <a:ea typeface="Courier New"/>
                <a:cs typeface="Courier New"/>
                <a:sym typeface="Courier New"/>
              </a:rPr>
              <a:t>"""Full harness run: metrics + slices + error taxonomy +</a:t>
            </a:r>
            <a:endParaRPr b="0" i="0" sz="900" u="none" cap="none" strike="noStrike">
              <a:solidFill>
                <a:schemeClr val="dk1"/>
              </a:solidFill>
              <a:latin typeface="Calibri"/>
              <a:ea typeface="Calibri"/>
              <a:cs typeface="Calibri"/>
              <a:sym typeface="Calibri"/>
            </a:endParaRPr>
          </a:p>
          <a:p>
            <a:pPr indent="0" lvl="0" marL="0" marR="0" rtl="0" algn="l">
              <a:lnSpc>
                <a:spcPct val="128000"/>
              </a:lnSpc>
              <a:spcBef>
                <a:spcPts val="0"/>
              </a:spcBef>
              <a:spcAft>
                <a:spcPts val="0"/>
              </a:spcAft>
              <a:buClr>
                <a:srgbClr val="DCE6F5"/>
              </a:buClr>
              <a:buSzPts val="900"/>
              <a:buFont typeface="Courier New"/>
              <a:buNone/>
            </a:pPr>
            <a:r>
              <a:rPr b="0" i="0" lang="en-US" sz="900" u="none" cap="none" strike="noStrike">
                <a:solidFill>
                  <a:srgbClr val="DCE6F5"/>
                </a:solidFill>
                <a:latin typeface="Courier New"/>
                <a:ea typeface="Courier New"/>
                <a:cs typeface="Courier New"/>
                <a:sym typeface="Courier New"/>
              </a:rPr>
              <a:t>gallery. Regression mode compares two checkpoints."""</a:t>
            </a:r>
            <a:endParaRPr b="0" i="0" sz="900" u="none" cap="none" strike="noStrike">
              <a:solidFill>
                <a:schemeClr val="dk1"/>
              </a:solidFill>
              <a:latin typeface="Calibri"/>
              <a:ea typeface="Calibri"/>
              <a:cs typeface="Calibri"/>
              <a:sym typeface="Calibri"/>
            </a:endParaRPr>
          </a:p>
          <a:p>
            <a:pPr indent="0" lvl="0" marL="0" marR="0" rtl="0" algn="l">
              <a:lnSpc>
                <a:spcPct val="128000"/>
              </a:lnSpc>
              <a:spcBef>
                <a:spcPts val="0"/>
              </a:spcBef>
              <a:spcAft>
                <a:spcPts val="0"/>
              </a:spcAft>
              <a:buClr>
                <a:srgbClr val="DCE6F5"/>
              </a:buClr>
              <a:buSzPts val="900"/>
              <a:buFont typeface="Courier New"/>
              <a:buNone/>
            </a:pPr>
            <a:r>
              <a:rPr b="0" i="0" lang="en-US" sz="900" u="none" cap="none" strike="noStrike">
                <a:solidFill>
                  <a:srgbClr val="DCE6F5"/>
                </a:solidFill>
                <a:latin typeface="Courier New"/>
                <a:ea typeface="Courier New"/>
                <a:cs typeface="Courier New"/>
                <a:sym typeface="Courier New"/>
              </a:rPr>
              <a:t>import argparse</a:t>
            </a:r>
            <a:endParaRPr b="0" i="0" sz="900" u="none" cap="none" strike="noStrike">
              <a:solidFill>
                <a:schemeClr val="dk1"/>
              </a:solidFill>
              <a:latin typeface="Calibri"/>
              <a:ea typeface="Calibri"/>
              <a:cs typeface="Calibri"/>
              <a:sym typeface="Calibri"/>
            </a:endParaRPr>
          </a:p>
          <a:p>
            <a:pPr indent="0" lvl="0" marL="0" marR="0" rtl="0" algn="l">
              <a:lnSpc>
                <a:spcPct val="128000"/>
              </a:lnSpc>
              <a:spcBef>
                <a:spcPts val="0"/>
              </a:spcBef>
              <a:spcAft>
                <a:spcPts val="0"/>
              </a:spcAft>
              <a:buClr>
                <a:srgbClr val="DCE6F5"/>
              </a:buClr>
              <a:buSzPts val="900"/>
              <a:buFont typeface="Courier New"/>
              <a:buNone/>
            </a:pPr>
            <a:r>
              <a:rPr b="0" i="0" lang="en-US" sz="900" u="none" cap="none" strike="noStrike">
                <a:solidFill>
                  <a:srgbClr val="DCE6F5"/>
                </a:solidFill>
                <a:latin typeface="Courier New"/>
                <a:ea typeface="Courier New"/>
                <a:cs typeface="Courier New"/>
                <a:sym typeface="Courier New"/>
              </a:rPr>
              <a:t>from tamr_vision.eval import harness</a:t>
            </a:r>
            <a:endParaRPr b="0" i="0" sz="900" u="none" cap="none" strike="noStrike">
              <a:solidFill>
                <a:schemeClr val="dk1"/>
              </a:solidFill>
              <a:latin typeface="Calibri"/>
              <a:ea typeface="Calibri"/>
              <a:cs typeface="Calibri"/>
              <a:sym typeface="Calibri"/>
            </a:endParaRPr>
          </a:p>
          <a:p>
            <a:pPr indent="0" lvl="0" marL="0" marR="0" rtl="0" algn="l">
              <a:lnSpc>
                <a:spcPct val="128000"/>
              </a:lnSpc>
              <a:spcBef>
                <a:spcPts val="0"/>
              </a:spcBef>
              <a:spcAft>
                <a:spcPts val="0"/>
              </a:spcAft>
              <a:buClr>
                <a:srgbClr val="DCE6F5"/>
              </a:buClr>
              <a:buSzPts val="900"/>
              <a:buFont typeface="Courier New"/>
              <a:buNone/>
            </a:pPr>
            <a:r>
              <a:rPr b="0" i="0" lang="en-US" sz="900" u="none" cap="none" strike="noStrike">
                <a:solidFill>
                  <a:srgbClr val="DCE6F5"/>
                </a:solidFill>
                <a:latin typeface="Courier New"/>
                <a:ea typeface="Courier New"/>
                <a:cs typeface="Courier New"/>
                <a:sym typeface="Courier New"/>
              </a:rPr>
              <a:t> </a:t>
            </a:r>
            <a:endParaRPr b="0" i="0" sz="900" u="none" cap="none" strike="noStrike">
              <a:solidFill>
                <a:schemeClr val="dk1"/>
              </a:solidFill>
              <a:latin typeface="Calibri"/>
              <a:ea typeface="Calibri"/>
              <a:cs typeface="Calibri"/>
              <a:sym typeface="Calibri"/>
            </a:endParaRPr>
          </a:p>
          <a:p>
            <a:pPr indent="0" lvl="0" marL="0" marR="0" rtl="0" algn="l">
              <a:lnSpc>
                <a:spcPct val="128000"/>
              </a:lnSpc>
              <a:spcBef>
                <a:spcPts val="0"/>
              </a:spcBef>
              <a:spcAft>
                <a:spcPts val="0"/>
              </a:spcAft>
              <a:buClr>
                <a:srgbClr val="DCE6F5"/>
              </a:buClr>
              <a:buSzPts val="900"/>
              <a:buFont typeface="Courier New"/>
              <a:buNone/>
            </a:pPr>
            <a:r>
              <a:rPr b="0" i="0" lang="en-US" sz="900" u="none" cap="none" strike="noStrike">
                <a:solidFill>
                  <a:srgbClr val="DCE6F5"/>
                </a:solidFill>
                <a:latin typeface="Courier New"/>
                <a:ea typeface="Courier New"/>
                <a:cs typeface="Courier New"/>
                <a:sym typeface="Courier New"/>
              </a:rPr>
              <a:t>parser = argparse.ArgumentParser()</a:t>
            </a:r>
            <a:endParaRPr b="0" i="0" sz="900" u="none" cap="none" strike="noStrike">
              <a:solidFill>
                <a:schemeClr val="dk1"/>
              </a:solidFill>
              <a:latin typeface="Calibri"/>
              <a:ea typeface="Calibri"/>
              <a:cs typeface="Calibri"/>
              <a:sym typeface="Calibri"/>
            </a:endParaRPr>
          </a:p>
          <a:p>
            <a:pPr indent="0" lvl="0" marL="0" marR="0" rtl="0" algn="l">
              <a:lnSpc>
                <a:spcPct val="128000"/>
              </a:lnSpc>
              <a:spcBef>
                <a:spcPts val="0"/>
              </a:spcBef>
              <a:spcAft>
                <a:spcPts val="0"/>
              </a:spcAft>
              <a:buClr>
                <a:srgbClr val="DCE6F5"/>
              </a:buClr>
              <a:buSzPts val="900"/>
              <a:buFont typeface="Courier New"/>
              <a:buNone/>
            </a:pPr>
            <a:r>
              <a:rPr b="0" i="0" lang="en-US" sz="900" u="none" cap="none" strike="noStrike">
                <a:solidFill>
                  <a:srgbClr val="DCE6F5"/>
                </a:solidFill>
                <a:latin typeface="Courier New"/>
                <a:ea typeface="Courier New"/>
                <a:cs typeface="Courier New"/>
                <a:sym typeface="Courier New"/>
              </a:rPr>
              <a:t>parser.add_argument("--model", required=True)</a:t>
            </a:r>
            <a:endParaRPr b="0" i="0" sz="900" u="none" cap="none" strike="noStrike">
              <a:solidFill>
                <a:schemeClr val="dk1"/>
              </a:solidFill>
              <a:latin typeface="Calibri"/>
              <a:ea typeface="Calibri"/>
              <a:cs typeface="Calibri"/>
              <a:sym typeface="Calibri"/>
            </a:endParaRPr>
          </a:p>
          <a:p>
            <a:pPr indent="0" lvl="0" marL="0" marR="0" rtl="0" algn="l">
              <a:lnSpc>
                <a:spcPct val="128000"/>
              </a:lnSpc>
              <a:spcBef>
                <a:spcPts val="0"/>
              </a:spcBef>
              <a:spcAft>
                <a:spcPts val="0"/>
              </a:spcAft>
              <a:buClr>
                <a:srgbClr val="DCE6F5"/>
              </a:buClr>
              <a:buSzPts val="900"/>
              <a:buFont typeface="Courier New"/>
              <a:buNone/>
            </a:pPr>
            <a:r>
              <a:rPr b="0" i="0" lang="en-US" sz="900" u="none" cap="none" strike="noStrike">
                <a:solidFill>
                  <a:srgbClr val="DCE6F5"/>
                </a:solidFill>
                <a:latin typeface="Courier New"/>
                <a:ea typeface="Courier New"/>
                <a:cs typeface="Courier New"/>
                <a:sym typeface="Courier New"/>
              </a:rPr>
              <a:t>parser.add_argument("--baseline")            # regression mode</a:t>
            </a:r>
            <a:endParaRPr b="0" i="0" sz="900" u="none" cap="none" strike="noStrike">
              <a:solidFill>
                <a:schemeClr val="dk1"/>
              </a:solidFill>
              <a:latin typeface="Calibri"/>
              <a:ea typeface="Calibri"/>
              <a:cs typeface="Calibri"/>
              <a:sym typeface="Calibri"/>
            </a:endParaRPr>
          </a:p>
          <a:p>
            <a:pPr indent="0" lvl="0" marL="0" marR="0" rtl="0" algn="l">
              <a:lnSpc>
                <a:spcPct val="128000"/>
              </a:lnSpc>
              <a:spcBef>
                <a:spcPts val="0"/>
              </a:spcBef>
              <a:spcAft>
                <a:spcPts val="0"/>
              </a:spcAft>
              <a:buClr>
                <a:srgbClr val="DCE6F5"/>
              </a:buClr>
              <a:buSzPts val="900"/>
              <a:buFont typeface="Courier New"/>
              <a:buNone/>
            </a:pPr>
            <a:r>
              <a:rPr b="0" i="0" lang="en-US" sz="900" u="none" cap="none" strike="noStrike">
                <a:solidFill>
                  <a:srgbClr val="DCE6F5"/>
                </a:solidFill>
                <a:latin typeface="Courier New"/>
                <a:ea typeface="Courier New"/>
                <a:cs typeface="Courier New"/>
                <a:sym typeface="Courier New"/>
              </a:rPr>
              <a:t>parser.add_argument("--split", default="test@dates-qc-v1")</a:t>
            </a:r>
            <a:endParaRPr b="0" i="0" sz="900" u="none" cap="none" strike="noStrike">
              <a:solidFill>
                <a:schemeClr val="dk1"/>
              </a:solidFill>
              <a:latin typeface="Calibri"/>
              <a:ea typeface="Calibri"/>
              <a:cs typeface="Calibri"/>
              <a:sym typeface="Calibri"/>
            </a:endParaRPr>
          </a:p>
          <a:p>
            <a:pPr indent="0" lvl="0" marL="0" marR="0" rtl="0" algn="l">
              <a:lnSpc>
                <a:spcPct val="128000"/>
              </a:lnSpc>
              <a:spcBef>
                <a:spcPts val="0"/>
              </a:spcBef>
              <a:spcAft>
                <a:spcPts val="0"/>
              </a:spcAft>
              <a:buClr>
                <a:srgbClr val="DCE6F5"/>
              </a:buClr>
              <a:buSzPts val="900"/>
              <a:buFont typeface="Courier New"/>
              <a:buNone/>
            </a:pPr>
            <a:r>
              <a:rPr b="0" i="0" lang="en-US" sz="900" u="none" cap="none" strike="noStrike">
                <a:solidFill>
                  <a:srgbClr val="DCE6F5"/>
                </a:solidFill>
                <a:latin typeface="Courier New"/>
                <a:ea typeface="Courier New"/>
                <a:cs typeface="Courier New"/>
                <a:sym typeface="Courier New"/>
              </a:rPr>
              <a:t>args = parser.parse_args()</a:t>
            </a:r>
            <a:endParaRPr b="0" i="0" sz="900" u="none" cap="none" strike="noStrike">
              <a:solidFill>
                <a:schemeClr val="dk1"/>
              </a:solidFill>
              <a:latin typeface="Calibri"/>
              <a:ea typeface="Calibri"/>
              <a:cs typeface="Calibri"/>
              <a:sym typeface="Calibri"/>
            </a:endParaRPr>
          </a:p>
          <a:p>
            <a:pPr indent="0" lvl="0" marL="0" marR="0" rtl="0" algn="l">
              <a:lnSpc>
                <a:spcPct val="128000"/>
              </a:lnSpc>
              <a:spcBef>
                <a:spcPts val="0"/>
              </a:spcBef>
              <a:spcAft>
                <a:spcPts val="0"/>
              </a:spcAft>
              <a:buClr>
                <a:srgbClr val="DCE6F5"/>
              </a:buClr>
              <a:buSzPts val="900"/>
              <a:buFont typeface="Courier New"/>
              <a:buNone/>
            </a:pPr>
            <a:r>
              <a:rPr b="0" i="0" lang="en-US" sz="900" u="none" cap="none" strike="noStrike">
                <a:solidFill>
                  <a:srgbClr val="DCE6F5"/>
                </a:solidFill>
                <a:latin typeface="Courier New"/>
                <a:ea typeface="Courier New"/>
                <a:cs typeface="Courier New"/>
                <a:sym typeface="Courier New"/>
              </a:rPr>
              <a:t> </a:t>
            </a:r>
            <a:endParaRPr b="0" i="0" sz="900" u="none" cap="none" strike="noStrike">
              <a:solidFill>
                <a:schemeClr val="dk1"/>
              </a:solidFill>
              <a:latin typeface="Calibri"/>
              <a:ea typeface="Calibri"/>
              <a:cs typeface="Calibri"/>
              <a:sym typeface="Calibri"/>
            </a:endParaRPr>
          </a:p>
          <a:p>
            <a:pPr indent="0" lvl="0" marL="0" marR="0" rtl="0" algn="l">
              <a:lnSpc>
                <a:spcPct val="128000"/>
              </a:lnSpc>
              <a:spcBef>
                <a:spcPts val="0"/>
              </a:spcBef>
              <a:spcAft>
                <a:spcPts val="0"/>
              </a:spcAft>
              <a:buClr>
                <a:srgbClr val="DCE6F5"/>
              </a:buClr>
              <a:buSzPts val="900"/>
              <a:buFont typeface="Courier New"/>
              <a:buNone/>
            </a:pPr>
            <a:r>
              <a:rPr b="0" i="0" lang="en-US" sz="900" u="none" cap="none" strike="noStrike">
                <a:solidFill>
                  <a:srgbClr val="DCE6F5"/>
                </a:solidFill>
                <a:latin typeface="Courier New"/>
                <a:ea typeface="Courier New"/>
                <a:cs typeface="Courier New"/>
                <a:sym typeface="Courier New"/>
              </a:rPr>
              <a:t>run = harness.evaluate(args.model, split=args.split,</a:t>
            </a:r>
            <a:endParaRPr b="0" i="0" sz="900" u="none" cap="none" strike="noStrike">
              <a:solidFill>
                <a:schemeClr val="dk1"/>
              </a:solidFill>
              <a:latin typeface="Calibri"/>
              <a:ea typeface="Calibri"/>
              <a:cs typeface="Calibri"/>
              <a:sym typeface="Calibri"/>
            </a:endParaRPr>
          </a:p>
          <a:p>
            <a:pPr indent="0" lvl="0" marL="0" marR="0" rtl="0" algn="l">
              <a:lnSpc>
                <a:spcPct val="128000"/>
              </a:lnSpc>
              <a:spcBef>
                <a:spcPts val="0"/>
              </a:spcBef>
              <a:spcAft>
                <a:spcPts val="0"/>
              </a:spcAft>
              <a:buClr>
                <a:srgbClr val="DCE6F5"/>
              </a:buClr>
              <a:buSzPts val="900"/>
              <a:buFont typeface="Courier New"/>
              <a:buNone/>
            </a:pPr>
            <a:r>
              <a:rPr b="0" i="0" lang="en-US" sz="900" u="none" cap="none" strike="noStrike">
                <a:solidFill>
                  <a:srgbClr val="DCE6F5"/>
                </a:solidFill>
                <a:latin typeface="Courier New"/>
                <a:ea typeface="Courier New"/>
                <a:cs typeface="Courier New"/>
                <a:sym typeface="Courier New"/>
              </a:rPr>
              <a:t>                       config="configs/eval_v1.yaml")</a:t>
            </a:r>
            <a:endParaRPr b="0" i="0" sz="900" u="none" cap="none" strike="noStrike">
              <a:solidFill>
                <a:schemeClr val="dk1"/>
              </a:solidFill>
              <a:latin typeface="Calibri"/>
              <a:ea typeface="Calibri"/>
              <a:cs typeface="Calibri"/>
              <a:sym typeface="Calibri"/>
            </a:endParaRPr>
          </a:p>
          <a:p>
            <a:pPr indent="0" lvl="0" marL="0" marR="0" rtl="0" algn="l">
              <a:lnSpc>
                <a:spcPct val="128000"/>
              </a:lnSpc>
              <a:spcBef>
                <a:spcPts val="0"/>
              </a:spcBef>
              <a:spcAft>
                <a:spcPts val="0"/>
              </a:spcAft>
              <a:buClr>
                <a:srgbClr val="DCE6F5"/>
              </a:buClr>
              <a:buSzPts val="900"/>
              <a:buFont typeface="Courier New"/>
              <a:buNone/>
            </a:pPr>
            <a:r>
              <a:rPr b="0" i="0" lang="en-US" sz="900" u="none" cap="none" strike="noStrike">
                <a:solidFill>
                  <a:srgbClr val="DCE6F5"/>
                </a:solidFill>
                <a:latin typeface="Courier New"/>
                <a:ea typeface="Courier New"/>
                <a:cs typeface="Courier New"/>
                <a:sym typeface="Courier New"/>
              </a:rPr>
              <a:t>run.save("reports/eval")     # parquet cache + HTML report</a:t>
            </a:r>
            <a:endParaRPr b="0" i="0" sz="900" u="none" cap="none" strike="noStrike">
              <a:solidFill>
                <a:schemeClr val="dk1"/>
              </a:solidFill>
              <a:latin typeface="Calibri"/>
              <a:ea typeface="Calibri"/>
              <a:cs typeface="Calibri"/>
              <a:sym typeface="Calibri"/>
            </a:endParaRPr>
          </a:p>
          <a:p>
            <a:pPr indent="0" lvl="0" marL="0" marR="0" rtl="0" algn="l">
              <a:lnSpc>
                <a:spcPct val="128000"/>
              </a:lnSpc>
              <a:spcBef>
                <a:spcPts val="0"/>
              </a:spcBef>
              <a:spcAft>
                <a:spcPts val="0"/>
              </a:spcAft>
              <a:buClr>
                <a:srgbClr val="DCE6F5"/>
              </a:buClr>
              <a:buSzPts val="900"/>
              <a:buFont typeface="Courier New"/>
              <a:buNone/>
            </a:pPr>
            <a:r>
              <a:rPr b="0" i="0" lang="en-US" sz="900" u="none" cap="none" strike="noStrike">
                <a:solidFill>
                  <a:srgbClr val="DCE6F5"/>
                </a:solidFill>
                <a:latin typeface="Courier New"/>
                <a:ea typeface="Courier New"/>
                <a:cs typeface="Courier New"/>
                <a:sym typeface="Courier New"/>
              </a:rPr>
              <a:t>print(f"mAP@0.5={run.map50:.3f}")</a:t>
            </a:r>
            <a:endParaRPr b="0" i="0" sz="900" u="none" cap="none" strike="noStrike">
              <a:solidFill>
                <a:schemeClr val="dk1"/>
              </a:solidFill>
              <a:latin typeface="Calibri"/>
              <a:ea typeface="Calibri"/>
              <a:cs typeface="Calibri"/>
              <a:sym typeface="Calibri"/>
            </a:endParaRPr>
          </a:p>
          <a:p>
            <a:pPr indent="0" lvl="0" marL="0" marR="0" rtl="0" algn="l">
              <a:lnSpc>
                <a:spcPct val="128000"/>
              </a:lnSpc>
              <a:spcBef>
                <a:spcPts val="0"/>
              </a:spcBef>
              <a:spcAft>
                <a:spcPts val="0"/>
              </a:spcAft>
              <a:buClr>
                <a:srgbClr val="DCE6F5"/>
              </a:buClr>
              <a:buSzPts val="900"/>
              <a:buFont typeface="Courier New"/>
              <a:buNone/>
            </a:pPr>
            <a:r>
              <a:rPr b="0" i="0" lang="en-US" sz="900" u="none" cap="none" strike="noStrike">
                <a:solidFill>
                  <a:srgbClr val="DCE6F5"/>
                </a:solidFill>
                <a:latin typeface="Courier New"/>
                <a:ea typeface="Courier New"/>
                <a:cs typeface="Courier New"/>
                <a:sym typeface="Courier New"/>
              </a:rPr>
              <a:t>print("error mass:", run.error_taxonomy())</a:t>
            </a:r>
            <a:endParaRPr b="0" i="0" sz="900" u="none" cap="none" strike="noStrike">
              <a:solidFill>
                <a:schemeClr val="dk1"/>
              </a:solidFill>
              <a:latin typeface="Calibri"/>
              <a:ea typeface="Calibri"/>
              <a:cs typeface="Calibri"/>
              <a:sym typeface="Calibri"/>
            </a:endParaRPr>
          </a:p>
          <a:p>
            <a:pPr indent="0" lvl="0" marL="0" marR="0" rtl="0" algn="l">
              <a:lnSpc>
                <a:spcPct val="128000"/>
              </a:lnSpc>
              <a:spcBef>
                <a:spcPts val="0"/>
              </a:spcBef>
              <a:spcAft>
                <a:spcPts val="0"/>
              </a:spcAft>
              <a:buClr>
                <a:srgbClr val="8FBF71"/>
              </a:buClr>
              <a:buSzPts val="900"/>
              <a:buFont typeface="Courier New"/>
              <a:buNone/>
            </a:pPr>
            <a:r>
              <a:rPr b="0" i="0" lang="en-US" sz="900" u="none" cap="none" strike="noStrike">
                <a:solidFill>
                  <a:srgbClr val="8FBF71"/>
                </a:solidFill>
                <a:latin typeface="Courier New"/>
                <a:ea typeface="Courier New"/>
                <a:cs typeface="Courier New"/>
                <a:sym typeface="Courier New"/>
              </a:rPr>
              <a:t># {'miss': 0.23, 'misclassification': 0.41,</a:t>
            </a:r>
            <a:endParaRPr b="0" i="0" sz="900" u="none" cap="none" strike="noStrike">
              <a:solidFill>
                <a:schemeClr val="dk1"/>
              </a:solidFill>
              <a:latin typeface="Calibri"/>
              <a:ea typeface="Calibri"/>
              <a:cs typeface="Calibri"/>
              <a:sym typeface="Calibri"/>
            </a:endParaRPr>
          </a:p>
          <a:p>
            <a:pPr indent="0" lvl="0" marL="0" marR="0" rtl="0" algn="l">
              <a:lnSpc>
                <a:spcPct val="128000"/>
              </a:lnSpc>
              <a:spcBef>
                <a:spcPts val="0"/>
              </a:spcBef>
              <a:spcAft>
                <a:spcPts val="0"/>
              </a:spcAft>
              <a:buClr>
                <a:srgbClr val="8FBF71"/>
              </a:buClr>
              <a:buSzPts val="900"/>
              <a:buFont typeface="Courier New"/>
              <a:buNone/>
            </a:pPr>
            <a:r>
              <a:rPr b="0" i="0" lang="en-US" sz="900" u="none" cap="none" strike="noStrike">
                <a:solidFill>
                  <a:srgbClr val="8FBF71"/>
                </a:solidFill>
                <a:latin typeface="Courier New"/>
                <a:ea typeface="Courier New"/>
                <a:cs typeface="Courier New"/>
                <a:sym typeface="Courier New"/>
              </a:rPr>
              <a:t>#  'localisation': 0.14, 'duplicate': 0.07,</a:t>
            </a:r>
            <a:endParaRPr b="0" i="0" sz="900" u="none" cap="none" strike="noStrike">
              <a:solidFill>
                <a:schemeClr val="dk1"/>
              </a:solidFill>
              <a:latin typeface="Calibri"/>
              <a:ea typeface="Calibri"/>
              <a:cs typeface="Calibri"/>
              <a:sym typeface="Calibri"/>
            </a:endParaRPr>
          </a:p>
          <a:p>
            <a:pPr indent="0" lvl="0" marL="0" marR="0" rtl="0" algn="l">
              <a:lnSpc>
                <a:spcPct val="128000"/>
              </a:lnSpc>
              <a:spcBef>
                <a:spcPts val="0"/>
              </a:spcBef>
              <a:spcAft>
                <a:spcPts val="0"/>
              </a:spcAft>
              <a:buClr>
                <a:srgbClr val="8FBF71"/>
              </a:buClr>
              <a:buSzPts val="900"/>
              <a:buFont typeface="Courier New"/>
              <a:buNone/>
            </a:pPr>
            <a:r>
              <a:rPr b="0" i="0" lang="en-US" sz="900" u="none" cap="none" strike="noStrike">
                <a:solidFill>
                  <a:srgbClr val="8FBF71"/>
                </a:solidFill>
                <a:latin typeface="Courier New"/>
                <a:ea typeface="Courier New"/>
                <a:cs typeface="Courier New"/>
                <a:sym typeface="Courier New"/>
              </a:rPr>
              <a:t>#  'background': 0.15}</a:t>
            </a:r>
            <a:endParaRPr b="0" i="0" sz="900" u="none" cap="none" strike="noStrike">
              <a:solidFill>
                <a:schemeClr val="dk1"/>
              </a:solidFill>
              <a:latin typeface="Calibri"/>
              <a:ea typeface="Calibri"/>
              <a:cs typeface="Calibri"/>
              <a:sym typeface="Calibri"/>
            </a:endParaRPr>
          </a:p>
          <a:p>
            <a:pPr indent="0" lvl="0" marL="0" marR="0" rtl="0" algn="l">
              <a:lnSpc>
                <a:spcPct val="128000"/>
              </a:lnSpc>
              <a:spcBef>
                <a:spcPts val="0"/>
              </a:spcBef>
              <a:spcAft>
                <a:spcPts val="0"/>
              </a:spcAft>
              <a:buClr>
                <a:srgbClr val="DCE6F5"/>
              </a:buClr>
              <a:buSzPts val="900"/>
              <a:buFont typeface="Courier New"/>
              <a:buNone/>
            </a:pPr>
            <a:r>
              <a:rPr b="0" i="0" lang="en-US" sz="900" u="none" cap="none" strike="noStrike">
                <a:solidFill>
                  <a:srgbClr val="DCE6F5"/>
                </a:solidFill>
                <a:latin typeface="Courier New"/>
                <a:ea typeface="Courier New"/>
                <a:cs typeface="Courier New"/>
                <a:sym typeface="Courier New"/>
              </a:rPr>
              <a:t> </a:t>
            </a:r>
            <a:endParaRPr b="0" i="0" sz="900" u="none" cap="none" strike="noStrike">
              <a:solidFill>
                <a:schemeClr val="dk1"/>
              </a:solidFill>
              <a:latin typeface="Calibri"/>
              <a:ea typeface="Calibri"/>
              <a:cs typeface="Calibri"/>
              <a:sym typeface="Calibri"/>
            </a:endParaRPr>
          </a:p>
          <a:p>
            <a:pPr indent="0" lvl="0" marL="0" marR="0" rtl="0" algn="l">
              <a:lnSpc>
                <a:spcPct val="128000"/>
              </a:lnSpc>
              <a:spcBef>
                <a:spcPts val="0"/>
              </a:spcBef>
              <a:spcAft>
                <a:spcPts val="0"/>
              </a:spcAft>
              <a:buClr>
                <a:srgbClr val="DCE6F5"/>
              </a:buClr>
              <a:buSzPts val="900"/>
              <a:buFont typeface="Courier New"/>
              <a:buNone/>
            </a:pPr>
            <a:r>
              <a:rPr b="0" i="0" lang="en-US" sz="900" u="none" cap="none" strike="noStrike">
                <a:solidFill>
                  <a:srgbClr val="DCE6F5"/>
                </a:solidFill>
                <a:latin typeface="Courier New"/>
                <a:ea typeface="Courier New"/>
                <a:cs typeface="Courier New"/>
                <a:sym typeface="Courier New"/>
              </a:rPr>
              <a:t>if args.baseline:</a:t>
            </a:r>
            <a:endParaRPr b="0" i="0" sz="900" u="none" cap="none" strike="noStrike">
              <a:solidFill>
                <a:schemeClr val="dk1"/>
              </a:solidFill>
              <a:latin typeface="Calibri"/>
              <a:ea typeface="Calibri"/>
              <a:cs typeface="Calibri"/>
              <a:sym typeface="Calibri"/>
            </a:endParaRPr>
          </a:p>
          <a:p>
            <a:pPr indent="0" lvl="0" marL="0" marR="0" rtl="0" algn="l">
              <a:lnSpc>
                <a:spcPct val="128000"/>
              </a:lnSpc>
              <a:spcBef>
                <a:spcPts val="0"/>
              </a:spcBef>
              <a:spcAft>
                <a:spcPts val="0"/>
              </a:spcAft>
              <a:buClr>
                <a:srgbClr val="DCE6F5"/>
              </a:buClr>
              <a:buSzPts val="900"/>
              <a:buFont typeface="Courier New"/>
              <a:buNone/>
            </a:pPr>
            <a:r>
              <a:rPr b="0" i="0" lang="en-US" sz="900" u="none" cap="none" strike="noStrike">
                <a:solidFill>
                  <a:srgbClr val="DCE6F5"/>
                </a:solidFill>
                <a:latin typeface="Courier New"/>
                <a:ea typeface="Courier New"/>
                <a:cs typeface="Courier New"/>
                <a:sym typeface="Courier New"/>
              </a:rPr>
              <a:t>    diff = harness.compare(args.baseline, args.model,</a:t>
            </a:r>
            <a:endParaRPr b="0" i="0" sz="900" u="none" cap="none" strike="noStrike">
              <a:solidFill>
                <a:schemeClr val="dk1"/>
              </a:solidFill>
              <a:latin typeface="Calibri"/>
              <a:ea typeface="Calibri"/>
              <a:cs typeface="Calibri"/>
              <a:sym typeface="Calibri"/>
            </a:endParaRPr>
          </a:p>
          <a:p>
            <a:pPr indent="0" lvl="0" marL="0" marR="0" rtl="0" algn="l">
              <a:lnSpc>
                <a:spcPct val="128000"/>
              </a:lnSpc>
              <a:spcBef>
                <a:spcPts val="0"/>
              </a:spcBef>
              <a:spcAft>
                <a:spcPts val="0"/>
              </a:spcAft>
              <a:buClr>
                <a:srgbClr val="DCE6F5"/>
              </a:buClr>
              <a:buSzPts val="900"/>
              <a:buFont typeface="Courier New"/>
              <a:buNone/>
            </a:pPr>
            <a:r>
              <a:rPr b="0" i="0" lang="en-US" sz="900" u="none" cap="none" strike="noStrike">
                <a:solidFill>
                  <a:srgbClr val="DCE6F5"/>
                </a:solidFill>
                <a:latin typeface="Courier New"/>
                <a:ea typeface="Courier New"/>
                <a:cs typeface="Courier New"/>
                <a:sym typeface="Courier New"/>
              </a:rPr>
              <a:t>                           split=args.split)</a:t>
            </a:r>
            <a:endParaRPr b="0" i="0" sz="900" u="none" cap="none" strike="noStrike">
              <a:solidFill>
                <a:schemeClr val="dk1"/>
              </a:solidFill>
              <a:latin typeface="Calibri"/>
              <a:ea typeface="Calibri"/>
              <a:cs typeface="Calibri"/>
              <a:sym typeface="Calibri"/>
            </a:endParaRPr>
          </a:p>
          <a:p>
            <a:pPr indent="0" lvl="0" marL="0" marR="0" rtl="0" algn="l">
              <a:lnSpc>
                <a:spcPct val="128000"/>
              </a:lnSpc>
              <a:spcBef>
                <a:spcPts val="0"/>
              </a:spcBef>
              <a:spcAft>
                <a:spcPts val="0"/>
              </a:spcAft>
              <a:buClr>
                <a:srgbClr val="DCE6F5"/>
              </a:buClr>
              <a:buSzPts val="900"/>
              <a:buFont typeface="Courier New"/>
              <a:buNone/>
            </a:pPr>
            <a:r>
              <a:rPr b="0" i="0" lang="en-US" sz="900" u="none" cap="none" strike="noStrike">
                <a:solidFill>
                  <a:srgbClr val="DCE6F5"/>
                </a:solidFill>
                <a:latin typeface="Courier New"/>
                <a:ea typeface="Courier New"/>
                <a:cs typeface="Courier New"/>
                <a:sym typeface="Courier New"/>
              </a:rPr>
              <a:t>    for name, delta, n in diff.degraded(threshold=0.02):</a:t>
            </a:r>
            <a:endParaRPr b="0" i="0" sz="900" u="none" cap="none" strike="noStrike">
              <a:solidFill>
                <a:schemeClr val="dk1"/>
              </a:solidFill>
              <a:latin typeface="Calibri"/>
              <a:ea typeface="Calibri"/>
              <a:cs typeface="Calibri"/>
              <a:sym typeface="Calibri"/>
            </a:endParaRPr>
          </a:p>
          <a:p>
            <a:pPr indent="0" lvl="0" marL="0" marR="0" rtl="0" algn="l">
              <a:lnSpc>
                <a:spcPct val="128000"/>
              </a:lnSpc>
              <a:spcBef>
                <a:spcPts val="0"/>
              </a:spcBef>
              <a:spcAft>
                <a:spcPts val="0"/>
              </a:spcAft>
              <a:buClr>
                <a:srgbClr val="DCE6F5"/>
              </a:buClr>
              <a:buSzPts val="900"/>
              <a:buFont typeface="Courier New"/>
              <a:buNone/>
            </a:pPr>
            <a:r>
              <a:rPr b="0" i="0" lang="en-US" sz="900" u="none" cap="none" strike="noStrike">
                <a:solidFill>
                  <a:srgbClr val="DCE6F5"/>
                </a:solidFill>
                <a:latin typeface="Courier New"/>
                <a:ea typeface="Courier New"/>
                <a:cs typeface="Courier New"/>
                <a:sym typeface="Courier New"/>
              </a:rPr>
              <a:t>        print(f"REGRESSION  {name}: {delta:+.3f} (n={n})")</a:t>
            </a:r>
            <a:endParaRPr b="0" i="0" sz="900" u="none" cap="none" strike="noStrike">
              <a:solidFill>
                <a:schemeClr val="dk1"/>
              </a:solidFill>
              <a:latin typeface="Calibri"/>
              <a:ea typeface="Calibri"/>
              <a:cs typeface="Calibri"/>
              <a:sym typeface="Calibri"/>
            </a:endParaRPr>
          </a:p>
          <a:p>
            <a:pPr indent="0" lvl="0" marL="0" marR="0" rtl="0" algn="l">
              <a:lnSpc>
                <a:spcPct val="128000"/>
              </a:lnSpc>
              <a:spcBef>
                <a:spcPts val="0"/>
              </a:spcBef>
              <a:spcAft>
                <a:spcPts val="0"/>
              </a:spcAft>
              <a:buClr>
                <a:srgbClr val="DCE6F5"/>
              </a:buClr>
              <a:buSzPts val="900"/>
              <a:buFont typeface="Courier New"/>
              <a:buNone/>
            </a:pPr>
            <a:r>
              <a:rPr b="0" i="0" lang="en-US" sz="900" u="none" cap="none" strike="noStrike">
                <a:solidFill>
                  <a:srgbClr val="DCE6F5"/>
                </a:solidFill>
                <a:latin typeface="Courier New"/>
                <a:ea typeface="Courier New"/>
                <a:cs typeface="Courier New"/>
                <a:sym typeface="Courier New"/>
              </a:rPr>
              <a:t>    diff.render_gallery("reports/eval/verdict_changes/")</a:t>
            </a:r>
            <a:endParaRPr b="0" i="0" sz="900" u="none" cap="none" strike="noStrike">
              <a:solidFill>
                <a:schemeClr val="dk1"/>
              </a:solidFill>
              <a:latin typeface="Calibri"/>
              <a:ea typeface="Calibri"/>
              <a:cs typeface="Calibri"/>
              <a:sym typeface="Calibri"/>
            </a:endParaRPr>
          </a:p>
        </p:txBody>
      </p:sp>
      <p:sp>
        <p:nvSpPr>
          <p:cNvPr id="3218" name="Google Shape;3218;p116"/>
          <p:cNvSpPr/>
          <p:nvPr/>
        </p:nvSpPr>
        <p:spPr>
          <a:xfrm>
            <a:off x="7973568" y="1389888"/>
            <a:ext cx="3712464" cy="1090422"/>
          </a:xfrm>
          <a:prstGeom prst="roundRect">
            <a:avLst>
              <a:gd fmla="val 5870" name="adj"/>
            </a:avLst>
          </a:prstGeom>
          <a:solidFill>
            <a:srgbClr val="F2F6F9"/>
          </a:solidFill>
          <a:ln cap="flat" cmpd="sng" w="12700">
            <a:solidFill>
              <a:srgbClr val="D9E2E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19" name="Google Shape;3219;p116"/>
          <p:cNvSpPr/>
          <p:nvPr/>
        </p:nvSpPr>
        <p:spPr>
          <a:xfrm>
            <a:off x="8101584" y="1508760"/>
            <a:ext cx="237744" cy="237744"/>
          </a:xfrm>
          <a:prstGeom prst="ellipse">
            <a:avLst/>
          </a:prstGeom>
          <a:solidFill>
            <a:srgbClr val="00A79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20" name="Google Shape;3220;p116"/>
          <p:cNvSpPr/>
          <p:nvPr/>
        </p:nvSpPr>
        <p:spPr>
          <a:xfrm>
            <a:off x="8101584" y="1508760"/>
            <a:ext cx="237744" cy="23774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000"/>
              <a:buFont typeface="Calibri"/>
              <a:buNone/>
            </a:pPr>
            <a:r>
              <a:rPr b="1" i="0" lang="en-US" sz="1000" u="none" cap="none" strike="noStrike">
                <a:solidFill>
                  <a:srgbClr val="FFFFFF"/>
                </a:solidFill>
                <a:latin typeface="Calibri"/>
                <a:ea typeface="Calibri"/>
                <a:cs typeface="Calibri"/>
                <a:sym typeface="Calibri"/>
              </a:rPr>
              <a:t>1</a:t>
            </a:r>
            <a:endParaRPr b="0" i="0" sz="1000" u="none" cap="none" strike="noStrike">
              <a:solidFill>
                <a:schemeClr val="dk1"/>
              </a:solidFill>
              <a:latin typeface="Calibri"/>
              <a:ea typeface="Calibri"/>
              <a:cs typeface="Calibri"/>
              <a:sym typeface="Calibri"/>
            </a:endParaRPr>
          </a:p>
        </p:txBody>
      </p:sp>
      <p:sp>
        <p:nvSpPr>
          <p:cNvPr id="3221" name="Google Shape;3221;p116"/>
          <p:cNvSpPr/>
          <p:nvPr/>
        </p:nvSpPr>
        <p:spPr>
          <a:xfrm>
            <a:off x="8430768" y="1444752"/>
            <a:ext cx="3145536"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D2A5C"/>
              </a:buClr>
              <a:buSzPts val="1150"/>
              <a:buFont typeface="Calibri"/>
              <a:buNone/>
            </a:pPr>
            <a:r>
              <a:rPr b="1" i="0" lang="en-US" sz="1150" u="none" cap="none" strike="noStrike">
                <a:solidFill>
                  <a:srgbClr val="1D2A5C"/>
                </a:solidFill>
                <a:latin typeface="Calibri"/>
                <a:ea typeface="Calibri"/>
                <a:cs typeface="Calibri"/>
                <a:sym typeface="Calibri"/>
              </a:rPr>
              <a:t>Split is release-pinned</a:t>
            </a:r>
            <a:endParaRPr b="0" i="0" sz="1150" u="none" cap="none" strike="noStrike">
              <a:solidFill>
                <a:schemeClr val="dk1"/>
              </a:solidFill>
              <a:latin typeface="Calibri"/>
              <a:ea typeface="Calibri"/>
              <a:cs typeface="Calibri"/>
              <a:sym typeface="Calibri"/>
            </a:endParaRPr>
          </a:p>
        </p:txBody>
      </p:sp>
      <p:sp>
        <p:nvSpPr>
          <p:cNvPr id="3222" name="Google Shape;3222;p116"/>
          <p:cNvSpPr/>
          <p:nvPr/>
        </p:nvSpPr>
        <p:spPr>
          <a:xfrm>
            <a:off x="8430768" y="1719072"/>
            <a:ext cx="3145536" cy="688086"/>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5F6B7A"/>
              </a:buClr>
              <a:buSzPts val="1000"/>
              <a:buFont typeface="Calibri"/>
              <a:buNone/>
            </a:pPr>
            <a:r>
              <a:rPr b="0" i="0" lang="en-US" sz="1000" u="none" cap="none" strike="noStrike">
                <a:solidFill>
                  <a:srgbClr val="5F6B7A"/>
                </a:solidFill>
                <a:latin typeface="Calibri"/>
                <a:ea typeface="Calibri"/>
                <a:cs typeface="Calibri"/>
                <a:sym typeface="Calibri"/>
              </a:rPr>
              <a:t>test@dates-qc-v1 — the number is meaningless without it.</a:t>
            </a:r>
            <a:endParaRPr b="0" i="0" sz="1000" u="none" cap="none" strike="noStrike">
              <a:solidFill>
                <a:schemeClr val="dk1"/>
              </a:solidFill>
              <a:latin typeface="Calibri"/>
              <a:ea typeface="Calibri"/>
              <a:cs typeface="Calibri"/>
              <a:sym typeface="Calibri"/>
            </a:endParaRPr>
          </a:p>
        </p:txBody>
      </p:sp>
      <p:sp>
        <p:nvSpPr>
          <p:cNvPr id="3223" name="Google Shape;3223;p116"/>
          <p:cNvSpPr/>
          <p:nvPr/>
        </p:nvSpPr>
        <p:spPr>
          <a:xfrm>
            <a:off x="7973568" y="2681478"/>
            <a:ext cx="3712464" cy="1090422"/>
          </a:xfrm>
          <a:prstGeom prst="roundRect">
            <a:avLst>
              <a:gd fmla="val 5870" name="adj"/>
            </a:avLst>
          </a:prstGeom>
          <a:solidFill>
            <a:srgbClr val="F2F6F9"/>
          </a:solidFill>
          <a:ln cap="flat" cmpd="sng" w="12700">
            <a:solidFill>
              <a:srgbClr val="D9E2E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24" name="Google Shape;3224;p116"/>
          <p:cNvSpPr/>
          <p:nvPr/>
        </p:nvSpPr>
        <p:spPr>
          <a:xfrm>
            <a:off x="8101584" y="2800350"/>
            <a:ext cx="237744" cy="237744"/>
          </a:xfrm>
          <a:prstGeom prst="ellipse">
            <a:avLst/>
          </a:prstGeom>
          <a:solidFill>
            <a:srgbClr val="29ABE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25" name="Google Shape;3225;p116"/>
          <p:cNvSpPr/>
          <p:nvPr/>
        </p:nvSpPr>
        <p:spPr>
          <a:xfrm>
            <a:off x="8101584" y="2800350"/>
            <a:ext cx="237744" cy="23774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000"/>
              <a:buFont typeface="Calibri"/>
              <a:buNone/>
            </a:pPr>
            <a:r>
              <a:rPr b="1" i="0" lang="en-US" sz="1000" u="none" cap="none" strike="noStrike">
                <a:solidFill>
                  <a:srgbClr val="FFFFFF"/>
                </a:solidFill>
                <a:latin typeface="Calibri"/>
                <a:ea typeface="Calibri"/>
                <a:cs typeface="Calibri"/>
                <a:sym typeface="Calibri"/>
              </a:rPr>
              <a:t>2</a:t>
            </a:r>
            <a:endParaRPr b="0" i="0" sz="1000" u="none" cap="none" strike="noStrike">
              <a:solidFill>
                <a:schemeClr val="dk1"/>
              </a:solidFill>
              <a:latin typeface="Calibri"/>
              <a:ea typeface="Calibri"/>
              <a:cs typeface="Calibri"/>
              <a:sym typeface="Calibri"/>
            </a:endParaRPr>
          </a:p>
        </p:txBody>
      </p:sp>
      <p:sp>
        <p:nvSpPr>
          <p:cNvPr id="3226" name="Google Shape;3226;p116"/>
          <p:cNvSpPr/>
          <p:nvPr/>
        </p:nvSpPr>
        <p:spPr>
          <a:xfrm>
            <a:off x="8430768" y="2736342"/>
            <a:ext cx="3145536"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D2A5C"/>
              </a:buClr>
              <a:buSzPts val="1150"/>
              <a:buFont typeface="Calibri"/>
              <a:buNone/>
            </a:pPr>
            <a:r>
              <a:rPr b="1" i="0" lang="en-US" sz="1150" u="none" cap="none" strike="noStrike">
                <a:solidFill>
                  <a:srgbClr val="1D2A5C"/>
                </a:solidFill>
                <a:latin typeface="Calibri"/>
                <a:ea typeface="Calibri"/>
                <a:cs typeface="Calibri"/>
                <a:sym typeface="Calibri"/>
              </a:rPr>
              <a:t>Config carries the taxonomy</a:t>
            </a:r>
            <a:endParaRPr b="0" i="0" sz="1150" u="none" cap="none" strike="noStrike">
              <a:solidFill>
                <a:schemeClr val="dk1"/>
              </a:solidFill>
              <a:latin typeface="Calibri"/>
              <a:ea typeface="Calibri"/>
              <a:cs typeface="Calibri"/>
              <a:sym typeface="Calibri"/>
            </a:endParaRPr>
          </a:p>
        </p:txBody>
      </p:sp>
      <p:sp>
        <p:nvSpPr>
          <p:cNvPr id="3227" name="Google Shape;3227;p116"/>
          <p:cNvSpPr/>
          <p:nvPr/>
        </p:nvSpPr>
        <p:spPr>
          <a:xfrm>
            <a:off x="8430768" y="3010662"/>
            <a:ext cx="3145536" cy="688086"/>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5F6B7A"/>
              </a:buClr>
              <a:buSzPts val="1000"/>
              <a:buFont typeface="Calibri"/>
              <a:buNone/>
            </a:pPr>
            <a:r>
              <a:rPr b="0" i="0" lang="en-US" sz="1000" u="none" cap="none" strike="noStrike">
                <a:solidFill>
                  <a:srgbClr val="5F6B7A"/>
                </a:solidFill>
                <a:latin typeface="Calibri"/>
                <a:ea typeface="Calibri"/>
                <a:cs typeface="Calibri"/>
                <a:sym typeface="Calibri"/>
              </a:rPr>
              <a:t>Thresholds, slices, IoU definitions versioned alongside the code.</a:t>
            </a:r>
            <a:endParaRPr b="0" i="0" sz="1000" u="none" cap="none" strike="noStrike">
              <a:solidFill>
                <a:schemeClr val="dk1"/>
              </a:solidFill>
              <a:latin typeface="Calibri"/>
              <a:ea typeface="Calibri"/>
              <a:cs typeface="Calibri"/>
              <a:sym typeface="Calibri"/>
            </a:endParaRPr>
          </a:p>
        </p:txBody>
      </p:sp>
      <p:sp>
        <p:nvSpPr>
          <p:cNvPr id="3228" name="Google Shape;3228;p116"/>
          <p:cNvSpPr/>
          <p:nvPr/>
        </p:nvSpPr>
        <p:spPr>
          <a:xfrm>
            <a:off x="7973568" y="3973068"/>
            <a:ext cx="3712464" cy="1090422"/>
          </a:xfrm>
          <a:prstGeom prst="roundRect">
            <a:avLst>
              <a:gd fmla="val 5870" name="adj"/>
            </a:avLst>
          </a:prstGeom>
          <a:solidFill>
            <a:srgbClr val="F2F6F9"/>
          </a:solidFill>
          <a:ln cap="flat" cmpd="sng" w="12700">
            <a:solidFill>
              <a:srgbClr val="D9E2E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29" name="Google Shape;3229;p116"/>
          <p:cNvSpPr/>
          <p:nvPr/>
        </p:nvSpPr>
        <p:spPr>
          <a:xfrm>
            <a:off x="8101584" y="4091940"/>
            <a:ext cx="237744" cy="237744"/>
          </a:xfrm>
          <a:prstGeom prst="ellipse">
            <a:avLst/>
          </a:prstGeom>
          <a:solidFill>
            <a:srgbClr val="F5822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30" name="Google Shape;3230;p116"/>
          <p:cNvSpPr/>
          <p:nvPr/>
        </p:nvSpPr>
        <p:spPr>
          <a:xfrm>
            <a:off x="8101584" y="4091940"/>
            <a:ext cx="237744" cy="23774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000"/>
              <a:buFont typeface="Calibri"/>
              <a:buNone/>
            </a:pPr>
            <a:r>
              <a:rPr b="1" i="0" lang="en-US" sz="1000" u="none" cap="none" strike="noStrike">
                <a:solidFill>
                  <a:srgbClr val="FFFFFF"/>
                </a:solidFill>
                <a:latin typeface="Calibri"/>
                <a:ea typeface="Calibri"/>
                <a:cs typeface="Calibri"/>
                <a:sym typeface="Calibri"/>
              </a:rPr>
              <a:t>3</a:t>
            </a:r>
            <a:endParaRPr b="0" i="0" sz="1000" u="none" cap="none" strike="noStrike">
              <a:solidFill>
                <a:schemeClr val="dk1"/>
              </a:solidFill>
              <a:latin typeface="Calibri"/>
              <a:ea typeface="Calibri"/>
              <a:cs typeface="Calibri"/>
              <a:sym typeface="Calibri"/>
            </a:endParaRPr>
          </a:p>
        </p:txBody>
      </p:sp>
      <p:sp>
        <p:nvSpPr>
          <p:cNvPr id="3231" name="Google Shape;3231;p116"/>
          <p:cNvSpPr/>
          <p:nvPr/>
        </p:nvSpPr>
        <p:spPr>
          <a:xfrm>
            <a:off x="8430768" y="4027932"/>
            <a:ext cx="3145536"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D2A5C"/>
              </a:buClr>
              <a:buSzPts val="1150"/>
              <a:buFont typeface="Calibri"/>
              <a:buNone/>
            </a:pPr>
            <a:r>
              <a:rPr b="1" i="0" lang="en-US" sz="1150" u="none" cap="none" strike="noStrike">
                <a:solidFill>
                  <a:srgbClr val="1D2A5C"/>
                </a:solidFill>
                <a:latin typeface="Calibri"/>
                <a:ea typeface="Calibri"/>
                <a:cs typeface="Calibri"/>
                <a:sym typeface="Calibri"/>
              </a:rPr>
              <a:t>Regression flags slices</a:t>
            </a:r>
            <a:endParaRPr b="0" i="0" sz="1150" u="none" cap="none" strike="noStrike">
              <a:solidFill>
                <a:schemeClr val="dk1"/>
              </a:solidFill>
              <a:latin typeface="Calibri"/>
              <a:ea typeface="Calibri"/>
              <a:cs typeface="Calibri"/>
              <a:sym typeface="Calibri"/>
            </a:endParaRPr>
          </a:p>
        </p:txBody>
      </p:sp>
      <p:sp>
        <p:nvSpPr>
          <p:cNvPr id="3232" name="Google Shape;3232;p116"/>
          <p:cNvSpPr/>
          <p:nvPr/>
        </p:nvSpPr>
        <p:spPr>
          <a:xfrm>
            <a:off x="8430768" y="4302252"/>
            <a:ext cx="3145536" cy="688086"/>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5F6B7A"/>
              </a:buClr>
              <a:buSzPts val="1000"/>
              <a:buFont typeface="Calibri"/>
              <a:buNone/>
            </a:pPr>
            <a:r>
              <a:rPr b="0" i="0" lang="en-US" sz="1000" u="none" cap="none" strike="noStrike">
                <a:solidFill>
                  <a:srgbClr val="5F6B7A"/>
                </a:solidFill>
                <a:latin typeface="Calibri"/>
                <a:ea typeface="Calibri"/>
                <a:cs typeface="Calibri"/>
                <a:sym typeface="Calibri"/>
              </a:rPr>
              <a:t>Any slice degraded &gt;= 2 points is flagged, even if the aggregate improved.</a:t>
            </a:r>
            <a:endParaRPr b="0" i="0" sz="1000" u="none" cap="none" strike="noStrike">
              <a:solidFill>
                <a:schemeClr val="dk1"/>
              </a:solidFill>
              <a:latin typeface="Calibri"/>
              <a:ea typeface="Calibri"/>
              <a:cs typeface="Calibri"/>
              <a:sym typeface="Calibri"/>
            </a:endParaRPr>
          </a:p>
        </p:txBody>
      </p:sp>
      <p:sp>
        <p:nvSpPr>
          <p:cNvPr id="3233" name="Google Shape;3233;p116"/>
          <p:cNvSpPr/>
          <p:nvPr/>
        </p:nvSpPr>
        <p:spPr>
          <a:xfrm>
            <a:off x="7973568" y="5264658"/>
            <a:ext cx="3712464" cy="1090422"/>
          </a:xfrm>
          <a:prstGeom prst="roundRect">
            <a:avLst>
              <a:gd fmla="val 5870" name="adj"/>
            </a:avLst>
          </a:prstGeom>
          <a:solidFill>
            <a:srgbClr val="F2F6F9"/>
          </a:solidFill>
          <a:ln cap="flat" cmpd="sng" w="12700">
            <a:solidFill>
              <a:srgbClr val="D9E2E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34" name="Google Shape;3234;p116"/>
          <p:cNvSpPr/>
          <p:nvPr/>
        </p:nvSpPr>
        <p:spPr>
          <a:xfrm>
            <a:off x="8101584" y="5383530"/>
            <a:ext cx="237744" cy="237744"/>
          </a:xfrm>
          <a:prstGeom prst="ellipse">
            <a:avLst/>
          </a:prstGeom>
          <a:solidFill>
            <a:srgbClr val="8DC63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35" name="Google Shape;3235;p116"/>
          <p:cNvSpPr/>
          <p:nvPr/>
        </p:nvSpPr>
        <p:spPr>
          <a:xfrm>
            <a:off x="8101584" y="5383530"/>
            <a:ext cx="237744" cy="23774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000"/>
              <a:buFont typeface="Calibri"/>
              <a:buNone/>
            </a:pPr>
            <a:r>
              <a:rPr b="1" i="0" lang="en-US" sz="1000" u="none" cap="none" strike="noStrike">
                <a:solidFill>
                  <a:srgbClr val="FFFFFF"/>
                </a:solidFill>
                <a:latin typeface="Calibri"/>
                <a:ea typeface="Calibri"/>
                <a:cs typeface="Calibri"/>
                <a:sym typeface="Calibri"/>
              </a:rPr>
              <a:t>4</a:t>
            </a:r>
            <a:endParaRPr b="0" i="0" sz="1000" u="none" cap="none" strike="noStrike">
              <a:solidFill>
                <a:schemeClr val="dk1"/>
              </a:solidFill>
              <a:latin typeface="Calibri"/>
              <a:ea typeface="Calibri"/>
              <a:cs typeface="Calibri"/>
              <a:sym typeface="Calibri"/>
            </a:endParaRPr>
          </a:p>
        </p:txBody>
      </p:sp>
      <p:sp>
        <p:nvSpPr>
          <p:cNvPr id="3236" name="Google Shape;3236;p116"/>
          <p:cNvSpPr/>
          <p:nvPr/>
        </p:nvSpPr>
        <p:spPr>
          <a:xfrm>
            <a:off x="8430768" y="5319522"/>
            <a:ext cx="3145536"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D2A5C"/>
              </a:buClr>
              <a:buSzPts val="1150"/>
              <a:buFont typeface="Calibri"/>
              <a:buNone/>
            </a:pPr>
            <a:r>
              <a:rPr b="1" i="0" lang="en-US" sz="1150" u="none" cap="none" strike="noStrike">
                <a:solidFill>
                  <a:srgbClr val="1D2A5C"/>
                </a:solidFill>
                <a:latin typeface="Calibri"/>
                <a:ea typeface="Calibri"/>
                <a:cs typeface="Calibri"/>
                <a:sym typeface="Calibri"/>
              </a:rPr>
              <a:t>Gallery of flipped verdicts</a:t>
            </a:r>
            <a:endParaRPr b="0" i="0" sz="1150" u="none" cap="none" strike="noStrike">
              <a:solidFill>
                <a:schemeClr val="dk1"/>
              </a:solidFill>
              <a:latin typeface="Calibri"/>
              <a:ea typeface="Calibri"/>
              <a:cs typeface="Calibri"/>
              <a:sym typeface="Calibri"/>
            </a:endParaRPr>
          </a:p>
        </p:txBody>
      </p:sp>
      <p:sp>
        <p:nvSpPr>
          <p:cNvPr id="3237" name="Google Shape;3237;p116"/>
          <p:cNvSpPr/>
          <p:nvPr/>
        </p:nvSpPr>
        <p:spPr>
          <a:xfrm>
            <a:off x="8430768" y="5593842"/>
            <a:ext cx="3145536" cy="688086"/>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5F6B7A"/>
              </a:buClr>
              <a:buSzPts val="1000"/>
              <a:buFont typeface="Calibri"/>
              <a:buNone/>
            </a:pPr>
            <a:r>
              <a:rPr b="0" i="0" lang="en-US" sz="1000" u="none" cap="none" strike="noStrike">
                <a:solidFill>
                  <a:srgbClr val="5F6B7A"/>
                </a:solidFill>
                <a:latin typeface="Calibri"/>
                <a:ea typeface="Calibri"/>
                <a:cs typeface="Calibri"/>
                <a:sym typeface="Calibri"/>
              </a:rPr>
              <a:t>Frames where the two models disagree settle arguments tables start.</a:t>
            </a:r>
            <a:endParaRPr b="0" i="0" sz="1000" u="none" cap="none" strike="noStrike">
              <a:solidFill>
                <a:schemeClr val="dk1"/>
              </a:solidFill>
              <a:latin typeface="Calibri"/>
              <a:ea typeface="Calibri"/>
              <a:cs typeface="Calibri"/>
              <a:sym typeface="Calibri"/>
            </a:endParaRPr>
          </a:p>
        </p:txBody>
      </p:sp>
    </p:spTree>
  </p:cSld>
  <p:clrMapOvr>
    <a:masterClrMapping/>
  </p:clrMapOvr>
</p:sld>
</file>

<file path=ppt/slides/slide1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242" name="Shape 3242"/>
        <p:cNvGrpSpPr/>
        <p:nvPr/>
      </p:nvGrpSpPr>
      <p:grpSpPr>
        <a:xfrm>
          <a:off x="0" y="0"/>
          <a:ext cx="0" cy="0"/>
          <a:chOff x="0" y="0"/>
          <a:chExt cx="0" cy="0"/>
        </a:xfrm>
      </p:grpSpPr>
      <p:sp>
        <p:nvSpPr>
          <p:cNvPr id="3243" name="Google Shape;3243;p117"/>
          <p:cNvSpPr/>
          <p:nvPr/>
        </p:nvSpPr>
        <p:spPr>
          <a:xfrm>
            <a:off x="502920" y="274320"/>
            <a:ext cx="9646920" cy="56692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D2A5C"/>
              </a:buClr>
              <a:buSzPts val="2700"/>
              <a:buFont typeface="Calibri"/>
              <a:buNone/>
            </a:pPr>
            <a:r>
              <a:rPr b="1" i="0" lang="en-US" sz="2700" u="none" cap="none" strike="noStrike">
                <a:solidFill>
                  <a:srgbClr val="1D2A5C"/>
                </a:solidFill>
                <a:latin typeface="Calibri"/>
                <a:ea typeface="Calibri"/>
                <a:cs typeface="Calibri"/>
                <a:sym typeface="Calibri"/>
              </a:rPr>
              <a:t>Lab 6 — Build the Evaluation Harness</a:t>
            </a:r>
            <a:endParaRPr b="0" i="0" sz="2700" u="none" cap="none" strike="noStrike">
              <a:solidFill>
                <a:schemeClr val="dk1"/>
              </a:solidFill>
              <a:latin typeface="Calibri"/>
              <a:ea typeface="Calibri"/>
              <a:cs typeface="Calibri"/>
              <a:sym typeface="Calibri"/>
            </a:endParaRPr>
          </a:p>
        </p:txBody>
      </p:sp>
      <p:sp>
        <p:nvSpPr>
          <p:cNvPr id="3244" name="Google Shape;3244;p117"/>
          <p:cNvSpPr/>
          <p:nvPr/>
        </p:nvSpPr>
        <p:spPr>
          <a:xfrm>
            <a:off x="502920" y="859536"/>
            <a:ext cx="9646920" cy="31089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F6B7A"/>
              </a:buClr>
              <a:buSzPts val="1250"/>
              <a:buFont typeface="Arial"/>
              <a:buNone/>
            </a:pPr>
            <a:r>
              <a:rPr b="0" i="0" lang="en-US" sz="1250" u="none" cap="none" strike="noStrike">
                <a:solidFill>
                  <a:srgbClr val="5F6B7A"/>
                </a:solidFill>
                <a:latin typeface="Arial"/>
                <a:ea typeface="Arial"/>
                <a:cs typeface="Arial"/>
                <a:sym typeface="Arial"/>
              </a:rPr>
              <a:t>المختبر 6 — بناء منصة التقييم</a:t>
            </a:r>
            <a:endParaRPr b="0" i="0" sz="1250" u="none" cap="none" strike="noStrike">
              <a:solidFill>
                <a:schemeClr val="dk1"/>
              </a:solidFill>
              <a:latin typeface="Calibri"/>
              <a:ea typeface="Calibri"/>
              <a:cs typeface="Calibri"/>
              <a:sym typeface="Calibri"/>
            </a:endParaRPr>
          </a:p>
        </p:txBody>
      </p:sp>
      <p:pic>
        <p:nvPicPr>
          <p:cNvPr descr="/sessions/blissful-determined-ritchie/build/assets/sdaia_logo.png" id="3245" name="Google Shape;3245;p117"/>
          <p:cNvPicPr preferRelativeResize="0"/>
          <p:nvPr/>
        </p:nvPicPr>
        <p:blipFill rotWithShape="1">
          <a:blip r:embed="rId3">
            <a:alphaModFix/>
          </a:blip>
          <a:srcRect b="0" l="0" r="0" t="0"/>
          <a:stretch/>
        </p:blipFill>
        <p:spPr>
          <a:xfrm>
            <a:off x="10625328" y="310896"/>
            <a:ext cx="1078992" cy="264111"/>
          </a:xfrm>
          <a:prstGeom prst="rect">
            <a:avLst/>
          </a:prstGeom>
          <a:noFill/>
          <a:ln>
            <a:noFill/>
          </a:ln>
        </p:spPr>
      </p:pic>
      <p:sp>
        <p:nvSpPr>
          <p:cNvPr id="3246" name="Google Shape;3246;p117"/>
          <p:cNvSpPr/>
          <p:nvPr/>
        </p:nvSpPr>
        <p:spPr>
          <a:xfrm>
            <a:off x="502920" y="6528816"/>
            <a:ext cx="8686800"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A79D"/>
              </a:buClr>
              <a:buSzPts val="800"/>
              <a:buFont typeface="Calibri"/>
              <a:buNone/>
            </a:pPr>
            <a:r>
              <a:rPr b="1" i="0" lang="en-US" sz="800" u="none" cap="none" strike="noStrike">
                <a:solidFill>
                  <a:srgbClr val="00A79D"/>
                </a:solidFill>
                <a:latin typeface="Calibri"/>
                <a:ea typeface="Calibri"/>
                <a:cs typeface="Calibri"/>
                <a:sym typeface="Calibri"/>
              </a:rPr>
              <a:t>MODULE 6 · LAB   </a:t>
            </a:r>
            <a:r>
              <a:rPr b="0" i="0" lang="en-US" sz="800" u="none" cap="none" strike="noStrike">
                <a:solidFill>
                  <a:srgbClr val="8A96A6"/>
                </a:solidFill>
                <a:latin typeface="Calibri"/>
                <a:ea typeface="Calibri"/>
                <a:cs typeface="Calibri"/>
                <a:sym typeface="Calibri"/>
              </a:rPr>
              <a:t>SDA-AIE-212 · Computer Vision Systems Development</a:t>
            </a:r>
            <a:endParaRPr b="0" i="0" sz="800" u="none" cap="none" strike="noStrike">
              <a:solidFill>
                <a:schemeClr val="dk1"/>
              </a:solidFill>
              <a:latin typeface="Calibri"/>
              <a:ea typeface="Calibri"/>
              <a:cs typeface="Calibri"/>
              <a:sym typeface="Calibri"/>
            </a:endParaRPr>
          </a:p>
        </p:txBody>
      </p:sp>
      <p:sp>
        <p:nvSpPr>
          <p:cNvPr id="3247" name="Google Shape;3247;p117"/>
          <p:cNvSpPr/>
          <p:nvPr/>
        </p:nvSpPr>
        <p:spPr>
          <a:xfrm>
            <a:off x="11292840" y="6528816"/>
            <a:ext cx="411480" cy="219456"/>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8A96A6"/>
              </a:buClr>
              <a:buSzPts val="900"/>
              <a:buFont typeface="Calibri"/>
              <a:buNone/>
            </a:pPr>
            <a:r>
              <a:rPr b="0" i="0" lang="en-US" sz="900" u="none" cap="none" strike="noStrike">
                <a:solidFill>
                  <a:srgbClr val="8A96A6"/>
                </a:solidFill>
                <a:latin typeface="Calibri"/>
                <a:ea typeface="Calibri"/>
                <a:cs typeface="Calibri"/>
                <a:sym typeface="Calibri"/>
              </a:rPr>
              <a:t>117</a:t>
            </a:r>
            <a:endParaRPr b="0" i="0" sz="900" u="none" cap="none" strike="noStrike">
              <a:solidFill>
                <a:schemeClr val="dk1"/>
              </a:solidFill>
              <a:latin typeface="Calibri"/>
              <a:ea typeface="Calibri"/>
              <a:cs typeface="Calibri"/>
              <a:sym typeface="Calibri"/>
            </a:endParaRPr>
          </a:p>
        </p:txBody>
      </p:sp>
      <p:sp>
        <p:nvSpPr>
          <p:cNvPr id="3248" name="Google Shape;3248;p117"/>
          <p:cNvSpPr/>
          <p:nvPr/>
        </p:nvSpPr>
        <p:spPr>
          <a:xfrm>
            <a:off x="502920" y="1389888"/>
            <a:ext cx="5806440" cy="932688"/>
          </a:xfrm>
          <a:prstGeom prst="roundRect">
            <a:avLst>
              <a:gd fmla="val 7843" name="adj"/>
            </a:avLst>
          </a:prstGeom>
          <a:solidFill>
            <a:srgbClr val="E9F6F5"/>
          </a:solidFill>
          <a:ln cap="flat" cmpd="sng" w="12700">
            <a:solidFill>
              <a:srgbClr val="00A79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49" name="Google Shape;3249;p117"/>
          <p:cNvSpPr/>
          <p:nvPr/>
        </p:nvSpPr>
        <p:spPr>
          <a:xfrm>
            <a:off x="649224" y="1463040"/>
            <a:ext cx="5532120"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A79D"/>
              </a:buClr>
              <a:buSzPts val="900"/>
              <a:buFont typeface="Calibri"/>
              <a:buNone/>
            </a:pPr>
            <a:r>
              <a:rPr b="1" i="0" lang="en-US" sz="900" u="none" cap="none" strike="noStrike">
                <a:solidFill>
                  <a:srgbClr val="00A79D"/>
                </a:solidFill>
                <a:latin typeface="Calibri"/>
                <a:ea typeface="Calibri"/>
                <a:cs typeface="Calibri"/>
                <a:sym typeface="Calibri"/>
              </a:rPr>
              <a:t>OBJECTIVE</a:t>
            </a:r>
            <a:endParaRPr b="0" i="0" sz="900" u="none" cap="none" strike="noStrike">
              <a:solidFill>
                <a:schemeClr val="dk1"/>
              </a:solidFill>
              <a:latin typeface="Calibri"/>
              <a:ea typeface="Calibri"/>
              <a:cs typeface="Calibri"/>
              <a:sym typeface="Calibri"/>
            </a:endParaRPr>
          </a:p>
        </p:txBody>
      </p:sp>
      <p:sp>
        <p:nvSpPr>
          <p:cNvPr id="3250" name="Google Shape;3250;p117"/>
          <p:cNvSpPr/>
          <p:nvPr/>
        </p:nvSpPr>
        <p:spPr>
          <a:xfrm>
            <a:off x="649224" y="1682496"/>
            <a:ext cx="5532120" cy="585216"/>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23293B"/>
              </a:buClr>
              <a:buSzPts val="993"/>
              <a:buFont typeface="Calibri"/>
              <a:buNone/>
            </a:pPr>
            <a:r>
              <a:rPr b="0" i="0" lang="en-US" sz="993" u="none" cap="none" strike="noStrike">
                <a:solidFill>
                  <a:srgbClr val="23293B"/>
                </a:solidFill>
                <a:latin typeface="Calibri"/>
                <a:ea typeface="Calibri"/>
                <a:cs typeface="Calibri"/>
                <a:sym typeface="Calibri"/>
              </a:rPr>
              <a:t>Implement matching + AP by hand, validate against Ultralytics, produce the slice report and error taxonomy, write the ranked remediation plan</a:t>
            </a:r>
            <a:endParaRPr b="0" i="0" sz="993" u="none" cap="none" strike="noStrike">
              <a:solidFill>
                <a:schemeClr val="dk1"/>
              </a:solidFill>
              <a:latin typeface="Calibri"/>
              <a:ea typeface="Calibri"/>
              <a:cs typeface="Calibri"/>
              <a:sym typeface="Calibri"/>
            </a:endParaRPr>
          </a:p>
        </p:txBody>
      </p:sp>
      <p:sp>
        <p:nvSpPr>
          <p:cNvPr id="3251" name="Google Shape;3251;p117"/>
          <p:cNvSpPr/>
          <p:nvPr/>
        </p:nvSpPr>
        <p:spPr>
          <a:xfrm>
            <a:off x="6510528" y="1389888"/>
            <a:ext cx="1600200" cy="932688"/>
          </a:xfrm>
          <a:prstGeom prst="roundRect">
            <a:avLst>
              <a:gd fmla="val 7843" name="adj"/>
            </a:avLst>
          </a:prstGeom>
          <a:solidFill>
            <a:srgbClr val="F2F6F9"/>
          </a:solidFill>
          <a:ln cap="flat" cmpd="sng" w="12700">
            <a:solidFill>
              <a:srgbClr val="D9E2E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52" name="Google Shape;3252;p117"/>
          <p:cNvSpPr/>
          <p:nvPr/>
        </p:nvSpPr>
        <p:spPr>
          <a:xfrm>
            <a:off x="6656832" y="1463040"/>
            <a:ext cx="1325880"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A79D"/>
              </a:buClr>
              <a:buSzPts val="900"/>
              <a:buFont typeface="Calibri"/>
              <a:buNone/>
            </a:pPr>
            <a:r>
              <a:rPr b="1" i="0" lang="en-US" sz="900" u="none" cap="none" strike="noStrike">
                <a:solidFill>
                  <a:srgbClr val="00A79D"/>
                </a:solidFill>
                <a:latin typeface="Calibri"/>
                <a:ea typeface="Calibri"/>
                <a:cs typeface="Calibri"/>
                <a:sym typeface="Calibri"/>
              </a:rPr>
              <a:t>DURATION</a:t>
            </a:r>
            <a:endParaRPr b="0" i="0" sz="900" u="none" cap="none" strike="noStrike">
              <a:solidFill>
                <a:schemeClr val="dk1"/>
              </a:solidFill>
              <a:latin typeface="Calibri"/>
              <a:ea typeface="Calibri"/>
              <a:cs typeface="Calibri"/>
              <a:sym typeface="Calibri"/>
            </a:endParaRPr>
          </a:p>
        </p:txBody>
      </p:sp>
      <p:sp>
        <p:nvSpPr>
          <p:cNvPr id="3253" name="Google Shape;3253;p117"/>
          <p:cNvSpPr/>
          <p:nvPr/>
        </p:nvSpPr>
        <p:spPr>
          <a:xfrm>
            <a:off x="6656832" y="1682496"/>
            <a:ext cx="1325880" cy="585216"/>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23293B"/>
              </a:buClr>
              <a:buSzPts val="1050"/>
              <a:buFont typeface="Calibri"/>
              <a:buNone/>
            </a:pPr>
            <a:r>
              <a:rPr b="0" i="0" lang="en-US" sz="1050" u="none" cap="none" strike="noStrike">
                <a:solidFill>
                  <a:srgbClr val="23293B"/>
                </a:solidFill>
                <a:latin typeface="Calibri"/>
                <a:ea typeface="Calibri"/>
                <a:cs typeface="Calibri"/>
                <a:sym typeface="Calibri"/>
              </a:rPr>
              <a:t>50 min + Hour-5 regression run</a:t>
            </a:r>
            <a:endParaRPr b="0" i="0" sz="1050" u="none" cap="none" strike="noStrike">
              <a:solidFill>
                <a:schemeClr val="dk1"/>
              </a:solidFill>
              <a:latin typeface="Calibri"/>
              <a:ea typeface="Calibri"/>
              <a:cs typeface="Calibri"/>
              <a:sym typeface="Calibri"/>
            </a:endParaRPr>
          </a:p>
        </p:txBody>
      </p:sp>
      <p:sp>
        <p:nvSpPr>
          <p:cNvPr id="3254" name="Google Shape;3254;p117"/>
          <p:cNvSpPr/>
          <p:nvPr/>
        </p:nvSpPr>
        <p:spPr>
          <a:xfrm>
            <a:off x="8311896" y="1389888"/>
            <a:ext cx="3383280" cy="932688"/>
          </a:xfrm>
          <a:prstGeom prst="roundRect">
            <a:avLst>
              <a:gd fmla="val 7843" name="adj"/>
            </a:avLst>
          </a:prstGeom>
          <a:solidFill>
            <a:srgbClr val="F2F6F9"/>
          </a:solidFill>
          <a:ln cap="flat" cmpd="sng" w="12700">
            <a:solidFill>
              <a:srgbClr val="D9E2E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55" name="Google Shape;3255;p117"/>
          <p:cNvSpPr/>
          <p:nvPr/>
        </p:nvSpPr>
        <p:spPr>
          <a:xfrm>
            <a:off x="8458200" y="1463040"/>
            <a:ext cx="3108960"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A79D"/>
              </a:buClr>
              <a:buSzPts val="900"/>
              <a:buFont typeface="Calibri"/>
              <a:buNone/>
            </a:pPr>
            <a:r>
              <a:rPr b="1" i="0" lang="en-US" sz="900" u="none" cap="none" strike="noStrike">
                <a:solidFill>
                  <a:srgbClr val="00A79D"/>
                </a:solidFill>
                <a:latin typeface="Calibri"/>
                <a:ea typeface="Calibri"/>
                <a:cs typeface="Calibri"/>
                <a:sym typeface="Calibri"/>
              </a:rPr>
              <a:t>SETUP</a:t>
            </a:r>
            <a:endParaRPr b="0" i="0" sz="900" u="none" cap="none" strike="noStrike">
              <a:solidFill>
                <a:schemeClr val="dk1"/>
              </a:solidFill>
              <a:latin typeface="Calibri"/>
              <a:ea typeface="Calibri"/>
              <a:cs typeface="Calibri"/>
              <a:sym typeface="Calibri"/>
            </a:endParaRPr>
          </a:p>
        </p:txBody>
      </p:sp>
      <p:sp>
        <p:nvSpPr>
          <p:cNvPr id="3256" name="Google Shape;3256;p117"/>
          <p:cNvSpPr/>
          <p:nvPr/>
        </p:nvSpPr>
        <p:spPr>
          <a:xfrm>
            <a:off x="8458200" y="1682496"/>
            <a:ext cx="3108960" cy="585216"/>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23293B"/>
              </a:buClr>
              <a:buSzPts val="1050"/>
              <a:buFont typeface="Calibri"/>
              <a:buNone/>
            </a:pPr>
            <a:r>
              <a:rPr b="0" i="0" lang="en-US" sz="1050" u="none" cap="none" strike="noStrike">
                <a:solidFill>
                  <a:srgbClr val="23293B"/>
                </a:solidFill>
                <a:latin typeface="Calibri"/>
                <a:ea typeface="Calibri"/>
                <a:cs typeface="Calibri"/>
                <a:sym typeface="Calibri"/>
              </a:rPr>
              <a:t>Checkpoints + cached parquet predictions; git checkout lab6-start; no GPU</a:t>
            </a:r>
            <a:endParaRPr b="0" i="0" sz="1050" u="none" cap="none" strike="noStrike">
              <a:solidFill>
                <a:schemeClr val="dk1"/>
              </a:solidFill>
              <a:latin typeface="Calibri"/>
              <a:ea typeface="Calibri"/>
              <a:cs typeface="Calibri"/>
              <a:sym typeface="Calibri"/>
            </a:endParaRPr>
          </a:p>
        </p:txBody>
      </p:sp>
      <p:sp>
        <p:nvSpPr>
          <p:cNvPr id="3257" name="Google Shape;3257;p117"/>
          <p:cNvSpPr/>
          <p:nvPr/>
        </p:nvSpPr>
        <p:spPr>
          <a:xfrm>
            <a:off x="502920" y="2661666"/>
            <a:ext cx="274320" cy="274320"/>
          </a:xfrm>
          <a:prstGeom prst="ellipse">
            <a:avLst/>
          </a:prstGeom>
          <a:solidFill>
            <a:srgbClr val="1D2A5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58" name="Google Shape;3258;p117"/>
          <p:cNvSpPr/>
          <p:nvPr/>
        </p:nvSpPr>
        <p:spPr>
          <a:xfrm>
            <a:off x="502920" y="2661666"/>
            <a:ext cx="274320" cy="2743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100"/>
              <a:buFont typeface="Calibri"/>
              <a:buNone/>
            </a:pPr>
            <a:r>
              <a:rPr b="1" i="0" lang="en-US" sz="1100" u="none" cap="none" strike="noStrike">
                <a:solidFill>
                  <a:srgbClr val="FFFFFF"/>
                </a:solidFill>
                <a:latin typeface="Calibri"/>
                <a:ea typeface="Calibri"/>
                <a:cs typeface="Calibri"/>
                <a:sym typeface="Calibri"/>
              </a:rPr>
              <a:t>1</a:t>
            </a:r>
            <a:endParaRPr b="0" i="0" sz="1100" u="none" cap="none" strike="noStrike">
              <a:solidFill>
                <a:schemeClr val="dk1"/>
              </a:solidFill>
              <a:latin typeface="Calibri"/>
              <a:ea typeface="Calibri"/>
              <a:cs typeface="Calibri"/>
              <a:sym typeface="Calibri"/>
            </a:endParaRPr>
          </a:p>
        </p:txBody>
      </p:sp>
      <p:sp>
        <p:nvSpPr>
          <p:cNvPr id="3259" name="Google Shape;3259;p117"/>
          <p:cNvSpPr/>
          <p:nvPr/>
        </p:nvSpPr>
        <p:spPr>
          <a:xfrm>
            <a:off x="886968" y="2661666"/>
            <a:ext cx="658368" cy="274320"/>
          </a:xfrm>
          <a:prstGeom prst="roundRect">
            <a:avLst>
              <a:gd fmla="val 50000" name="adj"/>
            </a:avLst>
          </a:prstGeom>
          <a:solidFill>
            <a:srgbClr val="E9F6F5"/>
          </a:solidFill>
          <a:ln cap="flat" cmpd="sng" w="9525">
            <a:solidFill>
              <a:srgbClr val="00A79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60" name="Google Shape;3260;p117"/>
          <p:cNvSpPr/>
          <p:nvPr/>
        </p:nvSpPr>
        <p:spPr>
          <a:xfrm>
            <a:off x="886968" y="2661666"/>
            <a:ext cx="658368" cy="2743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56A63"/>
              </a:buClr>
              <a:buSzPts val="900"/>
              <a:buFont typeface="Calibri"/>
              <a:buNone/>
            </a:pPr>
            <a:r>
              <a:rPr b="1" i="0" lang="en-US" sz="900" u="none" cap="none" strike="noStrike">
                <a:solidFill>
                  <a:srgbClr val="056A63"/>
                </a:solidFill>
                <a:latin typeface="Calibri"/>
                <a:ea typeface="Calibri"/>
                <a:cs typeface="Calibri"/>
                <a:sym typeface="Calibri"/>
              </a:rPr>
              <a:t>12 min</a:t>
            </a:r>
            <a:endParaRPr b="0" i="0" sz="900" u="none" cap="none" strike="noStrike">
              <a:solidFill>
                <a:schemeClr val="dk1"/>
              </a:solidFill>
              <a:latin typeface="Calibri"/>
              <a:ea typeface="Calibri"/>
              <a:cs typeface="Calibri"/>
              <a:sym typeface="Calibri"/>
            </a:endParaRPr>
          </a:p>
        </p:txBody>
      </p:sp>
      <p:sp>
        <p:nvSpPr>
          <p:cNvPr id="3261" name="Google Shape;3261;p117"/>
          <p:cNvSpPr/>
          <p:nvPr/>
        </p:nvSpPr>
        <p:spPr>
          <a:xfrm>
            <a:off x="1673352" y="2523744"/>
            <a:ext cx="5733288" cy="5867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3293B"/>
              </a:buClr>
              <a:buSzPts val="1150"/>
              <a:buFont typeface="Calibri"/>
              <a:buNone/>
            </a:pPr>
            <a:r>
              <a:rPr b="0" i="0" lang="en-US" sz="1150" u="none" cap="none" strike="noStrike">
                <a:solidFill>
                  <a:srgbClr val="23293B"/>
                </a:solidFill>
                <a:latin typeface="Calibri"/>
                <a:ea typeface="Calibri"/>
                <a:cs typeface="Calibri"/>
                <a:sym typeface="Calibri"/>
              </a:rPr>
              <a:t>Implement iou_matrix + match_image; pass the 12 provided unit tests</a:t>
            </a:r>
            <a:endParaRPr b="0" i="0" sz="1150" u="none" cap="none" strike="noStrike">
              <a:solidFill>
                <a:schemeClr val="dk1"/>
              </a:solidFill>
              <a:latin typeface="Calibri"/>
              <a:ea typeface="Calibri"/>
              <a:cs typeface="Calibri"/>
              <a:sym typeface="Calibri"/>
            </a:endParaRPr>
          </a:p>
        </p:txBody>
      </p:sp>
      <p:sp>
        <p:nvSpPr>
          <p:cNvPr id="3262" name="Google Shape;3262;p117"/>
          <p:cNvSpPr/>
          <p:nvPr/>
        </p:nvSpPr>
        <p:spPr>
          <a:xfrm>
            <a:off x="502920" y="3303270"/>
            <a:ext cx="274320" cy="274320"/>
          </a:xfrm>
          <a:prstGeom prst="ellipse">
            <a:avLst/>
          </a:prstGeom>
          <a:solidFill>
            <a:srgbClr val="1D2A5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63" name="Google Shape;3263;p117"/>
          <p:cNvSpPr/>
          <p:nvPr/>
        </p:nvSpPr>
        <p:spPr>
          <a:xfrm>
            <a:off x="502920" y="3303270"/>
            <a:ext cx="274320" cy="2743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100"/>
              <a:buFont typeface="Calibri"/>
              <a:buNone/>
            </a:pPr>
            <a:r>
              <a:rPr b="1" i="0" lang="en-US" sz="1100" u="none" cap="none" strike="noStrike">
                <a:solidFill>
                  <a:srgbClr val="FFFFFF"/>
                </a:solidFill>
                <a:latin typeface="Calibri"/>
                <a:ea typeface="Calibri"/>
                <a:cs typeface="Calibri"/>
                <a:sym typeface="Calibri"/>
              </a:rPr>
              <a:t>2</a:t>
            </a:r>
            <a:endParaRPr b="0" i="0" sz="1100" u="none" cap="none" strike="noStrike">
              <a:solidFill>
                <a:schemeClr val="dk1"/>
              </a:solidFill>
              <a:latin typeface="Calibri"/>
              <a:ea typeface="Calibri"/>
              <a:cs typeface="Calibri"/>
              <a:sym typeface="Calibri"/>
            </a:endParaRPr>
          </a:p>
        </p:txBody>
      </p:sp>
      <p:sp>
        <p:nvSpPr>
          <p:cNvPr id="3264" name="Google Shape;3264;p117"/>
          <p:cNvSpPr/>
          <p:nvPr/>
        </p:nvSpPr>
        <p:spPr>
          <a:xfrm>
            <a:off x="886968" y="3303270"/>
            <a:ext cx="658368" cy="274320"/>
          </a:xfrm>
          <a:prstGeom prst="roundRect">
            <a:avLst>
              <a:gd fmla="val 50000" name="adj"/>
            </a:avLst>
          </a:prstGeom>
          <a:solidFill>
            <a:srgbClr val="E9F6F5"/>
          </a:solidFill>
          <a:ln cap="flat" cmpd="sng" w="9525">
            <a:solidFill>
              <a:srgbClr val="00A79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65" name="Google Shape;3265;p117"/>
          <p:cNvSpPr/>
          <p:nvPr/>
        </p:nvSpPr>
        <p:spPr>
          <a:xfrm>
            <a:off x="886968" y="3303270"/>
            <a:ext cx="658368" cy="2743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56A63"/>
              </a:buClr>
              <a:buSzPts val="900"/>
              <a:buFont typeface="Calibri"/>
              <a:buNone/>
            </a:pPr>
            <a:r>
              <a:rPr b="1" i="0" lang="en-US" sz="900" u="none" cap="none" strike="noStrike">
                <a:solidFill>
                  <a:srgbClr val="056A63"/>
                </a:solidFill>
                <a:latin typeface="Calibri"/>
                <a:ea typeface="Calibri"/>
                <a:cs typeface="Calibri"/>
                <a:sym typeface="Calibri"/>
              </a:rPr>
              <a:t>8 min</a:t>
            </a:r>
            <a:endParaRPr b="0" i="0" sz="900" u="none" cap="none" strike="noStrike">
              <a:solidFill>
                <a:schemeClr val="dk1"/>
              </a:solidFill>
              <a:latin typeface="Calibri"/>
              <a:ea typeface="Calibri"/>
              <a:cs typeface="Calibri"/>
              <a:sym typeface="Calibri"/>
            </a:endParaRPr>
          </a:p>
        </p:txBody>
      </p:sp>
      <p:sp>
        <p:nvSpPr>
          <p:cNvPr id="3266" name="Google Shape;3266;p117"/>
          <p:cNvSpPr/>
          <p:nvPr/>
        </p:nvSpPr>
        <p:spPr>
          <a:xfrm>
            <a:off x="1673352" y="3165348"/>
            <a:ext cx="5733288" cy="5867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3293B"/>
              </a:buClr>
              <a:buSzPts val="1150"/>
              <a:buFont typeface="Calibri"/>
              <a:buNone/>
            </a:pPr>
            <a:r>
              <a:rPr b="0" i="0" lang="en-US" sz="1150" u="none" cap="none" strike="noStrike">
                <a:solidFill>
                  <a:srgbClr val="23293B"/>
                </a:solidFill>
                <a:latin typeface="Calibri"/>
                <a:ea typeface="Calibri"/>
                <a:cs typeface="Calibri"/>
                <a:sym typeface="Calibri"/>
              </a:rPr>
              <a:t>Implement average_precision; match Ultralytics per-class AP within ±0.005</a:t>
            </a:r>
            <a:endParaRPr b="0" i="0" sz="1150" u="none" cap="none" strike="noStrike">
              <a:solidFill>
                <a:schemeClr val="dk1"/>
              </a:solidFill>
              <a:latin typeface="Calibri"/>
              <a:ea typeface="Calibri"/>
              <a:cs typeface="Calibri"/>
              <a:sym typeface="Calibri"/>
            </a:endParaRPr>
          </a:p>
        </p:txBody>
      </p:sp>
      <p:sp>
        <p:nvSpPr>
          <p:cNvPr id="3267" name="Google Shape;3267;p117"/>
          <p:cNvSpPr/>
          <p:nvPr/>
        </p:nvSpPr>
        <p:spPr>
          <a:xfrm>
            <a:off x="502920" y="3944874"/>
            <a:ext cx="274320" cy="274320"/>
          </a:xfrm>
          <a:prstGeom prst="ellipse">
            <a:avLst/>
          </a:prstGeom>
          <a:solidFill>
            <a:srgbClr val="1D2A5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68" name="Google Shape;3268;p117"/>
          <p:cNvSpPr/>
          <p:nvPr/>
        </p:nvSpPr>
        <p:spPr>
          <a:xfrm>
            <a:off x="502920" y="3944874"/>
            <a:ext cx="274320" cy="2743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100"/>
              <a:buFont typeface="Calibri"/>
              <a:buNone/>
            </a:pPr>
            <a:r>
              <a:rPr b="1" i="0" lang="en-US" sz="1100" u="none" cap="none" strike="noStrike">
                <a:solidFill>
                  <a:srgbClr val="FFFFFF"/>
                </a:solidFill>
                <a:latin typeface="Calibri"/>
                <a:ea typeface="Calibri"/>
                <a:cs typeface="Calibri"/>
                <a:sym typeface="Calibri"/>
              </a:rPr>
              <a:t>3</a:t>
            </a:r>
            <a:endParaRPr b="0" i="0" sz="1100" u="none" cap="none" strike="noStrike">
              <a:solidFill>
                <a:schemeClr val="dk1"/>
              </a:solidFill>
              <a:latin typeface="Calibri"/>
              <a:ea typeface="Calibri"/>
              <a:cs typeface="Calibri"/>
              <a:sym typeface="Calibri"/>
            </a:endParaRPr>
          </a:p>
        </p:txBody>
      </p:sp>
      <p:sp>
        <p:nvSpPr>
          <p:cNvPr id="3269" name="Google Shape;3269;p117"/>
          <p:cNvSpPr/>
          <p:nvPr/>
        </p:nvSpPr>
        <p:spPr>
          <a:xfrm>
            <a:off x="886968" y="3944874"/>
            <a:ext cx="658368" cy="274320"/>
          </a:xfrm>
          <a:prstGeom prst="roundRect">
            <a:avLst>
              <a:gd fmla="val 50000" name="adj"/>
            </a:avLst>
          </a:prstGeom>
          <a:solidFill>
            <a:srgbClr val="E9F6F5"/>
          </a:solidFill>
          <a:ln cap="flat" cmpd="sng" w="9525">
            <a:solidFill>
              <a:srgbClr val="00A79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70" name="Google Shape;3270;p117"/>
          <p:cNvSpPr/>
          <p:nvPr/>
        </p:nvSpPr>
        <p:spPr>
          <a:xfrm>
            <a:off x="886968" y="3944874"/>
            <a:ext cx="658368" cy="2743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56A63"/>
              </a:buClr>
              <a:buSzPts val="900"/>
              <a:buFont typeface="Calibri"/>
              <a:buNone/>
            </a:pPr>
            <a:r>
              <a:rPr b="1" i="0" lang="en-US" sz="900" u="none" cap="none" strike="noStrike">
                <a:solidFill>
                  <a:srgbClr val="056A63"/>
                </a:solidFill>
                <a:latin typeface="Calibri"/>
                <a:ea typeface="Calibri"/>
                <a:cs typeface="Calibri"/>
                <a:sym typeface="Calibri"/>
              </a:rPr>
              <a:t>10 min</a:t>
            </a:r>
            <a:endParaRPr b="0" i="0" sz="900" u="none" cap="none" strike="noStrike">
              <a:solidFill>
                <a:schemeClr val="dk1"/>
              </a:solidFill>
              <a:latin typeface="Calibri"/>
              <a:ea typeface="Calibri"/>
              <a:cs typeface="Calibri"/>
              <a:sym typeface="Calibri"/>
            </a:endParaRPr>
          </a:p>
        </p:txBody>
      </p:sp>
      <p:sp>
        <p:nvSpPr>
          <p:cNvPr id="3271" name="Google Shape;3271;p117"/>
          <p:cNvSpPr/>
          <p:nvPr/>
        </p:nvSpPr>
        <p:spPr>
          <a:xfrm>
            <a:off x="1673352" y="3806952"/>
            <a:ext cx="5733288" cy="5867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3293B"/>
              </a:buClr>
              <a:buSzPts val="1150"/>
              <a:buFont typeface="Calibri"/>
              <a:buNone/>
            </a:pPr>
            <a:r>
              <a:rPr b="0" i="0" lang="en-US" sz="1150" u="none" cap="none" strike="noStrike">
                <a:solidFill>
                  <a:srgbClr val="23293B"/>
                </a:solidFill>
                <a:latin typeface="Calibri"/>
                <a:ea typeface="Calibri"/>
                <a:cs typeface="Calibri"/>
                <a:sym typeface="Calibri"/>
              </a:rPr>
              <a:t>Run the slice report; record the worst powered slice in BENCHMARKS.md</a:t>
            </a:r>
            <a:endParaRPr b="0" i="0" sz="1150" u="none" cap="none" strike="noStrike">
              <a:solidFill>
                <a:schemeClr val="dk1"/>
              </a:solidFill>
              <a:latin typeface="Calibri"/>
              <a:ea typeface="Calibri"/>
              <a:cs typeface="Calibri"/>
              <a:sym typeface="Calibri"/>
            </a:endParaRPr>
          </a:p>
        </p:txBody>
      </p:sp>
      <p:sp>
        <p:nvSpPr>
          <p:cNvPr id="3272" name="Google Shape;3272;p117"/>
          <p:cNvSpPr/>
          <p:nvPr/>
        </p:nvSpPr>
        <p:spPr>
          <a:xfrm>
            <a:off x="502920" y="4586478"/>
            <a:ext cx="274320" cy="274320"/>
          </a:xfrm>
          <a:prstGeom prst="ellipse">
            <a:avLst/>
          </a:prstGeom>
          <a:solidFill>
            <a:srgbClr val="1D2A5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73" name="Google Shape;3273;p117"/>
          <p:cNvSpPr/>
          <p:nvPr/>
        </p:nvSpPr>
        <p:spPr>
          <a:xfrm>
            <a:off x="502920" y="4586478"/>
            <a:ext cx="274320" cy="2743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100"/>
              <a:buFont typeface="Calibri"/>
              <a:buNone/>
            </a:pPr>
            <a:r>
              <a:rPr b="1" i="0" lang="en-US" sz="1100" u="none" cap="none" strike="noStrike">
                <a:solidFill>
                  <a:srgbClr val="FFFFFF"/>
                </a:solidFill>
                <a:latin typeface="Calibri"/>
                <a:ea typeface="Calibri"/>
                <a:cs typeface="Calibri"/>
                <a:sym typeface="Calibri"/>
              </a:rPr>
              <a:t>4</a:t>
            </a:r>
            <a:endParaRPr b="0" i="0" sz="1100" u="none" cap="none" strike="noStrike">
              <a:solidFill>
                <a:schemeClr val="dk1"/>
              </a:solidFill>
              <a:latin typeface="Calibri"/>
              <a:ea typeface="Calibri"/>
              <a:cs typeface="Calibri"/>
              <a:sym typeface="Calibri"/>
            </a:endParaRPr>
          </a:p>
        </p:txBody>
      </p:sp>
      <p:sp>
        <p:nvSpPr>
          <p:cNvPr id="3274" name="Google Shape;3274;p117"/>
          <p:cNvSpPr/>
          <p:nvPr/>
        </p:nvSpPr>
        <p:spPr>
          <a:xfrm>
            <a:off x="886968" y="4586478"/>
            <a:ext cx="658368" cy="274320"/>
          </a:xfrm>
          <a:prstGeom prst="roundRect">
            <a:avLst>
              <a:gd fmla="val 50000" name="adj"/>
            </a:avLst>
          </a:prstGeom>
          <a:solidFill>
            <a:srgbClr val="E9F6F5"/>
          </a:solidFill>
          <a:ln cap="flat" cmpd="sng" w="9525">
            <a:solidFill>
              <a:srgbClr val="00A79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75" name="Google Shape;3275;p117"/>
          <p:cNvSpPr/>
          <p:nvPr/>
        </p:nvSpPr>
        <p:spPr>
          <a:xfrm>
            <a:off x="886968" y="4586478"/>
            <a:ext cx="658368" cy="2743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56A63"/>
              </a:buClr>
              <a:buSzPts val="900"/>
              <a:buFont typeface="Calibri"/>
              <a:buNone/>
            </a:pPr>
            <a:r>
              <a:rPr b="1" i="0" lang="en-US" sz="900" u="none" cap="none" strike="noStrike">
                <a:solidFill>
                  <a:srgbClr val="056A63"/>
                </a:solidFill>
                <a:latin typeface="Calibri"/>
                <a:ea typeface="Calibri"/>
                <a:cs typeface="Calibri"/>
                <a:sym typeface="Calibri"/>
              </a:rPr>
              <a:t>10 min</a:t>
            </a:r>
            <a:endParaRPr b="0" i="0" sz="900" u="none" cap="none" strike="noStrike">
              <a:solidFill>
                <a:schemeClr val="dk1"/>
              </a:solidFill>
              <a:latin typeface="Calibri"/>
              <a:ea typeface="Calibri"/>
              <a:cs typeface="Calibri"/>
              <a:sym typeface="Calibri"/>
            </a:endParaRPr>
          </a:p>
        </p:txBody>
      </p:sp>
      <p:sp>
        <p:nvSpPr>
          <p:cNvPr id="3276" name="Google Shape;3276;p117"/>
          <p:cNvSpPr/>
          <p:nvPr/>
        </p:nvSpPr>
        <p:spPr>
          <a:xfrm>
            <a:off x="1673352" y="4448556"/>
            <a:ext cx="5733288" cy="5867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3293B"/>
              </a:buClr>
              <a:buSzPts val="1150"/>
              <a:buFont typeface="Calibri"/>
              <a:buNone/>
            </a:pPr>
            <a:r>
              <a:rPr b="0" i="0" lang="en-US" sz="1150" u="none" cap="none" strike="noStrike">
                <a:solidFill>
                  <a:srgbClr val="23293B"/>
                </a:solidFill>
                <a:latin typeface="Calibri"/>
                <a:ea typeface="Calibri"/>
                <a:cs typeface="Calibri"/>
                <a:sym typeface="Calibri"/>
              </a:rPr>
              <a:t>Run the error taxonomy; write the five-line ranked remediation plan</a:t>
            </a:r>
            <a:endParaRPr b="0" i="0" sz="1150" u="none" cap="none" strike="noStrike">
              <a:solidFill>
                <a:schemeClr val="dk1"/>
              </a:solidFill>
              <a:latin typeface="Calibri"/>
              <a:ea typeface="Calibri"/>
              <a:cs typeface="Calibri"/>
              <a:sym typeface="Calibri"/>
            </a:endParaRPr>
          </a:p>
        </p:txBody>
      </p:sp>
      <p:sp>
        <p:nvSpPr>
          <p:cNvPr id="3277" name="Google Shape;3277;p117"/>
          <p:cNvSpPr/>
          <p:nvPr/>
        </p:nvSpPr>
        <p:spPr>
          <a:xfrm>
            <a:off x="502920" y="5228082"/>
            <a:ext cx="274320" cy="274320"/>
          </a:xfrm>
          <a:prstGeom prst="ellipse">
            <a:avLst/>
          </a:prstGeom>
          <a:solidFill>
            <a:srgbClr val="1D2A5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78" name="Google Shape;3278;p117"/>
          <p:cNvSpPr/>
          <p:nvPr/>
        </p:nvSpPr>
        <p:spPr>
          <a:xfrm>
            <a:off x="502920" y="5228082"/>
            <a:ext cx="274320" cy="2743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100"/>
              <a:buFont typeface="Calibri"/>
              <a:buNone/>
            </a:pPr>
            <a:r>
              <a:rPr b="1" i="0" lang="en-US" sz="1100" u="none" cap="none" strike="noStrike">
                <a:solidFill>
                  <a:srgbClr val="FFFFFF"/>
                </a:solidFill>
                <a:latin typeface="Calibri"/>
                <a:ea typeface="Calibri"/>
                <a:cs typeface="Calibri"/>
                <a:sym typeface="Calibri"/>
              </a:rPr>
              <a:t>5</a:t>
            </a:r>
            <a:endParaRPr b="0" i="0" sz="1100" u="none" cap="none" strike="noStrike">
              <a:solidFill>
                <a:schemeClr val="dk1"/>
              </a:solidFill>
              <a:latin typeface="Calibri"/>
              <a:ea typeface="Calibri"/>
              <a:cs typeface="Calibri"/>
              <a:sym typeface="Calibri"/>
            </a:endParaRPr>
          </a:p>
        </p:txBody>
      </p:sp>
      <p:sp>
        <p:nvSpPr>
          <p:cNvPr id="3279" name="Google Shape;3279;p117"/>
          <p:cNvSpPr/>
          <p:nvPr/>
        </p:nvSpPr>
        <p:spPr>
          <a:xfrm>
            <a:off x="886968" y="5228082"/>
            <a:ext cx="658368" cy="274320"/>
          </a:xfrm>
          <a:prstGeom prst="roundRect">
            <a:avLst>
              <a:gd fmla="val 50000" name="adj"/>
            </a:avLst>
          </a:prstGeom>
          <a:solidFill>
            <a:srgbClr val="E9F6F5"/>
          </a:solidFill>
          <a:ln cap="flat" cmpd="sng" w="9525">
            <a:solidFill>
              <a:srgbClr val="00A79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80" name="Google Shape;3280;p117"/>
          <p:cNvSpPr/>
          <p:nvPr/>
        </p:nvSpPr>
        <p:spPr>
          <a:xfrm>
            <a:off x="886968" y="5228082"/>
            <a:ext cx="658368" cy="2743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56A63"/>
              </a:buClr>
              <a:buSzPts val="900"/>
              <a:buFont typeface="Calibri"/>
              <a:buNone/>
            </a:pPr>
            <a:r>
              <a:rPr b="1" i="0" lang="en-US" sz="900" u="none" cap="none" strike="noStrike">
                <a:solidFill>
                  <a:srgbClr val="056A63"/>
                </a:solidFill>
                <a:latin typeface="Calibri"/>
                <a:ea typeface="Calibri"/>
                <a:cs typeface="Calibri"/>
                <a:sym typeface="Calibri"/>
              </a:rPr>
              <a:t>8 min</a:t>
            </a:r>
            <a:endParaRPr b="0" i="0" sz="900" u="none" cap="none" strike="noStrike">
              <a:solidFill>
                <a:schemeClr val="dk1"/>
              </a:solidFill>
              <a:latin typeface="Calibri"/>
              <a:ea typeface="Calibri"/>
              <a:cs typeface="Calibri"/>
              <a:sym typeface="Calibri"/>
            </a:endParaRPr>
          </a:p>
        </p:txBody>
      </p:sp>
      <p:sp>
        <p:nvSpPr>
          <p:cNvPr id="3281" name="Google Shape;3281;p117"/>
          <p:cNvSpPr/>
          <p:nvPr/>
        </p:nvSpPr>
        <p:spPr>
          <a:xfrm>
            <a:off x="1673352" y="5090160"/>
            <a:ext cx="5733288" cy="5867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3293B"/>
              </a:buClr>
              <a:buSzPts val="1150"/>
              <a:buFont typeface="Calibri"/>
              <a:buNone/>
            </a:pPr>
            <a:r>
              <a:rPr b="0" i="0" lang="en-US" sz="1150" u="none" cap="none" strike="noStrike">
                <a:solidFill>
                  <a:srgbClr val="23293B"/>
                </a:solidFill>
                <a:latin typeface="Calibri"/>
                <a:ea typeface="Calibri"/>
                <a:cs typeface="Calibri"/>
                <a:sym typeface="Calibri"/>
              </a:rPr>
              <a:t>Determinism check: run twice, diff reports — must be byte-identical</a:t>
            </a:r>
            <a:endParaRPr b="0" i="0" sz="1150" u="none" cap="none" strike="noStrike">
              <a:solidFill>
                <a:schemeClr val="dk1"/>
              </a:solidFill>
              <a:latin typeface="Calibri"/>
              <a:ea typeface="Calibri"/>
              <a:cs typeface="Calibri"/>
              <a:sym typeface="Calibri"/>
            </a:endParaRPr>
          </a:p>
        </p:txBody>
      </p:sp>
      <p:sp>
        <p:nvSpPr>
          <p:cNvPr id="3282" name="Google Shape;3282;p117"/>
          <p:cNvSpPr/>
          <p:nvPr/>
        </p:nvSpPr>
        <p:spPr>
          <a:xfrm>
            <a:off x="502920" y="5869686"/>
            <a:ext cx="274320" cy="274320"/>
          </a:xfrm>
          <a:prstGeom prst="ellipse">
            <a:avLst/>
          </a:prstGeom>
          <a:solidFill>
            <a:srgbClr val="1D2A5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83" name="Google Shape;3283;p117"/>
          <p:cNvSpPr/>
          <p:nvPr/>
        </p:nvSpPr>
        <p:spPr>
          <a:xfrm>
            <a:off x="502920" y="5869686"/>
            <a:ext cx="274320" cy="2743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100"/>
              <a:buFont typeface="Calibri"/>
              <a:buNone/>
            </a:pPr>
            <a:r>
              <a:rPr b="1" i="0" lang="en-US" sz="1100" u="none" cap="none" strike="noStrike">
                <a:solidFill>
                  <a:srgbClr val="FFFFFF"/>
                </a:solidFill>
                <a:latin typeface="Calibri"/>
                <a:ea typeface="Calibri"/>
                <a:cs typeface="Calibri"/>
                <a:sym typeface="Calibri"/>
              </a:rPr>
              <a:t>6</a:t>
            </a:r>
            <a:endParaRPr b="0" i="0" sz="1100" u="none" cap="none" strike="noStrike">
              <a:solidFill>
                <a:schemeClr val="dk1"/>
              </a:solidFill>
              <a:latin typeface="Calibri"/>
              <a:ea typeface="Calibri"/>
              <a:cs typeface="Calibri"/>
              <a:sym typeface="Calibri"/>
            </a:endParaRPr>
          </a:p>
        </p:txBody>
      </p:sp>
      <p:sp>
        <p:nvSpPr>
          <p:cNvPr id="3284" name="Google Shape;3284;p117"/>
          <p:cNvSpPr/>
          <p:nvPr/>
        </p:nvSpPr>
        <p:spPr>
          <a:xfrm>
            <a:off x="886968" y="5869686"/>
            <a:ext cx="658368" cy="274320"/>
          </a:xfrm>
          <a:prstGeom prst="roundRect">
            <a:avLst>
              <a:gd fmla="val 50000" name="adj"/>
            </a:avLst>
          </a:prstGeom>
          <a:solidFill>
            <a:srgbClr val="E9F6F5"/>
          </a:solidFill>
          <a:ln cap="flat" cmpd="sng" w="9525">
            <a:solidFill>
              <a:srgbClr val="00A79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85" name="Google Shape;3285;p117"/>
          <p:cNvSpPr/>
          <p:nvPr/>
        </p:nvSpPr>
        <p:spPr>
          <a:xfrm>
            <a:off x="886968" y="5869686"/>
            <a:ext cx="658368" cy="2743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56A63"/>
              </a:buClr>
              <a:buSzPts val="900"/>
              <a:buFont typeface="Calibri"/>
              <a:buNone/>
            </a:pPr>
            <a:r>
              <a:rPr b="1" i="0" lang="en-US" sz="900" u="none" cap="none" strike="noStrike">
                <a:solidFill>
                  <a:srgbClr val="056A63"/>
                </a:solidFill>
                <a:latin typeface="Calibri"/>
                <a:ea typeface="Calibri"/>
                <a:cs typeface="Calibri"/>
                <a:sym typeface="Calibri"/>
              </a:rPr>
              <a:t>2 min</a:t>
            </a:r>
            <a:endParaRPr b="0" i="0" sz="900" u="none" cap="none" strike="noStrike">
              <a:solidFill>
                <a:schemeClr val="dk1"/>
              </a:solidFill>
              <a:latin typeface="Calibri"/>
              <a:ea typeface="Calibri"/>
              <a:cs typeface="Calibri"/>
              <a:sym typeface="Calibri"/>
            </a:endParaRPr>
          </a:p>
        </p:txBody>
      </p:sp>
      <p:sp>
        <p:nvSpPr>
          <p:cNvPr id="3286" name="Google Shape;3286;p117"/>
          <p:cNvSpPr/>
          <p:nvPr/>
        </p:nvSpPr>
        <p:spPr>
          <a:xfrm>
            <a:off x="1673352" y="5731764"/>
            <a:ext cx="5733288" cy="5867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3293B"/>
              </a:buClr>
              <a:buSzPts val="1150"/>
              <a:buFont typeface="Calibri"/>
              <a:buNone/>
            </a:pPr>
            <a:r>
              <a:rPr b="0" i="0" lang="en-US" sz="1150" u="none" cap="none" strike="noStrike">
                <a:solidFill>
                  <a:srgbClr val="23293B"/>
                </a:solidFill>
                <a:latin typeface="Calibri"/>
                <a:ea typeface="Calibri"/>
                <a:cs typeface="Calibri"/>
                <a:sym typeface="Calibri"/>
              </a:rPr>
              <a:t>Commit: feat(eval): harness v1 + error analysis report</a:t>
            </a:r>
            <a:endParaRPr b="0" i="0" sz="1150" u="none" cap="none" strike="noStrike">
              <a:solidFill>
                <a:schemeClr val="dk1"/>
              </a:solidFill>
              <a:latin typeface="Calibri"/>
              <a:ea typeface="Calibri"/>
              <a:cs typeface="Calibri"/>
              <a:sym typeface="Calibri"/>
            </a:endParaRPr>
          </a:p>
        </p:txBody>
      </p:sp>
      <p:sp>
        <p:nvSpPr>
          <p:cNvPr id="3287" name="Google Shape;3287;p117"/>
          <p:cNvSpPr/>
          <p:nvPr/>
        </p:nvSpPr>
        <p:spPr>
          <a:xfrm>
            <a:off x="7635240" y="2505456"/>
            <a:ext cx="4050792" cy="3849624"/>
          </a:xfrm>
          <a:prstGeom prst="roundRect">
            <a:avLst>
              <a:gd fmla="val 2375" name="adj"/>
            </a:avLst>
          </a:prstGeom>
          <a:solidFill>
            <a:srgbClr val="0F172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88" name="Google Shape;3288;p117"/>
          <p:cNvSpPr/>
          <p:nvPr/>
        </p:nvSpPr>
        <p:spPr>
          <a:xfrm>
            <a:off x="7818120" y="2615184"/>
            <a:ext cx="3685032" cy="2377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EEAD4"/>
              </a:buClr>
              <a:buSzPts val="900"/>
              <a:buFont typeface="Calibri"/>
              <a:buNone/>
            </a:pPr>
            <a:r>
              <a:rPr b="1" i="0" lang="en-US" sz="900" u="none" cap="none" strike="noStrike">
                <a:solidFill>
                  <a:srgbClr val="5EEAD4"/>
                </a:solidFill>
                <a:latin typeface="Calibri"/>
                <a:ea typeface="Calibri"/>
                <a:cs typeface="Calibri"/>
                <a:sym typeface="Calibri"/>
              </a:rPr>
              <a:t>EXPECTED OUTPUT</a:t>
            </a:r>
            <a:endParaRPr b="0" i="0" sz="900" u="none" cap="none" strike="noStrike">
              <a:solidFill>
                <a:schemeClr val="dk1"/>
              </a:solidFill>
              <a:latin typeface="Calibri"/>
              <a:ea typeface="Calibri"/>
              <a:cs typeface="Calibri"/>
              <a:sym typeface="Calibri"/>
            </a:endParaRPr>
          </a:p>
        </p:txBody>
      </p:sp>
      <p:sp>
        <p:nvSpPr>
          <p:cNvPr id="3289" name="Google Shape;3289;p117"/>
          <p:cNvSpPr/>
          <p:nvPr/>
        </p:nvSpPr>
        <p:spPr>
          <a:xfrm>
            <a:off x="7818120" y="2907792"/>
            <a:ext cx="3703320" cy="3300984"/>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DCE6F5"/>
              </a:buClr>
              <a:buSzPts val="900"/>
              <a:buFont typeface="Courier New"/>
              <a:buNone/>
            </a:pPr>
            <a:r>
              <a:rPr b="0" i="0" lang="en-US" sz="900" u="none" cap="none" strike="noStrike">
                <a:solidFill>
                  <a:srgbClr val="DCE6F5"/>
                </a:solidFill>
                <a:latin typeface="Courier New"/>
                <a:ea typeface="Courier New"/>
                <a:cs typeface="Courier New"/>
                <a:sym typeface="Courier New"/>
              </a:rPr>
              <a:t>$ pytest tests/eval/ -q</a:t>
            </a:r>
            <a:endParaRPr b="0" i="0" sz="900" u="none" cap="none" strike="noStrike">
              <a:solidFill>
                <a:schemeClr val="dk1"/>
              </a:solidFill>
              <a:latin typeface="Calibri"/>
              <a:ea typeface="Calibri"/>
              <a:cs typeface="Calibri"/>
              <a:sym typeface="Calibri"/>
            </a:endParaRPr>
          </a:p>
          <a:p>
            <a:pPr indent="0" lvl="0" marL="0" marR="0" rtl="0" algn="l">
              <a:lnSpc>
                <a:spcPct val="130000"/>
              </a:lnSpc>
              <a:spcBef>
                <a:spcPts val="0"/>
              </a:spcBef>
              <a:spcAft>
                <a:spcPts val="0"/>
              </a:spcAft>
              <a:buClr>
                <a:srgbClr val="DCE6F5"/>
              </a:buClr>
              <a:buSzPts val="900"/>
              <a:buFont typeface="Courier New"/>
              <a:buNone/>
            </a:pPr>
            <a:r>
              <a:rPr b="0" i="0" lang="en-US" sz="900" u="none" cap="none" strike="noStrike">
                <a:solidFill>
                  <a:srgbClr val="DCE6F5"/>
                </a:solidFill>
                <a:latin typeface="Courier New"/>
                <a:ea typeface="Courier New"/>
                <a:cs typeface="Courier New"/>
                <a:sym typeface="Courier New"/>
              </a:rPr>
              <a:t>12 passed in 1.84s</a:t>
            </a:r>
            <a:endParaRPr b="0" i="0" sz="900" u="none" cap="none" strike="noStrike">
              <a:solidFill>
                <a:schemeClr val="dk1"/>
              </a:solidFill>
              <a:latin typeface="Calibri"/>
              <a:ea typeface="Calibri"/>
              <a:cs typeface="Calibri"/>
              <a:sym typeface="Calibri"/>
            </a:endParaRPr>
          </a:p>
          <a:p>
            <a:pPr indent="0" lvl="0" marL="0" marR="0" rtl="0" algn="l">
              <a:lnSpc>
                <a:spcPct val="130000"/>
              </a:lnSpc>
              <a:spcBef>
                <a:spcPts val="0"/>
              </a:spcBef>
              <a:spcAft>
                <a:spcPts val="0"/>
              </a:spcAft>
              <a:buClr>
                <a:srgbClr val="DCE6F5"/>
              </a:buClr>
              <a:buSzPts val="900"/>
              <a:buFont typeface="Courier New"/>
              <a:buNone/>
            </a:pPr>
            <a:r>
              <a:rPr b="0" i="0" lang="en-US" sz="900" u="none" cap="none" strike="noStrike">
                <a:solidFill>
                  <a:srgbClr val="DCE6F5"/>
                </a:solidFill>
                <a:latin typeface="Courier New"/>
                <a:ea typeface="Courier New"/>
                <a:cs typeface="Courier New"/>
                <a:sym typeface="Courier New"/>
              </a:rPr>
              <a:t>$ python scripts/eval_report.py</a:t>
            </a:r>
            <a:endParaRPr b="0" i="0" sz="900" u="none" cap="none" strike="noStrike">
              <a:solidFill>
                <a:schemeClr val="dk1"/>
              </a:solidFill>
              <a:latin typeface="Calibri"/>
              <a:ea typeface="Calibri"/>
              <a:cs typeface="Calibri"/>
              <a:sym typeface="Calibri"/>
            </a:endParaRPr>
          </a:p>
          <a:p>
            <a:pPr indent="0" lvl="0" marL="0" marR="0" rtl="0" algn="l">
              <a:lnSpc>
                <a:spcPct val="130000"/>
              </a:lnSpc>
              <a:spcBef>
                <a:spcPts val="0"/>
              </a:spcBef>
              <a:spcAft>
                <a:spcPts val="0"/>
              </a:spcAft>
              <a:buClr>
                <a:srgbClr val="DCE6F5"/>
              </a:buClr>
              <a:buSzPts val="900"/>
              <a:buFont typeface="Courier New"/>
              <a:buNone/>
            </a:pPr>
            <a:r>
              <a:rPr b="0" i="0" lang="en-US" sz="900" u="none" cap="none" strike="noStrike">
                <a:solidFill>
                  <a:srgbClr val="DCE6F5"/>
                </a:solidFill>
                <a:latin typeface="Courier New"/>
                <a:ea typeface="Courier New"/>
                <a:cs typeface="Courier New"/>
                <a:sym typeface="Courier New"/>
              </a:rPr>
              <a:t>    --model runs/.../best.pt</a:t>
            </a:r>
            <a:endParaRPr b="0" i="0" sz="900" u="none" cap="none" strike="noStrike">
              <a:solidFill>
                <a:schemeClr val="dk1"/>
              </a:solidFill>
              <a:latin typeface="Calibri"/>
              <a:ea typeface="Calibri"/>
              <a:cs typeface="Calibri"/>
              <a:sym typeface="Calibri"/>
            </a:endParaRPr>
          </a:p>
          <a:p>
            <a:pPr indent="0" lvl="0" marL="0" marR="0" rtl="0" algn="l">
              <a:lnSpc>
                <a:spcPct val="130000"/>
              </a:lnSpc>
              <a:spcBef>
                <a:spcPts val="0"/>
              </a:spcBef>
              <a:spcAft>
                <a:spcPts val="0"/>
              </a:spcAft>
              <a:buClr>
                <a:srgbClr val="DCE6F5"/>
              </a:buClr>
              <a:buSzPts val="900"/>
              <a:buFont typeface="Courier New"/>
              <a:buNone/>
            </a:pPr>
            <a:r>
              <a:rPr b="0" i="0" lang="en-US" sz="900" u="none" cap="none" strike="noStrike">
                <a:solidFill>
                  <a:srgbClr val="DCE6F5"/>
                </a:solidFill>
                <a:latin typeface="Courier New"/>
                <a:ea typeface="Courier New"/>
                <a:cs typeface="Courier New"/>
                <a:sym typeface="Courier New"/>
              </a:rPr>
              <a:t>mAP@0.5=0.872  mAP@0.5:0.95=0.641</a:t>
            </a:r>
            <a:endParaRPr b="0" i="0" sz="900" u="none" cap="none" strike="noStrike">
              <a:solidFill>
                <a:schemeClr val="dk1"/>
              </a:solidFill>
              <a:latin typeface="Calibri"/>
              <a:ea typeface="Calibri"/>
              <a:cs typeface="Calibri"/>
              <a:sym typeface="Calibri"/>
            </a:endParaRPr>
          </a:p>
          <a:p>
            <a:pPr indent="0" lvl="0" marL="0" marR="0" rtl="0" algn="l">
              <a:lnSpc>
                <a:spcPct val="130000"/>
              </a:lnSpc>
              <a:spcBef>
                <a:spcPts val="0"/>
              </a:spcBef>
              <a:spcAft>
                <a:spcPts val="0"/>
              </a:spcAft>
              <a:buClr>
                <a:srgbClr val="DCE6F5"/>
              </a:buClr>
              <a:buSzPts val="900"/>
              <a:buFont typeface="Courier New"/>
              <a:buNone/>
            </a:pPr>
            <a:r>
              <a:rPr b="0" i="0" lang="en-US" sz="900" u="none" cap="none" strike="noStrike">
                <a:solidFill>
                  <a:srgbClr val="DCE6F5"/>
                </a:solidFill>
                <a:latin typeface="Courier New"/>
                <a:ea typeface="Courier New"/>
                <a:cs typeface="Courier New"/>
                <a:sym typeface="Courier New"/>
              </a:rPr>
              <a:t>error mass: miss 0.23, misclass 0.41,</a:t>
            </a:r>
            <a:endParaRPr b="0" i="0" sz="900" u="none" cap="none" strike="noStrike">
              <a:solidFill>
                <a:schemeClr val="dk1"/>
              </a:solidFill>
              <a:latin typeface="Calibri"/>
              <a:ea typeface="Calibri"/>
              <a:cs typeface="Calibri"/>
              <a:sym typeface="Calibri"/>
            </a:endParaRPr>
          </a:p>
          <a:p>
            <a:pPr indent="0" lvl="0" marL="0" marR="0" rtl="0" algn="l">
              <a:lnSpc>
                <a:spcPct val="130000"/>
              </a:lnSpc>
              <a:spcBef>
                <a:spcPts val="0"/>
              </a:spcBef>
              <a:spcAft>
                <a:spcPts val="0"/>
              </a:spcAft>
              <a:buClr>
                <a:srgbClr val="DCE6F5"/>
              </a:buClr>
              <a:buSzPts val="900"/>
              <a:buFont typeface="Courier New"/>
              <a:buNone/>
            </a:pPr>
            <a:r>
              <a:rPr b="0" i="0" lang="en-US" sz="900" u="none" cap="none" strike="noStrike">
                <a:solidFill>
                  <a:srgbClr val="DCE6F5"/>
                </a:solidFill>
                <a:latin typeface="Courier New"/>
                <a:ea typeface="Courier New"/>
                <a:cs typeface="Courier New"/>
                <a:sym typeface="Courier New"/>
              </a:rPr>
              <a:t>  loc 0.14, dup 0.07, background 0.15</a:t>
            </a:r>
            <a:endParaRPr b="0" i="0" sz="900" u="none" cap="none" strike="noStrike">
              <a:solidFill>
                <a:schemeClr val="dk1"/>
              </a:solidFill>
              <a:latin typeface="Calibri"/>
              <a:ea typeface="Calibri"/>
              <a:cs typeface="Calibri"/>
              <a:sym typeface="Calibri"/>
            </a:endParaRPr>
          </a:p>
          <a:p>
            <a:pPr indent="0" lvl="0" marL="0" marR="0" rtl="0" algn="l">
              <a:lnSpc>
                <a:spcPct val="130000"/>
              </a:lnSpc>
              <a:spcBef>
                <a:spcPts val="0"/>
              </a:spcBef>
              <a:spcAft>
                <a:spcPts val="0"/>
              </a:spcAft>
              <a:buClr>
                <a:srgbClr val="DCE6F5"/>
              </a:buClr>
              <a:buSzPts val="900"/>
              <a:buFont typeface="Courier New"/>
              <a:buNone/>
            </a:pPr>
            <a:r>
              <a:rPr b="0" i="0" lang="en-US" sz="900" u="none" cap="none" strike="noStrike">
                <a:solidFill>
                  <a:srgbClr val="DCE6F5"/>
                </a:solidFill>
                <a:latin typeface="Courier New"/>
                <a:ea typeface="Courier New"/>
                <a:cs typeface="Courier New"/>
                <a:sym typeface="Courier New"/>
              </a:rPr>
              <a:t>worst powered slice:</a:t>
            </a:r>
            <a:endParaRPr b="0" i="0" sz="900" u="none" cap="none" strike="noStrike">
              <a:solidFill>
                <a:schemeClr val="dk1"/>
              </a:solidFill>
              <a:latin typeface="Calibri"/>
              <a:ea typeface="Calibri"/>
              <a:cs typeface="Calibri"/>
              <a:sym typeface="Calibri"/>
            </a:endParaRPr>
          </a:p>
          <a:p>
            <a:pPr indent="0" lvl="0" marL="0" marR="0" rtl="0" algn="l">
              <a:lnSpc>
                <a:spcPct val="130000"/>
              </a:lnSpc>
              <a:spcBef>
                <a:spcPts val="0"/>
              </a:spcBef>
              <a:spcAft>
                <a:spcPts val="0"/>
              </a:spcAft>
              <a:buClr>
                <a:srgbClr val="DCE6F5"/>
              </a:buClr>
              <a:buSzPts val="900"/>
              <a:buFont typeface="Courier New"/>
              <a:buNone/>
            </a:pPr>
            <a:r>
              <a:rPr b="0" i="0" lang="en-US" sz="900" u="none" cap="none" strike="noStrike">
                <a:solidFill>
                  <a:srgbClr val="DCE6F5"/>
                </a:solidFill>
                <a:latin typeface="Courier New"/>
                <a:ea typeface="Courier New"/>
                <a:cs typeface="Courier New"/>
                <a:sym typeface="Courier New"/>
              </a:rPr>
              <a:t>  session=s09 recall=0.71 (n=142)</a:t>
            </a:r>
            <a:endParaRPr b="0" i="0" sz="900" u="none" cap="none" strike="noStrike">
              <a:solidFill>
                <a:schemeClr val="dk1"/>
              </a:solidFill>
              <a:latin typeface="Calibri"/>
              <a:ea typeface="Calibri"/>
              <a:cs typeface="Calibri"/>
              <a:sym typeface="Calibri"/>
            </a:endParaRPr>
          </a:p>
          <a:p>
            <a:pPr indent="0" lvl="0" marL="0" marR="0" rtl="0" algn="l">
              <a:lnSpc>
                <a:spcPct val="130000"/>
              </a:lnSpc>
              <a:spcBef>
                <a:spcPts val="0"/>
              </a:spcBef>
              <a:spcAft>
                <a:spcPts val="0"/>
              </a:spcAft>
              <a:buClr>
                <a:srgbClr val="DCE6F5"/>
              </a:buClr>
              <a:buSzPts val="900"/>
              <a:buFont typeface="Courier New"/>
              <a:buNone/>
            </a:pPr>
            <a:r>
              <a:rPr b="0" i="0" lang="en-US" sz="900" u="none" cap="none" strike="noStrike">
                <a:solidFill>
                  <a:srgbClr val="DCE6F5"/>
                </a:solidFill>
                <a:latin typeface="Courier New"/>
                <a:ea typeface="Courier New"/>
                <a:cs typeface="Courier New"/>
                <a:sym typeface="Courier New"/>
              </a:rPr>
              <a:t>  # invisible in the aggregate</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1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294" name="Shape 3294"/>
        <p:cNvGrpSpPr/>
        <p:nvPr/>
      </p:nvGrpSpPr>
      <p:grpSpPr>
        <a:xfrm>
          <a:off x="0" y="0"/>
          <a:ext cx="0" cy="0"/>
          <a:chOff x="0" y="0"/>
          <a:chExt cx="0" cy="0"/>
        </a:xfrm>
      </p:grpSpPr>
      <p:sp>
        <p:nvSpPr>
          <p:cNvPr id="3295" name="Google Shape;3295;p118"/>
          <p:cNvSpPr/>
          <p:nvPr/>
        </p:nvSpPr>
        <p:spPr>
          <a:xfrm>
            <a:off x="502920" y="274320"/>
            <a:ext cx="9646920" cy="56692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D2A5C"/>
              </a:buClr>
              <a:buSzPts val="2700"/>
              <a:buFont typeface="Calibri"/>
              <a:buNone/>
            </a:pPr>
            <a:r>
              <a:rPr b="1" i="0" lang="en-US" sz="2700" u="none" cap="none" strike="noStrike">
                <a:solidFill>
                  <a:srgbClr val="1D2A5C"/>
                </a:solidFill>
                <a:latin typeface="Calibri"/>
                <a:ea typeface="Calibri"/>
                <a:cs typeface="Calibri"/>
                <a:sym typeface="Calibri"/>
              </a:rPr>
              <a:t>Lab 6 Troubleshooting</a:t>
            </a:r>
            <a:endParaRPr b="0" i="0" sz="2700" u="none" cap="none" strike="noStrike">
              <a:solidFill>
                <a:schemeClr val="dk1"/>
              </a:solidFill>
              <a:latin typeface="Calibri"/>
              <a:ea typeface="Calibri"/>
              <a:cs typeface="Calibri"/>
              <a:sym typeface="Calibri"/>
            </a:endParaRPr>
          </a:p>
        </p:txBody>
      </p:sp>
      <p:sp>
        <p:nvSpPr>
          <p:cNvPr id="3296" name="Google Shape;3296;p118"/>
          <p:cNvSpPr/>
          <p:nvPr/>
        </p:nvSpPr>
        <p:spPr>
          <a:xfrm>
            <a:off x="502920" y="859536"/>
            <a:ext cx="9646920" cy="31089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F6B7A"/>
              </a:buClr>
              <a:buSzPts val="1250"/>
              <a:buFont typeface="Arial"/>
              <a:buNone/>
            </a:pPr>
            <a:r>
              <a:rPr b="0" i="0" lang="en-US" sz="1250" u="none" cap="none" strike="noStrike">
                <a:solidFill>
                  <a:srgbClr val="5F6B7A"/>
                </a:solidFill>
                <a:latin typeface="Arial"/>
                <a:ea typeface="Arial"/>
                <a:cs typeface="Arial"/>
                <a:sym typeface="Arial"/>
              </a:rPr>
              <a:t>استكشاف أخطاء المختبر 6</a:t>
            </a:r>
            <a:endParaRPr b="0" i="0" sz="1250" u="none" cap="none" strike="noStrike">
              <a:solidFill>
                <a:schemeClr val="dk1"/>
              </a:solidFill>
              <a:latin typeface="Calibri"/>
              <a:ea typeface="Calibri"/>
              <a:cs typeface="Calibri"/>
              <a:sym typeface="Calibri"/>
            </a:endParaRPr>
          </a:p>
        </p:txBody>
      </p:sp>
      <p:pic>
        <p:nvPicPr>
          <p:cNvPr descr="/sessions/blissful-determined-ritchie/build/assets/sdaia_logo.png" id="3297" name="Google Shape;3297;p118"/>
          <p:cNvPicPr preferRelativeResize="0"/>
          <p:nvPr/>
        </p:nvPicPr>
        <p:blipFill rotWithShape="1">
          <a:blip r:embed="rId3">
            <a:alphaModFix/>
          </a:blip>
          <a:srcRect b="0" l="0" r="0" t="0"/>
          <a:stretch/>
        </p:blipFill>
        <p:spPr>
          <a:xfrm>
            <a:off x="10625328" y="310896"/>
            <a:ext cx="1078992" cy="264111"/>
          </a:xfrm>
          <a:prstGeom prst="rect">
            <a:avLst/>
          </a:prstGeom>
          <a:noFill/>
          <a:ln>
            <a:noFill/>
          </a:ln>
        </p:spPr>
      </p:pic>
      <p:sp>
        <p:nvSpPr>
          <p:cNvPr id="3298" name="Google Shape;3298;p118"/>
          <p:cNvSpPr/>
          <p:nvPr/>
        </p:nvSpPr>
        <p:spPr>
          <a:xfrm>
            <a:off x="502920" y="6528816"/>
            <a:ext cx="8686800"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A79D"/>
              </a:buClr>
              <a:buSzPts val="800"/>
              <a:buFont typeface="Calibri"/>
              <a:buNone/>
            </a:pPr>
            <a:r>
              <a:rPr b="1" i="0" lang="en-US" sz="800" u="none" cap="none" strike="noStrike">
                <a:solidFill>
                  <a:srgbClr val="00A79D"/>
                </a:solidFill>
                <a:latin typeface="Calibri"/>
                <a:ea typeface="Calibri"/>
                <a:cs typeface="Calibri"/>
                <a:sym typeface="Calibri"/>
              </a:rPr>
              <a:t>MODULE 6 · LAB   </a:t>
            </a:r>
            <a:r>
              <a:rPr b="0" i="0" lang="en-US" sz="800" u="none" cap="none" strike="noStrike">
                <a:solidFill>
                  <a:srgbClr val="8A96A6"/>
                </a:solidFill>
                <a:latin typeface="Calibri"/>
                <a:ea typeface="Calibri"/>
                <a:cs typeface="Calibri"/>
                <a:sym typeface="Calibri"/>
              </a:rPr>
              <a:t>SDA-AIE-212 · Computer Vision Systems Development</a:t>
            </a:r>
            <a:endParaRPr b="0" i="0" sz="800" u="none" cap="none" strike="noStrike">
              <a:solidFill>
                <a:schemeClr val="dk1"/>
              </a:solidFill>
              <a:latin typeface="Calibri"/>
              <a:ea typeface="Calibri"/>
              <a:cs typeface="Calibri"/>
              <a:sym typeface="Calibri"/>
            </a:endParaRPr>
          </a:p>
        </p:txBody>
      </p:sp>
      <p:sp>
        <p:nvSpPr>
          <p:cNvPr id="3299" name="Google Shape;3299;p118"/>
          <p:cNvSpPr/>
          <p:nvPr/>
        </p:nvSpPr>
        <p:spPr>
          <a:xfrm>
            <a:off x="11292840" y="6528816"/>
            <a:ext cx="411480" cy="219456"/>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8A96A6"/>
              </a:buClr>
              <a:buSzPts val="900"/>
              <a:buFont typeface="Calibri"/>
              <a:buNone/>
            </a:pPr>
            <a:r>
              <a:rPr b="0" i="0" lang="en-US" sz="900" u="none" cap="none" strike="noStrike">
                <a:solidFill>
                  <a:srgbClr val="8A96A6"/>
                </a:solidFill>
                <a:latin typeface="Calibri"/>
                <a:ea typeface="Calibri"/>
                <a:cs typeface="Calibri"/>
                <a:sym typeface="Calibri"/>
              </a:rPr>
              <a:t>118</a:t>
            </a:r>
            <a:endParaRPr b="0" i="0" sz="900" u="none" cap="none" strike="noStrike">
              <a:solidFill>
                <a:schemeClr val="dk1"/>
              </a:solidFill>
              <a:latin typeface="Calibri"/>
              <a:ea typeface="Calibri"/>
              <a:cs typeface="Calibri"/>
              <a:sym typeface="Calibri"/>
            </a:endParaRPr>
          </a:p>
        </p:txBody>
      </p:sp>
      <p:graphicFrame>
        <p:nvGraphicFramePr>
          <p:cNvPr id="3300" name="Google Shape;3300;p118"/>
          <p:cNvGraphicFramePr/>
          <p:nvPr/>
        </p:nvGraphicFramePr>
        <p:xfrm>
          <a:off x="502920" y="1389888"/>
          <a:ext cx="3000000" cy="3000000"/>
        </p:xfrm>
        <a:graphic>
          <a:graphicData uri="http://schemas.openxmlformats.org/drawingml/2006/table">
            <a:tbl>
              <a:tblPr>
                <a:noFill/>
                <a:tableStyleId>{F80342BA-3033-44D6-9F91-622DC7A4C435}</a:tableStyleId>
              </a:tblPr>
              <a:tblGrid>
                <a:gridCol w="3434950"/>
                <a:gridCol w="3752675"/>
                <a:gridCol w="3998200"/>
              </a:tblGrid>
              <a:tr h="713225">
                <a:tc>
                  <a:txBody>
                    <a:bodyPr/>
                    <a:lstStyle/>
                    <a:p>
                      <a:pPr indent="0" lvl="0" marL="0" marR="0" rtl="0" algn="l">
                        <a:spcBef>
                          <a:spcPts val="0"/>
                        </a:spcBef>
                        <a:spcAft>
                          <a:spcPts val="0"/>
                        </a:spcAft>
                        <a:buClr>
                          <a:srgbClr val="FFFFFF"/>
                        </a:buClr>
                        <a:buSzPts val="1150"/>
                        <a:buFont typeface="Calibri"/>
                        <a:buNone/>
                      </a:pPr>
                      <a:r>
                        <a:rPr b="1" lang="en-US" sz="1150" u="none" cap="none" strike="noStrike">
                          <a:solidFill>
                            <a:srgbClr val="FFFFFF"/>
                          </a:solidFill>
                          <a:latin typeface="Calibri"/>
                          <a:ea typeface="Calibri"/>
                          <a:cs typeface="Calibri"/>
                          <a:sym typeface="Calibri"/>
                        </a:rPr>
                        <a:t>Symptom</a:t>
                      </a:r>
                      <a:endParaRPr sz="1150" u="none" cap="none" strike="noStrike">
                        <a:latin typeface="Calibri"/>
                        <a:ea typeface="Calibri"/>
                        <a:cs typeface="Calibri"/>
                        <a:sym typeface="Calibri"/>
                      </a:endParaRPr>
                    </a:p>
                  </a:txBody>
                  <a:tcPr marT="64000" marB="64000" marR="64000" marL="64000" anchor="ctr">
                    <a:lnL cap="flat" cmpd="sng" w="9525">
                      <a:solidFill>
                        <a:srgbClr val="D9E2EA"/>
                      </a:solidFill>
                      <a:prstDash val="solid"/>
                      <a:round/>
                      <a:headEnd len="sm" w="sm" type="none"/>
                      <a:tailEnd len="sm" w="sm" type="none"/>
                    </a:lnL>
                    <a:lnR cap="flat" cmpd="sng" w="9525">
                      <a:solidFill>
                        <a:srgbClr val="D9E2EA"/>
                      </a:solidFill>
                      <a:prstDash val="solid"/>
                      <a:round/>
                      <a:headEnd len="sm" w="sm" type="none"/>
                      <a:tailEnd len="sm" w="sm" type="none"/>
                    </a:lnR>
                    <a:lnT cap="flat" cmpd="sng" w="9525">
                      <a:solidFill>
                        <a:srgbClr val="D9E2EA"/>
                      </a:solidFill>
                      <a:prstDash val="solid"/>
                      <a:round/>
                      <a:headEnd len="sm" w="sm" type="none"/>
                      <a:tailEnd len="sm" w="sm" type="none"/>
                    </a:lnT>
                    <a:lnB cap="flat" cmpd="sng" w="9525">
                      <a:solidFill>
                        <a:srgbClr val="D9E2EA"/>
                      </a:solidFill>
                      <a:prstDash val="solid"/>
                      <a:round/>
                      <a:headEnd len="sm" w="sm" type="none"/>
                      <a:tailEnd len="sm" w="sm" type="none"/>
                    </a:lnB>
                    <a:solidFill>
                      <a:srgbClr val="1D2A5C"/>
                    </a:solidFill>
                  </a:tcPr>
                </a:tc>
                <a:tc>
                  <a:txBody>
                    <a:bodyPr/>
                    <a:lstStyle/>
                    <a:p>
                      <a:pPr indent="0" lvl="0" marL="0" marR="0" rtl="0" algn="l">
                        <a:spcBef>
                          <a:spcPts val="0"/>
                        </a:spcBef>
                        <a:spcAft>
                          <a:spcPts val="0"/>
                        </a:spcAft>
                        <a:buClr>
                          <a:srgbClr val="FFFFFF"/>
                        </a:buClr>
                        <a:buSzPts val="1150"/>
                        <a:buFont typeface="Calibri"/>
                        <a:buNone/>
                      </a:pPr>
                      <a:r>
                        <a:rPr b="1" lang="en-US" sz="1150" u="none" cap="none" strike="noStrike">
                          <a:solidFill>
                            <a:srgbClr val="FFFFFF"/>
                          </a:solidFill>
                          <a:latin typeface="Calibri"/>
                          <a:ea typeface="Calibri"/>
                          <a:cs typeface="Calibri"/>
                          <a:sym typeface="Calibri"/>
                        </a:rPr>
                        <a:t>Cause</a:t>
                      </a:r>
                      <a:endParaRPr sz="1150" u="none" cap="none" strike="noStrike">
                        <a:latin typeface="Calibri"/>
                        <a:ea typeface="Calibri"/>
                        <a:cs typeface="Calibri"/>
                        <a:sym typeface="Calibri"/>
                      </a:endParaRPr>
                    </a:p>
                  </a:txBody>
                  <a:tcPr marT="64000" marB="64000" marR="64000" marL="64000" anchor="ctr">
                    <a:lnL cap="flat" cmpd="sng" w="9525">
                      <a:solidFill>
                        <a:srgbClr val="D9E2EA"/>
                      </a:solidFill>
                      <a:prstDash val="solid"/>
                      <a:round/>
                      <a:headEnd len="sm" w="sm" type="none"/>
                      <a:tailEnd len="sm" w="sm" type="none"/>
                    </a:lnL>
                    <a:lnR cap="flat" cmpd="sng" w="9525">
                      <a:solidFill>
                        <a:srgbClr val="D9E2EA"/>
                      </a:solidFill>
                      <a:prstDash val="solid"/>
                      <a:round/>
                      <a:headEnd len="sm" w="sm" type="none"/>
                      <a:tailEnd len="sm" w="sm" type="none"/>
                    </a:lnR>
                    <a:lnT cap="flat" cmpd="sng" w="9525">
                      <a:solidFill>
                        <a:srgbClr val="D9E2EA"/>
                      </a:solidFill>
                      <a:prstDash val="solid"/>
                      <a:round/>
                      <a:headEnd len="sm" w="sm" type="none"/>
                      <a:tailEnd len="sm" w="sm" type="none"/>
                    </a:lnT>
                    <a:lnB cap="flat" cmpd="sng" w="9525">
                      <a:solidFill>
                        <a:srgbClr val="D9E2EA"/>
                      </a:solidFill>
                      <a:prstDash val="solid"/>
                      <a:round/>
                      <a:headEnd len="sm" w="sm" type="none"/>
                      <a:tailEnd len="sm" w="sm" type="none"/>
                    </a:lnB>
                    <a:solidFill>
                      <a:srgbClr val="1D2A5C"/>
                    </a:solidFill>
                  </a:tcPr>
                </a:tc>
                <a:tc>
                  <a:txBody>
                    <a:bodyPr/>
                    <a:lstStyle/>
                    <a:p>
                      <a:pPr indent="0" lvl="0" marL="0" marR="0" rtl="0" algn="l">
                        <a:spcBef>
                          <a:spcPts val="0"/>
                        </a:spcBef>
                        <a:spcAft>
                          <a:spcPts val="0"/>
                        </a:spcAft>
                        <a:buClr>
                          <a:srgbClr val="FFFFFF"/>
                        </a:buClr>
                        <a:buSzPts val="1150"/>
                        <a:buFont typeface="Calibri"/>
                        <a:buNone/>
                      </a:pPr>
                      <a:r>
                        <a:rPr b="1" lang="en-US" sz="1150" u="none" cap="none" strike="noStrike">
                          <a:solidFill>
                            <a:srgbClr val="FFFFFF"/>
                          </a:solidFill>
                          <a:latin typeface="Calibri"/>
                          <a:ea typeface="Calibri"/>
                          <a:cs typeface="Calibri"/>
                          <a:sym typeface="Calibri"/>
                        </a:rPr>
                        <a:t>Fix</a:t>
                      </a:r>
                      <a:endParaRPr sz="1150" u="none" cap="none" strike="noStrike">
                        <a:latin typeface="Calibri"/>
                        <a:ea typeface="Calibri"/>
                        <a:cs typeface="Calibri"/>
                        <a:sym typeface="Calibri"/>
                      </a:endParaRPr>
                    </a:p>
                  </a:txBody>
                  <a:tcPr marT="64000" marB="64000" marR="64000" marL="64000" anchor="ctr">
                    <a:lnL cap="flat" cmpd="sng" w="9525">
                      <a:solidFill>
                        <a:srgbClr val="D9E2EA"/>
                      </a:solidFill>
                      <a:prstDash val="solid"/>
                      <a:round/>
                      <a:headEnd len="sm" w="sm" type="none"/>
                      <a:tailEnd len="sm" w="sm" type="none"/>
                    </a:lnL>
                    <a:lnR cap="flat" cmpd="sng" w="9525">
                      <a:solidFill>
                        <a:srgbClr val="D9E2EA"/>
                      </a:solidFill>
                      <a:prstDash val="solid"/>
                      <a:round/>
                      <a:headEnd len="sm" w="sm" type="none"/>
                      <a:tailEnd len="sm" w="sm" type="none"/>
                    </a:lnR>
                    <a:lnT cap="flat" cmpd="sng" w="9525">
                      <a:solidFill>
                        <a:srgbClr val="D9E2EA"/>
                      </a:solidFill>
                      <a:prstDash val="solid"/>
                      <a:round/>
                      <a:headEnd len="sm" w="sm" type="none"/>
                      <a:tailEnd len="sm" w="sm" type="none"/>
                    </a:lnT>
                    <a:lnB cap="flat" cmpd="sng" w="9525">
                      <a:solidFill>
                        <a:srgbClr val="D9E2EA"/>
                      </a:solidFill>
                      <a:prstDash val="solid"/>
                      <a:round/>
                      <a:headEnd len="sm" w="sm" type="none"/>
                      <a:tailEnd len="sm" w="sm" type="none"/>
                    </a:lnB>
                    <a:solidFill>
                      <a:srgbClr val="1D2A5C"/>
                    </a:solidFill>
                  </a:tcPr>
                </a:tc>
              </a:tr>
              <a:tr h="713225">
                <a:tc>
                  <a:txBody>
                    <a:bodyPr/>
                    <a:lstStyle/>
                    <a:p>
                      <a:pPr indent="0" lvl="0" marL="0" marR="0" rtl="0" algn="l">
                        <a:spcBef>
                          <a:spcPts val="0"/>
                        </a:spcBef>
                        <a:spcAft>
                          <a:spcPts val="0"/>
                        </a:spcAft>
                        <a:buClr>
                          <a:srgbClr val="1D2A5C"/>
                        </a:buClr>
                        <a:buSzPts val="1150"/>
                        <a:buFont typeface="Calibri"/>
                        <a:buNone/>
                      </a:pPr>
                      <a:r>
                        <a:rPr b="1" lang="en-US" sz="1150" u="none" cap="none" strike="noStrike">
                          <a:solidFill>
                            <a:srgbClr val="1D2A5C"/>
                          </a:solidFill>
                          <a:latin typeface="Calibri"/>
                          <a:ea typeface="Calibri"/>
                          <a:cs typeface="Calibri"/>
                          <a:sym typeface="Calibri"/>
                        </a:rPr>
                        <a:t>AP off 0.02-0.05 vs Ultralytics</a:t>
                      </a:r>
                      <a:endParaRPr sz="1150" u="none" cap="none" strike="noStrike">
                        <a:latin typeface="Calibri"/>
                        <a:ea typeface="Calibri"/>
                        <a:cs typeface="Calibri"/>
                        <a:sym typeface="Calibri"/>
                      </a:endParaRPr>
                    </a:p>
                  </a:txBody>
                  <a:tcPr marT="64000" marB="64000" marR="64000" marL="64000" anchor="ctr">
                    <a:lnL cap="flat" cmpd="sng" w="9525">
                      <a:solidFill>
                        <a:srgbClr val="D9E2EA"/>
                      </a:solidFill>
                      <a:prstDash val="solid"/>
                      <a:round/>
                      <a:headEnd len="sm" w="sm" type="none"/>
                      <a:tailEnd len="sm" w="sm" type="none"/>
                    </a:lnL>
                    <a:lnR cap="flat" cmpd="sng" w="9525">
                      <a:solidFill>
                        <a:srgbClr val="D9E2EA"/>
                      </a:solidFill>
                      <a:prstDash val="solid"/>
                      <a:round/>
                      <a:headEnd len="sm" w="sm" type="none"/>
                      <a:tailEnd len="sm" w="sm" type="none"/>
                    </a:lnR>
                    <a:lnT cap="flat" cmpd="sng" w="9525">
                      <a:solidFill>
                        <a:srgbClr val="D9E2EA"/>
                      </a:solidFill>
                      <a:prstDash val="solid"/>
                      <a:round/>
                      <a:headEnd len="sm" w="sm" type="none"/>
                      <a:tailEnd len="sm" w="sm" type="none"/>
                    </a:lnT>
                    <a:lnB cap="flat" cmpd="sng" w="9525">
                      <a:solidFill>
                        <a:srgbClr val="D9E2EA"/>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23293B"/>
                        </a:buClr>
                        <a:buSzPts val="1150"/>
                        <a:buFont typeface="Calibri"/>
                        <a:buNone/>
                      </a:pPr>
                      <a:r>
                        <a:rPr lang="en-US" sz="1150" u="none" cap="none" strike="noStrike">
                          <a:solidFill>
                            <a:srgbClr val="23293B"/>
                          </a:solidFill>
                          <a:latin typeface="Calibri"/>
                          <a:ea typeface="Calibri"/>
                          <a:cs typeface="Calibri"/>
                          <a:sym typeface="Calibri"/>
                        </a:rPr>
                        <a:t>matching not in conf order / GT reuse</a:t>
                      </a:r>
                      <a:endParaRPr sz="1150" u="none" cap="none" strike="noStrike">
                        <a:latin typeface="Calibri"/>
                        <a:ea typeface="Calibri"/>
                        <a:cs typeface="Calibri"/>
                        <a:sym typeface="Calibri"/>
                      </a:endParaRPr>
                    </a:p>
                  </a:txBody>
                  <a:tcPr marT="64000" marB="64000" marR="64000" marL="64000" anchor="ctr">
                    <a:lnL cap="flat" cmpd="sng" w="9525">
                      <a:solidFill>
                        <a:srgbClr val="D9E2EA"/>
                      </a:solidFill>
                      <a:prstDash val="solid"/>
                      <a:round/>
                      <a:headEnd len="sm" w="sm" type="none"/>
                      <a:tailEnd len="sm" w="sm" type="none"/>
                    </a:lnL>
                    <a:lnR cap="flat" cmpd="sng" w="9525">
                      <a:solidFill>
                        <a:srgbClr val="D9E2EA"/>
                      </a:solidFill>
                      <a:prstDash val="solid"/>
                      <a:round/>
                      <a:headEnd len="sm" w="sm" type="none"/>
                      <a:tailEnd len="sm" w="sm" type="none"/>
                    </a:lnR>
                    <a:lnT cap="flat" cmpd="sng" w="9525">
                      <a:solidFill>
                        <a:srgbClr val="D9E2EA"/>
                      </a:solidFill>
                      <a:prstDash val="solid"/>
                      <a:round/>
                      <a:headEnd len="sm" w="sm" type="none"/>
                      <a:tailEnd len="sm" w="sm" type="none"/>
                    </a:lnT>
                    <a:lnB cap="flat" cmpd="sng" w="9525">
                      <a:solidFill>
                        <a:srgbClr val="D9E2EA"/>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23293B"/>
                        </a:buClr>
                        <a:buSzPts val="1150"/>
                        <a:buFont typeface="Calibri"/>
                        <a:buNone/>
                      </a:pPr>
                      <a:r>
                        <a:rPr lang="en-US" sz="1150" u="none" cap="none" strike="noStrike">
                          <a:solidFill>
                            <a:srgbClr val="23293B"/>
                          </a:solidFill>
                          <a:latin typeface="Calibri"/>
                          <a:ea typeface="Calibri"/>
                          <a:cs typeface="Calibri"/>
                          <a:sym typeface="Calibri"/>
                        </a:rPr>
                        <a:t>sort predictions first; consume matched GT</a:t>
                      </a:r>
                      <a:endParaRPr sz="1150" u="none" cap="none" strike="noStrike">
                        <a:latin typeface="Calibri"/>
                        <a:ea typeface="Calibri"/>
                        <a:cs typeface="Calibri"/>
                        <a:sym typeface="Calibri"/>
                      </a:endParaRPr>
                    </a:p>
                  </a:txBody>
                  <a:tcPr marT="64000" marB="64000" marR="64000" marL="64000" anchor="ctr">
                    <a:lnL cap="flat" cmpd="sng" w="9525">
                      <a:solidFill>
                        <a:srgbClr val="D9E2EA"/>
                      </a:solidFill>
                      <a:prstDash val="solid"/>
                      <a:round/>
                      <a:headEnd len="sm" w="sm" type="none"/>
                      <a:tailEnd len="sm" w="sm" type="none"/>
                    </a:lnL>
                    <a:lnR cap="flat" cmpd="sng" w="9525">
                      <a:solidFill>
                        <a:srgbClr val="D9E2EA"/>
                      </a:solidFill>
                      <a:prstDash val="solid"/>
                      <a:round/>
                      <a:headEnd len="sm" w="sm" type="none"/>
                      <a:tailEnd len="sm" w="sm" type="none"/>
                    </a:lnR>
                    <a:lnT cap="flat" cmpd="sng" w="9525">
                      <a:solidFill>
                        <a:srgbClr val="D9E2EA"/>
                      </a:solidFill>
                      <a:prstDash val="solid"/>
                      <a:round/>
                      <a:headEnd len="sm" w="sm" type="none"/>
                      <a:tailEnd len="sm" w="sm" type="none"/>
                    </a:lnT>
                    <a:lnB cap="flat" cmpd="sng" w="9525">
                      <a:solidFill>
                        <a:srgbClr val="D9E2EA"/>
                      </a:solidFill>
                      <a:prstDash val="solid"/>
                      <a:round/>
                      <a:headEnd len="sm" w="sm" type="none"/>
                      <a:tailEnd len="sm" w="sm" type="none"/>
                    </a:lnB>
                    <a:solidFill>
                      <a:srgbClr val="FFFFFF"/>
                    </a:solidFill>
                  </a:tcPr>
                </a:tc>
              </a:tr>
              <a:tr h="713225">
                <a:tc>
                  <a:txBody>
                    <a:bodyPr/>
                    <a:lstStyle/>
                    <a:p>
                      <a:pPr indent="0" lvl="0" marL="0" marR="0" rtl="0" algn="l">
                        <a:spcBef>
                          <a:spcPts val="0"/>
                        </a:spcBef>
                        <a:spcAft>
                          <a:spcPts val="0"/>
                        </a:spcAft>
                        <a:buClr>
                          <a:srgbClr val="1D2A5C"/>
                        </a:buClr>
                        <a:buSzPts val="1150"/>
                        <a:buFont typeface="Calibri"/>
                        <a:buNone/>
                      </a:pPr>
                      <a:r>
                        <a:rPr b="1" lang="en-US" sz="1150" u="none" cap="none" strike="noStrike">
                          <a:solidFill>
                            <a:srgbClr val="1D2A5C"/>
                          </a:solidFill>
                          <a:latin typeface="Calibri"/>
                          <a:ea typeface="Calibri"/>
                          <a:cs typeface="Calibri"/>
                          <a:sym typeface="Calibri"/>
                        </a:rPr>
                        <a:t>AP too high on empty-GT images</a:t>
                      </a:r>
                      <a:endParaRPr sz="1150" u="none" cap="none" strike="noStrike">
                        <a:latin typeface="Calibri"/>
                        <a:ea typeface="Calibri"/>
                        <a:cs typeface="Calibri"/>
                        <a:sym typeface="Calibri"/>
                      </a:endParaRPr>
                    </a:p>
                  </a:txBody>
                  <a:tcPr marT="64000" marB="64000" marR="64000" marL="64000" anchor="ctr">
                    <a:lnL cap="flat" cmpd="sng" w="9525">
                      <a:solidFill>
                        <a:srgbClr val="D9E2EA"/>
                      </a:solidFill>
                      <a:prstDash val="solid"/>
                      <a:round/>
                      <a:headEnd len="sm" w="sm" type="none"/>
                      <a:tailEnd len="sm" w="sm" type="none"/>
                    </a:lnL>
                    <a:lnR cap="flat" cmpd="sng" w="9525">
                      <a:solidFill>
                        <a:srgbClr val="D9E2EA"/>
                      </a:solidFill>
                      <a:prstDash val="solid"/>
                      <a:round/>
                      <a:headEnd len="sm" w="sm" type="none"/>
                      <a:tailEnd len="sm" w="sm" type="none"/>
                    </a:lnR>
                    <a:lnT cap="flat" cmpd="sng" w="9525">
                      <a:solidFill>
                        <a:srgbClr val="D9E2EA"/>
                      </a:solidFill>
                      <a:prstDash val="solid"/>
                      <a:round/>
                      <a:headEnd len="sm" w="sm" type="none"/>
                      <a:tailEnd len="sm" w="sm" type="none"/>
                    </a:lnT>
                    <a:lnB cap="flat" cmpd="sng" w="9525">
                      <a:solidFill>
                        <a:srgbClr val="D9E2EA"/>
                      </a:solidFill>
                      <a:prstDash val="solid"/>
                      <a:round/>
                      <a:headEnd len="sm" w="sm" type="none"/>
                      <a:tailEnd len="sm" w="sm" type="none"/>
                    </a:lnB>
                    <a:solidFill>
                      <a:srgbClr val="F2F6F9"/>
                    </a:solidFill>
                  </a:tcPr>
                </a:tc>
                <a:tc>
                  <a:txBody>
                    <a:bodyPr/>
                    <a:lstStyle/>
                    <a:p>
                      <a:pPr indent="0" lvl="0" marL="0" marR="0" rtl="0" algn="l">
                        <a:spcBef>
                          <a:spcPts val="0"/>
                        </a:spcBef>
                        <a:spcAft>
                          <a:spcPts val="0"/>
                        </a:spcAft>
                        <a:buClr>
                          <a:srgbClr val="23293B"/>
                        </a:buClr>
                        <a:buSzPts val="1150"/>
                        <a:buFont typeface="Calibri"/>
                        <a:buNone/>
                      </a:pPr>
                      <a:r>
                        <a:rPr lang="en-US" sz="1150" u="none" cap="none" strike="noStrike">
                          <a:solidFill>
                            <a:srgbClr val="23293B"/>
                          </a:solidFill>
                          <a:latin typeface="Calibri"/>
                          <a:ea typeface="Calibri"/>
                          <a:cs typeface="Calibri"/>
                          <a:sym typeface="Calibri"/>
                        </a:rPr>
                        <a:t>FPs on empty images not counted</a:t>
                      </a:r>
                      <a:endParaRPr sz="1150" u="none" cap="none" strike="noStrike">
                        <a:latin typeface="Calibri"/>
                        <a:ea typeface="Calibri"/>
                        <a:cs typeface="Calibri"/>
                        <a:sym typeface="Calibri"/>
                      </a:endParaRPr>
                    </a:p>
                  </a:txBody>
                  <a:tcPr marT="64000" marB="64000" marR="64000" marL="64000" anchor="ctr">
                    <a:lnL cap="flat" cmpd="sng" w="9525">
                      <a:solidFill>
                        <a:srgbClr val="D9E2EA"/>
                      </a:solidFill>
                      <a:prstDash val="solid"/>
                      <a:round/>
                      <a:headEnd len="sm" w="sm" type="none"/>
                      <a:tailEnd len="sm" w="sm" type="none"/>
                    </a:lnL>
                    <a:lnR cap="flat" cmpd="sng" w="9525">
                      <a:solidFill>
                        <a:srgbClr val="D9E2EA"/>
                      </a:solidFill>
                      <a:prstDash val="solid"/>
                      <a:round/>
                      <a:headEnd len="sm" w="sm" type="none"/>
                      <a:tailEnd len="sm" w="sm" type="none"/>
                    </a:lnR>
                    <a:lnT cap="flat" cmpd="sng" w="9525">
                      <a:solidFill>
                        <a:srgbClr val="D9E2EA"/>
                      </a:solidFill>
                      <a:prstDash val="solid"/>
                      <a:round/>
                      <a:headEnd len="sm" w="sm" type="none"/>
                      <a:tailEnd len="sm" w="sm" type="none"/>
                    </a:lnT>
                    <a:lnB cap="flat" cmpd="sng" w="9525">
                      <a:solidFill>
                        <a:srgbClr val="D9E2EA"/>
                      </a:solidFill>
                      <a:prstDash val="solid"/>
                      <a:round/>
                      <a:headEnd len="sm" w="sm" type="none"/>
                      <a:tailEnd len="sm" w="sm" type="none"/>
                    </a:lnB>
                    <a:solidFill>
                      <a:srgbClr val="F2F6F9"/>
                    </a:solidFill>
                  </a:tcPr>
                </a:tc>
                <a:tc>
                  <a:txBody>
                    <a:bodyPr/>
                    <a:lstStyle/>
                    <a:p>
                      <a:pPr indent="0" lvl="0" marL="0" marR="0" rtl="0" algn="l">
                        <a:spcBef>
                          <a:spcPts val="0"/>
                        </a:spcBef>
                        <a:spcAft>
                          <a:spcPts val="0"/>
                        </a:spcAft>
                        <a:buClr>
                          <a:srgbClr val="23293B"/>
                        </a:buClr>
                        <a:buSzPts val="1150"/>
                        <a:buFont typeface="Calibri"/>
                        <a:buNone/>
                      </a:pPr>
                      <a:r>
                        <a:rPr lang="en-US" sz="1150" u="none" cap="none" strike="noStrike">
                          <a:solidFill>
                            <a:srgbClr val="23293B"/>
                          </a:solidFill>
                          <a:latin typeface="Calibri"/>
                          <a:ea typeface="Calibri"/>
                          <a:cs typeface="Calibri"/>
                          <a:sym typeface="Calibri"/>
                        </a:rPr>
                        <a:t>empty-GT images still contribute FPs</a:t>
                      </a:r>
                      <a:endParaRPr sz="1150" u="none" cap="none" strike="noStrike">
                        <a:latin typeface="Calibri"/>
                        <a:ea typeface="Calibri"/>
                        <a:cs typeface="Calibri"/>
                        <a:sym typeface="Calibri"/>
                      </a:endParaRPr>
                    </a:p>
                  </a:txBody>
                  <a:tcPr marT="64000" marB="64000" marR="64000" marL="64000" anchor="ctr">
                    <a:lnL cap="flat" cmpd="sng" w="9525">
                      <a:solidFill>
                        <a:srgbClr val="D9E2EA"/>
                      </a:solidFill>
                      <a:prstDash val="solid"/>
                      <a:round/>
                      <a:headEnd len="sm" w="sm" type="none"/>
                      <a:tailEnd len="sm" w="sm" type="none"/>
                    </a:lnL>
                    <a:lnR cap="flat" cmpd="sng" w="9525">
                      <a:solidFill>
                        <a:srgbClr val="D9E2EA"/>
                      </a:solidFill>
                      <a:prstDash val="solid"/>
                      <a:round/>
                      <a:headEnd len="sm" w="sm" type="none"/>
                      <a:tailEnd len="sm" w="sm" type="none"/>
                    </a:lnR>
                    <a:lnT cap="flat" cmpd="sng" w="9525">
                      <a:solidFill>
                        <a:srgbClr val="D9E2EA"/>
                      </a:solidFill>
                      <a:prstDash val="solid"/>
                      <a:round/>
                      <a:headEnd len="sm" w="sm" type="none"/>
                      <a:tailEnd len="sm" w="sm" type="none"/>
                    </a:lnT>
                    <a:lnB cap="flat" cmpd="sng" w="9525">
                      <a:solidFill>
                        <a:srgbClr val="D9E2EA"/>
                      </a:solidFill>
                      <a:prstDash val="solid"/>
                      <a:round/>
                      <a:headEnd len="sm" w="sm" type="none"/>
                      <a:tailEnd len="sm" w="sm" type="none"/>
                    </a:lnB>
                    <a:solidFill>
                      <a:srgbClr val="F2F6F9"/>
                    </a:solidFill>
                  </a:tcPr>
                </a:tc>
              </a:tr>
              <a:tr h="713225">
                <a:tc>
                  <a:txBody>
                    <a:bodyPr/>
                    <a:lstStyle/>
                    <a:p>
                      <a:pPr indent="0" lvl="0" marL="0" marR="0" rtl="0" algn="l">
                        <a:spcBef>
                          <a:spcPts val="0"/>
                        </a:spcBef>
                        <a:spcAft>
                          <a:spcPts val="0"/>
                        </a:spcAft>
                        <a:buClr>
                          <a:srgbClr val="1D2A5C"/>
                        </a:buClr>
                        <a:buSzPts val="1150"/>
                        <a:buFont typeface="Calibri"/>
                        <a:buNone/>
                      </a:pPr>
                      <a:r>
                        <a:rPr b="1" lang="en-US" sz="1150" u="none" cap="none" strike="noStrike">
                          <a:solidFill>
                            <a:srgbClr val="1D2A5C"/>
                          </a:solidFill>
                          <a:latin typeface="Calibri"/>
                          <a:ea typeface="Calibri"/>
                          <a:cs typeface="Calibri"/>
                          <a:sym typeface="Calibri"/>
                        </a:rPr>
                        <a:t>'Identical' runs differ</a:t>
                      </a:r>
                      <a:endParaRPr sz="1150" u="none" cap="none" strike="noStrike">
                        <a:latin typeface="Calibri"/>
                        <a:ea typeface="Calibri"/>
                        <a:cs typeface="Calibri"/>
                        <a:sym typeface="Calibri"/>
                      </a:endParaRPr>
                    </a:p>
                  </a:txBody>
                  <a:tcPr marT="64000" marB="64000" marR="64000" marL="64000" anchor="ctr">
                    <a:lnL cap="flat" cmpd="sng" w="9525">
                      <a:solidFill>
                        <a:srgbClr val="D9E2EA"/>
                      </a:solidFill>
                      <a:prstDash val="solid"/>
                      <a:round/>
                      <a:headEnd len="sm" w="sm" type="none"/>
                      <a:tailEnd len="sm" w="sm" type="none"/>
                    </a:lnL>
                    <a:lnR cap="flat" cmpd="sng" w="9525">
                      <a:solidFill>
                        <a:srgbClr val="D9E2EA"/>
                      </a:solidFill>
                      <a:prstDash val="solid"/>
                      <a:round/>
                      <a:headEnd len="sm" w="sm" type="none"/>
                      <a:tailEnd len="sm" w="sm" type="none"/>
                    </a:lnR>
                    <a:lnT cap="flat" cmpd="sng" w="9525">
                      <a:solidFill>
                        <a:srgbClr val="D9E2EA"/>
                      </a:solidFill>
                      <a:prstDash val="solid"/>
                      <a:round/>
                      <a:headEnd len="sm" w="sm" type="none"/>
                      <a:tailEnd len="sm" w="sm" type="none"/>
                    </a:lnT>
                    <a:lnB cap="flat" cmpd="sng" w="9525">
                      <a:solidFill>
                        <a:srgbClr val="D9E2EA"/>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23293B"/>
                        </a:buClr>
                        <a:buSzPts val="1150"/>
                        <a:buFont typeface="Calibri"/>
                        <a:buNone/>
                      </a:pPr>
                      <a:r>
                        <a:rPr lang="en-US" sz="1150" u="none" cap="none" strike="noStrike">
                          <a:solidFill>
                            <a:srgbClr val="23293B"/>
                          </a:solidFill>
                          <a:latin typeface="Calibri"/>
                          <a:ea typeface="Calibri"/>
                          <a:cs typeface="Calibri"/>
                          <a:sym typeface="Calibri"/>
                        </a:rPr>
                        <a:t>timestamp inside the report file</a:t>
                      </a:r>
                      <a:endParaRPr sz="1150" u="none" cap="none" strike="noStrike">
                        <a:latin typeface="Calibri"/>
                        <a:ea typeface="Calibri"/>
                        <a:cs typeface="Calibri"/>
                        <a:sym typeface="Calibri"/>
                      </a:endParaRPr>
                    </a:p>
                  </a:txBody>
                  <a:tcPr marT="64000" marB="64000" marR="64000" marL="64000" anchor="ctr">
                    <a:lnL cap="flat" cmpd="sng" w="9525">
                      <a:solidFill>
                        <a:srgbClr val="D9E2EA"/>
                      </a:solidFill>
                      <a:prstDash val="solid"/>
                      <a:round/>
                      <a:headEnd len="sm" w="sm" type="none"/>
                      <a:tailEnd len="sm" w="sm" type="none"/>
                    </a:lnL>
                    <a:lnR cap="flat" cmpd="sng" w="9525">
                      <a:solidFill>
                        <a:srgbClr val="D9E2EA"/>
                      </a:solidFill>
                      <a:prstDash val="solid"/>
                      <a:round/>
                      <a:headEnd len="sm" w="sm" type="none"/>
                      <a:tailEnd len="sm" w="sm" type="none"/>
                    </a:lnR>
                    <a:lnT cap="flat" cmpd="sng" w="9525">
                      <a:solidFill>
                        <a:srgbClr val="D9E2EA"/>
                      </a:solidFill>
                      <a:prstDash val="solid"/>
                      <a:round/>
                      <a:headEnd len="sm" w="sm" type="none"/>
                      <a:tailEnd len="sm" w="sm" type="none"/>
                    </a:lnT>
                    <a:lnB cap="flat" cmpd="sng" w="9525">
                      <a:solidFill>
                        <a:srgbClr val="D9E2EA"/>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23293B"/>
                        </a:buClr>
                        <a:buSzPts val="1150"/>
                        <a:buFont typeface="Calibri"/>
                        <a:buNone/>
                      </a:pPr>
                      <a:r>
                        <a:rPr lang="en-US" sz="1150" u="none" cap="none" strike="noStrike">
                          <a:solidFill>
                            <a:srgbClr val="23293B"/>
                          </a:solidFill>
                          <a:latin typeface="Calibri"/>
                          <a:ea typeface="Calibri"/>
                          <a:cs typeface="Calibri"/>
                          <a:sym typeface="Calibri"/>
                        </a:rPr>
                        <a:t>exclude generated-at fields from the diff</a:t>
                      </a:r>
                      <a:endParaRPr sz="1150" u="none" cap="none" strike="noStrike">
                        <a:latin typeface="Calibri"/>
                        <a:ea typeface="Calibri"/>
                        <a:cs typeface="Calibri"/>
                        <a:sym typeface="Calibri"/>
                      </a:endParaRPr>
                    </a:p>
                  </a:txBody>
                  <a:tcPr marT="64000" marB="64000" marR="64000" marL="64000" anchor="ctr">
                    <a:lnL cap="flat" cmpd="sng" w="9525">
                      <a:solidFill>
                        <a:srgbClr val="D9E2EA"/>
                      </a:solidFill>
                      <a:prstDash val="solid"/>
                      <a:round/>
                      <a:headEnd len="sm" w="sm" type="none"/>
                      <a:tailEnd len="sm" w="sm" type="none"/>
                    </a:lnL>
                    <a:lnR cap="flat" cmpd="sng" w="9525">
                      <a:solidFill>
                        <a:srgbClr val="D9E2EA"/>
                      </a:solidFill>
                      <a:prstDash val="solid"/>
                      <a:round/>
                      <a:headEnd len="sm" w="sm" type="none"/>
                      <a:tailEnd len="sm" w="sm" type="none"/>
                    </a:lnR>
                    <a:lnT cap="flat" cmpd="sng" w="9525">
                      <a:solidFill>
                        <a:srgbClr val="D9E2EA"/>
                      </a:solidFill>
                      <a:prstDash val="solid"/>
                      <a:round/>
                      <a:headEnd len="sm" w="sm" type="none"/>
                      <a:tailEnd len="sm" w="sm" type="none"/>
                    </a:lnT>
                    <a:lnB cap="flat" cmpd="sng" w="9525">
                      <a:solidFill>
                        <a:srgbClr val="D9E2EA"/>
                      </a:solidFill>
                      <a:prstDash val="solid"/>
                      <a:round/>
                      <a:headEnd len="sm" w="sm" type="none"/>
                      <a:tailEnd len="sm" w="sm" type="none"/>
                    </a:lnB>
                    <a:solidFill>
                      <a:srgbClr val="FFFFFF"/>
                    </a:solidFill>
                  </a:tcPr>
                </a:tc>
              </a:tr>
              <a:tr h="713225">
                <a:tc>
                  <a:txBody>
                    <a:bodyPr/>
                    <a:lstStyle/>
                    <a:p>
                      <a:pPr indent="0" lvl="0" marL="0" marR="0" rtl="0" algn="l">
                        <a:spcBef>
                          <a:spcPts val="0"/>
                        </a:spcBef>
                        <a:spcAft>
                          <a:spcPts val="0"/>
                        </a:spcAft>
                        <a:buClr>
                          <a:srgbClr val="1D2A5C"/>
                        </a:buClr>
                        <a:buSzPts val="1150"/>
                        <a:buFont typeface="Calibri"/>
                        <a:buNone/>
                      </a:pPr>
                      <a:r>
                        <a:rPr b="1" lang="en-US" sz="1150" u="none" cap="none" strike="noStrike">
                          <a:solidFill>
                            <a:srgbClr val="1D2A5C"/>
                          </a:solidFill>
                          <a:latin typeface="Calibri"/>
                          <a:ea typeface="Calibri"/>
                          <a:cs typeface="Calibri"/>
                          <a:sym typeface="Calibri"/>
                        </a:rPr>
                        <a:t>Slice report all greyed out</a:t>
                      </a:r>
                      <a:endParaRPr sz="1150" u="none" cap="none" strike="noStrike">
                        <a:latin typeface="Calibri"/>
                        <a:ea typeface="Calibri"/>
                        <a:cs typeface="Calibri"/>
                        <a:sym typeface="Calibri"/>
                      </a:endParaRPr>
                    </a:p>
                  </a:txBody>
                  <a:tcPr marT="64000" marB="64000" marR="64000" marL="64000" anchor="ctr">
                    <a:lnL cap="flat" cmpd="sng" w="9525">
                      <a:solidFill>
                        <a:srgbClr val="D9E2EA"/>
                      </a:solidFill>
                      <a:prstDash val="solid"/>
                      <a:round/>
                      <a:headEnd len="sm" w="sm" type="none"/>
                      <a:tailEnd len="sm" w="sm" type="none"/>
                    </a:lnL>
                    <a:lnR cap="flat" cmpd="sng" w="9525">
                      <a:solidFill>
                        <a:srgbClr val="D9E2EA"/>
                      </a:solidFill>
                      <a:prstDash val="solid"/>
                      <a:round/>
                      <a:headEnd len="sm" w="sm" type="none"/>
                      <a:tailEnd len="sm" w="sm" type="none"/>
                    </a:lnR>
                    <a:lnT cap="flat" cmpd="sng" w="9525">
                      <a:solidFill>
                        <a:srgbClr val="D9E2EA"/>
                      </a:solidFill>
                      <a:prstDash val="solid"/>
                      <a:round/>
                      <a:headEnd len="sm" w="sm" type="none"/>
                      <a:tailEnd len="sm" w="sm" type="none"/>
                    </a:lnT>
                    <a:lnB cap="flat" cmpd="sng" w="9525">
                      <a:solidFill>
                        <a:srgbClr val="D9E2EA"/>
                      </a:solidFill>
                      <a:prstDash val="solid"/>
                      <a:round/>
                      <a:headEnd len="sm" w="sm" type="none"/>
                      <a:tailEnd len="sm" w="sm" type="none"/>
                    </a:lnB>
                    <a:solidFill>
                      <a:srgbClr val="F2F6F9"/>
                    </a:solidFill>
                  </a:tcPr>
                </a:tc>
                <a:tc>
                  <a:txBody>
                    <a:bodyPr/>
                    <a:lstStyle/>
                    <a:p>
                      <a:pPr indent="0" lvl="0" marL="0" marR="0" rtl="0" algn="l">
                        <a:spcBef>
                          <a:spcPts val="0"/>
                        </a:spcBef>
                        <a:spcAft>
                          <a:spcPts val="0"/>
                        </a:spcAft>
                        <a:buClr>
                          <a:srgbClr val="23293B"/>
                        </a:buClr>
                        <a:buSzPts val="1150"/>
                        <a:buFont typeface="Calibri"/>
                        <a:buNone/>
                      </a:pPr>
                      <a:r>
                        <a:rPr lang="en-US" sz="1150" u="none" cap="none" strike="noStrike">
                          <a:solidFill>
                            <a:srgbClr val="23293B"/>
                          </a:solidFill>
                          <a:latin typeface="Calibri"/>
                          <a:ea typeface="Calibri"/>
                          <a:cs typeface="Calibri"/>
                          <a:sym typeface="Calibri"/>
                        </a:rPr>
                        <a:t>slice keys too fine (per-frame)</a:t>
                      </a:r>
                      <a:endParaRPr sz="1150" u="none" cap="none" strike="noStrike">
                        <a:latin typeface="Calibri"/>
                        <a:ea typeface="Calibri"/>
                        <a:cs typeface="Calibri"/>
                        <a:sym typeface="Calibri"/>
                      </a:endParaRPr>
                    </a:p>
                  </a:txBody>
                  <a:tcPr marT="64000" marB="64000" marR="64000" marL="64000" anchor="ctr">
                    <a:lnL cap="flat" cmpd="sng" w="9525">
                      <a:solidFill>
                        <a:srgbClr val="D9E2EA"/>
                      </a:solidFill>
                      <a:prstDash val="solid"/>
                      <a:round/>
                      <a:headEnd len="sm" w="sm" type="none"/>
                      <a:tailEnd len="sm" w="sm" type="none"/>
                    </a:lnL>
                    <a:lnR cap="flat" cmpd="sng" w="9525">
                      <a:solidFill>
                        <a:srgbClr val="D9E2EA"/>
                      </a:solidFill>
                      <a:prstDash val="solid"/>
                      <a:round/>
                      <a:headEnd len="sm" w="sm" type="none"/>
                      <a:tailEnd len="sm" w="sm" type="none"/>
                    </a:lnR>
                    <a:lnT cap="flat" cmpd="sng" w="9525">
                      <a:solidFill>
                        <a:srgbClr val="D9E2EA"/>
                      </a:solidFill>
                      <a:prstDash val="solid"/>
                      <a:round/>
                      <a:headEnd len="sm" w="sm" type="none"/>
                      <a:tailEnd len="sm" w="sm" type="none"/>
                    </a:lnT>
                    <a:lnB cap="flat" cmpd="sng" w="9525">
                      <a:solidFill>
                        <a:srgbClr val="D9E2EA"/>
                      </a:solidFill>
                      <a:prstDash val="solid"/>
                      <a:round/>
                      <a:headEnd len="sm" w="sm" type="none"/>
                      <a:tailEnd len="sm" w="sm" type="none"/>
                    </a:lnB>
                    <a:solidFill>
                      <a:srgbClr val="F2F6F9"/>
                    </a:solidFill>
                  </a:tcPr>
                </a:tc>
                <a:tc>
                  <a:txBody>
                    <a:bodyPr/>
                    <a:lstStyle/>
                    <a:p>
                      <a:pPr indent="0" lvl="0" marL="0" marR="0" rtl="0" algn="l">
                        <a:spcBef>
                          <a:spcPts val="0"/>
                        </a:spcBef>
                        <a:spcAft>
                          <a:spcPts val="0"/>
                        </a:spcAft>
                        <a:buClr>
                          <a:srgbClr val="23293B"/>
                        </a:buClr>
                        <a:buSzPts val="1150"/>
                        <a:buFont typeface="Calibri"/>
                        <a:buNone/>
                      </a:pPr>
                      <a:r>
                        <a:rPr lang="en-US" sz="1150" u="none" cap="none" strike="noStrike">
                          <a:solidFill>
                            <a:srgbClr val="23293B"/>
                          </a:solidFill>
                          <a:latin typeface="Calibri"/>
                          <a:ea typeface="Calibri"/>
                          <a:cs typeface="Calibri"/>
                          <a:sym typeface="Calibri"/>
                        </a:rPr>
                        <a:t>check key functions against the manifest</a:t>
                      </a:r>
                      <a:endParaRPr sz="1150" u="none" cap="none" strike="noStrike">
                        <a:latin typeface="Calibri"/>
                        <a:ea typeface="Calibri"/>
                        <a:cs typeface="Calibri"/>
                        <a:sym typeface="Calibri"/>
                      </a:endParaRPr>
                    </a:p>
                  </a:txBody>
                  <a:tcPr marT="64000" marB="64000" marR="64000" marL="64000" anchor="ctr">
                    <a:lnL cap="flat" cmpd="sng" w="9525">
                      <a:solidFill>
                        <a:srgbClr val="D9E2EA"/>
                      </a:solidFill>
                      <a:prstDash val="solid"/>
                      <a:round/>
                      <a:headEnd len="sm" w="sm" type="none"/>
                      <a:tailEnd len="sm" w="sm" type="none"/>
                    </a:lnL>
                    <a:lnR cap="flat" cmpd="sng" w="9525">
                      <a:solidFill>
                        <a:srgbClr val="D9E2EA"/>
                      </a:solidFill>
                      <a:prstDash val="solid"/>
                      <a:round/>
                      <a:headEnd len="sm" w="sm" type="none"/>
                      <a:tailEnd len="sm" w="sm" type="none"/>
                    </a:lnR>
                    <a:lnT cap="flat" cmpd="sng" w="9525">
                      <a:solidFill>
                        <a:srgbClr val="D9E2EA"/>
                      </a:solidFill>
                      <a:prstDash val="solid"/>
                      <a:round/>
                      <a:headEnd len="sm" w="sm" type="none"/>
                      <a:tailEnd len="sm" w="sm" type="none"/>
                    </a:lnT>
                    <a:lnB cap="flat" cmpd="sng" w="9525">
                      <a:solidFill>
                        <a:srgbClr val="D9E2EA"/>
                      </a:solidFill>
                      <a:prstDash val="solid"/>
                      <a:round/>
                      <a:headEnd len="sm" w="sm" type="none"/>
                      <a:tailEnd len="sm" w="sm" type="none"/>
                    </a:lnB>
                    <a:solidFill>
                      <a:srgbClr val="F2F6F9"/>
                    </a:solidFill>
                  </a:tcPr>
                </a:tc>
              </a:tr>
              <a:tr h="713225">
                <a:tc>
                  <a:txBody>
                    <a:bodyPr/>
                    <a:lstStyle/>
                    <a:p>
                      <a:pPr indent="0" lvl="0" marL="0" marR="0" rtl="0" algn="l">
                        <a:spcBef>
                          <a:spcPts val="0"/>
                        </a:spcBef>
                        <a:spcAft>
                          <a:spcPts val="0"/>
                        </a:spcAft>
                        <a:buClr>
                          <a:srgbClr val="1D2A5C"/>
                        </a:buClr>
                        <a:buSzPts val="1150"/>
                        <a:buFont typeface="Calibri"/>
                        <a:buNone/>
                      </a:pPr>
                      <a:r>
                        <a:rPr b="1" lang="en-US" sz="1150" u="none" cap="none" strike="noStrike">
                          <a:solidFill>
                            <a:srgbClr val="1D2A5C"/>
                          </a:solidFill>
                          <a:latin typeface="Calibri"/>
                          <a:ea typeface="Calibri"/>
                          <a:cs typeface="Calibri"/>
                          <a:sym typeface="Calibri"/>
                        </a:rPr>
                        <a:t>Bootstrap CI absurdly wide</a:t>
                      </a:r>
                      <a:endParaRPr sz="1150" u="none" cap="none" strike="noStrike">
                        <a:latin typeface="Calibri"/>
                        <a:ea typeface="Calibri"/>
                        <a:cs typeface="Calibri"/>
                        <a:sym typeface="Calibri"/>
                      </a:endParaRPr>
                    </a:p>
                  </a:txBody>
                  <a:tcPr marT="64000" marB="64000" marR="64000" marL="64000" anchor="ctr">
                    <a:lnL cap="flat" cmpd="sng" w="9525">
                      <a:solidFill>
                        <a:srgbClr val="D9E2EA"/>
                      </a:solidFill>
                      <a:prstDash val="solid"/>
                      <a:round/>
                      <a:headEnd len="sm" w="sm" type="none"/>
                      <a:tailEnd len="sm" w="sm" type="none"/>
                    </a:lnL>
                    <a:lnR cap="flat" cmpd="sng" w="9525">
                      <a:solidFill>
                        <a:srgbClr val="D9E2EA"/>
                      </a:solidFill>
                      <a:prstDash val="solid"/>
                      <a:round/>
                      <a:headEnd len="sm" w="sm" type="none"/>
                      <a:tailEnd len="sm" w="sm" type="none"/>
                    </a:lnR>
                    <a:lnT cap="flat" cmpd="sng" w="9525">
                      <a:solidFill>
                        <a:srgbClr val="D9E2EA"/>
                      </a:solidFill>
                      <a:prstDash val="solid"/>
                      <a:round/>
                      <a:headEnd len="sm" w="sm" type="none"/>
                      <a:tailEnd len="sm" w="sm" type="none"/>
                    </a:lnT>
                    <a:lnB cap="flat" cmpd="sng" w="9525">
                      <a:solidFill>
                        <a:srgbClr val="D9E2EA"/>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23293B"/>
                        </a:buClr>
                        <a:buSzPts val="1150"/>
                        <a:buFont typeface="Calibri"/>
                        <a:buNone/>
                      </a:pPr>
                      <a:r>
                        <a:rPr lang="en-US" sz="1150" u="none" cap="none" strike="noStrike">
                          <a:solidFill>
                            <a:srgbClr val="23293B"/>
                          </a:solidFill>
                          <a:latin typeface="Calibri"/>
                          <a:ea typeface="Calibri"/>
                          <a:cs typeface="Calibri"/>
                          <a:sym typeface="Calibri"/>
                        </a:rPr>
                        <a:t>resampling instances, not images</a:t>
                      </a:r>
                      <a:endParaRPr sz="1150" u="none" cap="none" strike="noStrike">
                        <a:latin typeface="Calibri"/>
                        <a:ea typeface="Calibri"/>
                        <a:cs typeface="Calibri"/>
                        <a:sym typeface="Calibri"/>
                      </a:endParaRPr>
                    </a:p>
                  </a:txBody>
                  <a:tcPr marT="64000" marB="64000" marR="64000" marL="64000" anchor="ctr">
                    <a:lnL cap="flat" cmpd="sng" w="9525">
                      <a:solidFill>
                        <a:srgbClr val="D9E2EA"/>
                      </a:solidFill>
                      <a:prstDash val="solid"/>
                      <a:round/>
                      <a:headEnd len="sm" w="sm" type="none"/>
                      <a:tailEnd len="sm" w="sm" type="none"/>
                    </a:lnL>
                    <a:lnR cap="flat" cmpd="sng" w="9525">
                      <a:solidFill>
                        <a:srgbClr val="D9E2EA"/>
                      </a:solidFill>
                      <a:prstDash val="solid"/>
                      <a:round/>
                      <a:headEnd len="sm" w="sm" type="none"/>
                      <a:tailEnd len="sm" w="sm" type="none"/>
                    </a:lnR>
                    <a:lnT cap="flat" cmpd="sng" w="9525">
                      <a:solidFill>
                        <a:srgbClr val="D9E2EA"/>
                      </a:solidFill>
                      <a:prstDash val="solid"/>
                      <a:round/>
                      <a:headEnd len="sm" w="sm" type="none"/>
                      <a:tailEnd len="sm" w="sm" type="none"/>
                    </a:lnT>
                    <a:lnB cap="flat" cmpd="sng" w="9525">
                      <a:solidFill>
                        <a:srgbClr val="D9E2EA"/>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23293B"/>
                        </a:buClr>
                        <a:buSzPts val="1150"/>
                        <a:buFont typeface="Calibri"/>
                        <a:buNone/>
                      </a:pPr>
                      <a:r>
                        <a:rPr lang="en-US" sz="1150" u="none" cap="none" strike="noStrike">
                          <a:solidFill>
                            <a:srgbClr val="23293B"/>
                          </a:solidFill>
                          <a:latin typeface="Calibri"/>
                          <a:ea typeface="Calibri"/>
                          <a:cs typeface="Calibri"/>
                          <a:sym typeface="Calibri"/>
                        </a:rPr>
                        <a:t>resample at the image level</a:t>
                      </a:r>
                      <a:endParaRPr sz="1150" u="none" cap="none" strike="noStrike">
                        <a:latin typeface="Calibri"/>
                        <a:ea typeface="Calibri"/>
                        <a:cs typeface="Calibri"/>
                        <a:sym typeface="Calibri"/>
                      </a:endParaRPr>
                    </a:p>
                  </a:txBody>
                  <a:tcPr marT="64000" marB="64000" marR="64000" marL="64000" anchor="ctr">
                    <a:lnL cap="flat" cmpd="sng" w="9525">
                      <a:solidFill>
                        <a:srgbClr val="D9E2EA"/>
                      </a:solidFill>
                      <a:prstDash val="solid"/>
                      <a:round/>
                      <a:headEnd len="sm" w="sm" type="none"/>
                      <a:tailEnd len="sm" w="sm" type="none"/>
                    </a:lnL>
                    <a:lnR cap="flat" cmpd="sng" w="9525">
                      <a:solidFill>
                        <a:srgbClr val="D9E2EA"/>
                      </a:solidFill>
                      <a:prstDash val="solid"/>
                      <a:round/>
                      <a:headEnd len="sm" w="sm" type="none"/>
                      <a:tailEnd len="sm" w="sm" type="none"/>
                    </a:lnR>
                    <a:lnT cap="flat" cmpd="sng" w="9525">
                      <a:solidFill>
                        <a:srgbClr val="D9E2EA"/>
                      </a:solidFill>
                      <a:prstDash val="solid"/>
                      <a:round/>
                      <a:headEnd len="sm" w="sm" type="none"/>
                      <a:tailEnd len="sm" w="sm" type="none"/>
                    </a:lnT>
                    <a:lnB cap="flat" cmpd="sng" w="9525">
                      <a:solidFill>
                        <a:srgbClr val="D9E2EA"/>
                      </a:solidFill>
                      <a:prstDash val="solid"/>
                      <a:round/>
                      <a:headEnd len="sm" w="sm" type="none"/>
                      <a:tailEnd len="sm" w="sm" type="none"/>
                    </a:lnB>
                    <a:solidFill>
                      <a:srgbClr val="FFFFFF"/>
                    </a:solidFill>
                  </a:tcPr>
                </a:tc>
              </a:tr>
            </a:tbl>
          </a:graphicData>
        </a:graphic>
      </p:graphicFrame>
    </p:spTree>
  </p:cSld>
  <p:clrMapOvr>
    <a:masterClrMapping/>
  </p:clrMapOvr>
</p:sld>
</file>

<file path=ppt/slides/slide1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305" name="Shape 3305"/>
        <p:cNvGrpSpPr/>
        <p:nvPr/>
      </p:nvGrpSpPr>
      <p:grpSpPr>
        <a:xfrm>
          <a:off x="0" y="0"/>
          <a:ext cx="0" cy="0"/>
          <a:chOff x="0" y="0"/>
          <a:chExt cx="0" cy="0"/>
        </a:xfrm>
      </p:grpSpPr>
      <p:sp>
        <p:nvSpPr>
          <p:cNvPr id="3306" name="Google Shape;3306;p119"/>
          <p:cNvSpPr/>
          <p:nvPr/>
        </p:nvSpPr>
        <p:spPr>
          <a:xfrm>
            <a:off x="502920" y="274320"/>
            <a:ext cx="9646920" cy="56692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D2A5C"/>
              </a:buClr>
              <a:buSzPts val="2700"/>
              <a:buFont typeface="Calibri"/>
              <a:buNone/>
            </a:pPr>
            <a:r>
              <a:rPr b="1" i="0" lang="en-US" sz="2700" u="none" cap="none" strike="noStrike">
                <a:solidFill>
                  <a:srgbClr val="1D2A5C"/>
                </a:solidFill>
                <a:latin typeface="Calibri"/>
                <a:ea typeface="Calibri"/>
                <a:cs typeface="Calibri"/>
                <a:sym typeface="Calibri"/>
              </a:rPr>
              <a:t>Module 6 Quiz</a:t>
            </a:r>
            <a:endParaRPr b="0" i="0" sz="2700" u="none" cap="none" strike="noStrike">
              <a:solidFill>
                <a:schemeClr val="dk1"/>
              </a:solidFill>
              <a:latin typeface="Calibri"/>
              <a:ea typeface="Calibri"/>
              <a:cs typeface="Calibri"/>
              <a:sym typeface="Calibri"/>
            </a:endParaRPr>
          </a:p>
        </p:txBody>
      </p:sp>
      <p:sp>
        <p:nvSpPr>
          <p:cNvPr id="3307" name="Google Shape;3307;p119"/>
          <p:cNvSpPr/>
          <p:nvPr/>
        </p:nvSpPr>
        <p:spPr>
          <a:xfrm>
            <a:off x="502920" y="859536"/>
            <a:ext cx="9646920" cy="31089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F6B7A"/>
              </a:buClr>
              <a:buSzPts val="1250"/>
              <a:buFont typeface="Arial"/>
              <a:buNone/>
            </a:pPr>
            <a:r>
              <a:rPr b="0" i="0" lang="en-US" sz="1250" u="none" cap="none" strike="noStrike">
                <a:solidFill>
                  <a:srgbClr val="5F6B7A"/>
                </a:solidFill>
                <a:latin typeface="Arial"/>
                <a:ea typeface="Arial"/>
                <a:cs typeface="Arial"/>
                <a:sym typeface="Arial"/>
              </a:rPr>
              <a:t>اختبار الوحدة السادسة</a:t>
            </a:r>
            <a:endParaRPr b="0" i="0" sz="1250" u="none" cap="none" strike="noStrike">
              <a:solidFill>
                <a:schemeClr val="dk1"/>
              </a:solidFill>
              <a:latin typeface="Calibri"/>
              <a:ea typeface="Calibri"/>
              <a:cs typeface="Calibri"/>
              <a:sym typeface="Calibri"/>
            </a:endParaRPr>
          </a:p>
        </p:txBody>
      </p:sp>
      <p:pic>
        <p:nvPicPr>
          <p:cNvPr descr="/sessions/blissful-determined-ritchie/build/assets/sdaia_logo.png" id="3308" name="Google Shape;3308;p119"/>
          <p:cNvPicPr preferRelativeResize="0"/>
          <p:nvPr/>
        </p:nvPicPr>
        <p:blipFill rotWithShape="1">
          <a:blip r:embed="rId3">
            <a:alphaModFix/>
          </a:blip>
          <a:srcRect b="0" l="0" r="0" t="0"/>
          <a:stretch/>
        </p:blipFill>
        <p:spPr>
          <a:xfrm>
            <a:off x="10625328" y="310896"/>
            <a:ext cx="1078992" cy="264111"/>
          </a:xfrm>
          <a:prstGeom prst="rect">
            <a:avLst/>
          </a:prstGeom>
          <a:noFill/>
          <a:ln>
            <a:noFill/>
          </a:ln>
        </p:spPr>
      </p:pic>
      <p:sp>
        <p:nvSpPr>
          <p:cNvPr id="3309" name="Google Shape;3309;p119"/>
          <p:cNvSpPr/>
          <p:nvPr/>
        </p:nvSpPr>
        <p:spPr>
          <a:xfrm>
            <a:off x="502920" y="6528816"/>
            <a:ext cx="8686800"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A79D"/>
              </a:buClr>
              <a:buSzPts val="800"/>
              <a:buFont typeface="Calibri"/>
              <a:buNone/>
            </a:pPr>
            <a:r>
              <a:rPr b="1" i="0" lang="en-US" sz="800" u="none" cap="none" strike="noStrike">
                <a:solidFill>
                  <a:srgbClr val="00A79D"/>
                </a:solidFill>
                <a:latin typeface="Calibri"/>
                <a:ea typeface="Calibri"/>
                <a:cs typeface="Calibri"/>
                <a:sym typeface="Calibri"/>
              </a:rPr>
              <a:t>MODULE 6   </a:t>
            </a:r>
            <a:r>
              <a:rPr b="0" i="0" lang="en-US" sz="800" u="none" cap="none" strike="noStrike">
                <a:solidFill>
                  <a:srgbClr val="8A96A6"/>
                </a:solidFill>
                <a:latin typeface="Calibri"/>
                <a:ea typeface="Calibri"/>
                <a:cs typeface="Calibri"/>
                <a:sym typeface="Calibri"/>
              </a:rPr>
              <a:t>SDA-AIE-212 · Computer Vision Systems Development</a:t>
            </a:r>
            <a:endParaRPr b="0" i="0" sz="800" u="none" cap="none" strike="noStrike">
              <a:solidFill>
                <a:schemeClr val="dk1"/>
              </a:solidFill>
              <a:latin typeface="Calibri"/>
              <a:ea typeface="Calibri"/>
              <a:cs typeface="Calibri"/>
              <a:sym typeface="Calibri"/>
            </a:endParaRPr>
          </a:p>
        </p:txBody>
      </p:sp>
      <p:sp>
        <p:nvSpPr>
          <p:cNvPr id="3310" name="Google Shape;3310;p119"/>
          <p:cNvSpPr/>
          <p:nvPr/>
        </p:nvSpPr>
        <p:spPr>
          <a:xfrm>
            <a:off x="11292840" y="6528816"/>
            <a:ext cx="411480" cy="219456"/>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8A96A6"/>
              </a:buClr>
              <a:buSzPts val="900"/>
              <a:buFont typeface="Calibri"/>
              <a:buNone/>
            </a:pPr>
            <a:r>
              <a:rPr b="0" i="0" lang="en-US" sz="900" u="none" cap="none" strike="noStrike">
                <a:solidFill>
                  <a:srgbClr val="8A96A6"/>
                </a:solidFill>
                <a:latin typeface="Calibri"/>
                <a:ea typeface="Calibri"/>
                <a:cs typeface="Calibri"/>
                <a:sym typeface="Calibri"/>
              </a:rPr>
              <a:t>119</a:t>
            </a:r>
            <a:endParaRPr b="0" i="0" sz="900" u="none" cap="none" strike="noStrike">
              <a:solidFill>
                <a:schemeClr val="dk1"/>
              </a:solidFill>
              <a:latin typeface="Calibri"/>
              <a:ea typeface="Calibri"/>
              <a:cs typeface="Calibri"/>
              <a:sym typeface="Calibri"/>
            </a:endParaRPr>
          </a:p>
        </p:txBody>
      </p:sp>
      <p:sp>
        <p:nvSpPr>
          <p:cNvPr id="3311" name="Google Shape;3311;p119"/>
          <p:cNvSpPr/>
          <p:nvPr/>
        </p:nvSpPr>
        <p:spPr>
          <a:xfrm>
            <a:off x="502920" y="1417320"/>
            <a:ext cx="11183112" cy="801014"/>
          </a:xfrm>
          <a:prstGeom prst="roundRect">
            <a:avLst>
              <a:gd fmla="val 9132" name="adj"/>
            </a:avLst>
          </a:prstGeom>
          <a:solidFill>
            <a:srgbClr val="F2F6F9"/>
          </a:solidFill>
          <a:ln cap="flat" cmpd="sng" w="9525">
            <a:solidFill>
              <a:srgbClr val="D9E2E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12" name="Google Shape;3312;p119"/>
          <p:cNvSpPr/>
          <p:nvPr/>
        </p:nvSpPr>
        <p:spPr>
          <a:xfrm>
            <a:off x="649224" y="1644091"/>
            <a:ext cx="347472" cy="347472"/>
          </a:xfrm>
          <a:prstGeom prst="ellipse">
            <a:avLst/>
          </a:prstGeom>
          <a:solidFill>
            <a:srgbClr val="F5822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13" name="Google Shape;3313;p119"/>
          <p:cNvSpPr/>
          <p:nvPr/>
        </p:nvSpPr>
        <p:spPr>
          <a:xfrm>
            <a:off x="649224" y="1644091"/>
            <a:ext cx="347472" cy="34747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050"/>
              <a:buFont typeface="Calibri"/>
              <a:buNone/>
            </a:pPr>
            <a:r>
              <a:rPr b="1" i="0" lang="en-US" sz="1050" u="none" cap="none" strike="noStrike">
                <a:solidFill>
                  <a:srgbClr val="FFFFFF"/>
                </a:solidFill>
                <a:latin typeface="Calibri"/>
                <a:ea typeface="Calibri"/>
                <a:cs typeface="Calibri"/>
                <a:sym typeface="Calibri"/>
              </a:rPr>
              <a:t>Q1</a:t>
            </a:r>
            <a:endParaRPr b="0" i="0" sz="1050" u="none" cap="none" strike="noStrike">
              <a:solidFill>
                <a:schemeClr val="dk1"/>
              </a:solidFill>
              <a:latin typeface="Calibri"/>
              <a:ea typeface="Calibri"/>
              <a:cs typeface="Calibri"/>
              <a:sym typeface="Calibri"/>
            </a:endParaRPr>
          </a:p>
        </p:txBody>
      </p:sp>
      <p:sp>
        <p:nvSpPr>
          <p:cNvPr id="3314" name="Google Shape;3314;p119"/>
          <p:cNvSpPr/>
          <p:nvPr/>
        </p:nvSpPr>
        <p:spPr>
          <a:xfrm>
            <a:off x="1161288" y="1417320"/>
            <a:ext cx="10332720" cy="80101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3293B"/>
              </a:buClr>
              <a:buSzPts val="1250"/>
              <a:buFont typeface="Calibri"/>
              <a:buNone/>
            </a:pPr>
            <a:r>
              <a:rPr b="0" i="0" lang="en-US" sz="1250" u="none" cap="none" strike="noStrike">
                <a:solidFill>
                  <a:srgbClr val="23293B"/>
                </a:solidFill>
                <a:latin typeface="Calibri"/>
                <a:ea typeface="Calibri"/>
                <a:cs typeface="Calibri"/>
                <a:sym typeface="Calibri"/>
              </a:rPr>
              <a:t>A perfect box with the wrong class counts as what in matching?</a:t>
            </a:r>
            <a:endParaRPr b="0" i="0" sz="1250" u="none" cap="none" strike="noStrike">
              <a:solidFill>
                <a:schemeClr val="dk1"/>
              </a:solidFill>
              <a:latin typeface="Calibri"/>
              <a:ea typeface="Calibri"/>
              <a:cs typeface="Calibri"/>
              <a:sym typeface="Calibri"/>
            </a:endParaRPr>
          </a:p>
        </p:txBody>
      </p:sp>
      <p:sp>
        <p:nvSpPr>
          <p:cNvPr id="3315" name="Google Shape;3315;p119"/>
          <p:cNvSpPr/>
          <p:nvPr/>
        </p:nvSpPr>
        <p:spPr>
          <a:xfrm>
            <a:off x="502920" y="2346350"/>
            <a:ext cx="11183112" cy="801014"/>
          </a:xfrm>
          <a:prstGeom prst="roundRect">
            <a:avLst>
              <a:gd fmla="val 9132" name="adj"/>
            </a:avLst>
          </a:prstGeom>
          <a:solidFill>
            <a:srgbClr val="F2F6F9"/>
          </a:solidFill>
          <a:ln cap="flat" cmpd="sng" w="9525">
            <a:solidFill>
              <a:srgbClr val="D9E2E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16" name="Google Shape;3316;p119"/>
          <p:cNvSpPr/>
          <p:nvPr/>
        </p:nvSpPr>
        <p:spPr>
          <a:xfrm>
            <a:off x="649224" y="2573122"/>
            <a:ext cx="347472" cy="347472"/>
          </a:xfrm>
          <a:prstGeom prst="ellipse">
            <a:avLst/>
          </a:prstGeom>
          <a:solidFill>
            <a:srgbClr val="F5822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17" name="Google Shape;3317;p119"/>
          <p:cNvSpPr/>
          <p:nvPr/>
        </p:nvSpPr>
        <p:spPr>
          <a:xfrm>
            <a:off x="649224" y="2573122"/>
            <a:ext cx="347472" cy="34747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050"/>
              <a:buFont typeface="Calibri"/>
              <a:buNone/>
            </a:pPr>
            <a:r>
              <a:rPr b="1" i="0" lang="en-US" sz="1050" u="none" cap="none" strike="noStrike">
                <a:solidFill>
                  <a:srgbClr val="FFFFFF"/>
                </a:solidFill>
                <a:latin typeface="Calibri"/>
                <a:ea typeface="Calibri"/>
                <a:cs typeface="Calibri"/>
                <a:sym typeface="Calibri"/>
              </a:rPr>
              <a:t>Q2</a:t>
            </a:r>
            <a:endParaRPr b="0" i="0" sz="1050" u="none" cap="none" strike="noStrike">
              <a:solidFill>
                <a:schemeClr val="dk1"/>
              </a:solidFill>
              <a:latin typeface="Calibri"/>
              <a:ea typeface="Calibri"/>
              <a:cs typeface="Calibri"/>
              <a:sym typeface="Calibri"/>
            </a:endParaRPr>
          </a:p>
        </p:txBody>
      </p:sp>
      <p:sp>
        <p:nvSpPr>
          <p:cNvPr id="3318" name="Google Shape;3318;p119"/>
          <p:cNvSpPr/>
          <p:nvPr/>
        </p:nvSpPr>
        <p:spPr>
          <a:xfrm>
            <a:off x="1161288" y="2346350"/>
            <a:ext cx="10332720" cy="80101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3293B"/>
              </a:buClr>
              <a:buSzPts val="1250"/>
              <a:buFont typeface="Calibri"/>
              <a:buNone/>
            </a:pPr>
            <a:r>
              <a:rPr b="0" i="0" lang="en-US" sz="1250" u="none" cap="none" strike="noStrike">
                <a:solidFill>
                  <a:srgbClr val="23293B"/>
                </a:solidFill>
                <a:latin typeface="Calibri"/>
                <a:ea typeface="Calibri"/>
                <a:cs typeface="Calibri"/>
                <a:sym typeface="Calibri"/>
              </a:rPr>
              <a:t>mAP@0.5 vs mAP@0.5:0.95 — which does eject-gate targeting care about, and why?</a:t>
            </a:r>
            <a:endParaRPr b="0" i="0" sz="1250" u="none" cap="none" strike="noStrike">
              <a:solidFill>
                <a:schemeClr val="dk1"/>
              </a:solidFill>
              <a:latin typeface="Calibri"/>
              <a:ea typeface="Calibri"/>
              <a:cs typeface="Calibri"/>
              <a:sym typeface="Calibri"/>
            </a:endParaRPr>
          </a:p>
        </p:txBody>
      </p:sp>
      <p:sp>
        <p:nvSpPr>
          <p:cNvPr id="3319" name="Google Shape;3319;p119"/>
          <p:cNvSpPr/>
          <p:nvPr/>
        </p:nvSpPr>
        <p:spPr>
          <a:xfrm>
            <a:off x="502920" y="3275381"/>
            <a:ext cx="11183112" cy="801014"/>
          </a:xfrm>
          <a:prstGeom prst="roundRect">
            <a:avLst>
              <a:gd fmla="val 9132" name="adj"/>
            </a:avLst>
          </a:prstGeom>
          <a:solidFill>
            <a:srgbClr val="F2F6F9"/>
          </a:solidFill>
          <a:ln cap="flat" cmpd="sng" w="9525">
            <a:solidFill>
              <a:srgbClr val="D9E2E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20" name="Google Shape;3320;p119"/>
          <p:cNvSpPr/>
          <p:nvPr/>
        </p:nvSpPr>
        <p:spPr>
          <a:xfrm>
            <a:off x="649224" y="3502152"/>
            <a:ext cx="347472" cy="347472"/>
          </a:xfrm>
          <a:prstGeom prst="ellipse">
            <a:avLst/>
          </a:prstGeom>
          <a:solidFill>
            <a:srgbClr val="F5822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21" name="Google Shape;3321;p119"/>
          <p:cNvSpPr/>
          <p:nvPr/>
        </p:nvSpPr>
        <p:spPr>
          <a:xfrm>
            <a:off x="649224" y="3502152"/>
            <a:ext cx="347472" cy="34747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050"/>
              <a:buFont typeface="Calibri"/>
              <a:buNone/>
            </a:pPr>
            <a:r>
              <a:rPr b="1" i="0" lang="en-US" sz="1050" u="none" cap="none" strike="noStrike">
                <a:solidFill>
                  <a:srgbClr val="FFFFFF"/>
                </a:solidFill>
                <a:latin typeface="Calibri"/>
                <a:ea typeface="Calibri"/>
                <a:cs typeface="Calibri"/>
                <a:sym typeface="Calibri"/>
              </a:rPr>
              <a:t>Q3</a:t>
            </a:r>
            <a:endParaRPr b="0" i="0" sz="1050" u="none" cap="none" strike="noStrike">
              <a:solidFill>
                <a:schemeClr val="dk1"/>
              </a:solidFill>
              <a:latin typeface="Calibri"/>
              <a:ea typeface="Calibri"/>
              <a:cs typeface="Calibri"/>
              <a:sym typeface="Calibri"/>
            </a:endParaRPr>
          </a:p>
        </p:txBody>
      </p:sp>
      <p:sp>
        <p:nvSpPr>
          <p:cNvPr id="3322" name="Google Shape;3322;p119"/>
          <p:cNvSpPr/>
          <p:nvPr/>
        </p:nvSpPr>
        <p:spPr>
          <a:xfrm>
            <a:off x="1161288" y="3275381"/>
            <a:ext cx="10332720" cy="80101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3293B"/>
              </a:buClr>
              <a:buSzPts val="1250"/>
              <a:buFont typeface="Calibri"/>
              <a:buNone/>
            </a:pPr>
            <a:r>
              <a:rPr b="0" i="0" lang="en-US" sz="1250" u="none" cap="none" strike="noStrike">
                <a:solidFill>
                  <a:srgbClr val="23293B"/>
                </a:solidFill>
                <a:latin typeface="Calibri"/>
                <a:ea typeface="Calibri"/>
                <a:cs typeface="Calibri"/>
                <a:sym typeface="Calibri"/>
              </a:rPr>
              <a:t>Why must slices be declared before the run?</a:t>
            </a:r>
            <a:endParaRPr b="0" i="0" sz="1250" u="none" cap="none" strike="noStrike">
              <a:solidFill>
                <a:schemeClr val="dk1"/>
              </a:solidFill>
              <a:latin typeface="Calibri"/>
              <a:ea typeface="Calibri"/>
              <a:cs typeface="Calibri"/>
              <a:sym typeface="Calibri"/>
            </a:endParaRPr>
          </a:p>
        </p:txBody>
      </p:sp>
      <p:sp>
        <p:nvSpPr>
          <p:cNvPr id="3323" name="Google Shape;3323;p119"/>
          <p:cNvSpPr/>
          <p:nvPr/>
        </p:nvSpPr>
        <p:spPr>
          <a:xfrm>
            <a:off x="502920" y="4204411"/>
            <a:ext cx="11183112" cy="801014"/>
          </a:xfrm>
          <a:prstGeom prst="roundRect">
            <a:avLst>
              <a:gd fmla="val 9132" name="adj"/>
            </a:avLst>
          </a:prstGeom>
          <a:solidFill>
            <a:srgbClr val="F2F6F9"/>
          </a:solidFill>
          <a:ln cap="flat" cmpd="sng" w="9525">
            <a:solidFill>
              <a:srgbClr val="D9E2E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24" name="Google Shape;3324;p119"/>
          <p:cNvSpPr/>
          <p:nvPr/>
        </p:nvSpPr>
        <p:spPr>
          <a:xfrm>
            <a:off x="649224" y="4431182"/>
            <a:ext cx="347472" cy="347472"/>
          </a:xfrm>
          <a:prstGeom prst="ellipse">
            <a:avLst/>
          </a:prstGeom>
          <a:solidFill>
            <a:srgbClr val="F5822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25" name="Google Shape;3325;p119"/>
          <p:cNvSpPr/>
          <p:nvPr/>
        </p:nvSpPr>
        <p:spPr>
          <a:xfrm>
            <a:off x="649224" y="4431182"/>
            <a:ext cx="347472" cy="34747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050"/>
              <a:buFont typeface="Calibri"/>
              <a:buNone/>
            </a:pPr>
            <a:r>
              <a:rPr b="1" i="0" lang="en-US" sz="1050" u="none" cap="none" strike="noStrike">
                <a:solidFill>
                  <a:srgbClr val="FFFFFF"/>
                </a:solidFill>
                <a:latin typeface="Calibri"/>
                <a:ea typeface="Calibri"/>
                <a:cs typeface="Calibri"/>
                <a:sym typeface="Calibri"/>
              </a:rPr>
              <a:t>Q4</a:t>
            </a:r>
            <a:endParaRPr b="0" i="0" sz="1050" u="none" cap="none" strike="noStrike">
              <a:solidFill>
                <a:schemeClr val="dk1"/>
              </a:solidFill>
              <a:latin typeface="Calibri"/>
              <a:ea typeface="Calibri"/>
              <a:cs typeface="Calibri"/>
              <a:sym typeface="Calibri"/>
            </a:endParaRPr>
          </a:p>
        </p:txBody>
      </p:sp>
      <p:sp>
        <p:nvSpPr>
          <p:cNvPr id="3326" name="Google Shape;3326;p119"/>
          <p:cNvSpPr/>
          <p:nvPr/>
        </p:nvSpPr>
        <p:spPr>
          <a:xfrm>
            <a:off x="1161288" y="4204411"/>
            <a:ext cx="10332720" cy="80101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3293B"/>
              </a:buClr>
              <a:buSzPts val="1250"/>
              <a:buFont typeface="Calibri"/>
              <a:buNone/>
            </a:pPr>
            <a:r>
              <a:rPr b="0" i="0" lang="en-US" sz="1250" u="none" cap="none" strike="noStrike">
                <a:solidFill>
                  <a:srgbClr val="23293B"/>
                </a:solidFill>
                <a:latin typeface="Calibri"/>
                <a:ea typeface="Calibri"/>
                <a:cs typeface="Calibri"/>
                <a:sym typeface="Calibri"/>
              </a:rPr>
              <a:t>Error mass is 41% misclassification between two specific classes. First fix?</a:t>
            </a:r>
            <a:endParaRPr b="0" i="0" sz="1250" u="none" cap="none" strike="noStrike">
              <a:solidFill>
                <a:schemeClr val="dk1"/>
              </a:solidFill>
              <a:latin typeface="Calibri"/>
              <a:ea typeface="Calibri"/>
              <a:cs typeface="Calibri"/>
              <a:sym typeface="Calibri"/>
            </a:endParaRPr>
          </a:p>
        </p:txBody>
      </p:sp>
      <p:sp>
        <p:nvSpPr>
          <p:cNvPr id="3327" name="Google Shape;3327;p119"/>
          <p:cNvSpPr/>
          <p:nvPr/>
        </p:nvSpPr>
        <p:spPr>
          <a:xfrm>
            <a:off x="502920" y="5133442"/>
            <a:ext cx="11183112" cy="801014"/>
          </a:xfrm>
          <a:prstGeom prst="roundRect">
            <a:avLst>
              <a:gd fmla="val 9132" name="adj"/>
            </a:avLst>
          </a:prstGeom>
          <a:solidFill>
            <a:srgbClr val="F2F6F9"/>
          </a:solidFill>
          <a:ln cap="flat" cmpd="sng" w="9525">
            <a:solidFill>
              <a:srgbClr val="D9E2E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28" name="Google Shape;3328;p119"/>
          <p:cNvSpPr/>
          <p:nvPr/>
        </p:nvSpPr>
        <p:spPr>
          <a:xfrm>
            <a:off x="649224" y="5360213"/>
            <a:ext cx="347472" cy="347472"/>
          </a:xfrm>
          <a:prstGeom prst="ellipse">
            <a:avLst/>
          </a:prstGeom>
          <a:solidFill>
            <a:srgbClr val="F5822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29" name="Google Shape;3329;p119"/>
          <p:cNvSpPr/>
          <p:nvPr/>
        </p:nvSpPr>
        <p:spPr>
          <a:xfrm>
            <a:off x="649224" y="5360213"/>
            <a:ext cx="347472" cy="34747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050"/>
              <a:buFont typeface="Calibri"/>
              <a:buNone/>
            </a:pPr>
            <a:r>
              <a:rPr b="1" i="0" lang="en-US" sz="1050" u="none" cap="none" strike="noStrike">
                <a:solidFill>
                  <a:srgbClr val="FFFFFF"/>
                </a:solidFill>
                <a:latin typeface="Calibri"/>
                <a:ea typeface="Calibri"/>
                <a:cs typeface="Calibri"/>
                <a:sym typeface="Calibri"/>
              </a:rPr>
              <a:t>Q5</a:t>
            </a:r>
            <a:endParaRPr b="0" i="0" sz="1050" u="none" cap="none" strike="noStrike">
              <a:solidFill>
                <a:schemeClr val="dk1"/>
              </a:solidFill>
              <a:latin typeface="Calibri"/>
              <a:ea typeface="Calibri"/>
              <a:cs typeface="Calibri"/>
              <a:sym typeface="Calibri"/>
            </a:endParaRPr>
          </a:p>
        </p:txBody>
      </p:sp>
      <p:sp>
        <p:nvSpPr>
          <p:cNvPr id="3330" name="Google Shape;3330;p119"/>
          <p:cNvSpPr/>
          <p:nvPr/>
        </p:nvSpPr>
        <p:spPr>
          <a:xfrm>
            <a:off x="1161288" y="5133442"/>
            <a:ext cx="10332720" cy="80101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3293B"/>
              </a:buClr>
              <a:buSzPts val="1250"/>
              <a:buFont typeface="Calibri"/>
              <a:buNone/>
            </a:pPr>
            <a:r>
              <a:rPr b="0" i="0" lang="en-US" sz="1250" u="none" cap="none" strike="noStrike">
                <a:solidFill>
                  <a:srgbClr val="23293B"/>
                </a:solidFill>
                <a:latin typeface="Calibri"/>
                <a:ea typeface="Calibri"/>
                <a:cs typeface="Calibri"/>
                <a:sym typeface="Calibri"/>
              </a:rPr>
              <a:t>True or false: if aggregate mAP improved, no slice can have regressed.</a:t>
            </a:r>
            <a:endParaRPr b="0" i="0" sz="1250" u="none" cap="none" strike="noStrike">
              <a:solidFill>
                <a:schemeClr val="dk1"/>
              </a:solidFill>
              <a:latin typeface="Calibri"/>
              <a:ea typeface="Calibri"/>
              <a:cs typeface="Calibri"/>
              <a:sym typeface="Calibri"/>
            </a:endParaRPr>
          </a:p>
        </p:txBody>
      </p:sp>
      <p:sp>
        <p:nvSpPr>
          <p:cNvPr id="3331" name="Google Shape;3331;p119"/>
          <p:cNvSpPr/>
          <p:nvPr/>
        </p:nvSpPr>
        <p:spPr>
          <a:xfrm>
            <a:off x="502920" y="6099048"/>
            <a:ext cx="11183112"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8A96A6"/>
              </a:buClr>
              <a:buSzPts val="1000"/>
              <a:buFont typeface="Calibri"/>
              <a:buNone/>
            </a:pPr>
            <a:r>
              <a:rPr b="0" i="1" lang="en-US" sz="1000" u="none" cap="none" strike="noStrike">
                <a:solidFill>
                  <a:srgbClr val="8A96A6"/>
                </a:solidFill>
                <a:latin typeface="Calibri"/>
                <a:ea typeface="Calibri"/>
                <a:cs typeface="Calibri"/>
                <a:sym typeface="Calibri"/>
              </a:rPr>
              <a:t>Answers and marking guidance: speaker notes below ▼</a:t>
            </a:r>
            <a:endParaRPr b="0" i="0" sz="1000" u="none" cap="none" strike="noStrike">
              <a:solidFill>
                <a:schemeClr val="dk1"/>
              </a:solidFill>
              <a:latin typeface="Calibri"/>
              <a:ea typeface="Calibri"/>
              <a:cs typeface="Calibri"/>
              <a:sym typeface="Calibri"/>
            </a:endParaRPr>
          </a:p>
        </p:txBody>
      </p:sp>
    </p:spTree>
  </p:cSld>
  <p:clrMapOvr>
    <a:masterClrMapping/>
  </p:clrMapOvr>
</p:sld>
</file>

<file path=ppt/slides/slide1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336" name="Shape 3336"/>
        <p:cNvGrpSpPr/>
        <p:nvPr/>
      </p:nvGrpSpPr>
      <p:grpSpPr>
        <a:xfrm>
          <a:off x="0" y="0"/>
          <a:ext cx="0" cy="0"/>
          <a:chOff x="0" y="0"/>
          <a:chExt cx="0" cy="0"/>
        </a:xfrm>
      </p:grpSpPr>
      <p:sp>
        <p:nvSpPr>
          <p:cNvPr id="3337" name="Google Shape;3337;p120"/>
          <p:cNvSpPr/>
          <p:nvPr/>
        </p:nvSpPr>
        <p:spPr>
          <a:xfrm>
            <a:off x="502920" y="274320"/>
            <a:ext cx="9646920" cy="56692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D2A5C"/>
              </a:buClr>
              <a:buSzPts val="2700"/>
              <a:buFont typeface="Calibri"/>
              <a:buNone/>
            </a:pPr>
            <a:r>
              <a:rPr b="1" i="0" lang="en-US" sz="2700" u="none" cap="none" strike="noStrike">
                <a:solidFill>
                  <a:srgbClr val="1D2A5C"/>
                </a:solidFill>
                <a:latin typeface="Calibri"/>
                <a:ea typeface="Calibri"/>
                <a:cs typeface="Calibri"/>
                <a:sym typeface="Calibri"/>
              </a:rPr>
              <a:t>Extra Exercises</a:t>
            </a:r>
            <a:endParaRPr b="0" i="0" sz="2700" u="none" cap="none" strike="noStrike">
              <a:solidFill>
                <a:schemeClr val="dk1"/>
              </a:solidFill>
              <a:latin typeface="Calibri"/>
              <a:ea typeface="Calibri"/>
              <a:cs typeface="Calibri"/>
              <a:sym typeface="Calibri"/>
            </a:endParaRPr>
          </a:p>
        </p:txBody>
      </p:sp>
      <p:sp>
        <p:nvSpPr>
          <p:cNvPr id="3338" name="Google Shape;3338;p120"/>
          <p:cNvSpPr/>
          <p:nvPr/>
        </p:nvSpPr>
        <p:spPr>
          <a:xfrm>
            <a:off x="502920" y="859536"/>
            <a:ext cx="9646920" cy="31089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F6B7A"/>
              </a:buClr>
              <a:buSzPts val="1250"/>
              <a:buFont typeface="Arial"/>
              <a:buNone/>
            </a:pPr>
            <a:r>
              <a:rPr b="0" i="0" lang="en-US" sz="1250" u="none" cap="none" strike="noStrike">
                <a:solidFill>
                  <a:srgbClr val="5F6B7A"/>
                </a:solidFill>
                <a:latin typeface="Arial"/>
                <a:ea typeface="Arial"/>
                <a:cs typeface="Arial"/>
                <a:sym typeface="Arial"/>
              </a:rPr>
              <a:t>تمارين إضافية</a:t>
            </a:r>
            <a:endParaRPr b="0" i="0" sz="1250" u="none" cap="none" strike="noStrike">
              <a:solidFill>
                <a:schemeClr val="dk1"/>
              </a:solidFill>
              <a:latin typeface="Calibri"/>
              <a:ea typeface="Calibri"/>
              <a:cs typeface="Calibri"/>
              <a:sym typeface="Calibri"/>
            </a:endParaRPr>
          </a:p>
        </p:txBody>
      </p:sp>
      <p:pic>
        <p:nvPicPr>
          <p:cNvPr descr="/sessions/blissful-determined-ritchie/build/assets/sdaia_logo.png" id="3339" name="Google Shape;3339;p120"/>
          <p:cNvPicPr preferRelativeResize="0"/>
          <p:nvPr/>
        </p:nvPicPr>
        <p:blipFill rotWithShape="1">
          <a:blip r:embed="rId3">
            <a:alphaModFix/>
          </a:blip>
          <a:srcRect b="0" l="0" r="0" t="0"/>
          <a:stretch/>
        </p:blipFill>
        <p:spPr>
          <a:xfrm>
            <a:off x="10625328" y="310896"/>
            <a:ext cx="1078992" cy="264111"/>
          </a:xfrm>
          <a:prstGeom prst="rect">
            <a:avLst/>
          </a:prstGeom>
          <a:noFill/>
          <a:ln>
            <a:noFill/>
          </a:ln>
        </p:spPr>
      </p:pic>
      <p:sp>
        <p:nvSpPr>
          <p:cNvPr id="3340" name="Google Shape;3340;p120"/>
          <p:cNvSpPr/>
          <p:nvPr/>
        </p:nvSpPr>
        <p:spPr>
          <a:xfrm>
            <a:off x="502920" y="6528816"/>
            <a:ext cx="8686800"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A79D"/>
              </a:buClr>
              <a:buSzPts val="800"/>
              <a:buFont typeface="Calibri"/>
              <a:buNone/>
            </a:pPr>
            <a:r>
              <a:rPr b="1" i="0" lang="en-US" sz="800" u="none" cap="none" strike="noStrike">
                <a:solidFill>
                  <a:srgbClr val="00A79D"/>
                </a:solidFill>
                <a:latin typeface="Calibri"/>
                <a:ea typeface="Calibri"/>
                <a:cs typeface="Calibri"/>
                <a:sym typeface="Calibri"/>
              </a:rPr>
              <a:t>MODULE 6   </a:t>
            </a:r>
            <a:r>
              <a:rPr b="0" i="0" lang="en-US" sz="800" u="none" cap="none" strike="noStrike">
                <a:solidFill>
                  <a:srgbClr val="8A96A6"/>
                </a:solidFill>
                <a:latin typeface="Calibri"/>
                <a:ea typeface="Calibri"/>
                <a:cs typeface="Calibri"/>
                <a:sym typeface="Calibri"/>
              </a:rPr>
              <a:t>SDA-AIE-212 · Computer Vision Systems Development</a:t>
            </a:r>
            <a:endParaRPr b="0" i="0" sz="800" u="none" cap="none" strike="noStrike">
              <a:solidFill>
                <a:schemeClr val="dk1"/>
              </a:solidFill>
              <a:latin typeface="Calibri"/>
              <a:ea typeface="Calibri"/>
              <a:cs typeface="Calibri"/>
              <a:sym typeface="Calibri"/>
            </a:endParaRPr>
          </a:p>
        </p:txBody>
      </p:sp>
      <p:sp>
        <p:nvSpPr>
          <p:cNvPr id="3341" name="Google Shape;3341;p120"/>
          <p:cNvSpPr/>
          <p:nvPr/>
        </p:nvSpPr>
        <p:spPr>
          <a:xfrm>
            <a:off x="11292840" y="6528816"/>
            <a:ext cx="411480" cy="219456"/>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8A96A6"/>
              </a:buClr>
              <a:buSzPts val="900"/>
              <a:buFont typeface="Calibri"/>
              <a:buNone/>
            </a:pPr>
            <a:r>
              <a:rPr b="0" i="0" lang="en-US" sz="900" u="none" cap="none" strike="noStrike">
                <a:solidFill>
                  <a:srgbClr val="8A96A6"/>
                </a:solidFill>
                <a:latin typeface="Calibri"/>
                <a:ea typeface="Calibri"/>
                <a:cs typeface="Calibri"/>
                <a:sym typeface="Calibri"/>
              </a:rPr>
              <a:t>120</a:t>
            </a:r>
            <a:endParaRPr b="0" i="0" sz="900" u="none" cap="none" strike="noStrike">
              <a:solidFill>
                <a:schemeClr val="dk1"/>
              </a:solidFill>
              <a:latin typeface="Calibri"/>
              <a:ea typeface="Calibri"/>
              <a:cs typeface="Calibri"/>
              <a:sym typeface="Calibri"/>
            </a:endParaRPr>
          </a:p>
        </p:txBody>
      </p:sp>
      <p:sp>
        <p:nvSpPr>
          <p:cNvPr id="3342" name="Google Shape;3342;p120"/>
          <p:cNvSpPr/>
          <p:nvPr/>
        </p:nvSpPr>
        <p:spPr>
          <a:xfrm>
            <a:off x="502920" y="1559052"/>
            <a:ext cx="329184" cy="329184"/>
          </a:xfrm>
          <a:prstGeom prst="ellipse">
            <a:avLst/>
          </a:prstGeom>
          <a:solidFill>
            <a:srgbClr val="00A79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43" name="Google Shape;3343;p120"/>
          <p:cNvSpPr/>
          <p:nvPr/>
        </p:nvSpPr>
        <p:spPr>
          <a:xfrm>
            <a:off x="502920" y="1559052"/>
            <a:ext cx="329184" cy="32918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300"/>
              <a:buFont typeface="Calibri"/>
              <a:buNone/>
            </a:pPr>
            <a:r>
              <a:rPr b="1" i="0" lang="en-US" sz="1300" u="none" cap="none" strike="noStrike">
                <a:solidFill>
                  <a:srgbClr val="FFFFFF"/>
                </a:solidFill>
                <a:latin typeface="Calibri"/>
                <a:ea typeface="Calibri"/>
                <a:cs typeface="Calibri"/>
                <a:sym typeface="Calibri"/>
              </a:rPr>
              <a:t>1</a:t>
            </a:r>
            <a:endParaRPr b="0" i="0" sz="1300" u="none" cap="none" strike="noStrike">
              <a:solidFill>
                <a:schemeClr val="dk1"/>
              </a:solidFill>
              <a:latin typeface="Calibri"/>
              <a:ea typeface="Calibri"/>
              <a:cs typeface="Calibri"/>
              <a:sym typeface="Calibri"/>
            </a:endParaRPr>
          </a:p>
        </p:txBody>
      </p:sp>
      <p:sp>
        <p:nvSpPr>
          <p:cNvPr id="3344" name="Google Shape;3344;p120"/>
          <p:cNvSpPr/>
          <p:nvPr/>
        </p:nvSpPr>
        <p:spPr>
          <a:xfrm>
            <a:off x="1005840" y="1495044"/>
            <a:ext cx="10682935"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D2A5C"/>
              </a:buClr>
              <a:buSzPts val="1400"/>
              <a:buFont typeface="Calibri"/>
              <a:buNone/>
            </a:pPr>
            <a:r>
              <a:rPr b="1" i="0" lang="en-US" sz="1400" u="none" cap="none" strike="noStrike">
                <a:solidFill>
                  <a:srgbClr val="1D2A5C"/>
                </a:solidFill>
                <a:latin typeface="Calibri"/>
                <a:ea typeface="Calibri"/>
                <a:cs typeface="Calibri"/>
                <a:sym typeface="Calibri"/>
              </a:rPr>
              <a:t>Debugging: branch sim-threshold-report</a:t>
            </a:r>
            <a:endParaRPr b="0" i="0" sz="1400" u="none" cap="none" strike="noStrike">
              <a:solidFill>
                <a:schemeClr val="dk1"/>
              </a:solidFill>
              <a:latin typeface="Calibri"/>
              <a:ea typeface="Calibri"/>
              <a:cs typeface="Calibri"/>
              <a:sym typeface="Calibri"/>
            </a:endParaRPr>
          </a:p>
        </p:txBody>
      </p:sp>
      <p:sp>
        <p:nvSpPr>
          <p:cNvPr id="3345" name="Google Shape;3345;p120"/>
          <p:cNvSpPr/>
          <p:nvPr/>
        </p:nvSpPr>
        <p:spPr>
          <a:xfrm>
            <a:off x="1005840" y="1796796"/>
            <a:ext cx="10682935" cy="841248"/>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5F6B7A"/>
              </a:buClr>
              <a:buSzPts val="1150"/>
              <a:buFont typeface="Calibri"/>
              <a:buNone/>
            </a:pPr>
            <a:r>
              <a:rPr b="0" i="0" lang="en-US" sz="1150" u="none" cap="none" strike="noStrike">
                <a:solidFill>
                  <a:srgbClr val="5F6B7A"/>
                </a:solidFill>
                <a:latin typeface="Calibri"/>
                <a:ea typeface="Calibri"/>
                <a:cs typeface="Calibri"/>
                <a:sym typeface="Calibri"/>
              </a:rPr>
              <a:t>Harness reports at conf=0.001; the model card claims 0.35. Find the mismatch, add the operating-point row, explain the 0.31 precision gap.</a:t>
            </a:r>
            <a:endParaRPr b="0" i="0" sz="1150" u="none" cap="none" strike="noStrike">
              <a:solidFill>
                <a:schemeClr val="dk1"/>
              </a:solidFill>
              <a:latin typeface="Calibri"/>
              <a:ea typeface="Calibri"/>
              <a:cs typeface="Calibri"/>
              <a:sym typeface="Calibri"/>
            </a:endParaRPr>
          </a:p>
        </p:txBody>
      </p:sp>
      <p:sp>
        <p:nvSpPr>
          <p:cNvPr id="3346" name="Google Shape;3346;p120"/>
          <p:cNvSpPr/>
          <p:nvPr/>
        </p:nvSpPr>
        <p:spPr>
          <a:xfrm>
            <a:off x="502920" y="2747772"/>
            <a:ext cx="329184" cy="329184"/>
          </a:xfrm>
          <a:prstGeom prst="ellipse">
            <a:avLst/>
          </a:prstGeom>
          <a:solidFill>
            <a:srgbClr val="29ABE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47" name="Google Shape;3347;p120"/>
          <p:cNvSpPr/>
          <p:nvPr/>
        </p:nvSpPr>
        <p:spPr>
          <a:xfrm>
            <a:off x="502920" y="2747772"/>
            <a:ext cx="329184" cy="32918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300"/>
              <a:buFont typeface="Calibri"/>
              <a:buNone/>
            </a:pPr>
            <a:r>
              <a:rPr b="1" i="0" lang="en-US" sz="1300" u="none" cap="none" strike="noStrike">
                <a:solidFill>
                  <a:srgbClr val="FFFFFF"/>
                </a:solidFill>
                <a:latin typeface="Calibri"/>
                <a:ea typeface="Calibri"/>
                <a:cs typeface="Calibri"/>
                <a:sym typeface="Calibri"/>
              </a:rPr>
              <a:t>2</a:t>
            </a:r>
            <a:endParaRPr b="0" i="0" sz="1300" u="none" cap="none" strike="noStrike">
              <a:solidFill>
                <a:schemeClr val="dk1"/>
              </a:solidFill>
              <a:latin typeface="Calibri"/>
              <a:ea typeface="Calibri"/>
              <a:cs typeface="Calibri"/>
              <a:sym typeface="Calibri"/>
            </a:endParaRPr>
          </a:p>
        </p:txBody>
      </p:sp>
      <p:sp>
        <p:nvSpPr>
          <p:cNvPr id="3348" name="Google Shape;3348;p120"/>
          <p:cNvSpPr/>
          <p:nvPr/>
        </p:nvSpPr>
        <p:spPr>
          <a:xfrm>
            <a:off x="1005840" y="2683764"/>
            <a:ext cx="10682935"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D2A5C"/>
              </a:buClr>
              <a:buSzPts val="1400"/>
              <a:buFont typeface="Calibri"/>
              <a:buNone/>
            </a:pPr>
            <a:r>
              <a:rPr b="1" i="0" lang="en-US" sz="1400" u="none" cap="none" strike="noStrike">
                <a:solidFill>
                  <a:srgbClr val="1D2A5C"/>
                </a:solidFill>
                <a:latin typeface="Calibri"/>
                <a:ea typeface="Calibri"/>
                <a:cs typeface="Calibri"/>
                <a:sym typeface="Calibri"/>
              </a:rPr>
              <a:t>Code review: an evaluation PR</a:t>
            </a:r>
            <a:endParaRPr b="0" i="0" sz="1400" u="none" cap="none" strike="noStrike">
              <a:solidFill>
                <a:schemeClr val="dk1"/>
              </a:solidFill>
              <a:latin typeface="Calibri"/>
              <a:ea typeface="Calibri"/>
              <a:cs typeface="Calibri"/>
              <a:sym typeface="Calibri"/>
            </a:endParaRPr>
          </a:p>
        </p:txBody>
      </p:sp>
      <p:sp>
        <p:nvSpPr>
          <p:cNvPr id="3349" name="Google Shape;3349;p120"/>
          <p:cNvSpPr/>
          <p:nvPr/>
        </p:nvSpPr>
        <p:spPr>
          <a:xfrm>
            <a:off x="1005840" y="2985516"/>
            <a:ext cx="10682935" cy="841248"/>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5F6B7A"/>
              </a:buClr>
              <a:buSzPts val="1150"/>
              <a:buFont typeface="Calibri"/>
              <a:buNone/>
            </a:pPr>
            <a:r>
              <a:rPr b="0" i="0" lang="en-US" sz="1150" u="none" cap="none" strike="noStrike">
                <a:solidFill>
                  <a:srgbClr val="5F6B7A"/>
                </a:solidFill>
                <a:latin typeface="Calibri"/>
                <a:ea typeface="Calibri"/>
                <a:cs typeface="Calibri"/>
                <a:sym typeface="Calibri"/>
              </a:rPr>
              <a:t>It re-shuffles the test split 'for freshness', reports only macro-mAP, and claims v3 &gt; v2 from +0.008 with no CI. Three findings.</a:t>
            </a:r>
            <a:endParaRPr b="0" i="0" sz="1150" u="none" cap="none" strike="noStrike">
              <a:solidFill>
                <a:schemeClr val="dk1"/>
              </a:solidFill>
              <a:latin typeface="Calibri"/>
              <a:ea typeface="Calibri"/>
              <a:cs typeface="Calibri"/>
              <a:sym typeface="Calibri"/>
            </a:endParaRPr>
          </a:p>
        </p:txBody>
      </p:sp>
      <p:sp>
        <p:nvSpPr>
          <p:cNvPr id="3350" name="Google Shape;3350;p120"/>
          <p:cNvSpPr/>
          <p:nvPr/>
        </p:nvSpPr>
        <p:spPr>
          <a:xfrm>
            <a:off x="502920" y="3936492"/>
            <a:ext cx="329184" cy="329184"/>
          </a:xfrm>
          <a:prstGeom prst="ellipse">
            <a:avLst/>
          </a:prstGeom>
          <a:solidFill>
            <a:srgbClr val="F5822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51" name="Google Shape;3351;p120"/>
          <p:cNvSpPr/>
          <p:nvPr/>
        </p:nvSpPr>
        <p:spPr>
          <a:xfrm>
            <a:off x="502920" y="3936492"/>
            <a:ext cx="329184" cy="32918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300"/>
              <a:buFont typeface="Calibri"/>
              <a:buNone/>
            </a:pPr>
            <a:r>
              <a:rPr b="1" i="0" lang="en-US" sz="1300" u="none" cap="none" strike="noStrike">
                <a:solidFill>
                  <a:srgbClr val="FFFFFF"/>
                </a:solidFill>
                <a:latin typeface="Calibri"/>
                <a:ea typeface="Calibri"/>
                <a:cs typeface="Calibri"/>
                <a:sym typeface="Calibri"/>
              </a:rPr>
              <a:t>3</a:t>
            </a:r>
            <a:endParaRPr b="0" i="0" sz="1300" u="none" cap="none" strike="noStrike">
              <a:solidFill>
                <a:schemeClr val="dk1"/>
              </a:solidFill>
              <a:latin typeface="Calibri"/>
              <a:ea typeface="Calibri"/>
              <a:cs typeface="Calibri"/>
              <a:sym typeface="Calibri"/>
            </a:endParaRPr>
          </a:p>
        </p:txBody>
      </p:sp>
      <p:sp>
        <p:nvSpPr>
          <p:cNvPr id="3352" name="Google Shape;3352;p120"/>
          <p:cNvSpPr/>
          <p:nvPr/>
        </p:nvSpPr>
        <p:spPr>
          <a:xfrm>
            <a:off x="1005840" y="3872484"/>
            <a:ext cx="10682935"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D2A5C"/>
              </a:buClr>
              <a:buSzPts val="1400"/>
              <a:buFont typeface="Calibri"/>
              <a:buNone/>
            </a:pPr>
            <a:r>
              <a:rPr b="1" i="0" lang="en-US" sz="1400" u="none" cap="none" strike="noStrike">
                <a:solidFill>
                  <a:srgbClr val="1D2A5C"/>
                </a:solidFill>
                <a:latin typeface="Calibri"/>
                <a:ea typeface="Calibri"/>
                <a:cs typeface="Calibri"/>
                <a:sym typeface="Calibri"/>
              </a:rPr>
              <a:t>Discussion: one number for the plant manager</a:t>
            </a:r>
            <a:endParaRPr b="0" i="0" sz="1400" u="none" cap="none" strike="noStrike">
              <a:solidFill>
                <a:schemeClr val="dk1"/>
              </a:solidFill>
              <a:latin typeface="Calibri"/>
              <a:ea typeface="Calibri"/>
              <a:cs typeface="Calibri"/>
              <a:sym typeface="Calibri"/>
            </a:endParaRPr>
          </a:p>
        </p:txBody>
      </p:sp>
      <p:sp>
        <p:nvSpPr>
          <p:cNvPr id="3353" name="Google Shape;3353;p120"/>
          <p:cNvSpPr/>
          <p:nvPr/>
        </p:nvSpPr>
        <p:spPr>
          <a:xfrm>
            <a:off x="1005840" y="4174236"/>
            <a:ext cx="10682935" cy="841248"/>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5F6B7A"/>
              </a:buClr>
              <a:buSzPts val="1150"/>
              <a:buFont typeface="Calibri"/>
              <a:buNone/>
            </a:pPr>
            <a:r>
              <a:rPr b="0" i="0" lang="en-US" sz="1150" u="none" cap="none" strike="noStrike">
                <a:solidFill>
                  <a:srgbClr val="5F6B7A"/>
                </a:solidFill>
                <a:latin typeface="Calibri"/>
                <a:ea typeface="Calibri"/>
                <a:cs typeface="Calibri"/>
                <a:sym typeface="Calibri"/>
              </a:rPr>
              <a:t>The weekly report wants one number. Which do you give — and what second number must always travel with it?</a:t>
            </a:r>
            <a:endParaRPr b="0" i="0" sz="1150" u="none" cap="none" strike="noStrike">
              <a:solidFill>
                <a:schemeClr val="dk1"/>
              </a:solidFill>
              <a:latin typeface="Calibri"/>
              <a:ea typeface="Calibri"/>
              <a:cs typeface="Calibri"/>
              <a:sym typeface="Calibri"/>
            </a:endParaRPr>
          </a:p>
        </p:txBody>
      </p:sp>
      <p:sp>
        <p:nvSpPr>
          <p:cNvPr id="3354" name="Google Shape;3354;p120"/>
          <p:cNvSpPr/>
          <p:nvPr/>
        </p:nvSpPr>
        <p:spPr>
          <a:xfrm>
            <a:off x="502920" y="5125212"/>
            <a:ext cx="329184" cy="329184"/>
          </a:xfrm>
          <a:prstGeom prst="ellipse">
            <a:avLst/>
          </a:prstGeom>
          <a:solidFill>
            <a:srgbClr val="8DC63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55" name="Google Shape;3355;p120"/>
          <p:cNvSpPr/>
          <p:nvPr/>
        </p:nvSpPr>
        <p:spPr>
          <a:xfrm>
            <a:off x="502920" y="5125212"/>
            <a:ext cx="329184" cy="32918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300"/>
              <a:buFont typeface="Calibri"/>
              <a:buNone/>
            </a:pPr>
            <a:r>
              <a:rPr b="1" i="0" lang="en-US" sz="1300" u="none" cap="none" strike="noStrike">
                <a:solidFill>
                  <a:srgbClr val="FFFFFF"/>
                </a:solidFill>
                <a:latin typeface="Calibri"/>
                <a:ea typeface="Calibri"/>
                <a:cs typeface="Calibri"/>
                <a:sym typeface="Calibri"/>
              </a:rPr>
              <a:t>4</a:t>
            </a:r>
            <a:endParaRPr b="0" i="0" sz="1300" u="none" cap="none" strike="noStrike">
              <a:solidFill>
                <a:schemeClr val="dk1"/>
              </a:solidFill>
              <a:latin typeface="Calibri"/>
              <a:ea typeface="Calibri"/>
              <a:cs typeface="Calibri"/>
              <a:sym typeface="Calibri"/>
            </a:endParaRPr>
          </a:p>
        </p:txBody>
      </p:sp>
      <p:sp>
        <p:nvSpPr>
          <p:cNvPr id="3356" name="Google Shape;3356;p120"/>
          <p:cNvSpPr/>
          <p:nvPr/>
        </p:nvSpPr>
        <p:spPr>
          <a:xfrm>
            <a:off x="1005840" y="5061204"/>
            <a:ext cx="10682935"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D2A5C"/>
              </a:buClr>
              <a:buSzPts val="1400"/>
              <a:buFont typeface="Calibri"/>
              <a:buNone/>
            </a:pPr>
            <a:r>
              <a:rPr b="1" i="0" lang="en-US" sz="1400" u="none" cap="none" strike="noStrike">
                <a:solidFill>
                  <a:srgbClr val="1D2A5C"/>
                </a:solidFill>
                <a:latin typeface="Calibri"/>
                <a:ea typeface="Calibri"/>
                <a:cs typeface="Calibri"/>
                <a:sym typeface="Calibri"/>
              </a:rPr>
              <a:t>Discussion: rewrite the acceptance clause</a:t>
            </a:r>
            <a:endParaRPr b="0" i="0" sz="1400" u="none" cap="none" strike="noStrike">
              <a:solidFill>
                <a:schemeClr val="dk1"/>
              </a:solidFill>
              <a:latin typeface="Calibri"/>
              <a:ea typeface="Calibri"/>
              <a:cs typeface="Calibri"/>
              <a:sym typeface="Calibri"/>
            </a:endParaRPr>
          </a:p>
        </p:txBody>
      </p:sp>
      <p:sp>
        <p:nvSpPr>
          <p:cNvPr id="3357" name="Google Shape;3357;p120"/>
          <p:cNvSpPr/>
          <p:nvPr/>
        </p:nvSpPr>
        <p:spPr>
          <a:xfrm>
            <a:off x="1005840" y="5362956"/>
            <a:ext cx="10682935" cy="841248"/>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5F6B7A"/>
              </a:buClr>
              <a:buSzPts val="1150"/>
              <a:buFont typeface="Calibri"/>
              <a:buNone/>
            </a:pPr>
            <a:r>
              <a:rPr b="0" i="0" lang="en-US" sz="1150" u="none" cap="none" strike="noStrike">
                <a:solidFill>
                  <a:srgbClr val="5F6B7A"/>
                </a:solidFill>
                <a:latin typeface="Calibri"/>
                <a:ea typeface="Calibri"/>
                <a:cs typeface="Calibri"/>
                <a:sym typeface="Calibri"/>
              </a:rPr>
              <a:t>A vendor's acceptance test is a live demo on frames they chose. Rewrite the clause using this module's vocabulary.</a:t>
            </a:r>
            <a:endParaRPr b="0" i="0" sz="1150" u="none" cap="none" strike="noStrike">
              <a:solidFill>
                <a:schemeClr val="dk1"/>
              </a:solidFill>
              <a:latin typeface="Calibri"/>
              <a:ea typeface="Calibri"/>
              <a:cs typeface="Calibri"/>
              <a:sym typeface="Calibri"/>
            </a:endParaRPr>
          </a:p>
        </p:txBody>
      </p:sp>
    </p:spTree>
  </p:cSld>
  <p:clrMapOvr>
    <a:masterClrMapping/>
  </p:clrMapOvr>
</p:sld>
</file>

<file path=ppt/slides/slide1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362" name="Shape 3362"/>
        <p:cNvGrpSpPr/>
        <p:nvPr/>
      </p:nvGrpSpPr>
      <p:grpSpPr>
        <a:xfrm>
          <a:off x="0" y="0"/>
          <a:ext cx="0" cy="0"/>
          <a:chOff x="0" y="0"/>
          <a:chExt cx="0" cy="0"/>
        </a:xfrm>
      </p:grpSpPr>
      <p:sp>
        <p:nvSpPr>
          <p:cNvPr id="3363" name="Google Shape;3363;p121"/>
          <p:cNvSpPr/>
          <p:nvPr/>
        </p:nvSpPr>
        <p:spPr>
          <a:xfrm>
            <a:off x="502920" y="274320"/>
            <a:ext cx="9646920" cy="56692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D2A5C"/>
              </a:buClr>
              <a:buSzPts val="2700"/>
              <a:buFont typeface="Calibri"/>
              <a:buNone/>
            </a:pPr>
            <a:r>
              <a:rPr b="1" i="0" lang="en-US" sz="2700" u="none" cap="none" strike="noStrike">
                <a:solidFill>
                  <a:srgbClr val="1D2A5C"/>
                </a:solidFill>
                <a:latin typeface="Calibri"/>
                <a:ea typeface="Calibri"/>
                <a:cs typeface="Calibri"/>
                <a:sym typeface="Calibri"/>
              </a:rPr>
              <a:t>Night-Slice Failure in Riyadh Traffic Vision</a:t>
            </a:r>
            <a:endParaRPr b="0" i="0" sz="2700" u="none" cap="none" strike="noStrike">
              <a:solidFill>
                <a:schemeClr val="dk1"/>
              </a:solidFill>
              <a:latin typeface="Calibri"/>
              <a:ea typeface="Calibri"/>
              <a:cs typeface="Calibri"/>
              <a:sym typeface="Calibri"/>
            </a:endParaRPr>
          </a:p>
        </p:txBody>
      </p:sp>
      <p:sp>
        <p:nvSpPr>
          <p:cNvPr id="3364" name="Google Shape;3364;p121"/>
          <p:cNvSpPr/>
          <p:nvPr/>
        </p:nvSpPr>
        <p:spPr>
          <a:xfrm>
            <a:off x="502920" y="859536"/>
            <a:ext cx="9646920" cy="31089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F6B7A"/>
              </a:buClr>
              <a:buSzPts val="1250"/>
              <a:buFont typeface="Arial"/>
              <a:buNone/>
            </a:pPr>
            <a:r>
              <a:rPr b="0" i="0" lang="en-US" sz="1250" u="none" cap="none" strike="noStrike">
                <a:solidFill>
                  <a:srgbClr val="5F6B7A"/>
                </a:solidFill>
                <a:latin typeface="Arial"/>
                <a:ea typeface="Arial"/>
                <a:cs typeface="Arial"/>
                <a:sym typeface="Arial"/>
              </a:rPr>
              <a:t>فشل شريحة ليلية في رؤية مرور الرياض</a:t>
            </a:r>
            <a:endParaRPr b="0" i="0" sz="1250" u="none" cap="none" strike="noStrike">
              <a:solidFill>
                <a:schemeClr val="dk1"/>
              </a:solidFill>
              <a:latin typeface="Calibri"/>
              <a:ea typeface="Calibri"/>
              <a:cs typeface="Calibri"/>
              <a:sym typeface="Calibri"/>
            </a:endParaRPr>
          </a:p>
        </p:txBody>
      </p:sp>
      <p:pic>
        <p:nvPicPr>
          <p:cNvPr descr="/sessions/blissful-determined-ritchie/build/assets/sdaia_logo.png" id="3365" name="Google Shape;3365;p121"/>
          <p:cNvPicPr preferRelativeResize="0"/>
          <p:nvPr/>
        </p:nvPicPr>
        <p:blipFill rotWithShape="1">
          <a:blip r:embed="rId3">
            <a:alphaModFix/>
          </a:blip>
          <a:srcRect b="0" l="0" r="0" t="0"/>
          <a:stretch/>
        </p:blipFill>
        <p:spPr>
          <a:xfrm>
            <a:off x="10625328" y="310896"/>
            <a:ext cx="1078992" cy="264111"/>
          </a:xfrm>
          <a:prstGeom prst="rect">
            <a:avLst/>
          </a:prstGeom>
          <a:noFill/>
          <a:ln>
            <a:noFill/>
          </a:ln>
        </p:spPr>
      </p:pic>
      <p:sp>
        <p:nvSpPr>
          <p:cNvPr id="3366" name="Google Shape;3366;p121"/>
          <p:cNvSpPr/>
          <p:nvPr/>
        </p:nvSpPr>
        <p:spPr>
          <a:xfrm>
            <a:off x="502920" y="6528816"/>
            <a:ext cx="8686800"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A79D"/>
              </a:buClr>
              <a:buSzPts val="800"/>
              <a:buFont typeface="Calibri"/>
              <a:buNone/>
            </a:pPr>
            <a:r>
              <a:rPr b="1" i="0" lang="en-US" sz="800" u="none" cap="none" strike="noStrike">
                <a:solidFill>
                  <a:srgbClr val="00A79D"/>
                </a:solidFill>
                <a:latin typeface="Calibri"/>
                <a:ea typeface="Calibri"/>
                <a:cs typeface="Calibri"/>
                <a:sym typeface="Calibri"/>
              </a:rPr>
              <a:t>MODULE 6 · CASE STUDY   </a:t>
            </a:r>
            <a:r>
              <a:rPr b="0" i="0" lang="en-US" sz="800" u="none" cap="none" strike="noStrike">
                <a:solidFill>
                  <a:srgbClr val="8A96A6"/>
                </a:solidFill>
                <a:latin typeface="Calibri"/>
                <a:ea typeface="Calibri"/>
                <a:cs typeface="Calibri"/>
                <a:sym typeface="Calibri"/>
              </a:rPr>
              <a:t>SDA-AIE-212 · Computer Vision Systems Development</a:t>
            </a:r>
            <a:endParaRPr b="0" i="0" sz="800" u="none" cap="none" strike="noStrike">
              <a:solidFill>
                <a:schemeClr val="dk1"/>
              </a:solidFill>
              <a:latin typeface="Calibri"/>
              <a:ea typeface="Calibri"/>
              <a:cs typeface="Calibri"/>
              <a:sym typeface="Calibri"/>
            </a:endParaRPr>
          </a:p>
        </p:txBody>
      </p:sp>
      <p:sp>
        <p:nvSpPr>
          <p:cNvPr id="3367" name="Google Shape;3367;p121"/>
          <p:cNvSpPr/>
          <p:nvPr/>
        </p:nvSpPr>
        <p:spPr>
          <a:xfrm>
            <a:off x="11292840" y="6528816"/>
            <a:ext cx="411480" cy="219456"/>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8A96A6"/>
              </a:buClr>
              <a:buSzPts val="900"/>
              <a:buFont typeface="Calibri"/>
              <a:buNone/>
            </a:pPr>
            <a:r>
              <a:rPr b="0" i="0" lang="en-US" sz="900" u="none" cap="none" strike="noStrike">
                <a:solidFill>
                  <a:srgbClr val="8A96A6"/>
                </a:solidFill>
                <a:latin typeface="Calibri"/>
                <a:ea typeface="Calibri"/>
                <a:cs typeface="Calibri"/>
                <a:sym typeface="Calibri"/>
              </a:rPr>
              <a:t>121</a:t>
            </a:r>
            <a:endParaRPr b="0" i="0" sz="900" u="none" cap="none" strike="noStrike">
              <a:solidFill>
                <a:schemeClr val="dk1"/>
              </a:solidFill>
              <a:latin typeface="Calibri"/>
              <a:ea typeface="Calibri"/>
              <a:cs typeface="Calibri"/>
              <a:sym typeface="Calibri"/>
            </a:endParaRPr>
          </a:p>
        </p:txBody>
      </p:sp>
      <p:sp>
        <p:nvSpPr>
          <p:cNvPr id="3368" name="Google Shape;3368;p121"/>
          <p:cNvSpPr/>
          <p:nvPr/>
        </p:nvSpPr>
        <p:spPr>
          <a:xfrm>
            <a:off x="502920" y="1389888"/>
            <a:ext cx="6035040" cy="2377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A79D"/>
              </a:buClr>
              <a:buSzPts val="1000"/>
              <a:buFont typeface="Calibri"/>
              <a:buNone/>
            </a:pPr>
            <a:r>
              <a:rPr b="1" i="0" lang="en-US" sz="1000" u="none" cap="none" strike="noStrike">
                <a:solidFill>
                  <a:srgbClr val="00A79D"/>
                </a:solidFill>
                <a:latin typeface="Calibri"/>
                <a:ea typeface="Calibri"/>
                <a:cs typeface="Calibri"/>
                <a:sym typeface="Calibri"/>
              </a:rPr>
              <a:t>SCENARIO</a:t>
            </a:r>
            <a:endParaRPr b="0" i="0" sz="1000" u="none" cap="none" strike="noStrike">
              <a:solidFill>
                <a:schemeClr val="dk1"/>
              </a:solidFill>
              <a:latin typeface="Calibri"/>
              <a:ea typeface="Calibri"/>
              <a:cs typeface="Calibri"/>
              <a:sym typeface="Calibri"/>
            </a:endParaRPr>
          </a:p>
        </p:txBody>
      </p:sp>
      <p:sp>
        <p:nvSpPr>
          <p:cNvPr id="3369" name="Google Shape;3369;p121"/>
          <p:cNvSpPr/>
          <p:nvPr/>
        </p:nvSpPr>
        <p:spPr>
          <a:xfrm>
            <a:off x="502920" y="1645920"/>
            <a:ext cx="6035040" cy="896112"/>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23293B"/>
              </a:buClr>
              <a:buSzPts val="1150"/>
              <a:buFont typeface="Calibri"/>
              <a:buNone/>
            </a:pPr>
            <a:r>
              <a:rPr b="0" i="0" lang="en-US" sz="1150" u="none" cap="none" strike="noStrike">
                <a:solidFill>
                  <a:srgbClr val="23293B"/>
                </a:solidFill>
                <a:latin typeface="Calibri"/>
                <a:ea typeface="Calibri"/>
                <a:cs typeface="Calibri"/>
                <a:sym typeface="Calibri"/>
              </a:rPr>
              <a:t>A city-scale traffic programme runs vehicle detection on 900 intersections for signal optimisation and incident alerts. The vendor's quarterly report shows fleet mAP@0.5 of 0.91, stable for a year. Then two incident-detection misses in one month — both motorcycles, both between 22:00 and 03:00 — trigger an engineering review.</a:t>
            </a:r>
            <a:endParaRPr b="0" i="0" sz="1150" u="none" cap="none" strike="noStrike">
              <a:solidFill>
                <a:schemeClr val="dk1"/>
              </a:solidFill>
              <a:latin typeface="Calibri"/>
              <a:ea typeface="Calibri"/>
              <a:cs typeface="Calibri"/>
              <a:sym typeface="Calibri"/>
            </a:endParaRPr>
          </a:p>
        </p:txBody>
      </p:sp>
      <p:sp>
        <p:nvSpPr>
          <p:cNvPr id="3370" name="Google Shape;3370;p121"/>
          <p:cNvSpPr/>
          <p:nvPr/>
        </p:nvSpPr>
        <p:spPr>
          <a:xfrm>
            <a:off x="502920" y="2706624"/>
            <a:ext cx="6035040" cy="2377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A79D"/>
              </a:buClr>
              <a:buSzPts val="1000"/>
              <a:buFont typeface="Calibri"/>
              <a:buNone/>
            </a:pPr>
            <a:r>
              <a:rPr b="1" i="0" lang="en-US" sz="1000" u="none" cap="none" strike="noStrike">
                <a:solidFill>
                  <a:srgbClr val="00A79D"/>
                </a:solidFill>
                <a:latin typeface="Calibri"/>
                <a:ea typeface="Calibri"/>
                <a:cs typeface="Calibri"/>
                <a:sym typeface="Calibri"/>
              </a:rPr>
              <a:t>BUSINESS CONTEXT</a:t>
            </a:r>
            <a:endParaRPr b="0" i="0" sz="1000" u="none" cap="none" strike="noStrike">
              <a:solidFill>
                <a:schemeClr val="dk1"/>
              </a:solidFill>
              <a:latin typeface="Calibri"/>
              <a:ea typeface="Calibri"/>
              <a:cs typeface="Calibri"/>
              <a:sym typeface="Calibri"/>
            </a:endParaRPr>
          </a:p>
        </p:txBody>
      </p:sp>
      <p:sp>
        <p:nvSpPr>
          <p:cNvPr id="3371" name="Google Shape;3371;p121"/>
          <p:cNvSpPr/>
          <p:nvPr/>
        </p:nvSpPr>
        <p:spPr>
          <a:xfrm>
            <a:off x="502920" y="2962656"/>
            <a:ext cx="6035040" cy="6858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5F6B7A"/>
              </a:buClr>
              <a:buSzPts val="1150"/>
              <a:buFont typeface="Calibri"/>
              <a:buNone/>
            </a:pPr>
            <a:r>
              <a:rPr b="0" i="0" lang="en-US" sz="1150" u="none" cap="none" strike="noStrike">
                <a:solidFill>
                  <a:srgbClr val="5F6B7A"/>
                </a:solidFill>
                <a:latin typeface="Calibri"/>
                <a:ea typeface="Calibri"/>
                <a:cs typeface="Calibri"/>
                <a:sym typeface="Calibri"/>
              </a:rPr>
              <a:t>Renewal is before the budget committee; the contract specifies 'mAP &gt;= 0.88 quarterly' and nothing else. Motorcycles are 4% of vehicles and 28% of fatalities in the corridor under review.</a:t>
            </a:r>
            <a:endParaRPr b="0" i="0" sz="1150" u="none" cap="none" strike="noStrike">
              <a:solidFill>
                <a:schemeClr val="dk1"/>
              </a:solidFill>
              <a:latin typeface="Calibri"/>
              <a:ea typeface="Calibri"/>
              <a:cs typeface="Calibri"/>
              <a:sym typeface="Calibri"/>
            </a:endParaRPr>
          </a:p>
        </p:txBody>
      </p:sp>
      <p:sp>
        <p:nvSpPr>
          <p:cNvPr id="3372" name="Google Shape;3372;p121"/>
          <p:cNvSpPr/>
          <p:nvPr/>
        </p:nvSpPr>
        <p:spPr>
          <a:xfrm>
            <a:off x="502920" y="3813048"/>
            <a:ext cx="6035040" cy="2377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A79D"/>
              </a:buClr>
              <a:buSzPts val="1000"/>
              <a:buFont typeface="Calibri"/>
              <a:buNone/>
            </a:pPr>
            <a:r>
              <a:rPr b="1" i="0" lang="en-US" sz="1000" u="none" cap="none" strike="noStrike">
                <a:solidFill>
                  <a:srgbClr val="00A79D"/>
                </a:solidFill>
                <a:latin typeface="Calibri"/>
                <a:ea typeface="Calibri"/>
                <a:cs typeface="Calibri"/>
                <a:sym typeface="Calibri"/>
              </a:rPr>
              <a:t>TECHNICAL CHALLENGE</a:t>
            </a:r>
            <a:endParaRPr b="0" i="0" sz="1000" u="none" cap="none" strike="noStrike">
              <a:solidFill>
                <a:schemeClr val="dk1"/>
              </a:solidFill>
              <a:latin typeface="Calibri"/>
              <a:ea typeface="Calibri"/>
              <a:cs typeface="Calibri"/>
              <a:sym typeface="Calibri"/>
            </a:endParaRPr>
          </a:p>
        </p:txBody>
      </p:sp>
      <p:sp>
        <p:nvSpPr>
          <p:cNvPr id="3373" name="Google Shape;3373;p121"/>
          <p:cNvSpPr/>
          <p:nvPr/>
        </p:nvSpPr>
        <p:spPr>
          <a:xfrm>
            <a:off x="502920" y="4069080"/>
            <a:ext cx="6035040" cy="6858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5F6B7A"/>
              </a:buClr>
              <a:buSzPts val="1150"/>
              <a:buFont typeface="Calibri"/>
              <a:buNone/>
            </a:pPr>
            <a:r>
              <a:rPr b="0" i="0" lang="en-US" sz="1150" u="none" cap="none" strike="noStrike">
                <a:solidFill>
                  <a:srgbClr val="5F6B7A"/>
                </a:solidFill>
                <a:latin typeface="Calibri"/>
                <a:ea typeface="Calibri"/>
                <a:cs typeface="Calibri"/>
                <a:sym typeface="Calibri"/>
              </a:rPr>
              <a:t>Reconstruct how a contractually green system missed the failures, quantify real slice-level performance, and rewrite the acceptance criteria to measure what the safety KPI cares about.</a:t>
            </a:r>
            <a:endParaRPr b="0" i="0" sz="1150" u="none" cap="none" strike="noStrike">
              <a:solidFill>
                <a:schemeClr val="dk1"/>
              </a:solidFill>
              <a:latin typeface="Calibri"/>
              <a:ea typeface="Calibri"/>
              <a:cs typeface="Calibri"/>
              <a:sym typeface="Calibri"/>
            </a:endParaRPr>
          </a:p>
        </p:txBody>
      </p:sp>
      <p:sp>
        <p:nvSpPr>
          <p:cNvPr id="3374" name="Google Shape;3374;p121"/>
          <p:cNvSpPr/>
          <p:nvPr/>
        </p:nvSpPr>
        <p:spPr>
          <a:xfrm>
            <a:off x="6858000" y="1389888"/>
            <a:ext cx="4828032" cy="2184684"/>
          </a:xfrm>
          <a:prstGeom prst="roundRect">
            <a:avLst>
              <a:gd fmla="val 3767" name="adj"/>
            </a:avLst>
          </a:prstGeom>
          <a:solidFill>
            <a:srgbClr val="F2F6F9"/>
          </a:solidFill>
          <a:ln cap="flat" cmpd="sng" w="12700">
            <a:solidFill>
              <a:srgbClr val="D9E2E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75" name="Google Shape;3375;p121"/>
          <p:cNvSpPr/>
          <p:nvPr/>
        </p:nvSpPr>
        <p:spPr>
          <a:xfrm>
            <a:off x="7040880" y="1481328"/>
            <a:ext cx="4462272" cy="2377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58220"/>
              </a:buClr>
              <a:buSzPts val="950"/>
              <a:buFont typeface="Calibri"/>
              <a:buNone/>
            </a:pPr>
            <a:r>
              <a:rPr b="1" i="0" lang="en-US" sz="950" u="none" cap="none" strike="noStrike">
                <a:solidFill>
                  <a:srgbClr val="F58220"/>
                </a:solidFill>
                <a:latin typeface="Calibri"/>
                <a:ea typeface="Calibri"/>
                <a:cs typeface="Calibri"/>
                <a:sym typeface="Calibri"/>
              </a:rPr>
              <a:t>CONSTRAINTS</a:t>
            </a:r>
            <a:endParaRPr b="0" i="0" sz="950" u="none" cap="none" strike="noStrike">
              <a:solidFill>
                <a:schemeClr val="dk1"/>
              </a:solidFill>
              <a:latin typeface="Calibri"/>
              <a:ea typeface="Calibri"/>
              <a:cs typeface="Calibri"/>
              <a:sym typeface="Calibri"/>
            </a:endParaRPr>
          </a:p>
        </p:txBody>
      </p:sp>
      <p:sp>
        <p:nvSpPr>
          <p:cNvPr id="3376" name="Google Shape;3376;p121"/>
          <p:cNvSpPr/>
          <p:nvPr/>
        </p:nvSpPr>
        <p:spPr>
          <a:xfrm>
            <a:off x="7095744" y="1755648"/>
            <a:ext cx="4370832" cy="1681764"/>
          </a:xfrm>
          <a:prstGeom prst="rect">
            <a:avLst/>
          </a:prstGeom>
          <a:noFill/>
          <a:ln>
            <a:noFill/>
          </a:ln>
        </p:spPr>
        <p:txBody>
          <a:bodyPr anchorCtr="0" anchor="t" bIns="0" lIns="0" spcFirstLastPara="1" rIns="0" wrap="square" tIns="0">
            <a:noAutofit/>
          </a:bodyPr>
          <a:lstStyle/>
          <a:p>
            <a:pPr indent="-127000" lvl="0" marL="127000" marR="0" rtl="0" algn="l">
              <a:spcBef>
                <a:spcPts val="0"/>
              </a:spcBef>
              <a:spcAft>
                <a:spcPts val="0"/>
              </a:spcAft>
              <a:buClr>
                <a:srgbClr val="23293B"/>
              </a:buClr>
              <a:buSzPts val="1050"/>
              <a:buFont typeface="Calibri"/>
              <a:buChar char="•"/>
            </a:pPr>
            <a:r>
              <a:rPr b="0" i="0" lang="en-US" sz="1050" u="none" cap="none" strike="noStrike">
                <a:solidFill>
                  <a:srgbClr val="23293B"/>
                </a:solidFill>
                <a:latin typeface="Calibri"/>
                <a:ea typeface="Calibri"/>
                <a:cs typeface="Calibri"/>
                <a:sym typeface="Calibri"/>
              </a:rPr>
              <a:t>Vendor controls the model; city, the cameras</a:t>
            </a:r>
            <a:endParaRPr b="0" i="0" sz="1050" u="none" cap="none" strike="noStrike">
              <a:solidFill>
                <a:schemeClr val="dk1"/>
              </a:solidFill>
              <a:latin typeface="Calibri"/>
              <a:ea typeface="Calibri"/>
              <a:cs typeface="Calibri"/>
              <a:sym typeface="Calibri"/>
            </a:endParaRPr>
          </a:p>
          <a:p>
            <a:pPr indent="-127000" lvl="0" marL="127000" marR="0" rtl="0" algn="l">
              <a:spcBef>
                <a:spcPts val="500"/>
              </a:spcBef>
              <a:spcAft>
                <a:spcPts val="0"/>
              </a:spcAft>
              <a:buClr>
                <a:srgbClr val="23293B"/>
              </a:buClr>
              <a:buSzPts val="1050"/>
              <a:buFont typeface="Calibri"/>
              <a:buChar char="•"/>
            </a:pPr>
            <a:r>
              <a:rPr b="0" i="0" lang="en-US" sz="1050" u="none" cap="none" strike="noStrike">
                <a:solidFill>
                  <a:srgbClr val="23293B"/>
                </a:solidFill>
                <a:latin typeface="Calibri"/>
                <a:ea typeface="Calibri"/>
                <a:cs typeface="Calibri"/>
                <a:sym typeface="Calibri"/>
              </a:rPr>
              <a:t>City holds a 20,000-frame labelled archive</a:t>
            </a:r>
            <a:endParaRPr b="0" i="0" sz="1050" u="none" cap="none" strike="noStrike">
              <a:solidFill>
                <a:schemeClr val="dk1"/>
              </a:solidFill>
              <a:latin typeface="Calibri"/>
              <a:ea typeface="Calibri"/>
              <a:cs typeface="Calibri"/>
              <a:sym typeface="Calibri"/>
            </a:endParaRPr>
          </a:p>
          <a:p>
            <a:pPr indent="-127000" lvl="0" marL="127000" marR="0" rtl="0" algn="l">
              <a:spcBef>
                <a:spcPts val="500"/>
              </a:spcBef>
              <a:spcAft>
                <a:spcPts val="0"/>
              </a:spcAft>
              <a:buClr>
                <a:srgbClr val="23293B"/>
              </a:buClr>
              <a:buSzPts val="1050"/>
              <a:buFont typeface="Calibri"/>
              <a:buChar char="•"/>
            </a:pPr>
            <a:r>
              <a:rPr b="0" i="0" lang="en-US" sz="1050" u="none" cap="none" strike="noStrike">
                <a:solidFill>
                  <a:srgbClr val="23293B"/>
                </a:solidFill>
                <a:latin typeface="Calibri"/>
                <a:ea typeface="Calibri"/>
                <a:cs typeface="Calibri"/>
                <a:sym typeface="Calibri"/>
              </a:rPr>
              <a:t>Night: 18% of traffic, 6% of vendor test set</a:t>
            </a:r>
            <a:endParaRPr b="0" i="0" sz="1050" u="none" cap="none" strike="noStrike">
              <a:solidFill>
                <a:schemeClr val="dk1"/>
              </a:solidFill>
              <a:latin typeface="Calibri"/>
              <a:ea typeface="Calibri"/>
              <a:cs typeface="Calibri"/>
              <a:sym typeface="Calibri"/>
            </a:endParaRPr>
          </a:p>
          <a:p>
            <a:pPr indent="-127000" lvl="0" marL="127000" marR="0" rtl="0" algn="l">
              <a:spcBef>
                <a:spcPts val="500"/>
              </a:spcBef>
              <a:spcAft>
                <a:spcPts val="0"/>
              </a:spcAft>
              <a:buClr>
                <a:srgbClr val="23293B"/>
              </a:buClr>
              <a:buSzPts val="1050"/>
              <a:buFont typeface="Calibri"/>
              <a:buChar char="•"/>
            </a:pPr>
            <a:r>
              <a:rPr b="0" i="0" lang="en-US" sz="1050" u="none" cap="none" strike="noStrike">
                <a:solidFill>
                  <a:srgbClr val="23293B"/>
                </a:solidFill>
                <a:latin typeface="Calibri"/>
                <a:ea typeface="Calibri"/>
                <a:cs typeface="Calibri"/>
                <a:sym typeface="Calibri"/>
              </a:rPr>
              <a:t>Night motorcycles in vendor test set: n=41</a:t>
            </a:r>
            <a:endParaRPr b="0" i="0" sz="1050" u="none" cap="none" strike="noStrike">
              <a:solidFill>
                <a:schemeClr val="dk1"/>
              </a:solidFill>
              <a:latin typeface="Calibri"/>
              <a:ea typeface="Calibri"/>
              <a:cs typeface="Calibri"/>
              <a:sym typeface="Calibri"/>
            </a:endParaRPr>
          </a:p>
          <a:p>
            <a:pPr indent="-127000" lvl="0" marL="127000" marR="0" rtl="0" algn="l">
              <a:spcBef>
                <a:spcPts val="500"/>
              </a:spcBef>
              <a:spcAft>
                <a:spcPts val="0"/>
              </a:spcAft>
              <a:buClr>
                <a:srgbClr val="23293B"/>
              </a:buClr>
              <a:buSzPts val="1050"/>
              <a:buFont typeface="Calibri"/>
              <a:buChar char="•"/>
            </a:pPr>
            <a:r>
              <a:rPr b="0" i="0" lang="en-US" sz="1050" u="none" cap="none" strike="noStrike">
                <a:solidFill>
                  <a:srgbClr val="23293B"/>
                </a:solidFill>
                <a:latin typeface="Calibri"/>
                <a:ea typeface="Calibri"/>
                <a:cs typeface="Calibri"/>
                <a:sym typeface="Calibri"/>
              </a:rPr>
              <a:t>Both parties want renewal, not a dispute</a:t>
            </a:r>
            <a:endParaRPr b="0" i="0" sz="1050" u="none" cap="none" strike="noStrike">
              <a:solidFill>
                <a:schemeClr val="dk1"/>
              </a:solidFill>
              <a:latin typeface="Calibri"/>
              <a:ea typeface="Calibri"/>
              <a:cs typeface="Calibri"/>
              <a:sym typeface="Calibri"/>
            </a:endParaRPr>
          </a:p>
        </p:txBody>
      </p:sp>
      <p:sp>
        <p:nvSpPr>
          <p:cNvPr id="3377" name="Google Shape;3377;p121"/>
          <p:cNvSpPr/>
          <p:nvPr/>
        </p:nvSpPr>
        <p:spPr>
          <a:xfrm>
            <a:off x="6858000" y="3803172"/>
            <a:ext cx="4828032" cy="2551908"/>
          </a:xfrm>
          <a:prstGeom prst="roundRect">
            <a:avLst>
              <a:gd fmla="val 3225" name="adj"/>
            </a:avLst>
          </a:prstGeom>
          <a:solidFill>
            <a:srgbClr val="E9F6F5"/>
          </a:solidFill>
          <a:ln cap="flat" cmpd="sng" w="12700">
            <a:solidFill>
              <a:srgbClr val="00A79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78" name="Google Shape;3378;p121"/>
          <p:cNvSpPr/>
          <p:nvPr/>
        </p:nvSpPr>
        <p:spPr>
          <a:xfrm>
            <a:off x="7040880" y="3894612"/>
            <a:ext cx="4462272" cy="2377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A79D"/>
              </a:buClr>
              <a:buSzPts val="950"/>
              <a:buFont typeface="Calibri"/>
              <a:buNone/>
            </a:pPr>
            <a:r>
              <a:rPr b="1" i="0" lang="en-US" sz="950" u="none" cap="none" strike="noStrike">
                <a:solidFill>
                  <a:srgbClr val="00A79D"/>
                </a:solidFill>
                <a:latin typeface="Calibri"/>
                <a:ea typeface="Calibri"/>
                <a:cs typeface="Calibri"/>
                <a:sym typeface="Calibri"/>
              </a:rPr>
              <a:t>DISCUSSION QUESTIONS</a:t>
            </a:r>
            <a:endParaRPr b="0" i="0" sz="950" u="none" cap="none" strike="noStrike">
              <a:solidFill>
                <a:schemeClr val="dk1"/>
              </a:solidFill>
              <a:latin typeface="Calibri"/>
              <a:ea typeface="Calibri"/>
              <a:cs typeface="Calibri"/>
              <a:sym typeface="Calibri"/>
            </a:endParaRPr>
          </a:p>
        </p:txBody>
      </p:sp>
      <p:sp>
        <p:nvSpPr>
          <p:cNvPr id="3379" name="Google Shape;3379;p121"/>
          <p:cNvSpPr/>
          <p:nvPr/>
        </p:nvSpPr>
        <p:spPr>
          <a:xfrm>
            <a:off x="7095744" y="4168932"/>
            <a:ext cx="4370832" cy="2048988"/>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23293B"/>
              </a:buClr>
              <a:buSzPts val="1050"/>
              <a:buFont typeface="Calibri"/>
              <a:buNone/>
            </a:pPr>
            <a:r>
              <a:rPr b="0" i="0" lang="en-US" sz="1050" u="none" cap="none" strike="noStrike">
                <a:solidFill>
                  <a:srgbClr val="23293B"/>
                </a:solidFill>
                <a:latin typeface="Calibri"/>
                <a:ea typeface="Calibri"/>
                <a:cs typeface="Calibri"/>
                <a:sym typeface="Calibri"/>
              </a:rPr>
              <a:t>1.  The 0.91 was honest arithmetic — which choices still made it misleading?</a:t>
            </a:r>
            <a:endParaRPr b="0" i="0" sz="1050" u="none" cap="none" strike="noStrike">
              <a:solidFill>
                <a:schemeClr val="dk1"/>
              </a:solidFill>
              <a:latin typeface="Calibri"/>
              <a:ea typeface="Calibri"/>
              <a:cs typeface="Calibri"/>
              <a:sym typeface="Calibri"/>
            </a:endParaRPr>
          </a:p>
          <a:p>
            <a:pPr indent="0" lvl="0" marL="0" marR="0" rtl="0" algn="l">
              <a:spcBef>
                <a:spcPts val="600"/>
              </a:spcBef>
              <a:spcAft>
                <a:spcPts val="0"/>
              </a:spcAft>
              <a:buClr>
                <a:srgbClr val="23293B"/>
              </a:buClr>
              <a:buSzPts val="1050"/>
              <a:buFont typeface="Calibri"/>
              <a:buNone/>
            </a:pPr>
            <a:r>
              <a:rPr b="0" i="0" lang="en-US" sz="1050" u="none" cap="none" strike="noStrike">
                <a:solidFill>
                  <a:srgbClr val="23293B"/>
                </a:solidFill>
                <a:latin typeface="Calibri"/>
                <a:ea typeface="Calibri"/>
                <a:cs typeface="Calibri"/>
                <a:sym typeface="Calibri"/>
              </a:rPr>
              <a:t>2.  Design the slice taxonomy: which slices, and what n requirements?</a:t>
            </a:r>
            <a:endParaRPr b="0" i="0" sz="1050" u="none" cap="none" strike="noStrike">
              <a:solidFill>
                <a:schemeClr val="dk1"/>
              </a:solidFill>
              <a:latin typeface="Calibri"/>
              <a:ea typeface="Calibri"/>
              <a:cs typeface="Calibri"/>
              <a:sym typeface="Calibri"/>
            </a:endParaRPr>
          </a:p>
          <a:p>
            <a:pPr indent="0" lvl="0" marL="0" marR="0" rtl="0" algn="l">
              <a:spcBef>
                <a:spcPts val="600"/>
              </a:spcBef>
              <a:spcAft>
                <a:spcPts val="0"/>
              </a:spcAft>
              <a:buClr>
                <a:srgbClr val="23293B"/>
              </a:buClr>
              <a:buSzPts val="1050"/>
              <a:buFont typeface="Calibri"/>
              <a:buNone/>
            </a:pPr>
            <a:r>
              <a:rPr b="0" i="0" lang="en-US" sz="1050" u="none" cap="none" strike="noStrike">
                <a:solidFill>
                  <a:srgbClr val="23293B"/>
                </a:solidFill>
                <a:latin typeface="Calibri"/>
                <a:ea typeface="Calibri"/>
                <a:cs typeface="Calibri"/>
                <a:sym typeface="Calibri"/>
              </a:rPr>
              <a:t>3.  Who owns the frozen split in a buyer/vendor relationship?</a:t>
            </a:r>
            <a:endParaRPr b="0" i="0" sz="1050" u="none" cap="none" strike="noStrike">
              <a:solidFill>
                <a:schemeClr val="dk1"/>
              </a:solidFill>
              <a:latin typeface="Calibri"/>
              <a:ea typeface="Calibri"/>
              <a:cs typeface="Calibri"/>
              <a:sym typeface="Calibri"/>
            </a:endParaRPr>
          </a:p>
          <a:p>
            <a:pPr indent="0" lvl="0" marL="0" marR="0" rtl="0" algn="l">
              <a:spcBef>
                <a:spcPts val="600"/>
              </a:spcBef>
              <a:spcAft>
                <a:spcPts val="0"/>
              </a:spcAft>
              <a:buClr>
                <a:srgbClr val="23293B"/>
              </a:buClr>
              <a:buSzPts val="1050"/>
              <a:buFont typeface="Calibri"/>
              <a:buNone/>
            </a:pPr>
            <a:r>
              <a:rPr b="0" i="0" lang="en-US" sz="1050" u="none" cap="none" strike="noStrike">
                <a:solidFill>
                  <a:srgbClr val="23293B"/>
                </a:solidFill>
                <a:latin typeface="Calibri"/>
                <a:ea typeface="Calibri"/>
                <a:cs typeface="Calibri"/>
                <a:sym typeface="Calibri"/>
              </a:rPr>
              <a:t>4.  Why is demanding mAP &gt;= 0.95 the wrong fix?</a:t>
            </a:r>
            <a:endParaRPr b="0" i="0" sz="1050" u="none" cap="none" strike="noStrike">
              <a:solidFill>
                <a:schemeClr val="dk1"/>
              </a:solidFill>
              <a:latin typeface="Calibri"/>
              <a:ea typeface="Calibri"/>
              <a:cs typeface="Calibri"/>
              <a:sym typeface="Calibri"/>
            </a:endParaRPr>
          </a:p>
        </p:txBody>
      </p:sp>
    </p:spTree>
  </p:cSld>
  <p:clrMapOvr>
    <a:masterClrMapping/>
  </p:clrMapOvr>
</p:sld>
</file>

<file path=ppt/slides/slide1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384" name="Shape 3384"/>
        <p:cNvGrpSpPr/>
        <p:nvPr/>
      </p:nvGrpSpPr>
      <p:grpSpPr>
        <a:xfrm>
          <a:off x="0" y="0"/>
          <a:ext cx="0" cy="0"/>
          <a:chOff x="0" y="0"/>
          <a:chExt cx="0" cy="0"/>
        </a:xfrm>
      </p:grpSpPr>
      <p:sp>
        <p:nvSpPr>
          <p:cNvPr id="3385" name="Google Shape;3385;p122"/>
          <p:cNvSpPr/>
          <p:nvPr/>
        </p:nvSpPr>
        <p:spPr>
          <a:xfrm>
            <a:off x="502920" y="274320"/>
            <a:ext cx="9646920" cy="56692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D2A5C"/>
              </a:buClr>
              <a:buSzPts val="2700"/>
              <a:buFont typeface="Calibri"/>
              <a:buNone/>
            </a:pPr>
            <a:r>
              <a:rPr b="1" i="0" lang="en-US" sz="2700" u="none" cap="none" strike="noStrike">
                <a:solidFill>
                  <a:srgbClr val="1D2A5C"/>
                </a:solidFill>
                <a:latin typeface="Calibri"/>
                <a:ea typeface="Calibri"/>
                <a:cs typeface="Calibri"/>
                <a:sym typeface="Calibri"/>
              </a:rPr>
              <a:t>Module 6 Benchmarks and Targets</a:t>
            </a:r>
            <a:endParaRPr b="0" i="0" sz="2700" u="none" cap="none" strike="noStrike">
              <a:solidFill>
                <a:schemeClr val="dk1"/>
              </a:solidFill>
              <a:latin typeface="Calibri"/>
              <a:ea typeface="Calibri"/>
              <a:cs typeface="Calibri"/>
              <a:sym typeface="Calibri"/>
            </a:endParaRPr>
          </a:p>
        </p:txBody>
      </p:sp>
      <p:sp>
        <p:nvSpPr>
          <p:cNvPr id="3386" name="Google Shape;3386;p122"/>
          <p:cNvSpPr/>
          <p:nvPr/>
        </p:nvSpPr>
        <p:spPr>
          <a:xfrm>
            <a:off x="502920" y="859536"/>
            <a:ext cx="9646920" cy="31089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F6B7A"/>
              </a:buClr>
              <a:buSzPts val="1250"/>
              <a:buFont typeface="Arial"/>
              <a:buNone/>
            </a:pPr>
            <a:r>
              <a:rPr b="0" i="0" lang="en-US" sz="1250" u="none" cap="none" strike="noStrike">
                <a:solidFill>
                  <a:srgbClr val="5F6B7A"/>
                </a:solidFill>
                <a:latin typeface="Arial"/>
                <a:ea typeface="Arial"/>
                <a:cs typeface="Arial"/>
                <a:sym typeface="Arial"/>
              </a:rPr>
              <a:t>معايير وأهداف الوحدة السادسة</a:t>
            </a:r>
            <a:endParaRPr b="0" i="0" sz="1250" u="none" cap="none" strike="noStrike">
              <a:solidFill>
                <a:schemeClr val="dk1"/>
              </a:solidFill>
              <a:latin typeface="Calibri"/>
              <a:ea typeface="Calibri"/>
              <a:cs typeface="Calibri"/>
              <a:sym typeface="Calibri"/>
            </a:endParaRPr>
          </a:p>
        </p:txBody>
      </p:sp>
      <p:pic>
        <p:nvPicPr>
          <p:cNvPr descr="/sessions/blissful-determined-ritchie/build/assets/sdaia_logo.png" id="3387" name="Google Shape;3387;p122"/>
          <p:cNvPicPr preferRelativeResize="0"/>
          <p:nvPr/>
        </p:nvPicPr>
        <p:blipFill rotWithShape="1">
          <a:blip r:embed="rId3">
            <a:alphaModFix/>
          </a:blip>
          <a:srcRect b="0" l="0" r="0" t="0"/>
          <a:stretch/>
        </p:blipFill>
        <p:spPr>
          <a:xfrm>
            <a:off x="10625328" y="310896"/>
            <a:ext cx="1078992" cy="264111"/>
          </a:xfrm>
          <a:prstGeom prst="rect">
            <a:avLst/>
          </a:prstGeom>
          <a:noFill/>
          <a:ln>
            <a:noFill/>
          </a:ln>
        </p:spPr>
      </p:pic>
      <p:sp>
        <p:nvSpPr>
          <p:cNvPr id="3388" name="Google Shape;3388;p122"/>
          <p:cNvSpPr/>
          <p:nvPr/>
        </p:nvSpPr>
        <p:spPr>
          <a:xfrm>
            <a:off x="502920" y="6528816"/>
            <a:ext cx="8686800"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A79D"/>
              </a:buClr>
              <a:buSzPts val="800"/>
              <a:buFont typeface="Calibri"/>
              <a:buNone/>
            </a:pPr>
            <a:r>
              <a:rPr b="1" i="0" lang="en-US" sz="800" u="none" cap="none" strike="noStrike">
                <a:solidFill>
                  <a:srgbClr val="00A79D"/>
                </a:solidFill>
                <a:latin typeface="Calibri"/>
                <a:ea typeface="Calibri"/>
                <a:cs typeface="Calibri"/>
                <a:sym typeface="Calibri"/>
              </a:rPr>
              <a:t>MODULE 6   </a:t>
            </a:r>
            <a:r>
              <a:rPr b="0" i="0" lang="en-US" sz="800" u="none" cap="none" strike="noStrike">
                <a:solidFill>
                  <a:srgbClr val="8A96A6"/>
                </a:solidFill>
                <a:latin typeface="Calibri"/>
                <a:ea typeface="Calibri"/>
                <a:cs typeface="Calibri"/>
                <a:sym typeface="Calibri"/>
              </a:rPr>
              <a:t>SDA-AIE-212 · Computer Vision Systems Development</a:t>
            </a:r>
            <a:endParaRPr b="0" i="0" sz="800" u="none" cap="none" strike="noStrike">
              <a:solidFill>
                <a:schemeClr val="dk1"/>
              </a:solidFill>
              <a:latin typeface="Calibri"/>
              <a:ea typeface="Calibri"/>
              <a:cs typeface="Calibri"/>
              <a:sym typeface="Calibri"/>
            </a:endParaRPr>
          </a:p>
        </p:txBody>
      </p:sp>
      <p:sp>
        <p:nvSpPr>
          <p:cNvPr id="3389" name="Google Shape;3389;p122"/>
          <p:cNvSpPr/>
          <p:nvPr/>
        </p:nvSpPr>
        <p:spPr>
          <a:xfrm>
            <a:off x="11292840" y="6528816"/>
            <a:ext cx="411480" cy="219456"/>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8A96A6"/>
              </a:buClr>
              <a:buSzPts val="900"/>
              <a:buFont typeface="Calibri"/>
              <a:buNone/>
            </a:pPr>
            <a:r>
              <a:rPr b="0" i="0" lang="en-US" sz="900" u="none" cap="none" strike="noStrike">
                <a:solidFill>
                  <a:srgbClr val="8A96A6"/>
                </a:solidFill>
                <a:latin typeface="Calibri"/>
                <a:ea typeface="Calibri"/>
                <a:cs typeface="Calibri"/>
                <a:sym typeface="Calibri"/>
              </a:rPr>
              <a:t>122</a:t>
            </a:r>
            <a:endParaRPr b="0" i="0" sz="900" u="none" cap="none" strike="noStrike">
              <a:solidFill>
                <a:schemeClr val="dk1"/>
              </a:solidFill>
              <a:latin typeface="Calibri"/>
              <a:ea typeface="Calibri"/>
              <a:cs typeface="Calibri"/>
              <a:sym typeface="Calibri"/>
            </a:endParaRPr>
          </a:p>
        </p:txBody>
      </p:sp>
      <p:graphicFrame>
        <p:nvGraphicFramePr>
          <p:cNvPr id="3390" name="Google Shape;3390;p122"/>
          <p:cNvGraphicFramePr/>
          <p:nvPr/>
        </p:nvGraphicFramePr>
        <p:xfrm>
          <a:off x="502920" y="1389888"/>
          <a:ext cx="3000000" cy="3000000"/>
        </p:xfrm>
        <a:graphic>
          <a:graphicData uri="http://schemas.openxmlformats.org/drawingml/2006/table">
            <a:tbl>
              <a:tblPr>
                <a:noFill/>
                <a:tableStyleId>{F80342BA-3033-44D6-9F91-622DC7A4C435}</a:tableStyleId>
              </a:tblPr>
              <a:tblGrid>
                <a:gridCol w="4187575"/>
                <a:gridCol w="3992700"/>
                <a:gridCol w="3005600"/>
              </a:tblGrid>
              <a:tr h="696250">
                <a:tc>
                  <a:txBody>
                    <a:bodyPr/>
                    <a:lstStyle/>
                    <a:p>
                      <a:pPr indent="0" lvl="0" marL="0" marR="0" rtl="0" algn="l">
                        <a:spcBef>
                          <a:spcPts val="0"/>
                        </a:spcBef>
                        <a:spcAft>
                          <a:spcPts val="0"/>
                        </a:spcAft>
                        <a:buClr>
                          <a:srgbClr val="FFFFFF"/>
                        </a:buClr>
                        <a:buSzPts val="1050"/>
                        <a:buFont typeface="Calibri"/>
                        <a:buNone/>
                      </a:pPr>
                      <a:r>
                        <a:rPr b="1" lang="en-US" sz="1050" u="none" cap="none" strike="noStrike">
                          <a:solidFill>
                            <a:srgbClr val="FFFFFF"/>
                          </a:solidFill>
                          <a:latin typeface="Calibri"/>
                          <a:ea typeface="Calibri"/>
                          <a:cs typeface="Calibri"/>
                          <a:sym typeface="Calibri"/>
                        </a:rPr>
                        <a:t>Metric</a:t>
                      </a:r>
                      <a:endParaRPr sz="1050" u="none" cap="none" strike="noStrike">
                        <a:latin typeface="Calibri"/>
                        <a:ea typeface="Calibri"/>
                        <a:cs typeface="Calibri"/>
                        <a:sym typeface="Calibri"/>
                      </a:endParaRPr>
                    </a:p>
                  </a:txBody>
                  <a:tcPr marT="64000" marB="64000" marR="64000" marL="64000" anchor="ctr">
                    <a:lnL cap="flat" cmpd="sng" w="9525">
                      <a:solidFill>
                        <a:srgbClr val="D9E2EA"/>
                      </a:solidFill>
                      <a:prstDash val="solid"/>
                      <a:round/>
                      <a:headEnd len="sm" w="sm" type="none"/>
                      <a:tailEnd len="sm" w="sm" type="none"/>
                    </a:lnL>
                    <a:lnR cap="flat" cmpd="sng" w="9525">
                      <a:solidFill>
                        <a:srgbClr val="D9E2EA"/>
                      </a:solidFill>
                      <a:prstDash val="solid"/>
                      <a:round/>
                      <a:headEnd len="sm" w="sm" type="none"/>
                      <a:tailEnd len="sm" w="sm" type="none"/>
                    </a:lnR>
                    <a:lnT cap="flat" cmpd="sng" w="9525">
                      <a:solidFill>
                        <a:srgbClr val="D9E2EA"/>
                      </a:solidFill>
                      <a:prstDash val="solid"/>
                      <a:round/>
                      <a:headEnd len="sm" w="sm" type="none"/>
                      <a:tailEnd len="sm" w="sm" type="none"/>
                    </a:lnT>
                    <a:lnB cap="flat" cmpd="sng" w="9525">
                      <a:solidFill>
                        <a:srgbClr val="D9E2EA"/>
                      </a:solidFill>
                      <a:prstDash val="solid"/>
                      <a:round/>
                      <a:headEnd len="sm" w="sm" type="none"/>
                      <a:tailEnd len="sm" w="sm" type="none"/>
                    </a:lnB>
                    <a:solidFill>
                      <a:srgbClr val="1D2A5C"/>
                    </a:solidFill>
                  </a:tcPr>
                </a:tc>
                <a:tc>
                  <a:txBody>
                    <a:bodyPr/>
                    <a:lstStyle/>
                    <a:p>
                      <a:pPr indent="0" lvl="0" marL="0" marR="0" rtl="0" algn="l">
                        <a:spcBef>
                          <a:spcPts val="0"/>
                        </a:spcBef>
                        <a:spcAft>
                          <a:spcPts val="0"/>
                        </a:spcAft>
                        <a:buClr>
                          <a:srgbClr val="FFFFFF"/>
                        </a:buClr>
                        <a:buSzPts val="1050"/>
                        <a:buFont typeface="Calibri"/>
                        <a:buNone/>
                      </a:pPr>
                      <a:r>
                        <a:rPr b="1" lang="en-US" sz="1050" u="none" cap="none" strike="noStrike">
                          <a:solidFill>
                            <a:srgbClr val="FFFFFF"/>
                          </a:solidFill>
                          <a:latin typeface="Calibri"/>
                          <a:ea typeface="Calibri"/>
                          <a:cs typeface="Calibri"/>
                          <a:sym typeface="Calibri"/>
                        </a:rPr>
                        <a:t>Target after M6</a:t>
                      </a:r>
                      <a:endParaRPr sz="1050" u="none" cap="none" strike="noStrike">
                        <a:latin typeface="Calibri"/>
                        <a:ea typeface="Calibri"/>
                        <a:cs typeface="Calibri"/>
                        <a:sym typeface="Calibri"/>
                      </a:endParaRPr>
                    </a:p>
                  </a:txBody>
                  <a:tcPr marT="64000" marB="64000" marR="64000" marL="64000" anchor="ctr">
                    <a:lnL cap="flat" cmpd="sng" w="9525">
                      <a:solidFill>
                        <a:srgbClr val="D9E2EA"/>
                      </a:solidFill>
                      <a:prstDash val="solid"/>
                      <a:round/>
                      <a:headEnd len="sm" w="sm" type="none"/>
                      <a:tailEnd len="sm" w="sm" type="none"/>
                    </a:lnL>
                    <a:lnR cap="flat" cmpd="sng" w="9525">
                      <a:solidFill>
                        <a:srgbClr val="D9E2EA"/>
                      </a:solidFill>
                      <a:prstDash val="solid"/>
                      <a:round/>
                      <a:headEnd len="sm" w="sm" type="none"/>
                      <a:tailEnd len="sm" w="sm" type="none"/>
                    </a:lnR>
                    <a:lnT cap="flat" cmpd="sng" w="9525">
                      <a:solidFill>
                        <a:srgbClr val="D9E2EA"/>
                      </a:solidFill>
                      <a:prstDash val="solid"/>
                      <a:round/>
                      <a:headEnd len="sm" w="sm" type="none"/>
                      <a:tailEnd len="sm" w="sm" type="none"/>
                    </a:lnT>
                    <a:lnB cap="flat" cmpd="sng" w="9525">
                      <a:solidFill>
                        <a:srgbClr val="D9E2EA"/>
                      </a:solidFill>
                      <a:prstDash val="solid"/>
                      <a:round/>
                      <a:headEnd len="sm" w="sm" type="none"/>
                      <a:tailEnd len="sm" w="sm" type="none"/>
                    </a:lnB>
                    <a:solidFill>
                      <a:srgbClr val="1D2A5C"/>
                    </a:solidFill>
                  </a:tcPr>
                </a:tc>
                <a:tc>
                  <a:txBody>
                    <a:bodyPr/>
                    <a:lstStyle/>
                    <a:p>
                      <a:pPr indent="0" lvl="0" marL="0" marR="0" rtl="0" algn="l">
                        <a:spcBef>
                          <a:spcPts val="0"/>
                        </a:spcBef>
                        <a:spcAft>
                          <a:spcPts val="0"/>
                        </a:spcAft>
                        <a:buClr>
                          <a:srgbClr val="FFFFFF"/>
                        </a:buClr>
                        <a:buSzPts val="1050"/>
                        <a:buFont typeface="Calibri"/>
                        <a:buNone/>
                      </a:pPr>
                      <a:r>
                        <a:rPr b="1" lang="en-US" sz="1050" u="none" cap="none" strike="noStrike">
                          <a:solidFill>
                            <a:srgbClr val="FFFFFF"/>
                          </a:solidFill>
                          <a:latin typeface="Calibri"/>
                          <a:ea typeface="Calibri"/>
                          <a:cs typeface="Calibri"/>
                          <a:sym typeface="Calibri"/>
                        </a:rPr>
                        <a:t>How measured</a:t>
                      </a:r>
                      <a:endParaRPr sz="1050" u="none" cap="none" strike="noStrike">
                        <a:latin typeface="Calibri"/>
                        <a:ea typeface="Calibri"/>
                        <a:cs typeface="Calibri"/>
                        <a:sym typeface="Calibri"/>
                      </a:endParaRPr>
                    </a:p>
                  </a:txBody>
                  <a:tcPr marT="64000" marB="64000" marR="64000" marL="64000" anchor="ctr">
                    <a:lnL cap="flat" cmpd="sng" w="9525">
                      <a:solidFill>
                        <a:srgbClr val="D9E2EA"/>
                      </a:solidFill>
                      <a:prstDash val="solid"/>
                      <a:round/>
                      <a:headEnd len="sm" w="sm" type="none"/>
                      <a:tailEnd len="sm" w="sm" type="none"/>
                    </a:lnL>
                    <a:lnR cap="flat" cmpd="sng" w="9525">
                      <a:solidFill>
                        <a:srgbClr val="D9E2EA"/>
                      </a:solidFill>
                      <a:prstDash val="solid"/>
                      <a:round/>
                      <a:headEnd len="sm" w="sm" type="none"/>
                      <a:tailEnd len="sm" w="sm" type="none"/>
                    </a:lnR>
                    <a:lnT cap="flat" cmpd="sng" w="9525">
                      <a:solidFill>
                        <a:srgbClr val="D9E2EA"/>
                      </a:solidFill>
                      <a:prstDash val="solid"/>
                      <a:round/>
                      <a:headEnd len="sm" w="sm" type="none"/>
                      <a:tailEnd len="sm" w="sm" type="none"/>
                    </a:lnT>
                    <a:lnB cap="flat" cmpd="sng" w="9525">
                      <a:solidFill>
                        <a:srgbClr val="D9E2EA"/>
                      </a:solidFill>
                      <a:prstDash val="solid"/>
                      <a:round/>
                      <a:headEnd len="sm" w="sm" type="none"/>
                      <a:tailEnd len="sm" w="sm" type="none"/>
                    </a:lnB>
                    <a:solidFill>
                      <a:srgbClr val="1D2A5C"/>
                    </a:solidFill>
                  </a:tcPr>
                </a:tc>
              </a:tr>
              <a:tr h="696250">
                <a:tc>
                  <a:txBody>
                    <a:bodyPr/>
                    <a:lstStyle/>
                    <a:p>
                      <a:pPr indent="0" lvl="0" marL="0" marR="0" rtl="0" algn="l">
                        <a:spcBef>
                          <a:spcPts val="0"/>
                        </a:spcBef>
                        <a:spcAft>
                          <a:spcPts val="0"/>
                        </a:spcAft>
                        <a:buClr>
                          <a:srgbClr val="1D2A5C"/>
                        </a:buClr>
                        <a:buSzPts val="1050"/>
                        <a:buFont typeface="Calibri"/>
                        <a:buNone/>
                      </a:pPr>
                      <a:r>
                        <a:rPr b="1" lang="en-US" sz="1050" u="none" cap="none" strike="noStrike">
                          <a:solidFill>
                            <a:srgbClr val="1D2A5C"/>
                          </a:solidFill>
                          <a:latin typeface="Calibri"/>
                          <a:ea typeface="Calibri"/>
                          <a:cs typeface="Calibri"/>
                          <a:sym typeface="Calibri"/>
                        </a:rPr>
                        <a:t>Matching + AP unit tests</a:t>
                      </a:r>
                      <a:endParaRPr sz="1050" u="none" cap="none" strike="noStrike">
                        <a:latin typeface="Calibri"/>
                        <a:ea typeface="Calibri"/>
                        <a:cs typeface="Calibri"/>
                        <a:sym typeface="Calibri"/>
                      </a:endParaRPr>
                    </a:p>
                  </a:txBody>
                  <a:tcPr marT="64000" marB="64000" marR="64000" marL="64000" anchor="ctr">
                    <a:lnL cap="flat" cmpd="sng" w="9525">
                      <a:solidFill>
                        <a:srgbClr val="D9E2EA"/>
                      </a:solidFill>
                      <a:prstDash val="solid"/>
                      <a:round/>
                      <a:headEnd len="sm" w="sm" type="none"/>
                      <a:tailEnd len="sm" w="sm" type="none"/>
                    </a:lnL>
                    <a:lnR cap="flat" cmpd="sng" w="9525">
                      <a:solidFill>
                        <a:srgbClr val="D9E2EA"/>
                      </a:solidFill>
                      <a:prstDash val="solid"/>
                      <a:round/>
                      <a:headEnd len="sm" w="sm" type="none"/>
                      <a:tailEnd len="sm" w="sm" type="none"/>
                    </a:lnR>
                    <a:lnT cap="flat" cmpd="sng" w="9525">
                      <a:solidFill>
                        <a:srgbClr val="D9E2EA"/>
                      </a:solidFill>
                      <a:prstDash val="solid"/>
                      <a:round/>
                      <a:headEnd len="sm" w="sm" type="none"/>
                      <a:tailEnd len="sm" w="sm" type="none"/>
                    </a:lnT>
                    <a:lnB cap="flat" cmpd="sng" w="9525">
                      <a:solidFill>
                        <a:srgbClr val="D9E2EA"/>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23293B"/>
                        </a:buClr>
                        <a:buSzPts val="1050"/>
                        <a:buFont typeface="Calibri"/>
                        <a:buNone/>
                      </a:pPr>
                      <a:r>
                        <a:rPr lang="en-US" sz="1050" u="none" cap="none" strike="noStrike">
                          <a:solidFill>
                            <a:srgbClr val="23293B"/>
                          </a:solidFill>
                          <a:latin typeface="Calibri"/>
                          <a:ea typeface="Calibri"/>
                          <a:cs typeface="Calibri"/>
                          <a:sym typeface="Calibri"/>
                        </a:rPr>
                        <a:t>12/12 passing</a:t>
                      </a:r>
                      <a:endParaRPr sz="1050" u="none" cap="none" strike="noStrike">
                        <a:latin typeface="Calibri"/>
                        <a:ea typeface="Calibri"/>
                        <a:cs typeface="Calibri"/>
                        <a:sym typeface="Calibri"/>
                      </a:endParaRPr>
                    </a:p>
                  </a:txBody>
                  <a:tcPr marT="64000" marB="64000" marR="64000" marL="64000" anchor="ctr">
                    <a:lnL cap="flat" cmpd="sng" w="9525">
                      <a:solidFill>
                        <a:srgbClr val="D9E2EA"/>
                      </a:solidFill>
                      <a:prstDash val="solid"/>
                      <a:round/>
                      <a:headEnd len="sm" w="sm" type="none"/>
                      <a:tailEnd len="sm" w="sm" type="none"/>
                    </a:lnL>
                    <a:lnR cap="flat" cmpd="sng" w="9525">
                      <a:solidFill>
                        <a:srgbClr val="D9E2EA"/>
                      </a:solidFill>
                      <a:prstDash val="solid"/>
                      <a:round/>
                      <a:headEnd len="sm" w="sm" type="none"/>
                      <a:tailEnd len="sm" w="sm" type="none"/>
                    </a:lnR>
                    <a:lnT cap="flat" cmpd="sng" w="9525">
                      <a:solidFill>
                        <a:srgbClr val="D9E2EA"/>
                      </a:solidFill>
                      <a:prstDash val="solid"/>
                      <a:round/>
                      <a:headEnd len="sm" w="sm" type="none"/>
                      <a:tailEnd len="sm" w="sm" type="none"/>
                    </a:lnT>
                    <a:lnB cap="flat" cmpd="sng" w="9525">
                      <a:solidFill>
                        <a:srgbClr val="D9E2EA"/>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23293B"/>
                        </a:buClr>
                        <a:buSzPts val="1050"/>
                        <a:buFont typeface="Calibri"/>
                        <a:buNone/>
                      </a:pPr>
                      <a:r>
                        <a:rPr lang="en-US" sz="1050" u="none" cap="none" strike="noStrike">
                          <a:solidFill>
                            <a:srgbClr val="23293B"/>
                          </a:solidFill>
                          <a:latin typeface="Calibri"/>
                          <a:ea typeface="Calibri"/>
                          <a:cs typeface="Calibri"/>
                          <a:sym typeface="Calibri"/>
                        </a:rPr>
                        <a:t>pytest</a:t>
                      </a:r>
                      <a:endParaRPr sz="1050" u="none" cap="none" strike="noStrike">
                        <a:latin typeface="Calibri"/>
                        <a:ea typeface="Calibri"/>
                        <a:cs typeface="Calibri"/>
                        <a:sym typeface="Calibri"/>
                      </a:endParaRPr>
                    </a:p>
                  </a:txBody>
                  <a:tcPr marT="64000" marB="64000" marR="64000" marL="64000" anchor="ctr">
                    <a:lnL cap="flat" cmpd="sng" w="9525">
                      <a:solidFill>
                        <a:srgbClr val="D9E2EA"/>
                      </a:solidFill>
                      <a:prstDash val="solid"/>
                      <a:round/>
                      <a:headEnd len="sm" w="sm" type="none"/>
                      <a:tailEnd len="sm" w="sm" type="none"/>
                    </a:lnL>
                    <a:lnR cap="flat" cmpd="sng" w="9525">
                      <a:solidFill>
                        <a:srgbClr val="D9E2EA"/>
                      </a:solidFill>
                      <a:prstDash val="solid"/>
                      <a:round/>
                      <a:headEnd len="sm" w="sm" type="none"/>
                      <a:tailEnd len="sm" w="sm" type="none"/>
                    </a:lnR>
                    <a:lnT cap="flat" cmpd="sng" w="9525">
                      <a:solidFill>
                        <a:srgbClr val="D9E2EA"/>
                      </a:solidFill>
                      <a:prstDash val="solid"/>
                      <a:round/>
                      <a:headEnd len="sm" w="sm" type="none"/>
                      <a:tailEnd len="sm" w="sm" type="none"/>
                    </a:lnT>
                    <a:lnB cap="flat" cmpd="sng" w="9525">
                      <a:solidFill>
                        <a:srgbClr val="D9E2EA"/>
                      </a:solidFill>
                      <a:prstDash val="solid"/>
                      <a:round/>
                      <a:headEnd len="sm" w="sm" type="none"/>
                      <a:tailEnd len="sm" w="sm" type="none"/>
                    </a:lnB>
                    <a:solidFill>
                      <a:srgbClr val="FFFFFF"/>
                    </a:solidFill>
                  </a:tcPr>
                </a:tc>
              </a:tr>
              <a:tr h="696250">
                <a:tc>
                  <a:txBody>
                    <a:bodyPr/>
                    <a:lstStyle/>
                    <a:p>
                      <a:pPr indent="0" lvl="0" marL="0" marR="0" rtl="0" algn="l">
                        <a:spcBef>
                          <a:spcPts val="0"/>
                        </a:spcBef>
                        <a:spcAft>
                          <a:spcPts val="0"/>
                        </a:spcAft>
                        <a:buClr>
                          <a:srgbClr val="1D2A5C"/>
                        </a:buClr>
                        <a:buSzPts val="1050"/>
                        <a:buFont typeface="Calibri"/>
                        <a:buNone/>
                      </a:pPr>
                      <a:r>
                        <a:rPr b="1" lang="en-US" sz="1050" u="none" cap="none" strike="noStrike">
                          <a:solidFill>
                            <a:srgbClr val="1D2A5C"/>
                          </a:solidFill>
                          <a:latin typeface="Calibri"/>
                          <a:ea typeface="Calibri"/>
                          <a:cs typeface="Calibri"/>
                          <a:sym typeface="Calibri"/>
                        </a:rPr>
                        <a:t>AP agreement vs framework</a:t>
                      </a:r>
                      <a:endParaRPr sz="1050" u="none" cap="none" strike="noStrike">
                        <a:latin typeface="Calibri"/>
                        <a:ea typeface="Calibri"/>
                        <a:cs typeface="Calibri"/>
                        <a:sym typeface="Calibri"/>
                      </a:endParaRPr>
                    </a:p>
                  </a:txBody>
                  <a:tcPr marT="64000" marB="64000" marR="64000" marL="64000" anchor="ctr">
                    <a:lnL cap="flat" cmpd="sng" w="9525">
                      <a:solidFill>
                        <a:srgbClr val="D9E2EA"/>
                      </a:solidFill>
                      <a:prstDash val="solid"/>
                      <a:round/>
                      <a:headEnd len="sm" w="sm" type="none"/>
                      <a:tailEnd len="sm" w="sm" type="none"/>
                    </a:lnL>
                    <a:lnR cap="flat" cmpd="sng" w="9525">
                      <a:solidFill>
                        <a:srgbClr val="D9E2EA"/>
                      </a:solidFill>
                      <a:prstDash val="solid"/>
                      <a:round/>
                      <a:headEnd len="sm" w="sm" type="none"/>
                      <a:tailEnd len="sm" w="sm" type="none"/>
                    </a:lnR>
                    <a:lnT cap="flat" cmpd="sng" w="9525">
                      <a:solidFill>
                        <a:srgbClr val="D9E2EA"/>
                      </a:solidFill>
                      <a:prstDash val="solid"/>
                      <a:round/>
                      <a:headEnd len="sm" w="sm" type="none"/>
                      <a:tailEnd len="sm" w="sm" type="none"/>
                    </a:lnT>
                    <a:lnB cap="flat" cmpd="sng" w="9525">
                      <a:solidFill>
                        <a:srgbClr val="D9E2EA"/>
                      </a:solidFill>
                      <a:prstDash val="solid"/>
                      <a:round/>
                      <a:headEnd len="sm" w="sm" type="none"/>
                      <a:tailEnd len="sm" w="sm" type="none"/>
                    </a:lnB>
                    <a:solidFill>
                      <a:srgbClr val="F2F6F9"/>
                    </a:solidFill>
                  </a:tcPr>
                </a:tc>
                <a:tc>
                  <a:txBody>
                    <a:bodyPr/>
                    <a:lstStyle/>
                    <a:p>
                      <a:pPr indent="0" lvl="0" marL="0" marR="0" rtl="0" algn="l">
                        <a:spcBef>
                          <a:spcPts val="0"/>
                        </a:spcBef>
                        <a:spcAft>
                          <a:spcPts val="0"/>
                        </a:spcAft>
                        <a:buClr>
                          <a:srgbClr val="23293B"/>
                        </a:buClr>
                        <a:buSzPts val="1050"/>
                        <a:buFont typeface="Calibri"/>
                        <a:buNone/>
                      </a:pPr>
                      <a:r>
                        <a:rPr lang="en-US" sz="1050" u="none" cap="none" strike="noStrike">
                          <a:solidFill>
                            <a:srgbClr val="23293B"/>
                          </a:solidFill>
                          <a:latin typeface="Calibri"/>
                          <a:ea typeface="Calibri"/>
                          <a:cs typeface="Calibri"/>
                          <a:sym typeface="Calibri"/>
                        </a:rPr>
                        <a:t>within ±0.005 per class</a:t>
                      </a:r>
                      <a:endParaRPr sz="1050" u="none" cap="none" strike="noStrike">
                        <a:latin typeface="Calibri"/>
                        <a:ea typeface="Calibri"/>
                        <a:cs typeface="Calibri"/>
                        <a:sym typeface="Calibri"/>
                      </a:endParaRPr>
                    </a:p>
                  </a:txBody>
                  <a:tcPr marT="64000" marB="64000" marR="64000" marL="64000" anchor="ctr">
                    <a:lnL cap="flat" cmpd="sng" w="9525">
                      <a:solidFill>
                        <a:srgbClr val="D9E2EA"/>
                      </a:solidFill>
                      <a:prstDash val="solid"/>
                      <a:round/>
                      <a:headEnd len="sm" w="sm" type="none"/>
                      <a:tailEnd len="sm" w="sm" type="none"/>
                    </a:lnL>
                    <a:lnR cap="flat" cmpd="sng" w="9525">
                      <a:solidFill>
                        <a:srgbClr val="D9E2EA"/>
                      </a:solidFill>
                      <a:prstDash val="solid"/>
                      <a:round/>
                      <a:headEnd len="sm" w="sm" type="none"/>
                      <a:tailEnd len="sm" w="sm" type="none"/>
                    </a:lnR>
                    <a:lnT cap="flat" cmpd="sng" w="9525">
                      <a:solidFill>
                        <a:srgbClr val="D9E2EA"/>
                      </a:solidFill>
                      <a:prstDash val="solid"/>
                      <a:round/>
                      <a:headEnd len="sm" w="sm" type="none"/>
                      <a:tailEnd len="sm" w="sm" type="none"/>
                    </a:lnT>
                    <a:lnB cap="flat" cmpd="sng" w="9525">
                      <a:solidFill>
                        <a:srgbClr val="D9E2EA"/>
                      </a:solidFill>
                      <a:prstDash val="solid"/>
                      <a:round/>
                      <a:headEnd len="sm" w="sm" type="none"/>
                      <a:tailEnd len="sm" w="sm" type="none"/>
                    </a:lnB>
                    <a:solidFill>
                      <a:srgbClr val="F2F6F9"/>
                    </a:solidFill>
                  </a:tcPr>
                </a:tc>
                <a:tc>
                  <a:txBody>
                    <a:bodyPr/>
                    <a:lstStyle/>
                    <a:p>
                      <a:pPr indent="0" lvl="0" marL="0" marR="0" rtl="0" algn="l">
                        <a:spcBef>
                          <a:spcPts val="0"/>
                        </a:spcBef>
                        <a:spcAft>
                          <a:spcPts val="0"/>
                        </a:spcAft>
                        <a:buClr>
                          <a:srgbClr val="23293B"/>
                        </a:buClr>
                        <a:buSzPts val="1050"/>
                        <a:buFont typeface="Calibri"/>
                        <a:buNone/>
                      </a:pPr>
                      <a:r>
                        <a:rPr lang="en-US" sz="1050" u="none" cap="none" strike="noStrike">
                          <a:solidFill>
                            <a:srgbClr val="23293B"/>
                          </a:solidFill>
                          <a:latin typeface="Calibri"/>
                          <a:ea typeface="Calibri"/>
                          <a:cs typeface="Calibri"/>
                          <a:sym typeface="Calibri"/>
                        </a:rPr>
                        <a:t>validation script</a:t>
                      </a:r>
                      <a:endParaRPr sz="1050" u="none" cap="none" strike="noStrike">
                        <a:latin typeface="Calibri"/>
                        <a:ea typeface="Calibri"/>
                        <a:cs typeface="Calibri"/>
                        <a:sym typeface="Calibri"/>
                      </a:endParaRPr>
                    </a:p>
                  </a:txBody>
                  <a:tcPr marT="64000" marB="64000" marR="64000" marL="64000" anchor="ctr">
                    <a:lnL cap="flat" cmpd="sng" w="9525">
                      <a:solidFill>
                        <a:srgbClr val="D9E2EA"/>
                      </a:solidFill>
                      <a:prstDash val="solid"/>
                      <a:round/>
                      <a:headEnd len="sm" w="sm" type="none"/>
                      <a:tailEnd len="sm" w="sm" type="none"/>
                    </a:lnL>
                    <a:lnR cap="flat" cmpd="sng" w="9525">
                      <a:solidFill>
                        <a:srgbClr val="D9E2EA"/>
                      </a:solidFill>
                      <a:prstDash val="solid"/>
                      <a:round/>
                      <a:headEnd len="sm" w="sm" type="none"/>
                      <a:tailEnd len="sm" w="sm" type="none"/>
                    </a:lnR>
                    <a:lnT cap="flat" cmpd="sng" w="9525">
                      <a:solidFill>
                        <a:srgbClr val="D9E2EA"/>
                      </a:solidFill>
                      <a:prstDash val="solid"/>
                      <a:round/>
                      <a:headEnd len="sm" w="sm" type="none"/>
                      <a:tailEnd len="sm" w="sm" type="none"/>
                    </a:lnT>
                    <a:lnB cap="flat" cmpd="sng" w="9525">
                      <a:solidFill>
                        <a:srgbClr val="D9E2EA"/>
                      </a:solidFill>
                      <a:prstDash val="solid"/>
                      <a:round/>
                      <a:headEnd len="sm" w="sm" type="none"/>
                      <a:tailEnd len="sm" w="sm" type="none"/>
                    </a:lnB>
                    <a:solidFill>
                      <a:srgbClr val="F2F6F9"/>
                    </a:solidFill>
                  </a:tcPr>
                </a:tc>
              </a:tr>
              <a:tr h="696250">
                <a:tc>
                  <a:txBody>
                    <a:bodyPr/>
                    <a:lstStyle/>
                    <a:p>
                      <a:pPr indent="0" lvl="0" marL="0" marR="0" rtl="0" algn="l">
                        <a:spcBef>
                          <a:spcPts val="0"/>
                        </a:spcBef>
                        <a:spcAft>
                          <a:spcPts val="0"/>
                        </a:spcAft>
                        <a:buClr>
                          <a:srgbClr val="1D2A5C"/>
                        </a:buClr>
                        <a:buSzPts val="1050"/>
                        <a:buFont typeface="Calibri"/>
                        <a:buNone/>
                      </a:pPr>
                      <a:r>
                        <a:rPr b="1" lang="en-US" sz="1050" u="none" cap="none" strike="noStrike">
                          <a:solidFill>
                            <a:srgbClr val="1D2A5C"/>
                          </a:solidFill>
                          <a:latin typeface="Calibri"/>
                          <a:ea typeface="Calibri"/>
                          <a:cs typeface="Calibri"/>
                          <a:sym typeface="Calibri"/>
                        </a:rPr>
                        <a:t>Harness determinism</a:t>
                      </a:r>
                      <a:endParaRPr sz="1050" u="none" cap="none" strike="noStrike">
                        <a:latin typeface="Calibri"/>
                        <a:ea typeface="Calibri"/>
                        <a:cs typeface="Calibri"/>
                        <a:sym typeface="Calibri"/>
                      </a:endParaRPr>
                    </a:p>
                  </a:txBody>
                  <a:tcPr marT="64000" marB="64000" marR="64000" marL="64000" anchor="ctr">
                    <a:lnL cap="flat" cmpd="sng" w="9525">
                      <a:solidFill>
                        <a:srgbClr val="D9E2EA"/>
                      </a:solidFill>
                      <a:prstDash val="solid"/>
                      <a:round/>
                      <a:headEnd len="sm" w="sm" type="none"/>
                      <a:tailEnd len="sm" w="sm" type="none"/>
                    </a:lnL>
                    <a:lnR cap="flat" cmpd="sng" w="9525">
                      <a:solidFill>
                        <a:srgbClr val="D9E2EA"/>
                      </a:solidFill>
                      <a:prstDash val="solid"/>
                      <a:round/>
                      <a:headEnd len="sm" w="sm" type="none"/>
                      <a:tailEnd len="sm" w="sm" type="none"/>
                    </a:lnR>
                    <a:lnT cap="flat" cmpd="sng" w="9525">
                      <a:solidFill>
                        <a:srgbClr val="D9E2EA"/>
                      </a:solidFill>
                      <a:prstDash val="solid"/>
                      <a:round/>
                      <a:headEnd len="sm" w="sm" type="none"/>
                      <a:tailEnd len="sm" w="sm" type="none"/>
                    </a:lnT>
                    <a:lnB cap="flat" cmpd="sng" w="9525">
                      <a:solidFill>
                        <a:srgbClr val="D9E2EA"/>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23293B"/>
                        </a:buClr>
                        <a:buSzPts val="1050"/>
                        <a:buFont typeface="Calibri"/>
                        <a:buNone/>
                      </a:pPr>
                      <a:r>
                        <a:rPr lang="en-US" sz="1050" u="none" cap="none" strike="noStrike">
                          <a:solidFill>
                            <a:srgbClr val="23293B"/>
                          </a:solidFill>
                          <a:latin typeface="Calibri"/>
                          <a:ea typeface="Calibri"/>
                          <a:cs typeface="Calibri"/>
                          <a:sym typeface="Calibri"/>
                        </a:rPr>
                        <a:t>byte-identical repeat reports</a:t>
                      </a:r>
                      <a:endParaRPr sz="1050" u="none" cap="none" strike="noStrike">
                        <a:latin typeface="Calibri"/>
                        <a:ea typeface="Calibri"/>
                        <a:cs typeface="Calibri"/>
                        <a:sym typeface="Calibri"/>
                      </a:endParaRPr>
                    </a:p>
                  </a:txBody>
                  <a:tcPr marT="64000" marB="64000" marR="64000" marL="64000" anchor="ctr">
                    <a:lnL cap="flat" cmpd="sng" w="9525">
                      <a:solidFill>
                        <a:srgbClr val="D9E2EA"/>
                      </a:solidFill>
                      <a:prstDash val="solid"/>
                      <a:round/>
                      <a:headEnd len="sm" w="sm" type="none"/>
                      <a:tailEnd len="sm" w="sm" type="none"/>
                    </a:lnL>
                    <a:lnR cap="flat" cmpd="sng" w="9525">
                      <a:solidFill>
                        <a:srgbClr val="D9E2EA"/>
                      </a:solidFill>
                      <a:prstDash val="solid"/>
                      <a:round/>
                      <a:headEnd len="sm" w="sm" type="none"/>
                      <a:tailEnd len="sm" w="sm" type="none"/>
                    </a:lnR>
                    <a:lnT cap="flat" cmpd="sng" w="9525">
                      <a:solidFill>
                        <a:srgbClr val="D9E2EA"/>
                      </a:solidFill>
                      <a:prstDash val="solid"/>
                      <a:round/>
                      <a:headEnd len="sm" w="sm" type="none"/>
                      <a:tailEnd len="sm" w="sm" type="none"/>
                    </a:lnT>
                    <a:lnB cap="flat" cmpd="sng" w="9525">
                      <a:solidFill>
                        <a:srgbClr val="D9E2EA"/>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23293B"/>
                        </a:buClr>
                        <a:buSzPts val="1050"/>
                        <a:buFont typeface="Calibri"/>
                        <a:buNone/>
                      </a:pPr>
                      <a:r>
                        <a:rPr lang="en-US" sz="1050" u="none" cap="none" strike="noStrike">
                          <a:solidFill>
                            <a:srgbClr val="23293B"/>
                          </a:solidFill>
                          <a:latin typeface="Calibri"/>
                          <a:ea typeface="Calibri"/>
                          <a:cs typeface="Calibri"/>
                          <a:sym typeface="Calibri"/>
                        </a:rPr>
                        <a:t>diff</a:t>
                      </a:r>
                      <a:endParaRPr sz="1050" u="none" cap="none" strike="noStrike">
                        <a:latin typeface="Calibri"/>
                        <a:ea typeface="Calibri"/>
                        <a:cs typeface="Calibri"/>
                        <a:sym typeface="Calibri"/>
                      </a:endParaRPr>
                    </a:p>
                  </a:txBody>
                  <a:tcPr marT="64000" marB="64000" marR="64000" marL="64000" anchor="ctr">
                    <a:lnL cap="flat" cmpd="sng" w="9525">
                      <a:solidFill>
                        <a:srgbClr val="D9E2EA"/>
                      </a:solidFill>
                      <a:prstDash val="solid"/>
                      <a:round/>
                      <a:headEnd len="sm" w="sm" type="none"/>
                      <a:tailEnd len="sm" w="sm" type="none"/>
                    </a:lnL>
                    <a:lnR cap="flat" cmpd="sng" w="9525">
                      <a:solidFill>
                        <a:srgbClr val="D9E2EA"/>
                      </a:solidFill>
                      <a:prstDash val="solid"/>
                      <a:round/>
                      <a:headEnd len="sm" w="sm" type="none"/>
                      <a:tailEnd len="sm" w="sm" type="none"/>
                    </a:lnR>
                    <a:lnT cap="flat" cmpd="sng" w="9525">
                      <a:solidFill>
                        <a:srgbClr val="D9E2EA"/>
                      </a:solidFill>
                      <a:prstDash val="solid"/>
                      <a:round/>
                      <a:headEnd len="sm" w="sm" type="none"/>
                      <a:tailEnd len="sm" w="sm" type="none"/>
                    </a:lnT>
                    <a:lnB cap="flat" cmpd="sng" w="9525">
                      <a:solidFill>
                        <a:srgbClr val="D9E2EA"/>
                      </a:solidFill>
                      <a:prstDash val="solid"/>
                      <a:round/>
                      <a:headEnd len="sm" w="sm" type="none"/>
                      <a:tailEnd len="sm" w="sm" type="none"/>
                    </a:lnB>
                    <a:solidFill>
                      <a:srgbClr val="FFFFFF"/>
                    </a:solidFill>
                  </a:tcPr>
                </a:tc>
              </a:tr>
              <a:tr h="696250">
                <a:tc>
                  <a:txBody>
                    <a:bodyPr/>
                    <a:lstStyle/>
                    <a:p>
                      <a:pPr indent="0" lvl="0" marL="0" marR="0" rtl="0" algn="l">
                        <a:spcBef>
                          <a:spcPts val="0"/>
                        </a:spcBef>
                        <a:spcAft>
                          <a:spcPts val="0"/>
                        </a:spcAft>
                        <a:buClr>
                          <a:srgbClr val="1D2A5C"/>
                        </a:buClr>
                        <a:buSzPts val="1050"/>
                        <a:buFont typeface="Calibri"/>
                        <a:buNone/>
                      </a:pPr>
                      <a:r>
                        <a:rPr b="1" lang="en-US" sz="1050" u="none" cap="none" strike="noStrike">
                          <a:solidFill>
                            <a:srgbClr val="1D2A5C"/>
                          </a:solidFill>
                          <a:latin typeface="Calibri"/>
                          <a:ea typeface="Calibri"/>
                          <a:cs typeface="Calibri"/>
                          <a:sym typeface="Calibri"/>
                        </a:rPr>
                        <a:t>Worst-slice detection</a:t>
                      </a:r>
                      <a:endParaRPr sz="1050" u="none" cap="none" strike="noStrike">
                        <a:latin typeface="Calibri"/>
                        <a:ea typeface="Calibri"/>
                        <a:cs typeface="Calibri"/>
                        <a:sym typeface="Calibri"/>
                      </a:endParaRPr>
                    </a:p>
                  </a:txBody>
                  <a:tcPr marT="64000" marB="64000" marR="64000" marL="64000" anchor="ctr">
                    <a:lnL cap="flat" cmpd="sng" w="9525">
                      <a:solidFill>
                        <a:srgbClr val="D9E2EA"/>
                      </a:solidFill>
                      <a:prstDash val="solid"/>
                      <a:round/>
                      <a:headEnd len="sm" w="sm" type="none"/>
                      <a:tailEnd len="sm" w="sm" type="none"/>
                    </a:lnL>
                    <a:lnR cap="flat" cmpd="sng" w="9525">
                      <a:solidFill>
                        <a:srgbClr val="D9E2EA"/>
                      </a:solidFill>
                      <a:prstDash val="solid"/>
                      <a:round/>
                      <a:headEnd len="sm" w="sm" type="none"/>
                      <a:tailEnd len="sm" w="sm" type="none"/>
                    </a:lnR>
                    <a:lnT cap="flat" cmpd="sng" w="9525">
                      <a:solidFill>
                        <a:srgbClr val="D9E2EA"/>
                      </a:solidFill>
                      <a:prstDash val="solid"/>
                      <a:round/>
                      <a:headEnd len="sm" w="sm" type="none"/>
                      <a:tailEnd len="sm" w="sm" type="none"/>
                    </a:lnT>
                    <a:lnB cap="flat" cmpd="sng" w="9525">
                      <a:solidFill>
                        <a:srgbClr val="D9E2EA"/>
                      </a:solidFill>
                      <a:prstDash val="solid"/>
                      <a:round/>
                      <a:headEnd len="sm" w="sm" type="none"/>
                      <a:tailEnd len="sm" w="sm" type="none"/>
                    </a:lnB>
                    <a:solidFill>
                      <a:srgbClr val="F2F6F9"/>
                    </a:solidFill>
                  </a:tcPr>
                </a:tc>
                <a:tc>
                  <a:txBody>
                    <a:bodyPr/>
                    <a:lstStyle/>
                    <a:p>
                      <a:pPr indent="0" lvl="0" marL="0" marR="0" rtl="0" algn="l">
                        <a:spcBef>
                          <a:spcPts val="0"/>
                        </a:spcBef>
                        <a:spcAft>
                          <a:spcPts val="0"/>
                        </a:spcAft>
                        <a:buClr>
                          <a:srgbClr val="23293B"/>
                        </a:buClr>
                        <a:buSzPts val="1050"/>
                        <a:buFont typeface="Calibri"/>
                        <a:buNone/>
                      </a:pPr>
                      <a:r>
                        <a:rPr lang="en-US" sz="1050" u="none" cap="none" strike="noStrike">
                          <a:solidFill>
                            <a:srgbClr val="23293B"/>
                          </a:solidFill>
                          <a:latin typeface="Calibri"/>
                          <a:ea typeface="Calibri"/>
                          <a:cs typeface="Calibri"/>
                          <a:sym typeface="Calibri"/>
                        </a:rPr>
                        <a:t>s09 found and reported</a:t>
                      </a:r>
                      <a:endParaRPr sz="1050" u="none" cap="none" strike="noStrike">
                        <a:latin typeface="Calibri"/>
                        <a:ea typeface="Calibri"/>
                        <a:cs typeface="Calibri"/>
                        <a:sym typeface="Calibri"/>
                      </a:endParaRPr>
                    </a:p>
                  </a:txBody>
                  <a:tcPr marT="64000" marB="64000" marR="64000" marL="64000" anchor="ctr">
                    <a:lnL cap="flat" cmpd="sng" w="9525">
                      <a:solidFill>
                        <a:srgbClr val="D9E2EA"/>
                      </a:solidFill>
                      <a:prstDash val="solid"/>
                      <a:round/>
                      <a:headEnd len="sm" w="sm" type="none"/>
                      <a:tailEnd len="sm" w="sm" type="none"/>
                    </a:lnL>
                    <a:lnR cap="flat" cmpd="sng" w="9525">
                      <a:solidFill>
                        <a:srgbClr val="D9E2EA"/>
                      </a:solidFill>
                      <a:prstDash val="solid"/>
                      <a:round/>
                      <a:headEnd len="sm" w="sm" type="none"/>
                      <a:tailEnd len="sm" w="sm" type="none"/>
                    </a:lnR>
                    <a:lnT cap="flat" cmpd="sng" w="9525">
                      <a:solidFill>
                        <a:srgbClr val="D9E2EA"/>
                      </a:solidFill>
                      <a:prstDash val="solid"/>
                      <a:round/>
                      <a:headEnd len="sm" w="sm" type="none"/>
                      <a:tailEnd len="sm" w="sm" type="none"/>
                    </a:lnT>
                    <a:lnB cap="flat" cmpd="sng" w="9525">
                      <a:solidFill>
                        <a:srgbClr val="D9E2EA"/>
                      </a:solidFill>
                      <a:prstDash val="solid"/>
                      <a:round/>
                      <a:headEnd len="sm" w="sm" type="none"/>
                      <a:tailEnd len="sm" w="sm" type="none"/>
                    </a:lnB>
                    <a:solidFill>
                      <a:srgbClr val="F2F6F9"/>
                    </a:solidFill>
                  </a:tcPr>
                </a:tc>
                <a:tc>
                  <a:txBody>
                    <a:bodyPr/>
                    <a:lstStyle/>
                    <a:p>
                      <a:pPr indent="0" lvl="0" marL="0" marR="0" rtl="0" algn="l">
                        <a:spcBef>
                          <a:spcPts val="0"/>
                        </a:spcBef>
                        <a:spcAft>
                          <a:spcPts val="0"/>
                        </a:spcAft>
                        <a:buClr>
                          <a:srgbClr val="23293B"/>
                        </a:buClr>
                        <a:buSzPts val="1050"/>
                        <a:buFont typeface="Calibri"/>
                        <a:buNone/>
                      </a:pPr>
                      <a:r>
                        <a:rPr lang="en-US" sz="1050" u="none" cap="none" strike="noStrike">
                          <a:solidFill>
                            <a:srgbClr val="23293B"/>
                          </a:solidFill>
                          <a:latin typeface="Calibri"/>
                          <a:ea typeface="Calibri"/>
                          <a:cs typeface="Calibri"/>
                          <a:sym typeface="Calibri"/>
                        </a:rPr>
                        <a:t>BENCHMARKS.md</a:t>
                      </a:r>
                      <a:endParaRPr sz="1050" u="none" cap="none" strike="noStrike">
                        <a:latin typeface="Calibri"/>
                        <a:ea typeface="Calibri"/>
                        <a:cs typeface="Calibri"/>
                        <a:sym typeface="Calibri"/>
                      </a:endParaRPr>
                    </a:p>
                  </a:txBody>
                  <a:tcPr marT="64000" marB="64000" marR="64000" marL="64000" anchor="ctr">
                    <a:lnL cap="flat" cmpd="sng" w="9525">
                      <a:solidFill>
                        <a:srgbClr val="D9E2EA"/>
                      </a:solidFill>
                      <a:prstDash val="solid"/>
                      <a:round/>
                      <a:headEnd len="sm" w="sm" type="none"/>
                      <a:tailEnd len="sm" w="sm" type="none"/>
                    </a:lnL>
                    <a:lnR cap="flat" cmpd="sng" w="9525">
                      <a:solidFill>
                        <a:srgbClr val="D9E2EA"/>
                      </a:solidFill>
                      <a:prstDash val="solid"/>
                      <a:round/>
                      <a:headEnd len="sm" w="sm" type="none"/>
                      <a:tailEnd len="sm" w="sm" type="none"/>
                    </a:lnR>
                    <a:lnT cap="flat" cmpd="sng" w="9525">
                      <a:solidFill>
                        <a:srgbClr val="D9E2EA"/>
                      </a:solidFill>
                      <a:prstDash val="solid"/>
                      <a:round/>
                      <a:headEnd len="sm" w="sm" type="none"/>
                      <a:tailEnd len="sm" w="sm" type="none"/>
                    </a:lnT>
                    <a:lnB cap="flat" cmpd="sng" w="9525">
                      <a:solidFill>
                        <a:srgbClr val="D9E2EA"/>
                      </a:solidFill>
                      <a:prstDash val="solid"/>
                      <a:round/>
                      <a:headEnd len="sm" w="sm" type="none"/>
                      <a:tailEnd len="sm" w="sm" type="none"/>
                    </a:lnB>
                    <a:solidFill>
                      <a:srgbClr val="F2F6F9"/>
                    </a:solidFill>
                  </a:tcPr>
                </a:tc>
              </a:tr>
              <a:tr h="696250">
                <a:tc>
                  <a:txBody>
                    <a:bodyPr/>
                    <a:lstStyle/>
                    <a:p>
                      <a:pPr indent="0" lvl="0" marL="0" marR="0" rtl="0" algn="l">
                        <a:spcBef>
                          <a:spcPts val="0"/>
                        </a:spcBef>
                        <a:spcAft>
                          <a:spcPts val="0"/>
                        </a:spcAft>
                        <a:buClr>
                          <a:srgbClr val="1D2A5C"/>
                        </a:buClr>
                        <a:buSzPts val="1050"/>
                        <a:buFont typeface="Calibri"/>
                        <a:buNone/>
                      </a:pPr>
                      <a:r>
                        <a:rPr b="1" lang="en-US" sz="1050" u="none" cap="none" strike="noStrike">
                          <a:solidFill>
                            <a:srgbClr val="1D2A5C"/>
                          </a:solidFill>
                          <a:latin typeface="Calibri"/>
                          <a:ea typeface="Calibri"/>
                          <a:cs typeface="Calibri"/>
                          <a:sym typeface="Calibri"/>
                        </a:rPr>
                        <a:t>Error taxonomy + remediation plan</a:t>
                      </a:r>
                      <a:endParaRPr sz="1050" u="none" cap="none" strike="noStrike">
                        <a:latin typeface="Calibri"/>
                        <a:ea typeface="Calibri"/>
                        <a:cs typeface="Calibri"/>
                        <a:sym typeface="Calibri"/>
                      </a:endParaRPr>
                    </a:p>
                  </a:txBody>
                  <a:tcPr marT="64000" marB="64000" marR="64000" marL="64000" anchor="ctr">
                    <a:lnL cap="flat" cmpd="sng" w="9525">
                      <a:solidFill>
                        <a:srgbClr val="D9E2EA"/>
                      </a:solidFill>
                      <a:prstDash val="solid"/>
                      <a:round/>
                      <a:headEnd len="sm" w="sm" type="none"/>
                      <a:tailEnd len="sm" w="sm" type="none"/>
                    </a:lnL>
                    <a:lnR cap="flat" cmpd="sng" w="9525">
                      <a:solidFill>
                        <a:srgbClr val="D9E2EA"/>
                      </a:solidFill>
                      <a:prstDash val="solid"/>
                      <a:round/>
                      <a:headEnd len="sm" w="sm" type="none"/>
                      <a:tailEnd len="sm" w="sm" type="none"/>
                    </a:lnR>
                    <a:lnT cap="flat" cmpd="sng" w="9525">
                      <a:solidFill>
                        <a:srgbClr val="D9E2EA"/>
                      </a:solidFill>
                      <a:prstDash val="solid"/>
                      <a:round/>
                      <a:headEnd len="sm" w="sm" type="none"/>
                      <a:tailEnd len="sm" w="sm" type="none"/>
                    </a:lnT>
                    <a:lnB cap="flat" cmpd="sng" w="9525">
                      <a:solidFill>
                        <a:srgbClr val="D9E2EA"/>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23293B"/>
                        </a:buClr>
                        <a:buSzPts val="1050"/>
                        <a:buFont typeface="Calibri"/>
                        <a:buNone/>
                      </a:pPr>
                      <a:r>
                        <a:rPr lang="en-US" sz="1050" u="none" cap="none" strike="noStrike">
                          <a:solidFill>
                            <a:srgbClr val="23293B"/>
                          </a:solidFill>
                          <a:latin typeface="Calibri"/>
                          <a:ea typeface="Calibri"/>
                          <a:cs typeface="Calibri"/>
                          <a:sym typeface="Calibri"/>
                        </a:rPr>
                        <a:t>5-line ranked plan, costed</a:t>
                      </a:r>
                      <a:endParaRPr sz="1050" u="none" cap="none" strike="noStrike">
                        <a:latin typeface="Calibri"/>
                        <a:ea typeface="Calibri"/>
                        <a:cs typeface="Calibri"/>
                        <a:sym typeface="Calibri"/>
                      </a:endParaRPr>
                    </a:p>
                  </a:txBody>
                  <a:tcPr marT="64000" marB="64000" marR="64000" marL="64000" anchor="ctr">
                    <a:lnL cap="flat" cmpd="sng" w="9525">
                      <a:solidFill>
                        <a:srgbClr val="D9E2EA"/>
                      </a:solidFill>
                      <a:prstDash val="solid"/>
                      <a:round/>
                      <a:headEnd len="sm" w="sm" type="none"/>
                      <a:tailEnd len="sm" w="sm" type="none"/>
                    </a:lnL>
                    <a:lnR cap="flat" cmpd="sng" w="9525">
                      <a:solidFill>
                        <a:srgbClr val="D9E2EA"/>
                      </a:solidFill>
                      <a:prstDash val="solid"/>
                      <a:round/>
                      <a:headEnd len="sm" w="sm" type="none"/>
                      <a:tailEnd len="sm" w="sm" type="none"/>
                    </a:lnR>
                    <a:lnT cap="flat" cmpd="sng" w="9525">
                      <a:solidFill>
                        <a:srgbClr val="D9E2EA"/>
                      </a:solidFill>
                      <a:prstDash val="solid"/>
                      <a:round/>
                      <a:headEnd len="sm" w="sm" type="none"/>
                      <a:tailEnd len="sm" w="sm" type="none"/>
                    </a:lnT>
                    <a:lnB cap="flat" cmpd="sng" w="9525">
                      <a:solidFill>
                        <a:srgbClr val="D9E2EA"/>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23293B"/>
                        </a:buClr>
                        <a:buSzPts val="1050"/>
                        <a:buFont typeface="Calibri"/>
                        <a:buNone/>
                      </a:pPr>
                      <a:r>
                        <a:rPr lang="en-US" sz="1050" u="none" cap="none" strike="noStrike">
                          <a:solidFill>
                            <a:srgbClr val="23293B"/>
                          </a:solidFill>
                          <a:latin typeface="Calibri"/>
                          <a:ea typeface="Calibri"/>
                          <a:cs typeface="Calibri"/>
                          <a:sym typeface="Calibri"/>
                        </a:rPr>
                        <a:t>instructor review</a:t>
                      </a:r>
                      <a:endParaRPr sz="1050" u="none" cap="none" strike="noStrike">
                        <a:latin typeface="Calibri"/>
                        <a:ea typeface="Calibri"/>
                        <a:cs typeface="Calibri"/>
                        <a:sym typeface="Calibri"/>
                      </a:endParaRPr>
                    </a:p>
                  </a:txBody>
                  <a:tcPr marT="64000" marB="64000" marR="64000" marL="64000" anchor="ctr">
                    <a:lnL cap="flat" cmpd="sng" w="9525">
                      <a:solidFill>
                        <a:srgbClr val="D9E2EA"/>
                      </a:solidFill>
                      <a:prstDash val="solid"/>
                      <a:round/>
                      <a:headEnd len="sm" w="sm" type="none"/>
                      <a:tailEnd len="sm" w="sm" type="none"/>
                    </a:lnL>
                    <a:lnR cap="flat" cmpd="sng" w="9525">
                      <a:solidFill>
                        <a:srgbClr val="D9E2EA"/>
                      </a:solidFill>
                      <a:prstDash val="solid"/>
                      <a:round/>
                      <a:headEnd len="sm" w="sm" type="none"/>
                      <a:tailEnd len="sm" w="sm" type="none"/>
                    </a:lnR>
                    <a:lnT cap="flat" cmpd="sng" w="9525">
                      <a:solidFill>
                        <a:srgbClr val="D9E2EA"/>
                      </a:solidFill>
                      <a:prstDash val="solid"/>
                      <a:round/>
                      <a:headEnd len="sm" w="sm" type="none"/>
                      <a:tailEnd len="sm" w="sm" type="none"/>
                    </a:lnT>
                    <a:lnB cap="flat" cmpd="sng" w="9525">
                      <a:solidFill>
                        <a:srgbClr val="D9E2EA"/>
                      </a:solidFill>
                      <a:prstDash val="solid"/>
                      <a:round/>
                      <a:headEnd len="sm" w="sm" type="none"/>
                      <a:tailEnd len="sm" w="sm" type="none"/>
                    </a:lnB>
                    <a:solidFill>
                      <a:srgbClr val="FFFFFF"/>
                    </a:solidFill>
                  </a:tcPr>
                </a:tc>
              </a:tr>
              <a:tr h="696250">
                <a:tc>
                  <a:txBody>
                    <a:bodyPr/>
                    <a:lstStyle/>
                    <a:p>
                      <a:pPr indent="0" lvl="0" marL="0" marR="0" rtl="0" algn="l">
                        <a:spcBef>
                          <a:spcPts val="0"/>
                        </a:spcBef>
                        <a:spcAft>
                          <a:spcPts val="0"/>
                        </a:spcAft>
                        <a:buClr>
                          <a:srgbClr val="1D2A5C"/>
                        </a:buClr>
                        <a:buSzPts val="1050"/>
                        <a:buFont typeface="Calibri"/>
                        <a:buNone/>
                      </a:pPr>
                      <a:r>
                        <a:rPr b="1" lang="en-US" sz="1050" u="none" cap="none" strike="noStrike">
                          <a:solidFill>
                            <a:srgbClr val="1D2A5C"/>
                          </a:solidFill>
                          <a:latin typeface="Calibri"/>
                          <a:ea typeface="Calibri"/>
                          <a:cs typeface="Calibri"/>
                          <a:sym typeface="Calibri"/>
                        </a:rPr>
                        <a:t>v1-vs-v2 regression summary (H5)</a:t>
                      </a:r>
                      <a:endParaRPr sz="1050" u="none" cap="none" strike="noStrike">
                        <a:latin typeface="Calibri"/>
                        <a:ea typeface="Calibri"/>
                        <a:cs typeface="Calibri"/>
                        <a:sym typeface="Calibri"/>
                      </a:endParaRPr>
                    </a:p>
                  </a:txBody>
                  <a:tcPr marT="64000" marB="64000" marR="64000" marL="64000" anchor="ctr">
                    <a:lnL cap="flat" cmpd="sng" w="9525">
                      <a:solidFill>
                        <a:srgbClr val="D9E2EA"/>
                      </a:solidFill>
                      <a:prstDash val="solid"/>
                      <a:round/>
                      <a:headEnd len="sm" w="sm" type="none"/>
                      <a:tailEnd len="sm" w="sm" type="none"/>
                    </a:lnL>
                    <a:lnR cap="flat" cmpd="sng" w="9525">
                      <a:solidFill>
                        <a:srgbClr val="D9E2EA"/>
                      </a:solidFill>
                      <a:prstDash val="solid"/>
                      <a:round/>
                      <a:headEnd len="sm" w="sm" type="none"/>
                      <a:tailEnd len="sm" w="sm" type="none"/>
                    </a:lnR>
                    <a:lnT cap="flat" cmpd="sng" w="9525">
                      <a:solidFill>
                        <a:srgbClr val="D9E2EA"/>
                      </a:solidFill>
                      <a:prstDash val="solid"/>
                      <a:round/>
                      <a:headEnd len="sm" w="sm" type="none"/>
                      <a:tailEnd len="sm" w="sm" type="none"/>
                    </a:lnT>
                    <a:lnB cap="flat" cmpd="sng" w="9525">
                      <a:solidFill>
                        <a:srgbClr val="D9E2EA"/>
                      </a:solidFill>
                      <a:prstDash val="solid"/>
                      <a:round/>
                      <a:headEnd len="sm" w="sm" type="none"/>
                      <a:tailEnd len="sm" w="sm" type="none"/>
                    </a:lnB>
                    <a:solidFill>
                      <a:srgbClr val="F2F6F9"/>
                    </a:solidFill>
                  </a:tcPr>
                </a:tc>
                <a:tc>
                  <a:txBody>
                    <a:bodyPr/>
                    <a:lstStyle/>
                    <a:p>
                      <a:pPr indent="0" lvl="0" marL="0" marR="0" rtl="0" algn="l">
                        <a:spcBef>
                          <a:spcPts val="0"/>
                        </a:spcBef>
                        <a:spcAft>
                          <a:spcPts val="0"/>
                        </a:spcAft>
                        <a:buClr>
                          <a:srgbClr val="23293B"/>
                        </a:buClr>
                        <a:buSzPts val="1050"/>
                        <a:buFont typeface="Calibri"/>
                        <a:buNone/>
                      </a:pPr>
                      <a:r>
                        <a:rPr lang="en-US" sz="1050" u="none" cap="none" strike="noStrike">
                          <a:solidFill>
                            <a:srgbClr val="23293B"/>
                          </a:solidFill>
                          <a:latin typeface="Calibri"/>
                          <a:ea typeface="Calibri"/>
                          <a:cs typeface="Calibri"/>
                          <a:sym typeface="Calibri"/>
                        </a:rPr>
                        <a:t>delta + CI + no-degraded-slice</a:t>
                      </a:r>
                      <a:endParaRPr sz="1050" u="none" cap="none" strike="noStrike">
                        <a:latin typeface="Calibri"/>
                        <a:ea typeface="Calibri"/>
                        <a:cs typeface="Calibri"/>
                        <a:sym typeface="Calibri"/>
                      </a:endParaRPr>
                    </a:p>
                  </a:txBody>
                  <a:tcPr marT="64000" marB="64000" marR="64000" marL="64000" anchor="ctr">
                    <a:lnL cap="flat" cmpd="sng" w="9525">
                      <a:solidFill>
                        <a:srgbClr val="D9E2EA"/>
                      </a:solidFill>
                      <a:prstDash val="solid"/>
                      <a:round/>
                      <a:headEnd len="sm" w="sm" type="none"/>
                      <a:tailEnd len="sm" w="sm" type="none"/>
                    </a:lnL>
                    <a:lnR cap="flat" cmpd="sng" w="9525">
                      <a:solidFill>
                        <a:srgbClr val="D9E2EA"/>
                      </a:solidFill>
                      <a:prstDash val="solid"/>
                      <a:round/>
                      <a:headEnd len="sm" w="sm" type="none"/>
                      <a:tailEnd len="sm" w="sm" type="none"/>
                    </a:lnR>
                    <a:lnT cap="flat" cmpd="sng" w="9525">
                      <a:solidFill>
                        <a:srgbClr val="D9E2EA"/>
                      </a:solidFill>
                      <a:prstDash val="solid"/>
                      <a:round/>
                      <a:headEnd len="sm" w="sm" type="none"/>
                      <a:tailEnd len="sm" w="sm" type="none"/>
                    </a:lnT>
                    <a:lnB cap="flat" cmpd="sng" w="9525">
                      <a:solidFill>
                        <a:srgbClr val="D9E2EA"/>
                      </a:solidFill>
                      <a:prstDash val="solid"/>
                      <a:round/>
                      <a:headEnd len="sm" w="sm" type="none"/>
                      <a:tailEnd len="sm" w="sm" type="none"/>
                    </a:lnB>
                    <a:solidFill>
                      <a:srgbClr val="F2F6F9"/>
                    </a:solidFill>
                  </a:tcPr>
                </a:tc>
                <a:tc>
                  <a:txBody>
                    <a:bodyPr/>
                    <a:lstStyle/>
                    <a:p>
                      <a:pPr indent="0" lvl="0" marL="0" marR="0" rtl="0" algn="l">
                        <a:spcBef>
                          <a:spcPts val="0"/>
                        </a:spcBef>
                        <a:spcAft>
                          <a:spcPts val="0"/>
                        </a:spcAft>
                        <a:buClr>
                          <a:srgbClr val="23293B"/>
                        </a:buClr>
                        <a:buSzPts val="1050"/>
                        <a:buFont typeface="Calibri"/>
                        <a:buNone/>
                      </a:pPr>
                      <a:r>
                        <a:rPr lang="en-US" sz="1050" u="none" cap="none" strike="noStrike">
                          <a:solidFill>
                            <a:srgbClr val="23293B"/>
                          </a:solidFill>
                          <a:latin typeface="Calibri"/>
                          <a:ea typeface="Calibri"/>
                          <a:cs typeface="Calibri"/>
                          <a:sym typeface="Calibri"/>
                        </a:rPr>
                        <a:t>report review</a:t>
                      </a:r>
                      <a:endParaRPr sz="1050" u="none" cap="none" strike="noStrike">
                        <a:latin typeface="Calibri"/>
                        <a:ea typeface="Calibri"/>
                        <a:cs typeface="Calibri"/>
                        <a:sym typeface="Calibri"/>
                      </a:endParaRPr>
                    </a:p>
                  </a:txBody>
                  <a:tcPr marT="64000" marB="64000" marR="64000" marL="64000" anchor="ctr">
                    <a:lnL cap="flat" cmpd="sng" w="9525">
                      <a:solidFill>
                        <a:srgbClr val="D9E2EA"/>
                      </a:solidFill>
                      <a:prstDash val="solid"/>
                      <a:round/>
                      <a:headEnd len="sm" w="sm" type="none"/>
                      <a:tailEnd len="sm" w="sm" type="none"/>
                    </a:lnL>
                    <a:lnR cap="flat" cmpd="sng" w="9525">
                      <a:solidFill>
                        <a:srgbClr val="D9E2EA"/>
                      </a:solidFill>
                      <a:prstDash val="solid"/>
                      <a:round/>
                      <a:headEnd len="sm" w="sm" type="none"/>
                      <a:tailEnd len="sm" w="sm" type="none"/>
                    </a:lnR>
                    <a:lnT cap="flat" cmpd="sng" w="9525">
                      <a:solidFill>
                        <a:srgbClr val="D9E2EA"/>
                      </a:solidFill>
                      <a:prstDash val="solid"/>
                      <a:round/>
                      <a:headEnd len="sm" w="sm" type="none"/>
                      <a:tailEnd len="sm" w="sm" type="none"/>
                    </a:lnT>
                    <a:lnB cap="flat" cmpd="sng" w="9525">
                      <a:solidFill>
                        <a:srgbClr val="D9E2EA"/>
                      </a:solidFill>
                      <a:prstDash val="solid"/>
                      <a:round/>
                      <a:headEnd len="sm" w="sm" type="none"/>
                      <a:tailEnd len="sm" w="sm" type="none"/>
                    </a:lnB>
                    <a:solidFill>
                      <a:srgbClr val="F2F6F9"/>
                    </a:solidFill>
                  </a:tcPr>
                </a:tc>
              </a:tr>
            </a:tbl>
          </a:graphicData>
        </a:graphic>
      </p:graphicFrame>
    </p:spTree>
  </p:cSld>
  <p:clrMapOvr>
    <a:masterClrMapping/>
  </p:clrMapOvr>
</p:sld>
</file>

<file path=ppt/slides/slide1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395" name="Shape 3395"/>
        <p:cNvGrpSpPr/>
        <p:nvPr/>
      </p:nvGrpSpPr>
      <p:grpSpPr>
        <a:xfrm>
          <a:off x="0" y="0"/>
          <a:ext cx="0" cy="0"/>
          <a:chOff x="0" y="0"/>
          <a:chExt cx="0" cy="0"/>
        </a:xfrm>
      </p:grpSpPr>
      <p:sp>
        <p:nvSpPr>
          <p:cNvPr id="3396" name="Google Shape;3396;p123"/>
          <p:cNvSpPr/>
          <p:nvPr/>
        </p:nvSpPr>
        <p:spPr>
          <a:xfrm>
            <a:off x="502920" y="274320"/>
            <a:ext cx="9646920" cy="56692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D2A5C"/>
              </a:buClr>
              <a:buSzPts val="2700"/>
              <a:buFont typeface="Calibri"/>
              <a:buNone/>
            </a:pPr>
            <a:r>
              <a:rPr b="1" i="0" lang="en-US" sz="2700" u="none" cap="none" strike="noStrike">
                <a:solidFill>
                  <a:srgbClr val="1D2A5C"/>
                </a:solidFill>
                <a:latin typeface="Calibri"/>
                <a:ea typeface="Calibri"/>
                <a:cs typeface="Calibri"/>
                <a:sym typeface="Calibri"/>
              </a:rPr>
              <a:t>Hour 5 — The Data-Quality Dividend</a:t>
            </a:r>
            <a:endParaRPr b="0" i="0" sz="2700" u="none" cap="none" strike="noStrike">
              <a:solidFill>
                <a:schemeClr val="dk1"/>
              </a:solidFill>
              <a:latin typeface="Calibri"/>
              <a:ea typeface="Calibri"/>
              <a:cs typeface="Calibri"/>
              <a:sym typeface="Calibri"/>
            </a:endParaRPr>
          </a:p>
        </p:txBody>
      </p:sp>
      <p:sp>
        <p:nvSpPr>
          <p:cNvPr id="3397" name="Google Shape;3397;p123"/>
          <p:cNvSpPr/>
          <p:nvPr/>
        </p:nvSpPr>
        <p:spPr>
          <a:xfrm>
            <a:off x="502920" y="859536"/>
            <a:ext cx="9646920" cy="31089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F6B7A"/>
              </a:buClr>
              <a:buSzPts val="1250"/>
              <a:buFont typeface="Arial"/>
              <a:buNone/>
            </a:pPr>
            <a:r>
              <a:rPr b="0" i="0" lang="en-US" sz="1250" u="none" cap="none" strike="noStrike">
                <a:solidFill>
                  <a:srgbClr val="5F6B7A"/>
                </a:solidFill>
                <a:latin typeface="Arial"/>
                <a:ea typeface="Arial"/>
                <a:cs typeface="Arial"/>
                <a:sym typeface="Arial"/>
              </a:rPr>
              <a:t>الساعة الخامسة — عائد جودة البيانات</a:t>
            </a:r>
            <a:endParaRPr b="0" i="0" sz="1250" u="none" cap="none" strike="noStrike">
              <a:solidFill>
                <a:schemeClr val="dk1"/>
              </a:solidFill>
              <a:latin typeface="Calibri"/>
              <a:ea typeface="Calibri"/>
              <a:cs typeface="Calibri"/>
              <a:sym typeface="Calibri"/>
            </a:endParaRPr>
          </a:p>
        </p:txBody>
      </p:sp>
      <p:pic>
        <p:nvPicPr>
          <p:cNvPr descr="/sessions/blissful-determined-ritchie/build/assets/sdaia_logo.png" id="3398" name="Google Shape;3398;p123"/>
          <p:cNvPicPr preferRelativeResize="0"/>
          <p:nvPr/>
        </p:nvPicPr>
        <p:blipFill rotWithShape="1">
          <a:blip r:embed="rId3">
            <a:alphaModFix/>
          </a:blip>
          <a:srcRect b="0" l="0" r="0" t="0"/>
          <a:stretch/>
        </p:blipFill>
        <p:spPr>
          <a:xfrm>
            <a:off x="10625328" y="310896"/>
            <a:ext cx="1078992" cy="264111"/>
          </a:xfrm>
          <a:prstGeom prst="rect">
            <a:avLst/>
          </a:prstGeom>
          <a:noFill/>
          <a:ln>
            <a:noFill/>
          </a:ln>
        </p:spPr>
      </p:pic>
      <p:sp>
        <p:nvSpPr>
          <p:cNvPr id="3399" name="Google Shape;3399;p123"/>
          <p:cNvSpPr/>
          <p:nvPr/>
        </p:nvSpPr>
        <p:spPr>
          <a:xfrm>
            <a:off x="502920" y="6528816"/>
            <a:ext cx="8686800"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A79D"/>
              </a:buClr>
              <a:buSzPts val="800"/>
              <a:buFont typeface="Calibri"/>
              <a:buNone/>
            </a:pPr>
            <a:r>
              <a:rPr b="1" i="0" lang="en-US" sz="800" u="none" cap="none" strike="noStrike">
                <a:solidFill>
                  <a:srgbClr val="00A79D"/>
                </a:solidFill>
                <a:latin typeface="Calibri"/>
                <a:ea typeface="Calibri"/>
                <a:cs typeface="Calibri"/>
                <a:sym typeface="Calibri"/>
              </a:rPr>
              <a:t>DAY 3   </a:t>
            </a:r>
            <a:r>
              <a:rPr b="0" i="0" lang="en-US" sz="800" u="none" cap="none" strike="noStrike">
                <a:solidFill>
                  <a:srgbClr val="8A96A6"/>
                </a:solidFill>
                <a:latin typeface="Calibri"/>
                <a:ea typeface="Calibri"/>
                <a:cs typeface="Calibri"/>
                <a:sym typeface="Calibri"/>
              </a:rPr>
              <a:t>SDA-AIE-212 · Computer Vision Systems Development</a:t>
            </a:r>
            <a:endParaRPr b="0" i="0" sz="800" u="none" cap="none" strike="noStrike">
              <a:solidFill>
                <a:schemeClr val="dk1"/>
              </a:solidFill>
              <a:latin typeface="Calibri"/>
              <a:ea typeface="Calibri"/>
              <a:cs typeface="Calibri"/>
              <a:sym typeface="Calibri"/>
            </a:endParaRPr>
          </a:p>
        </p:txBody>
      </p:sp>
      <p:sp>
        <p:nvSpPr>
          <p:cNvPr id="3400" name="Google Shape;3400;p123"/>
          <p:cNvSpPr/>
          <p:nvPr/>
        </p:nvSpPr>
        <p:spPr>
          <a:xfrm>
            <a:off x="11292840" y="6528816"/>
            <a:ext cx="411480" cy="219456"/>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8A96A6"/>
              </a:buClr>
              <a:buSzPts val="900"/>
              <a:buFont typeface="Calibri"/>
              <a:buNone/>
            </a:pPr>
            <a:r>
              <a:rPr b="0" i="0" lang="en-US" sz="900" u="none" cap="none" strike="noStrike">
                <a:solidFill>
                  <a:srgbClr val="8A96A6"/>
                </a:solidFill>
                <a:latin typeface="Calibri"/>
                <a:ea typeface="Calibri"/>
                <a:cs typeface="Calibri"/>
                <a:sym typeface="Calibri"/>
              </a:rPr>
              <a:t>123</a:t>
            </a:r>
            <a:endParaRPr b="0" i="0" sz="900" u="none" cap="none" strike="noStrike">
              <a:solidFill>
                <a:schemeClr val="dk1"/>
              </a:solidFill>
              <a:latin typeface="Calibri"/>
              <a:ea typeface="Calibri"/>
              <a:cs typeface="Calibri"/>
              <a:sym typeface="Calibri"/>
            </a:endParaRPr>
          </a:p>
        </p:txBody>
      </p:sp>
      <p:sp>
        <p:nvSpPr>
          <p:cNvPr id="3401" name="Google Shape;3401;p123"/>
          <p:cNvSpPr/>
          <p:nvPr/>
        </p:nvSpPr>
        <p:spPr>
          <a:xfrm>
            <a:off x="502920" y="1559052"/>
            <a:ext cx="329184" cy="329184"/>
          </a:xfrm>
          <a:prstGeom prst="ellipse">
            <a:avLst/>
          </a:prstGeom>
          <a:solidFill>
            <a:srgbClr val="00A79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02" name="Google Shape;3402;p123"/>
          <p:cNvSpPr/>
          <p:nvPr/>
        </p:nvSpPr>
        <p:spPr>
          <a:xfrm>
            <a:off x="502920" y="1559052"/>
            <a:ext cx="329184" cy="32918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300"/>
              <a:buFont typeface="Calibri"/>
              <a:buNone/>
            </a:pPr>
            <a:r>
              <a:rPr b="1" i="0" lang="en-US" sz="1300" u="none" cap="none" strike="noStrike">
                <a:solidFill>
                  <a:srgbClr val="FFFFFF"/>
                </a:solidFill>
                <a:latin typeface="Calibri"/>
                <a:ea typeface="Calibri"/>
                <a:cs typeface="Calibri"/>
                <a:sym typeface="Calibri"/>
              </a:rPr>
              <a:t>1</a:t>
            </a:r>
            <a:endParaRPr b="0" i="0" sz="1300" u="none" cap="none" strike="noStrike">
              <a:solidFill>
                <a:schemeClr val="dk1"/>
              </a:solidFill>
              <a:latin typeface="Calibri"/>
              <a:ea typeface="Calibri"/>
              <a:cs typeface="Calibri"/>
              <a:sym typeface="Calibri"/>
            </a:endParaRPr>
          </a:p>
        </p:txBody>
      </p:sp>
      <p:sp>
        <p:nvSpPr>
          <p:cNvPr id="3403" name="Google Shape;3403;p123"/>
          <p:cNvSpPr/>
          <p:nvPr/>
        </p:nvSpPr>
        <p:spPr>
          <a:xfrm>
            <a:off x="1005840" y="1495044"/>
            <a:ext cx="493776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D2A5C"/>
              </a:buClr>
              <a:buSzPts val="1400"/>
              <a:buFont typeface="Calibri"/>
              <a:buNone/>
            </a:pPr>
            <a:r>
              <a:rPr b="1" i="0" lang="en-US" sz="1400" u="none" cap="none" strike="noStrike">
                <a:solidFill>
                  <a:srgbClr val="1D2A5C"/>
                </a:solidFill>
                <a:latin typeface="Calibri"/>
                <a:ea typeface="Calibri"/>
                <a:cs typeface="Calibri"/>
                <a:sym typeface="Calibri"/>
              </a:rPr>
              <a:t>Retrain on v2; run regression mode</a:t>
            </a:r>
            <a:endParaRPr b="0" i="0" sz="1400" u="none" cap="none" strike="noStrike">
              <a:solidFill>
                <a:schemeClr val="dk1"/>
              </a:solidFill>
              <a:latin typeface="Calibri"/>
              <a:ea typeface="Calibri"/>
              <a:cs typeface="Calibri"/>
              <a:sym typeface="Calibri"/>
            </a:endParaRPr>
          </a:p>
        </p:txBody>
      </p:sp>
      <p:sp>
        <p:nvSpPr>
          <p:cNvPr id="3404" name="Google Shape;3404;p123"/>
          <p:cNvSpPr/>
          <p:nvPr/>
        </p:nvSpPr>
        <p:spPr>
          <a:xfrm>
            <a:off x="1005840" y="1796796"/>
            <a:ext cx="4937760" cy="841248"/>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5F6B7A"/>
              </a:buClr>
              <a:buSzPts val="1150"/>
              <a:buFont typeface="Calibri"/>
              <a:buNone/>
            </a:pPr>
            <a:r>
              <a:rPr b="0" i="0" lang="en-US" sz="1150" u="none" cap="none" strike="noStrike">
                <a:solidFill>
                  <a:srgbClr val="5F6B7A"/>
                </a:solidFill>
                <a:latin typeface="Calibri"/>
                <a:ea typeface="Calibri"/>
                <a:cs typeface="Calibri"/>
                <a:sym typeface="Calibri"/>
              </a:rPr>
              <a:t>Confirm the insect_damage gain, check no powered slice degraded &gt;= 2 points, bootstrap the headline CI.</a:t>
            </a:r>
            <a:endParaRPr b="0" i="0" sz="1150" u="none" cap="none" strike="noStrike">
              <a:solidFill>
                <a:schemeClr val="dk1"/>
              </a:solidFill>
              <a:latin typeface="Calibri"/>
              <a:ea typeface="Calibri"/>
              <a:cs typeface="Calibri"/>
              <a:sym typeface="Calibri"/>
            </a:endParaRPr>
          </a:p>
        </p:txBody>
      </p:sp>
      <p:sp>
        <p:nvSpPr>
          <p:cNvPr id="3405" name="Google Shape;3405;p123"/>
          <p:cNvSpPr/>
          <p:nvPr/>
        </p:nvSpPr>
        <p:spPr>
          <a:xfrm>
            <a:off x="502920" y="2747772"/>
            <a:ext cx="329184" cy="329184"/>
          </a:xfrm>
          <a:prstGeom prst="ellipse">
            <a:avLst/>
          </a:prstGeom>
          <a:solidFill>
            <a:srgbClr val="29ABE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06" name="Google Shape;3406;p123"/>
          <p:cNvSpPr/>
          <p:nvPr/>
        </p:nvSpPr>
        <p:spPr>
          <a:xfrm>
            <a:off x="502920" y="2747772"/>
            <a:ext cx="329184" cy="32918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300"/>
              <a:buFont typeface="Calibri"/>
              <a:buNone/>
            </a:pPr>
            <a:r>
              <a:rPr b="1" i="0" lang="en-US" sz="1300" u="none" cap="none" strike="noStrike">
                <a:solidFill>
                  <a:srgbClr val="FFFFFF"/>
                </a:solidFill>
                <a:latin typeface="Calibri"/>
                <a:ea typeface="Calibri"/>
                <a:cs typeface="Calibri"/>
                <a:sym typeface="Calibri"/>
              </a:rPr>
              <a:t>2</a:t>
            </a:r>
            <a:endParaRPr b="0" i="0" sz="1300" u="none" cap="none" strike="noStrike">
              <a:solidFill>
                <a:schemeClr val="dk1"/>
              </a:solidFill>
              <a:latin typeface="Calibri"/>
              <a:ea typeface="Calibri"/>
              <a:cs typeface="Calibri"/>
              <a:sym typeface="Calibri"/>
            </a:endParaRPr>
          </a:p>
        </p:txBody>
      </p:sp>
      <p:sp>
        <p:nvSpPr>
          <p:cNvPr id="3407" name="Google Shape;3407;p123"/>
          <p:cNvSpPr/>
          <p:nvPr/>
        </p:nvSpPr>
        <p:spPr>
          <a:xfrm>
            <a:off x="1005840" y="2683764"/>
            <a:ext cx="493776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D2A5C"/>
              </a:buClr>
              <a:buSzPts val="1400"/>
              <a:buFont typeface="Calibri"/>
              <a:buNone/>
            </a:pPr>
            <a:r>
              <a:rPr b="1" i="0" lang="en-US" sz="1400" u="none" cap="none" strike="noStrike">
                <a:solidFill>
                  <a:srgbClr val="1D2A5C"/>
                </a:solidFill>
                <a:latin typeface="Calibri"/>
                <a:ea typeface="Calibri"/>
                <a:cs typeface="Calibri"/>
                <a:sym typeface="Calibri"/>
              </a:rPr>
              <a:t>Predict before you run</a:t>
            </a:r>
            <a:endParaRPr b="0" i="0" sz="1400" u="none" cap="none" strike="noStrike">
              <a:solidFill>
                <a:schemeClr val="dk1"/>
              </a:solidFill>
              <a:latin typeface="Calibri"/>
              <a:ea typeface="Calibri"/>
              <a:cs typeface="Calibri"/>
              <a:sym typeface="Calibri"/>
            </a:endParaRPr>
          </a:p>
        </p:txBody>
      </p:sp>
      <p:sp>
        <p:nvSpPr>
          <p:cNvPr id="3408" name="Google Shape;3408;p123"/>
          <p:cNvSpPr/>
          <p:nvPr/>
        </p:nvSpPr>
        <p:spPr>
          <a:xfrm>
            <a:off x="1005840" y="2985516"/>
            <a:ext cx="4937760" cy="841248"/>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5F6B7A"/>
              </a:buClr>
              <a:buSzPts val="1150"/>
              <a:buFont typeface="Calibri"/>
              <a:buNone/>
            </a:pPr>
            <a:r>
              <a:rPr b="0" i="0" lang="en-US" sz="1150" u="none" cap="none" strike="noStrike">
                <a:solidFill>
                  <a:srgbClr val="5F6B7A"/>
                </a:solidFill>
                <a:latin typeface="Calibri"/>
                <a:ea typeface="Calibri"/>
                <a:cs typeface="Calibri"/>
                <a:sym typeface="Calibri"/>
              </a:rPr>
              <a:t>Each pair states its expected v2 delta before the run, then confronts the prediction — the day's payoff.</a:t>
            </a:r>
            <a:endParaRPr b="0" i="0" sz="1150" u="none" cap="none" strike="noStrike">
              <a:solidFill>
                <a:schemeClr val="dk1"/>
              </a:solidFill>
              <a:latin typeface="Calibri"/>
              <a:ea typeface="Calibri"/>
              <a:cs typeface="Calibri"/>
              <a:sym typeface="Calibri"/>
            </a:endParaRPr>
          </a:p>
        </p:txBody>
      </p:sp>
      <p:sp>
        <p:nvSpPr>
          <p:cNvPr id="3409" name="Google Shape;3409;p123"/>
          <p:cNvSpPr/>
          <p:nvPr/>
        </p:nvSpPr>
        <p:spPr>
          <a:xfrm>
            <a:off x="502920" y="3936492"/>
            <a:ext cx="329184" cy="329184"/>
          </a:xfrm>
          <a:prstGeom prst="ellipse">
            <a:avLst/>
          </a:prstGeom>
          <a:solidFill>
            <a:srgbClr val="F5822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10" name="Google Shape;3410;p123"/>
          <p:cNvSpPr/>
          <p:nvPr/>
        </p:nvSpPr>
        <p:spPr>
          <a:xfrm>
            <a:off x="502920" y="3936492"/>
            <a:ext cx="329184" cy="32918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300"/>
              <a:buFont typeface="Calibri"/>
              <a:buNone/>
            </a:pPr>
            <a:r>
              <a:rPr b="1" i="0" lang="en-US" sz="1300" u="none" cap="none" strike="noStrike">
                <a:solidFill>
                  <a:srgbClr val="FFFFFF"/>
                </a:solidFill>
                <a:latin typeface="Calibri"/>
                <a:ea typeface="Calibri"/>
                <a:cs typeface="Calibri"/>
                <a:sym typeface="Calibri"/>
              </a:rPr>
              <a:t>3</a:t>
            </a:r>
            <a:endParaRPr b="0" i="0" sz="1300" u="none" cap="none" strike="noStrike">
              <a:solidFill>
                <a:schemeClr val="dk1"/>
              </a:solidFill>
              <a:latin typeface="Calibri"/>
              <a:ea typeface="Calibri"/>
              <a:cs typeface="Calibri"/>
              <a:sym typeface="Calibri"/>
            </a:endParaRPr>
          </a:p>
        </p:txBody>
      </p:sp>
      <p:sp>
        <p:nvSpPr>
          <p:cNvPr id="3411" name="Google Shape;3411;p123"/>
          <p:cNvSpPr/>
          <p:nvPr/>
        </p:nvSpPr>
        <p:spPr>
          <a:xfrm>
            <a:off x="1005840" y="3872484"/>
            <a:ext cx="493776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D2A5C"/>
              </a:buClr>
              <a:buSzPts val="1400"/>
              <a:buFont typeface="Calibri"/>
              <a:buNone/>
            </a:pPr>
            <a:r>
              <a:rPr b="1" i="0" lang="en-US" sz="1400" u="none" cap="none" strike="noStrike">
                <a:solidFill>
                  <a:srgbClr val="1D2A5C"/>
                </a:solidFill>
                <a:latin typeface="Calibri"/>
                <a:ea typeface="Calibri"/>
                <a:cs typeface="Calibri"/>
                <a:sym typeface="Calibri"/>
              </a:rPr>
              <a:t>Capstone kickoff briefing</a:t>
            </a:r>
            <a:endParaRPr b="0" i="0" sz="1400" u="none" cap="none" strike="noStrike">
              <a:solidFill>
                <a:schemeClr val="dk1"/>
              </a:solidFill>
              <a:latin typeface="Calibri"/>
              <a:ea typeface="Calibri"/>
              <a:cs typeface="Calibri"/>
              <a:sym typeface="Calibri"/>
            </a:endParaRPr>
          </a:p>
        </p:txBody>
      </p:sp>
      <p:sp>
        <p:nvSpPr>
          <p:cNvPr id="3412" name="Google Shape;3412;p123"/>
          <p:cNvSpPr/>
          <p:nvPr/>
        </p:nvSpPr>
        <p:spPr>
          <a:xfrm>
            <a:off x="1005840" y="4174236"/>
            <a:ext cx="4937760" cy="841248"/>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5F6B7A"/>
              </a:buClr>
              <a:buSzPts val="1150"/>
              <a:buFont typeface="Calibri"/>
              <a:buNone/>
            </a:pPr>
            <a:r>
              <a:rPr b="0" i="0" lang="en-US" sz="1150" u="none" cap="none" strike="noStrike">
                <a:solidFill>
                  <a:srgbClr val="5F6B7A"/>
                </a:solidFill>
                <a:latin typeface="Calibri"/>
                <a:ea typeface="Calibri"/>
                <a:cs typeface="Calibri"/>
                <a:sym typeface="Calibri"/>
              </a:rPr>
              <a:t>Day 4 H3-4 integrates classifier, detector and segmenter; the harness referees; BENCHMARKS.md from own runs.</a:t>
            </a:r>
            <a:endParaRPr b="0" i="0" sz="1150" u="none" cap="none" strike="noStrike">
              <a:solidFill>
                <a:schemeClr val="dk1"/>
              </a:solidFill>
              <a:latin typeface="Calibri"/>
              <a:ea typeface="Calibri"/>
              <a:cs typeface="Calibri"/>
              <a:sym typeface="Calibri"/>
            </a:endParaRPr>
          </a:p>
        </p:txBody>
      </p:sp>
      <p:sp>
        <p:nvSpPr>
          <p:cNvPr id="3413" name="Google Shape;3413;p123"/>
          <p:cNvSpPr/>
          <p:nvPr/>
        </p:nvSpPr>
        <p:spPr>
          <a:xfrm>
            <a:off x="502920" y="5125212"/>
            <a:ext cx="329184" cy="329184"/>
          </a:xfrm>
          <a:prstGeom prst="ellipse">
            <a:avLst/>
          </a:prstGeom>
          <a:solidFill>
            <a:srgbClr val="8DC63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14" name="Google Shape;3414;p123"/>
          <p:cNvSpPr/>
          <p:nvPr/>
        </p:nvSpPr>
        <p:spPr>
          <a:xfrm>
            <a:off x="502920" y="5125212"/>
            <a:ext cx="329184" cy="32918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300"/>
              <a:buFont typeface="Calibri"/>
              <a:buNone/>
            </a:pPr>
            <a:r>
              <a:rPr b="1" i="0" lang="en-US" sz="1300" u="none" cap="none" strike="noStrike">
                <a:solidFill>
                  <a:srgbClr val="FFFFFF"/>
                </a:solidFill>
                <a:latin typeface="Calibri"/>
                <a:ea typeface="Calibri"/>
                <a:cs typeface="Calibri"/>
                <a:sym typeface="Calibri"/>
              </a:rPr>
              <a:t>4</a:t>
            </a:r>
            <a:endParaRPr b="0" i="0" sz="1300" u="none" cap="none" strike="noStrike">
              <a:solidFill>
                <a:schemeClr val="dk1"/>
              </a:solidFill>
              <a:latin typeface="Calibri"/>
              <a:ea typeface="Calibri"/>
              <a:cs typeface="Calibri"/>
              <a:sym typeface="Calibri"/>
            </a:endParaRPr>
          </a:p>
        </p:txBody>
      </p:sp>
      <p:sp>
        <p:nvSpPr>
          <p:cNvPr id="3415" name="Google Shape;3415;p123"/>
          <p:cNvSpPr/>
          <p:nvPr/>
        </p:nvSpPr>
        <p:spPr>
          <a:xfrm>
            <a:off x="1005840" y="5061204"/>
            <a:ext cx="493776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D2A5C"/>
              </a:buClr>
              <a:buSzPts val="1400"/>
              <a:buFont typeface="Calibri"/>
              <a:buNone/>
            </a:pPr>
            <a:r>
              <a:rPr b="1" i="0" lang="en-US" sz="1400" u="none" cap="none" strike="noStrike">
                <a:solidFill>
                  <a:srgbClr val="1D2A5C"/>
                </a:solidFill>
                <a:latin typeface="Calibri"/>
                <a:ea typeface="Calibri"/>
                <a:cs typeface="Calibri"/>
                <a:sym typeface="Calibri"/>
              </a:rPr>
              <a:t>Milestone M-A check</a:t>
            </a:r>
            <a:endParaRPr b="0" i="0" sz="1400" u="none" cap="none" strike="noStrike">
              <a:solidFill>
                <a:schemeClr val="dk1"/>
              </a:solidFill>
              <a:latin typeface="Calibri"/>
              <a:ea typeface="Calibri"/>
              <a:cs typeface="Calibri"/>
              <a:sym typeface="Calibri"/>
            </a:endParaRPr>
          </a:p>
        </p:txBody>
      </p:sp>
      <p:sp>
        <p:nvSpPr>
          <p:cNvPr id="3416" name="Google Shape;3416;p123"/>
          <p:cNvSpPr/>
          <p:nvPr/>
        </p:nvSpPr>
        <p:spPr>
          <a:xfrm>
            <a:off x="1005840" y="5362956"/>
            <a:ext cx="4937760" cy="841248"/>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5F6B7A"/>
              </a:buClr>
              <a:buSzPts val="1150"/>
              <a:buFont typeface="Calibri"/>
              <a:buNone/>
            </a:pPr>
            <a:r>
              <a:rPr b="0" i="0" lang="en-US" sz="1150" u="none" cap="none" strike="noStrike">
                <a:solidFill>
                  <a:srgbClr val="5F6B7A"/>
                </a:solidFill>
                <a:latin typeface="Calibri"/>
                <a:ea typeface="Calibri"/>
                <a:cs typeface="Calibri"/>
                <a:sym typeface="Calibri"/>
              </a:rPr>
              <a:t>Triaged audit, merged spec PR, v2 release cut, harness validated, regression summary in the report.</a:t>
            </a:r>
            <a:endParaRPr b="0" i="0" sz="1150" u="none" cap="none" strike="noStrike">
              <a:solidFill>
                <a:schemeClr val="dk1"/>
              </a:solidFill>
              <a:latin typeface="Calibri"/>
              <a:ea typeface="Calibri"/>
              <a:cs typeface="Calibri"/>
              <a:sym typeface="Calibri"/>
            </a:endParaRPr>
          </a:p>
        </p:txBody>
      </p:sp>
      <p:sp>
        <p:nvSpPr>
          <p:cNvPr id="3417" name="Google Shape;3417;p123"/>
          <p:cNvSpPr/>
          <p:nvPr/>
        </p:nvSpPr>
        <p:spPr>
          <a:xfrm>
            <a:off x="6355080" y="2775204"/>
            <a:ext cx="1563624" cy="2194560"/>
          </a:xfrm>
          <a:prstGeom prst="roundRect">
            <a:avLst>
              <a:gd fmla="val 5263" name="adj"/>
            </a:avLst>
          </a:prstGeom>
          <a:solidFill>
            <a:srgbClr val="E9F6F5"/>
          </a:solidFill>
          <a:ln cap="flat" cmpd="sng" w="12700">
            <a:solidFill>
              <a:srgbClr val="D9E2E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18" name="Google Shape;3418;p123"/>
          <p:cNvSpPr/>
          <p:nvPr/>
        </p:nvSpPr>
        <p:spPr>
          <a:xfrm>
            <a:off x="6446520" y="2884932"/>
            <a:ext cx="1380744" cy="96560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0A79D"/>
              </a:buClr>
              <a:buSzPts val="3800"/>
              <a:buFont typeface="Calibri"/>
              <a:buNone/>
            </a:pPr>
            <a:r>
              <a:rPr b="1" i="0" lang="en-US" sz="3800" u="none" cap="none" strike="noStrike">
                <a:solidFill>
                  <a:srgbClr val="00A79D"/>
                </a:solidFill>
                <a:latin typeface="Calibri"/>
                <a:ea typeface="Calibri"/>
                <a:cs typeface="Calibri"/>
                <a:sym typeface="Calibri"/>
              </a:rPr>
              <a:t>+0.089</a:t>
            </a:r>
            <a:endParaRPr b="0" i="0" sz="3800" u="none" cap="none" strike="noStrike">
              <a:solidFill>
                <a:schemeClr val="dk1"/>
              </a:solidFill>
              <a:latin typeface="Calibri"/>
              <a:ea typeface="Calibri"/>
              <a:cs typeface="Calibri"/>
              <a:sym typeface="Calibri"/>
            </a:endParaRPr>
          </a:p>
        </p:txBody>
      </p:sp>
      <p:sp>
        <p:nvSpPr>
          <p:cNvPr id="3419" name="Google Shape;3419;p123"/>
          <p:cNvSpPr/>
          <p:nvPr/>
        </p:nvSpPr>
        <p:spPr>
          <a:xfrm>
            <a:off x="6492240" y="3916375"/>
            <a:ext cx="1289304" cy="32004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D2A5C"/>
              </a:buClr>
              <a:buSzPts val="1250"/>
              <a:buFont typeface="Calibri"/>
              <a:buNone/>
            </a:pPr>
            <a:r>
              <a:rPr b="1" i="0" lang="en-US" sz="1250" u="none" cap="none" strike="noStrike">
                <a:solidFill>
                  <a:srgbClr val="1D2A5C"/>
                </a:solidFill>
                <a:latin typeface="Calibri"/>
                <a:ea typeface="Calibri"/>
                <a:cs typeface="Calibri"/>
                <a:sym typeface="Calibri"/>
              </a:rPr>
              <a:t>insect_damage AP</a:t>
            </a:r>
            <a:endParaRPr b="0" i="0" sz="1250" u="none" cap="none" strike="noStrike">
              <a:solidFill>
                <a:schemeClr val="dk1"/>
              </a:solidFill>
              <a:latin typeface="Calibri"/>
              <a:ea typeface="Calibri"/>
              <a:cs typeface="Calibri"/>
              <a:sym typeface="Calibri"/>
            </a:endParaRPr>
          </a:p>
        </p:txBody>
      </p:sp>
      <p:sp>
        <p:nvSpPr>
          <p:cNvPr id="3420" name="Google Shape;3420;p123"/>
          <p:cNvSpPr/>
          <p:nvPr/>
        </p:nvSpPr>
        <p:spPr>
          <a:xfrm>
            <a:off x="6492240" y="4263847"/>
            <a:ext cx="1289304" cy="658368"/>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rgbClr val="5F6B7A"/>
              </a:buClr>
              <a:buSzPts val="1000"/>
              <a:buFont typeface="Calibri"/>
              <a:buNone/>
            </a:pPr>
            <a:r>
              <a:rPr b="0" i="0" lang="en-US" sz="1000" u="none" cap="none" strike="noStrike">
                <a:solidFill>
                  <a:srgbClr val="5F6B7A"/>
                </a:solidFill>
                <a:latin typeface="Calibri"/>
                <a:ea typeface="Calibri"/>
                <a:cs typeface="Calibri"/>
                <a:sym typeface="Calibri"/>
              </a:rPr>
              <a:t>CI [+0.061, +0.114]</a:t>
            </a:r>
            <a:endParaRPr b="0" i="0" sz="1000" u="none" cap="none" strike="noStrike">
              <a:solidFill>
                <a:schemeClr val="dk1"/>
              </a:solidFill>
              <a:latin typeface="Calibri"/>
              <a:ea typeface="Calibri"/>
              <a:cs typeface="Calibri"/>
              <a:sym typeface="Calibri"/>
            </a:endParaRPr>
          </a:p>
        </p:txBody>
      </p:sp>
      <p:sp>
        <p:nvSpPr>
          <p:cNvPr id="3421" name="Google Shape;3421;p123"/>
          <p:cNvSpPr/>
          <p:nvPr/>
        </p:nvSpPr>
        <p:spPr>
          <a:xfrm>
            <a:off x="8238744" y="2775204"/>
            <a:ext cx="1563624" cy="2194560"/>
          </a:xfrm>
          <a:prstGeom prst="roundRect">
            <a:avLst>
              <a:gd fmla="val 5263" name="adj"/>
            </a:avLst>
          </a:prstGeom>
          <a:solidFill>
            <a:srgbClr val="F2F6F9"/>
          </a:solidFill>
          <a:ln cap="flat" cmpd="sng" w="12700">
            <a:solidFill>
              <a:srgbClr val="D9E2E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22" name="Google Shape;3422;p123"/>
          <p:cNvSpPr/>
          <p:nvPr/>
        </p:nvSpPr>
        <p:spPr>
          <a:xfrm>
            <a:off x="8330184" y="2884932"/>
            <a:ext cx="1380744" cy="96560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9ABE2"/>
              </a:buClr>
              <a:buSzPts val="3800"/>
              <a:buFont typeface="Calibri"/>
              <a:buNone/>
            </a:pPr>
            <a:r>
              <a:rPr b="1" i="0" lang="en-US" sz="3800" u="none" cap="none" strike="noStrike">
                <a:solidFill>
                  <a:srgbClr val="29ABE2"/>
                </a:solidFill>
                <a:latin typeface="Calibri"/>
                <a:ea typeface="Calibri"/>
                <a:cs typeface="Calibri"/>
                <a:sym typeface="Calibri"/>
              </a:rPr>
              <a:t>+0.031</a:t>
            </a:r>
            <a:endParaRPr b="0" i="0" sz="3800" u="none" cap="none" strike="noStrike">
              <a:solidFill>
                <a:schemeClr val="dk1"/>
              </a:solidFill>
              <a:latin typeface="Calibri"/>
              <a:ea typeface="Calibri"/>
              <a:cs typeface="Calibri"/>
              <a:sym typeface="Calibri"/>
            </a:endParaRPr>
          </a:p>
        </p:txBody>
      </p:sp>
      <p:sp>
        <p:nvSpPr>
          <p:cNvPr id="3423" name="Google Shape;3423;p123"/>
          <p:cNvSpPr/>
          <p:nvPr/>
        </p:nvSpPr>
        <p:spPr>
          <a:xfrm>
            <a:off x="8375904" y="3916375"/>
            <a:ext cx="1289304" cy="32004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D2A5C"/>
              </a:buClr>
              <a:buSzPts val="1250"/>
              <a:buFont typeface="Calibri"/>
              <a:buNone/>
            </a:pPr>
            <a:r>
              <a:rPr b="1" i="0" lang="en-US" sz="1250" u="none" cap="none" strike="noStrike">
                <a:solidFill>
                  <a:srgbClr val="1D2A5C"/>
                </a:solidFill>
                <a:latin typeface="Calibri"/>
                <a:ea typeface="Calibri"/>
                <a:cs typeface="Calibri"/>
                <a:sym typeface="Calibri"/>
              </a:rPr>
              <a:t>detector mAP@0.5</a:t>
            </a:r>
            <a:endParaRPr b="0" i="0" sz="1250" u="none" cap="none" strike="noStrike">
              <a:solidFill>
                <a:schemeClr val="dk1"/>
              </a:solidFill>
              <a:latin typeface="Calibri"/>
              <a:ea typeface="Calibri"/>
              <a:cs typeface="Calibri"/>
              <a:sym typeface="Calibri"/>
            </a:endParaRPr>
          </a:p>
        </p:txBody>
      </p:sp>
      <p:sp>
        <p:nvSpPr>
          <p:cNvPr id="3424" name="Google Shape;3424;p123"/>
          <p:cNvSpPr/>
          <p:nvPr/>
        </p:nvSpPr>
        <p:spPr>
          <a:xfrm>
            <a:off x="8375904" y="4263847"/>
            <a:ext cx="1289304" cy="658368"/>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rgbClr val="5F6B7A"/>
              </a:buClr>
              <a:buSzPts val="1000"/>
              <a:buFont typeface="Calibri"/>
              <a:buNone/>
            </a:pPr>
            <a:r>
              <a:rPr b="0" i="0" lang="en-US" sz="1000" u="none" cap="none" strike="noStrike">
                <a:solidFill>
                  <a:srgbClr val="5F6B7A"/>
                </a:solidFill>
                <a:latin typeface="Calibri"/>
                <a:ea typeface="Calibri"/>
                <a:cs typeface="Calibri"/>
                <a:sym typeface="Calibri"/>
              </a:rPr>
              <a:t>cleaning + 800 AL frames</a:t>
            </a:r>
            <a:endParaRPr b="0" i="0" sz="1000" u="none" cap="none" strike="noStrike">
              <a:solidFill>
                <a:schemeClr val="dk1"/>
              </a:solidFill>
              <a:latin typeface="Calibri"/>
              <a:ea typeface="Calibri"/>
              <a:cs typeface="Calibri"/>
              <a:sym typeface="Calibri"/>
            </a:endParaRPr>
          </a:p>
        </p:txBody>
      </p:sp>
      <p:sp>
        <p:nvSpPr>
          <p:cNvPr id="3425" name="Google Shape;3425;p123"/>
          <p:cNvSpPr/>
          <p:nvPr/>
        </p:nvSpPr>
        <p:spPr>
          <a:xfrm>
            <a:off x="10122408" y="2775204"/>
            <a:ext cx="1563624" cy="2194560"/>
          </a:xfrm>
          <a:prstGeom prst="roundRect">
            <a:avLst>
              <a:gd fmla="val 5263" name="adj"/>
            </a:avLst>
          </a:prstGeom>
          <a:solidFill>
            <a:srgbClr val="F2F6F9"/>
          </a:solidFill>
          <a:ln cap="flat" cmpd="sng" w="12700">
            <a:solidFill>
              <a:srgbClr val="D9E2E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26" name="Google Shape;3426;p123"/>
          <p:cNvSpPr/>
          <p:nvPr/>
        </p:nvSpPr>
        <p:spPr>
          <a:xfrm>
            <a:off x="10213848" y="2884932"/>
            <a:ext cx="1380744" cy="96560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58220"/>
              </a:buClr>
              <a:buSzPts val="3800"/>
              <a:buFont typeface="Calibri"/>
              <a:buNone/>
            </a:pPr>
            <a:r>
              <a:rPr b="1" i="0" lang="en-US" sz="3800" u="none" cap="none" strike="noStrike">
                <a:solidFill>
                  <a:srgbClr val="F58220"/>
                </a:solidFill>
                <a:latin typeface="Calibri"/>
                <a:ea typeface="Calibri"/>
                <a:cs typeface="Calibri"/>
                <a:sym typeface="Calibri"/>
              </a:rPr>
              <a:t>+0.02</a:t>
            </a:r>
            <a:endParaRPr b="0" i="0" sz="3800" u="none" cap="none" strike="noStrike">
              <a:solidFill>
                <a:schemeClr val="dk1"/>
              </a:solidFill>
              <a:latin typeface="Calibri"/>
              <a:ea typeface="Calibri"/>
              <a:cs typeface="Calibri"/>
              <a:sym typeface="Calibri"/>
            </a:endParaRPr>
          </a:p>
        </p:txBody>
      </p:sp>
      <p:sp>
        <p:nvSpPr>
          <p:cNvPr id="3427" name="Google Shape;3427;p123"/>
          <p:cNvSpPr/>
          <p:nvPr/>
        </p:nvSpPr>
        <p:spPr>
          <a:xfrm>
            <a:off x="10259568" y="3916375"/>
            <a:ext cx="1289304" cy="32004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D2A5C"/>
              </a:buClr>
              <a:buSzPts val="1250"/>
              <a:buFont typeface="Calibri"/>
              <a:buNone/>
            </a:pPr>
            <a:r>
              <a:rPr b="1" i="0" lang="en-US" sz="1250" u="none" cap="none" strike="noStrike">
                <a:solidFill>
                  <a:srgbClr val="1D2A5C"/>
                </a:solidFill>
                <a:latin typeface="Calibri"/>
                <a:ea typeface="Calibri"/>
                <a:cs typeface="Calibri"/>
                <a:sym typeface="Calibri"/>
              </a:rPr>
              <a:t>classifier macro-F1</a:t>
            </a:r>
            <a:endParaRPr b="0" i="0" sz="1250" u="none" cap="none" strike="noStrike">
              <a:solidFill>
                <a:schemeClr val="dk1"/>
              </a:solidFill>
              <a:latin typeface="Calibri"/>
              <a:ea typeface="Calibri"/>
              <a:cs typeface="Calibri"/>
              <a:sym typeface="Calibri"/>
            </a:endParaRPr>
          </a:p>
        </p:txBody>
      </p:sp>
      <p:sp>
        <p:nvSpPr>
          <p:cNvPr id="3428" name="Google Shape;3428;p123"/>
          <p:cNvSpPr/>
          <p:nvPr/>
        </p:nvSpPr>
        <p:spPr>
          <a:xfrm>
            <a:off x="10259568" y="4263847"/>
            <a:ext cx="1289304" cy="658368"/>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rgbClr val="5F6B7A"/>
              </a:buClr>
              <a:buSzPts val="1000"/>
              <a:buFont typeface="Calibri"/>
              <a:buNone/>
            </a:pPr>
            <a:r>
              <a:rPr b="0" i="0" lang="en-US" sz="1000" u="none" cap="none" strike="noStrike">
                <a:solidFill>
                  <a:srgbClr val="5F6B7A"/>
                </a:solidFill>
                <a:latin typeface="Calibri"/>
                <a:ea typeface="Calibri"/>
                <a:cs typeface="Calibri"/>
                <a:sym typeface="Calibri"/>
              </a:rPr>
              <a:t>from 447 relabels</a:t>
            </a:r>
            <a:endParaRPr b="0" i="0" sz="1000" u="none" cap="none" strike="noStrike">
              <a:solidFill>
                <a:schemeClr val="dk1"/>
              </a:solidFill>
              <a:latin typeface="Calibri"/>
              <a:ea typeface="Calibri"/>
              <a:cs typeface="Calibri"/>
              <a:sym typeface="Calibri"/>
            </a:endParaRPr>
          </a:p>
        </p:txBody>
      </p:sp>
    </p:spTree>
  </p:cSld>
  <p:clrMapOvr>
    <a:masterClrMapping/>
  </p:clrMapOvr>
</p:sld>
</file>

<file path=ppt/slides/slide1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41F49"/>
        </a:solidFill>
      </p:bgPr>
    </p:bg>
    <p:spTree>
      <p:nvGrpSpPr>
        <p:cNvPr id="3433" name="Shape 3433"/>
        <p:cNvGrpSpPr/>
        <p:nvPr/>
      </p:nvGrpSpPr>
      <p:grpSpPr>
        <a:xfrm>
          <a:off x="0" y="0"/>
          <a:ext cx="0" cy="0"/>
          <a:chOff x="0" y="0"/>
          <a:chExt cx="0" cy="0"/>
        </a:xfrm>
      </p:grpSpPr>
      <p:sp>
        <p:nvSpPr>
          <p:cNvPr id="3434" name="Google Shape;3434;p124"/>
          <p:cNvSpPr/>
          <p:nvPr/>
        </p:nvSpPr>
        <p:spPr>
          <a:xfrm>
            <a:off x="9418320" y="6149340"/>
            <a:ext cx="411480" cy="356616"/>
          </a:xfrm>
          <a:prstGeom prst="triangle">
            <a:avLst>
              <a:gd fmla="val 50000" name="adj"/>
            </a:avLst>
          </a:prstGeom>
          <a:solidFill>
            <a:srgbClr val="00A79D">
              <a:alpha val="18039"/>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35" name="Google Shape;3435;p124"/>
          <p:cNvSpPr/>
          <p:nvPr/>
        </p:nvSpPr>
        <p:spPr>
          <a:xfrm rot="10800000">
            <a:off x="9857232" y="5806440"/>
            <a:ext cx="411480" cy="356616"/>
          </a:xfrm>
          <a:prstGeom prst="triangle">
            <a:avLst>
              <a:gd fmla="val 50000" name="adj"/>
            </a:avLst>
          </a:prstGeom>
          <a:solidFill>
            <a:srgbClr val="29ABE2">
              <a:alpha val="18039"/>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36" name="Google Shape;3436;p124"/>
          <p:cNvSpPr/>
          <p:nvPr/>
        </p:nvSpPr>
        <p:spPr>
          <a:xfrm rot="10800000">
            <a:off x="9857232" y="6492240"/>
            <a:ext cx="411480" cy="356616"/>
          </a:xfrm>
          <a:prstGeom prst="triangle">
            <a:avLst>
              <a:gd fmla="val 50000" name="adj"/>
            </a:avLst>
          </a:prstGeom>
          <a:solidFill>
            <a:srgbClr val="F58220">
              <a:alpha val="18039"/>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37" name="Google Shape;3437;p124"/>
          <p:cNvSpPr/>
          <p:nvPr/>
        </p:nvSpPr>
        <p:spPr>
          <a:xfrm>
            <a:off x="10296144" y="6149340"/>
            <a:ext cx="411480" cy="356616"/>
          </a:xfrm>
          <a:prstGeom prst="triangle">
            <a:avLst>
              <a:gd fmla="val 50000" name="adj"/>
            </a:avLst>
          </a:prstGeom>
          <a:solidFill>
            <a:srgbClr val="8DC63F">
              <a:alpha val="18039"/>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38" name="Google Shape;3438;p124"/>
          <p:cNvSpPr/>
          <p:nvPr/>
        </p:nvSpPr>
        <p:spPr>
          <a:xfrm>
            <a:off x="10296144" y="5463540"/>
            <a:ext cx="411480" cy="356616"/>
          </a:xfrm>
          <a:prstGeom prst="triangle">
            <a:avLst>
              <a:gd fmla="val 50000" name="adj"/>
            </a:avLst>
          </a:prstGeom>
          <a:solidFill>
            <a:srgbClr val="1D2A5C">
              <a:alpha val="18039"/>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39" name="Google Shape;3439;p124"/>
          <p:cNvSpPr/>
          <p:nvPr/>
        </p:nvSpPr>
        <p:spPr>
          <a:xfrm rot="10800000">
            <a:off x="10735056" y="5806440"/>
            <a:ext cx="411480" cy="356616"/>
          </a:xfrm>
          <a:prstGeom prst="triangle">
            <a:avLst>
              <a:gd fmla="val 50000" name="adj"/>
            </a:avLst>
          </a:prstGeom>
          <a:solidFill>
            <a:srgbClr val="29ABE2">
              <a:alpha val="18039"/>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40" name="Google Shape;3440;p124"/>
          <p:cNvSpPr/>
          <p:nvPr/>
        </p:nvSpPr>
        <p:spPr>
          <a:xfrm>
            <a:off x="10735056" y="6492240"/>
            <a:ext cx="411480" cy="356616"/>
          </a:xfrm>
          <a:prstGeom prst="triangle">
            <a:avLst>
              <a:gd fmla="val 50000" name="adj"/>
            </a:avLst>
          </a:prstGeom>
          <a:solidFill>
            <a:srgbClr val="00A79D">
              <a:alpha val="18039"/>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41" name="Google Shape;3441;p124"/>
          <p:cNvSpPr/>
          <p:nvPr/>
        </p:nvSpPr>
        <p:spPr>
          <a:xfrm rot="10800000">
            <a:off x="11173968" y="6149340"/>
            <a:ext cx="411480" cy="356616"/>
          </a:xfrm>
          <a:prstGeom prst="triangle">
            <a:avLst>
              <a:gd fmla="val 50000" name="adj"/>
            </a:avLst>
          </a:prstGeom>
          <a:solidFill>
            <a:srgbClr val="F58220">
              <a:alpha val="18039"/>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42" name="Google Shape;3442;p124"/>
          <p:cNvSpPr/>
          <p:nvPr/>
        </p:nvSpPr>
        <p:spPr>
          <a:xfrm>
            <a:off x="365760" y="747522"/>
            <a:ext cx="233172" cy="202082"/>
          </a:xfrm>
          <a:prstGeom prst="triangle">
            <a:avLst>
              <a:gd fmla="val 50000" name="adj"/>
            </a:avLst>
          </a:prstGeom>
          <a:solidFill>
            <a:srgbClr val="00A79D">
              <a:alpha val="18039"/>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43" name="Google Shape;3443;p124"/>
          <p:cNvSpPr/>
          <p:nvPr/>
        </p:nvSpPr>
        <p:spPr>
          <a:xfrm rot="10800000">
            <a:off x="614477" y="553212"/>
            <a:ext cx="233172" cy="202082"/>
          </a:xfrm>
          <a:prstGeom prst="triangle">
            <a:avLst>
              <a:gd fmla="val 50000" name="adj"/>
            </a:avLst>
          </a:prstGeom>
          <a:solidFill>
            <a:srgbClr val="29ABE2">
              <a:alpha val="18039"/>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44" name="Google Shape;3444;p124"/>
          <p:cNvSpPr/>
          <p:nvPr/>
        </p:nvSpPr>
        <p:spPr>
          <a:xfrm rot="10800000">
            <a:off x="614477" y="941832"/>
            <a:ext cx="233172" cy="202082"/>
          </a:xfrm>
          <a:prstGeom prst="triangle">
            <a:avLst>
              <a:gd fmla="val 50000" name="adj"/>
            </a:avLst>
          </a:prstGeom>
          <a:solidFill>
            <a:srgbClr val="F58220">
              <a:alpha val="18039"/>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45" name="Google Shape;3445;p124"/>
          <p:cNvSpPr/>
          <p:nvPr/>
        </p:nvSpPr>
        <p:spPr>
          <a:xfrm>
            <a:off x="863194" y="747522"/>
            <a:ext cx="233172" cy="202082"/>
          </a:xfrm>
          <a:prstGeom prst="triangle">
            <a:avLst>
              <a:gd fmla="val 50000" name="adj"/>
            </a:avLst>
          </a:prstGeom>
          <a:solidFill>
            <a:srgbClr val="8DC63F">
              <a:alpha val="18039"/>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46" name="Google Shape;3446;p124"/>
          <p:cNvSpPr/>
          <p:nvPr/>
        </p:nvSpPr>
        <p:spPr>
          <a:xfrm>
            <a:off x="863194" y="358902"/>
            <a:ext cx="233172" cy="202082"/>
          </a:xfrm>
          <a:prstGeom prst="triangle">
            <a:avLst>
              <a:gd fmla="val 50000" name="adj"/>
            </a:avLst>
          </a:prstGeom>
          <a:solidFill>
            <a:srgbClr val="1D2A5C">
              <a:alpha val="18039"/>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47" name="Google Shape;3447;p124"/>
          <p:cNvSpPr/>
          <p:nvPr/>
        </p:nvSpPr>
        <p:spPr>
          <a:xfrm rot="10800000">
            <a:off x="1111910" y="553212"/>
            <a:ext cx="233172" cy="202082"/>
          </a:xfrm>
          <a:prstGeom prst="triangle">
            <a:avLst>
              <a:gd fmla="val 50000" name="adj"/>
            </a:avLst>
          </a:prstGeom>
          <a:solidFill>
            <a:srgbClr val="29ABE2">
              <a:alpha val="18039"/>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48" name="Google Shape;3448;p124"/>
          <p:cNvSpPr/>
          <p:nvPr/>
        </p:nvSpPr>
        <p:spPr>
          <a:xfrm>
            <a:off x="1111910" y="941832"/>
            <a:ext cx="233172" cy="202082"/>
          </a:xfrm>
          <a:prstGeom prst="triangle">
            <a:avLst>
              <a:gd fmla="val 50000" name="adj"/>
            </a:avLst>
          </a:prstGeom>
          <a:solidFill>
            <a:srgbClr val="00A79D">
              <a:alpha val="18039"/>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49" name="Google Shape;3449;p124"/>
          <p:cNvSpPr/>
          <p:nvPr/>
        </p:nvSpPr>
        <p:spPr>
          <a:xfrm rot="10800000">
            <a:off x="1360627" y="747522"/>
            <a:ext cx="233172" cy="202082"/>
          </a:xfrm>
          <a:prstGeom prst="triangle">
            <a:avLst>
              <a:gd fmla="val 50000" name="adj"/>
            </a:avLst>
          </a:prstGeom>
          <a:solidFill>
            <a:srgbClr val="F58220">
              <a:alpha val="18039"/>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50" name="Google Shape;3450;p124"/>
          <p:cNvSpPr/>
          <p:nvPr/>
        </p:nvSpPr>
        <p:spPr>
          <a:xfrm>
            <a:off x="10332720" y="347472"/>
            <a:ext cx="1481328" cy="566928"/>
          </a:xfrm>
          <a:prstGeom prst="roundRect">
            <a:avLst>
              <a:gd fmla="val 14516" name="adj"/>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sessions/blissful-determined-ritchie/build/assets/sdaia_logo.png" id="3451" name="Google Shape;3451;p124"/>
          <p:cNvPicPr preferRelativeResize="0"/>
          <p:nvPr/>
        </p:nvPicPr>
        <p:blipFill rotWithShape="1">
          <a:blip r:embed="rId3">
            <a:alphaModFix/>
          </a:blip>
          <a:srcRect b="0" l="0" r="0" t="0"/>
          <a:stretch/>
        </p:blipFill>
        <p:spPr>
          <a:xfrm>
            <a:off x="10442448" y="438912"/>
            <a:ext cx="1261872" cy="308876"/>
          </a:xfrm>
          <a:prstGeom prst="rect">
            <a:avLst/>
          </a:prstGeom>
          <a:noFill/>
          <a:ln>
            <a:noFill/>
          </a:ln>
        </p:spPr>
      </p:pic>
      <p:sp>
        <p:nvSpPr>
          <p:cNvPr id="3452" name="Google Shape;3452;p124"/>
          <p:cNvSpPr/>
          <p:nvPr/>
        </p:nvSpPr>
        <p:spPr>
          <a:xfrm>
            <a:off x="777240" y="1325880"/>
            <a:ext cx="548640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A79D"/>
              </a:buClr>
              <a:buSzPts val="2000"/>
              <a:buFont typeface="Calibri"/>
              <a:buNone/>
            </a:pPr>
            <a:r>
              <a:rPr b="1" i="0" lang="en-US" sz="2000" u="none" cap="none" strike="noStrike">
                <a:solidFill>
                  <a:srgbClr val="00A79D"/>
                </a:solidFill>
                <a:latin typeface="Calibri"/>
                <a:ea typeface="Calibri"/>
                <a:cs typeface="Calibri"/>
                <a:sym typeface="Calibri"/>
              </a:rPr>
              <a:t>DAY 4</a:t>
            </a:r>
            <a:endParaRPr b="0" i="0" sz="2000" u="none" cap="none" strike="noStrike">
              <a:solidFill>
                <a:schemeClr val="dk1"/>
              </a:solidFill>
              <a:latin typeface="Calibri"/>
              <a:ea typeface="Calibri"/>
              <a:cs typeface="Calibri"/>
              <a:sym typeface="Calibri"/>
            </a:endParaRPr>
          </a:p>
        </p:txBody>
      </p:sp>
      <p:sp>
        <p:nvSpPr>
          <p:cNvPr id="3453" name="Google Shape;3453;p124"/>
          <p:cNvSpPr/>
          <p:nvPr/>
        </p:nvSpPr>
        <p:spPr>
          <a:xfrm>
            <a:off x="749808" y="1828800"/>
            <a:ext cx="7589520" cy="13716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FFFFFF"/>
              </a:buClr>
              <a:buSzPts val="3600"/>
              <a:buFont typeface="Calibri"/>
              <a:buNone/>
            </a:pPr>
            <a:r>
              <a:rPr b="1" i="0" lang="en-US" sz="3600" u="none" cap="none" strike="noStrike">
                <a:solidFill>
                  <a:srgbClr val="FFFFFF"/>
                </a:solidFill>
                <a:latin typeface="Calibri"/>
                <a:ea typeface="Calibri"/>
                <a:cs typeface="Calibri"/>
                <a:sym typeface="Calibri"/>
              </a:rPr>
              <a:t>Ship It to the Line</a:t>
            </a:r>
            <a:endParaRPr b="0" i="0" sz="3600" u="none" cap="none" strike="noStrike">
              <a:solidFill>
                <a:schemeClr val="dk1"/>
              </a:solidFill>
              <a:latin typeface="Calibri"/>
              <a:ea typeface="Calibri"/>
              <a:cs typeface="Calibri"/>
              <a:sym typeface="Calibri"/>
            </a:endParaRPr>
          </a:p>
        </p:txBody>
      </p:sp>
      <p:sp>
        <p:nvSpPr>
          <p:cNvPr id="3454" name="Google Shape;3454;p124"/>
          <p:cNvSpPr/>
          <p:nvPr/>
        </p:nvSpPr>
        <p:spPr>
          <a:xfrm>
            <a:off x="777240" y="2852928"/>
            <a:ext cx="758952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B9C8E8"/>
              </a:buClr>
              <a:buSzPts val="1700"/>
              <a:buFont typeface="Arial"/>
              <a:buNone/>
            </a:pPr>
            <a:r>
              <a:rPr b="0" i="0" lang="en-US" sz="1700" u="none" cap="none" strike="noStrike">
                <a:solidFill>
                  <a:srgbClr val="B9C8E8"/>
                </a:solidFill>
                <a:latin typeface="Arial"/>
                <a:ea typeface="Arial"/>
                <a:cs typeface="Arial"/>
                <a:sym typeface="Arial"/>
              </a:rPr>
              <a:t>أوصلها إلى خط الإنتاج</a:t>
            </a:r>
            <a:endParaRPr b="0" i="0" sz="1700" u="none" cap="none" strike="noStrike">
              <a:solidFill>
                <a:schemeClr val="dk1"/>
              </a:solidFill>
              <a:latin typeface="Calibri"/>
              <a:ea typeface="Calibri"/>
              <a:cs typeface="Calibri"/>
              <a:sym typeface="Calibri"/>
            </a:endParaRPr>
          </a:p>
        </p:txBody>
      </p:sp>
      <p:sp>
        <p:nvSpPr>
          <p:cNvPr id="3455" name="Google Shape;3455;p124"/>
          <p:cNvSpPr/>
          <p:nvPr/>
        </p:nvSpPr>
        <p:spPr>
          <a:xfrm>
            <a:off x="804672" y="3520440"/>
            <a:ext cx="6949440" cy="2560320"/>
          </a:xfrm>
          <a:prstGeom prst="rect">
            <a:avLst/>
          </a:prstGeom>
          <a:noFill/>
          <a:ln>
            <a:noFill/>
          </a:ln>
        </p:spPr>
        <p:txBody>
          <a:bodyPr anchorCtr="0" anchor="t" bIns="0" lIns="0" spcFirstLastPara="1" rIns="0" wrap="square" tIns="0">
            <a:noAutofit/>
          </a:bodyPr>
          <a:lstStyle/>
          <a:p>
            <a:pPr indent="-177800" lvl="0" marL="177800" marR="0" rtl="0" algn="l">
              <a:spcBef>
                <a:spcPts val="0"/>
              </a:spcBef>
              <a:spcAft>
                <a:spcPts val="0"/>
              </a:spcAft>
              <a:buClr>
                <a:srgbClr val="DCE6F8"/>
              </a:buClr>
              <a:buSzPts val="1300"/>
              <a:buFont typeface="Calibri"/>
              <a:buChar char="▪"/>
            </a:pPr>
            <a:r>
              <a:rPr b="0" i="0" lang="en-US" sz="1300" u="none" cap="none" strike="noStrike">
                <a:solidFill>
                  <a:srgbClr val="DCE6F8"/>
                </a:solidFill>
                <a:latin typeface="Calibri"/>
                <a:ea typeface="Calibri"/>
                <a:cs typeface="Calibri"/>
                <a:sym typeface="Calibri"/>
              </a:rPr>
              <a:t>H1: Deployment &amp; edge optimisation (M7)</a:t>
            </a:r>
            <a:endParaRPr b="0" i="0" sz="1300" u="none" cap="none" strike="noStrike">
              <a:solidFill>
                <a:schemeClr val="dk1"/>
              </a:solidFill>
              <a:latin typeface="Calibri"/>
              <a:ea typeface="Calibri"/>
              <a:cs typeface="Calibri"/>
              <a:sym typeface="Calibri"/>
            </a:endParaRPr>
          </a:p>
          <a:p>
            <a:pPr indent="-177800" lvl="0" marL="177800" marR="0" rtl="0" algn="l">
              <a:spcBef>
                <a:spcPts val="800"/>
              </a:spcBef>
              <a:spcAft>
                <a:spcPts val="0"/>
              </a:spcAft>
              <a:buClr>
                <a:srgbClr val="DCE6F8"/>
              </a:buClr>
              <a:buSzPts val="1300"/>
              <a:buFont typeface="Calibri"/>
              <a:buChar char="▪"/>
            </a:pPr>
            <a:r>
              <a:rPr b="0" i="0" lang="en-US" sz="1300" u="none" cap="none" strike="noStrike">
                <a:solidFill>
                  <a:srgbClr val="DCE6F8"/>
                </a:solidFill>
                <a:latin typeface="Calibri"/>
                <a:ea typeface="Calibri"/>
                <a:cs typeface="Calibri"/>
                <a:sym typeface="Calibri"/>
              </a:rPr>
              <a:t>H2: Lab 7 — Export, optimise, benchmark</a:t>
            </a:r>
            <a:endParaRPr b="0" i="0" sz="1300" u="none" cap="none" strike="noStrike">
              <a:solidFill>
                <a:schemeClr val="dk1"/>
              </a:solidFill>
              <a:latin typeface="Calibri"/>
              <a:ea typeface="Calibri"/>
              <a:cs typeface="Calibri"/>
              <a:sym typeface="Calibri"/>
            </a:endParaRPr>
          </a:p>
          <a:p>
            <a:pPr indent="-177800" lvl="0" marL="177800" marR="0" rtl="0" algn="l">
              <a:spcBef>
                <a:spcPts val="800"/>
              </a:spcBef>
              <a:spcAft>
                <a:spcPts val="0"/>
              </a:spcAft>
              <a:buClr>
                <a:srgbClr val="DCE6F8"/>
              </a:buClr>
              <a:buSzPts val="1300"/>
              <a:buFont typeface="Calibri"/>
              <a:buChar char="▪"/>
            </a:pPr>
            <a:r>
              <a:rPr b="0" i="0" lang="en-US" sz="1300" u="none" cap="none" strike="noStrike">
                <a:solidFill>
                  <a:srgbClr val="DCE6F8"/>
                </a:solidFill>
                <a:latin typeface="Calibri"/>
                <a:ea typeface="Calibri"/>
                <a:cs typeface="Calibri"/>
                <a:sym typeface="Calibri"/>
              </a:rPr>
              <a:t>H3: Capstone assembly I — integrate the pipeline</a:t>
            </a:r>
            <a:endParaRPr b="0" i="0" sz="1300" u="none" cap="none" strike="noStrike">
              <a:solidFill>
                <a:schemeClr val="dk1"/>
              </a:solidFill>
              <a:latin typeface="Calibri"/>
              <a:ea typeface="Calibri"/>
              <a:cs typeface="Calibri"/>
              <a:sym typeface="Calibri"/>
            </a:endParaRPr>
          </a:p>
          <a:p>
            <a:pPr indent="-177800" lvl="0" marL="177800" marR="0" rtl="0" algn="l">
              <a:spcBef>
                <a:spcPts val="800"/>
              </a:spcBef>
              <a:spcAft>
                <a:spcPts val="0"/>
              </a:spcAft>
              <a:buClr>
                <a:srgbClr val="DCE6F8"/>
              </a:buClr>
              <a:buSzPts val="1300"/>
              <a:buFont typeface="Calibri"/>
              <a:buChar char="▪"/>
            </a:pPr>
            <a:r>
              <a:rPr b="0" i="0" lang="en-US" sz="1300" u="none" cap="none" strike="noStrike">
                <a:solidFill>
                  <a:srgbClr val="DCE6F8"/>
                </a:solidFill>
                <a:latin typeface="Calibri"/>
                <a:ea typeface="Calibri"/>
                <a:cs typeface="Calibri"/>
                <a:sym typeface="Calibri"/>
              </a:rPr>
              <a:t>H4: Capstone assembly II + self-audit + peer review</a:t>
            </a:r>
            <a:endParaRPr b="0" i="0" sz="1300" u="none" cap="none" strike="noStrike">
              <a:solidFill>
                <a:schemeClr val="dk1"/>
              </a:solidFill>
              <a:latin typeface="Calibri"/>
              <a:ea typeface="Calibri"/>
              <a:cs typeface="Calibri"/>
              <a:sym typeface="Calibri"/>
            </a:endParaRPr>
          </a:p>
          <a:p>
            <a:pPr indent="-177800" lvl="0" marL="177800" marR="0" rtl="0" algn="l">
              <a:spcBef>
                <a:spcPts val="800"/>
              </a:spcBef>
              <a:spcAft>
                <a:spcPts val="0"/>
              </a:spcAft>
              <a:buClr>
                <a:srgbClr val="DCE6F8"/>
              </a:buClr>
              <a:buSzPts val="1300"/>
              <a:buFont typeface="Calibri"/>
              <a:buChar char="▪"/>
            </a:pPr>
            <a:r>
              <a:rPr b="0" i="0" lang="en-US" sz="1300" u="none" cap="none" strike="noStrike">
                <a:solidFill>
                  <a:srgbClr val="DCE6F8"/>
                </a:solidFill>
                <a:latin typeface="Calibri"/>
                <a:ea typeface="Calibri"/>
                <a:cs typeface="Calibri"/>
                <a:sym typeface="Calibri"/>
              </a:rPr>
              <a:t>H5: Capstone demos + assessment + wrap-up</a:t>
            </a:r>
            <a:endParaRPr b="0" i="0" sz="1300" u="none" cap="none" strike="noStrike">
              <a:solidFill>
                <a:schemeClr val="dk1"/>
              </a:solidFill>
              <a:latin typeface="Calibri"/>
              <a:ea typeface="Calibri"/>
              <a:cs typeface="Calibri"/>
              <a:sym typeface="Calibri"/>
            </a:endParaRPr>
          </a:p>
        </p:txBody>
      </p:sp>
      <p:sp>
        <p:nvSpPr>
          <p:cNvPr id="3456" name="Google Shape;3456;p124"/>
          <p:cNvSpPr/>
          <p:nvPr/>
        </p:nvSpPr>
        <p:spPr>
          <a:xfrm>
            <a:off x="8366760" y="3520440"/>
            <a:ext cx="3383280" cy="2286000"/>
          </a:xfrm>
          <a:prstGeom prst="roundRect">
            <a:avLst>
              <a:gd fmla="val 4000" name="adj"/>
            </a:avLst>
          </a:prstGeom>
          <a:solidFill>
            <a:srgbClr val="1C2C63"/>
          </a:solidFill>
          <a:ln cap="flat" cmpd="sng" w="15875">
            <a:solidFill>
              <a:srgbClr val="00A79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57" name="Google Shape;3457;p124"/>
          <p:cNvSpPr/>
          <p:nvPr/>
        </p:nvSpPr>
        <p:spPr>
          <a:xfrm>
            <a:off x="8595360" y="3703320"/>
            <a:ext cx="292608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A79D"/>
              </a:buClr>
              <a:buSzPts val="1000"/>
              <a:buFont typeface="Calibri"/>
              <a:buNone/>
            </a:pPr>
            <a:r>
              <a:rPr b="1" i="0" lang="en-US" sz="1000" u="none" cap="none" strike="noStrike">
                <a:solidFill>
                  <a:srgbClr val="00A79D"/>
                </a:solidFill>
                <a:latin typeface="Calibri"/>
                <a:ea typeface="Calibri"/>
                <a:cs typeface="Calibri"/>
                <a:sym typeface="Calibri"/>
              </a:rPr>
              <a:t>END-OF-DAY DELIVERABLE</a:t>
            </a:r>
            <a:endParaRPr b="0" i="0" sz="1000" u="none" cap="none" strike="noStrike">
              <a:solidFill>
                <a:schemeClr val="dk1"/>
              </a:solidFill>
              <a:latin typeface="Calibri"/>
              <a:ea typeface="Calibri"/>
              <a:cs typeface="Calibri"/>
              <a:sym typeface="Calibri"/>
            </a:endParaRPr>
          </a:p>
        </p:txBody>
      </p:sp>
      <p:sp>
        <p:nvSpPr>
          <p:cNvPr id="3458" name="Google Shape;3458;p124"/>
          <p:cNvSpPr/>
          <p:nvPr/>
        </p:nvSpPr>
        <p:spPr>
          <a:xfrm>
            <a:off x="8595360" y="4041648"/>
            <a:ext cx="2971800" cy="16002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FFFFFF"/>
              </a:buClr>
              <a:buSzPts val="1250"/>
              <a:buFont typeface="Calibri"/>
              <a:buNone/>
            </a:pPr>
            <a:r>
              <a:rPr b="0" i="0" lang="en-US" sz="1250" u="none" cap="none" strike="noStrike">
                <a:solidFill>
                  <a:srgbClr val="FFFFFF"/>
                </a:solidFill>
                <a:latin typeface="Calibri"/>
                <a:ea typeface="Calibri"/>
                <a:cs typeface="Calibri"/>
                <a:sym typeface="Calibri"/>
              </a:rPr>
              <a:t>ONNX-exported, benchmarked edge models + capstone demo of the full inspection system</a:t>
            </a:r>
            <a:endParaRPr b="0" i="0" sz="1250" u="none" cap="none" strike="noStrike">
              <a:solidFill>
                <a:schemeClr val="dk1"/>
              </a:solidFill>
              <a:latin typeface="Calibri"/>
              <a:ea typeface="Calibri"/>
              <a:cs typeface="Calibri"/>
              <a:sym typeface="Calibri"/>
            </a:endParaRPr>
          </a:p>
        </p:txBody>
      </p:sp>
      <p:sp>
        <p:nvSpPr>
          <p:cNvPr id="3459" name="Google Shape;3459;p124"/>
          <p:cNvSpPr/>
          <p:nvPr/>
        </p:nvSpPr>
        <p:spPr>
          <a:xfrm>
            <a:off x="11292840" y="6528816"/>
            <a:ext cx="411480" cy="219456"/>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5A6A96"/>
              </a:buClr>
              <a:buSzPts val="900"/>
              <a:buFont typeface="Calibri"/>
              <a:buNone/>
            </a:pPr>
            <a:r>
              <a:rPr b="0" i="0" lang="en-US" sz="900" u="none" cap="none" strike="noStrike">
                <a:solidFill>
                  <a:srgbClr val="5A6A96"/>
                </a:solidFill>
                <a:latin typeface="Calibri"/>
                <a:ea typeface="Calibri"/>
                <a:cs typeface="Calibri"/>
                <a:sym typeface="Calibri"/>
              </a:rPr>
              <a:t>124</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1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464" name="Shape 3464"/>
        <p:cNvGrpSpPr/>
        <p:nvPr/>
      </p:nvGrpSpPr>
      <p:grpSpPr>
        <a:xfrm>
          <a:off x="0" y="0"/>
          <a:ext cx="0" cy="0"/>
          <a:chOff x="0" y="0"/>
          <a:chExt cx="0" cy="0"/>
        </a:xfrm>
      </p:grpSpPr>
      <p:sp>
        <p:nvSpPr>
          <p:cNvPr id="3465" name="Google Shape;3465;p125"/>
          <p:cNvSpPr/>
          <p:nvPr/>
        </p:nvSpPr>
        <p:spPr>
          <a:xfrm>
            <a:off x="502920" y="274320"/>
            <a:ext cx="9646920" cy="56692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D2A5C"/>
              </a:buClr>
              <a:buSzPts val="2700"/>
              <a:buFont typeface="Calibri"/>
              <a:buNone/>
            </a:pPr>
            <a:r>
              <a:rPr b="1" i="0" lang="en-US" sz="2700" u="none" cap="none" strike="noStrike">
                <a:solidFill>
                  <a:srgbClr val="1D2A5C"/>
                </a:solidFill>
                <a:latin typeface="Calibri"/>
                <a:ea typeface="Calibri"/>
                <a:cs typeface="Calibri"/>
                <a:sym typeface="Calibri"/>
              </a:rPr>
              <a:t>Day 4 hour by hour</a:t>
            </a:r>
            <a:endParaRPr b="0" i="0" sz="2700" u="none" cap="none" strike="noStrike">
              <a:solidFill>
                <a:schemeClr val="dk1"/>
              </a:solidFill>
              <a:latin typeface="Calibri"/>
              <a:ea typeface="Calibri"/>
              <a:cs typeface="Calibri"/>
              <a:sym typeface="Calibri"/>
            </a:endParaRPr>
          </a:p>
        </p:txBody>
      </p:sp>
      <p:sp>
        <p:nvSpPr>
          <p:cNvPr id="3466" name="Google Shape;3466;p125"/>
          <p:cNvSpPr/>
          <p:nvPr/>
        </p:nvSpPr>
        <p:spPr>
          <a:xfrm>
            <a:off x="502920" y="859536"/>
            <a:ext cx="9646920" cy="31089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F6B7A"/>
              </a:buClr>
              <a:buSzPts val="1250"/>
              <a:buFont typeface="Arial"/>
              <a:buNone/>
            </a:pPr>
            <a:r>
              <a:rPr b="0" i="0" lang="en-US" sz="1250" u="none" cap="none" strike="noStrike">
                <a:solidFill>
                  <a:srgbClr val="5F6B7A"/>
                </a:solidFill>
                <a:latin typeface="Arial"/>
                <a:ea typeface="Arial"/>
                <a:cs typeface="Arial"/>
                <a:sym typeface="Arial"/>
              </a:rPr>
              <a:t>اليوم الرابع ساعة بساعة</a:t>
            </a:r>
            <a:endParaRPr b="0" i="0" sz="1250" u="none" cap="none" strike="noStrike">
              <a:solidFill>
                <a:schemeClr val="dk1"/>
              </a:solidFill>
              <a:latin typeface="Calibri"/>
              <a:ea typeface="Calibri"/>
              <a:cs typeface="Calibri"/>
              <a:sym typeface="Calibri"/>
            </a:endParaRPr>
          </a:p>
        </p:txBody>
      </p:sp>
      <p:pic>
        <p:nvPicPr>
          <p:cNvPr descr="/sessions/blissful-determined-ritchie/build/assets/sdaia_logo.png" id="3467" name="Google Shape;3467;p125"/>
          <p:cNvPicPr preferRelativeResize="0"/>
          <p:nvPr/>
        </p:nvPicPr>
        <p:blipFill rotWithShape="1">
          <a:blip r:embed="rId3">
            <a:alphaModFix/>
          </a:blip>
          <a:srcRect b="0" l="0" r="0" t="0"/>
          <a:stretch/>
        </p:blipFill>
        <p:spPr>
          <a:xfrm>
            <a:off x="10625328" y="310896"/>
            <a:ext cx="1078992" cy="264111"/>
          </a:xfrm>
          <a:prstGeom prst="rect">
            <a:avLst/>
          </a:prstGeom>
          <a:noFill/>
          <a:ln>
            <a:noFill/>
          </a:ln>
        </p:spPr>
      </p:pic>
      <p:sp>
        <p:nvSpPr>
          <p:cNvPr id="3468" name="Google Shape;3468;p125"/>
          <p:cNvSpPr/>
          <p:nvPr/>
        </p:nvSpPr>
        <p:spPr>
          <a:xfrm>
            <a:off x="502920" y="6528816"/>
            <a:ext cx="8686800"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A79D"/>
              </a:buClr>
              <a:buSzPts val="800"/>
              <a:buFont typeface="Calibri"/>
              <a:buNone/>
            </a:pPr>
            <a:r>
              <a:rPr b="1" i="0" lang="en-US" sz="800" u="none" cap="none" strike="noStrike">
                <a:solidFill>
                  <a:srgbClr val="00A79D"/>
                </a:solidFill>
                <a:latin typeface="Calibri"/>
                <a:ea typeface="Calibri"/>
                <a:cs typeface="Calibri"/>
                <a:sym typeface="Calibri"/>
              </a:rPr>
              <a:t>DAY 4   </a:t>
            </a:r>
            <a:r>
              <a:rPr b="0" i="0" lang="en-US" sz="800" u="none" cap="none" strike="noStrike">
                <a:solidFill>
                  <a:srgbClr val="8A96A6"/>
                </a:solidFill>
                <a:latin typeface="Calibri"/>
                <a:ea typeface="Calibri"/>
                <a:cs typeface="Calibri"/>
                <a:sym typeface="Calibri"/>
              </a:rPr>
              <a:t>SDA-AIE-212 · Computer Vision Systems Development</a:t>
            </a:r>
            <a:endParaRPr b="0" i="0" sz="800" u="none" cap="none" strike="noStrike">
              <a:solidFill>
                <a:schemeClr val="dk1"/>
              </a:solidFill>
              <a:latin typeface="Calibri"/>
              <a:ea typeface="Calibri"/>
              <a:cs typeface="Calibri"/>
              <a:sym typeface="Calibri"/>
            </a:endParaRPr>
          </a:p>
        </p:txBody>
      </p:sp>
      <p:sp>
        <p:nvSpPr>
          <p:cNvPr id="3469" name="Google Shape;3469;p125"/>
          <p:cNvSpPr/>
          <p:nvPr/>
        </p:nvSpPr>
        <p:spPr>
          <a:xfrm>
            <a:off x="11292840" y="6528816"/>
            <a:ext cx="411480" cy="219456"/>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8A96A6"/>
              </a:buClr>
              <a:buSzPts val="900"/>
              <a:buFont typeface="Calibri"/>
              <a:buNone/>
            </a:pPr>
            <a:r>
              <a:rPr b="0" i="0" lang="en-US" sz="900" u="none" cap="none" strike="noStrike">
                <a:solidFill>
                  <a:srgbClr val="8A96A6"/>
                </a:solidFill>
                <a:latin typeface="Calibri"/>
                <a:ea typeface="Calibri"/>
                <a:cs typeface="Calibri"/>
                <a:sym typeface="Calibri"/>
              </a:rPr>
              <a:t>125</a:t>
            </a:r>
            <a:endParaRPr b="0" i="0" sz="900" u="none" cap="none" strike="noStrike">
              <a:solidFill>
                <a:schemeClr val="dk1"/>
              </a:solidFill>
              <a:latin typeface="Calibri"/>
              <a:ea typeface="Calibri"/>
              <a:cs typeface="Calibri"/>
              <a:sym typeface="Calibri"/>
            </a:endParaRPr>
          </a:p>
        </p:txBody>
      </p:sp>
      <p:sp>
        <p:nvSpPr>
          <p:cNvPr id="3470" name="Google Shape;3470;p125"/>
          <p:cNvSpPr/>
          <p:nvPr/>
        </p:nvSpPr>
        <p:spPr>
          <a:xfrm>
            <a:off x="502920" y="1389888"/>
            <a:ext cx="11185855" cy="3657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5F6B7A"/>
              </a:buClr>
              <a:buSzPts val="1250"/>
              <a:buFont typeface="Calibri"/>
              <a:buNone/>
            </a:pPr>
            <a:r>
              <a:rPr b="0" i="1" lang="en-US" sz="1250" u="none" cap="none" strike="noStrike">
                <a:solidFill>
                  <a:srgbClr val="5F6B7A"/>
                </a:solidFill>
                <a:latin typeface="Calibri"/>
                <a:ea typeface="Calibri"/>
                <a:cs typeface="Calibri"/>
                <a:sym typeface="Calibri"/>
              </a:rPr>
              <a:t>25% theory / 75% lab — the most build-heavy day. Each hour = 50 min instruction + 10 min buffer.</a:t>
            </a:r>
            <a:endParaRPr b="0" i="0" sz="1250" u="none" cap="none" strike="noStrike">
              <a:solidFill>
                <a:schemeClr val="dk1"/>
              </a:solidFill>
              <a:latin typeface="Calibri"/>
              <a:ea typeface="Calibri"/>
              <a:cs typeface="Calibri"/>
              <a:sym typeface="Calibri"/>
            </a:endParaRPr>
          </a:p>
        </p:txBody>
      </p:sp>
      <p:graphicFrame>
        <p:nvGraphicFramePr>
          <p:cNvPr id="3471" name="Google Shape;3471;p125"/>
          <p:cNvGraphicFramePr/>
          <p:nvPr/>
        </p:nvGraphicFramePr>
        <p:xfrm>
          <a:off x="502920" y="1865376"/>
          <a:ext cx="3000000" cy="3000000"/>
        </p:xfrm>
        <a:graphic>
          <a:graphicData uri="http://schemas.openxmlformats.org/drawingml/2006/table">
            <a:tbl>
              <a:tblPr>
                <a:noFill/>
                <a:tableStyleId>{F80342BA-3033-44D6-9F91-622DC7A4C435}</a:tableStyleId>
              </a:tblPr>
              <a:tblGrid>
                <a:gridCol w="1413450"/>
                <a:gridCol w="4298875"/>
                <a:gridCol w="3238650"/>
                <a:gridCol w="2234875"/>
              </a:tblGrid>
              <a:tr h="713225">
                <a:tc>
                  <a:txBody>
                    <a:bodyPr/>
                    <a:lstStyle/>
                    <a:p>
                      <a:pPr indent="0" lvl="0" marL="0" marR="0" rtl="0" algn="l">
                        <a:spcBef>
                          <a:spcPts val="0"/>
                        </a:spcBef>
                        <a:spcAft>
                          <a:spcPts val="0"/>
                        </a:spcAft>
                        <a:buClr>
                          <a:srgbClr val="FFFFFF"/>
                        </a:buClr>
                        <a:buSzPts val="1150"/>
                        <a:buFont typeface="Calibri"/>
                        <a:buNone/>
                      </a:pPr>
                      <a:r>
                        <a:rPr b="1" lang="en-US" sz="1150" u="none" cap="none" strike="noStrike">
                          <a:solidFill>
                            <a:srgbClr val="FFFFFF"/>
                          </a:solidFill>
                          <a:latin typeface="Calibri"/>
                          <a:ea typeface="Calibri"/>
                          <a:cs typeface="Calibri"/>
                          <a:sym typeface="Calibri"/>
                        </a:rPr>
                        <a:t>Hour</a:t>
                      </a:r>
                      <a:endParaRPr sz="1150" u="none" cap="none" strike="noStrike">
                        <a:latin typeface="Calibri"/>
                        <a:ea typeface="Calibri"/>
                        <a:cs typeface="Calibri"/>
                        <a:sym typeface="Calibri"/>
                      </a:endParaRPr>
                    </a:p>
                  </a:txBody>
                  <a:tcPr marT="64000" marB="64000" marR="64000" marL="64000" anchor="ctr">
                    <a:lnL cap="flat" cmpd="sng" w="9525">
                      <a:solidFill>
                        <a:srgbClr val="D9E2EA"/>
                      </a:solidFill>
                      <a:prstDash val="solid"/>
                      <a:round/>
                      <a:headEnd len="sm" w="sm" type="none"/>
                      <a:tailEnd len="sm" w="sm" type="none"/>
                    </a:lnL>
                    <a:lnR cap="flat" cmpd="sng" w="9525">
                      <a:solidFill>
                        <a:srgbClr val="D9E2EA"/>
                      </a:solidFill>
                      <a:prstDash val="solid"/>
                      <a:round/>
                      <a:headEnd len="sm" w="sm" type="none"/>
                      <a:tailEnd len="sm" w="sm" type="none"/>
                    </a:lnR>
                    <a:lnT cap="flat" cmpd="sng" w="9525">
                      <a:solidFill>
                        <a:srgbClr val="D9E2EA"/>
                      </a:solidFill>
                      <a:prstDash val="solid"/>
                      <a:round/>
                      <a:headEnd len="sm" w="sm" type="none"/>
                      <a:tailEnd len="sm" w="sm" type="none"/>
                    </a:lnT>
                    <a:lnB cap="flat" cmpd="sng" w="9525">
                      <a:solidFill>
                        <a:srgbClr val="D9E2EA"/>
                      </a:solidFill>
                      <a:prstDash val="solid"/>
                      <a:round/>
                      <a:headEnd len="sm" w="sm" type="none"/>
                      <a:tailEnd len="sm" w="sm" type="none"/>
                    </a:lnB>
                    <a:solidFill>
                      <a:srgbClr val="1D2A5C"/>
                    </a:solidFill>
                  </a:tcPr>
                </a:tc>
                <a:tc>
                  <a:txBody>
                    <a:bodyPr/>
                    <a:lstStyle/>
                    <a:p>
                      <a:pPr indent="0" lvl="0" marL="0" marR="0" rtl="0" algn="l">
                        <a:spcBef>
                          <a:spcPts val="0"/>
                        </a:spcBef>
                        <a:spcAft>
                          <a:spcPts val="0"/>
                        </a:spcAft>
                        <a:buClr>
                          <a:srgbClr val="FFFFFF"/>
                        </a:buClr>
                        <a:buSzPts val="1150"/>
                        <a:buFont typeface="Calibri"/>
                        <a:buNone/>
                      </a:pPr>
                      <a:r>
                        <a:rPr b="1" lang="en-US" sz="1150" u="none" cap="none" strike="noStrike">
                          <a:solidFill>
                            <a:srgbClr val="FFFFFF"/>
                          </a:solidFill>
                          <a:latin typeface="Calibri"/>
                          <a:ea typeface="Calibri"/>
                          <a:cs typeface="Calibri"/>
                          <a:sym typeface="Calibri"/>
                        </a:rPr>
                        <a:t>Session</a:t>
                      </a:r>
                      <a:endParaRPr sz="1150" u="none" cap="none" strike="noStrike">
                        <a:latin typeface="Calibri"/>
                        <a:ea typeface="Calibri"/>
                        <a:cs typeface="Calibri"/>
                        <a:sym typeface="Calibri"/>
                      </a:endParaRPr>
                    </a:p>
                  </a:txBody>
                  <a:tcPr marT="64000" marB="64000" marR="64000" marL="64000" anchor="ctr">
                    <a:lnL cap="flat" cmpd="sng" w="9525">
                      <a:solidFill>
                        <a:srgbClr val="D9E2EA"/>
                      </a:solidFill>
                      <a:prstDash val="solid"/>
                      <a:round/>
                      <a:headEnd len="sm" w="sm" type="none"/>
                      <a:tailEnd len="sm" w="sm" type="none"/>
                    </a:lnL>
                    <a:lnR cap="flat" cmpd="sng" w="9525">
                      <a:solidFill>
                        <a:srgbClr val="D9E2EA"/>
                      </a:solidFill>
                      <a:prstDash val="solid"/>
                      <a:round/>
                      <a:headEnd len="sm" w="sm" type="none"/>
                      <a:tailEnd len="sm" w="sm" type="none"/>
                    </a:lnR>
                    <a:lnT cap="flat" cmpd="sng" w="9525">
                      <a:solidFill>
                        <a:srgbClr val="D9E2EA"/>
                      </a:solidFill>
                      <a:prstDash val="solid"/>
                      <a:round/>
                      <a:headEnd len="sm" w="sm" type="none"/>
                      <a:tailEnd len="sm" w="sm" type="none"/>
                    </a:lnT>
                    <a:lnB cap="flat" cmpd="sng" w="9525">
                      <a:solidFill>
                        <a:srgbClr val="D9E2EA"/>
                      </a:solidFill>
                      <a:prstDash val="solid"/>
                      <a:round/>
                      <a:headEnd len="sm" w="sm" type="none"/>
                      <a:tailEnd len="sm" w="sm" type="none"/>
                    </a:lnB>
                    <a:solidFill>
                      <a:srgbClr val="1D2A5C"/>
                    </a:solidFill>
                  </a:tcPr>
                </a:tc>
                <a:tc>
                  <a:txBody>
                    <a:bodyPr/>
                    <a:lstStyle/>
                    <a:p>
                      <a:pPr indent="0" lvl="0" marL="0" marR="0" rtl="0" algn="l">
                        <a:spcBef>
                          <a:spcPts val="0"/>
                        </a:spcBef>
                        <a:spcAft>
                          <a:spcPts val="0"/>
                        </a:spcAft>
                        <a:buClr>
                          <a:srgbClr val="FFFFFF"/>
                        </a:buClr>
                        <a:buSzPts val="1150"/>
                        <a:buFont typeface="Calibri"/>
                        <a:buNone/>
                      </a:pPr>
                      <a:r>
                        <a:rPr b="1" lang="en-US" sz="1150" u="none" cap="none" strike="noStrike">
                          <a:solidFill>
                            <a:srgbClr val="FFFFFF"/>
                          </a:solidFill>
                          <a:latin typeface="Calibri"/>
                          <a:ea typeface="Calibri"/>
                          <a:cs typeface="Calibri"/>
                          <a:sym typeface="Calibri"/>
                        </a:rPr>
                        <a:t>Delivery mode</a:t>
                      </a:r>
                      <a:endParaRPr sz="1150" u="none" cap="none" strike="noStrike">
                        <a:latin typeface="Calibri"/>
                        <a:ea typeface="Calibri"/>
                        <a:cs typeface="Calibri"/>
                        <a:sym typeface="Calibri"/>
                      </a:endParaRPr>
                    </a:p>
                  </a:txBody>
                  <a:tcPr marT="64000" marB="64000" marR="64000" marL="64000" anchor="ctr">
                    <a:lnL cap="flat" cmpd="sng" w="9525">
                      <a:solidFill>
                        <a:srgbClr val="D9E2EA"/>
                      </a:solidFill>
                      <a:prstDash val="solid"/>
                      <a:round/>
                      <a:headEnd len="sm" w="sm" type="none"/>
                      <a:tailEnd len="sm" w="sm" type="none"/>
                    </a:lnL>
                    <a:lnR cap="flat" cmpd="sng" w="9525">
                      <a:solidFill>
                        <a:srgbClr val="D9E2EA"/>
                      </a:solidFill>
                      <a:prstDash val="solid"/>
                      <a:round/>
                      <a:headEnd len="sm" w="sm" type="none"/>
                      <a:tailEnd len="sm" w="sm" type="none"/>
                    </a:lnR>
                    <a:lnT cap="flat" cmpd="sng" w="9525">
                      <a:solidFill>
                        <a:srgbClr val="D9E2EA"/>
                      </a:solidFill>
                      <a:prstDash val="solid"/>
                      <a:round/>
                      <a:headEnd len="sm" w="sm" type="none"/>
                      <a:tailEnd len="sm" w="sm" type="none"/>
                    </a:lnT>
                    <a:lnB cap="flat" cmpd="sng" w="9525">
                      <a:solidFill>
                        <a:srgbClr val="D9E2EA"/>
                      </a:solidFill>
                      <a:prstDash val="solid"/>
                      <a:round/>
                      <a:headEnd len="sm" w="sm" type="none"/>
                      <a:tailEnd len="sm" w="sm" type="none"/>
                    </a:lnB>
                    <a:solidFill>
                      <a:srgbClr val="1D2A5C"/>
                    </a:solidFill>
                  </a:tcPr>
                </a:tc>
                <a:tc>
                  <a:txBody>
                    <a:bodyPr/>
                    <a:lstStyle/>
                    <a:p>
                      <a:pPr indent="0" lvl="0" marL="0" marR="0" rtl="0" algn="l">
                        <a:spcBef>
                          <a:spcPts val="0"/>
                        </a:spcBef>
                        <a:spcAft>
                          <a:spcPts val="0"/>
                        </a:spcAft>
                        <a:buClr>
                          <a:srgbClr val="FFFFFF"/>
                        </a:buClr>
                        <a:buSzPts val="1150"/>
                        <a:buFont typeface="Calibri"/>
                        <a:buNone/>
                      </a:pPr>
                      <a:r>
                        <a:rPr b="1" lang="en-US" sz="1150" u="none" cap="none" strike="noStrike">
                          <a:solidFill>
                            <a:srgbClr val="FFFFFF"/>
                          </a:solidFill>
                          <a:latin typeface="Calibri"/>
                          <a:ea typeface="Calibri"/>
                          <a:cs typeface="Calibri"/>
                          <a:sym typeface="Calibri"/>
                        </a:rPr>
                        <a:t>Theory/Lab</a:t>
                      </a:r>
                      <a:endParaRPr sz="1150" u="none" cap="none" strike="noStrike">
                        <a:latin typeface="Calibri"/>
                        <a:ea typeface="Calibri"/>
                        <a:cs typeface="Calibri"/>
                        <a:sym typeface="Calibri"/>
                      </a:endParaRPr>
                    </a:p>
                  </a:txBody>
                  <a:tcPr marT="64000" marB="64000" marR="64000" marL="64000" anchor="ctr">
                    <a:lnL cap="flat" cmpd="sng" w="9525">
                      <a:solidFill>
                        <a:srgbClr val="D9E2EA"/>
                      </a:solidFill>
                      <a:prstDash val="solid"/>
                      <a:round/>
                      <a:headEnd len="sm" w="sm" type="none"/>
                      <a:tailEnd len="sm" w="sm" type="none"/>
                    </a:lnL>
                    <a:lnR cap="flat" cmpd="sng" w="9525">
                      <a:solidFill>
                        <a:srgbClr val="D9E2EA"/>
                      </a:solidFill>
                      <a:prstDash val="solid"/>
                      <a:round/>
                      <a:headEnd len="sm" w="sm" type="none"/>
                      <a:tailEnd len="sm" w="sm" type="none"/>
                    </a:lnR>
                    <a:lnT cap="flat" cmpd="sng" w="9525">
                      <a:solidFill>
                        <a:srgbClr val="D9E2EA"/>
                      </a:solidFill>
                      <a:prstDash val="solid"/>
                      <a:round/>
                      <a:headEnd len="sm" w="sm" type="none"/>
                      <a:tailEnd len="sm" w="sm" type="none"/>
                    </a:lnT>
                    <a:lnB cap="flat" cmpd="sng" w="9525">
                      <a:solidFill>
                        <a:srgbClr val="D9E2EA"/>
                      </a:solidFill>
                      <a:prstDash val="solid"/>
                      <a:round/>
                      <a:headEnd len="sm" w="sm" type="none"/>
                      <a:tailEnd len="sm" w="sm" type="none"/>
                    </a:lnB>
                    <a:solidFill>
                      <a:srgbClr val="1D2A5C"/>
                    </a:solidFill>
                  </a:tcPr>
                </a:tc>
              </a:tr>
              <a:tr h="713225">
                <a:tc>
                  <a:txBody>
                    <a:bodyPr/>
                    <a:lstStyle/>
                    <a:p>
                      <a:pPr indent="0" lvl="0" marL="0" marR="0" rtl="0" algn="l">
                        <a:spcBef>
                          <a:spcPts val="0"/>
                        </a:spcBef>
                        <a:spcAft>
                          <a:spcPts val="0"/>
                        </a:spcAft>
                        <a:buClr>
                          <a:srgbClr val="1D2A5C"/>
                        </a:buClr>
                        <a:buSzPts val="1150"/>
                        <a:buFont typeface="Calibri"/>
                        <a:buNone/>
                      </a:pPr>
                      <a:r>
                        <a:rPr b="1" lang="en-US" sz="1150" u="none" cap="none" strike="noStrike">
                          <a:solidFill>
                            <a:srgbClr val="1D2A5C"/>
                          </a:solidFill>
                          <a:latin typeface="Calibri"/>
                          <a:ea typeface="Calibri"/>
                          <a:cs typeface="Calibri"/>
                          <a:sym typeface="Calibri"/>
                        </a:rPr>
                        <a:t>1</a:t>
                      </a:r>
                      <a:endParaRPr sz="1150" u="none" cap="none" strike="noStrike">
                        <a:latin typeface="Calibri"/>
                        <a:ea typeface="Calibri"/>
                        <a:cs typeface="Calibri"/>
                        <a:sym typeface="Calibri"/>
                      </a:endParaRPr>
                    </a:p>
                  </a:txBody>
                  <a:tcPr marT="64000" marB="64000" marR="64000" marL="64000" anchor="ctr">
                    <a:lnL cap="flat" cmpd="sng" w="9525">
                      <a:solidFill>
                        <a:srgbClr val="D9E2EA"/>
                      </a:solidFill>
                      <a:prstDash val="solid"/>
                      <a:round/>
                      <a:headEnd len="sm" w="sm" type="none"/>
                      <a:tailEnd len="sm" w="sm" type="none"/>
                    </a:lnL>
                    <a:lnR cap="flat" cmpd="sng" w="9525">
                      <a:solidFill>
                        <a:srgbClr val="D9E2EA"/>
                      </a:solidFill>
                      <a:prstDash val="solid"/>
                      <a:round/>
                      <a:headEnd len="sm" w="sm" type="none"/>
                      <a:tailEnd len="sm" w="sm" type="none"/>
                    </a:lnR>
                    <a:lnT cap="flat" cmpd="sng" w="9525">
                      <a:solidFill>
                        <a:srgbClr val="D9E2EA"/>
                      </a:solidFill>
                      <a:prstDash val="solid"/>
                      <a:round/>
                      <a:headEnd len="sm" w="sm" type="none"/>
                      <a:tailEnd len="sm" w="sm" type="none"/>
                    </a:lnT>
                    <a:lnB cap="flat" cmpd="sng" w="9525">
                      <a:solidFill>
                        <a:srgbClr val="D9E2EA"/>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23293B"/>
                        </a:buClr>
                        <a:buSzPts val="1150"/>
                        <a:buFont typeface="Calibri"/>
                        <a:buNone/>
                      </a:pPr>
                      <a:r>
                        <a:rPr lang="en-US" sz="1150" u="none" cap="none" strike="noStrike">
                          <a:solidFill>
                            <a:srgbClr val="23293B"/>
                          </a:solidFill>
                          <a:latin typeface="Calibri"/>
                          <a:ea typeface="Calibri"/>
                          <a:cs typeface="Calibri"/>
                          <a:sym typeface="Calibri"/>
                        </a:rPr>
                        <a:t>Deployment &amp; edge optimisation (M7)</a:t>
                      </a:r>
                      <a:endParaRPr sz="1150" u="none" cap="none" strike="noStrike">
                        <a:latin typeface="Calibri"/>
                        <a:ea typeface="Calibri"/>
                        <a:cs typeface="Calibri"/>
                        <a:sym typeface="Calibri"/>
                      </a:endParaRPr>
                    </a:p>
                  </a:txBody>
                  <a:tcPr marT="64000" marB="64000" marR="64000" marL="64000" anchor="ctr">
                    <a:lnL cap="flat" cmpd="sng" w="9525">
                      <a:solidFill>
                        <a:srgbClr val="D9E2EA"/>
                      </a:solidFill>
                      <a:prstDash val="solid"/>
                      <a:round/>
                      <a:headEnd len="sm" w="sm" type="none"/>
                      <a:tailEnd len="sm" w="sm" type="none"/>
                    </a:lnL>
                    <a:lnR cap="flat" cmpd="sng" w="9525">
                      <a:solidFill>
                        <a:srgbClr val="D9E2EA"/>
                      </a:solidFill>
                      <a:prstDash val="solid"/>
                      <a:round/>
                      <a:headEnd len="sm" w="sm" type="none"/>
                      <a:tailEnd len="sm" w="sm" type="none"/>
                    </a:lnR>
                    <a:lnT cap="flat" cmpd="sng" w="9525">
                      <a:solidFill>
                        <a:srgbClr val="D9E2EA"/>
                      </a:solidFill>
                      <a:prstDash val="solid"/>
                      <a:round/>
                      <a:headEnd len="sm" w="sm" type="none"/>
                      <a:tailEnd len="sm" w="sm" type="none"/>
                    </a:lnT>
                    <a:lnB cap="flat" cmpd="sng" w="9525">
                      <a:solidFill>
                        <a:srgbClr val="D9E2EA"/>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23293B"/>
                        </a:buClr>
                        <a:buSzPts val="1150"/>
                        <a:buFont typeface="Calibri"/>
                        <a:buNone/>
                      </a:pPr>
                      <a:r>
                        <a:rPr lang="en-US" sz="1150" u="none" cap="none" strike="noStrike">
                          <a:solidFill>
                            <a:srgbClr val="23293B"/>
                          </a:solidFill>
                          <a:latin typeface="Calibri"/>
                          <a:ea typeface="Calibri"/>
                          <a:cs typeface="Calibri"/>
                          <a:sym typeface="Calibri"/>
                        </a:rPr>
                        <a:t>Lecture + export demo</a:t>
                      </a:r>
                      <a:endParaRPr sz="1150" u="none" cap="none" strike="noStrike">
                        <a:latin typeface="Calibri"/>
                        <a:ea typeface="Calibri"/>
                        <a:cs typeface="Calibri"/>
                        <a:sym typeface="Calibri"/>
                      </a:endParaRPr>
                    </a:p>
                  </a:txBody>
                  <a:tcPr marT="64000" marB="64000" marR="64000" marL="64000" anchor="ctr">
                    <a:lnL cap="flat" cmpd="sng" w="9525">
                      <a:solidFill>
                        <a:srgbClr val="D9E2EA"/>
                      </a:solidFill>
                      <a:prstDash val="solid"/>
                      <a:round/>
                      <a:headEnd len="sm" w="sm" type="none"/>
                      <a:tailEnd len="sm" w="sm" type="none"/>
                    </a:lnL>
                    <a:lnR cap="flat" cmpd="sng" w="9525">
                      <a:solidFill>
                        <a:srgbClr val="D9E2EA"/>
                      </a:solidFill>
                      <a:prstDash val="solid"/>
                      <a:round/>
                      <a:headEnd len="sm" w="sm" type="none"/>
                      <a:tailEnd len="sm" w="sm" type="none"/>
                    </a:lnR>
                    <a:lnT cap="flat" cmpd="sng" w="9525">
                      <a:solidFill>
                        <a:srgbClr val="D9E2EA"/>
                      </a:solidFill>
                      <a:prstDash val="solid"/>
                      <a:round/>
                      <a:headEnd len="sm" w="sm" type="none"/>
                      <a:tailEnd len="sm" w="sm" type="none"/>
                    </a:lnT>
                    <a:lnB cap="flat" cmpd="sng" w="9525">
                      <a:solidFill>
                        <a:srgbClr val="D9E2EA"/>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23293B"/>
                        </a:buClr>
                        <a:buSzPts val="1150"/>
                        <a:buFont typeface="Calibri"/>
                        <a:buNone/>
                      </a:pPr>
                      <a:r>
                        <a:rPr lang="en-US" sz="1150" u="none" cap="none" strike="noStrike">
                          <a:solidFill>
                            <a:srgbClr val="23293B"/>
                          </a:solidFill>
                          <a:latin typeface="Calibri"/>
                          <a:ea typeface="Calibri"/>
                          <a:cs typeface="Calibri"/>
                          <a:sym typeface="Calibri"/>
                        </a:rPr>
                        <a:t>60/40</a:t>
                      </a:r>
                      <a:endParaRPr sz="1150" u="none" cap="none" strike="noStrike">
                        <a:latin typeface="Calibri"/>
                        <a:ea typeface="Calibri"/>
                        <a:cs typeface="Calibri"/>
                        <a:sym typeface="Calibri"/>
                      </a:endParaRPr>
                    </a:p>
                  </a:txBody>
                  <a:tcPr marT="64000" marB="64000" marR="64000" marL="64000" anchor="ctr">
                    <a:lnL cap="flat" cmpd="sng" w="9525">
                      <a:solidFill>
                        <a:srgbClr val="D9E2EA"/>
                      </a:solidFill>
                      <a:prstDash val="solid"/>
                      <a:round/>
                      <a:headEnd len="sm" w="sm" type="none"/>
                      <a:tailEnd len="sm" w="sm" type="none"/>
                    </a:lnL>
                    <a:lnR cap="flat" cmpd="sng" w="9525">
                      <a:solidFill>
                        <a:srgbClr val="D9E2EA"/>
                      </a:solidFill>
                      <a:prstDash val="solid"/>
                      <a:round/>
                      <a:headEnd len="sm" w="sm" type="none"/>
                      <a:tailEnd len="sm" w="sm" type="none"/>
                    </a:lnR>
                    <a:lnT cap="flat" cmpd="sng" w="9525">
                      <a:solidFill>
                        <a:srgbClr val="D9E2EA"/>
                      </a:solidFill>
                      <a:prstDash val="solid"/>
                      <a:round/>
                      <a:headEnd len="sm" w="sm" type="none"/>
                      <a:tailEnd len="sm" w="sm" type="none"/>
                    </a:lnT>
                    <a:lnB cap="flat" cmpd="sng" w="9525">
                      <a:solidFill>
                        <a:srgbClr val="D9E2EA"/>
                      </a:solidFill>
                      <a:prstDash val="solid"/>
                      <a:round/>
                      <a:headEnd len="sm" w="sm" type="none"/>
                      <a:tailEnd len="sm" w="sm" type="none"/>
                    </a:lnB>
                    <a:solidFill>
                      <a:srgbClr val="FFFFFF"/>
                    </a:solidFill>
                  </a:tcPr>
                </a:tc>
              </a:tr>
              <a:tr h="713225">
                <a:tc>
                  <a:txBody>
                    <a:bodyPr/>
                    <a:lstStyle/>
                    <a:p>
                      <a:pPr indent="0" lvl="0" marL="0" marR="0" rtl="0" algn="l">
                        <a:spcBef>
                          <a:spcPts val="0"/>
                        </a:spcBef>
                        <a:spcAft>
                          <a:spcPts val="0"/>
                        </a:spcAft>
                        <a:buClr>
                          <a:srgbClr val="1D2A5C"/>
                        </a:buClr>
                        <a:buSzPts val="1150"/>
                        <a:buFont typeface="Calibri"/>
                        <a:buNone/>
                      </a:pPr>
                      <a:r>
                        <a:rPr b="1" lang="en-US" sz="1150" u="none" cap="none" strike="noStrike">
                          <a:solidFill>
                            <a:srgbClr val="1D2A5C"/>
                          </a:solidFill>
                          <a:latin typeface="Calibri"/>
                          <a:ea typeface="Calibri"/>
                          <a:cs typeface="Calibri"/>
                          <a:sym typeface="Calibri"/>
                        </a:rPr>
                        <a:t>2</a:t>
                      </a:r>
                      <a:endParaRPr sz="1150" u="none" cap="none" strike="noStrike">
                        <a:latin typeface="Calibri"/>
                        <a:ea typeface="Calibri"/>
                        <a:cs typeface="Calibri"/>
                        <a:sym typeface="Calibri"/>
                      </a:endParaRPr>
                    </a:p>
                  </a:txBody>
                  <a:tcPr marT="64000" marB="64000" marR="64000" marL="64000" anchor="ctr">
                    <a:lnL cap="flat" cmpd="sng" w="9525">
                      <a:solidFill>
                        <a:srgbClr val="D9E2EA"/>
                      </a:solidFill>
                      <a:prstDash val="solid"/>
                      <a:round/>
                      <a:headEnd len="sm" w="sm" type="none"/>
                      <a:tailEnd len="sm" w="sm" type="none"/>
                    </a:lnL>
                    <a:lnR cap="flat" cmpd="sng" w="9525">
                      <a:solidFill>
                        <a:srgbClr val="D9E2EA"/>
                      </a:solidFill>
                      <a:prstDash val="solid"/>
                      <a:round/>
                      <a:headEnd len="sm" w="sm" type="none"/>
                      <a:tailEnd len="sm" w="sm" type="none"/>
                    </a:lnR>
                    <a:lnT cap="flat" cmpd="sng" w="9525">
                      <a:solidFill>
                        <a:srgbClr val="D9E2EA"/>
                      </a:solidFill>
                      <a:prstDash val="solid"/>
                      <a:round/>
                      <a:headEnd len="sm" w="sm" type="none"/>
                      <a:tailEnd len="sm" w="sm" type="none"/>
                    </a:lnT>
                    <a:lnB cap="flat" cmpd="sng" w="9525">
                      <a:solidFill>
                        <a:srgbClr val="D9E2EA"/>
                      </a:solidFill>
                      <a:prstDash val="solid"/>
                      <a:round/>
                      <a:headEnd len="sm" w="sm" type="none"/>
                      <a:tailEnd len="sm" w="sm" type="none"/>
                    </a:lnB>
                    <a:solidFill>
                      <a:srgbClr val="F2F6F9"/>
                    </a:solidFill>
                  </a:tcPr>
                </a:tc>
                <a:tc>
                  <a:txBody>
                    <a:bodyPr/>
                    <a:lstStyle/>
                    <a:p>
                      <a:pPr indent="0" lvl="0" marL="0" marR="0" rtl="0" algn="l">
                        <a:spcBef>
                          <a:spcPts val="0"/>
                        </a:spcBef>
                        <a:spcAft>
                          <a:spcPts val="0"/>
                        </a:spcAft>
                        <a:buClr>
                          <a:srgbClr val="23293B"/>
                        </a:buClr>
                        <a:buSzPts val="1150"/>
                        <a:buFont typeface="Calibri"/>
                        <a:buNone/>
                      </a:pPr>
                      <a:r>
                        <a:rPr lang="en-US" sz="1150" u="none" cap="none" strike="noStrike">
                          <a:solidFill>
                            <a:srgbClr val="23293B"/>
                          </a:solidFill>
                          <a:latin typeface="Calibri"/>
                          <a:ea typeface="Calibri"/>
                          <a:cs typeface="Calibri"/>
                          <a:sym typeface="Calibri"/>
                        </a:rPr>
                        <a:t>Lab 7 — Export, optimise, benchmark</a:t>
                      </a:r>
                      <a:endParaRPr sz="1150" u="none" cap="none" strike="noStrike">
                        <a:latin typeface="Calibri"/>
                        <a:ea typeface="Calibri"/>
                        <a:cs typeface="Calibri"/>
                        <a:sym typeface="Calibri"/>
                      </a:endParaRPr>
                    </a:p>
                  </a:txBody>
                  <a:tcPr marT="64000" marB="64000" marR="64000" marL="64000" anchor="ctr">
                    <a:lnL cap="flat" cmpd="sng" w="9525">
                      <a:solidFill>
                        <a:srgbClr val="D9E2EA"/>
                      </a:solidFill>
                      <a:prstDash val="solid"/>
                      <a:round/>
                      <a:headEnd len="sm" w="sm" type="none"/>
                      <a:tailEnd len="sm" w="sm" type="none"/>
                    </a:lnL>
                    <a:lnR cap="flat" cmpd="sng" w="9525">
                      <a:solidFill>
                        <a:srgbClr val="D9E2EA"/>
                      </a:solidFill>
                      <a:prstDash val="solid"/>
                      <a:round/>
                      <a:headEnd len="sm" w="sm" type="none"/>
                      <a:tailEnd len="sm" w="sm" type="none"/>
                    </a:lnR>
                    <a:lnT cap="flat" cmpd="sng" w="9525">
                      <a:solidFill>
                        <a:srgbClr val="D9E2EA"/>
                      </a:solidFill>
                      <a:prstDash val="solid"/>
                      <a:round/>
                      <a:headEnd len="sm" w="sm" type="none"/>
                      <a:tailEnd len="sm" w="sm" type="none"/>
                    </a:lnT>
                    <a:lnB cap="flat" cmpd="sng" w="9525">
                      <a:solidFill>
                        <a:srgbClr val="D9E2EA"/>
                      </a:solidFill>
                      <a:prstDash val="solid"/>
                      <a:round/>
                      <a:headEnd len="sm" w="sm" type="none"/>
                      <a:tailEnd len="sm" w="sm" type="none"/>
                    </a:lnB>
                    <a:solidFill>
                      <a:srgbClr val="F2F6F9"/>
                    </a:solidFill>
                  </a:tcPr>
                </a:tc>
                <a:tc>
                  <a:txBody>
                    <a:bodyPr/>
                    <a:lstStyle/>
                    <a:p>
                      <a:pPr indent="0" lvl="0" marL="0" marR="0" rtl="0" algn="l">
                        <a:spcBef>
                          <a:spcPts val="0"/>
                        </a:spcBef>
                        <a:spcAft>
                          <a:spcPts val="0"/>
                        </a:spcAft>
                        <a:buClr>
                          <a:srgbClr val="23293B"/>
                        </a:buClr>
                        <a:buSzPts val="1150"/>
                        <a:buFont typeface="Calibri"/>
                        <a:buNone/>
                      </a:pPr>
                      <a:r>
                        <a:rPr lang="en-US" sz="1150" u="none" cap="none" strike="noStrike">
                          <a:solidFill>
                            <a:srgbClr val="23293B"/>
                          </a:solidFill>
                          <a:latin typeface="Calibri"/>
                          <a:ea typeface="Calibri"/>
                          <a:cs typeface="Calibri"/>
                          <a:sym typeface="Calibri"/>
                        </a:rPr>
                        <a:t>Guided lab</a:t>
                      </a:r>
                      <a:endParaRPr sz="1150" u="none" cap="none" strike="noStrike">
                        <a:latin typeface="Calibri"/>
                        <a:ea typeface="Calibri"/>
                        <a:cs typeface="Calibri"/>
                        <a:sym typeface="Calibri"/>
                      </a:endParaRPr>
                    </a:p>
                  </a:txBody>
                  <a:tcPr marT="64000" marB="64000" marR="64000" marL="64000" anchor="ctr">
                    <a:lnL cap="flat" cmpd="sng" w="9525">
                      <a:solidFill>
                        <a:srgbClr val="D9E2EA"/>
                      </a:solidFill>
                      <a:prstDash val="solid"/>
                      <a:round/>
                      <a:headEnd len="sm" w="sm" type="none"/>
                      <a:tailEnd len="sm" w="sm" type="none"/>
                    </a:lnL>
                    <a:lnR cap="flat" cmpd="sng" w="9525">
                      <a:solidFill>
                        <a:srgbClr val="D9E2EA"/>
                      </a:solidFill>
                      <a:prstDash val="solid"/>
                      <a:round/>
                      <a:headEnd len="sm" w="sm" type="none"/>
                      <a:tailEnd len="sm" w="sm" type="none"/>
                    </a:lnR>
                    <a:lnT cap="flat" cmpd="sng" w="9525">
                      <a:solidFill>
                        <a:srgbClr val="D9E2EA"/>
                      </a:solidFill>
                      <a:prstDash val="solid"/>
                      <a:round/>
                      <a:headEnd len="sm" w="sm" type="none"/>
                      <a:tailEnd len="sm" w="sm" type="none"/>
                    </a:lnT>
                    <a:lnB cap="flat" cmpd="sng" w="9525">
                      <a:solidFill>
                        <a:srgbClr val="D9E2EA"/>
                      </a:solidFill>
                      <a:prstDash val="solid"/>
                      <a:round/>
                      <a:headEnd len="sm" w="sm" type="none"/>
                      <a:tailEnd len="sm" w="sm" type="none"/>
                    </a:lnB>
                    <a:solidFill>
                      <a:srgbClr val="F2F6F9"/>
                    </a:solidFill>
                  </a:tcPr>
                </a:tc>
                <a:tc>
                  <a:txBody>
                    <a:bodyPr/>
                    <a:lstStyle/>
                    <a:p>
                      <a:pPr indent="0" lvl="0" marL="0" marR="0" rtl="0" algn="l">
                        <a:spcBef>
                          <a:spcPts val="0"/>
                        </a:spcBef>
                        <a:spcAft>
                          <a:spcPts val="0"/>
                        </a:spcAft>
                        <a:buClr>
                          <a:srgbClr val="23293B"/>
                        </a:buClr>
                        <a:buSzPts val="1150"/>
                        <a:buFont typeface="Calibri"/>
                        <a:buNone/>
                      </a:pPr>
                      <a:r>
                        <a:rPr lang="en-US" sz="1150" u="none" cap="none" strike="noStrike">
                          <a:solidFill>
                            <a:srgbClr val="23293B"/>
                          </a:solidFill>
                          <a:latin typeface="Calibri"/>
                          <a:ea typeface="Calibri"/>
                          <a:cs typeface="Calibri"/>
                          <a:sym typeface="Calibri"/>
                        </a:rPr>
                        <a:t>10/90</a:t>
                      </a:r>
                      <a:endParaRPr sz="1150" u="none" cap="none" strike="noStrike">
                        <a:latin typeface="Calibri"/>
                        <a:ea typeface="Calibri"/>
                        <a:cs typeface="Calibri"/>
                        <a:sym typeface="Calibri"/>
                      </a:endParaRPr>
                    </a:p>
                  </a:txBody>
                  <a:tcPr marT="64000" marB="64000" marR="64000" marL="64000" anchor="ctr">
                    <a:lnL cap="flat" cmpd="sng" w="9525">
                      <a:solidFill>
                        <a:srgbClr val="D9E2EA"/>
                      </a:solidFill>
                      <a:prstDash val="solid"/>
                      <a:round/>
                      <a:headEnd len="sm" w="sm" type="none"/>
                      <a:tailEnd len="sm" w="sm" type="none"/>
                    </a:lnL>
                    <a:lnR cap="flat" cmpd="sng" w="9525">
                      <a:solidFill>
                        <a:srgbClr val="D9E2EA"/>
                      </a:solidFill>
                      <a:prstDash val="solid"/>
                      <a:round/>
                      <a:headEnd len="sm" w="sm" type="none"/>
                      <a:tailEnd len="sm" w="sm" type="none"/>
                    </a:lnR>
                    <a:lnT cap="flat" cmpd="sng" w="9525">
                      <a:solidFill>
                        <a:srgbClr val="D9E2EA"/>
                      </a:solidFill>
                      <a:prstDash val="solid"/>
                      <a:round/>
                      <a:headEnd len="sm" w="sm" type="none"/>
                      <a:tailEnd len="sm" w="sm" type="none"/>
                    </a:lnT>
                    <a:lnB cap="flat" cmpd="sng" w="9525">
                      <a:solidFill>
                        <a:srgbClr val="D9E2EA"/>
                      </a:solidFill>
                      <a:prstDash val="solid"/>
                      <a:round/>
                      <a:headEnd len="sm" w="sm" type="none"/>
                      <a:tailEnd len="sm" w="sm" type="none"/>
                    </a:lnB>
                    <a:solidFill>
                      <a:srgbClr val="F2F6F9"/>
                    </a:solidFill>
                  </a:tcPr>
                </a:tc>
              </a:tr>
              <a:tr h="713225">
                <a:tc>
                  <a:txBody>
                    <a:bodyPr/>
                    <a:lstStyle/>
                    <a:p>
                      <a:pPr indent="0" lvl="0" marL="0" marR="0" rtl="0" algn="l">
                        <a:spcBef>
                          <a:spcPts val="0"/>
                        </a:spcBef>
                        <a:spcAft>
                          <a:spcPts val="0"/>
                        </a:spcAft>
                        <a:buClr>
                          <a:srgbClr val="1D2A5C"/>
                        </a:buClr>
                        <a:buSzPts val="1150"/>
                        <a:buFont typeface="Calibri"/>
                        <a:buNone/>
                      </a:pPr>
                      <a:r>
                        <a:rPr b="1" lang="en-US" sz="1150" u="none" cap="none" strike="noStrike">
                          <a:solidFill>
                            <a:srgbClr val="1D2A5C"/>
                          </a:solidFill>
                          <a:latin typeface="Calibri"/>
                          <a:ea typeface="Calibri"/>
                          <a:cs typeface="Calibri"/>
                          <a:sym typeface="Calibri"/>
                        </a:rPr>
                        <a:t>3</a:t>
                      </a:r>
                      <a:endParaRPr sz="1150" u="none" cap="none" strike="noStrike">
                        <a:latin typeface="Calibri"/>
                        <a:ea typeface="Calibri"/>
                        <a:cs typeface="Calibri"/>
                        <a:sym typeface="Calibri"/>
                      </a:endParaRPr>
                    </a:p>
                  </a:txBody>
                  <a:tcPr marT="64000" marB="64000" marR="64000" marL="64000" anchor="ctr">
                    <a:lnL cap="flat" cmpd="sng" w="9525">
                      <a:solidFill>
                        <a:srgbClr val="D9E2EA"/>
                      </a:solidFill>
                      <a:prstDash val="solid"/>
                      <a:round/>
                      <a:headEnd len="sm" w="sm" type="none"/>
                      <a:tailEnd len="sm" w="sm" type="none"/>
                    </a:lnL>
                    <a:lnR cap="flat" cmpd="sng" w="9525">
                      <a:solidFill>
                        <a:srgbClr val="D9E2EA"/>
                      </a:solidFill>
                      <a:prstDash val="solid"/>
                      <a:round/>
                      <a:headEnd len="sm" w="sm" type="none"/>
                      <a:tailEnd len="sm" w="sm" type="none"/>
                    </a:lnR>
                    <a:lnT cap="flat" cmpd="sng" w="9525">
                      <a:solidFill>
                        <a:srgbClr val="D9E2EA"/>
                      </a:solidFill>
                      <a:prstDash val="solid"/>
                      <a:round/>
                      <a:headEnd len="sm" w="sm" type="none"/>
                      <a:tailEnd len="sm" w="sm" type="none"/>
                    </a:lnT>
                    <a:lnB cap="flat" cmpd="sng" w="9525">
                      <a:solidFill>
                        <a:srgbClr val="D9E2EA"/>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23293B"/>
                        </a:buClr>
                        <a:buSzPts val="1150"/>
                        <a:buFont typeface="Calibri"/>
                        <a:buNone/>
                      </a:pPr>
                      <a:r>
                        <a:rPr lang="en-US" sz="1150" u="none" cap="none" strike="noStrike">
                          <a:solidFill>
                            <a:srgbClr val="23293B"/>
                          </a:solidFill>
                          <a:latin typeface="Calibri"/>
                          <a:ea typeface="Calibri"/>
                          <a:cs typeface="Calibri"/>
                          <a:sym typeface="Calibri"/>
                        </a:rPr>
                        <a:t>Capstone assembly I</a:t>
                      </a:r>
                      <a:endParaRPr sz="1150" u="none" cap="none" strike="noStrike">
                        <a:latin typeface="Calibri"/>
                        <a:ea typeface="Calibri"/>
                        <a:cs typeface="Calibri"/>
                        <a:sym typeface="Calibri"/>
                      </a:endParaRPr>
                    </a:p>
                  </a:txBody>
                  <a:tcPr marT="64000" marB="64000" marR="64000" marL="64000" anchor="ctr">
                    <a:lnL cap="flat" cmpd="sng" w="9525">
                      <a:solidFill>
                        <a:srgbClr val="D9E2EA"/>
                      </a:solidFill>
                      <a:prstDash val="solid"/>
                      <a:round/>
                      <a:headEnd len="sm" w="sm" type="none"/>
                      <a:tailEnd len="sm" w="sm" type="none"/>
                    </a:lnL>
                    <a:lnR cap="flat" cmpd="sng" w="9525">
                      <a:solidFill>
                        <a:srgbClr val="D9E2EA"/>
                      </a:solidFill>
                      <a:prstDash val="solid"/>
                      <a:round/>
                      <a:headEnd len="sm" w="sm" type="none"/>
                      <a:tailEnd len="sm" w="sm" type="none"/>
                    </a:lnR>
                    <a:lnT cap="flat" cmpd="sng" w="9525">
                      <a:solidFill>
                        <a:srgbClr val="D9E2EA"/>
                      </a:solidFill>
                      <a:prstDash val="solid"/>
                      <a:round/>
                      <a:headEnd len="sm" w="sm" type="none"/>
                      <a:tailEnd len="sm" w="sm" type="none"/>
                    </a:lnT>
                    <a:lnB cap="flat" cmpd="sng" w="9525">
                      <a:solidFill>
                        <a:srgbClr val="D9E2EA"/>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23293B"/>
                        </a:buClr>
                        <a:buSzPts val="1150"/>
                        <a:buFont typeface="Calibri"/>
                        <a:buNone/>
                      </a:pPr>
                      <a:r>
                        <a:rPr lang="en-US" sz="1150" u="none" cap="none" strike="noStrike">
                          <a:solidFill>
                            <a:srgbClr val="23293B"/>
                          </a:solidFill>
                          <a:latin typeface="Calibri"/>
                          <a:ea typeface="Calibri"/>
                          <a:cs typeface="Calibri"/>
                          <a:sym typeface="Calibri"/>
                        </a:rPr>
                        <a:t>Project work</a:t>
                      </a:r>
                      <a:endParaRPr sz="1150" u="none" cap="none" strike="noStrike">
                        <a:latin typeface="Calibri"/>
                        <a:ea typeface="Calibri"/>
                        <a:cs typeface="Calibri"/>
                        <a:sym typeface="Calibri"/>
                      </a:endParaRPr>
                    </a:p>
                  </a:txBody>
                  <a:tcPr marT="64000" marB="64000" marR="64000" marL="64000" anchor="ctr">
                    <a:lnL cap="flat" cmpd="sng" w="9525">
                      <a:solidFill>
                        <a:srgbClr val="D9E2EA"/>
                      </a:solidFill>
                      <a:prstDash val="solid"/>
                      <a:round/>
                      <a:headEnd len="sm" w="sm" type="none"/>
                      <a:tailEnd len="sm" w="sm" type="none"/>
                    </a:lnL>
                    <a:lnR cap="flat" cmpd="sng" w="9525">
                      <a:solidFill>
                        <a:srgbClr val="D9E2EA"/>
                      </a:solidFill>
                      <a:prstDash val="solid"/>
                      <a:round/>
                      <a:headEnd len="sm" w="sm" type="none"/>
                      <a:tailEnd len="sm" w="sm" type="none"/>
                    </a:lnR>
                    <a:lnT cap="flat" cmpd="sng" w="9525">
                      <a:solidFill>
                        <a:srgbClr val="D9E2EA"/>
                      </a:solidFill>
                      <a:prstDash val="solid"/>
                      <a:round/>
                      <a:headEnd len="sm" w="sm" type="none"/>
                      <a:tailEnd len="sm" w="sm" type="none"/>
                    </a:lnT>
                    <a:lnB cap="flat" cmpd="sng" w="9525">
                      <a:solidFill>
                        <a:srgbClr val="D9E2EA"/>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23293B"/>
                        </a:buClr>
                        <a:buSzPts val="1150"/>
                        <a:buFont typeface="Calibri"/>
                        <a:buNone/>
                      </a:pPr>
                      <a:r>
                        <a:rPr lang="en-US" sz="1150" u="none" cap="none" strike="noStrike">
                          <a:solidFill>
                            <a:srgbClr val="23293B"/>
                          </a:solidFill>
                          <a:latin typeface="Calibri"/>
                          <a:ea typeface="Calibri"/>
                          <a:cs typeface="Calibri"/>
                          <a:sym typeface="Calibri"/>
                        </a:rPr>
                        <a:t>0/100</a:t>
                      </a:r>
                      <a:endParaRPr sz="1150" u="none" cap="none" strike="noStrike">
                        <a:latin typeface="Calibri"/>
                        <a:ea typeface="Calibri"/>
                        <a:cs typeface="Calibri"/>
                        <a:sym typeface="Calibri"/>
                      </a:endParaRPr>
                    </a:p>
                  </a:txBody>
                  <a:tcPr marT="64000" marB="64000" marR="64000" marL="64000" anchor="ctr">
                    <a:lnL cap="flat" cmpd="sng" w="9525">
                      <a:solidFill>
                        <a:srgbClr val="D9E2EA"/>
                      </a:solidFill>
                      <a:prstDash val="solid"/>
                      <a:round/>
                      <a:headEnd len="sm" w="sm" type="none"/>
                      <a:tailEnd len="sm" w="sm" type="none"/>
                    </a:lnL>
                    <a:lnR cap="flat" cmpd="sng" w="9525">
                      <a:solidFill>
                        <a:srgbClr val="D9E2EA"/>
                      </a:solidFill>
                      <a:prstDash val="solid"/>
                      <a:round/>
                      <a:headEnd len="sm" w="sm" type="none"/>
                      <a:tailEnd len="sm" w="sm" type="none"/>
                    </a:lnR>
                    <a:lnT cap="flat" cmpd="sng" w="9525">
                      <a:solidFill>
                        <a:srgbClr val="D9E2EA"/>
                      </a:solidFill>
                      <a:prstDash val="solid"/>
                      <a:round/>
                      <a:headEnd len="sm" w="sm" type="none"/>
                      <a:tailEnd len="sm" w="sm" type="none"/>
                    </a:lnT>
                    <a:lnB cap="flat" cmpd="sng" w="9525">
                      <a:solidFill>
                        <a:srgbClr val="D9E2EA"/>
                      </a:solidFill>
                      <a:prstDash val="solid"/>
                      <a:round/>
                      <a:headEnd len="sm" w="sm" type="none"/>
                      <a:tailEnd len="sm" w="sm" type="none"/>
                    </a:lnB>
                    <a:solidFill>
                      <a:srgbClr val="FFFFFF"/>
                    </a:solidFill>
                  </a:tcPr>
                </a:tc>
              </a:tr>
              <a:tr h="713225">
                <a:tc>
                  <a:txBody>
                    <a:bodyPr/>
                    <a:lstStyle/>
                    <a:p>
                      <a:pPr indent="0" lvl="0" marL="0" marR="0" rtl="0" algn="l">
                        <a:spcBef>
                          <a:spcPts val="0"/>
                        </a:spcBef>
                        <a:spcAft>
                          <a:spcPts val="0"/>
                        </a:spcAft>
                        <a:buClr>
                          <a:srgbClr val="1D2A5C"/>
                        </a:buClr>
                        <a:buSzPts val="1150"/>
                        <a:buFont typeface="Calibri"/>
                        <a:buNone/>
                      </a:pPr>
                      <a:r>
                        <a:rPr b="1" lang="en-US" sz="1150" u="none" cap="none" strike="noStrike">
                          <a:solidFill>
                            <a:srgbClr val="1D2A5C"/>
                          </a:solidFill>
                          <a:latin typeface="Calibri"/>
                          <a:ea typeface="Calibri"/>
                          <a:cs typeface="Calibri"/>
                          <a:sym typeface="Calibri"/>
                        </a:rPr>
                        <a:t>4</a:t>
                      </a:r>
                      <a:endParaRPr sz="1150" u="none" cap="none" strike="noStrike">
                        <a:latin typeface="Calibri"/>
                        <a:ea typeface="Calibri"/>
                        <a:cs typeface="Calibri"/>
                        <a:sym typeface="Calibri"/>
                      </a:endParaRPr>
                    </a:p>
                  </a:txBody>
                  <a:tcPr marT="64000" marB="64000" marR="64000" marL="64000" anchor="ctr">
                    <a:lnL cap="flat" cmpd="sng" w="9525">
                      <a:solidFill>
                        <a:srgbClr val="D9E2EA"/>
                      </a:solidFill>
                      <a:prstDash val="solid"/>
                      <a:round/>
                      <a:headEnd len="sm" w="sm" type="none"/>
                      <a:tailEnd len="sm" w="sm" type="none"/>
                    </a:lnL>
                    <a:lnR cap="flat" cmpd="sng" w="9525">
                      <a:solidFill>
                        <a:srgbClr val="D9E2EA"/>
                      </a:solidFill>
                      <a:prstDash val="solid"/>
                      <a:round/>
                      <a:headEnd len="sm" w="sm" type="none"/>
                      <a:tailEnd len="sm" w="sm" type="none"/>
                    </a:lnR>
                    <a:lnT cap="flat" cmpd="sng" w="9525">
                      <a:solidFill>
                        <a:srgbClr val="D9E2EA"/>
                      </a:solidFill>
                      <a:prstDash val="solid"/>
                      <a:round/>
                      <a:headEnd len="sm" w="sm" type="none"/>
                      <a:tailEnd len="sm" w="sm" type="none"/>
                    </a:lnT>
                    <a:lnB cap="flat" cmpd="sng" w="9525">
                      <a:solidFill>
                        <a:srgbClr val="D9E2EA"/>
                      </a:solidFill>
                      <a:prstDash val="solid"/>
                      <a:round/>
                      <a:headEnd len="sm" w="sm" type="none"/>
                      <a:tailEnd len="sm" w="sm" type="none"/>
                    </a:lnB>
                    <a:solidFill>
                      <a:srgbClr val="F2F6F9"/>
                    </a:solidFill>
                  </a:tcPr>
                </a:tc>
                <a:tc>
                  <a:txBody>
                    <a:bodyPr/>
                    <a:lstStyle/>
                    <a:p>
                      <a:pPr indent="0" lvl="0" marL="0" marR="0" rtl="0" algn="l">
                        <a:spcBef>
                          <a:spcPts val="0"/>
                        </a:spcBef>
                        <a:spcAft>
                          <a:spcPts val="0"/>
                        </a:spcAft>
                        <a:buClr>
                          <a:srgbClr val="23293B"/>
                        </a:buClr>
                        <a:buSzPts val="1150"/>
                        <a:buFont typeface="Calibri"/>
                        <a:buNone/>
                      </a:pPr>
                      <a:r>
                        <a:rPr lang="en-US" sz="1150" u="none" cap="none" strike="noStrike">
                          <a:solidFill>
                            <a:srgbClr val="23293B"/>
                          </a:solidFill>
                          <a:latin typeface="Calibri"/>
                          <a:ea typeface="Calibri"/>
                          <a:cs typeface="Calibri"/>
                          <a:sym typeface="Calibri"/>
                        </a:rPr>
                        <a:t>Capstone assembly II + self-audit</a:t>
                      </a:r>
                      <a:endParaRPr sz="1150" u="none" cap="none" strike="noStrike">
                        <a:latin typeface="Calibri"/>
                        <a:ea typeface="Calibri"/>
                        <a:cs typeface="Calibri"/>
                        <a:sym typeface="Calibri"/>
                      </a:endParaRPr>
                    </a:p>
                  </a:txBody>
                  <a:tcPr marT="64000" marB="64000" marR="64000" marL="64000" anchor="ctr">
                    <a:lnL cap="flat" cmpd="sng" w="9525">
                      <a:solidFill>
                        <a:srgbClr val="D9E2EA"/>
                      </a:solidFill>
                      <a:prstDash val="solid"/>
                      <a:round/>
                      <a:headEnd len="sm" w="sm" type="none"/>
                      <a:tailEnd len="sm" w="sm" type="none"/>
                    </a:lnL>
                    <a:lnR cap="flat" cmpd="sng" w="9525">
                      <a:solidFill>
                        <a:srgbClr val="D9E2EA"/>
                      </a:solidFill>
                      <a:prstDash val="solid"/>
                      <a:round/>
                      <a:headEnd len="sm" w="sm" type="none"/>
                      <a:tailEnd len="sm" w="sm" type="none"/>
                    </a:lnR>
                    <a:lnT cap="flat" cmpd="sng" w="9525">
                      <a:solidFill>
                        <a:srgbClr val="D9E2EA"/>
                      </a:solidFill>
                      <a:prstDash val="solid"/>
                      <a:round/>
                      <a:headEnd len="sm" w="sm" type="none"/>
                      <a:tailEnd len="sm" w="sm" type="none"/>
                    </a:lnT>
                    <a:lnB cap="flat" cmpd="sng" w="9525">
                      <a:solidFill>
                        <a:srgbClr val="D9E2EA"/>
                      </a:solidFill>
                      <a:prstDash val="solid"/>
                      <a:round/>
                      <a:headEnd len="sm" w="sm" type="none"/>
                      <a:tailEnd len="sm" w="sm" type="none"/>
                    </a:lnB>
                    <a:solidFill>
                      <a:srgbClr val="F2F6F9"/>
                    </a:solidFill>
                  </a:tcPr>
                </a:tc>
                <a:tc>
                  <a:txBody>
                    <a:bodyPr/>
                    <a:lstStyle/>
                    <a:p>
                      <a:pPr indent="0" lvl="0" marL="0" marR="0" rtl="0" algn="l">
                        <a:spcBef>
                          <a:spcPts val="0"/>
                        </a:spcBef>
                        <a:spcAft>
                          <a:spcPts val="0"/>
                        </a:spcAft>
                        <a:buClr>
                          <a:srgbClr val="23293B"/>
                        </a:buClr>
                        <a:buSzPts val="1150"/>
                        <a:buFont typeface="Calibri"/>
                        <a:buNone/>
                      </a:pPr>
                      <a:r>
                        <a:rPr lang="en-US" sz="1150" u="none" cap="none" strike="noStrike">
                          <a:solidFill>
                            <a:srgbClr val="23293B"/>
                          </a:solidFill>
                          <a:latin typeface="Calibri"/>
                          <a:ea typeface="Calibri"/>
                          <a:cs typeface="Calibri"/>
                          <a:sym typeface="Calibri"/>
                        </a:rPr>
                        <a:t>Project work</a:t>
                      </a:r>
                      <a:endParaRPr sz="1150" u="none" cap="none" strike="noStrike">
                        <a:latin typeface="Calibri"/>
                        <a:ea typeface="Calibri"/>
                        <a:cs typeface="Calibri"/>
                        <a:sym typeface="Calibri"/>
                      </a:endParaRPr>
                    </a:p>
                  </a:txBody>
                  <a:tcPr marT="64000" marB="64000" marR="64000" marL="64000" anchor="ctr">
                    <a:lnL cap="flat" cmpd="sng" w="9525">
                      <a:solidFill>
                        <a:srgbClr val="D9E2EA"/>
                      </a:solidFill>
                      <a:prstDash val="solid"/>
                      <a:round/>
                      <a:headEnd len="sm" w="sm" type="none"/>
                      <a:tailEnd len="sm" w="sm" type="none"/>
                    </a:lnL>
                    <a:lnR cap="flat" cmpd="sng" w="9525">
                      <a:solidFill>
                        <a:srgbClr val="D9E2EA"/>
                      </a:solidFill>
                      <a:prstDash val="solid"/>
                      <a:round/>
                      <a:headEnd len="sm" w="sm" type="none"/>
                      <a:tailEnd len="sm" w="sm" type="none"/>
                    </a:lnR>
                    <a:lnT cap="flat" cmpd="sng" w="9525">
                      <a:solidFill>
                        <a:srgbClr val="D9E2EA"/>
                      </a:solidFill>
                      <a:prstDash val="solid"/>
                      <a:round/>
                      <a:headEnd len="sm" w="sm" type="none"/>
                      <a:tailEnd len="sm" w="sm" type="none"/>
                    </a:lnT>
                    <a:lnB cap="flat" cmpd="sng" w="9525">
                      <a:solidFill>
                        <a:srgbClr val="D9E2EA"/>
                      </a:solidFill>
                      <a:prstDash val="solid"/>
                      <a:round/>
                      <a:headEnd len="sm" w="sm" type="none"/>
                      <a:tailEnd len="sm" w="sm" type="none"/>
                    </a:lnB>
                    <a:solidFill>
                      <a:srgbClr val="F2F6F9"/>
                    </a:solidFill>
                  </a:tcPr>
                </a:tc>
                <a:tc>
                  <a:txBody>
                    <a:bodyPr/>
                    <a:lstStyle/>
                    <a:p>
                      <a:pPr indent="0" lvl="0" marL="0" marR="0" rtl="0" algn="l">
                        <a:spcBef>
                          <a:spcPts val="0"/>
                        </a:spcBef>
                        <a:spcAft>
                          <a:spcPts val="0"/>
                        </a:spcAft>
                        <a:buClr>
                          <a:srgbClr val="23293B"/>
                        </a:buClr>
                        <a:buSzPts val="1150"/>
                        <a:buFont typeface="Calibri"/>
                        <a:buNone/>
                      </a:pPr>
                      <a:r>
                        <a:rPr lang="en-US" sz="1150" u="none" cap="none" strike="noStrike">
                          <a:solidFill>
                            <a:srgbClr val="23293B"/>
                          </a:solidFill>
                          <a:latin typeface="Calibri"/>
                          <a:ea typeface="Calibri"/>
                          <a:cs typeface="Calibri"/>
                          <a:sym typeface="Calibri"/>
                        </a:rPr>
                        <a:t>0/100</a:t>
                      </a:r>
                      <a:endParaRPr sz="1150" u="none" cap="none" strike="noStrike">
                        <a:latin typeface="Calibri"/>
                        <a:ea typeface="Calibri"/>
                        <a:cs typeface="Calibri"/>
                        <a:sym typeface="Calibri"/>
                      </a:endParaRPr>
                    </a:p>
                  </a:txBody>
                  <a:tcPr marT="64000" marB="64000" marR="64000" marL="64000" anchor="ctr">
                    <a:lnL cap="flat" cmpd="sng" w="9525">
                      <a:solidFill>
                        <a:srgbClr val="D9E2EA"/>
                      </a:solidFill>
                      <a:prstDash val="solid"/>
                      <a:round/>
                      <a:headEnd len="sm" w="sm" type="none"/>
                      <a:tailEnd len="sm" w="sm" type="none"/>
                    </a:lnL>
                    <a:lnR cap="flat" cmpd="sng" w="9525">
                      <a:solidFill>
                        <a:srgbClr val="D9E2EA"/>
                      </a:solidFill>
                      <a:prstDash val="solid"/>
                      <a:round/>
                      <a:headEnd len="sm" w="sm" type="none"/>
                      <a:tailEnd len="sm" w="sm" type="none"/>
                    </a:lnR>
                    <a:lnT cap="flat" cmpd="sng" w="9525">
                      <a:solidFill>
                        <a:srgbClr val="D9E2EA"/>
                      </a:solidFill>
                      <a:prstDash val="solid"/>
                      <a:round/>
                      <a:headEnd len="sm" w="sm" type="none"/>
                      <a:tailEnd len="sm" w="sm" type="none"/>
                    </a:lnT>
                    <a:lnB cap="flat" cmpd="sng" w="9525">
                      <a:solidFill>
                        <a:srgbClr val="D9E2EA"/>
                      </a:solidFill>
                      <a:prstDash val="solid"/>
                      <a:round/>
                      <a:headEnd len="sm" w="sm" type="none"/>
                      <a:tailEnd len="sm" w="sm" type="none"/>
                    </a:lnB>
                    <a:solidFill>
                      <a:srgbClr val="F2F6F9"/>
                    </a:solidFill>
                  </a:tcPr>
                </a:tc>
              </a:tr>
              <a:tr h="713225">
                <a:tc>
                  <a:txBody>
                    <a:bodyPr/>
                    <a:lstStyle/>
                    <a:p>
                      <a:pPr indent="0" lvl="0" marL="0" marR="0" rtl="0" algn="l">
                        <a:spcBef>
                          <a:spcPts val="0"/>
                        </a:spcBef>
                        <a:spcAft>
                          <a:spcPts val="0"/>
                        </a:spcAft>
                        <a:buClr>
                          <a:srgbClr val="1D2A5C"/>
                        </a:buClr>
                        <a:buSzPts val="1150"/>
                        <a:buFont typeface="Calibri"/>
                        <a:buNone/>
                      </a:pPr>
                      <a:r>
                        <a:rPr b="1" lang="en-US" sz="1150" u="none" cap="none" strike="noStrike">
                          <a:solidFill>
                            <a:srgbClr val="1D2A5C"/>
                          </a:solidFill>
                          <a:latin typeface="Calibri"/>
                          <a:ea typeface="Calibri"/>
                          <a:cs typeface="Calibri"/>
                          <a:sym typeface="Calibri"/>
                        </a:rPr>
                        <a:t>5</a:t>
                      </a:r>
                      <a:endParaRPr sz="1150" u="none" cap="none" strike="noStrike">
                        <a:latin typeface="Calibri"/>
                        <a:ea typeface="Calibri"/>
                        <a:cs typeface="Calibri"/>
                        <a:sym typeface="Calibri"/>
                      </a:endParaRPr>
                    </a:p>
                  </a:txBody>
                  <a:tcPr marT="64000" marB="64000" marR="64000" marL="64000" anchor="ctr">
                    <a:lnL cap="flat" cmpd="sng" w="9525">
                      <a:solidFill>
                        <a:srgbClr val="D9E2EA"/>
                      </a:solidFill>
                      <a:prstDash val="solid"/>
                      <a:round/>
                      <a:headEnd len="sm" w="sm" type="none"/>
                      <a:tailEnd len="sm" w="sm" type="none"/>
                    </a:lnL>
                    <a:lnR cap="flat" cmpd="sng" w="9525">
                      <a:solidFill>
                        <a:srgbClr val="D9E2EA"/>
                      </a:solidFill>
                      <a:prstDash val="solid"/>
                      <a:round/>
                      <a:headEnd len="sm" w="sm" type="none"/>
                      <a:tailEnd len="sm" w="sm" type="none"/>
                    </a:lnR>
                    <a:lnT cap="flat" cmpd="sng" w="9525">
                      <a:solidFill>
                        <a:srgbClr val="D9E2EA"/>
                      </a:solidFill>
                      <a:prstDash val="solid"/>
                      <a:round/>
                      <a:headEnd len="sm" w="sm" type="none"/>
                      <a:tailEnd len="sm" w="sm" type="none"/>
                    </a:lnT>
                    <a:lnB cap="flat" cmpd="sng" w="9525">
                      <a:solidFill>
                        <a:srgbClr val="D9E2EA"/>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23293B"/>
                        </a:buClr>
                        <a:buSzPts val="1150"/>
                        <a:buFont typeface="Calibri"/>
                        <a:buNone/>
                      </a:pPr>
                      <a:r>
                        <a:rPr lang="en-US" sz="1150" u="none" cap="none" strike="noStrike">
                          <a:solidFill>
                            <a:srgbClr val="23293B"/>
                          </a:solidFill>
                          <a:latin typeface="Calibri"/>
                          <a:ea typeface="Calibri"/>
                          <a:cs typeface="Calibri"/>
                          <a:sym typeface="Calibri"/>
                        </a:rPr>
                        <a:t>Capstone demos + assessment + wrap-up</a:t>
                      </a:r>
                      <a:endParaRPr sz="1150" u="none" cap="none" strike="noStrike">
                        <a:latin typeface="Calibri"/>
                        <a:ea typeface="Calibri"/>
                        <a:cs typeface="Calibri"/>
                        <a:sym typeface="Calibri"/>
                      </a:endParaRPr>
                    </a:p>
                  </a:txBody>
                  <a:tcPr marT="64000" marB="64000" marR="64000" marL="64000" anchor="ctr">
                    <a:lnL cap="flat" cmpd="sng" w="9525">
                      <a:solidFill>
                        <a:srgbClr val="D9E2EA"/>
                      </a:solidFill>
                      <a:prstDash val="solid"/>
                      <a:round/>
                      <a:headEnd len="sm" w="sm" type="none"/>
                      <a:tailEnd len="sm" w="sm" type="none"/>
                    </a:lnL>
                    <a:lnR cap="flat" cmpd="sng" w="9525">
                      <a:solidFill>
                        <a:srgbClr val="D9E2EA"/>
                      </a:solidFill>
                      <a:prstDash val="solid"/>
                      <a:round/>
                      <a:headEnd len="sm" w="sm" type="none"/>
                      <a:tailEnd len="sm" w="sm" type="none"/>
                    </a:lnR>
                    <a:lnT cap="flat" cmpd="sng" w="9525">
                      <a:solidFill>
                        <a:srgbClr val="D9E2EA"/>
                      </a:solidFill>
                      <a:prstDash val="solid"/>
                      <a:round/>
                      <a:headEnd len="sm" w="sm" type="none"/>
                      <a:tailEnd len="sm" w="sm" type="none"/>
                    </a:lnT>
                    <a:lnB cap="flat" cmpd="sng" w="9525">
                      <a:solidFill>
                        <a:srgbClr val="D9E2EA"/>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23293B"/>
                        </a:buClr>
                        <a:buSzPts val="1150"/>
                        <a:buFont typeface="Calibri"/>
                        <a:buNone/>
                      </a:pPr>
                      <a:r>
                        <a:rPr lang="en-US" sz="1150" u="none" cap="none" strike="noStrike">
                          <a:solidFill>
                            <a:srgbClr val="23293B"/>
                          </a:solidFill>
                          <a:latin typeface="Calibri"/>
                          <a:ea typeface="Calibri"/>
                          <a:cs typeface="Calibri"/>
                          <a:sym typeface="Calibri"/>
                        </a:rPr>
                        <a:t>Presentations</a:t>
                      </a:r>
                      <a:endParaRPr sz="1150" u="none" cap="none" strike="noStrike">
                        <a:latin typeface="Calibri"/>
                        <a:ea typeface="Calibri"/>
                        <a:cs typeface="Calibri"/>
                        <a:sym typeface="Calibri"/>
                      </a:endParaRPr>
                    </a:p>
                  </a:txBody>
                  <a:tcPr marT="64000" marB="64000" marR="64000" marL="64000" anchor="ctr">
                    <a:lnL cap="flat" cmpd="sng" w="9525">
                      <a:solidFill>
                        <a:srgbClr val="D9E2EA"/>
                      </a:solidFill>
                      <a:prstDash val="solid"/>
                      <a:round/>
                      <a:headEnd len="sm" w="sm" type="none"/>
                      <a:tailEnd len="sm" w="sm" type="none"/>
                    </a:lnL>
                    <a:lnR cap="flat" cmpd="sng" w="9525">
                      <a:solidFill>
                        <a:srgbClr val="D9E2EA"/>
                      </a:solidFill>
                      <a:prstDash val="solid"/>
                      <a:round/>
                      <a:headEnd len="sm" w="sm" type="none"/>
                      <a:tailEnd len="sm" w="sm" type="none"/>
                    </a:lnR>
                    <a:lnT cap="flat" cmpd="sng" w="9525">
                      <a:solidFill>
                        <a:srgbClr val="D9E2EA"/>
                      </a:solidFill>
                      <a:prstDash val="solid"/>
                      <a:round/>
                      <a:headEnd len="sm" w="sm" type="none"/>
                      <a:tailEnd len="sm" w="sm" type="none"/>
                    </a:lnT>
                    <a:lnB cap="flat" cmpd="sng" w="9525">
                      <a:solidFill>
                        <a:srgbClr val="D9E2EA"/>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23293B"/>
                        </a:buClr>
                        <a:buSzPts val="1150"/>
                        <a:buFont typeface="Calibri"/>
                        <a:buNone/>
                      </a:pPr>
                      <a:r>
                        <a:rPr lang="en-US" sz="1150" u="none" cap="none" strike="noStrike">
                          <a:solidFill>
                            <a:srgbClr val="23293B"/>
                          </a:solidFill>
                          <a:latin typeface="Calibri"/>
                          <a:ea typeface="Calibri"/>
                          <a:cs typeface="Calibri"/>
                          <a:sym typeface="Calibri"/>
                        </a:rPr>
                        <a:t>20/80</a:t>
                      </a:r>
                      <a:endParaRPr sz="1150" u="none" cap="none" strike="noStrike">
                        <a:latin typeface="Calibri"/>
                        <a:ea typeface="Calibri"/>
                        <a:cs typeface="Calibri"/>
                        <a:sym typeface="Calibri"/>
                      </a:endParaRPr>
                    </a:p>
                  </a:txBody>
                  <a:tcPr marT="64000" marB="64000" marR="64000" marL="64000" anchor="ctr">
                    <a:lnL cap="flat" cmpd="sng" w="9525">
                      <a:solidFill>
                        <a:srgbClr val="D9E2EA"/>
                      </a:solidFill>
                      <a:prstDash val="solid"/>
                      <a:round/>
                      <a:headEnd len="sm" w="sm" type="none"/>
                      <a:tailEnd len="sm" w="sm" type="none"/>
                    </a:lnL>
                    <a:lnR cap="flat" cmpd="sng" w="9525">
                      <a:solidFill>
                        <a:srgbClr val="D9E2EA"/>
                      </a:solidFill>
                      <a:prstDash val="solid"/>
                      <a:round/>
                      <a:headEnd len="sm" w="sm" type="none"/>
                      <a:tailEnd len="sm" w="sm" type="none"/>
                    </a:lnR>
                    <a:lnT cap="flat" cmpd="sng" w="9525">
                      <a:solidFill>
                        <a:srgbClr val="D9E2EA"/>
                      </a:solidFill>
                      <a:prstDash val="solid"/>
                      <a:round/>
                      <a:headEnd len="sm" w="sm" type="none"/>
                      <a:tailEnd len="sm" w="sm" type="none"/>
                    </a:lnT>
                    <a:lnB cap="flat" cmpd="sng" w="9525">
                      <a:solidFill>
                        <a:srgbClr val="D9E2EA"/>
                      </a:solidFill>
                      <a:prstDash val="solid"/>
                      <a:round/>
                      <a:headEnd len="sm" w="sm" type="none"/>
                      <a:tailEnd len="sm" w="sm" type="none"/>
                    </a:lnB>
                    <a:solidFill>
                      <a:srgbClr val="FFFFFF"/>
                    </a:solidFill>
                  </a:tcPr>
                </a:tc>
              </a:tr>
            </a:tbl>
          </a:graphicData>
        </a:graphic>
      </p:graphicFrame>
    </p:spTree>
  </p:cSld>
  <p:clrMapOvr>
    <a:masterClrMapping/>
  </p:clrMapOvr>
</p:sld>
</file>

<file path=ppt/slides/slide1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41F49"/>
        </a:solidFill>
      </p:bgPr>
    </p:bg>
    <p:spTree>
      <p:nvGrpSpPr>
        <p:cNvPr id="3476" name="Shape 3476"/>
        <p:cNvGrpSpPr/>
        <p:nvPr/>
      </p:nvGrpSpPr>
      <p:grpSpPr>
        <a:xfrm>
          <a:off x="0" y="0"/>
          <a:ext cx="0" cy="0"/>
          <a:chOff x="0" y="0"/>
          <a:chExt cx="0" cy="0"/>
        </a:xfrm>
      </p:grpSpPr>
      <p:sp>
        <p:nvSpPr>
          <p:cNvPr id="3477" name="Google Shape;3477;p126"/>
          <p:cNvSpPr/>
          <p:nvPr/>
        </p:nvSpPr>
        <p:spPr>
          <a:xfrm>
            <a:off x="9418320" y="6149340"/>
            <a:ext cx="411480" cy="356616"/>
          </a:xfrm>
          <a:prstGeom prst="triangle">
            <a:avLst>
              <a:gd fmla="val 50000" name="adj"/>
            </a:avLst>
          </a:prstGeom>
          <a:solidFill>
            <a:srgbClr val="00A79D">
              <a:alpha val="18039"/>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78" name="Google Shape;3478;p126"/>
          <p:cNvSpPr/>
          <p:nvPr/>
        </p:nvSpPr>
        <p:spPr>
          <a:xfrm rot="10800000">
            <a:off x="9857232" y="5806440"/>
            <a:ext cx="411480" cy="356616"/>
          </a:xfrm>
          <a:prstGeom prst="triangle">
            <a:avLst>
              <a:gd fmla="val 50000" name="adj"/>
            </a:avLst>
          </a:prstGeom>
          <a:solidFill>
            <a:srgbClr val="29ABE2">
              <a:alpha val="18039"/>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79" name="Google Shape;3479;p126"/>
          <p:cNvSpPr/>
          <p:nvPr/>
        </p:nvSpPr>
        <p:spPr>
          <a:xfrm rot="10800000">
            <a:off x="9857232" y="6492240"/>
            <a:ext cx="411480" cy="356616"/>
          </a:xfrm>
          <a:prstGeom prst="triangle">
            <a:avLst>
              <a:gd fmla="val 50000" name="adj"/>
            </a:avLst>
          </a:prstGeom>
          <a:solidFill>
            <a:srgbClr val="F58220">
              <a:alpha val="18039"/>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80" name="Google Shape;3480;p126"/>
          <p:cNvSpPr/>
          <p:nvPr/>
        </p:nvSpPr>
        <p:spPr>
          <a:xfrm>
            <a:off x="10296144" y="6149340"/>
            <a:ext cx="411480" cy="356616"/>
          </a:xfrm>
          <a:prstGeom prst="triangle">
            <a:avLst>
              <a:gd fmla="val 50000" name="adj"/>
            </a:avLst>
          </a:prstGeom>
          <a:solidFill>
            <a:srgbClr val="8DC63F">
              <a:alpha val="18039"/>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81" name="Google Shape;3481;p126"/>
          <p:cNvSpPr/>
          <p:nvPr/>
        </p:nvSpPr>
        <p:spPr>
          <a:xfrm>
            <a:off x="10296144" y="5463540"/>
            <a:ext cx="411480" cy="356616"/>
          </a:xfrm>
          <a:prstGeom prst="triangle">
            <a:avLst>
              <a:gd fmla="val 50000" name="adj"/>
            </a:avLst>
          </a:prstGeom>
          <a:solidFill>
            <a:srgbClr val="1D2A5C">
              <a:alpha val="18039"/>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82" name="Google Shape;3482;p126"/>
          <p:cNvSpPr/>
          <p:nvPr/>
        </p:nvSpPr>
        <p:spPr>
          <a:xfrm rot="10800000">
            <a:off x="10735056" y="5806440"/>
            <a:ext cx="411480" cy="356616"/>
          </a:xfrm>
          <a:prstGeom prst="triangle">
            <a:avLst>
              <a:gd fmla="val 50000" name="adj"/>
            </a:avLst>
          </a:prstGeom>
          <a:solidFill>
            <a:srgbClr val="29ABE2">
              <a:alpha val="18039"/>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83" name="Google Shape;3483;p126"/>
          <p:cNvSpPr/>
          <p:nvPr/>
        </p:nvSpPr>
        <p:spPr>
          <a:xfrm>
            <a:off x="10735056" y="6492240"/>
            <a:ext cx="411480" cy="356616"/>
          </a:xfrm>
          <a:prstGeom prst="triangle">
            <a:avLst>
              <a:gd fmla="val 50000" name="adj"/>
            </a:avLst>
          </a:prstGeom>
          <a:solidFill>
            <a:srgbClr val="00A79D">
              <a:alpha val="18039"/>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84" name="Google Shape;3484;p126"/>
          <p:cNvSpPr/>
          <p:nvPr/>
        </p:nvSpPr>
        <p:spPr>
          <a:xfrm rot="10800000">
            <a:off x="11173968" y="6149340"/>
            <a:ext cx="411480" cy="356616"/>
          </a:xfrm>
          <a:prstGeom prst="triangle">
            <a:avLst>
              <a:gd fmla="val 50000" name="adj"/>
            </a:avLst>
          </a:prstGeom>
          <a:solidFill>
            <a:srgbClr val="F58220">
              <a:alpha val="18039"/>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85" name="Google Shape;3485;p126"/>
          <p:cNvSpPr/>
          <p:nvPr/>
        </p:nvSpPr>
        <p:spPr>
          <a:xfrm>
            <a:off x="365760" y="747522"/>
            <a:ext cx="233172" cy="202082"/>
          </a:xfrm>
          <a:prstGeom prst="triangle">
            <a:avLst>
              <a:gd fmla="val 50000" name="adj"/>
            </a:avLst>
          </a:prstGeom>
          <a:solidFill>
            <a:srgbClr val="00A79D">
              <a:alpha val="18039"/>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86" name="Google Shape;3486;p126"/>
          <p:cNvSpPr/>
          <p:nvPr/>
        </p:nvSpPr>
        <p:spPr>
          <a:xfrm rot="10800000">
            <a:off x="614477" y="553212"/>
            <a:ext cx="233172" cy="202082"/>
          </a:xfrm>
          <a:prstGeom prst="triangle">
            <a:avLst>
              <a:gd fmla="val 50000" name="adj"/>
            </a:avLst>
          </a:prstGeom>
          <a:solidFill>
            <a:srgbClr val="29ABE2">
              <a:alpha val="18039"/>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87" name="Google Shape;3487;p126"/>
          <p:cNvSpPr/>
          <p:nvPr/>
        </p:nvSpPr>
        <p:spPr>
          <a:xfrm rot="10800000">
            <a:off x="614477" y="941832"/>
            <a:ext cx="233172" cy="202082"/>
          </a:xfrm>
          <a:prstGeom prst="triangle">
            <a:avLst>
              <a:gd fmla="val 50000" name="adj"/>
            </a:avLst>
          </a:prstGeom>
          <a:solidFill>
            <a:srgbClr val="F58220">
              <a:alpha val="18039"/>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88" name="Google Shape;3488;p126"/>
          <p:cNvSpPr/>
          <p:nvPr/>
        </p:nvSpPr>
        <p:spPr>
          <a:xfrm>
            <a:off x="863194" y="747522"/>
            <a:ext cx="233172" cy="202082"/>
          </a:xfrm>
          <a:prstGeom prst="triangle">
            <a:avLst>
              <a:gd fmla="val 50000" name="adj"/>
            </a:avLst>
          </a:prstGeom>
          <a:solidFill>
            <a:srgbClr val="8DC63F">
              <a:alpha val="18039"/>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89" name="Google Shape;3489;p126"/>
          <p:cNvSpPr/>
          <p:nvPr/>
        </p:nvSpPr>
        <p:spPr>
          <a:xfrm>
            <a:off x="863194" y="358902"/>
            <a:ext cx="233172" cy="202082"/>
          </a:xfrm>
          <a:prstGeom prst="triangle">
            <a:avLst>
              <a:gd fmla="val 50000" name="adj"/>
            </a:avLst>
          </a:prstGeom>
          <a:solidFill>
            <a:srgbClr val="1D2A5C">
              <a:alpha val="18039"/>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90" name="Google Shape;3490;p126"/>
          <p:cNvSpPr/>
          <p:nvPr/>
        </p:nvSpPr>
        <p:spPr>
          <a:xfrm rot="10800000">
            <a:off x="1111910" y="553212"/>
            <a:ext cx="233172" cy="202082"/>
          </a:xfrm>
          <a:prstGeom prst="triangle">
            <a:avLst>
              <a:gd fmla="val 50000" name="adj"/>
            </a:avLst>
          </a:prstGeom>
          <a:solidFill>
            <a:srgbClr val="29ABE2">
              <a:alpha val="18039"/>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91" name="Google Shape;3491;p126"/>
          <p:cNvSpPr/>
          <p:nvPr/>
        </p:nvSpPr>
        <p:spPr>
          <a:xfrm>
            <a:off x="1111910" y="941832"/>
            <a:ext cx="233172" cy="202082"/>
          </a:xfrm>
          <a:prstGeom prst="triangle">
            <a:avLst>
              <a:gd fmla="val 50000" name="adj"/>
            </a:avLst>
          </a:prstGeom>
          <a:solidFill>
            <a:srgbClr val="00A79D">
              <a:alpha val="18039"/>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92" name="Google Shape;3492;p126"/>
          <p:cNvSpPr/>
          <p:nvPr/>
        </p:nvSpPr>
        <p:spPr>
          <a:xfrm rot="10800000">
            <a:off x="1360627" y="747522"/>
            <a:ext cx="233172" cy="202082"/>
          </a:xfrm>
          <a:prstGeom prst="triangle">
            <a:avLst>
              <a:gd fmla="val 50000" name="adj"/>
            </a:avLst>
          </a:prstGeom>
          <a:solidFill>
            <a:srgbClr val="F58220">
              <a:alpha val="18039"/>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93" name="Google Shape;3493;p126"/>
          <p:cNvSpPr/>
          <p:nvPr/>
        </p:nvSpPr>
        <p:spPr>
          <a:xfrm>
            <a:off x="10332720" y="347472"/>
            <a:ext cx="1481328" cy="566928"/>
          </a:xfrm>
          <a:prstGeom prst="roundRect">
            <a:avLst>
              <a:gd fmla="val 14516" name="adj"/>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sessions/blissful-determined-ritchie/build/assets/sdaia_logo.png" id="3494" name="Google Shape;3494;p126"/>
          <p:cNvPicPr preferRelativeResize="0"/>
          <p:nvPr/>
        </p:nvPicPr>
        <p:blipFill rotWithShape="1">
          <a:blip r:embed="rId3">
            <a:alphaModFix/>
          </a:blip>
          <a:srcRect b="0" l="0" r="0" t="0"/>
          <a:stretch/>
        </p:blipFill>
        <p:spPr>
          <a:xfrm>
            <a:off x="10442448" y="438912"/>
            <a:ext cx="1261872" cy="308876"/>
          </a:xfrm>
          <a:prstGeom prst="rect">
            <a:avLst/>
          </a:prstGeom>
          <a:noFill/>
          <a:ln>
            <a:noFill/>
          </a:ln>
        </p:spPr>
      </p:pic>
      <p:sp>
        <p:nvSpPr>
          <p:cNvPr id="3495" name="Google Shape;3495;p126"/>
          <p:cNvSpPr/>
          <p:nvPr/>
        </p:nvSpPr>
        <p:spPr>
          <a:xfrm>
            <a:off x="777240" y="1325880"/>
            <a:ext cx="548640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A79D"/>
              </a:buClr>
              <a:buSzPts val="2000"/>
              <a:buFont typeface="Calibri"/>
              <a:buNone/>
            </a:pPr>
            <a:r>
              <a:rPr b="1" i="0" lang="en-US" sz="2000" u="none" cap="none" strike="noStrike">
                <a:solidFill>
                  <a:srgbClr val="00A79D"/>
                </a:solidFill>
                <a:latin typeface="Calibri"/>
                <a:ea typeface="Calibri"/>
                <a:cs typeface="Calibri"/>
                <a:sym typeface="Calibri"/>
              </a:rPr>
              <a:t>MODULE 7</a:t>
            </a:r>
            <a:endParaRPr b="0" i="0" sz="2000" u="none" cap="none" strike="noStrike">
              <a:solidFill>
                <a:schemeClr val="dk1"/>
              </a:solidFill>
              <a:latin typeface="Calibri"/>
              <a:ea typeface="Calibri"/>
              <a:cs typeface="Calibri"/>
              <a:sym typeface="Calibri"/>
            </a:endParaRPr>
          </a:p>
        </p:txBody>
      </p:sp>
      <p:sp>
        <p:nvSpPr>
          <p:cNvPr id="3496" name="Google Shape;3496;p126"/>
          <p:cNvSpPr/>
          <p:nvPr/>
        </p:nvSpPr>
        <p:spPr>
          <a:xfrm>
            <a:off x="749808" y="1828800"/>
            <a:ext cx="7589520" cy="13716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FFFFFF"/>
              </a:buClr>
              <a:buSzPts val="3600"/>
              <a:buFont typeface="Calibri"/>
              <a:buNone/>
            </a:pPr>
            <a:r>
              <a:rPr b="1" i="0" lang="en-US" sz="3600" u="none" cap="none" strike="noStrike">
                <a:solidFill>
                  <a:srgbClr val="FFFFFF"/>
                </a:solidFill>
                <a:latin typeface="Calibri"/>
                <a:ea typeface="Calibri"/>
                <a:cs typeface="Calibri"/>
                <a:sym typeface="Calibri"/>
              </a:rPr>
              <a:t>Deployment and Edge Optimisation</a:t>
            </a:r>
            <a:endParaRPr b="0" i="0" sz="3600" u="none" cap="none" strike="noStrike">
              <a:solidFill>
                <a:schemeClr val="dk1"/>
              </a:solidFill>
              <a:latin typeface="Calibri"/>
              <a:ea typeface="Calibri"/>
              <a:cs typeface="Calibri"/>
              <a:sym typeface="Calibri"/>
            </a:endParaRPr>
          </a:p>
        </p:txBody>
      </p:sp>
      <p:sp>
        <p:nvSpPr>
          <p:cNvPr id="3497" name="Google Shape;3497;p126"/>
          <p:cNvSpPr/>
          <p:nvPr/>
        </p:nvSpPr>
        <p:spPr>
          <a:xfrm>
            <a:off x="777240" y="2852928"/>
            <a:ext cx="758952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B9C8E8"/>
              </a:buClr>
              <a:buSzPts val="1700"/>
              <a:buFont typeface="Arial"/>
              <a:buNone/>
            </a:pPr>
            <a:r>
              <a:rPr b="0" i="0" lang="en-US" sz="1700" u="none" cap="none" strike="noStrike">
                <a:solidFill>
                  <a:srgbClr val="B9C8E8"/>
                </a:solidFill>
                <a:latin typeface="Arial"/>
                <a:ea typeface="Arial"/>
                <a:cs typeface="Arial"/>
                <a:sym typeface="Arial"/>
              </a:rPr>
              <a:t>النشر والتحسين للحوسبة الطرفية</a:t>
            </a:r>
            <a:endParaRPr b="0" i="0" sz="1700" u="none" cap="none" strike="noStrike">
              <a:solidFill>
                <a:schemeClr val="dk1"/>
              </a:solidFill>
              <a:latin typeface="Calibri"/>
              <a:ea typeface="Calibri"/>
              <a:cs typeface="Calibri"/>
              <a:sym typeface="Calibri"/>
            </a:endParaRPr>
          </a:p>
        </p:txBody>
      </p:sp>
      <p:sp>
        <p:nvSpPr>
          <p:cNvPr id="3498" name="Google Shape;3498;p126"/>
          <p:cNvSpPr/>
          <p:nvPr/>
        </p:nvSpPr>
        <p:spPr>
          <a:xfrm>
            <a:off x="804672" y="3520440"/>
            <a:ext cx="6949440" cy="2560320"/>
          </a:xfrm>
          <a:prstGeom prst="rect">
            <a:avLst/>
          </a:prstGeom>
          <a:noFill/>
          <a:ln>
            <a:noFill/>
          </a:ln>
        </p:spPr>
        <p:txBody>
          <a:bodyPr anchorCtr="0" anchor="t" bIns="0" lIns="0" spcFirstLastPara="1" rIns="0" wrap="square" tIns="0">
            <a:noAutofit/>
          </a:bodyPr>
          <a:lstStyle/>
          <a:p>
            <a:pPr indent="-177800" lvl="0" marL="177800" marR="0" rtl="0" algn="l">
              <a:spcBef>
                <a:spcPts val="0"/>
              </a:spcBef>
              <a:spcAft>
                <a:spcPts val="0"/>
              </a:spcAft>
              <a:buClr>
                <a:srgbClr val="DCE6F8"/>
              </a:buClr>
              <a:buSzPts val="1300"/>
              <a:buFont typeface="Calibri"/>
              <a:buChar char="▪"/>
            </a:pPr>
            <a:r>
              <a:rPr b="0" i="0" lang="en-US" sz="1300" u="none" cap="none" strike="noStrike">
                <a:solidFill>
                  <a:srgbClr val="DCE6F8"/>
                </a:solidFill>
                <a:latin typeface="Calibri"/>
                <a:ea typeface="Calibri"/>
                <a:cs typeface="Calibri"/>
                <a:sym typeface="Calibri"/>
              </a:rPr>
              <a:t>Choosing the target: cloud, edge, or both</a:t>
            </a:r>
            <a:endParaRPr b="0" i="0" sz="1300" u="none" cap="none" strike="noStrike">
              <a:solidFill>
                <a:schemeClr val="dk1"/>
              </a:solidFill>
              <a:latin typeface="Calibri"/>
              <a:ea typeface="Calibri"/>
              <a:cs typeface="Calibri"/>
              <a:sym typeface="Calibri"/>
            </a:endParaRPr>
          </a:p>
          <a:p>
            <a:pPr indent="-177800" lvl="0" marL="177800" marR="0" rtl="0" algn="l">
              <a:spcBef>
                <a:spcPts val="800"/>
              </a:spcBef>
              <a:spcAft>
                <a:spcPts val="0"/>
              </a:spcAft>
              <a:buClr>
                <a:srgbClr val="DCE6F8"/>
              </a:buClr>
              <a:buSzPts val="1300"/>
              <a:buFont typeface="Calibri"/>
              <a:buChar char="▪"/>
            </a:pPr>
            <a:r>
              <a:rPr b="0" i="0" lang="en-US" sz="1300" u="none" cap="none" strike="noStrike">
                <a:solidFill>
                  <a:srgbClr val="DCE6F8"/>
                </a:solidFill>
                <a:latin typeface="Calibri"/>
                <a:ea typeface="Calibri"/>
                <a:cs typeface="Calibri"/>
                <a:sym typeface="Calibri"/>
              </a:rPr>
              <a:t>ONNX export and the parity discipline</a:t>
            </a:r>
            <a:endParaRPr b="0" i="0" sz="1300" u="none" cap="none" strike="noStrike">
              <a:solidFill>
                <a:schemeClr val="dk1"/>
              </a:solidFill>
              <a:latin typeface="Calibri"/>
              <a:ea typeface="Calibri"/>
              <a:cs typeface="Calibri"/>
              <a:sym typeface="Calibri"/>
            </a:endParaRPr>
          </a:p>
          <a:p>
            <a:pPr indent="-177800" lvl="0" marL="177800" marR="0" rtl="0" algn="l">
              <a:spcBef>
                <a:spcPts val="800"/>
              </a:spcBef>
              <a:spcAft>
                <a:spcPts val="0"/>
              </a:spcAft>
              <a:buClr>
                <a:srgbClr val="DCE6F8"/>
              </a:buClr>
              <a:buSzPts val="1300"/>
              <a:buFont typeface="Calibri"/>
              <a:buChar char="▪"/>
            </a:pPr>
            <a:r>
              <a:rPr b="0" i="0" lang="en-US" sz="1300" u="none" cap="none" strike="noStrike">
                <a:solidFill>
                  <a:srgbClr val="DCE6F8"/>
                </a:solidFill>
                <a:latin typeface="Calibri"/>
                <a:ea typeface="Calibri"/>
                <a:cs typeface="Calibri"/>
                <a:sym typeface="Calibri"/>
              </a:rPr>
              <a:t>The optimisation ladder: size, INT8, providers</a:t>
            </a:r>
            <a:endParaRPr b="0" i="0" sz="1300" u="none" cap="none" strike="noStrike">
              <a:solidFill>
                <a:schemeClr val="dk1"/>
              </a:solidFill>
              <a:latin typeface="Calibri"/>
              <a:ea typeface="Calibri"/>
              <a:cs typeface="Calibri"/>
              <a:sym typeface="Calibri"/>
            </a:endParaRPr>
          </a:p>
          <a:p>
            <a:pPr indent="-177800" lvl="0" marL="177800" marR="0" rtl="0" algn="l">
              <a:spcBef>
                <a:spcPts val="800"/>
              </a:spcBef>
              <a:spcAft>
                <a:spcPts val="0"/>
              </a:spcAft>
              <a:buClr>
                <a:srgbClr val="DCE6F8"/>
              </a:buClr>
              <a:buSzPts val="1300"/>
              <a:buFont typeface="Calibri"/>
              <a:buChar char="▪"/>
            </a:pPr>
            <a:r>
              <a:rPr b="0" i="0" lang="en-US" sz="1300" u="none" cap="none" strike="noStrike">
                <a:solidFill>
                  <a:srgbClr val="DCE6F8"/>
                </a:solidFill>
                <a:latin typeface="Calibri"/>
                <a:ea typeface="Calibri"/>
                <a:cs typeface="Calibri"/>
                <a:sym typeface="Calibri"/>
              </a:rPr>
              <a:t>Honest benchmarking + the edge inference loop</a:t>
            </a:r>
            <a:endParaRPr b="0" i="0" sz="1300" u="none" cap="none" strike="noStrike">
              <a:solidFill>
                <a:schemeClr val="dk1"/>
              </a:solidFill>
              <a:latin typeface="Calibri"/>
              <a:ea typeface="Calibri"/>
              <a:cs typeface="Calibri"/>
              <a:sym typeface="Calibri"/>
            </a:endParaRPr>
          </a:p>
        </p:txBody>
      </p:sp>
      <p:sp>
        <p:nvSpPr>
          <p:cNvPr id="3499" name="Google Shape;3499;p126"/>
          <p:cNvSpPr/>
          <p:nvPr/>
        </p:nvSpPr>
        <p:spPr>
          <a:xfrm>
            <a:off x="8366760" y="3520440"/>
            <a:ext cx="3383280" cy="2286000"/>
          </a:xfrm>
          <a:prstGeom prst="roundRect">
            <a:avLst>
              <a:gd fmla="val 4000" name="adj"/>
            </a:avLst>
          </a:prstGeom>
          <a:solidFill>
            <a:srgbClr val="1C2C63"/>
          </a:solidFill>
          <a:ln cap="flat" cmpd="sng" w="15875">
            <a:solidFill>
              <a:srgbClr val="00A79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00" name="Google Shape;3500;p126"/>
          <p:cNvSpPr/>
          <p:nvPr/>
        </p:nvSpPr>
        <p:spPr>
          <a:xfrm>
            <a:off x="8595360" y="3703320"/>
            <a:ext cx="292608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A79D"/>
              </a:buClr>
              <a:buSzPts val="1000"/>
              <a:buFont typeface="Calibri"/>
              <a:buNone/>
            </a:pPr>
            <a:r>
              <a:rPr b="1" i="0" lang="en-US" sz="1000" u="none" cap="none" strike="noStrike">
                <a:solidFill>
                  <a:srgbClr val="00A79D"/>
                </a:solidFill>
                <a:latin typeface="Calibri"/>
                <a:ea typeface="Calibri"/>
                <a:cs typeface="Calibri"/>
                <a:sym typeface="Calibri"/>
              </a:rPr>
              <a:t>MODULE OUTCOME</a:t>
            </a:r>
            <a:endParaRPr b="0" i="0" sz="1000" u="none" cap="none" strike="noStrike">
              <a:solidFill>
                <a:schemeClr val="dk1"/>
              </a:solidFill>
              <a:latin typeface="Calibri"/>
              <a:ea typeface="Calibri"/>
              <a:cs typeface="Calibri"/>
              <a:sym typeface="Calibri"/>
            </a:endParaRPr>
          </a:p>
        </p:txBody>
      </p:sp>
      <p:sp>
        <p:nvSpPr>
          <p:cNvPr id="3501" name="Google Shape;3501;p126"/>
          <p:cNvSpPr/>
          <p:nvPr/>
        </p:nvSpPr>
        <p:spPr>
          <a:xfrm>
            <a:off x="8595360" y="4041648"/>
            <a:ext cx="2971800" cy="16002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FFFFFF"/>
              </a:buClr>
              <a:buSzPts val="1250"/>
              <a:buFont typeface="Calibri"/>
              <a:buNone/>
            </a:pPr>
            <a:r>
              <a:rPr b="0" i="0" lang="en-US" sz="1250" u="none" cap="none" strike="noStrike">
                <a:solidFill>
                  <a:srgbClr val="FFFFFF"/>
                </a:solidFill>
                <a:latin typeface="Calibri"/>
                <a:ea typeface="Calibri"/>
                <a:cs typeface="Calibri"/>
                <a:sym typeface="Calibri"/>
              </a:rPr>
              <a:t>Parity-tested ONNX artefacts, INT8 quantisation with slice-checked accuracy cost, and a benchmarked, budget-justified line configuration</a:t>
            </a:r>
            <a:endParaRPr b="0" i="0" sz="1250" u="none" cap="none" strike="noStrike">
              <a:solidFill>
                <a:schemeClr val="dk1"/>
              </a:solidFill>
              <a:latin typeface="Calibri"/>
              <a:ea typeface="Calibri"/>
              <a:cs typeface="Calibri"/>
              <a:sym typeface="Calibri"/>
            </a:endParaRPr>
          </a:p>
        </p:txBody>
      </p:sp>
      <p:sp>
        <p:nvSpPr>
          <p:cNvPr id="3502" name="Google Shape;3502;p126"/>
          <p:cNvSpPr/>
          <p:nvPr/>
        </p:nvSpPr>
        <p:spPr>
          <a:xfrm>
            <a:off x="11292840" y="6528816"/>
            <a:ext cx="411480" cy="219456"/>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5A6A96"/>
              </a:buClr>
              <a:buSzPts val="900"/>
              <a:buFont typeface="Calibri"/>
              <a:buNone/>
            </a:pPr>
            <a:r>
              <a:rPr b="0" i="0" lang="en-US" sz="900" u="none" cap="none" strike="noStrike">
                <a:solidFill>
                  <a:srgbClr val="5A6A96"/>
                </a:solidFill>
                <a:latin typeface="Calibri"/>
                <a:ea typeface="Calibri"/>
                <a:cs typeface="Calibri"/>
                <a:sym typeface="Calibri"/>
              </a:rPr>
              <a:t>126</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1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507" name="Shape 3507"/>
        <p:cNvGrpSpPr/>
        <p:nvPr/>
      </p:nvGrpSpPr>
      <p:grpSpPr>
        <a:xfrm>
          <a:off x="0" y="0"/>
          <a:ext cx="0" cy="0"/>
          <a:chOff x="0" y="0"/>
          <a:chExt cx="0" cy="0"/>
        </a:xfrm>
      </p:grpSpPr>
      <p:sp>
        <p:nvSpPr>
          <p:cNvPr id="3508" name="Google Shape;3508;p127"/>
          <p:cNvSpPr/>
          <p:nvPr/>
        </p:nvSpPr>
        <p:spPr>
          <a:xfrm>
            <a:off x="502920" y="274320"/>
            <a:ext cx="9646920" cy="56692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D2A5C"/>
              </a:buClr>
              <a:buSzPts val="2700"/>
              <a:buFont typeface="Calibri"/>
              <a:buNone/>
            </a:pPr>
            <a:r>
              <a:rPr b="1" i="0" lang="en-US" sz="2700" u="none" cap="none" strike="noStrike">
                <a:solidFill>
                  <a:srgbClr val="1D2A5C"/>
                </a:solidFill>
                <a:latin typeface="Calibri"/>
                <a:ea typeface="Calibri"/>
                <a:cs typeface="Calibri"/>
                <a:sym typeface="Calibri"/>
              </a:rPr>
              <a:t>The last mile is where pilots die</a:t>
            </a:r>
            <a:endParaRPr b="0" i="0" sz="2700" u="none" cap="none" strike="noStrike">
              <a:solidFill>
                <a:schemeClr val="dk1"/>
              </a:solidFill>
              <a:latin typeface="Calibri"/>
              <a:ea typeface="Calibri"/>
              <a:cs typeface="Calibri"/>
              <a:sym typeface="Calibri"/>
            </a:endParaRPr>
          </a:p>
        </p:txBody>
      </p:sp>
      <p:sp>
        <p:nvSpPr>
          <p:cNvPr id="3509" name="Google Shape;3509;p127"/>
          <p:cNvSpPr/>
          <p:nvPr/>
        </p:nvSpPr>
        <p:spPr>
          <a:xfrm>
            <a:off x="502920" y="859536"/>
            <a:ext cx="9646920" cy="31089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F6B7A"/>
              </a:buClr>
              <a:buSzPts val="1250"/>
              <a:buFont typeface="Arial"/>
              <a:buNone/>
            </a:pPr>
            <a:r>
              <a:rPr b="0" i="0" lang="en-US" sz="1250" u="none" cap="none" strike="noStrike">
                <a:solidFill>
                  <a:srgbClr val="5F6B7A"/>
                </a:solidFill>
                <a:latin typeface="Arial"/>
                <a:ea typeface="Arial"/>
                <a:cs typeface="Arial"/>
                <a:sym typeface="Arial"/>
              </a:rPr>
              <a:t>لماذا يهم الميل الأخير</a:t>
            </a:r>
            <a:endParaRPr b="0" i="0" sz="1250" u="none" cap="none" strike="noStrike">
              <a:solidFill>
                <a:schemeClr val="dk1"/>
              </a:solidFill>
              <a:latin typeface="Calibri"/>
              <a:ea typeface="Calibri"/>
              <a:cs typeface="Calibri"/>
              <a:sym typeface="Calibri"/>
            </a:endParaRPr>
          </a:p>
        </p:txBody>
      </p:sp>
      <p:pic>
        <p:nvPicPr>
          <p:cNvPr descr="/sessions/blissful-determined-ritchie/build/assets/sdaia_logo.png" id="3510" name="Google Shape;3510;p127"/>
          <p:cNvPicPr preferRelativeResize="0"/>
          <p:nvPr/>
        </p:nvPicPr>
        <p:blipFill rotWithShape="1">
          <a:blip r:embed="rId3">
            <a:alphaModFix/>
          </a:blip>
          <a:srcRect b="0" l="0" r="0" t="0"/>
          <a:stretch/>
        </p:blipFill>
        <p:spPr>
          <a:xfrm>
            <a:off x="10625328" y="310896"/>
            <a:ext cx="1078992" cy="264111"/>
          </a:xfrm>
          <a:prstGeom prst="rect">
            <a:avLst/>
          </a:prstGeom>
          <a:noFill/>
          <a:ln>
            <a:noFill/>
          </a:ln>
        </p:spPr>
      </p:pic>
      <p:sp>
        <p:nvSpPr>
          <p:cNvPr id="3511" name="Google Shape;3511;p127"/>
          <p:cNvSpPr/>
          <p:nvPr/>
        </p:nvSpPr>
        <p:spPr>
          <a:xfrm>
            <a:off x="502920" y="6528816"/>
            <a:ext cx="8686800"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A79D"/>
              </a:buClr>
              <a:buSzPts val="800"/>
              <a:buFont typeface="Calibri"/>
              <a:buNone/>
            </a:pPr>
            <a:r>
              <a:rPr b="1" i="0" lang="en-US" sz="800" u="none" cap="none" strike="noStrike">
                <a:solidFill>
                  <a:srgbClr val="00A79D"/>
                </a:solidFill>
                <a:latin typeface="Calibri"/>
                <a:ea typeface="Calibri"/>
                <a:cs typeface="Calibri"/>
                <a:sym typeface="Calibri"/>
              </a:rPr>
              <a:t>MODULE 7   </a:t>
            </a:r>
            <a:r>
              <a:rPr b="0" i="0" lang="en-US" sz="800" u="none" cap="none" strike="noStrike">
                <a:solidFill>
                  <a:srgbClr val="8A96A6"/>
                </a:solidFill>
                <a:latin typeface="Calibri"/>
                <a:ea typeface="Calibri"/>
                <a:cs typeface="Calibri"/>
                <a:sym typeface="Calibri"/>
              </a:rPr>
              <a:t>SDA-AIE-212 · Computer Vision Systems Development</a:t>
            </a:r>
            <a:endParaRPr b="0" i="0" sz="800" u="none" cap="none" strike="noStrike">
              <a:solidFill>
                <a:schemeClr val="dk1"/>
              </a:solidFill>
              <a:latin typeface="Calibri"/>
              <a:ea typeface="Calibri"/>
              <a:cs typeface="Calibri"/>
              <a:sym typeface="Calibri"/>
            </a:endParaRPr>
          </a:p>
        </p:txBody>
      </p:sp>
      <p:sp>
        <p:nvSpPr>
          <p:cNvPr id="3512" name="Google Shape;3512;p127"/>
          <p:cNvSpPr/>
          <p:nvPr/>
        </p:nvSpPr>
        <p:spPr>
          <a:xfrm>
            <a:off x="11292840" y="6528816"/>
            <a:ext cx="411480" cy="219456"/>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8A96A6"/>
              </a:buClr>
              <a:buSzPts val="900"/>
              <a:buFont typeface="Calibri"/>
              <a:buNone/>
            </a:pPr>
            <a:r>
              <a:rPr b="0" i="0" lang="en-US" sz="900" u="none" cap="none" strike="noStrike">
                <a:solidFill>
                  <a:srgbClr val="8A96A6"/>
                </a:solidFill>
                <a:latin typeface="Calibri"/>
                <a:ea typeface="Calibri"/>
                <a:cs typeface="Calibri"/>
                <a:sym typeface="Calibri"/>
              </a:rPr>
              <a:t>127</a:t>
            </a:r>
            <a:endParaRPr b="0" i="0" sz="900" u="none" cap="none" strike="noStrike">
              <a:solidFill>
                <a:schemeClr val="dk1"/>
              </a:solidFill>
              <a:latin typeface="Calibri"/>
              <a:ea typeface="Calibri"/>
              <a:cs typeface="Calibri"/>
              <a:sym typeface="Calibri"/>
            </a:endParaRPr>
          </a:p>
        </p:txBody>
      </p:sp>
      <p:sp>
        <p:nvSpPr>
          <p:cNvPr id="3513" name="Google Shape;3513;p127"/>
          <p:cNvSpPr/>
          <p:nvPr/>
        </p:nvSpPr>
        <p:spPr>
          <a:xfrm>
            <a:off x="502920" y="1389888"/>
            <a:ext cx="11185855" cy="384048"/>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5F6B7A"/>
              </a:buClr>
              <a:buSzPts val="1250"/>
              <a:buFont typeface="Calibri"/>
              <a:buNone/>
            </a:pPr>
            <a:r>
              <a:rPr b="0" i="1" lang="en-US" sz="1250" u="none" cap="none" strike="noStrike">
                <a:solidFill>
                  <a:srgbClr val="5F6B7A"/>
                </a:solidFill>
                <a:latin typeface="Calibri"/>
                <a:ea typeface="Calibri"/>
                <a:cs typeface="Calibri"/>
                <a:sym typeface="Calibri"/>
              </a:rPr>
              <a:t>Cloud-vs-edge is an economics and sovereignty decision before it is a technical one.</a:t>
            </a:r>
            <a:endParaRPr b="0" i="0" sz="1250" u="none" cap="none" strike="noStrike">
              <a:solidFill>
                <a:schemeClr val="dk1"/>
              </a:solidFill>
              <a:latin typeface="Calibri"/>
              <a:ea typeface="Calibri"/>
              <a:cs typeface="Calibri"/>
              <a:sym typeface="Calibri"/>
            </a:endParaRPr>
          </a:p>
        </p:txBody>
      </p:sp>
      <p:sp>
        <p:nvSpPr>
          <p:cNvPr id="3514" name="Google Shape;3514;p127"/>
          <p:cNvSpPr/>
          <p:nvPr/>
        </p:nvSpPr>
        <p:spPr>
          <a:xfrm>
            <a:off x="502920" y="3026664"/>
            <a:ext cx="2556434" cy="2194560"/>
          </a:xfrm>
          <a:prstGeom prst="roundRect">
            <a:avLst>
              <a:gd fmla="val 3750" name="adj"/>
            </a:avLst>
          </a:prstGeom>
          <a:solidFill>
            <a:srgbClr val="E9F6F5"/>
          </a:solidFill>
          <a:ln cap="flat" cmpd="sng" w="12700">
            <a:solidFill>
              <a:srgbClr val="D9E2E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15" name="Google Shape;3515;p127"/>
          <p:cNvSpPr/>
          <p:nvPr/>
        </p:nvSpPr>
        <p:spPr>
          <a:xfrm>
            <a:off x="594360" y="3136392"/>
            <a:ext cx="2373554" cy="96560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0A79D"/>
              </a:buClr>
              <a:buSzPts val="3800"/>
              <a:buFont typeface="Calibri"/>
              <a:buNone/>
            </a:pPr>
            <a:r>
              <a:rPr b="1" i="0" lang="en-US" sz="3800" u="none" cap="none" strike="noStrike">
                <a:solidFill>
                  <a:srgbClr val="00A79D"/>
                </a:solidFill>
                <a:latin typeface="Calibri"/>
                <a:ea typeface="Calibri"/>
                <a:cs typeface="Calibri"/>
                <a:sym typeface="Calibri"/>
              </a:rPr>
              <a:t>380 ms</a:t>
            </a:r>
            <a:endParaRPr b="0" i="0" sz="3800" u="none" cap="none" strike="noStrike">
              <a:solidFill>
                <a:schemeClr val="dk1"/>
              </a:solidFill>
              <a:latin typeface="Calibri"/>
              <a:ea typeface="Calibri"/>
              <a:cs typeface="Calibri"/>
              <a:sym typeface="Calibri"/>
            </a:endParaRPr>
          </a:p>
        </p:txBody>
      </p:sp>
      <p:sp>
        <p:nvSpPr>
          <p:cNvPr id="3516" name="Google Shape;3516;p127"/>
          <p:cNvSpPr/>
          <p:nvPr/>
        </p:nvSpPr>
        <p:spPr>
          <a:xfrm>
            <a:off x="640080" y="4167835"/>
            <a:ext cx="2282114" cy="32004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D2A5C"/>
              </a:buClr>
              <a:buSzPts val="1250"/>
              <a:buFont typeface="Calibri"/>
              <a:buNone/>
            </a:pPr>
            <a:r>
              <a:rPr b="1" i="0" lang="en-US" sz="1250" u="none" cap="none" strike="noStrike">
                <a:solidFill>
                  <a:srgbClr val="1D2A5C"/>
                </a:solidFill>
                <a:latin typeface="Calibri"/>
                <a:ea typeface="Calibri"/>
                <a:cs typeface="Calibri"/>
                <a:sym typeface="Calibri"/>
              </a:rPr>
              <a:t>eject-gate budget</a:t>
            </a:r>
            <a:endParaRPr b="0" i="0" sz="1250" u="none" cap="none" strike="noStrike">
              <a:solidFill>
                <a:schemeClr val="dk1"/>
              </a:solidFill>
              <a:latin typeface="Calibri"/>
              <a:ea typeface="Calibri"/>
              <a:cs typeface="Calibri"/>
              <a:sym typeface="Calibri"/>
            </a:endParaRPr>
          </a:p>
        </p:txBody>
      </p:sp>
      <p:sp>
        <p:nvSpPr>
          <p:cNvPr id="3517" name="Google Shape;3517;p127"/>
          <p:cNvSpPr/>
          <p:nvPr/>
        </p:nvSpPr>
        <p:spPr>
          <a:xfrm>
            <a:off x="640080" y="4515307"/>
            <a:ext cx="2282114" cy="658368"/>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rgbClr val="5F6B7A"/>
              </a:buClr>
              <a:buSzPts val="1000"/>
              <a:buFont typeface="Calibri"/>
              <a:buNone/>
            </a:pPr>
            <a:r>
              <a:rPr b="0" i="0" lang="en-US" sz="1000" u="none" cap="none" strike="noStrike">
                <a:solidFill>
                  <a:srgbClr val="5F6B7A"/>
                </a:solidFill>
                <a:latin typeface="Calibri"/>
                <a:ea typeface="Calibri"/>
                <a:cs typeface="Calibri"/>
                <a:sym typeface="Calibri"/>
              </a:rPr>
              <a:t>camera to actuation — gate 1.9 m downstream</a:t>
            </a:r>
            <a:endParaRPr b="0" i="0" sz="1000" u="none" cap="none" strike="noStrike">
              <a:solidFill>
                <a:schemeClr val="dk1"/>
              </a:solidFill>
              <a:latin typeface="Calibri"/>
              <a:ea typeface="Calibri"/>
              <a:cs typeface="Calibri"/>
              <a:sym typeface="Calibri"/>
            </a:endParaRPr>
          </a:p>
        </p:txBody>
      </p:sp>
      <p:sp>
        <p:nvSpPr>
          <p:cNvPr id="3518" name="Google Shape;3518;p127"/>
          <p:cNvSpPr/>
          <p:nvPr/>
        </p:nvSpPr>
        <p:spPr>
          <a:xfrm>
            <a:off x="3379394" y="3026664"/>
            <a:ext cx="2556434" cy="2194560"/>
          </a:xfrm>
          <a:prstGeom prst="roundRect">
            <a:avLst>
              <a:gd fmla="val 3750" name="adj"/>
            </a:avLst>
          </a:prstGeom>
          <a:solidFill>
            <a:srgbClr val="F2F6F9"/>
          </a:solidFill>
          <a:ln cap="flat" cmpd="sng" w="12700">
            <a:solidFill>
              <a:srgbClr val="D9E2E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19" name="Google Shape;3519;p127"/>
          <p:cNvSpPr/>
          <p:nvPr/>
        </p:nvSpPr>
        <p:spPr>
          <a:xfrm>
            <a:off x="3470834" y="3136392"/>
            <a:ext cx="2373554" cy="96560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9ABE2"/>
              </a:buClr>
              <a:buSzPts val="3800"/>
              <a:buFont typeface="Calibri"/>
              <a:buNone/>
            </a:pPr>
            <a:r>
              <a:rPr b="1" i="0" lang="en-US" sz="3800" u="none" cap="none" strike="noStrike">
                <a:solidFill>
                  <a:srgbClr val="29ABE2"/>
                </a:solidFill>
                <a:latin typeface="Calibri"/>
                <a:ea typeface="Calibri"/>
                <a:cs typeface="Calibri"/>
                <a:sym typeface="Calibri"/>
              </a:rPr>
              <a:t>62 FPS</a:t>
            </a:r>
            <a:endParaRPr b="0" i="0" sz="3800" u="none" cap="none" strike="noStrike">
              <a:solidFill>
                <a:schemeClr val="dk1"/>
              </a:solidFill>
              <a:latin typeface="Calibri"/>
              <a:ea typeface="Calibri"/>
              <a:cs typeface="Calibri"/>
              <a:sym typeface="Calibri"/>
            </a:endParaRPr>
          </a:p>
        </p:txBody>
      </p:sp>
      <p:sp>
        <p:nvSpPr>
          <p:cNvPr id="3520" name="Google Shape;3520;p127"/>
          <p:cNvSpPr/>
          <p:nvPr/>
        </p:nvSpPr>
        <p:spPr>
          <a:xfrm>
            <a:off x="3516554" y="4167835"/>
            <a:ext cx="2282114" cy="32004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D2A5C"/>
              </a:buClr>
              <a:buSzPts val="1250"/>
              <a:buFont typeface="Calibri"/>
              <a:buNone/>
            </a:pPr>
            <a:r>
              <a:rPr b="1" i="0" lang="en-US" sz="1250" u="none" cap="none" strike="noStrike">
                <a:solidFill>
                  <a:srgbClr val="1D2A5C"/>
                </a:solidFill>
                <a:latin typeface="Calibri"/>
                <a:ea typeface="Calibri"/>
                <a:cs typeface="Calibri"/>
                <a:sym typeface="Calibri"/>
              </a:rPr>
              <a:t>edge detection</a:t>
            </a:r>
            <a:endParaRPr b="0" i="0" sz="1250" u="none" cap="none" strike="noStrike">
              <a:solidFill>
                <a:schemeClr val="dk1"/>
              </a:solidFill>
              <a:latin typeface="Calibri"/>
              <a:ea typeface="Calibri"/>
              <a:cs typeface="Calibri"/>
              <a:sym typeface="Calibri"/>
            </a:endParaRPr>
          </a:p>
        </p:txBody>
      </p:sp>
      <p:sp>
        <p:nvSpPr>
          <p:cNvPr id="3521" name="Google Shape;3521;p127"/>
          <p:cNvSpPr/>
          <p:nvPr/>
        </p:nvSpPr>
        <p:spPr>
          <a:xfrm>
            <a:off x="3516554" y="4515307"/>
            <a:ext cx="2282114" cy="658368"/>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rgbClr val="5F6B7A"/>
              </a:buClr>
              <a:buSzPts val="1000"/>
              <a:buFont typeface="Calibri"/>
              <a:buNone/>
            </a:pPr>
            <a:r>
              <a:rPr b="0" i="0" lang="en-US" sz="1000" u="none" cap="none" strike="noStrike">
                <a:solidFill>
                  <a:srgbClr val="5F6B7A"/>
                </a:solidFill>
                <a:latin typeface="Calibri"/>
                <a:ea typeface="Calibri"/>
                <a:cs typeface="Calibri"/>
                <a:sym typeface="Calibri"/>
              </a:rPr>
              <a:t>INT8 at 416² on the industrial PC</a:t>
            </a:r>
            <a:endParaRPr b="0" i="0" sz="1000" u="none" cap="none" strike="noStrike">
              <a:solidFill>
                <a:schemeClr val="dk1"/>
              </a:solidFill>
              <a:latin typeface="Calibri"/>
              <a:ea typeface="Calibri"/>
              <a:cs typeface="Calibri"/>
              <a:sym typeface="Calibri"/>
            </a:endParaRPr>
          </a:p>
        </p:txBody>
      </p:sp>
      <p:sp>
        <p:nvSpPr>
          <p:cNvPr id="3522" name="Google Shape;3522;p127"/>
          <p:cNvSpPr/>
          <p:nvPr/>
        </p:nvSpPr>
        <p:spPr>
          <a:xfrm>
            <a:off x="6255868" y="3026664"/>
            <a:ext cx="2556434" cy="2194560"/>
          </a:xfrm>
          <a:prstGeom prst="roundRect">
            <a:avLst>
              <a:gd fmla="val 3750" name="adj"/>
            </a:avLst>
          </a:prstGeom>
          <a:solidFill>
            <a:srgbClr val="F2F6F9"/>
          </a:solidFill>
          <a:ln cap="flat" cmpd="sng" w="12700">
            <a:solidFill>
              <a:srgbClr val="D9E2E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23" name="Google Shape;3523;p127"/>
          <p:cNvSpPr/>
          <p:nvPr/>
        </p:nvSpPr>
        <p:spPr>
          <a:xfrm>
            <a:off x="6347308" y="3136392"/>
            <a:ext cx="2373554" cy="96560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58220"/>
              </a:buClr>
              <a:buSzPts val="3800"/>
              <a:buFont typeface="Calibri"/>
              <a:buNone/>
            </a:pPr>
            <a:r>
              <a:rPr b="1" i="0" lang="en-US" sz="3800" u="none" cap="none" strike="noStrike">
                <a:solidFill>
                  <a:srgbClr val="F58220"/>
                </a:solidFill>
                <a:latin typeface="Calibri"/>
                <a:ea typeface="Calibri"/>
                <a:cs typeface="Calibri"/>
                <a:sym typeface="Calibri"/>
              </a:rPr>
              <a:t>40×</a:t>
            </a:r>
            <a:endParaRPr b="0" i="0" sz="3800" u="none" cap="none" strike="noStrike">
              <a:solidFill>
                <a:schemeClr val="dk1"/>
              </a:solidFill>
              <a:latin typeface="Calibri"/>
              <a:ea typeface="Calibri"/>
              <a:cs typeface="Calibri"/>
              <a:sym typeface="Calibri"/>
            </a:endParaRPr>
          </a:p>
        </p:txBody>
      </p:sp>
      <p:sp>
        <p:nvSpPr>
          <p:cNvPr id="3524" name="Google Shape;3524;p127"/>
          <p:cNvSpPr/>
          <p:nvPr/>
        </p:nvSpPr>
        <p:spPr>
          <a:xfrm>
            <a:off x="6393028" y="4167835"/>
            <a:ext cx="2282114" cy="32004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D2A5C"/>
              </a:buClr>
              <a:buSzPts val="1250"/>
              <a:buFont typeface="Calibri"/>
              <a:buNone/>
            </a:pPr>
            <a:r>
              <a:rPr b="1" i="0" lang="en-US" sz="1250" u="none" cap="none" strike="noStrike">
                <a:solidFill>
                  <a:srgbClr val="1D2A5C"/>
                </a:solidFill>
                <a:latin typeface="Calibri"/>
                <a:ea typeface="Calibri"/>
                <a:cs typeface="Calibri"/>
                <a:sym typeface="Calibri"/>
              </a:rPr>
              <a:t>bandwidth bill cut</a:t>
            </a:r>
            <a:endParaRPr b="0" i="0" sz="1250" u="none" cap="none" strike="noStrike">
              <a:solidFill>
                <a:schemeClr val="dk1"/>
              </a:solidFill>
              <a:latin typeface="Calibri"/>
              <a:ea typeface="Calibri"/>
              <a:cs typeface="Calibri"/>
              <a:sym typeface="Calibri"/>
            </a:endParaRPr>
          </a:p>
        </p:txBody>
      </p:sp>
      <p:sp>
        <p:nvSpPr>
          <p:cNvPr id="3525" name="Google Shape;3525;p127"/>
          <p:cNvSpPr/>
          <p:nvPr/>
        </p:nvSpPr>
        <p:spPr>
          <a:xfrm>
            <a:off x="6393028" y="4515307"/>
            <a:ext cx="2282114" cy="658368"/>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rgbClr val="5F6B7A"/>
              </a:buClr>
              <a:buSzPts val="1000"/>
              <a:buFont typeface="Calibri"/>
              <a:buNone/>
            </a:pPr>
            <a:r>
              <a:rPr b="0" i="0" lang="en-US" sz="1000" u="none" cap="none" strike="noStrike">
                <a:solidFill>
                  <a:srgbClr val="5F6B7A"/>
                </a:solidFill>
                <a:latin typeface="Calibri"/>
                <a:ea typeface="Calibri"/>
                <a:cs typeface="Calibri"/>
                <a:sym typeface="Calibri"/>
              </a:rPr>
              <a:t>edge boxes sync detections, not video</a:t>
            </a:r>
            <a:endParaRPr b="0" i="0" sz="1000" u="none" cap="none" strike="noStrike">
              <a:solidFill>
                <a:schemeClr val="dk1"/>
              </a:solidFill>
              <a:latin typeface="Calibri"/>
              <a:ea typeface="Calibri"/>
              <a:cs typeface="Calibri"/>
              <a:sym typeface="Calibri"/>
            </a:endParaRPr>
          </a:p>
        </p:txBody>
      </p:sp>
      <p:sp>
        <p:nvSpPr>
          <p:cNvPr id="3526" name="Google Shape;3526;p127"/>
          <p:cNvSpPr/>
          <p:nvPr/>
        </p:nvSpPr>
        <p:spPr>
          <a:xfrm>
            <a:off x="9132341" y="3026664"/>
            <a:ext cx="2556434" cy="2194560"/>
          </a:xfrm>
          <a:prstGeom prst="roundRect">
            <a:avLst>
              <a:gd fmla="val 3750" name="adj"/>
            </a:avLst>
          </a:prstGeom>
          <a:solidFill>
            <a:srgbClr val="F2F6F9"/>
          </a:solidFill>
          <a:ln cap="flat" cmpd="sng" w="12700">
            <a:solidFill>
              <a:srgbClr val="D9E2E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27" name="Google Shape;3527;p127"/>
          <p:cNvSpPr/>
          <p:nvPr/>
        </p:nvSpPr>
        <p:spPr>
          <a:xfrm>
            <a:off x="9223781" y="3136392"/>
            <a:ext cx="2373554" cy="96560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E8503A"/>
              </a:buClr>
              <a:buSzPts val="3800"/>
              <a:buFont typeface="Calibri"/>
              <a:buNone/>
            </a:pPr>
            <a:r>
              <a:rPr b="1" i="0" lang="en-US" sz="3800" u="none" cap="none" strike="noStrike">
                <a:solidFill>
                  <a:srgbClr val="E8503A"/>
                </a:solidFill>
                <a:latin typeface="Calibri"/>
                <a:ea typeface="Calibri"/>
                <a:cs typeface="Calibri"/>
                <a:sym typeface="Calibri"/>
              </a:rPr>
              <a:t>4 FPS</a:t>
            </a:r>
            <a:endParaRPr b="0" i="0" sz="3800" u="none" cap="none" strike="noStrike">
              <a:solidFill>
                <a:schemeClr val="dk1"/>
              </a:solidFill>
              <a:latin typeface="Calibri"/>
              <a:ea typeface="Calibri"/>
              <a:cs typeface="Calibri"/>
              <a:sym typeface="Calibri"/>
            </a:endParaRPr>
          </a:p>
        </p:txBody>
      </p:sp>
      <p:sp>
        <p:nvSpPr>
          <p:cNvPr id="3528" name="Google Shape;3528;p127"/>
          <p:cNvSpPr/>
          <p:nvPr/>
        </p:nvSpPr>
        <p:spPr>
          <a:xfrm>
            <a:off x="9269501" y="4167835"/>
            <a:ext cx="2282114" cy="32004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D2A5C"/>
              </a:buClr>
              <a:buSzPts val="1250"/>
              <a:buFont typeface="Calibri"/>
              <a:buNone/>
            </a:pPr>
            <a:r>
              <a:rPr b="1" i="0" lang="en-US" sz="1250" u="none" cap="none" strike="noStrike">
                <a:solidFill>
                  <a:srgbClr val="1D2A5C"/>
                </a:solidFill>
                <a:latin typeface="Calibri"/>
                <a:ea typeface="Calibri"/>
                <a:cs typeface="Calibri"/>
                <a:sym typeface="Calibri"/>
              </a:rPr>
              <a:t>on plant hardware</a:t>
            </a:r>
            <a:endParaRPr b="0" i="0" sz="1250" u="none" cap="none" strike="noStrike">
              <a:solidFill>
                <a:schemeClr val="dk1"/>
              </a:solidFill>
              <a:latin typeface="Calibri"/>
              <a:ea typeface="Calibri"/>
              <a:cs typeface="Calibri"/>
              <a:sym typeface="Calibri"/>
            </a:endParaRPr>
          </a:p>
        </p:txBody>
      </p:sp>
      <p:sp>
        <p:nvSpPr>
          <p:cNvPr id="3529" name="Google Shape;3529;p127"/>
          <p:cNvSpPr/>
          <p:nvPr/>
        </p:nvSpPr>
        <p:spPr>
          <a:xfrm>
            <a:off x="9269501" y="4515307"/>
            <a:ext cx="2282114" cy="658368"/>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rgbClr val="5F6B7A"/>
              </a:buClr>
              <a:buSzPts val="1000"/>
              <a:buFont typeface="Calibri"/>
              <a:buNone/>
            </a:pPr>
            <a:r>
              <a:rPr b="0" i="0" lang="en-US" sz="1000" u="none" cap="none" strike="noStrike">
                <a:solidFill>
                  <a:srgbClr val="5F6B7A"/>
                </a:solidFill>
                <a:latin typeface="Calibri"/>
                <a:ea typeface="Calibri"/>
                <a:cs typeface="Calibri"/>
                <a:sym typeface="Calibri"/>
              </a:rPr>
              <a:t>vs 31 FPS on the data scientist's RTX</a:t>
            </a:r>
            <a:endParaRPr b="0" i="0" sz="1000" u="none" cap="none" strike="noStrike">
              <a:solidFill>
                <a:schemeClr val="dk1"/>
              </a:solidFill>
              <a:latin typeface="Calibri"/>
              <a:ea typeface="Calibri"/>
              <a:cs typeface="Calibri"/>
              <a:sym typeface="Calibri"/>
            </a:endParaRPr>
          </a:p>
        </p:txBody>
      </p:sp>
    </p:spTree>
  </p:cSld>
  <p:clrMapOvr>
    <a:masterClrMapping/>
  </p:clrMapOvr>
</p:sld>
</file>

<file path=ppt/slides/slide1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534" name="Shape 3534"/>
        <p:cNvGrpSpPr/>
        <p:nvPr/>
      </p:nvGrpSpPr>
      <p:grpSpPr>
        <a:xfrm>
          <a:off x="0" y="0"/>
          <a:ext cx="0" cy="0"/>
          <a:chOff x="0" y="0"/>
          <a:chExt cx="0" cy="0"/>
        </a:xfrm>
      </p:grpSpPr>
      <p:sp>
        <p:nvSpPr>
          <p:cNvPr id="3535" name="Google Shape;3535;p128"/>
          <p:cNvSpPr/>
          <p:nvPr/>
        </p:nvSpPr>
        <p:spPr>
          <a:xfrm>
            <a:off x="502920" y="274320"/>
            <a:ext cx="9646920" cy="56692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D2A5C"/>
              </a:buClr>
              <a:buSzPts val="2700"/>
              <a:buFont typeface="Calibri"/>
              <a:buNone/>
            </a:pPr>
            <a:r>
              <a:rPr b="1" i="0" lang="en-US" sz="2700" u="none" cap="none" strike="noStrike">
                <a:solidFill>
                  <a:srgbClr val="1D2A5C"/>
                </a:solidFill>
                <a:latin typeface="Calibri"/>
                <a:ea typeface="Calibri"/>
                <a:cs typeface="Calibri"/>
                <a:sym typeface="Calibri"/>
              </a:rPr>
              <a:t>Where edge deployment earns its keep</a:t>
            </a:r>
            <a:endParaRPr b="0" i="0" sz="2700" u="none" cap="none" strike="noStrike">
              <a:solidFill>
                <a:schemeClr val="dk1"/>
              </a:solidFill>
              <a:latin typeface="Calibri"/>
              <a:ea typeface="Calibri"/>
              <a:cs typeface="Calibri"/>
              <a:sym typeface="Calibri"/>
            </a:endParaRPr>
          </a:p>
        </p:txBody>
      </p:sp>
      <p:sp>
        <p:nvSpPr>
          <p:cNvPr id="3536" name="Google Shape;3536;p128"/>
          <p:cNvSpPr/>
          <p:nvPr/>
        </p:nvSpPr>
        <p:spPr>
          <a:xfrm>
            <a:off x="502920" y="859536"/>
            <a:ext cx="9646920" cy="31089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F6B7A"/>
              </a:buClr>
              <a:buSzPts val="1250"/>
              <a:buFont typeface="Arial"/>
              <a:buNone/>
            </a:pPr>
            <a:r>
              <a:rPr b="0" i="0" lang="en-US" sz="1250" u="none" cap="none" strike="noStrike">
                <a:solidFill>
                  <a:srgbClr val="5F6B7A"/>
                </a:solidFill>
                <a:latin typeface="Arial"/>
                <a:ea typeface="Arial"/>
                <a:cs typeface="Arial"/>
                <a:sym typeface="Arial"/>
              </a:rPr>
              <a:t>حالات استخدام صناعية</a:t>
            </a:r>
            <a:endParaRPr b="0" i="0" sz="1250" u="none" cap="none" strike="noStrike">
              <a:solidFill>
                <a:schemeClr val="dk1"/>
              </a:solidFill>
              <a:latin typeface="Calibri"/>
              <a:ea typeface="Calibri"/>
              <a:cs typeface="Calibri"/>
              <a:sym typeface="Calibri"/>
            </a:endParaRPr>
          </a:p>
        </p:txBody>
      </p:sp>
      <p:pic>
        <p:nvPicPr>
          <p:cNvPr descr="/sessions/blissful-determined-ritchie/build/assets/sdaia_logo.png" id="3537" name="Google Shape;3537;p128"/>
          <p:cNvPicPr preferRelativeResize="0"/>
          <p:nvPr/>
        </p:nvPicPr>
        <p:blipFill rotWithShape="1">
          <a:blip r:embed="rId3">
            <a:alphaModFix/>
          </a:blip>
          <a:srcRect b="0" l="0" r="0" t="0"/>
          <a:stretch/>
        </p:blipFill>
        <p:spPr>
          <a:xfrm>
            <a:off x="10625328" y="310896"/>
            <a:ext cx="1078992" cy="264111"/>
          </a:xfrm>
          <a:prstGeom prst="rect">
            <a:avLst/>
          </a:prstGeom>
          <a:noFill/>
          <a:ln>
            <a:noFill/>
          </a:ln>
        </p:spPr>
      </p:pic>
      <p:sp>
        <p:nvSpPr>
          <p:cNvPr id="3538" name="Google Shape;3538;p128"/>
          <p:cNvSpPr/>
          <p:nvPr/>
        </p:nvSpPr>
        <p:spPr>
          <a:xfrm>
            <a:off x="502920" y="6528816"/>
            <a:ext cx="8686800"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A79D"/>
              </a:buClr>
              <a:buSzPts val="800"/>
              <a:buFont typeface="Calibri"/>
              <a:buNone/>
            </a:pPr>
            <a:r>
              <a:rPr b="1" i="0" lang="en-US" sz="800" u="none" cap="none" strike="noStrike">
                <a:solidFill>
                  <a:srgbClr val="00A79D"/>
                </a:solidFill>
                <a:latin typeface="Calibri"/>
                <a:ea typeface="Calibri"/>
                <a:cs typeface="Calibri"/>
                <a:sym typeface="Calibri"/>
              </a:rPr>
              <a:t>MODULE 7   </a:t>
            </a:r>
            <a:r>
              <a:rPr b="0" i="0" lang="en-US" sz="800" u="none" cap="none" strike="noStrike">
                <a:solidFill>
                  <a:srgbClr val="8A96A6"/>
                </a:solidFill>
                <a:latin typeface="Calibri"/>
                <a:ea typeface="Calibri"/>
                <a:cs typeface="Calibri"/>
                <a:sym typeface="Calibri"/>
              </a:rPr>
              <a:t>SDA-AIE-212 · Computer Vision Systems Development</a:t>
            </a:r>
            <a:endParaRPr b="0" i="0" sz="800" u="none" cap="none" strike="noStrike">
              <a:solidFill>
                <a:schemeClr val="dk1"/>
              </a:solidFill>
              <a:latin typeface="Calibri"/>
              <a:ea typeface="Calibri"/>
              <a:cs typeface="Calibri"/>
              <a:sym typeface="Calibri"/>
            </a:endParaRPr>
          </a:p>
        </p:txBody>
      </p:sp>
      <p:sp>
        <p:nvSpPr>
          <p:cNvPr id="3539" name="Google Shape;3539;p128"/>
          <p:cNvSpPr/>
          <p:nvPr/>
        </p:nvSpPr>
        <p:spPr>
          <a:xfrm>
            <a:off x="11292840" y="6528816"/>
            <a:ext cx="411480" cy="219456"/>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8A96A6"/>
              </a:buClr>
              <a:buSzPts val="900"/>
              <a:buFont typeface="Calibri"/>
              <a:buNone/>
            </a:pPr>
            <a:r>
              <a:rPr b="0" i="0" lang="en-US" sz="900" u="none" cap="none" strike="noStrike">
                <a:solidFill>
                  <a:srgbClr val="8A96A6"/>
                </a:solidFill>
                <a:latin typeface="Calibri"/>
                <a:ea typeface="Calibri"/>
                <a:cs typeface="Calibri"/>
                <a:sym typeface="Calibri"/>
              </a:rPr>
              <a:t>128</a:t>
            </a:r>
            <a:endParaRPr b="0" i="0" sz="900" u="none" cap="none" strike="noStrike">
              <a:solidFill>
                <a:schemeClr val="dk1"/>
              </a:solidFill>
              <a:latin typeface="Calibri"/>
              <a:ea typeface="Calibri"/>
              <a:cs typeface="Calibri"/>
              <a:sym typeface="Calibri"/>
            </a:endParaRPr>
          </a:p>
        </p:txBody>
      </p:sp>
      <p:sp>
        <p:nvSpPr>
          <p:cNvPr id="3540" name="Google Shape;3540;p128"/>
          <p:cNvSpPr/>
          <p:nvPr/>
        </p:nvSpPr>
        <p:spPr>
          <a:xfrm>
            <a:off x="502920" y="1389888"/>
            <a:ext cx="5455768" cy="2354580"/>
          </a:xfrm>
          <a:prstGeom prst="roundRect">
            <a:avLst>
              <a:gd fmla="val 3107" name="adj"/>
            </a:avLst>
          </a:prstGeom>
          <a:solidFill>
            <a:srgbClr val="F2F6F9"/>
          </a:solidFill>
          <a:ln cap="flat" cmpd="sng" w="12700">
            <a:solidFill>
              <a:srgbClr val="D9E2E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41" name="Google Shape;3541;p128"/>
          <p:cNvSpPr/>
          <p:nvPr/>
        </p:nvSpPr>
        <p:spPr>
          <a:xfrm>
            <a:off x="667512" y="1536192"/>
            <a:ext cx="310896" cy="310896"/>
          </a:xfrm>
          <a:prstGeom prst="ellipse">
            <a:avLst/>
          </a:prstGeom>
          <a:solidFill>
            <a:srgbClr val="00A79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42" name="Google Shape;3542;p128"/>
          <p:cNvSpPr/>
          <p:nvPr/>
        </p:nvSpPr>
        <p:spPr>
          <a:xfrm>
            <a:off x="667512" y="1536192"/>
            <a:ext cx="310896" cy="31089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200"/>
              <a:buFont typeface="Calibri"/>
              <a:buNone/>
            </a:pPr>
            <a:r>
              <a:rPr b="1" i="0" lang="en-US" sz="1200" u="none" cap="none" strike="noStrike">
                <a:solidFill>
                  <a:srgbClr val="FFFFFF"/>
                </a:solidFill>
                <a:latin typeface="Calibri"/>
                <a:ea typeface="Calibri"/>
                <a:cs typeface="Calibri"/>
                <a:sym typeface="Calibri"/>
              </a:rPr>
              <a:t>1</a:t>
            </a:r>
            <a:endParaRPr b="0" i="0" sz="1200" u="none" cap="none" strike="noStrike">
              <a:solidFill>
                <a:schemeClr val="dk1"/>
              </a:solidFill>
              <a:latin typeface="Calibri"/>
              <a:ea typeface="Calibri"/>
              <a:cs typeface="Calibri"/>
              <a:sym typeface="Calibri"/>
            </a:endParaRPr>
          </a:p>
        </p:txBody>
      </p:sp>
      <p:sp>
        <p:nvSpPr>
          <p:cNvPr id="3543" name="Google Shape;3543;p128"/>
          <p:cNvSpPr/>
          <p:nvPr/>
        </p:nvSpPr>
        <p:spPr>
          <a:xfrm>
            <a:off x="1088136" y="1499616"/>
            <a:ext cx="4724248" cy="38404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D2A5C"/>
              </a:buClr>
              <a:buSzPts val="1250"/>
              <a:buFont typeface="Calibri"/>
              <a:buNone/>
            </a:pPr>
            <a:r>
              <a:rPr b="1" i="0" lang="en-US" sz="1250" u="none" cap="none" strike="noStrike">
                <a:solidFill>
                  <a:srgbClr val="1D2A5C"/>
                </a:solidFill>
                <a:latin typeface="Calibri"/>
                <a:ea typeface="Calibri"/>
                <a:cs typeface="Calibri"/>
                <a:sym typeface="Calibri"/>
              </a:rPr>
              <a:t>Tamr Vision edge box</a:t>
            </a:r>
            <a:endParaRPr b="0" i="0" sz="1250" u="none" cap="none" strike="noStrike">
              <a:solidFill>
                <a:schemeClr val="dk1"/>
              </a:solidFill>
              <a:latin typeface="Calibri"/>
              <a:ea typeface="Calibri"/>
              <a:cs typeface="Calibri"/>
              <a:sym typeface="Calibri"/>
            </a:endParaRPr>
          </a:p>
        </p:txBody>
      </p:sp>
      <p:sp>
        <p:nvSpPr>
          <p:cNvPr id="3544" name="Google Shape;3544;p128"/>
          <p:cNvSpPr/>
          <p:nvPr/>
        </p:nvSpPr>
        <p:spPr>
          <a:xfrm>
            <a:off x="685800" y="1920240"/>
            <a:ext cx="5090008" cy="17145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5F6B7A"/>
              </a:buClr>
              <a:buSzPts val="1100"/>
              <a:buFont typeface="Calibri"/>
              <a:buNone/>
            </a:pPr>
            <a:r>
              <a:rPr b="0" i="0" lang="en-US" sz="1100" u="none" cap="none" strike="noStrike">
                <a:solidFill>
                  <a:srgbClr val="5F6B7A"/>
                </a:solidFill>
                <a:latin typeface="Calibri"/>
                <a:ea typeface="Calibri"/>
                <a:cs typeface="Calibri"/>
                <a:sym typeface="Calibri"/>
              </a:rPr>
              <a:t>Classifier + detector as ONNX, INT8, under ONNX Runtime on an industrial PC — 62 FPS at 416², no frame ever leaves the plant.</a:t>
            </a:r>
            <a:endParaRPr b="0" i="0" sz="1100" u="none" cap="none" strike="noStrike">
              <a:solidFill>
                <a:schemeClr val="dk1"/>
              </a:solidFill>
              <a:latin typeface="Calibri"/>
              <a:ea typeface="Calibri"/>
              <a:cs typeface="Calibri"/>
              <a:sym typeface="Calibri"/>
            </a:endParaRPr>
          </a:p>
        </p:txBody>
      </p:sp>
      <p:sp>
        <p:nvSpPr>
          <p:cNvPr id="3545" name="Google Shape;3545;p128"/>
          <p:cNvSpPr/>
          <p:nvPr/>
        </p:nvSpPr>
        <p:spPr>
          <a:xfrm>
            <a:off x="6233008" y="1389888"/>
            <a:ext cx="5455768" cy="2354580"/>
          </a:xfrm>
          <a:prstGeom prst="roundRect">
            <a:avLst>
              <a:gd fmla="val 3107" name="adj"/>
            </a:avLst>
          </a:prstGeom>
          <a:solidFill>
            <a:srgbClr val="F2F6F9"/>
          </a:solidFill>
          <a:ln cap="flat" cmpd="sng" w="12700">
            <a:solidFill>
              <a:srgbClr val="D9E2E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46" name="Google Shape;3546;p128"/>
          <p:cNvSpPr/>
          <p:nvPr/>
        </p:nvSpPr>
        <p:spPr>
          <a:xfrm>
            <a:off x="6397600" y="1536192"/>
            <a:ext cx="310896" cy="310896"/>
          </a:xfrm>
          <a:prstGeom prst="ellipse">
            <a:avLst/>
          </a:prstGeom>
          <a:solidFill>
            <a:srgbClr val="29ABE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47" name="Google Shape;3547;p128"/>
          <p:cNvSpPr/>
          <p:nvPr/>
        </p:nvSpPr>
        <p:spPr>
          <a:xfrm>
            <a:off x="6397600" y="1536192"/>
            <a:ext cx="310896" cy="31089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200"/>
              <a:buFont typeface="Calibri"/>
              <a:buNone/>
            </a:pPr>
            <a:r>
              <a:rPr b="1" i="0" lang="en-US" sz="1200" u="none" cap="none" strike="noStrike">
                <a:solidFill>
                  <a:srgbClr val="FFFFFF"/>
                </a:solidFill>
                <a:latin typeface="Calibri"/>
                <a:ea typeface="Calibri"/>
                <a:cs typeface="Calibri"/>
                <a:sym typeface="Calibri"/>
              </a:rPr>
              <a:t>2</a:t>
            </a:r>
            <a:endParaRPr b="0" i="0" sz="1200" u="none" cap="none" strike="noStrike">
              <a:solidFill>
                <a:schemeClr val="dk1"/>
              </a:solidFill>
              <a:latin typeface="Calibri"/>
              <a:ea typeface="Calibri"/>
              <a:cs typeface="Calibri"/>
              <a:sym typeface="Calibri"/>
            </a:endParaRPr>
          </a:p>
        </p:txBody>
      </p:sp>
      <p:sp>
        <p:nvSpPr>
          <p:cNvPr id="3548" name="Google Shape;3548;p128"/>
          <p:cNvSpPr/>
          <p:nvPr/>
        </p:nvSpPr>
        <p:spPr>
          <a:xfrm>
            <a:off x="6818224" y="1499616"/>
            <a:ext cx="4724248" cy="38404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D2A5C"/>
              </a:buClr>
              <a:buSzPts val="1250"/>
              <a:buFont typeface="Calibri"/>
              <a:buNone/>
            </a:pPr>
            <a:r>
              <a:rPr b="1" i="0" lang="en-US" sz="1250" u="none" cap="none" strike="noStrike">
                <a:solidFill>
                  <a:srgbClr val="1D2A5C"/>
                </a:solidFill>
                <a:latin typeface="Calibri"/>
                <a:ea typeface="Calibri"/>
                <a:cs typeface="Calibri"/>
                <a:sym typeface="Calibri"/>
              </a:rPr>
              <a:t>Industrial-gate ANPR</a:t>
            </a:r>
            <a:endParaRPr b="0" i="0" sz="1250" u="none" cap="none" strike="noStrike">
              <a:solidFill>
                <a:schemeClr val="dk1"/>
              </a:solidFill>
              <a:latin typeface="Calibri"/>
              <a:ea typeface="Calibri"/>
              <a:cs typeface="Calibri"/>
              <a:sym typeface="Calibri"/>
            </a:endParaRPr>
          </a:p>
        </p:txBody>
      </p:sp>
      <p:sp>
        <p:nvSpPr>
          <p:cNvPr id="3549" name="Google Shape;3549;p128"/>
          <p:cNvSpPr/>
          <p:nvPr/>
        </p:nvSpPr>
        <p:spPr>
          <a:xfrm>
            <a:off x="6415888" y="1920240"/>
            <a:ext cx="5090008" cy="17145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5F6B7A"/>
              </a:buClr>
              <a:buSzPts val="1100"/>
              <a:buFont typeface="Calibri"/>
              <a:buNone/>
            </a:pPr>
            <a:r>
              <a:rPr b="0" i="0" lang="en-US" sz="1100" u="none" cap="none" strike="noStrike">
                <a:solidFill>
                  <a:srgbClr val="5F6B7A"/>
                </a:solidFill>
                <a:latin typeface="Calibri"/>
                <a:ea typeface="Calibri"/>
                <a:cs typeface="Calibri"/>
                <a:sym typeface="Calibri"/>
              </a:rPr>
              <a:t>200 ms barrier-open budget forced edge inference; the cloud does only the plate-number lookup, not the vision.</a:t>
            </a:r>
            <a:endParaRPr b="0" i="0" sz="1100" u="none" cap="none" strike="noStrike">
              <a:solidFill>
                <a:schemeClr val="dk1"/>
              </a:solidFill>
              <a:latin typeface="Calibri"/>
              <a:ea typeface="Calibri"/>
              <a:cs typeface="Calibri"/>
              <a:sym typeface="Calibri"/>
            </a:endParaRPr>
          </a:p>
        </p:txBody>
      </p:sp>
      <p:sp>
        <p:nvSpPr>
          <p:cNvPr id="3550" name="Google Shape;3550;p128"/>
          <p:cNvSpPr/>
          <p:nvPr/>
        </p:nvSpPr>
        <p:spPr>
          <a:xfrm>
            <a:off x="502920" y="4000500"/>
            <a:ext cx="5455768" cy="2354580"/>
          </a:xfrm>
          <a:prstGeom prst="roundRect">
            <a:avLst>
              <a:gd fmla="val 3107" name="adj"/>
            </a:avLst>
          </a:prstGeom>
          <a:solidFill>
            <a:srgbClr val="F2F6F9"/>
          </a:solidFill>
          <a:ln cap="flat" cmpd="sng" w="12700">
            <a:solidFill>
              <a:srgbClr val="D9E2E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51" name="Google Shape;3551;p128"/>
          <p:cNvSpPr/>
          <p:nvPr/>
        </p:nvSpPr>
        <p:spPr>
          <a:xfrm>
            <a:off x="667512" y="4146804"/>
            <a:ext cx="310896" cy="310896"/>
          </a:xfrm>
          <a:prstGeom prst="ellipse">
            <a:avLst/>
          </a:prstGeom>
          <a:solidFill>
            <a:srgbClr val="F5822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52" name="Google Shape;3552;p128"/>
          <p:cNvSpPr/>
          <p:nvPr/>
        </p:nvSpPr>
        <p:spPr>
          <a:xfrm>
            <a:off x="667512" y="4146804"/>
            <a:ext cx="310896" cy="31089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200"/>
              <a:buFont typeface="Calibri"/>
              <a:buNone/>
            </a:pPr>
            <a:r>
              <a:rPr b="1" i="0" lang="en-US" sz="1200" u="none" cap="none" strike="noStrike">
                <a:solidFill>
                  <a:srgbClr val="FFFFFF"/>
                </a:solidFill>
                <a:latin typeface="Calibri"/>
                <a:ea typeface="Calibri"/>
                <a:cs typeface="Calibri"/>
                <a:sym typeface="Calibri"/>
              </a:rPr>
              <a:t>3</a:t>
            </a:r>
            <a:endParaRPr b="0" i="0" sz="1200" u="none" cap="none" strike="noStrike">
              <a:solidFill>
                <a:schemeClr val="dk1"/>
              </a:solidFill>
              <a:latin typeface="Calibri"/>
              <a:ea typeface="Calibri"/>
              <a:cs typeface="Calibri"/>
              <a:sym typeface="Calibri"/>
            </a:endParaRPr>
          </a:p>
        </p:txBody>
      </p:sp>
      <p:sp>
        <p:nvSpPr>
          <p:cNvPr id="3553" name="Google Shape;3553;p128"/>
          <p:cNvSpPr/>
          <p:nvPr/>
        </p:nvSpPr>
        <p:spPr>
          <a:xfrm>
            <a:off x="1088136" y="4110228"/>
            <a:ext cx="4724248" cy="38404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D2A5C"/>
              </a:buClr>
              <a:buSzPts val="1250"/>
              <a:buFont typeface="Calibri"/>
              <a:buNone/>
            </a:pPr>
            <a:r>
              <a:rPr b="1" i="0" lang="en-US" sz="1250" u="none" cap="none" strike="noStrike">
                <a:solidFill>
                  <a:srgbClr val="1D2A5C"/>
                </a:solidFill>
                <a:latin typeface="Calibri"/>
                <a:ea typeface="Calibri"/>
                <a:cs typeface="Calibri"/>
                <a:sym typeface="Calibri"/>
              </a:rPr>
              <a:t>Retail shelf monitoring</a:t>
            </a:r>
            <a:endParaRPr b="0" i="0" sz="1250" u="none" cap="none" strike="noStrike">
              <a:solidFill>
                <a:schemeClr val="dk1"/>
              </a:solidFill>
              <a:latin typeface="Calibri"/>
              <a:ea typeface="Calibri"/>
              <a:cs typeface="Calibri"/>
              <a:sym typeface="Calibri"/>
            </a:endParaRPr>
          </a:p>
        </p:txBody>
      </p:sp>
      <p:sp>
        <p:nvSpPr>
          <p:cNvPr id="3554" name="Google Shape;3554;p128"/>
          <p:cNvSpPr/>
          <p:nvPr/>
        </p:nvSpPr>
        <p:spPr>
          <a:xfrm>
            <a:off x="685800" y="4530852"/>
            <a:ext cx="5090008" cy="17145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5F6B7A"/>
              </a:buClr>
              <a:buSzPts val="1100"/>
              <a:buFont typeface="Calibri"/>
              <a:buNone/>
            </a:pPr>
            <a:r>
              <a:rPr b="0" i="0" lang="en-US" sz="1100" u="none" cap="none" strike="noStrike">
                <a:solidFill>
                  <a:srgbClr val="5F6B7A"/>
                </a:solidFill>
                <a:latin typeface="Calibri"/>
                <a:ea typeface="Calibri"/>
                <a:cs typeface="Calibri"/>
                <a:sym typeface="Calibri"/>
              </a:rPr>
              <a:t>Quantised detectors on in-store boxes sync structured detections, not video — bandwidth cut 40×, PDPL posture signed off.</a:t>
            </a:r>
            <a:endParaRPr b="0" i="0" sz="1100" u="none" cap="none" strike="noStrike">
              <a:solidFill>
                <a:schemeClr val="dk1"/>
              </a:solidFill>
              <a:latin typeface="Calibri"/>
              <a:ea typeface="Calibri"/>
              <a:cs typeface="Calibri"/>
              <a:sym typeface="Calibri"/>
            </a:endParaRPr>
          </a:p>
        </p:txBody>
      </p:sp>
      <p:sp>
        <p:nvSpPr>
          <p:cNvPr id="3555" name="Google Shape;3555;p128"/>
          <p:cNvSpPr/>
          <p:nvPr/>
        </p:nvSpPr>
        <p:spPr>
          <a:xfrm>
            <a:off x="6233008" y="4000500"/>
            <a:ext cx="5455768" cy="2354580"/>
          </a:xfrm>
          <a:prstGeom prst="roundRect">
            <a:avLst>
              <a:gd fmla="val 3107" name="adj"/>
            </a:avLst>
          </a:prstGeom>
          <a:solidFill>
            <a:srgbClr val="F2F6F9"/>
          </a:solidFill>
          <a:ln cap="flat" cmpd="sng" w="12700">
            <a:solidFill>
              <a:srgbClr val="D9E2E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56" name="Google Shape;3556;p128"/>
          <p:cNvSpPr/>
          <p:nvPr/>
        </p:nvSpPr>
        <p:spPr>
          <a:xfrm>
            <a:off x="6397600" y="4146804"/>
            <a:ext cx="310896" cy="310896"/>
          </a:xfrm>
          <a:prstGeom prst="ellipse">
            <a:avLst/>
          </a:prstGeom>
          <a:solidFill>
            <a:srgbClr val="8DC63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57" name="Google Shape;3557;p128"/>
          <p:cNvSpPr/>
          <p:nvPr/>
        </p:nvSpPr>
        <p:spPr>
          <a:xfrm>
            <a:off x="6397600" y="4146804"/>
            <a:ext cx="310896" cy="31089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200"/>
              <a:buFont typeface="Calibri"/>
              <a:buNone/>
            </a:pPr>
            <a:r>
              <a:rPr b="1" i="0" lang="en-US" sz="1200" u="none" cap="none" strike="noStrike">
                <a:solidFill>
                  <a:srgbClr val="FFFFFF"/>
                </a:solidFill>
                <a:latin typeface="Calibri"/>
                <a:ea typeface="Calibri"/>
                <a:cs typeface="Calibri"/>
                <a:sym typeface="Calibri"/>
              </a:rPr>
              <a:t>4</a:t>
            </a:r>
            <a:endParaRPr b="0" i="0" sz="1200" u="none" cap="none" strike="noStrike">
              <a:solidFill>
                <a:schemeClr val="dk1"/>
              </a:solidFill>
              <a:latin typeface="Calibri"/>
              <a:ea typeface="Calibri"/>
              <a:cs typeface="Calibri"/>
              <a:sym typeface="Calibri"/>
            </a:endParaRPr>
          </a:p>
        </p:txBody>
      </p:sp>
      <p:sp>
        <p:nvSpPr>
          <p:cNvPr id="3558" name="Google Shape;3558;p128"/>
          <p:cNvSpPr/>
          <p:nvPr/>
        </p:nvSpPr>
        <p:spPr>
          <a:xfrm>
            <a:off x="6818224" y="4110228"/>
            <a:ext cx="4724248" cy="38404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D2A5C"/>
              </a:buClr>
              <a:buSzPts val="1250"/>
              <a:buFont typeface="Calibri"/>
              <a:buNone/>
            </a:pPr>
            <a:r>
              <a:rPr b="1" i="0" lang="en-US" sz="1250" u="none" cap="none" strike="noStrike">
                <a:solidFill>
                  <a:srgbClr val="1D2A5C"/>
                </a:solidFill>
                <a:latin typeface="Calibri"/>
                <a:ea typeface="Calibri"/>
                <a:cs typeface="Calibri"/>
                <a:sym typeface="Calibri"/>
              </a:rPr>
              <a:t>The pilot-killer, prevented</a:t>
            </a:r>
            <a:endParaRPr b="0" i="0" sz="1250" u="none" cap="none" strike="noStrike">
              <a:solidFill>
                <a:schemeClr val="dk1"/>
              </a:solidFill>
              <a:latin typeface="Calibri"/>
              <a:ea typeface="Calibri"/>
              <a:cs typeface="Calibri"/>
              <a:sym typeface="Calibri"/>
            </a:endParaRPr>
          </a:p>
        </p:txBody>
      </p:sp>
      <p:sp>
        <p:nvSpPr>
          <p:cNvPr id="3559" name="Google Shape;3559;p128"/>
          <p:cNvSpPr/>
          <p:nvPr/>
        </p:nvSpPr>
        <p:spPr>
          <a:xfrm>
            <a:off x="6415888" y="4530852"/>
            <a:ext cx="5090008" cy="17145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5F6B7A"/>
              </a:buClr>
              <a:buSzPts val="1100"/>
              <a:buFont typeface="Calibri"/>
              <a:buNone/>
            </a:pPr>
            <a:r>
              <a:rPr b="0" i="0" lang="en-US" sz="1100" u="none" cap="none" strike="noStrike">
                <a:solidFill>
                  <a:srgbClr val="5F6B7A"/>
                </a:solidFill>
                <a:latin typeface="Calibri"/>
                <a:ea typeface="Calibri"/>
                <a:cs typeface="Calibri"/>
                <a:sym typeface="Calibri"/>
              </a:rPr>
              <a:t>A model that demos at 31 FPS on an RTX card and delivers 4 FPS on the plant's hardware — the most common regional failure.</a:t>
            </a:r>
            <a:endParaRPr b="0" i="0" sz="1100" u="none" cap="none" strike="noStrike">
              <a:solidFill>
                <a:schemeClr val="dk1"/>
              </a:solidFill>
              <a:latin typeface="Calibri"/>
              <a:ea typeface="Calibri"/>
              <a:cs typeface="Calibri"/>
              <a:sym typeface="Calibri"/>
            </a:endParaRPr>
          </a:p>
        </p:txBody>
      </p:sp>
    </p:spTree>
  </p:cSld>
  <p:clrMapOvr>
    <a:masterClrMapping/>
  </p:clrMapOvr>
</p:sld>
</file>

<file path=ppt/slides/slide1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564" name="Shape 3564"/>
        <p:cNvGrpSpPr/>
        <p:nvPr/>
      </p:nvGrpSpPr>
      <p:grpSpPr>
        <a:xfrm>
          <a:off x="0" y="0"/>
          <a:ext cx="0" cy="0"/>
          <a:chOff x="0" y="0"/>
          <a:chExt cx="0" cy="0"/>
        </a:xfrm>
      </p:grpSpPr>
      <p:sp>
        <p:nvSpPr>
          <p:cNvPr id="3565" name="Google Shape;3565;p129"/>
          <p:cNvSpPr/>
          <p:nvPr/>
        </p:nvSpPr>
        <p:spPr>
          <a:xfrm>
            <a:off x="502920" y="274320"/>
            <a:ext cx="9646920" cy="56692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D2A5C"/>
              </a:buClr>
              <a:buSzPts val="2700"/>
              <a:buFont typeface="Calibri"/>
              <a:buNone/>
            </a:pPr>
            <a:r>
              <a:rPr b="1" i="0" lang="en-US" sz="2700" u="none" cap="none" strike="noStrike">
                <a:solidFill>
                  <a:srgbClr val="1D2A5C"/>
                </a:solidFill>
                <a:latin typeface="Calibri"/>
                <a:ea typeface="Calibri"/>
                <a:cs typeface="Calibri"/>
                <a:sym typeface="Calibri"/>
              </a:rPr>
              <a:t>Module 7 — Learning objectives</a:t>
            </a:r>
            <a:endParaRPr b="0" i="0" sz="2700" u="none" cap="none" strike="noStrike">
              <a:solidFill>
                <a:schemeClr val="dk1"/>
              </a:solidFill>
              <a:latin typeface="Calibri"/>
              <a:ea typeface="Calibri"/>
              <a:cs typeface="Calibri"/>
              <a:sym typeface="Calibri"/>
            </a:endParaRPr>
          </a:p>
        </p:txBody>
      </p:sp>
      <p:sp>
        <p:nvSpPr>
          <p:cNvPr id="3566" name="Google Shape;3566;p129"/>
          <p:cNvSpPr/>
          <p:nvPr/>
        </p:nvSpPr>
        <p:spPr>
          <a:xfrm>
            <a:off x="502920" y="859536"/>
            <a:ext cx="9646920" cy="31089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F6B7A"/>
              </a:buClr>
              <a:buSzPts val="1250"/>
              <a:buFont typeface="Arial"/>
              <a:buNone/>
            </a:pPr>
            <a:r>
              <a:rPr b="0" i="0" lang="en-US" sz="1250" u="none" cap="none" strike="noStrike">
                <a:solidFill>
                  <a:srgbClr val="5F6B7A"/>
                </a:solidFill>
                <a:latin typeface="Arial"/>
                <a:ea typeface="Arial"/>
                <a:cs typeface="Arial"/>
                <a:sym typeface="Arial"/>
              </a:rPr>
              <a:t>أهداف التعلم</a:t>
            </a:r>
            <a:endParaRPr b="0" i="0" sz="1250" u="none" cap="none" strike="noStrike">
              <a:solidFill>
                <a:schemeClr val="dk1"/>
              </a:solidFill>
              <a:latin typeface="Calibri"/>
              <a:ea typeface="Calibri"/>
              <a:cs typeface="Calibri"/>
              <a:sym typeface="Calibri"/>
            </a:endParaRPr>
          </a:p>
        </p:txBody>
      </p:sp>
      <p:pic>
        <p:nvPicPr>
          <p:cNvPr descr="/sessions/blissful-determined-ritchie/build/assets/sdaia_logo.png" id="3567" name="Google Shape;3567;p129"/>
          <p:cNvPicPr preferRelativeResize="0"/>
          <p:nvPr/>
        </p:nvPicPr>
        <p:blipFill rotWithShape="1">
          <a:blip r:embed="rId3">
            <a:alphaModFix/>
          </a:blip>
          <a:srcRect b="0" l="0" r="0" t="0"/>
          <a:stretch/>
        </p:blipFill>
        <p:spPr>
          <a:xfrm>
            <a:off x="10625328" y="310896"/>
            <a:ext cx="1078992" cy="264111"/>
          </a:xfrm>
          <a:prstGeom prst="rect">
            <a:avLst/>
          </a:prstGeom>
          <a:noFill/>
          <a:ln>
            <a:noFill/>
          </a:ln>
        </p:spPr>
      </p:pic>
      <p:sp>
        <p:nvSpPr>
          <p:cNvPr id="3568" name="Google Shape;3568;p129"/>
          <p:cNvSpPr/>
          <p:nvPr/>
        </p:nvSpPr>
        <p:spPr>
          <a:xfrm>
            <a:off x="502920" y="6528816"/>
            <a:ext cx="8686800"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A79D"/>
              </a:buClr>
              <a:buSzPts val="800"/>
              <a:buFont typeface="Calibri"/>
              <a:buNone/>
            </a:pPr>
            <a:r>
              <a:rPr b="1" i="0" lang="en-US" sz="800" u="none" cap="none" strike="noStrike">
                <a:solidFill>
                  <a:srgbClr val="00A79D"/>
                </a:solidFill>
                <a:latin typeface="Calibri"/>
                <a:ea typeface="Calibri"/>
                <a:cs typeface="Calibri"/>
                <a:sym typeface="Calibri"/>
              </a:rPr>
              <a:t>MODULE 7   </a:t>
            </a:r>
            <a:r>
              <a:rPr b="0" i="0" lang="en-US" sz="800" u="none" cap="none" strike="noStrike">
                <a:solidFill>
                  <a:srgbClr val="8A96A6"/>
                </a:solidFill>
                <a:latin typeface="Calibri"/>
                <a:ea typeface="Calibri"/>
                <a:cs typeface="Calibri"/>
                <a:sym typeface="Calibri"/>
              </a:rPr>
              <a:t>SDA-AIE-212 · Computer Vision Systems Development</a:t>
            </a:r>
            <a:endParaRPr b="0" i="0" sz="800" u="none" cap="none" strike="noStrike">
              <a:solidFill>
                <a:schemeClr val="dk1"/>
              </a:solidFill>
              <a:latin typeface="Calibri"/>
              <a:ea typeface="Calibri"/>
              <a:cs typeface="Calibri"/>
              <a:sym typeface="Calibri"/>
            </a:endParaRPr>
          </a:p>
        </p:txBody>
      </p:sp>
      <p:sp>
        <p:nvSpPr>
          <p:cNvPr id="3569" name="Google Shape;3569;p129"/>
          <p:cNvSpPr/>
          <p:nvPr/>
        </p:nvSpPr>
        <p:spPr>
          <a:xfrm>
            <a:off x="11292840" y="6528816"/>
            <a:ext cx="411480" cy="219456"/>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8A96A6"/>
              </a:buClr>
              <a:buSzPts val="900"/>
              <a:buFont typeface="Calibri"/>
              <a:buNone/>
            </a:pPr>
            <a:r>
              <a:rPr b="0" i="0" lang="en-US" sz="900" u="none" cap="none" strike="noStrike">
                <a:solidFill>
                  <a:srgbClr val="8A96A6"/>
                </a:solidFill>
                <a:latin typeface="Calibri"/>
                <a:ea typeface="Calibri"/>
                <a:cs typeface="Calibri"/>
                <a:sym typeface="Calibri"/>
              </a:rPr>
              <a:t>129</a:t>
            </a:r>
            <a:endParaRPr b="0" i="0" sz="900" u="none" cap="none" strike="noStrike">
              <a:solidFill>
                <a:schemeClr val="dk1"/>
              </a:solidFill>
              <a:latin typeface="Calibri"/>
              <a:ea typeface="Calibri"/>
              <a:cs typeface="Calibri"/>
              <a:sym typeface="Calibri"/>
            </a:endParaRPr>
          </a:p>
        </p:txBody>
      </p:sp>
      <p:sp>
        <p:nvSpPr>
          <p:cNvPr id="3570" name="Google Shape;3570;p129"/>
          <p:cNvSpPr/>
          <p:nvPr/>
        </p:nvSpPr>
        <p:spPr>
          <a:xfrm>
            <a:off x="502920" y="1499616"/>
            <a:ext cx="11183112" cy="832104"/>
          </a:xfrm>
          <a:prstGeom prst="roundRect">
            <a:avLst>
              <a:gd fmla="val 7692" name="adj"/>
            </a:avLst>
          </a:prstGeom>
          <a:solidFill>
            <a:srgbClr val="FAFCFE"/>
          </a:solidFill>
          <a:ln cap="flat" cmpd="sng" w="9525">
            <a:solidFill>
              <a:srgbClr val="D9E2E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71" name="Google Shape;3571;p129"/>
          <p:cNvSpPr/>
          <p:nvPr/>
        </p:nvSpPr>
        <p:spPr>
          <a:xfrm>
            <a:off x="649224" y="1751076"/>
            <a:ext cx="329184" cy="329184"/>
          </a:xfrm>
          <a:prstGeom prst="ellipse">
            <a:avLst/>
          </a:prstGeom>
          <a:solidFill>
            <a:srgbClr val="00A79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72" name="Google Shape;3572;p129"/>
          <p:cNvSpPr/>
          <p:nvPr/>
        </p:nvSpPr>
        <p:spPr>
          <a:xfrm>
            <a:off x="649224" y="1751076"/>
            <a:ext cx="329184" cy="32918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150"/>
              <a:buFont typeface="Calibri"/>
              <a:buNone/>
            </a:pPr>
            <a:r>
              <a:rPr b="1" i="0" lang="en-US" sz="1150" u="none" cap="none" strike="noStrike">
                <a:solidFill>
                  <a:srgbClr val="FFFFFF"/>
                </a:solidFill>
                <a:latin typeface="Calibri"/>
                <a:ea typeface="Calibri"/>
                <a:cs typeface="Calibri"/>
                <a:sym typeface="Calibri"/>
              </a:rPr>
              <a:t>7.1</a:t>
            </a:r>
            <a:endParaRPr b="0" i="0" sz="1150" u="none" cap="none" strike="noStrike">
              <a:solidFill>
                <a:schemeClr val="dk1"/>
              </a:solidFill>
              <a:latin typeface="Calibri"/>
              <a:ea typeface="Calibri"/>
              <a:cs typeface="Calibri"/>
              <a:sym typeface="Calibri"/>
            </a:endParaRPr>
          </a:p>
        </p:txBody>
      </p:sp>
      <p:sp>
        <p:nvSpPr>
          <p:cNvPr id="3573" name="Google Shape;3573;p129"/>
          <p:cNvSpPr/>
          <p:nvPr/>
        </p:nvSpPr>
        <p:spPr>
          <a:xfrm>
            <a:off x="1143000" y="1499616"/>
            <a:ext cx="8321040" cy="83210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3293B"/>
              </a:buClr>
              <a:buSzPts val="1250"/>
              <a:buFont typeface="Calibri"/>
              <a:buNone/>
            </a:pPr>
            <a:r>
              <a:rPr b="0" i="0" lang="en-US" sz="1250" u="none" cap="none" strike="noStrike">
                <a:solidFill>
                  <a:srgbClr val="23293B"/>
                </a:solidFill>
                <a:latin typeface="Calibri"/>
                <a:ea typeface="Calibri"/>
                <a:cs typeface="Calibri"/>
                <a:sym typeface="Calibri"/>
              </a:rPr>
              <a:t>Export PyTorch and Ultralytics models to ONNX and verify numerical parity</a:t>
            </a:r>
            <a:endParaRPr b="0" i="0" sz="1250" u="none" cap="none" strike="noStrike">
              <a:solidFill>
                <a:schemeClr val="dk1"/>
              </a:solidFill>
              <a:latin typeface="Calibri"/>
              <a:ea typeface="Calibri"/>
              <a:cs typeface="Calibri"/>
              <a:sym typeface="Calibri"/>
            </a:endParaRPr>
          </a:p>
        </p:txBody>
      </p:sp>
      <p:sp>
        <p:nvSpPr>
          <p:cNvPr id="3574" name="Google Shape;3574;p129"/>
          <p:cNvSpPr/>
          <p:nvPr/>
        </p:nvSpPr>
        <p:spPr>
          <a:xfrm>
            <a:off x="9646920" y="1741932"/>
            <a:ext cx="658368" cy="310896"/>
          </a:xfrm>
          <a:prstGeom prst="roundRect">
            <a:avLst>
              <a:gd fmla="val 50000" name="adj"/>
            </a:avLst>
          </a:prstGeom>
          <a:solidFill>
            <a:srgbClr val="E9F6F5"/>
          </a:solidFill>
          <a:ln cap="flat" cmpd="sng" w="9525">
            <a:solidFill>
              <a:srgbClr val="00A79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75" name="Google Shape;3575;p129"/>
          <p:cNvSpPr/>
          <p:nvPr/>
        </p:nvSpPr>
        <p:spPr>
          <a:xfrm>
            <a:off x="9646920" y="1741932"/>
            <a:ext cx="658368" cy="31089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56A63"/>
              </a:buClr>
              <a:buSzPts val="950"/>
              <a:buFont typeface="Calibri"/>
              <a:buNone/>
            </a:pPr>
            <a:r>
              <a:rPr b="1" i="0" lang="en-US" sz="950" u="none" cap="none" strike="noStrike">
                <a:solidFill>
                  <a:srgbClr val="056A63"/>
                </a:solidFill>
                <a:latin typeface="Calibri"/>
                <a:ea typeface="Calibri"/>
                <a:cs typeface="Calibri"/>
                <a:sym typeface="Calibri"/>
              </a:rPr>
              <a:t>LO6</a:t>
            </a:r>
            <a:endParaRPr b="0" i="0" sz="950" u="none" cap="none" strike="noStrike">
              <a:solidFill>
                <a:schemeClr val="dk1"/>
              </a:solidFill>
              <a:latin typeface="Calibri"/>
              <a:ea typeface="Calibri"/>
              <a:cs typeface="Calibri"/>
              <a:sym typeface="Calibri"/>
            </a:endParaRPr>
          </a:p>
        </p:txBody>
      </p:sp>
      <p:sp>
        <p:nvSpPr>
          <p:cNvPr id="3576" name="Google Shape;3576;p129"/>
          <p:cNvSpPr/>
          <p:nvPr/>
        </p:nvSpPr>
        <p:spPr>
          <a:xfrm>
            <a:off x="502920" y="2459736"/>
            <a:ext cx="11183112" cy="832104"/>
          </a:xfrm>
          <a:prstGeom prst="roundRect">
            <a:avLst>
              <a:gd fmla="val 7692" name="adj"/>
            </a:avLst>
          </a:prstGeom>
          <a:solidFill>
            <a:srgbClr val="F2F6F9"/>
          </a:solidFill>
          <a:ln cap="flat" cmpd="sng" w="9525">
            <a:solidFill>
              <a:srgbClr val="D9E2E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77" name="Google Shape;3577;p129"/>
          <p:cNvSpPr/>
          <p:nvPr/>
        </p:nvSpPr>
        <p:spPr>
          <a:xfrm>
            <a:off x="649224" y="2711196"/>
            <a:ext cx="329184" cy="329184"/>
          </a:xfrm>
          <a:prstGeom prst="ellipse">
            <a:avLst/>
          </a:prstGeom>
          <a:solidFill>
            <a:srgbClr val="00A79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78" name="Google Shape;3578;p129"/>
          <p:cNvSpPr/>
          <p:nvPr/>
        </p:nvSpPr>
        <p:spPr>
          <a:xfrm>
            <a:off x="649224" y="2711196"/>
            <a:ext cx="329184" cy="32918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150"/>
              <a:buFont typeface="Calibri"/>
              <a:buNone/>
            </a:pPr>
            <a:r>
              <a:rPr b="1" i="0" lang="en-US" sz="1150" u="none" cap="none" strike="noStrike">
                <a:solidFill>
                  <a:srgbClr val="FFFFFF"/>
                </a:solidFill>
                <a:latin typeface="Calibri"/>
                <a:ea typeface="Calibri"/>
                <a:cs typeface="Calibri"/>
                <a:sym typeface="Calibri"/>
              </a:rPr>
              <a:t>7.2</a:t>
            </a:r>
            <a:endParaRPr b="0" i="0" sz="1150" u="none" cap="none" strike="noStrike">
              <a:solidFill>
                <a:schemeClr val="dk1"/>
              </a:solidFill>
              <a:latin typeface="Calibri"/>
              <a:ea typeface="Calibri"/>
              <a:cs typeface="Calibri"/>
              <a:sym typeface="Calibri"/>
            </a:endParaRPr>
          </a:p>
        </p:txBody>
      </p:sp>
      <p:sp>
        <p:nvSpPr>
          <p:cNvPr id="3579" name="Google Shape;3579;p129"/>
          <p:cNvSpPr/>
          <p:nvPr/>
        </p:nvSpPr>
        <p:spPr>
          <a:xfrm>
            <a:off x="1143000" y="2459736"/>
            <a:ext cx="8321040" cy="83210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3293B"/>
              </a:buClr>
              <a:buSzPts val="1250"/>
              <a:buFont typeface="Calibri"/>
              <a:buNone/>
            </a:pPr>
            <a:r>
              <a:rPr b="0" i="0" lang="en-US" sz="1250" u="none" cap="none" strike="noStrike">
                <a:solidFill>
                  <a:srgbClr val="23293B"/>
                </a:solidFill>
                <a:latin typeface="Calibri"/>
                <a:ea typeface="Calibri"/>
                <a:cs typeface="Calibri"/>
                <a:sym typeface="Calibri"/>
              </a:rPr>
              <a:t>Apply post-training quantisation (dynamic, static INT8) and measure the accuracy/latency trade</a:t>
            </a:r>
            <a:endParaRPr b="0" i="0" sz="1250" u="none" cap="none" strike="noStrike">
              <a:solidFill>
                <a:schemeClr val="dk1"/>
              </a:solidFill>
              <a:latin typeface="Calibri"/>
              <a:ea typeface="Calibri"/>
              <a:cs typeface="Calibri"/>
              <a:sym typeface="Calibri"/>
            </a:endParaRPr>
          </a:p>
        </p:txBody>
      </p:sp>
      <p:sp>
        <p:nvSpPr>
          <p:cNvPr id="3580" name="Google Shape;3580;p129"/>
          <p:cNvSpPr/>
          <p:nvPr/>
        </p:nvSpPr>
        <p:spPr>
          <a:xfrm>
            <a:off x="9646920" y="2702052"/>
            <a:ext cx="658368" cy="310896"/>
          </a:xfrm>
          <a:prstGeom prst="roundRect">
            <a:avLst>
              <a:gd fmla="val 50000" name="adj"/>
            </a:avLst>
          </a:prstGeom>
          <a:solidFill>
            <a:srgbClr val="E9F6F5"/>
          </a:solidFill>
          <a:ln cap="flat" cmpd="sng" w="9525">
            <a:solidFill>
              <a:srgbClr val="00A79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81" name="Google Shape;3581;p129"/>
          <p:cNvSpPr/>
          <p:nvPr/>
        </p:nvSpPr>
        <p:spPr>
          <a:xfrm>
            <a:off x="9646920" y="2702052"/>
            <a:ext cx="658368" cy="31089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56A63"/>
              </a:buClr>
              <a:buSzPts val="950"/>
              <a:buFont typeface="Calibri"/>
              <a:buNone/>
            </a:pPr>
            <a:r>
              <a:rPr b="1" i="0" lang="en-US" sz="950" u="none" cap="none" strike="noStrike">
                <a:solidFill>
                  <a:srgbClr val="056A63"/>
                </a:solidFill>
                <a:latin typeface="Calibri"/>
                <a:ea typeface="Calibri"/>
                <a:cs typeface="Calibri"/>
                <a:sym typeface="Calibri"/>
              </a:rPr>
              <a:t>LO6</a:t>
            </a:r>
            <a:endParaRPr b="0" i="0" sz="950" u="none" cap="none" strike="noStrike">
              <a:solidFill>
                <a:schemeClr val="dk1"/>
              </a:solidFill>
              <a:latin typeface="Calibri"/>
              <a:ea typeface="Calibri"/>
              <a:cs typeface="Calibri"/>
              <a:sym typeface="Calibri"/>
            </a:endParaRPr>
          </a:p>
        </p:txBody>
      </p:sp>
      <p:sp>
        <p:nvSpPr>
          <p:cNvPr id="3582" name="Google Shape;3582;p129"/>
          <p:cNvSpPr/>
          <p:nvPr/>
        </p:nvSpPr>
        <p:spPr>
          <a:xfrm>
            <a:off x="10360152" y="2702052"/>
            <a:ext cx="658368" cy="310896"/>
          </a:xfrm>
          <a:prstGeom prst="roundRect">
            <a:avLst>
              <a:gd fmla="val 50000" name="adj"/>
            </a:avLst>
          </a:prstGeom>
          <a:solidFill>
            <a:srgbClr val="E9F6F5"/>
          </a:solidFill>
          <a:ln cap="flat" cmpd="sng" w="9525">
            <a:solidFill>
              <a:srgbClr val="00A79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83" name="Google Shape;3583;p129"/>
          <p:cNvSpPr/>
          <p:nvPr/>
        </p:nvSpPr>
        <p:spPr>
          <a:xfrm>
            <a:off x="10360152" y="2702052"/>
            <a:ext cx="658368" cy="31089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56A63"/>
              </a:buClr>
              <a:buSzPts val="950"/>
              <a:buFont typeface="Calibri"/>
              <a:buNone/>
            </a:pPr>
            <a:r>
              <a:rPr b="1" i="0" lang="en-US" sz="950" u="none" cap="none" strike="noStrike">
                <a:solidFill>
                  <a:srgbClr val="056A63"/>
                </a:solidFill>
                <a:latin typeface="Calibri"/>
                <a:ea typeface="Calibri"/>
                <a:cs typeface="Calibri"/>
                <a:sym typeface="Calibri"/>
              </a:rPr>
              <a:t>LO5</a:t>
            </a:r>
            <a:endParaRPr b="0" i="0" sz="950" u="none" cap="none" strike="noStrike">
              <a:solidFill>
                <a:schemeClr val="dk1"/>
              </a:solidFill>
              <a:latin typeface="Calibri"/>
              <a:ea typeface="Calibri"/>
              <a:cs typeface="Calibri"/>
              <a:sym typeface="Calibri"/>
            </a:endParaRPr>
          </a:p>
        </p:txBody>
      </p:sp>
      <p:sp>
        <p:nvSpPr>
          <p:cNvPr id="3584" name="Google Shape;3584;p129"/>
          <p:cNvSpPr/>
          <p:nvPr/>
        </p:nvSpPr>
        <p:spPr>
          <a:xfrm>
            <a:off x="502920" y="3419856"/>
            <a:ext cx="11183112" cy="832104"/>
          </a:xfrm>
          <a:prstGeom prst="roundRect">
            <a:avLst>
              <a:gd fmla="val 7692" name="adj"/>
            </a:avLst>
          </a:prstGeom>
          <a:solidFill>
            <a:srgbClr val="FAFCFE"/>
          </a:solidFill>
          <a:ln cap="flat" cmpd="sng" w="9525">
            <a:solidFill>
              <a:srgbClr val="D9E2E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85" name="Google Shape;3585;p129"/>
          <p:cNvSpPr/>
          <p:nvPr/>
        </p:nvSpPr>
        <p:spPr>
          <a:xfrm>
            <a:off x="649224" y="3671316"/>
            <a:ext cx="329184" cy="329184"/>
          </a:xfrm>
          <a:prstGeom prst="ellipse">
            <a:avLst/>
          </a:prstGeom>
          <a:solidFill>
            <a:srgbClr val="00A79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86" name="Google Shape;3586;p129"/>
          <p:cNvSpPr/>
          <p:nvPr/>
        </p:nvSpPr>
        <p:spPr>
          <a:xfrm>
            <a:off x="649224" y="3671316"/>
            <a:ext cx="329184" cy="32918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150"/>
              <a:buFont typeface="Calibri"/>
              <a:buNone/>
            </a:pPr>
            <a:r>
              <a:rPr b="1" i="0" lang="en-US" sz="1150" u="none" cap="none" strike="noStrike">
                <a:solidFill>
                  <a:srgbClr val="FFFFFF"/>
                </a:solidFill>
                <a:latin typeface="Calibri"/>
                <a:ea typeface="Calibri"/>
                <a:cs typeface="Calibri"/>
                <a:sym typeface="Calibri"/>
              </a:rPr>
              <a:t>7.3</a:t>
            </a:r>
            <a:endParaRPr b="0" i="0" sz="1150" u="none" cap="none" strike="noStrike">
              <a:solidFill>
                <a:schemeClr val="dk1"/>
              </a:solidFill>
              <a:latin typeface="Calibri"/>
              <a:ea typeface="Calibri"/>
              <a:cs typeface="Calibri"/>
              <a:sym typeface="Calibri"/>
            </a:endParaRPr>
          </a:p>
        </p:txBody>
      </p:sp>
      <p:sp>
        <p:nvSpPr>
          <p:cNvPr id="3587" name="Google Shape;3587;p129"/>
          <p:cNvSpPr/>
          <p:nvPr/>
        </p:nvSpPr>
        <p:spPr>
          <a:xfrm>
            <a:off x="1143000" y="3419856"/>
            <a:ext cx="8321040" cy="83210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3293B"/>
              </a:buClr>
              <a:buSzPts val="1250"/>
              <a:buFont typeface="Calibri"/>
              <a:buNone/>
            </a:pPr>
            <a:r>
              <a:rPr b="0" i="0" lang="en-US" sz="1250" u="none" cap="none" strike="noStrike">
                <a:solidFill>
                  <a:srgbClr val="23293B"/>
                </a:solidFill>
                <a:latin typeface="Calibri"/>
                <a:ea typeface="Calibri"/>
                <a:cs typeface="Calibri"/>
                <a:sym typeface="Calibri"/>
              </a:rPr>
              <a:t>Engineer input size and execution-provider choices against a written latency budget</a:t>
            </a:r>
            <a:endParaRPr b="0" i="0" sz="1250" u="none" cap="none" strike="noStrike">
              <a:solidFill>
                <a:schemeClr val="dk1"/>
              </a:solidFill>
              <a:latin typeface="Calibri"/>
              <a:ea typeface="Calibri"/>
              <a:cs typeface="Calibri"/>
              <a:sym typeface="Calibri"/>
            </a:endParaRPr>
          </a:p>
        </p:txBody>
      </p:sp>
      <p:sp>
        <p:nvSpPr>
          <p:cNvPr id="3588" name="Google Shape;3588;p129"/>
          <p:cNvSpPr/>
          <p:nvPr/>
        </p:nvSpPr>
        <p:spPr>
          <a:xfrm>
            <a:off x="9646920" y="3662172"/>
            <a:ext cx="658368" cy="310896"/>
          </a:xfrm>
          <a:prstGeom prst="roundRect">
            <a:avLst>
              <a:gd fmla="val 50000" name="adj"/>
            </a:avLst>
          </a:prstGeom>
          <a:solidFill>
            <a:srgbClr val="E9F6F5"/>
          </a:solidFill>
          <a:ln cap="flat" cmpd="sng" w="9525">
            <a:solidFill>
              <a:srgbClr val="00A79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89" name="Google Shape;3589;p129"/>
          <p:cNvSpPr/>
          <p:nvPr/>
        </p:nvSpPr>
        <p:spPr>
          <a:xfrm>
            <a:off x="9646920" y="3662172"/>
            <a:ext cx="658368" cy="31089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56A63"/>
              </a:buClr>
              <a:buSzPts val="950"/>
              <a:buFont typeface="Calibri"/>
              <a:buNone/>
            </a:pPr>
            <a:r>
              <a:rPr b="1" i="0" lang="en-US" sz="950" u="none" cap="none" strike="noStrike">
                <a:solidFill>
                  <a:srgbClr val="056A63"/>
                </a:solidFill>
                <a:latin typeface="Calibri"/>
                <a:ea typeface="Calibri"/>
                <a:cs typeface="Calibri"/>
                <a:sym typeface="Calibri"/>
              </a:rPr>
              <a:t>LO6</a:t>
            </a:r>
            <a:endParaRPr b="0" i="0" sz="950" u="none" cap="none" strike="noStrike">
              <a:solidFill>
                <a:schemeClr val="dk1"/>
              </a:solidFill>
              <a:latin typeface="Calibri"/>
              <a:ea typeface="Calibri"/>
              <a:cs typeface="Calibri"/>
              <a:sym typeface="Calibri"/>
            </a:endParaRPr>
          </a:p>
        </p:txBody>
      </p:sp>
      <p:sp>
        <p:nvSpPr>
          <p:cNvPr id="3590" name="Google Shape;3590;p129"/>
          <p:cNvSpPr/>
          <p:nvPr/>
        </p:nvSpPr>
        <p:spPr>
          <a:xfrm>
            <a:off x="10360152" y="3662172"/>
            <a:ext cx="658368" cy="310896"/>
          </a:xfrm>
          <a:prstGeom prst="roundRect">
            <a:avLst>
              <a:gd fmla="val 50000" name="adj"/>
            </a:avLst>
          </a:prstGeom>
          <a:solidFill>
            <a:srgbClr val="E9F6F5"/>
          </a:solidFill>
          <a:ln cap="flat" cmpd="sng" w="9525">
            <a:solidFill>
              <a:srgbClr val="00A79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91" name="Google Shape;3591;p129"/>
          <p:cNvSpPr/>
          <p:nvPr/>
        </p:nvSpPr>
        <p:spPr>
          <a:xfrm>
            <a:off x="10360152" y="3662172"/>
            <a:ext cx="658368" cy="31089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56A63"/>
              </a:buClr>
              <a:buSzPts val="950"/>
              <a:buFont typeface="Calibri"/>
              <a:buNone/>
            </a:pPr>
            <a:r>
              <a:rPr b="1" i="0" lang="en-US" sz="950" u="none" cap="none" strike="noStrike">
                <a:solidFill>
                  <a:srgbClr val="056A63"/>
                </a:solidFill>
                <a:latin typeface="Calibri"/>
                <a:ea typeface="Calibri"/>
                <a:cs typeface="Calibri"/>
                <a:sym typeface="Calibri"/>
              </a:rPr>
              <a:t>LO2</a:t>
            </a:r>
            <a:endParaRPr b="0" i="0" sz="950" u="none" cap="none" strike="noStrike">
              <a:solidFill>
                <a:schemeClr val="dk1"/>
              </a:solidFill>
              <a:latin typeface="Calibri"/>
              <a:ea typeface="Calibri"/>
              <a:cs typeface="Calibri"/>
              <a:sym typeface="Calibri"/>
            </a:endParaRPr>
          </a:p>
        </p:txBody>
      </p:sp>
      <p:sp>
        <p:nvSpPr>
          <p:cNvPr id="3592" name="Google Shape;3592;p129"/>
          <p:cNvSpPr/>
          <p:nvPr/>
        </p:nvSpPr>
        <p:spPr>
          <a:xfrm>
            <a:off x="502920" y="4379976"/>
            <a:ext cx="11183112" cy="832104"/>
          </a:xfrm>
          <a:prstGeom prst="roundRect">
            <a:avLst>
              <a:gd fmla="val 7692" name="adj"/>
            </a:avLst>
          </a:prstGeom>
          <a:solidFill>
            <a:srgbClr val="F2F6F9"/>
          </a:solidFill>
          <a:ln cap="flat" cmpd="sng" w="9525">
            <a:solidFill>
              <a:srgbClr val="D9E2E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93" name="Google Shape;3593;p129"/>
          <p:cNvSpPr/>
          <p:nvPr/>
        </p:nvSpPr>
        <p:spPr>
          <a:xfrm>
            <a:off x="649224" y="4631436"/>
            <a:ext cx="329184" cy="329184"/>
          </a:xfrm>
          <a:prstGeom prst="ellipse">
            <a:avLst/>
          </a:prstGeom>
          <a:solidFill>
            <a:srgbClr val="00A79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94" name="Google Shape;3594;p129"/>
          <p:cNvSpPr/>
          <p:nvPr/>
        </p:nvSpPr>
        <p:spPr>
          <a:xfrm>
            <a:off x="649224" y="4631436"/>
            <a:ext cx="329184" cy="32918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150"/>
              <a:buFont typeface="Calibri"/>
              <a:buNone/>
            </a:pPr>
            <a:r>
              <a:rPr b="1" i="0" lang="en-US" sz="1150" u="none" cap="none" strike="noStrike">
                <a:solidFill>
                  <a:srgbClr val="FFFFFF"/>
                </a:solidFill>
                <a:latin typeface="Calibri"/>
                <a:ea typeface="Calibri"/>
                <a:cs typeface="Calibri"/>
                <a:sym typeface="Calibri"/>
              </a:rPr>
              <a:t>7.4</a:t>
            </a:r>
            <a:endParaRPr b="0" i="0" sz="1150" u="none" cap="none" strike="noStrike">
              <a:solidFill>
                <a:schemeClr val="dk1"/>
              </a:solidFill>
              <a:latin typeface="Calibri"/>
              <a:ea typeface="Calibri"/>
              <a:cs typeface="Calibri"/>
              <a:sym typeface="Calibri"/>
            </a:endParaRPr>
          </a:p>
        </p:txBody>
      </p:sp>
      <p:sp>
        <p:nvSpPr>
          <p:cNvPr id="3595" name="Google Shape;3595;p129"/>
          <p:cNvSpPr/>
          <p:nvPr/>
        </p:nvSpPr>
        <p:spPr>
          <a:xfrm>
            <a:off x="1143000" y="4379976"/>
            <a:ext cx="8321040" cy="83210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3293B"/>
              </a:buClr>
              <a:buSzPts val="1250"/>
              <a:buFont typeface="Calibri"/>
              <a:buNone/>
            </a:pPr>
            <a:r>
              <a:rPr b="0" i="0" lang="en-US" sz="1250" u="none" cap="none" strike="noStrike">
                <a:solidFill>
                  <a:srgbClr val="23293B"/>
                </a:solidFill>
                <a:latin typeface="Calibri"/>
                <a:ea typeface="Calibri"/>
                <a:cs typeface="Calibri"/>
                <a:sym typeface="Calibri"/>
              </a:rPr>
              <a:t>Benchmark inference honestly: warm-up, percentiles, end-to-end pipeline measurement</a:t>
            </a:r>
            <a:endParaRPr b="0" i="0" sz="1250" u="none" cap="none" strike="noStrike">
              <a:solidFill>
                <a:schemeClr val="dk1"/>
              </a:solidFill>
              <a:latin typeface="Calibri"/>
              <a:ea typeface="Calibri"/>
              <a:cs typeface="Calibri"/>
              <a:sym typeface="Calibri"/>
            </a:endParaRPr>
          </a:p>
        </p:txBody>
      </p:sp>
      <p:sp>
        <p:nvSpPr>
          <p:cNvPr id="3596" name="Google Shape;3596;p129"/>
          <p:cNvSpPr/>
          <p:nvPr/>
        </p:nvSpPr>
        <p:spPr>
          <a:xfrm>
            <a:off x="9646920" y="4622292"/>
            <a:ext cx="658368" cy="310896"/>
          </a:xfrm>
          <a:prstGeom prst="roundRect">
            <a:avLst>
              <a:gd fmla="val 50000" name="adj"/>
            </a:avLst>
          </a:prstGeom>
          <a:solidFill>
            <a:srgbClr val="E9F6F5"/>
          </a:solidFill>
          <a:ln cap="flat" cmpd="sng" w="9525">
            <a:solidFill>
              <a:srgbClr val="00A79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97" name="Google Shape;3597;p129"/>
          <p:cNvSpPr/>
          <p:nvPr/>
        </p:nvSpPr>
        <p:spPr>
          <a:xfrm>
            <a:off x="9646920" y="4622292"/>
            <a:ext cx="658368" cy="31089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56A63"/>
              </a:buClr>
              <a:buSzPts val="950"/>
              <a:buFont typeface="Calibri"/>
              <a:buNone/>
            </a:pPr>
            <a:r>
              <a:rPr b="1" i="0" lang="en-US" sz="950" u="none" cap="none" strike="noStrike">
                <a:solidFill>
                  <a:srgbClr val="056A63"/>
                </a:solidFill>
                <a:latin typeface="Calibri"/>
                <a:ea typeface="Calibri"/>
                <a:cs typeface="Calibri"/>
                <a:sym typeface="Calibri"/>
              </a:rPr>
              <a:t>LO6</a:t>
            </a:r>
            <a:endParaRPr b="0" i="0" sz="950" u="none" cap="none" strike="noStrike">
              <a:solidFill>
                <a:schemeClr val="dk1"/>
              </a:solidFill>
              <a:latin typeface="Calibri"/>
              <a:ea typeface="Calibri"/>
              <a:cs typeface="Calibri"/>
              <a:sym typeface="Calibri"/>
            </a:endParaRPr>
          </a:p>
        </p:txBody>
      </p:sp>
      <p:sp>
        <p:nvSpPr>
          <p:cNvPr id="3598" name="Google Shape;3598;p129"/>
          <p:cNvSpPr/>
          <p:nvPr/>
        </p:nvSpPr>
        <p:spPr>
          <a:xfrm>
            <a:off x="10360152" y="4622292"/>
            <a:ext cx="658368" cy="310896"/>
          </a:xfrm>
          <a:prstGeom prst="roundRect">
            <a:avLst>
              <a:gd fmla="val 50000" name="adj"/>
            </a:avLst>
          </a:prstGeom>
          <a:solidFill>
            <a:srgbClr val="E9F6F5"/>
          </a:solidFill>
          <a:ln cap="flat" cmpd="sng" w="9525">
            <a:solidFill>
              <a:srgbClr val="00A79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99" name="Google Shape;3599;p129"/>
          <p:cNvSpPr/>
          <p:nvPr/>
        </p:nvSpPr>
        <p:spPr>
          <a:xfrm>
            <a:off x="10360152" y="4622292"/>
            <a:ext cx="658368" cy="31089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56A63"/>
              </a:buClr>
              <a:buSzPts val="950"/>
              <a:buFont typeface="Calibri"/>
              <a:buNone/>
            </a:pPr>
            <a:r>
              <a:rPr b="1" i="0" lang="en-US" sz="950" u="none" cap="none" strike="noStrike">
                <a:solidFill>
                  <a:srgbClr val="056A63"/>
                </a:solidFill>
                <a:latin typeface="Calibri"/>
                <a:ea typeface="Calibri"/>
                <a:cs typeface="Calibri"/>
                <a:sym typeface="Calibri"/>
              </a:rPr>
              <a:t>LO5</a:t>
            </a:r>
            <a:endParaRPr b="0" i="0" sz="950" u="none" cap="none" strike="noStrike">
              <a:solidFill>
                <a:schemeClr val="dk1"/>
              </a:solidFill>
              <a:latin typeface="Calibri"/>
              <a:ea typeface="Calibri"/>
              <a:cs typeface="Calibri"/>
              <a:sym typeface="Calibri"/>
            </a:endParaRPr>
          </a:p>
        </p:txBody>
      </p:sp>
      <p:sp>
        <p:nvSpPr>
          <p:cNvPr id="3600" name="Google Shape;3600;p129"/>
          <p:cNvSpPr/>
          <p:nvPr/>
        </p:nvSpPr>
        <p:spPr>
          <a:xfrm>
            <a:off x="502920" y="5340096"/>
            <a:ext cx="11183112" cy="832104"/>
          </a:xfrm>
          <a:prstGeom prst="roundRect">
            <a:avLst>
              <a:gd fmla="val 7692" name="adj"/>
            </a:avLst>
          </a:prstGeom>
          <a:solidFill>
            <a:srgbClr val="FAFCFE"/>
          </a:solidFill>
          <a:ln cap="flat" cmpd="sng" w="9525">
            <a:solidFill>
              <a:srgbClr val="D9E2E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01" name="Google Shape;3601;p129"/>
          <p:cNvSpPr/>
          <p:nvPr/>
        </p:nvSpPr>
        <p:spPr>
          <a:xfrm>
            <a:off x="649224" y="5591556"/>
            <a:ext cx="329184" cy="329184"/>
          </a:xfrm>
          <a:prstGeom prst="ellipse">
            <a:avLst/>
          </a:prstGeom>
          <a:solidFill>
            <a:srgbClr val="00A79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02" name="Google Shape;3602;p129"/>
          <p:cNvSpPr/>
          <p:nvPr/>
        </p:nvSpPr>
        <p:spPr>
          <a:xfrm>
            <a:off x="649224" y="5591556"/>
            <a:ext cx="329184" cy="32918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150"/>
              <a:buFont typeface="Calibri"/>
              <a:buNone/>
            </a:pPr>
            <a:r>
              <a:rPr b="1" i="0" lang="en-US" sz="1150" u="none" cap="none" strike="noStrike">
                <a:solidFill>
                  <a:srgbClr val="FFFFFF"/>
                </a:solidFill>
                <a:latin typeface="Calibri"/>
                <a:ea typeface="Calibri"/>
                <a:cs typeface="Calibri"/>
                <a:sym typeface="Calibri"/>
              </a:rPr>
              <a:t>7.5</a:t>
            </a:r>
            <a:endParaRPr b="0" i="0" sz="1150" u="none" cap="none" strike="noStrike">
              <a:solidFill>
                <a:schemeClr val="dk1"/>
              </a:solidFill>
              <a:latin typeface="Calibri"/>
              <a:ea typeface="Calibri"/>
              <a:cs typeface="Calibri"/>
              <a:sym typeface="Calibri"/>
            </a:endParaRPr>
          </a:p>
        </p:txBody>
      </p:sp>
      <p:sp>
        <p:nvSpPr>
          <p:cNvPr id="3603" name="Google Shape;3603;p129"/>
          <p:cNvSpPr/>
          <p:nvPr/>
        </p:nvSpPr>
        <p:spPr>
          <a:xfrm>
            <a:off x="1143000" y="5340096"/>
            <a:ext cx="8321040" cy="83210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3293B"/>
              </a:buClr>
              <a:buSzPts val="1250"/>
              <a:buFont typeface="Calibri"/>
              <a:buNone/>
            </a:pPr>
            <a:r>
              <a:rPr b="0" i="0" lang="en-US" sz="1250" u="none" cap="none" strike="noStrike">
                <a:solidFill>
                  <a:srgbClr val="23293B"/>
                </a:solidFill>
                <a:latin typeface="Calibri"/>
                <a:ea typeface="Calibri"/>
                <a:cs typeface="Calibri"/>
                <a:sym typeface="Calibri"/>
              </a:rPr>
              <a:t>Design the edge inference loop: preprocessing parity, fallbacks, monitoring hooks</a:t>
            </a:r>
            <a:endParaRPr b="0" i="0" sz="1250" u="none" cap="none" strike="noStrike">
              <a:solidFill>
                <a:schemeClr val="dk1"/>
              </a:solidFill>
              <a:latin typeface="Calibri"/>
              <a:ea typeface="Calibri"/>
              <a:cs typeface="Calibri"/>
              <a:sym typeface="Calibri"/>
            </a:endParaRPr>
          </a:p>
        </p:txBody>
      </p:sp>
      <p:sp>
        <p:nvSpPr>
          <p:cNvPr id="3604" name="Google Shape;3604;p129"/>
          <p:cNvSpPr/>
          <p:nvPr/>
        </p:nvSpPr>
        <p:spPr>
          <a:xfrm>
            <a:off x="9646920" y="5582412"/>
            <a:ext cx="658368" cy="310896"/>
          </a:xfrm>
          <a:prstGeom prst="roundRect">
            <a:avLst>
              <a:gd fmla="val 50000" name="adj"/>
            </a:avLst>
          </a:prstGeom>
          <a:solidFill>
            <a:srgbClr val="E9F6F5"/>
          </a:solidFill>
          <a:ln cap="flat" cmpd="sng" w="9525">
            <a:solidFill>
              <a:srgbClr val="00A79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05" name="Google Shape;3605;p129"/>
          <p:cNvSpPr/>
          <p:nvPr/>
        </p:nvSpPr>
        <p:spPr>
          <a:xfrm>
            <a:off x="9646920" y="5582412"/>
            <a:ext cx="658368" cy="31089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56A63"/>
              </a:buClr>
              <a:buSzPts val="950"/>
              <a:buFont typeface="Calibri"/>
              <a:buNone/>
            </a:pPr>
            <a:r>
              <a:rPr b="1" i="0" lang="en-US" sz="950" u="none" cap="none" strike="noStrike">
                <a:solidFill>
                  <a:srgbClr val="056A63"/>
                </a:solidFill>
                <a:latin typeface="Calibri"/>
                <a:ea typeface="Calibri"/>
                <a:cs typeface="Calibri"/>
                <a:sym typeface="Calibri"/>
              </a:rPr>
              <a:t>LO6</a:t>
            </a:r>
            <a:endParaRPr b="0" i="0" sz="950" u="none" cap="none" strike="noStrike">
              <a:solidFill>
                <a:schemeClr val="dk1"/>
              </a:solidFill>
              <a:latin typeface="Calibri"/>
              <a:ea typeface="Calibri"/>
              <a:cs typeface="Calibri"/>
              <a:sym typeface="Calibri"/>
            </a:endParaRPr>
          </a:p>
        </p:txBody>
      </p:sp>
      <p:sp>
        <p:nvSpPr>
          <p:cNvPr id="3606" name="Google Shape;3606;p129"/>
          <p:cNvSpPr/>
          <p:nvPr/>
        </p:nvSpPr>
        <p:spPr>
          <a:xfrm>
            <a:off x="10360152" y="5582412"/>
            <a:ext cx="658368" cy="310896"/>
          </a:xfrm>
          <a:prstGeom prst="roundRect">
            <a:avLst>
              <a:gd fmla="val 50000" name="adj"/>
            </a:avLst>
          </a:prstGeom>
          <a:solidFill>
            <a:srgbClr val="E9F6F5"/>
          </a:solidFill>
          <a:ln cap="flat" cmpd="sng" w="9525">
            <a:solidFill>
              <a:srgbClr val="00A79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07" name="Google Shape;3607;p129"/>
          <p:cNvSpPr/>
          <p:nvPr/>
        </p:nvSpPr>
        <p:spPr>
          <a:xfrm>
            <a:off x="10360152" y="5582412"/>
            <a:ext cx="658368" cy="31089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56A63"/>
              </a:buClr>
              <a:buSzPts val="950"/>
              <a:buFont typeface="Calibri"/>
              <a:buNone/>
            </a:pPr>
            <a:r>
              <a:rPr b="1" i="0" lang="en-US" sz="950" u="none" cap="none" strike="noStrike">
                <a:solidFill>
                  <a:srgbClr val="056A63"/>
                </a:solidFill>
                <a:latin typeface="Calibri"/>
                <a:ea typeface="Calibri"/>
                <a:cs typeface="Calibri"/>
                <a:sym typeface="Calibri"/>
              </a:rPr>
              <a:t>LO1</a:t>
            </a:r>
            <a:endParaRPr b="0" i="0" sz="950" u="none" cap="none" strike="noStrike">
              <a:solidFill>
                <a:schemeClr val="dk1"/>
              </a:solidFill>
              <a:latin typeface="Calibri"/>
              <a:ea typeface="Calibri"/>
              <a:cs typeface="Calibri"/>
              <a:sym typeface="Calibri"/>
            </a:endParaRPr>
          </a:p>
        </p:txBody>
      </p:sp>
    </p:spTree>
  </p:cSld>
  <p:clrMapOvr>
    <a:masterClrMapping/>
  </p:clrMapOvr>
</p:sld>
</file>

<file path=ppt/slides/slide1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612" name="Shape 3612"/>
        <p:cNvGrpSpPr/>
        <p:nvPr/>
      </p:nvGrpSpPr>
      <p:grpSpPr>
        <a:xfrm>
          <a:off x="0" y="0"/>
          <a:ext cx="0" cy="0"/>
          <a:chOff x="0" y="0"/>
          <a:chExt cx="0" cy="0"/>
        </a:xfrm>
      </p:grpSpPr>
      <p:sp>
        <p:nvSpPr>
          <p:cNvPr id="3613" name="Google Shape;3613;p130"/>
          <p:cNvSpPr/>
          <p:nvPr/>
        </p:nvSpPr>
        <p:spPr>
          <a:xfrm>
            <a:off x="502920" y="274320"/>
            <a:ext cx="9646920" cy="56692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D2A5C"/>
              </a:buClr>
              <a:buSzPts val="2700"/>
              <a:buFont typeface="Calibri"/>
              <a:buNone/>
            </a:pPr>
            <a:r>
              <a:rPr b="1" i="0" lang="en-US" sz="2700" u="none" cap="none" strike="noStrike">
                <a:solidFill>
                  <a:srgbClr val="1D2A5C"/>
                </a:solidFill>
                <a:latin typeface="Calibri"/>
                <a:ea typeface="Calibri"/>
                <a:cs typeface="Calibri"/>
                <a:sym typeface="Calibri"/>
              </a:rPr>
              <a:t>Cloud or edge? A table, not a preference</a:t>
            </a:r>
            <a:endParaRPr b="0" i="0" sz="2700" u="none" cap="none" strike="noStrike">
              <a:solidFill>
                <a:schemeClr val="dk1"/>
              </a:solidFill>
              <a:latin typeface="Calibri"/>
              <a:ea typeface="Calibri"/>
              <a:cs typeface="Calibri"/>
              <a:sym typeface="Calibri"/>
            </a:endParaRPr>
          </a:p>
        </p:txBody>
      </p:sp>
      <p:sp>
        <p:nvSpPr>
          <p:cNvPr id="3614" name="Google Shape;3614;p130"/>
          <p:cNvSpPr/>
          <p:nvPr/>
        </p:nvSpPr>
        <p:spPr>
          <a:xfrm>
            <a:off x="502920" y="859536"/>
            <a:ext cx="9646920" cy="31089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F6B7A"/>
              </a:buClr>
              <a:buSzPts val="1250"/>
              <a:buFont typeface="Arial"/>
              <a:buNone/>
            </a:pPr>
            <a:r>
              <a:rPr b="0" i="0" lang="en-US" sz="1250" u="none" cap="none" strike="noStrike">
                <a:solidFill>
                  <a:srgbClr val="5F6B7A"/>
                </a:solidFill>
                <a:latin typeface="Arial"/>
                <a:ea typeface="Arial"/>
                <a:cs typeface="Arial"/>
                <a:sym typeface="Arial"/>
              </a:rPr>
              <a:t>سحابة أم حافة؟</a:t>
            </a:r>
            <a:endParaRPr b="0" i="0" sz="1250" u="none" cap="none" strike="noStrike">
              <a:solidFill>
                <a:schemeClr val="dk1"/>
              </a:solidFill>
              <a:latin typeface="Calibri"/>
              <a:ea typeface="Calibri"/>
              <a:cs typeface="Calibri"/>
              <a:sym typeface="Calibri"/>
            </a:endParaRPr>
          </a:p>
        </p:txBody>
      </p:sp>
      <p:pic>
        <p:nvPicPr>
          <p:cNvPr descr="/sessions/blissful-determined-ritchie/build/assets/sdaia_logo.png" id="3615" name="Google Shape;3615;p130"/>
          <p:cNvPicPr preferRelativeResize="0"/>
          <p:nvPr/>
        </p:nvPicPr>
        <p:blipFill rotWithShape="1">
          <a:blip r:embed="rId3">
            <a:alphaModFix/>
          </a:blip>
          <a:srcRect b="0" l="0" r="0" t="0"/>
          <a:stretch/>
        </p:blipFill>
        <p:spPr>
          <a:xfrm>
            <a:off x="10625328" y="310896"/>
            <a:ext cx="1078992" cy="264111"/>
          </a:xfrm>
          <a:prstGeom prst="rect">
            <a:avLst/>
          </a:prstGeom>
          <a:noFill/>
          <a:ln>
            <a:noFill/>
          </a:ln>
        </p:spPr>
      </p:pic>
      <p:sp>
        <p:nvSpPr>
          <p:cNvPr id="3616" name="Google Shape;3616;p130"/>
          <p:cNvSpPr/>
          <p:nvPr/>
        </p:nvSpPr>
        <p:spPr>
          <a:xfrm>
            <a:off x="502920" y="6528816"/>
            <a:ext cx="8686800"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A79D"/>
              </a:buClr>
              <a:buSzPts val="800"/>
              <a:buFont typeface="Calibri"/>
              <a:buNone/>
            </a:pPr>
            <a:r>
              <a:rPr b="1" i="0" lang="en-US" sz="800" u="none" cap="none" strike="noStrike">
                <a:solidFill>
                  <a:srgbClr val="00A79D"/>
                </a:solidFill>
                <a:latin typeface="Calibri"/>
                <a:ea typeface="Calibri"/>
                <a:cs typeface="Calibri"/>
                <a:sym typeface="Calibri"/>
              </a:rPr>
              <a:t>MODULE 7   </a:t>
            </a:r>
            <a:r>
              <a:rPr b="0" i="0" lang="en-US" sz="800" u="none" cap="none" strike="noStrike">
                <a:solidFill>
                  <a:srgbClr val="8A96A6"/>
                </a:solidFill>
                <a:latin typeface="Calibri"/>
                <a:ea typeface="Calibri"/>
                <a:cs typeface="Calibri"/>
                <a:sym typeface="Calibri"/>
              </a:rPr>
              <a:t>SDA-AIE-212 · Computer Vision Systems Development</a:t>
            </a:r>
            <a:endParaRPr b="0" i="0" sz="800" u="none" cap="none" strike="noStrike">
              <a:solidFill>
                <a:schemeClr val="dk1"/>
              </a:solidFill>
              <a:latin typeface="Calibri"/>
              <a:ea typeface="Calibri"/>
              <a:cs typeface="Calibri"/>
              <a:sym typeface="Calibri"/>
            </a:endParaRPr>
          </a:p>
        </p:txBody>
      </p:sp>
      <p:sp>
        <p:nvSpPr>
          <p:cNvPr id="3617" name="Google Shape;3617;p130"/>
          <p:cNvSpPr/>
          <p:nvPr/>
        </p:nvSpPr>
        <p:spPr>
          <a:xfrm>
            <a:off x="11292840" y="6528816"/>
            <a:ext cx="411480" cy="219456"/>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8A96A6"/>
              </a:buClr>
              <a:buSzPts val="900"/>
              <a:buFont typeface="Calibri"/>
              <a:buNone/>
            </a:pPr>
            <a:r>
              <a:rPr b="0" i="0" lang="en-US" sz="900" u="none" cap="none" strike="noStrike">
                <a:solidFill>
                  <a:srgbClr val="8A96A6"/>
                </a:solidFill>
                <a:latin typeface="Calibri"/>
                <a:ea typeface="Calibri"/>
                <a:cs typeface="Calibri"/>
                <a:sym typeface="Calibri"/>
              </a:rPr>
              <a:t>130</a:t>
            </a:r>
            <a:endParaRPr b="0" i="0" sz="900" u="none" cap="none" strike="noStrike">
              <a:solidFill>
                <a:schemeClr val="dk1"/>
              </a:solidFill>
              <a:latin typeface="Calibri"/>
              <a:ea typeface="Calibri"/>
              <a:cs typeface="Calibri"/>
              <a:sym typeface="Calibri"/>
            </a:endParaRPr>
          </a:p>
        </p:txBody>
      </p:sp>
      <p:sp>
        <p:nvSpPr>
          <p:cNvPr id="3618" name="Google Shape;3618;p130"/>
          <p:cNvSpPr/>
          <p:nvPr/>
        </p:nvSpPr>
        <p:spPr>
          <a:xfrm>
            <a:off x="502920" y="1389888"/>
            <a:ext cx="11185855" cy="384048"/>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5F6B7A"/>
              </a:buClr>
              <a:buSzPts val="1250"/>
              <a:buFont typeface="Calibri"/>
              <a:buNone/>
            </a:pPr>
            <a:r>
              <a:rPr b="0" i="1" lang="en-US" sz="1250" u="none" cap="none" strike="noStrike">
                <a:solidFill>
                  <a:srgbClr val="5F6B7A"/>
                </a:solidFill>
                <a:latin typeface="Calibri"/>
                <a:ea typeface="Calibri"/>
                <a:cs typeface="Calibri"/>
                <a:sym typeface="Calibri"/>
              </a:rPr>
              <a:t>Regional cloud RTT alone eats a third of the 380 ms budget with no jitter allowance — hybrid is the default pattern.</a:t>
            </a:r>
            <a:endParaRPr b="0" i="0" sz="1250" u="none" cap="none" strike="noStrike">
              <a:solidFill>
                <a:schemeClr val="dk1"/>
              </a:solidFill>
              <a:latin typeface="Calibri"/>
              <a:ea typeface="Calibri"/>
              <a:cs typeface="Calibri"/>
              <a:sym typeface="Calibri"/>
            </a:endParaRPr>
          </a:p>
        </p:txBody>
      </p:sp>
      <p:sp>
        <p:nvSpPr>
          <p:cNvPr id="3619" name="Google Shape;3619;p130"/>
          <p:cNvSpPr/>
          <p:nvPr/>
        </p:nvSpPr>
        <p:spPr>
          <a:xfrm>
            <a:off x="502920" y="1892808"/>
            <a:ext cx="5432908" cy="2880360"/>
          </a:xfrm>
          <a:prstGeom prst="roundRect">
            <a:avLst>
              <a:gd fmla="val 2857" name="adj"/>
            </a:avLst>
          </a:prstGeom>
          <a:solidFill>
            <a:srgbClr val="F2F6F9"/>
          </a:solidFill>
          <a:ln cap="flat" cmpd="sng" w="12700">
            <a:solidFill>
              <a:srgbClr val="D9E2E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20" name="Google Shape;3620;p130"/>
          <p:cNvSpPr/>
          <p:nvPr/>
        </p:nvSpPr>
        <p:spPr>
          <a:xfrm>
            <a:off x="704088" y="2084832"/>
            <a:ext cx="146304" cy="146304"/>
          </a:xfrm>
          <a:prstGeom prst="ellipse">
            <a:avLst/>
          </a:prstGeom>
          <a:solidFill>
            <a:srgbClr val="00A79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21" name="Google Shape;3621;p130"/>
          <p:cNvSpPr/>
          <p:nvPr/>
        </p:nvSpPr>
        <p:spPr>
          <a:xfrm>
            <a:off x="960120" y="1984248"/>
            <a:ext cx="4838548"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D2A5C"/>
              </a:buClr>
              <a:buSzPts val="1400"/>
              <a:buFont typeface="Calibri"/>
              <a:buNone/>
            </a:pPr>
            <a:r>
              <a:rPr b="1" i="0" lang="en-US" sz="1400" u="none" cap="none" strike="noStrike">
                <a:solidFill>
                  <a:srgbClr val="1D2A5C"/>
                </a:solidFill>
                <a:latin typeface="Calibri"/>
                <a:ea typeface="Calibri"/>
                <a:cs typeface="Calibri"/>
                <a:sym typeface="Calibri"/>
              </a:rPr>
              <a:t>Cloud GPU endpoint</a:t>
            </a:r>
            <a:endParaRPr b="0" i="0" sz="1400" u="none" cap="none" strike="noStrike">
              <a:solidFill>
                <a:schemeClr val="dk1"/>
              </a:solidFill>
              <a:latin typeface="Calibri"/>
              <a:ea typeface="Calibri"/>
              <a:cs typeface="Calibri"/>
              <a:sym typeface="Calibri"/>
            </a:endParaRPr>
          </a:p>
        </p:txBody>
      </p:sp>
      <p:sp>
        <p:nvSpPr>
          <p:cNvPr id="3622" name="Google Shape;3622;p130"/>
          <p:cNvSpPr/>
          <p:nvPr/>
        </p:nvSpPr>
        <p:spPr>
          <a:xfrm>
            <a:off x="758952" y="2423160"/>
            <a:ext cx="4975708" cy="2221992"/>
          </a:xfrm>
          <a:prstGeom prst="rect">
            <a:avLst/>
          </a:prstGeom>
          <a:noFill/>
          <a:ln>
            <a:noFill/>
          </a:ln>
        </p:spPr>
        <p:txBody>
          <a:bodyPr anchorCtr="0" anchor="t" bIns="0" lIns="0" spcFirstLastPara="1" rIns="0" wrap="square" tIns="0">
            <a:noAutofit/>
          </a:bodyPr>
          <a:lstStyle/>
          <a:p>
            <a:pPr indent="-152400" lvl="0" marL="152400" marR="0" rtl="0" algn="l">
              <a:spcBef>
                <a:spcPts val="0"/>
              </a:spcBef>
              <a:spcAft>
                <a:spcPts val="0"/>
              </a:spcAft>
              <a:buClr>
                <a:srgbClr val="23293B"/>
              </a:buClr>
              <a:buSzPts val="1150"/>
              <a:buFont typeface="Calibri"/>
              <a:buChar char="•"/>
            </a:pPr>
            <a:r>
              <a:rPr b="0" i="0" lang="en-US" sz="1150" u="none" cap="none" strike="noStrike">
                <a:solidFill>
                  <a:srgbClr val="23293B"/>
                </a:solidFill>
                <a:latin typeface="Calibri"/>
                <a:ea typeface="Calibri"/>
                <a:cs typeface="Calibri"/>
                <a:sym typeface="Calibri"/>
              </a:rPr>
              <a:t>Latency: network RTT 60–150 ms regional + queue</a:t>
            </a:r>
            <a:endParaRPr b="0" i="0" sz="1150" u="none" cap="none" strike="noStrike">
              <a:solidFill>
                <a:schemeClr val="dk1"/>
              </a:solidFill>
              <a:latin typeface="Calibri"/>
              <a:ea typeface="Calibri"/>
              <a:cs typeface="Calibri"/>
              <a:sym typeface="Calibri"/>
            </a:endParaRPr>
          </a:p>
          <a:p>
            <a:pPr indent="-152400" lvl="0" marL="152400" marR="0" rtl="0" algn="l">
              <a:spcBef>
                <a:spcPts val="700"/>
              </a:spcBef>
              <a:spcAft>
                <a:spcPts val="0"/>
              </a:spcAft>
              <a:buClr>
                <a:srgbClr val="23293B"/>
              </a:buClr>
              <a:buSzPts val="1150"/>
              <a:buFont typeface="Calibri"/>
              <a:buChar char="•"/>
            </a:pPr>
            <a:r>
              <a:rPr b="0" i="0" lang="en-US" sz="1150" u="none" cap="none" strike="noStrike">
                <a:solidFill>
                  <a:srgbClr val="23293B"/>
                </a:solidFill>
                <a:latin typeface="Calibri"/>
                <a:ea typeface="Calibri"/>
                <a:cs typeface="Calibri"/>
                <a:sym typeface="Calibri"/>
              </a:rPr>
              <a:t>Full video stream up — bandwidth is expensive</a:t>
            </a:r>
            <a:endParaRPr b="0" i="0" sz="1150" u="none" cap="none" strike="noStrike">
              <a:solidFill>
                <a:schemeClr val="dk1"/>
              </a:solidFill>
              <a:latin typeface="Calibri"/>
              <a:ea typeface="Calibri"/>
              <a:cs typeface="Calibri"/>
              <a:sym typeface="Calibri"/>
            </a:endParaRPr>
          </a:p>
          <a:p>
            <a:pPr indent="-152400" lvl="0" marL="152400" marR="0" rtl="0" algn="l">
              <a:spcBef>
                <a:spcPts val="700"/>
              </a:spcBef>
              <a:spcAft>
                <a:spcPts val="0"/>
              </a:spcAft>
              <a:buClr>
                <a:srgbClr val="23293B"/>
              </a:buClr>
              <a:buSzPts val="1150"/>
              <a:buFont typeface="Calibri"/>
              <a:buChar char="•"/>
            </a:pPr>
            <a:r>
              <a:rPr b="0" i="0" lang="en-US" sz="1150" u="none" cap="none" strike="noStrike">
                <a:solidFill>
                  <a:srgbClr val="23293B"/>
                </a:solidFill>
                <a:latin typeface="Calibri"/>
                <a:ea typeface="Calibri"/>
                <a:cs typeface="Calibri"/>
                <a:sym typeface="Calibri"/>
              </a:rPr>
              <a:t>Frames leave premises — PDPL review needed</a:t>
            </a:r>
            <a:endParaRPr b="0" i="0" sz="1150" u="none" cap="none" strike="noStrike">
              <a:solidFill>
                <a:schemeClr val="dk1"/>
              </a:solidFill>
              <a:latin typeface="Calibri"/>
              <a:ea typeface="Calibri"/>
              <a:cs typeface="Calibri"/>
              <a:sym typeface="Calibri"/>
            </a:endParaRPr>
          </a:p>
          <a:p>
            <a:pPr indent="-152400" lvl="0" marL="152400" marR="0" rtl="0" algn="l">
              <a:spcBef>
                <a:spcPts val="700"/>
              </a:spcBef>
              <a:spcAft>
                <a:spcPts val="0"/>
              </a:spcAft>
              <a:buClr>
                <a:srgbClr val="23293B"/>
              </a:buClr>
              <a:buSzPts val="1150"/>
              <a:buFont typeface="Calibri"/>
              <a:buChar char="•"/>
            </a:pPr>
            <a:r>
              <a:rPr b="0" i="0" lang="en-US" sz="1150" u="none" cap="none" strike="noStrike">
                <a:solidFill>
                  <a:srgbClr val="23293B"/>
                </a:solidFill>
                <a:latin typeface="Calibri"/>
                <a:ea typeface="Calibri"/>
                <a:cs typeface="Calibri"/>
                <a:sym typeface="Calibri"/>
              </a:rPr>
              <a:t>Elastic scaling, but per-request cost forever</a:t>
            </a:r>
            <a:endParaRPr b="0" i="0" sz="1150" u="none" cap="none" strike="noStrike">
              <a:solidFill>
                <a:schemeClr val="dk1"/>
              </a:solidFill>
              <a:latin typeface="Calibri"/>
              <a:ea typeface="Calibri"/>
              <a:cs typeface="Calibri"/>
              <a:sym typeface="Calibri"/>
            </a:endParaRPr>
          </a:p>
          <a:p>
            <a:pPr indent="-152400" lvl="0" marL="152400" marR="0" rtl="0" algn="l">
              <a:spcBef>
                <a:spcPts val="700"/>
              </a:spcBef>
              <a:spcAft>
                <a:spcPts val="0"/>
              </a:spcAft>
              <a:buClr>
                <a:srgbClr val="23293B"/>
              </a:buClr>
              <a:buSzPts val="1150"/>
              <a:buFont typeface="Calibri"/>
              <a:buChar char="•"/>
            </a:pPr>
            <a:r>
              <a:rPr b="0" i="0" lang="en-US" sz="1150" u="none" cap="none" strike="noStrike">
                <a:solidFill>
                  <a:srgbClr val="23293B"/>
                </a:solidFill>
                <a:latin typeface="Calibri"/>
                <a:ea typeface="Calibri"/>
                <a:cs typeface="Calibri"/>
                <a:sym typeface="Calibri"/>
              </a:rPr>
              <a:t>Model updates trivial — redeploy the endpoint</a:t>
            </a:r>
            <a:endParaRPr b="0" i="0" sz="1150" u="none" cap="none" strike="noStrike">
              <a:solidFill>
                <a:schemeClr val="dk1"/>
              </a:solidFill>
              <a:latin typeface="Calibri"/>
              <a:ea typeface="Calibri"/>
              <a:cs typeface="Calibri"/>
              <a:sym typeface="Calibri"/>
            </a:endParaRPr>
          </a:p>
        </p:txBody>
      </p:sp>
      <p:sp>
        <p:nvSpPr>
          <p:cNvPr id="3623" name="Google Shape;3623;p130"/>
          <p:cNvSpPr/>
          <p:nvPr/>
        </p:nvSpPr>
        <p:spPr>
          <a:xfrm>
            <a:off x="6255868" y="1892808"/>
            <a:ext cx="5432908" cy="2880360"/>
          </a:xfrm>
          <a:prstGeom prst="roundRect">
            <a:avLst>
              <a:gd fmla="val 2857" name="adj"/>
            </a:avLst>
          </a:prstGeom>
          <a:solidFill>
            <a:srgbClr val="F2F6F9"/>
          </a:solidFill>
          <a:ln cap="flat" cmpd="sng" w="12700">
            <a:solidFill>
              <a:srgbClr val="D9E2E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24" name="Google Shape;3624;p130"/>
          <p:cNvSpPr/>
          <p:nvPr/>
        </p:nvSpPr>
        <p:spPr>
          <a:xfrm>
            <a:off x="6457036" y="2084832"/>
            <a:ext cx="146304" cy="146304"/>
          </a:xfrm>
          <a:prstGeom prst="ellipse">
            <a:avLst/>
          </a:prstGeom>
          <a:solidFill>
            <a:srgbClr val="29ABE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25" name="Google Shape;3625;p130"/>
          <p:cNvSpPr/>
          <p:nvPr/>
        </p:nvSpPr>
        <p:spPr>
          <a:xfrm>
            <a:off x="6713068" y="1984248"/>
            <a:ext cx="4838548"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D2A5C"/>
              </a:buClr>
              <a:buSzPts val="1400"/>
              <a:buFont typeface="Calibri"/>
              <a:buNone/>
            </a:pPr>
            <a:r>
              <a:rPr b="1" i="0" lang="en-US" sz="1400" u="none" cap="none" strike="noStrike">
                <a:solidFill>
                  <a:srgbClr val="1D2A5C"/>
                </a:solidFill>
                <a:latin typeface="Calibri"/>
                <a:ea typeface="Calibri"/>
                <a:cs typeface="Calibri"/>
                <a:sym typeface="Calibri"/>
              </a:rPr>
              <a:t>Edge box on the line</a:t>
            </a:r>
            <a:endParaRPr b="0" i="0" sz="1400" u="none" cap="none" strike="noStrike">
              <a:solidFill>
                <a:schemeClr val="dk1"/>
              </a:solidFill>
              <a:latin typeface="Calibri"/>
              <a:ea typeface="Calibri"/>
              <a:cs typeface="Calibri"/>
              <a:sym typeface="Calibri"/>
            </a:endParaRPr>
          </a:p>
        </p:txBody>
      </p:sp>
      <p:sp>
        <p:nvSpPr>
          <p:cNvPr id="3626" name="Google Shape;3626;p130"/>
          <p:cNvSpPr/>
          <p:nvPr/>
        </p:nvSpPr>
        <p:spPr>
          <a:xfrm>
            <a:off x="6511900" y="2423160"/>
            <a:ext cx="4975708" cy="2221992"/>
          </a:xfrm>
          <a:prstGeom prst="rect">
            <a:avLst/>
          </a:prstGeom>
          <a:noFill/>
          <a:ln>
            <a:noFill/>
          </a:ln>
        </p:spPr>
        <p:txBody>
          <a:bodyPr anchorCtr="0" anchor="t" bIns="0" lIns="0" spcFirstLastPara="1" rIns="0" wrap="square" tIns="0">
            <a:noAutofit/>
          </a:bodyPr>
          <a:lstStyle/>
          <a:p>
            <a:pPr indent="-152400" lvl="0" marL="152400" marR="0" rtl="0" algn="l">
              <a:spcBef>
                <a:spcPts val="0"/>
              </a:spcBef>
              <a:spcAft>
                <a:spcPts val="0"/>
              </a:spcAft>
              <a:buClr>
                <a:srgbClr val="23293B"/>
              </a:buClr>
              <a:buSzPts val="1150"/>
              <a:buFont typeface="Calibri"/>
              <a:buChar char="•"/>
            </a:pPr>
            <a:r>
              <a:rPr b="0" i="0" lang="en-US" sz="1150" u="none" cap="none" strike="noStrike">
                <a:solidFill>
                  <a:srgbClr val="23293B"/>
                </a:solidFill>
                <a:latin typeface="Calibri"/>
                <a:ea typeface="Calibri"/>
                <a:cs typeface="Calibri"/>
                <a:sym typeface="Calibri"/>
              </a:rPr>
              <a:t>Local, deterministic latency (&lt; 20 ms)</a:t>
            </a:r>
            <a:endParaRPr b="0" i="0" sz="1150" u="none" cap="none" strike="noStrike">
              <a:solidFill>
                <a:schemeClr val="dk1"/>
              </a:solidFill>
              <a:latin typeface="Calibri"/>
              <a:ea typeface="Calibri"/>
              <a:cs typeface="Calibri"/>
              <a:sym typeface="Calibri"/>
            </a:endParaRPr>
          </a:p>
          <a:p>
            <a:pPr indent="-152400" lvl="0" marL="152400" marR="0" rtl="0" algn="l">
              <a:spcBef>
                <a:spcPts val="700"/>
              </a:spcBef>
              <a:spcAft>
                <a:spcPts val="0"/>
              </a:spcAft>
              <a:buClr>
                <a:srgbClr val="23293B"/>
              </a:buClr>
              <a:buSzPts val="1150"/>
              <a:buFont typeface="Calibri"/>
              <a:buChar char="•"/>
            </a:pPr>
            <a:r>
              <a:rPr b="0" i="0" lang="en-US" sz="1150" u="none" cap="none" strike="noStrike">
                <a:solidFill>
                  <a:srgbClr val="23293B"/>
                </a:solidFill>
                <a:latin typeface="Calibri"/>
                <a:ea typeface="Calibri"/>
                <a:cs typeface="Calibri"/>
                <a:sym typeface="Calibri"/>
              </a:rPr>
              <a:t>Structured events only leave the box</a:t>
            </a:r>
            <a:endParaRPr b="0" i="0" sz="1150" u="none" cap="none" strike="noStrike">
              <a:solidFill>
                <a:schemeClr val="dk1"/>
              </a:solidFill>
              <a:latin typeface="Calibri"/>
              <a:ea typeface="Calibri"/>
              <a:cs typeface="Calibri"/>
              <a:sym typeface="Calibri"/>
            </a:endParaRPr>
          </a:p>
          <a:p>
            <a:pPr indent="-152400" lvl="0" marL="152400" marR="0" rtl="0" algn="l">
              <a:spcBef>
                <a:spcPts val="700"/>
              </a:spcBef>
              <a:spcAft>
                <a:spcPts val="0"/>
              </a:spcAft>
              <a:buClr>
                <a:srgbClr val="23293B"/>
              </a:buClr>
              <a:buSzPts val="1150"/>
              <a:buFont typeface="Calibri"/>
              <a:buChar char="•"/>
            </a:pPr>
            <a:r>
              <a:rPr b="0" i="0" lang="en-US" sz="1150" u="none" cap="none" strike="noStrike">
                <a:solidFill>
                  <a:srgbClr val="23293B"/>
                </a:solidFill>
                <a:latin typeface="Calibri"/>
                <a:ea typeface="Calibri"/>
                <a:cs typeface="Calibri"/>
                <a:sym typeface="Calibri"/>
              </a:rPr>
              <a:t>Frames stay on site — residency by design</a:t>
            </a:r>
            <a:endParaRPr b="0" i="0" sz="1150" u="none" cap="none" strike="noStrike">
              <a:solidFill>
                <a:schemeClr val="dk1"/>
              </a:solidFill>
              <a:latin typeface="Calibri"/>
              <a:ea typeface="Calibri"/>
              <a:cs typeface="Calibri"/>
              <a:sym typeface="Calibri"/>
            </a:endParaRPr>
          </a:p>
          <a:p>
            <a:pPr indent="-152400" lvl="0" marL="152400" marR="0" rtl="0" algn="l">
              <a:spcBef>
                <a:spcPts val="700"/>
              </a:spcBef>
              <a:spcAft>
                <a:spcPts val="0"/>
              </a:spcAft>
              <a:buClr>
                <a:srgbClr val="23293B"/>
              </a:buClr>
              <a:buSzPts val="1150"/>
              <a:buFont typeface="Calibri"/>
              <a:buChar char="•"/>
            </a:pPr>
            <a:r>
              <a:rPr b="0" i="0" lang="en-US" sz="1150" u="none" cap="none" strike="noStrike">
                <a:solidFill>
                  <a:srgbClr val="23293B"/>
                </a:solidFill>
                <a:latin typeface="Calibri"/>
                <a:ea typeface="Calibri"/>
                <a:cs typeface="Calibri"/>
                <a:sym typeface="Calibri"/>
              </a:rPr>
              <a:t>Capex once per line, fixed cost</a:t>
            </a:r>
            <a:endParaRPr b="0" i="0" sz="1150" u="none" cap="none" strike="noStrike">
              <a:solidFill>
                <a:schemeClr val="dk1"/>
              </a:solidFill>
              <a:latin typeface="Calibri"/>
              <a:ea typeface="Calibri"/>
              <a:cs typeface="Calibri"/>
              <a:sym typeface="Calibri"/>
            </a:endParaRPr>
          </a:p>
          <a:p>
            <a:pPr indent="-152400" lvl="0" marL="152400" marR="0" rtl="0" algn="l">
              <a:spcBef>
                <a:spcPts val="700"/>
              </a:spcBef>
              <a:spcAft>
                <a:spcPts val="0"/>
              </a:spcAft>
              <a:buClr>
                <a:srgbClr val="23293B"/>
              </a:buClr>
              <a:buSzPts val="1150"/>
              <a:buFont typeface="Calibri"/>
              <a:buChar char="•"/>
            </a:pPr>
            <a:r>
              <a:rPr b="0" i="0" lang="en-US" sz="1150" u="none" cap="none" strike="noStrike">
                <a:solidFill>
                  <a:srgbClr val="23293B"/>
                </a:solidFill>
                <a:latin typeface="Calibri"/>
                <a:ea typeface="Calibri"/>
                <a:cs typeface="Calibri"/>
                <a:sym typeface="Calibri"/>
              </a:rPr>
              <a:t>Hardware is yours: thermal, dust, power, security</a:t>
            </a:r>
            <a:endParaRPr b="0" i="0" sz="1150" u="none" cap="none" strike="noStrike">
              <a:solidFill>
                <a:schemeClr val="dk1"/>
              </a:solidFill>
              <a:latin typeface="Calibri"/>
              <a:ea typeface="Calibri"/>
              <a:cs typeface="Calibri"/>
              <a:sym typeface="Calibri"/>
            </a:endParaRPr>
          </a:p>
        </p:txBody>
      </p:sp>
      <p:sp>
        <p:nvSpPr>
          <p:cNvPr id="3627" name="Google Shape;3627;p130"/>
          <p:cNvSpPr/>
          <p:nvPr/>
        </p:nvSpPr>
        <p:spPr>
          <a:xfrm>
            <a:off x="2717140" y="4937760"/>
            <a:ext cx="6757416" cy="457200"/>
          </a:xfrm>
          <a:prstGeom prst="roundRect">
            <a:avLst>
              <a:gd fmla="val 50000" name="adj"/>
            </a:avLst>
          </a:prstGeom>
          <a:solidFill>
            <a:srgbClr val="FEF3E7"/>
          </a:solidFill>
          <a:ln cap="flat" cmpd="sng" w="15875">
            <a:solidFill>
              <a:srgbClr val="F5822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28" name="Google Shape;3628;p130"/>
          <p:cNvSpPr/>
          <p:nvPr/>
        </p:nvSpPr>
        <p:spPr>
          <a:xfrm>
            <a:off x="2808580" y="4937760"/>
            <a:ext cx="6574536"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B35A0F"/>
              </a:buClr>
              <a:buSzPts val="1200"/>
              <a:buFont typeface="Calibri"/>
              <a:buNone/>
            </a:pPr>
            <a:r>
              <a:rPr b="1" i="0" lang="en-US" sz="1200" u="none" cap="none" strike="noStrike">
                <a:solidFill>
                  <a:srgbClr val="B35A0F"/>
                </a:solidFill>
                <a:latin typeface="Calibri"/>
                <a:ea typeface="Calibri"/>
                <a:cs typeface="Calibri"/>
                <a:sym typeface="Calibri"/>
              </a:rPr>
              <a:t>Edge wins the 380 ms gate; cloud keeps telemetry, retraining, the flywheel</a:t>
            </a:r>
            <a:endParaRPr b="0" i="0" sz="1200" u="none" cap="none" strike="noStrike">
              <a:solidFill>
                <a:schemeClr val="dk1"/>
              </a:solidFill>
              <a:latin typeface="Calibri"/>
              <a:ea typeface="Calibri"/>
              <a:cs typeface="Calibri"/>
              <a:sym typeface="Calibri"/>
            </a:endParaRPr>
          </a:p>
        </p:txBody>
      </p:sp>
    </p:spTree>
  </p:cSld>
  <p:clrMapOvr>
    <a:masterClrMapping/>
  </p:clrMapOvr>
</p:sld>
</file>

<file path=ppt/slides/slide1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633" name="Shape 3633"/>
        <p:cNvGrpSpPr/>
        <p:nvPr/>
      </p:nvGrpSpPr>
      <p:grpSpPr>
        <a:xfrm>
          <a:off x="0" y="0"/>
          <a:ext cx="0" cy="0"/>
          <a:chOff x="0" y="0"/>
          <a:chExt cx="0" cy="0"/>
        </a:xfrm>
      </p:grpSpPr>
      <p:sp>
        <p:nvSpPr>
          <p:cNvPr id="3634" name="Google Shape;3634;p131"/>
          <p:cNvSpPr/>
          <p:nvPr/>
        </p:nvSpPr>
        <p:spPr>
          <a:xfrm>
            <a:off x="502920" y="274320"/>
            <a:ext cx="9646920" cy="56692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D2A5C"/>
              </a:buClr>
              <a:buSzPts val="2700"/>
              <a:buFont typeface="Calibri"/>
              <a:buNone/>
            </a:pPr>
            <a:r>
              <a:rPr b="1" i="0" lang="en-US" sz="2700" u="none" cap="none" strike="noStrike">
                <a:solidFill>
                  <a:srgbClr val="1D2A5C"/>
                </a:solidFill>
                <a:latin typeface="Calibri"/>
                <a:ea typeface="Calibri"/>
                <a:cs typeface="Calibri"/>
                <a:sym typeface="Calibri"/>
              </a:rPr>
              <a:t>ONNX export is a code change; parity is its test</a:t>
            </a:r>
            <a:endParaRPr b="0" i="0" sz="2700" u="none" cap="none" strike="noStrike">
              <a:solidFill>
                <a:schemeClr val="dk1"/>
              </a:solidFill>
              <a:latin typeface="Calibri"/>
              <a:ea typeface="Calibri"/>
              <a:cs typeface="Calibri"/>
              <a:sym typeface="Calibri"/>
            </a:endParaRPr>
          </a:p>
        </p:txBody>
      </p:sp>
      <p:sp>
        <p:nvSpPr>
          <p:cNvPr id="3635" name="Google Shape;3635;p131"/>
          <p:cNvSpPr/>
          <p:nvPr/>
        </p:nvSpPr>
        <p:spPr>
          <a:xfrm>
            <a:off x="502920" y="859536"/>
            <a:ext cx="9646920" cy="31089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F6B7A"/>
              </a:buClr>
              <a:buSzPts val="1250"/>
              <a:buFont typeface="Arial"/>
              <a:buNone/>
            </a:pPr>
            <a:r>
              <a:rPr b="0" i="0" lang="en-US" sz="1250" u="none" cap="none" strike="noStrike">
                <a:solidFill>
                  <a:srgbClr val="5F6B7A"/>
                </a:solidFill>
                <a:latin typeface="Arial"/>
                <a:ea typeface="Arial"/>
                <a:cs typeface="Arial"/>
                <a:sym typeface="Arial"/>
              </a:rPr>
              <a:t>تصدير ONNX واختبار التطابق</a:t>
            </a:r>
            <a:endParaRPr b="0" i="0" sz="1250" u="none" cap="none" strike="noStrike">
              <a:solidFill>
                <a:schemeClr val="dk1"/>
              </a:solidFill>
              <a:latin typeface="Calibri"/>
              <a:ea typeface="Calibri"/>
              <a:cs typeface="Calibri"/>
              <a:sym typeface="Calibri"/>
            </a:endParaRPr>
          </a:p>
        </p:txBody>
      </p:sp>
      <p:pic>
        <p:nvPicPr>
          <p:cNvPr descr="/sessions/blissful-determined-ritchie/build/assets/sdaia_logo.png" id="3636" name="Google Shape;3636;p131"/>
          <p:cNvPicPr preferRelativeResize="0"/>
          <p:nvPr/>
        </p:nvPicPr>
        <p:blipFill rotWithShape="1">
          <a:blip r:embed="rId3">
            <a:alphaModFix/>
          </a:blip>
          <a:srcRect b="0" l="0" r="0" t="0"/>
          <a:stretch/>
        </p:blipFill>
        <p:spPr>
          <a:xfrm>
            <a:off x="10625328" y="310896"/>
            <a:ext cx="1078992" cy="264111"/>
          </a:xfrm>
          <a:prstGeom prst="rect">
            <a:avLst/>
          </a:prstGeom>
          <a:noFill/>
          <a:ln>
            <a:noFill/>
          </a:ln>
        </p:spPr>
      </p:pic>
      <p:sp>
        <p:nvSpPr>
          <p:cNvPr id="3637" name="Google Shape;3637;p131"/>
          <p:cNvSpPr/>
          <p:nvPr/>
        </p:nvSpPr>
        <p:spPr>
          <a:xfrm>
            <a:off x="502920" y="6528816"/>
            <a:ext cx="8686800"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A79D"/>
              </a:buClr>
              <a:buSzPts val="800"/>
              <a:buFont typeface="Calibri"/>
              <a:buNone/>
            </a:pPr>
            <a:r>
              <a:rPr b="1" i="0" lang="en-US" sz="800" u="none" cap="none" strike="noStrike">
                <a:solidFill>
                  <a:srgbClr val="00A79D"/>
                </a:solidFill>
                <a:latin typeface="Calibri"/>
                <a:ea typeface="Calibri"/>
                <a:cs typeface="Calibri"/>
                <a:sym typeface="Calibri"/>
              </a:rPr>
              <a:t>MODULE 7   </a:t>
            </a:r>
            <a:r>
              <a:rPr b="0" i="0" lang="en-US" sz="800" u="none" cap="none" strike="noStrike">
                <a:solidFill>
                  <a:srgbClr val="8A96A6"/>
                </a:solidFill>
                <a:latin typeface="Calibri"/>
                <a:ea typeface="Calibri"/>
                <a:cs typeface="Calibri"/>
                <a:sym typeface="Calibri"/>
              </a:rPr>
              <a:t>SDA-AIE-212 · Computer Vision Systems Development</a:t>
            </a:r>
            <a:endParaRPr b="0" i="0" sz="800" u="none" cap="none" strike="noStrike">
              <a:solidFill>
                <a:schemeClr val="dk1"/>
              </a:solidFill>
              <a:latin typeface="Calibri"/>
              <a:ea typeface="Calibri"/>
              <a:cs typeface="Calibri"/>
              <a:sym typeface="Calibri"/>
            </a:endParaRPr>
          </a:p>
        </p:txBody>
      </p:sp>
      <p:sp>
        <p:nvSpPr>
          <p:cNvPr id="3638" name="Google Shape;3638;p131"/>
          <p:cNvSpPr/>
          <p:nvPr/>
        </p:nvSpPr>
        <p:spPr>
          <a:xfrm>
            <a:off x="11292840" y="6528816"/>
            <a:ext cx="411480" cy="219456"/>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8A96A6"/>
              </a:buClr>
              <a:buSzPts val="900"/>
              <a:buFont typeface="Calibri"/>
              <a:buNone/>
            </a:pPr>
            <a:r>
              <a:rPr b="0" i="0" lang="en-US" sz="900" u="none" cap="none" strike="noStrike">
                <a:solidFill>
                  <a:srgbClr val="8A96A6"/>
                </a:solidFill>
                <a:latin typeface="Calibri"/>
                <a:ea typeface="Calibri"/>
                <a:cs typeface="Calibri"/>
                <a:sym typeface="Calibri"/>
              </a:rPr>
              <a:t>131</a:t>
            </a:r>
            <a:endParaRPr b="0" i="0" sz="900" u="none" cap="none" strike="noStrike">
              <a:solidFill>
                <a:schemeClr val="dk1"/>
              </a:solidFill>
              <a:latin typeface="Calibri"/>
              <a:ea typeface="Calibri"/>
              <a:cs typeface="Calibri"/>
              <a:sym typeface="Calibri"/>
            </a:endParaRPr>
          </a:p>
        </p:txBody>
      </p:sp>
      <p:sp>
        <p:nvSpPr>
          <p:cNvPr id="3639" name="Google Shape;3639;p131"/>
          <p:cNvSpPr/>
          <p:nvPr/>
        </p:nvSpPr>
        <p:spPr>
          <a:xfrm>
            <a:off x="502920" y="1559052"/>
            <a:ext cx="329184" cy="329184"/>
          </a:xfrm>
          <a:prstGeom prst="ellipse">
            <a:avLst/>
          </a:prstGeom>
          <a:solidFill>
            <a:srgbClr val="00A79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40" name="Google Shape;3640;p131"/>
          <p:cNvSpPr/>
          <p:nvPr/>
        </p:nvSpPr>
        <p:spPr>
          <a:xfrm>
            <a:off x="502920" y="1559052"/>
            <a:ext cx="329184" cy="32918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300"/>
              <a:buFont typeface="Calibri"/>
              <a:buNone/>
            </a:pPr>
            <a:r>
              <a:rPr b="1" i="0" lang="en-US" sz="1300" u="none" cap="none" strike="noStrike">
                <a:solidFill>
                  <a:srgbClr val="FFFFFF"/>
                </a:solidFill>
                <a:latin typeface="Calibri"/>
                <a:ea typeface="Calibri"/>
                <a:cs typeface="Calibri"/>
                <a:sym typeface="Calibri"/>
              </a:rPr>
              <a:t>1</a:t>
            </a:r>
            <a:endParaRPr b="0" i="0" sz="1300" u="none" cap="none" strike="noStrike">
              <a:solidFill>
                <a:schemeClr val="dk1"/>
              </a:solidFill>
              <a:latin typeface="Calibri"/>
              <a:ea typeface="Calibri"/>
              <a:cs typeface="Calibri"/>
              <a:sym typeface="Calibri"/>
            </a:endParaRPr>
          </a:p>
        </p:txBody>
      </p:sp>
      <p:sp>
        <p:nvSpPr>
          <p:cNvPr id="3641" name="Google Shape;3641;p131"/>
          <p:cNvSpPr/>
          <p:nvPr/>
        </p:nvSpPr>
        <p:spPr>
          <a:xfrm>
            <a:off x="1005840" y="1495044"/>
            <a:ext cx="493776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D2A5C"/>
              </a:buClr>
              <a:buSzPts val="1400"/>
              <a:buFont typeface="Calibri"/>
              <a:buNone/>
            </a:pPr>
            <a:r>
              <a:rPr b="1" i="0" lang="en-US" sz="1400" u="none" cap="none" strike="noStrike">
                <a:solidFill>
                  <a:srgbClr val="1D2A5C"/>
                </a:solidFill>
                <a:latin typeface="Calibri"/>
                <a:ea typeface="Calibri"/>
                <a:cs typeface="Calibri"/>
                <a:sym typeface="Calibri"/>
              </a:rPr>
              <a:t>Rule 1 — parity or it didn't happen</a:t>
            </a:r>
            <a:endParaRPr b="0" i="0" sz="1400" u="none" cap="none" strike="noStrike">
              <a:solidFill>
                <a:schemeClr val="dk1"/>
              </a:solidFill>
              <a:latin typeface="Calibri"/>
              <a:ea typeface="Calibri"/>
              <a:cs typeface="Calibri"/>
              <a:sym typeface="Calibri"/>
            </a:endParaRPr>
          </a:p>
        </p:txBody>
      </p:sp>
      <p:sp>
        <p:nvSpPr>
          <p:cNvPr id="3642" name="Google Shape;3642;p131"/>
          <p:cNvSpPr/>
          <p:nvPr/>
        </p:nvSpPr>
        <p:spPr>
          <a:xfrm>
            <a:off x="1005840" y="1796796"/>
            <a:ext cx="4937760" cy="841248"/>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5F6B7A"/>
              </a:buClr>
              <a:buSzPts val="1150"/>
              <a:buFont typeface="Calibri"/>
              <a:buNone/>
            </a:pPr>
            <a:r>
              <a:rPr b="0" i="0" lang="en-US" sz="1150" u="none" cap="none" strike="noStrike">
                <a:solidFill>
                  <a:srgbClr val="5F6B7A"/>
                </a:solidFill>
                <a:latin typeface="Calibri"/>
                <a:ea typeface="Calibri"/>
                <a:cs typeface="Calibri"/>
                <a:sym typeface="Calibri"/>
              </a:rPr>
              <a:t>N real val images through PyTorch and ORT: max diff &lt; 1e-4 AND zero decision flips.</a:t>
            </a:r>
            <a:endParaRPr b="0" i="0" sz="1150" u="none" cap="none" strike="noStrike">
              <a:solidFill>
                <a:schemeClr val="dk1"/>
              </a:solidFill>
              <a:latin typeface="Calibri"/>
              <a:ea typeface="Calibri"/>
              <a:cs typeface="Calibri"/>
              <a:sym typeface="Calibri"/>
            </a:endParaRPr>
          </a:p>
        </p:txBody>
      </p:sp>
      <p:sp>
        <p:nvSpPr>
          <p:cNvPr id="3643" name="Google Shape;3643;p131"/>
          <p:cNvSpPr/>
          <p:nvPr/>
        </p:nvSpPr>
        <p:spPr>
          <a:xfrm>
            <a:off x="502920" y="2747772"/>
            <a:ext cx="329184" cy="329184"/>
          </a:xfrm>
          <a:prstGeom prst="ellipse">
            <a:avLst/>
          </a:prstGeom>
          <a:solidFill>
            <a:srgbClr val="29ABE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44" name="Google Shape;3644;p131"/>
          <p:cNvSpPr/>
          <p:nvPr/>
        </p:nvSpPr>
        <p:spPr>
          <a:xfrm>
            <a:off x="502920" y="2747772"/>
            <a:ext cx="329184" cy="32918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300"/>
              <a:buFont typeface="Calibri"/>
              <a:buNone/>
            </a:pPr>
            <a:r>
              <a:rPr b="1" i="0" lang="en-US" sz="1300" u="none" cap="none" strike="noStrike">
                <a:solidFill>
                  <a:srgbClr val="FFFFFF"/>
                </a:solidFill>
                <a:latin typeface="Calibri"/>
                <a:ea typeface="Calibri"/>
                <a:cs typeface="Calibri"/>
                <a:sym typeface="Calibri"/>
              </a:rPr>
              <a:t>2</a:t>
            </a:r>
            <a:endParaRPr b="0" i="0" sz="1300" u="none" cap="none" strike="noStrike">
              <a:solidFill>
                <a:schemeClr val="dk1"/>
              </a:solidFill>
              <a:latin typeface="Calibri"/>
              <a:ea typeface="Calibri"/>
              <a:cs typeface="Calibri"/>
              <a:sym typeface="Calibri"/>
            </a:endParaRPr>
          </a:p>
        </p:txBody>
      </p:sp>
      <p:sp>
        <p:nvSpPr>
          <p:cNvPr id="3645" name="Google Shape;3645;p131"/>
          <p:cNvSpPr/>
          <p:nvPr/>
        </p:nvSpPr>
        <p:spPr>
          <a:xfrm>
            <a:off x="1005840" y="2683764"/>
            <a:ext cx="493776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D2A5C"/>
              </a:buClr>
              <a:buSzPts val="1400"/>
              <a:buFont typeface="Calibri"/>
              <a:buNone/>
            </a:pPr>
            <a:r>
              <a:rPr b="1" i="0" lang="en-US" sz="1400" u="none" cap="none" strike="noStrike">
                <a:solidFill>
                  <a:srgbClr val="1D2A5C"/>
                </a:solidFill>
                <a:latin typeface="Calibri"/>
                <a:ea typeface="Calibri"/>
                <a:cs typeface="Calibri"/>
                <a:sym typeface="Calibri"/>
              </a:rPr>
              <a:t>Rule 2 — the contract crosses too</a:t>
            </a:r>
            <a:endParaRPr b="0" i="0" sz="1400" u="none" cap="none" strike="noStrike">
              <a:solidFill>
                <a:schemeClr val="dk1"/>
              </a:solidFill>
              <a:latin typeface="Calibri"/>
              <a:ea typeface="Calibri"/>
              <a:cs typeface="Calibri"/>
              <a:sym typeface="Calibri"/>
            </a:endParaRPr>
          </a:p>
        </p:txBody>
      </p:sp>
      <p:sp>
        <p:nvSpPr>
          <p:cNvPr id="3646" name="Google Shape;3646;p131"/>
          <p:cNvSpPr/>
          <p:nvPr/>
        </p:nvSpPr>
        <p:spPr>
          <a:xfrm>
            <a:off x="1005840" y="2985516"/>
            <a:ext cx="4937760" cy="841248"/>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5F6B7A"/>
              </a:buClr>
              <a:buSzPts val="1150"/>
              <a:buFont typeface="Calibri"/>
              <a:buNone/>
            </a:pPr>
            <a:r>
              <a:rPr b="0" i="0" lang="en-US" sz="1150" u="none" cap="none" strike="noStrike">
                <a:solidFill>
                  <a:srgbClr val="5F6B7A"/>
                </a:solidFill>
                <a:latin typeface="Calibri"/>
                <a:ea typeface="Calibri"/>
                <a:cs typeface="Calibri"/>
                <a:sym typeface="Calibri"/>
              </a:rPr>
              <a:t>The wrapper reimplements eval_tf() in OpenCV; equivalence-test it on real images.</a:t>
            </a:r>
            <a:endParaRPr b="0" i="0" sz="1150" u="none" cap="none" strike="noStrike">
              <a:solidFill>
                <a:schemeClr val="dk1"/>
              </a:solidFill>
              <a:latin typeface="Calibri"/>
              <a:ea typeface="Calibri"/>
              <a:cs typeface="Calibri"/>
              <a:sym typeface="Calibri"/>
            </a:endParaRPr>
          </a:p>
        </p:txBody>
      </p:sp>
      <p:sp>
        <p:nvSpPr>
          <p:cNvPr id="3647" name="Google Shape;3647;p131"/>
          <p:cNvSpPr/>
          <p:nvPr/>
        </p:nvSpPr>
        <p:spPr>
          <a:xfrm>
            <a:off x="502920" y="3936492"/>
            <a:ext cx="329184" cy="329184"/>
          </a:xfrm>
          <a:prstGeom prst="ellipse">
            <a:avLst/>
          </a:prstGeom>
          <a:solidFill>
            <a:srgbClr val="F5822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48" name="Google Shape;3648;p131"/>
          <p:cNvSpPr/>
          <p:nvPr/>
        </p:nvSpPr>
        <p:spPr>
          <a:xfrm>
            <a:off x="502920" y="3936492"/>
            <a:ext cx="329184" cy="32918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300"/>
              <a:buFont typeface="Calibri"/>
              <a:buNone/>
            </a:pPr>
            <a:r>
              <a:rPr b="1" i="0" lang="en-US" sz="1300" u="none" cap="none" strike="noStrike">
                <a:solidFill>
                  <a:srgbClr val="FFFFFF"/>
                </a:solidFill>
                <a:latin typeface="Calibri"/>
                <a:ea typeface="Calibri"/>
                <a:cs typeface="Calibri"/>
                <a:sym typeface="Calibri"/>
              </a:rPr>
              <a:t>3</a:t>
            </a:r>
            <a:endParaRPr b="0" i="0" sz="1300" u="none" cap="none" strike="noStrike">
              <a:solidFill>
                <a:schemeClr val="dk1"/>
              </a:solidFill>
              <a:latin typeface="Calibri"/>
              <a:ea typeface="Calibri"/>
              <a:cs typeface="Calibri"/>
              <a:sym typeface="Calibri"/>
            </a:endParaRPr>
          </a:p>
        </p:txBody>
      </p:sp>
      <p:sp>
        <p:nvSpPr>
          <p:cNvPr id="3649" name="Google Shape;3649;p131"/>
          <p:cNvSpPr/>
          <p:nvPr/>
        </p:nvSpPr>
        <p:spPr>
          <a:xfrm>
            <a:off x="1005840" y="3872484"/>
            <a:ext cx="493776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D2A5C"/>
              </a:buClr>
              <a:buSzPts val="1400"/>
              <a:buFont typeface="Calibri"/>
              <a:buNone/>
            </a:pPr>
            <a:r>
              <a:rPr b="1" i="0" lang="en-US" sz="1400" u="none" cap="none" strike="noStrike">
                <a:solidFill>
                  <a:srgbClr val="1D2A5C"/>
                </a:solidFill>
                <a:latin typeface="Calibri"/>
                <a:ea typeface="Calibri"/>
                <a:cs typeface="Calibri"/>
                <a:sym typeface="Calibri"/>
              </a:rPr>
              <a:t>Keep NMS out of the graph</a:t>
            </a:r>
            <a:endParaRPr b="0" i="0" sz="1400" u="none" cap="none" strike="noStrike">
              <a:solidFill>
                <a:schemeClr val="dk1"/>
              </a:solidFill>
              <a:latin typeface="Calibri"/>
              <a:ea typeface="Calibri"/>
              <a:cs typeface="Calibri"/>
              <a:sym typeface="Calibri"/>
            </a:endParaRPr>
          </a:p>
        </p:txBody>
      </p:sp>
      <p:sp>
        <p:nvSpPr>
          <p:cNvPr id="3650" name="Google Shape;3650;p131"/>
          <p:cNvSpPr/>
          <p:nvPr/>
        </p:nvSpPr>
        <p:spPr>
          <a:xfrm>
            <a:off x="1005840" y="4174236"/>
            <a:ext cx="4937760" cy="841248"/>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5F6B7A"/>
              </a:buClr>
              <a:buSzPts val="1150"/>
              <a:buFont typeface="Calibri"/>
              <a:buNone/>
            </a:pPr>
            <a:r>
              <a:rPr b="0" i="0" lang="en-US" sz="1150" u="none" cap="none" strike="noStrike">
                <a:solidFill>
                  <a:srgbClr val="5F6B7A"/>
                </a:solidFill>
                <a:latin typeface="Calibri"/>
                <a:ea typeface="Calibri"/>
                <a:cs typeface="Calibri"/>
                <a:sym typeface="Calibri"/>
              </a:rPr>
              <a:t>Export nms=False — the operating point stays tunable in config (M3), not baked in.</a:t>
            </a:r>
            <a:endParaRPr b="0" i="0" sz="1150" u="none" cap="none" strike="noStrike">
              <a:solidFill>
                <a:schemeClr val="dk1"/>
              </a:solidFill>
              <a:latin typeface="Calibri"/>
              <a:ea typeface="Calibri"/>
              <a:cs typeface="Calibri"/>
              <a:sym typeface="Calibri"/>
            </a:endParaRPr>
          </a:p>
        </p:txBody>
      </p:sp>
      <p:sp>
        <p:nvSpPr>
          <p:cNvPr id="3651" name="Google Shape;3651;p131"/>
          <p:cNvSpPr/>
          <p:nvPr/>
        </p:nvSpPr>
        <p:spPr>
          <a:xfrm>
            <a:off x="502920" y="5125212"/>
            <a:ext cx="329184" cy="329184"/>
          </a:xfrm>
          <a:prstGeom prst="ellipse">
            <a:avLst/>
          </a:prstGeom>
          <a:solidFill>
            <a:srgbClr val="8DC63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52" name="Google Shape;3652;p131"/>
          <p:cNvSpPr/>
          <p:nvPr/>
        </p:nvSpPr>
        <p:spPr>
          <a:xfrm>
            <a:off x="502920" y="5125212"/>
            <a:ext cx="329184" cy="32918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300"/>
              <a:buFont typeface="Calibri"/>
              <a:buNone/>
            </a:pPr>
            <a:r>
              <a:rPr b="1" i="0" lang="en-US" sz="1300" u="none" cap="none" strike="noStrike">
                <a:solidFill>
                  <a:srgbClr val="FFFFFF"/>
                </a:solidFill>
                <a:latin typeface="Calibri"/>
                <a:ea typeface="Calibri"/>
                <a:cs typeface="Calibri"/>
                <a:sym typeface="Calibri"/>
              </a:rPr>
              <a:t>4</a:t>
            </a:r>
            <a:endParaRPr b="0" i="0" sz="1300" u="none" cap="none" strike="noStrike">
              <a:solidFill>
                <a:schemeClr val="dk1"/>
              </a:solidFill>
              <a:latin typeface="Calibri"/>
              <a:ea typeface="Calibri"/>
              <a:cs typeface="Calibri"/>
              <a:sym typeface="Calibri"/>
            </a:endParaRPr>
          </a:p>
        </p:txBody>
      </p:sp>
      <p:sp>
        <p:nvSpPr>
          <p:cNvPr id="3653" name="Google Shape;3653;p131"/>
          <p:cNvSpPr/>
          <p:nvPr/>
        </p:nvSpPr>
        <p:spPr>
          <a:xfrm>
            <a:off x="1005840" y="5061204"/>
            <a:ext cx="493776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D2A5C"/>
              </a:buClr>
              <a:buSzPts val="1400"/>
              <a:buFont typeface="Calibri"/>
              <a:buNone/>
            </a:pPr>
            <a:r>
              <a:rPr b="1" i="0" lang="en-US" sz="1400" u="none" cap="none" strike="noStrike">
                <a:solidFill>
                  <a:srgbClr val="1D2A5C"/>
                </a:solidFill>
                <a:latin typeface="Calibri"/>
                <a:ea typeface="Calibri"/>
                <a:cs typeface="Calibri"/>
                <a:sym typeface="Calibri"/>
              </a:rPr>
              <a:t>Fix shapes on a single-camera line</a:t>
            </a:r>
            <a:endParaRPr b="0" i="0" sz="1400" u="none" cap="none" strike="noStrike">
              <a:solidFill>
                <a:schemeClr val="dk1"/>
              </a:solidFill>
              <a:latin typeface="Calibri"/>
              <a:ea typeface="Calibri"/>
              <a:cs typeface="Calibri"/>
              <a:sym typeface="Calibri"/>
            </a:endParaRPr>
          </a:p>
        </p:txBody>
      </p:sp>
      <p:sp>
        <p:nvSpPr>
          <p:cNvPr id="3654" name="Google Shape;3654;p131"/>
          <p:cNvSpPr/>
          <p:nvPr/>
        </p:nvSpPr>
        <p:spPr>
          <a:xfrm>
            <a:off x="1005840" y="5362956"/>
            <a:ext cx="4937760" cy="841248"/>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5F6B7A"/>
              </a:buClr>
              <a:buSzPts val="1150"/>
              <a:buFont typeface="Calibri"/>
              <a:buNone/>
            </a:pPr>
            <a:r>
              <a:rPr b="0" i="0" lang="en-US" sz="1150" u="none" cap="none" strike="noStrike">
                <a:solidFill>
                  <a:srgbClr val="5F6B7A"/>
                </a:solidFill>
                <a:latin typeface="Calibri"/>
                <a:ea typeface="Calibri"/>
                <a:cs typeface="Calibri"/>
                <a:sym typeface="Calibri"/>
              </a:rPr>
              <a:t>Fixed shapes enable more aggressive runtime optimisation; pin the opset.</a:t>
            </a:r>
            <a:endParaRPr b="0" i="0" sz="1150" u="none" cap="none" strike="noStrike">
              <a:solidFill>
                <a:schemeClr val="dk1"/>
              </a:solidFill>
              <a:latin typeface="Calibri"/>
              <a:ea typeface="Calibri"/>
              <a:cs typeface="Calibri"/>
              <a:sym typeface="Calibri"/>
            </a:endParaRPr>
          </a:p>
        </p:txBody>
      </p:sp>
      <p:sp>
        <p:nvSpPr>
          <p:cNvPr id="3655" name="Google Shape;3655;p131"/>
          <p:cNvSpPr/>
          <p:nvPr/>
        </p:nvSpPr>
        <p:spPr>
          <a:xfrm>
            <a:off x="6355080" y="2866644"/>
            <a:ext cx="1044702" cy="1371600"/>
          </a:xfrm>
          <a:prstGeom prst="roundRect">
            <a:avLst>
              <a:gd fmla="val 6127" name="adj"/>
            </a:avLst>
          </a:prstGeom>
          <a:solidFill>
            <a:srgbClr val="F2F6F9"/>
          </a:solidFill>
          <a:ln cap="flat" cmpd="sng" w="15875">
            <a:solidFill>
              <a:srgbClr val="00A79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56" name="Google Shape;3656;p131"/>
          <p:cNvSpPr/>
          <p:nvPr/>
        </p:nvSpPr>
        <p:spPr>
          <a:xfrm>
            <a:off x="6428232" y="2921508"/>
            <a:ext cx="898398" cy="6172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D2A5C"/>
              </a:buClr>
              <a:buSzPts val="1250"/>
              <a:buFont typeface="Calibri"/>
              <a:buNone/>
            </a:pPr>
            <a:r>
              <a:rPr b="1" i="0" lang="en-US" sz="1250" u="none" cap="none" strike="noStrike">
                <a:solidFill>
                  <a:srgbClr val="1D2A5C"/>
                </a:solidFill>
                <a:latin typeface="Calibri"/>
                <a:ea typeface="Calibri"/>
                <a:cs typeface="Calibri"/>
                <a:sym typeface="Calibri"/>
              </a:rPr>
              <a:t>Training world</a:t>
            </a:r>
            <a:endParaRPr b="0" i="0" sz="1250" u="none" cap="none" strike="noStrike">
              <a:solidFill>
                <a:schemeClr val="dk1"/>
              </a:solidFill>
              <a:latin typeface="Calibri"/>
              <a:ea typeface="Calibri"/>
              <a:cs typeface="Calibri"/>
              <a:sym typeface="Calibri"/>
            </a:endParaRPr>
          </a:p>
        </p:txBody>
      </p:sp>
      <p:sp>
        <p:nvSpPr>
          <p:cNvPr id="3657" name="Google Shape;3657;p131"/>
          <p:cNvSpPr/>
          <p:nvPr/>
        </p:nvSpPr>
        <p:spPr>
          <a:xfrm>
            <a:off x="6428232" y="3525012"/>
            <a:ext cx="898398" cy="658368"/>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rgbClr val="5F6B7A"/>
              </a:buClr>
              <a:buSzPts val="950"/>
              <a:buFont typeface="Calibri"/>
              <a:buNone/>
            </a:pPr>
            <a:r>
              <a:rPr b="0" i="0" lang="en-US" sz="950" u="none" cap="none" strike="noStrike">
                <a:solidFill>
                  <a:srgbClr val="5F6B7A"/>
                </a:solidFill>
                <a:latin typeface="Calibri"/>
                <a:ea typeface="Calibri"/>
                <a:cs typeface="Calibri"/>
                <a:sym typeface="Calibri"/>
              </a:rPr>
              <a:t>PyTorch · GPU</a:t>
            </a:r>
            <a:endParaRPr b="0" i="0" sz="950" u="none" cap="none" strike="noStrike">
              <a:solidFill>
                <a:schemeClr val="dk1"/>
              </a:solidFill>
              <a:latin typeface="Calibri"/>
              <a:ea typeface="Calibri"/>
              <a:cs typeface="Calibri"/>
              <a:sym typeface="Calibri"/>
            </a:endParaRPr>
          </a:p>
        </p:txBody>
      </p:sp>
      <p:cxnSp>
        <p:nvCxnSpPr>
          <p:cNvPr id="3658" name="Google Shape;3658;p131"/>
          <p:cNvCxnSpPr/>
          <p:nvPr/>
        </p:nvCxnSpPr>
        <p:spPr>
          <a:xfrm>
            <a:off x="7454646" y="3552444"/>
            <a:ext cx="274320" cy="0"/>
          </a:xfrm>
          <a:prstGeom prst="straightConnector1">
            <a:avLst/>
          </a:prstGeom>
          <a:noFill/>
          <a:ln cap="flat" cmpd="sng" w="19050">
            <a:solidFill>
              <a:srgbClr val="8A96A6"/>
            </a:solidFill>
            <a:prstDash val="solid"/>
            <a:round/>
            <a:headEnd len="sm" w="sm" type="none"/>
            <a:tailEnd len="med" w="med" type="triangle"/>
          </a:ln>
        </p:spPr>
      </p:cxnSp>
      <p:sp>
        <p:nvSpPr>
          <p:cNvPr id="3659" name="Google Shape;3659;p131"/>
          <p:cNvSpPr/>
          <p:nvPr/>
        </p:nvSpPr>
        <p:spPr>
          <a:xfrm>
            <a:off x="7783830" y="2866644"/>
            <a:ext cx="1044702" cy="1371600"/>
          </a:xfrm>
          <a:prstGeom prst="roundRect">
            <a:avLst>
              <a:gd fmla="val 6127" name="adj"/>
            </a:avLst>
          </a:prstGeom>
          <a:solidFill>
            <a:srgbClr val="F2F6F9"/>
          </a:solidFill>
          <a:ln cap="flat" cmpd="sng" w="15875">
            <a:solidFill>
              <a:srgbClr val="00A79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60" name="Google Shape;3660;p131"/>
          <p:cNvSpPr/>
          <p:nvPr/>
        </p:nvSpPr>
        <p:spPr>
          <a:xfrm>
            <a:off x="7856982" y="2921508"/>
            <a:ext cx="898398" cy="6172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D2A5C"/>
              </a:buClr>
              <a:buSzPts val="1250"/>
              <a:buFont typeface="Calibri"/>
              <a:buNone/>
            </a:pPr>
            <a:r>
              <a:rPr b="1" i="0" lang="en-US" sz="1250" u="none" cap="none" strike="noStrike">
                <a:solidFill>
                  <a:srgbClr val="1D2A5C"/>
                </a:solidFill>
                <a:latin typeface="Calibri"/>
                <a:ea typeface="Calibri"/>
                <a:cs typeface="Calibri"/>
                <a:sym typeface="Calibri"/>
              </a:rPr>
              <a:t>Export gate</a:t>
            </a:r>
            <a:endParaRPr b="0" i="0" sz="1250" u="none" cap="none" strike="noStrike">
              <a:solidFill>
                <a:schemeClr val="dk1"/>
              </a:solidFill>
              <a:latin typeface="Calibri"/>
              <a:ea typeface="Calibri"/>
              <a:cs typeface="Calibri"/>
              <a:sym typeface="Calibri"/>
            </a:endParaRPr>
          </a:p>
        </p:txBody>
      </p:sp>
      <p:sp>
        <p:nvSpPr>
          <p:cNvPr id="3661" name="Google Shape;3661;p131"/>
          <p:cNvSpPr/>
          <p:nvPr/>
        </p:nvSpPr>
        <p:spPr>
          <a:xfrm>
            <a:off x="7856982" y="3525012"/>
            <a:ext cx="898398" cy="658368"/>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rgbClr val="5F6B7A"/>
              </a:buClr>
              <a:buSzPts val="950"/>
              <a:buFont typeface="Calibri"/>
              <a:buNone/>
            </a:pPr>
            <a:r>
              <a:rPr b="0" i="0" lang="en-US" sz="950" u="none" cap="none" strike="noStrike">
                <a:solidFill>
                  <a:srgbClr val="5F6B7A"/>
                </a:solidFill>
                <a:latin typeface="Calibri"/>
                <a:ea typeface="Calibri"/>
                <a:cs typeface="Calibri"/>
                <a:sym typeface="Calibri"/>
              </a:rPr>
              <a:t>parity tests</a:t>
            </a:r>
            <a:endParaRPr b="0" i="0" sz="950" u="none" cap="none" strike="noStrike">
              <a:solidFill>
                <a:schemeClr val="dk1"/>
              </a:solidFill>
              <a:latin typeface="Calibri"/>
              <a:ea typeface="Calibri"/>
              <a:cs typeface="Calibri"/>
              <a:sym typeface="Calibri"/>
            </a:endParaRPr>
          </a:p>
        </p:txBody>
      </p:sp>
      <p:cxnSp>
        <p:nvCxnSpPr>
          <p:cNvPr id="3662" name="Google Shape;3662;p131"/>
          <p:cNvCxnSpPr/>
          <p:nvPr/>
        </p:nvCxnSpPr>
        <p:spPr>
          <a:xfrm>
            <a:off x="8883396" y="3552444"/>
            <a:ext cx="274320" cy="0"/>
          </a:xfrm>
          <a:prstGeom prst="straightConnector1">
            <a:avLst/>
          </a:prstGeom>
          <a:noFill/>
          <a:ln cap="flat" cmpd="sng" w="19050">
            <a:solidFill>
              <a:srgbClr val="8A96A6"/>
            </a:solidFill>
            <a:prstDash val="solid"/>
            <a:round/>
            <a:headEnd len="sm" w="sm" type="none"/>
            <a:tailEnd len="med" w="med" type="triangle"/>
          </a:ln>
        </p:spPr>
      </p:cxnSp>
      <p:cxnSp>
        <p:nvCxnSpPr>
          <p:cNvPr id="3663" name="Google Shape;3663;p131"/>
          <p:cNvCxnSpPr/>
          <p:nvPr/>
        </p:nvCxnSpPr>
        <p:spPr>
          <a:xfrm>
            <a:off x="8306181" y="4238244"/>
            <a:ext cx="0" cy="274320"/>
          </a:xfrm>
          <a:prstGeom prst="straightConnector1">
            <a:avLst/>
          </a:prstGeom>
          <a:noFill/>
          <a:ln cap="flat" cmpd="sng" w="15875">
            <a:solidFill>
              <a:srgbClr val="E8503A"/>
            </a:solidFill>
            <a:prstDash val="dash"/>
            <a:round/>
            <a:headEnd len="sm" w="sm" type="none"/>
            <a:tailEnd len="sm" w="sm" type="none"/>
          </a:ln>
        </p:spPr>
      </p:cxnSp>
      <p:sp>
        <p:nvSpPr>
          <p:cNvPr id="3664" name="Google Shape;3664;p131"/>
          <p:cNvSpPr/>
          <p:nvPr/>
        </p:nvSpPr>
        <p:spPr>
          <a:xfrm>
            <a:off x="7738110" y="4512564"/>
            <a:ext cx="1136142" cy="475488"/>
          </a:xfrm>
          <a:prstGeom prst="roundRect">
            <a:avLst>
              <a:gd fmla="val 11538" name="adj"/>
            </a:avLst>
          </a:prstGeom>
          <a:solidFill>
            <a:srgbClr val="FDEDEA"/>
          </a:solidFill>
          <a:ln cap="flat" cmpd="sng" w="12700">
            <a:solidFill>
              <a:srgbClr val="E8503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65" name="Google Shape;3665;p131"/>
          <p:cNvSpPr/>
          <p:nvPr/>
        </p:nvSpPr>
        <p:spPr>
          <a:xfrm>
            <a:off x="7783830" y="4512564"/>
            <a:ext cx="1044702" cy="47548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E8503A"/>
              </a:buClr>
              <a:buSzPts val="950"/>
              <a:buFont typeface="Calibri"/>
              <a:buNone/>
            </a:pPr>
            <a:r>
              <a:rPr b="1" i="0" lang="en-US" sz="950" u="none" cap="none" strike="noStrike">
                <a:solidFill>
                  <a:srgbClr val="E8503A"/>
                </a:solidFill>
                <a:latin typeface="Calibri"/>
                <a:ea typeface="Calibri"/>
                <a:cs typeface="Calibri"/>
                <a:sym typeface="Calibri"/>
              </a:rPr>
              <a:t>train-mode export: random decision flips</a:t>
            </a:r>
            <a:endParaRPr b="0" i="0" sz="950" u="none" cap="none" strike="noStrike">
              <a:solidFill>
                <a:schemeClr val="dk1"/>
              </a:solidFill>
              <a:latin typeface="Calibri"/>
              <a:ea typeface="Calibri"/>
              <a:cs typeface="Calibri"/>
              <a:sym typeface="Calibri"/>
            </a:endParaRPr>
          </a:p>
        </p:txBody>
      </p:sp>
      <p:sp>
        <p:nvSpPr>
          <p:cNvPr id="3666" name="Google Shape;3666;p131"/>
          <p:cNvSpPr/>
          <p:nvPr/>
        </p:nvSpPr>
        <p:spPr>
          <a:xfrm>
            <a:off x="9212580" y="2866644"/>
            <a:ext cx="1044702" cy="1371600"/>
          </a:xfrm>
          <a:prstGeom prst="roundRect">
            <a:avLst>
              <a:gd fmla="val 6127" name="adj"/>
            </a:avLst>
          </a:prstGeom>
          <a:solidFill>
            <a:srgbClr val="F2F6F9"/>
          </a:solidFill>
          <a:ln cap="flat" cmpd="sng" w="15875">
            <a:solidFill>
              <a:srgbClr val="00A79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67" name="Google Shape;3667;p131"/>
          <p:cNvSpPr/>
          <p:nvPr/>
        </p:nvSpPr>
        <p:spPr>
          <a:xfrm>
            <a:off x="9285732" y="2921508"/>
            <a:ext cx="898398" cy="6172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D2A5C"/>
              </a:buClr>
              <a:buSzPts val="1250"/>
              <a:buFont typeface="Calibri"/>
              <a:buNone/>
            </a:pPr>
            <a:r>
              <a:rPr b="1" i="0" lang="en-US" sz="1250" u="none" cap="none" strike="noStrike">
                <a:solidFill>
                  <a:srgbClr val="1D2A5C"/>
                </a:solidFill>
                <a:latin typeface="Calibri"/>
                <a:ea typeface="Calibri"/>
                <a:cs typeface="Calibri"/>
                <a:sym typeface="Calibri"/>
              </a:rPr>
              <a:t>Artefact bundle</a:t>
            </a:r>
            <a:endParaRPr b="0" i="0" sz="1250" u="none" cap="none" strike="noStrike">
              <a:solidFill>
                <a:schemeClr val="dk1"/>
              </a:solidFill>
              <a:latin typeface="Calibri"/>
              <a:ea typeface="Calibri"/>
              <a:cs typeface="Calibri"/>
              <a:sym typeface="Calibri"/>
            </a:endParaRPr>
          </a:p>
        </p:txBody>
      </p:sp>
      <p:sp>
        <p:nvSpPr>
          <p:cNvPr id="3668" name="Google Shape;3668;p131"/>
          <p:cNvSpPr/>
          <p:nvPr/>
        </p:nvSpPr>
        <p:spPr>
          <a:xfrm>
            <a:off x="9285732" y="3525012"/>
            <a:ext cx="898398" cy="658368"/>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rgbClr val="5F6B7A"/>
              </a:buClr>
              <a:buSzPts val="950"/>
              <a:buFont typeface="Calibri"/>
              <a:buNone/>
            </a:pPr>
            <a:r>
              <a:rPr b="0" i="0" lang="en-US" sz="950" u="none" cap="none" strike="noStrike">
                <a:solidFill>
                  <a:srgbClr val="5F6B7A"/>
                </a:solidFill>
                <a:latin typeface="Calibri"/>
                <a:ea typeface="Calibri"/>
                <a:cs typeface="Calibri"/>
                <a:sym typeface="Calibri"/>
              </a:rPr>
              <a:t>ONNX · config · report</a:t>
            </a:r>
            <a:endParaRPr b="0" i="0" sz="950" u="none" cap="none" strike="noStrike">
              <a:solidFill>
                <a:schemeClr val="dk1"/>
              </a:solidFill>
              <a:latin typeface="Calibri"/>
              <a:ea typeface="Calibri"/>
              <a:cs typeface="Calibri"/>
              <a:sym typeface="Calibri"/>
            </a:endParaRPr>
          </a:p>
        </p:txBody>
      </p:sp>
      <p:cxnSp>
        <p:nvCxnSpPr>
          <p:cNvPr id="3669" name="Google Shape;3669;p131"/>
          <p:cNvCxnSpPr/>
          <p:nvPr/>
        </p:nvCxnSpPr>
        <p:spPr>
          <a:xfrm>
            <a:off x="10312146" y="3552444"/>
            <a:ext cx="274320" cy="0"/>
          </a:xfrm>
          <a:prstGeom prst="straightConnector1">
            <a:avLst/>
          </a:prstGeom>
          <a:noFill/>
          <a:ln cap="flat" cmpd="sng" w="19050">
            <a:solidFill>
              <a:srgbClr val="8A96A6"/>
            </a:solidFill>
            <a:prstDash val="solid"/>
            <a:round/>
            <a:headEnd len="sm" w="sm" type="none"/>
            <a:tailEnd len="med" w="med" type="triangle"/>
          </a:ln>
        </p:spPr>
      </p:cxnSp>
      <p:sp>
        <p:nvSpPr>
          <p:cNvPr id="3670" name="Google Shape;3670;p131"/>
          <p:cNvSpPr/>
          <p:nvPr/>
        </p:nvSpPr>
        <p:spPr>
          <a:xfrm>
            <a:off x="10641330" y="2866644"/>
            <a:ext cx="1044702" cy="1371600"/>
          </a:xfrm>
          <a:prstGeom prst="roundRect">
            <a:avLst>
              <a:gd fmla="val 6127" name="adj"/>
            </a:avLst>
          </a:prstGeom>
          <a:solidFill>
            <a:srgbClr val="1D2A5C"/>
          </a:solidFill>
          <a:ln cap="flat" cmpd="sng" w="15875">
            <a:solidFill>
              <a:srgbClr val="00A79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71" name="Google Shape;3671;p131"/>
          <p:cNvSpPr/>
          <p:nvPr/>
        </p:nvSpPr>
        <p:spPr>
          <a:xfrm>
            <a:off x="10714482" y="2921508"/>
            <a:ext cx="898398" cy="6172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250"/>
              <a:buFont typeface="Calibri"/>
              <a:buNone/>
            </a:pPr>
            <a:r>
              <a:rPr b="1" i="0" lang="en-US" sz="1250" u="none" cap="none" strike="noStrike">
                <a:solidFill>
                  <a:srgbClr val="FFFFFF"/>
                </a:solidFill>
                <a:latin typeface="Calibri"/>
                <a:ea typeface="Calibri"/>
                <a:cs typeface="Calibri"/>
                <a:sym typeface="Calibri"/>
              </a:rPr>
              <a:t>Edge box</a:t>
            </a:r>
            <a:endParaRPr b="0" i="0" sz="1250" u="none" cap="none" strike="noStrike">
              <a:solidFill>
                <a:schemeClr val="dk1"/>
              </a:solidFill>
              <a:latin typeface="Calibri"/>
              <a:ea typeface="Calibri"/>
              <a:cs typeface="Calibri"/>
              <a:sym typeface="Calibri"/>
            </a:endParaRPr>
          </a:p>
        </p:txBody>
      </p:sp>
      <p:sp>
        <p:nvSpPr>
          <p:cNvPr id="3672" name="Google Shape;3672;p131"/>
          <p:cNvSpPr/>
          <p:nvPr/>
        </p:nvSpPr>
        <p:spPr>
          <a:xfrm>
            <a:off x="10714482" y="3525012"/>
            <a:ext cx="898398" cy="658368"/>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rgbClr val="B9C8E8"/>
              </a:buClr>
              <a:buSzPts val="950"/>
              <a:buFont typeface="Calibri"/>
              <a:buNone/>
            </a:pPr>
            <a:r>
              <a:rPr b="0" i="0" lang="en-US" sz="950" u="none" cap="none" strike="noStrike">
                <a:solidFill>
                  <a:srgbClr val="B9C8E8"/>
                </a:solidFill>
                <a:latin typeface="Calibri"/>
                <a:ea typeface="Calibri"/>
                <a:cs typeface="Calibri"/>
                <a:sym typeface="Calibri"/>
              </a:rPr>
              <a:t>380 ms budget</a:t>
            </a:r>
            <a:endParaRPr b="0" i="0" sz="950" u="none" cap="none" strike="noStrike">
              <a:solidFill>
                <a:schemeClr val="dk1"/>
              </a:solidFill>
              <a:latin typeface="Calibri"/>
              <a:ea typeface="Calibri"/>
              <a:cs typeface="Calibri"/>
              <a:sym typeface="Calibri"/>
            </a:endParaRPr>
          </a:p>
        </p:txBody>
      </p:sp>
    </p:spTree>
  </p:cSld>
  <p:clrMapOvr>
    <a:masterClrMapping/>
  </p:clrMapOvr>
</p:sld>
</file>

<file path=ppt/slides/slide1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677" name="Shape 3677"/>
        <p:cNvGrpSpPr/>
        <p:nvPr/>
      </p:nvGrpSpPr>
      <p:grpSpPr>
        <a:xfrm>
          <a:off x="0" y="0"/>
          <a:ext cx="0" cy="0"/>
          <a:chOff x="0" y="0"/>
          <a:chExt cx="0" cy="0"/>
        </a:xfrm>
      </p:grpSpPr>
      <p:sp>
        <p:nvSpPr>
          <p:cNvPr id="3678" name="Google Shape;3678;p132"/>
          <p:cNvSpPr/>
          <p:nvPr/>
        </p:nvSpPr>
        <p:spPr>
          <a:xfrm>
            <a:off x="502920" y="274320"/>
            <a:ext cx="9646920" cy="56692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D2A5C"/>
              </a:buClr>
              <a:buSzPts val="2700"/>
              <a:buFont typeface="Calibri"/>
              <a:buNone/>
            </a:pPr>
            <a:r>
              <a:rPr b="1" i="0" lang="en-US" sz="2700" u="none" cap="none" strike="noStrike">
                <a:solidFill>
                  <a:srgbClr val="1D2A5C"/>
                </a:solidFill>
                <a:latin typeface="Calibri"/>
                <a:ea typeface="Calibri"/>
                <a:cs typeface="Calibri"/>
                <a:sym typeface="Calibri"/>
              </a:rPr>
              <a:t>The optimisation ladder</a:t>
            </a:r>
            <a:endParaRPr b="0" i="0" sz="2700" u="none" cap="none" strike="noStrike">
              <a:solidFill>
                <a:schemeClr val="dk1"/>
              </a:solidFill>
              <a:latin typeface="Calibri"/>
              <a:ea typeface="Calibri"/>
              <a:cs typeface="Calibri"/>
              <a:sym typeface="Calibri"/>
            </a:endParaRPr>
          </a:p>
        </p:txBody>
      </p:sp>
      <p:sp>
        <p:nvSpPr>
          <p:cNvPr id="3679" name="Google Shape;3679;p132"/>
          <p:cNvSpPr/>
          <p:nvPr/>
        </p:nvSpPr>
        <p:spPr>
          <a:xfrm>
            <a:off x="502920" y="859536"/>
            <a:ext cx="9646920" cy="31089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F6B7A"/>
              </a:buClr>
              <a:buSzPts val="1250"/>
              <a:buFont typeface="Arial"/>
              <a:buNone/>
            </a:pPr>
            <a:r>
              <a:rPr b="0" i="0" lang="en-US" sz="1250" u="none" cap="none" strike="noStrike">
                <a:solidFill>
                  <a:srgbClr val="5F6B7A"/>
                </a:solidFill>
                <a:latin typeface="Arial"/>
                <a:ea typeface="Arial"/>
                <a:cs typeface="Arial"/>
                <a:sym typeface="Arial"/>
              </a:rPr>
              <a:t>سلّم التحسين</a:t>
            </a:r>
            <a:endParaRPr b="0" i="0" sz="1250" u="none" cap="none" strike="noStrike">
              <a:solidFill>
                <a:schemeClr val="dk1"/>
              </a:solidFill>
              <a:latin typeface="Calibri"/>
              <a:ea typeface="Calibri"/>
              <a:cs typeface="Calibri"/>
              <a:sym typeface="Calibri"/>
            </a:endParaRPr>
          </a:p>
        </p:txBody>
      </p:sp>
      <p:pic>
        <p:nvPicPr>
          <p:cNvPr descr="/sessions/blissful-determined-ritchie/build/assets/sdaia_logo.png" id="3680" name="Google Shape;3680;p132"/>
          <p:cNvPicPr preferRelativeResize="0"/>
          <p:nvPr/>
        </p:nvPicPr>
        <p:blipFill rotWithShape="1">
          <a:blip r:embed="rId3">
            <a:alphaModFix/>
          </a:blip>
          <a:srcRect b="0" l="0" r="0" t="0"/>
          <a:stretch/>
        </p:blipFill>
        <p:spPr>
          <a:xfrm>
            <a:off x="10625328" y="310896"/>
            <a:ext cx="1078992" cy="264111"/>
          </a:xfrm>
          <a:prstGeom prst="rect">
            <a:avLst/>
          </a:prstGeom>
          <a:noFill/>
          <a:ln>
            <a:noFill/>
          </a:ln>
        </p:spPr>
      </p:pic>
      <p:sp>
        <p:nvSpPr>
          <p:cNvPr id="3681" name="Google Shape;3681;p132"/>
          <p:cNvSpPr/>
          <p:nvPr/>
        </p:nvSpPr>
        <p:spPr>
          <a:xfrm>
            <a:off x="502920" y="6528816"/>
            <a:ext cx="8686800"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A79D"/>
              </a:buClr>
              <a:buSzPts val="800"/>
              <a:buFont typeface="Calibri"/>
              <a:buNone/>
            </a:pPr>
            <a:r>
              <a:rPr b="1" i="0" lang="en-US" sz="800" u="none" cap="none" strike="noStrike">
                <a:solidFill>
                  <a:srgbClr val="00A79D"/>
                </a:solidFill>
                <a:latin typeface="Calibri"/>
                <a:ea typeface="Calibri"/>
                <a:cs typeface="Calibri"/>
                <a:sym typeface="Calibri"/>
              </a:rPr>
              <a:t>MODULE 7   </a:t>
            </a:r>
            <a:r>
              <a:rPr b="0" i="0" lang="en-US" sz="800" u="none" cap="none" strike="noStrike">
                <a:solidFill>
                  <a:srgbClr val="8A96A6"/>
                </a:solidFill>
                <a:latin typeface="Calibri"/>
                <a:ea typeface="Calibri"/>
                <a:cs typeface="Calibri"/>
                <a:sym typeface="Calibri"/>
              </a:rPr>
              <a:t>SDA-AIE-212 · Computer Vision Systems Development</a:t>
            </a:r>
            <a:endParaRPr b="0" i="0" sz="800" u="none" cap="none" strike="noStrike">
              <a:solidFill>
                <a:schemeClr val="dk1"/>
              </a:solidFill>
              <a:latin typeface="Calibri"/>
              <a:ea typeface="Calibri"/>
              <a:cs typeface="Calibri"/>
              <a:sym typeface="Calibri"/>
            </a:endParaRPr>
          </a:p>
        </p:txBody>
      </p:sp>
      <p:sp>
        <p:nvSpPr>
          <p:cNvPr id="3682" name="Google Shape;3682;p132"/>
          <p:cNvSpPr/>
          <p:nvPr/>
        </p:nvSpPr>
        <p:spPr>
          <a:xfrm>
            <a:off x="11292840" y="6528816"/>
            <a:ext cx="411480" cy="219456"/>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8A96A6"/>
              </a:buClr>
              <a:buSzPts val="900"/>
              <a:buFont typeface="Calibri"/>
              <a:buNone/>
            </a:pPr>
            <a:r>
              <a:rPr b="0" i="0" lang="en-US" sz="900" u="none" cap="none" strike="noStrike">
                <a:solidFill>
                  <a:srgbClr val="8A96A6"/>
                </a:solidFill>
                <a:latin typeface="Calibri"/>
                <a:ea typeface="Calibri"/>
                <a:cs typeface="Calibri"/>
                <a:sym typeface="Calibri"/>
              </a:rPr>
              <a:t>132</a:t>
            </a:r>
            <a:endParaRPr b="0" i="0" sz="900" u="none" cap="none" strike="noStrike">
              <a:solidFill>
                <a:schemeClr val="dk1"/>
              </a:solidFill>
              <a:latin typeface="Calibri"/>
              <a:ea typeface="Calibri"/>
              <a:cs typeface="Calibri"/>
              <a:sym typeface="Calibri"/>
            </a:endParaRPr>
          </a:p>
        </p:txBody>
      </p:sp>
      <p:sp>
        <p:nvSpPr>
          <p:cNvPr id="3683" name="Google Shape;3683;p132"/>
          <p:cNvSpPr/>
          <p:nvPr/>
        </p:nvSpPr>
        <p:spPr>
          <a:xfrm>
            <a:off x="502920" y="1389888"/>
            <a:ext cx="11185855" cy="384048"/>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5F6B7A"/>
              </a:buClr>
              <a:buSzPts val="1250"/>
              <a:buFont typeface="Calibri"/>
              <a:buNone/>
            </a:pPr>
            <a:r>
              <a:rPr b="0" i="1" lang="en-US" sz="1250" u="none" cap="none" strike="noStrike">
                <a:solidFill>
                  <a:srgbClr val="5F6B7A"/>
                </a:solidFill>
                <a:latin typeface="Calibri"/>
                <a:ea typeface="Calibri"/>
                <a:cs typeface="Calibri"/>
                <a:sym typeface="Calibri"/>
              </a:rPr>
              <a:t>Applied in order of effort-to-payoff. Every rung is re-evaluated with the M6 harness — unmeasured speed-ups are gambles.</a:t>
            </a:r>
            <a:endParaRPr b="0" i="0" sz="1250" u="none" cap="none" strike="noStrike">
              <a:solidFill>
                <a:schemeClr val="dk1"/>
              </a:solidFill>
              <a:latin typeface="Calibri"/>
              <a:ea typeface="Calibri"/>
              <a:cs typeface="Calibri"/>
              <a:sym typeface="Calibri"/>
            </a:endParaRPr>
          </a:p>
        </p:txBody>
      </p:sp>
      <p:sp>
        <p:nvSpPr>
          <p:cNvPr id="3684" name="Google Shape;3684;p132"/>
          <p:cNvSpPr/>
          <p:nvPr/>
        </p:nvSpPr>
        <p:spPr>
          <a:xfrm>
            <a:off x="502920" y="2194560"/>
            <a:ext cx="11185855" cy="868680"/>
          </a:xfrm>
          <a:prstGeom prst="roundRect">
            <a:avLst>
              <a:gd fmla="val 6316" name="adj"/>
            </a:avLst>
          </a:prstGeom>
          <a:solidFill>
            <a:srgbClr val="1D2A5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85" name="Google Shape;3685;p132"/>
          <p:cNvSpPr/>
          <p:nvPr/>
        </p:nvSpPr>
        <p:spPr>
          <a:xfrm>
            <a:off x="685800" y="2194560"/>
            <a:ext cx="4698059" cy="8686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300"/>
              <a:buFont typeface="Calibri"/>
              <a:buNone/>
            </a:pPr>
            <a:r>
              <a:rPr b="1" i="0" lang="en-US" sz="1300" u="none" cap="none" strike="noStrike">
                <a:solidFill>
                  <a:srgbClr val="FFFFFF"/>
                </a:solidFill>
                <a:latin typeface="Calibri"/>
                <a:ea typeface="Calibri"/>
                <a:cs typeface="Calibri"/>
                <a:sym typeface="Calibri"/>
              </a:rPr>
              <a:t>1 · Input size</a:t>
            </a:r>
            <a:endParaRPr b="0" i="0" sz="1300" u="none" cap="none" strike="noStrike">
              <a:solidFill>
                <a:schemeClr val="dk1"/>
              </a:solidFill>
              <a:latin typeface="Calibri"/>
              <a:ea typeface="Calibri"/>
              <a:cs typeface="Calibri"/>
              <a:sym typeface="Calibri"/>
            </a:endParaRPr>
          </a:p>
        </p:txBody>
      </p:sp>
      <p:sp>
        <p:nvSpPr>
          <p:cNvPr id="3686" name="Google Shape;3686;p132"/>
          <p:cNvSpPr/>
          <p:nvPr/>
        </p:nvSpPr>
        <p:spPr>
          <a:xfrm>
            <a:off x="5424696" y="2194560"/>
            <a:ext cx="5928503" cy="8686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D9E4F5"/>
              </a:buClr>
              <a:buSzPts val="1050"/>
              <a:buFont typeface="Calibri"/>
              <a:buNone/>
            </a:pPr>
            <a:r>
              <a:rPr b="0" i="0" lang="en-US" sz="1050" u="none" cap="none" strike="noStrike">
                <a:solidFill>
                  <a:srgbClr val="D9E4F5"/>
                </a:solidFill>
                <a:latin typeface="Calibri"/>
                <a:ea typeface="Calibri"/>
                <a:cs typeface="Calibri"/>
                <a:sym typeface="Calibri"/>
              </a:rPr>
              <a:t>640²→416²: 2.3× faster; −0.021 mAP, −0.06 insect_damage — check slices</a:t>
            </a:r>
            <a:endParaRPr b="0" i="0" sz="1050" u="none" cap="none" strike="noStrike">
              <a:solidFill>
                <a:schemeClr val="dk1"/>
              </a:solidFill>
              <a:latin typeface="Calibri"/>
              <a:ea typeface="Calibri"/>
              <a:cs typeface="Calibri"/>
              <a:sym typeface="Calibri"/>
            </a:endParaRPr>
          </a:p>
        </p:txBody>
      </p:sp>
      <p:sp>
        <p:nvSpPr>
          <p:cNvPr id="3687" name="Google Shape;3687;p132"/>
          <p:cNvSpPr/>
          <p:nvPr/>
        </p:nvSpPr>
        <p:spPr>
          <a:xfrm>
            <a:off x="758952" y="3191256"/>
            <a:ext cx="10673791" cy="868680"/>
          </a:xfrm>
          <a:prstGeom prst="roundRect">
            <a:avLst>
              <a:gd fmla="val 6316" name="adj"/>
            </a:avLst>
          </a:prstGeom>
          <a:solidFill>
            <a:srgbClr val="24437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88" name="Google Shape;3688;p132"/>
          <p:cNvSpPr/>
          <p:nvPr/>
        </p:nvSpPr>
        <p:spPr>
          <a:xfrm>
            <a:off x="941832" y="3191256"/>
            <a:ext cx="4482992" cy="8686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300"/>
              <a:buFont typeface="Calibri"/>
              <a:buNone/>
            </a:pPr>
            <a:r>
              <a:rPr b="1" i="0" lang="en-US" sz="1300" u="none" cap="none" strike="noStrike">
                <a:solidFill>
                  <a:srgbClr val="FFFFFF"/>
                </a:solidFill>
                <a:latin typeface="Calibri"/>
                <a:ea typeface="Calibri"/>
                <a:cs typeface="Calibri"/>
                <a:sym typeface="Calibri"/>
              </a:rPr>
              <a:t>2 · Quantisation</a:t>
            </a:r>
            <a:endParaRPr b="0" i="0" sz="1300" u="none" cap="none" strike="noStrike">
              <a:solidFill>
                <a:schemeClr val="dk1"/>
              </a:solidFill>
              <a:latin typeface="Calibri"/>
              <a:ea typeface="Calibri"/>
              <a:cs typeface="Calibri"/>
              <a:sym typeface="Calibri"/>
            </a:endParaRPr>
          </a:p>
        </p:txBody>
      </p:sp>
      <p:sp>
        <p:nvSpPr>
          <p:cNvPr id="3689" name="Google Shape;3689;p132"/>
          <p:cNvSpPr/>
          <p:nvPr/>
        </p:nvSpPr>
        <p:spPr>
          <a:xfrm>
            <a:off x="5455420" y="3191256"/>
            <a:ext cx="5657109" cy="8686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D9E4F5"/>
              </a:buClr>
              <a:buSzPts val="1050"/>
              <a:buFont typeface="Calibri"/>
              <a:buNone/>
            </a:pPr>
            <a:r>
              <a:rPr b="0" i="0" lang="en-US" sz="1050" u="none" cap="none" strike="noStrike">
                <a:solidFill>
                  <a:srgbClr val="D9E4F5"/>
                </a:solidFill>
                <a:latin typeface="Calibri"/>
                <a:ea typeface="Calibri"/>
                <a:cs typeface="Calibri"/>
                <a:sym typeface="Calibri"/>
              </a:rPr>
              <a:t>FP32→INT8: ~4× smaller, 2–3.5× faster on CPU; static needs calibration</a:t>
            </a:r>
            <a:endParaRPr b="0" i="0" sz="1050" u="none" cap="none" strike="noStrike">
              <a:solidFill>
                <a:schemeClr val="dk1"/>
              </a:solidFill>
              <a:latin typeface="Calibri"/>
              <a:ea typeface="Calibri"/>
              <a:cs typeface="Calibri"/>
              <a:sym typeface="Calibri"/>
            </a:endParaRPr>
          </a:p>
        </p:txBody>
      </p:sp>
      <p:sp>
        <p:nvSpPr>
          <p:cNvPr id="3690" name="Google Shape;3690;p132"/>
          <p:cNvSpPr/>
          <p:nvPr/>
        </p:nvSpPr>
        <p:spPr>
          <a:xfrm>
            <a:off x="1014984" y="4187952"/>
            <a:ext cx="10161727" cy="868680"/>
          </a:xfrm>
          <a:prstGeom prst="roundRect">
            <a:avLst>
              <a:gd fmla="val 6316" name="adj"/>
            </a:avLst>
          </a:prstGeom>
          <a:solidFill>
            <a:srgbClr val="2A5CA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91" name="Google Shape;3691;p132"/>
          <p:cNvSpPr/>
          <p:nvPr/>
        </p:nvSpPr>
        <p:spPr>
          <a:xfrm>
            <a:off x="1197864" y="4187952"/>
            <a:ext cx="4267925" cy="8686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300"/>
              <a:buFont typeface="Calibri"/>
              <a:buNone/>
            </a:pPr>
            <a:r>
              <a:rPr b="1" i="0" lang="en-US" sz="1300" u="none" cap="none" strike="noStrike">
                <a:solidFill>
                  <a:srgbClr val="FFFFFF"/>
                </a:solidFill>
                <a:latin typeface="Calibri"/>
                <a:ea typeface="Calibri"/>
                <a:cs typeface="Calibri"/>
                <a:sym typeface="Calibri"/>
              </a:rPr>
              <a:t>3 · Execution providers</a:t>
            </a:r>
            <a:endParaRPr b="0" i="0" sz="1300" u="none" cap="none" strike="noStrike">
              <a:solidFill>
                <a:schemeClr val="dk1"/>
              </a:solidFill>
              <a:latin typeface="Calibri"/>
              <a:ea typeface="Calibri"/>
              <a:cs typeface="Calibri"/>
              <a:sym typeface="Calibri"/>
            </a:endParaRPr>
          </a:p>
        </p:txBody>
      </p:sp>
      <p:sp>
        <p:nvSpPr>
          <p:cNvPr id="3692" name="Google Shape;3692;p132"/>
          <p:cNvSpPr/>
          <p:nvPr/>
        </p:nvSpPr>
        <p:spPr>
          <a:xfrm>
            <a:off x="5486144" y="4187952"/>
            <a:ext cx="5385715" cy="8686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D9E4F5"/>
              </a:buClr>
              <a:buSzPts val="1050"/>
              <a:buFont typeface="Calibri"/>
              <a:buNone/>
            </a:pPr>
            <a:r>
              <a:rPr b="0" i="0" lang="en-US" sz="1050" u="none" cap="none" strike="noStrike">
                <a:solidFill>
                  <a:srgbClr val="D9E4F5"/>
                </a:solidFill>
                <a:latin typeface="Calibri"/>
                <a:ea typeface="Calibri"/>
                <a:cs typeface="Calibri"/>
                <a:sym typeface="Calibri"/>
              </a:rPr>
              <a:t>One artefact — TensorRT, OpenVINO, CoreML or CPU, chosen per box</a:t>
            </a:r>
            <a:endParaRPr b="0" i="0" sz="1050" u="none" cap="none" strike="noStrike">
              <a:solidFill>
                <a:schemeClr val="dk1"/>
              </a:solidFill>
              <a:latin typeface="Calibri"/>
              <a:ea typeface="Calibri"/>
              <a:cs typeface="Calibri"/>
              <a:sym typeface="Calibri"/>
            </a:endParaRPr>
          </a:p>
        </p:txBody>
      </p:sp>
      <p:sp>
        <p:nvSpPr>
          <p:cNvPr id="3693" name="Google Shape;3693;p132"/>
          <p:cNvSpPr/>
          <p:nvPr/>
        </p:nvSpPr>
        <p:spPr>
          <a:xfrm>
            <a:off x="1271016" y="5184648"/>
            <a:ext cx="9649663" cy="868680"/>
          </a:xfrm>
          <a:prstGeom prst="roundRect">
            <a:avLst>
              <a:gd fmla="val 6316" name="adj"/>
            </a:avLst>
          </a:prstGeom>
          <a:solidFill>
            <a:srgbClr val="1F7FB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94" name="Google Shape;3694;p132"/>
          <p:cNvSpPr/>
          <p:nvPr/>
        </p:nvSpPr>
        <p:spPr>
          <a:xfrm>
            <a:off x="1453896" y="5184648"/>
            <a:ext cx="4052859" cy="8686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300"/>
              <a:buFont typeface="Calibri"/>
              <a:buNone/>
            </a:pPr>
            <a:r>
              <a:rPr b="1" i="0" lang="en-US" sz="1300" u="none" cap="none" strike="noStrike">
                <a:solidFill>
                  <a:srgbClr val="FFFFFF"/>
                </a:solidFill>
                <a:latin typeface="Calibri"/>
                <a:ea typeface="Calibri"/>
                <a:cs typeface="Calibri"/>
                <a:sym typeface="Calibri"/>
              </a:rPr>
              <a:t>4 · Structural surgery</a:t>
            </a:r>
            <a:endParaRPr b="0" i="0" sz="1300" u="none" cap="none" strike="noStrike">
              <a:solidFill>
                <a:schemeClr val="dk1"/>
              </a:solidFill>
              <a:latin typeface="Calibri"/>
              <a:ea typeface="Calibri"/>
              <a:cs typeface="Calibri"/>
              <a:sym typeface="Calibri"/>
            </a:endParaRPr>
          </a:p>
        </p:txBody>
      </p:sp>
      <p:sp>
        <p:nvSpPr>
          <p:cNvPr id="3695" name="Google Shape;3695;p132"/>
          <p:cNvSpPr/>
          <p:nvPr/>
        </p:nvSpPr>
        <p:spPr>
          <a:xfrm>
            <a:off x="5516868" y="5184648"/>
            <a:ext cx="5114321" cy="8686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D9E4F5"/>
              </a:buClr>
              <a:buSzPts val="1050"/>
              <a:buFont typeface="Calibri"/>
              <a:buNone/>
            </a:pPr>
            <a:r>
              <a:rPr b="0" i="0" lang="en-US" sz="1050" u="none" cap="none" strike="noStrike">
                <a:solidFill>
                  <a:srgbClr val="D9E4F5"/>
                </a:solidFill>
                <a:latin typeface="Calibri"/>
                <a:ea typeface="Calibri"/>
                <a:cs typeface="Calibri"/>
                <a:sym typeface="Calibri"/>
              </a:rPr>
              <a:t>Pruning and distillation: further multiples, but retraining loops</a:t>
            </a:r>
            <a:endParaRPr b="0" i="0" sz="1050" u="none" cap="none" strike="noStrike">
              <a:solidFill>
                <a:schemeClr val="dk1"/>
              </a:solidFill>
              <a:latin typeface="Calibri"/>
              <a:ea typeface="Calibri"/>
              <a:cs typeface="Calibri"/>
              <a:sym typeface="Calibri"/>
            </a:endParaRPr>
          </a:p>
        </p:txBody>
      </p:sp>
    </p:spTree>
  </p:cSld>
  <p:clrMapOvr>
    <a:masterClrMapping/>
  </p:clrMapOvr>
</p:sld>
</file>

<file path=ppt/slides/slide1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700" name="Shape 3700"/>
        <p:cNvGrpSpPr/>
        <p:nvPr/>
      </p:nvGrpSpPr>
      <p:grpSpPr>
        <a:xfrm>
          <a:off x="0" y="0"/>
          <a:ext cx="0" cy="0"/>
          <a:chOff x="0" y="0"/>
          <a:chExt cx="0" cy="0"/>
        </a:xfrm>
      </p:grpSpPr>
      <p:sp>
        <p:nvSpPr>
          <p:cNvPr id="3701" name="Google Shape;3701;p133"/>
          <p:cNvSpPr/>
          <p:nvPr/>
        </p:nvSpPr>
        <p:spPr>
          <a:xfrm>
            <a:off x="502920" y="274320"/>
            <a:ext cx="9646920" cy="56692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D2A5C"/>
              </a:buClr>
              <a:buSzPts val="2700"/>
              <a:buFont typeface="Calibri"/>
              <a:buNone/>
            </a:pPr>
            <a:r>
              <a:rPr b="1" i="0" lang="en-US" sz="2700" u="none" cap="none" strike="noStrike">
                <a:solidFill>
                  <a:srgbClr val="1D2A5C"/>
                </a:solidFill>
                <a:latin typeface="Calibri"/>
                <a:ea typeface="Calibri"/>
                <a:cs typeface="Calibri"/>
                <a:sym typeface="Calibri"/>
              </a:rPr>
              <a:t>The 380 ms budget, stage by stage</a:t>
            </a:r>
            <a:endParaRPr b="0" i="0" sz="2700" u="none" cap="none" strike="noStrike">
              <a:solidFill>
                <a:schemeClr val="dk1"/>
              </a:solidFill>
              <a:latin typeface="Calibri"/>
              <a:ea typeface="Calibri"/>
              <a:cs typeface="Calibri"/>
              <a:sym typeface="Calibri"/>
            </a:endParaRPr>
          </a:p>
        </p:txBody>
      </p:sp>
      <p:sp>
        <p:nvSpPr>
          <p:cNvPr id="3702" name="Google Shape;3702;p133"/>
          <p:cNvSpPr/>
          <p:nvPr/>
        </p:nvSpPr>
        <p:spPr>
          <a:xfrm>
            <a:off x="502920" y="859536"/>
            <a:ext cx="9646920" cy="31089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F6B7A"/>
              </a:buClr>
              <a:buSzPts val="1250"/>
              <a:buFont typeface="Arial"/>
              <a:buNone/>
            </a:pPr>
            <a:r>
              <a:rPr b="0" i="0" lang="en-US" sz="1250" u="none" cap="none" strike="noStrike">
                <a:solidFill>
                  <a:srgbClr val="5F6B7A"/>
                </a:solidFill>
                <a:latin typeface="Arial"/>
                <a:ea typeface="Arial"/>
                <a:cs typeface="Arial"/>
                <a:sym typeface="Arial"/>
              </a:rPr>
              <a:t>ميزانية 380 مللي ثانية</a:t>
            </a:r>
            <a:endParaRPr b="0" i="0" sz="1250" u="none" cap="none" strike="noStrike">
              <a:solidFill>
                <a:schemeClr val="dk1"/>
              </a:solidFill>
              <a:latin typeface="Calibri"/>
              <a:ea typeface="Calibri"/>
              <a:cs typeface="Calibri"/>
              <a:sym typeface="Calibri"/>
            </a:endParaRPr>
          </a:p>
        </p:txBody>
      </p:sp>
      <p:pic>
        <p:nvPicPr>
          <p:cNvPr descr="/sessions/blissful-determined-ritchie/build/assets/sdaia_logo.png" id="3703" name="Google Shape;3703;p133"/>
          <p:cNvPicPr preferRelativeResize="0"/>
          <p:nvPr/>
        </p:nvPicPr>
        <p:blipFill rotWithShape="1">
          <a:blip r:embed="rId3">
            <a:alphaModFix/>
          </a:blip>
          <a:srcRect b="0" l="0" r="0" t="0"/>
          <a:stretch/>
        </p:blipFill>
        <p:spPr>
          <a:xfrm>
            <a:off x="10625328" y="310896"/>
            <a:ext cx="1078992" cy="264111"/>
          </a:xfrm>
          <a:prstGeom prst="rect">
            <a:avLst/>
          </a:prstGeom>
          <a:noFill/>
          <a:ln>
            <a:noFill/>
          </a:ln>
        </p:spPr>
      </p:pic>
      <p:sp>
        <p:nvSpPr>
          <p:cNvPr id="3704" name="Google Shape;3704;p133"/>
          <p:cNvSpPr/>
          <p:nvPr/>
        </p:nvSpPr>
        <p:spPr>
          <a:xfrm>
            <a:off x="502920" y="6528816"/>
            <a:ext cx="8686800"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A79D"/>
              </a:buClr>
              <a:buSzPts val="800"/>
              <a:buFont typeface="Calibri"/>
              <a:buNone/>
            </a:pPr>
            <a:r>
              <a:rPr b="1" i="0" lang="en-US" sz="800" u="none" cap="none" strike="noStrike">
                <a:solidFill>
                  <a:srgbClr val="00A79D"/>
                </a:solidFill>
                <a:latin typeface="Calibri"/>
                <a:ea typeface="Calibri"/>
                <a:cs typeface="Calibri"/>
                <a:sym typeface="Calibri"/>
              </a:rPr>
              <a:t>MODULE 7   </a:t>
            </a:r>
            <a:r>
              <a:rPr b="0" i="0" lang="en-US" sz="800" u="none" cap="none" strike="noStrike">
                <a:solidFill>
                  <a:srgbClr val="8A96A6"/>
                </a:solidFill>
                <a:latin typeface="Calibri"/>
                <a:ea typeface="Calibri"/>
                <a:cs typeface="Calibri"/>
                <a:sym typeface="Calibri"/>
              </a:rPr>
              <a:t>SDA-AIE-212 · Computer Vision Systems Development</a:t>
            </a:r>
            <a:endParaRPr b="0" i="0" sz="800" u="none" cap="none" strike="noStrike">
              <a:solidFill>
                <a:schemeClr val="dk1"/>
              </a:solidFill>
              <a:latin typeface="Calibri"/>
              <a:ea typeface="Calibri"/>
              <a:cs typeface="Calibri"/>
              <a:sym typeface="Calibri"/>
            </a:endParaRPr>
          </a:p>
        </p:txBody>
      </p:sp>
      <p:sp>
        <p:nvSpPr>
          <p:cNvPr id="3705" name="Google Shape;3705;p133"/>
          <p:cNvSpPr/>
          <p:nvPr/>
        </p:nvSpPr>
        <p:spPr>
          <a:xfrm>
            <a:off x="11292840" y="6528816"/>
            <a:ext cx="411480" cy="219456"/>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8A96A6"/>
              </a:buClr>
              <a:buSzPts val="900"/>
              <a:buFont typeface="Calibri"/>
              <a:buNone/>
            </a:pPr>
            <a:r>
              <a:rPr b="0" i="0" lang="en-US" sz="900" u="none" cap="none" strike="noStrike">
                <a:solidFill>
                  <a:srgbClr val="8A96A6"/>
                </a:solidFill>
                <a:latin typeface="Calibri"/>
                <a:ea typeface="Calibri"/>
                <a:cs typeface="Calibri"/>
                <a:sym typeface="Calibri"/>
              </a:rPr>
              <a:t>133</a:t>
            </a:r>
            <a:endParaRPr b="0" i="0" sz="900" u="none" cap="none" strike="noStrike">
              <a:solidFill>
                <a:schemeClr val="dk1"/>
              </a:solidFill>
              <a:latin typeface="Calibri"/>
              <a:ea typeface="Calibri"/>
              <a:cs typeface="Calibri"/>
              <a:sym typeface="Calibri"/>
            </a:endParaRPr>
          </a:p>
        </p:txBody>
      </p:sp>
      <p:sp>
        <p:nvSpPr>
          <p:cNvPr id="3706" name="Google Shape;3706;p133"/>
          <p:cNvSpPr/>
          <p:nvPr/>
        </p:nvSpPr>
        <p:spPr>
          <a:xfrm>
            <a:off x="502920" y="1389888"/>
            <a:ext cx="11185855" cy="384048"/>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5F6B7A"/>
              </a:buClr>
              <a:buSzPts val="1250"/>
              <a:buFont typeface="Calibri"/>
              <a:buNone/>
            </a:pPr>
            <a:r>
              <a:rPr b="0" i="1" lang="en-US" sz="1250" u="none" cap="none" strike="noStrike">
                <a:solidFill>
                  <a:srgbClr val="5F6B7A"/>
                </a:solidFill>
                <a:latin typeface="Calibri"/>
                <a:ea typeface="Calibri"/>
                <a:cs typeface="Calibri"/>
                <a:sym typeface="Calibri"/>
              </a:rPr>
              <a:t>The budget is consumed by the pipeline — inference is often under half. Classic surprise: preprocessing rivals inference after INT8.</a:t>
            </a:r>
            <a:endParaRPr b="0" i="0" sz="1250" u="none" cap="none" strike="noStrike">
              <a:solidFill>
                <a:schemeClr val="dk1"/>
              </a:solidFill>
              <a:latin typeface="Calibri"/>
              <a:ea typeface="Calibri"/>
              <a:cs typeface="Calibri"/>
              <a:sym typeface="Calibri"/>
            </a:endParaRPr>
          </a:p>
        </p:txBody>
      </p:sp>
      <p:sp>
        <p:nvSpPr>
          <p:cNvPr id="3707" name="Google Shape;3707;p133"/>
          <p:cNvSpPr/>
          <p:nvPr/>
        </p:nvSpPr>
        <p:spPr>
          <a:xfrm>
            <a:off x="502920" y="2121408"/>
            <a:ext cx="3472586" cy="1371600"/>
          </a:xfrm>
          <a:prstGeom prst="roundRect">
            <a:avLst>
              <a:gd fmla="val 4667" name="adj"/>
            </a:avLst>
          </a:prstGeom>
          <a:solidFill>
            <a:srgbClr val="F2F6F9"/>
          </a:solidFill>
          <a:ln cap="flat" cmpd="sng" w="15875">
            <a:solidFill>
              <a:srgbClr val="00A79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08" name="Google Shape;3708;p133"/>
          <p:cNvSpPr/>
          <p:nvPr/>
        </p:nvSpPr>
        <p:spPr>
          <a:xfrm>
            <a:off x="576072" y="2176272"/>
            <a:ext cx="3326282" cy="6172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D2A5C"/>
              </a:buClr>
              <a:buSzPts val="1250"/>
              <a:buFont typeface="Calibri"/>
              <a:buNone/>
            </a:pPr>
            <a:r>
              <a:rPr b="1" i="0" lang="en-US" sz="1250" u="none" cap="none" strike="noStrike">
                <a:solidFill>
                  <a:srgbClr val="1D2A5C"/>
                </a:solidFill>
                <a:latin typeface="Calibri"/>
                <a:ea typeface="Calibri"/>
                <a:cs typeface="Calibri"/>
                <a:sym typeface="Calibri"/>
              </a:rPr>
              <a:t>Capture</a:t>
            </a:r>
            <a:endParaRPr b="0" i="0" sz="1250" u="none" cap="none" strike="noStrike">
              <a:solidFill>
                <a:schemeClr val="dk1"/>
              </a:solidFill>
              <a:latin typeface="Calibri"/>
              <a:ea typeface="Calibri"/>
              <a:cs typeface="Calibri"/>
              <a:sym typeface="Calibri"/>
            </a:endParaRPr>
          </a:p>
        </p:txBody>
      </p:sp>
      <p:sp>
        <p:nvSpPr>
          <p:cNvPr id="3709" name="Google Shape;3709;p133"/>
          <p:cNvSpPr/>
          <p:nvPr/>
        </p:nvSpPr>
        <p:spPr>
          <a:xfrm>
            <a:off x="576072" y="2779776"/>
            <a:ext cx="3326282" cy="658368"/>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rgbClr val="5F6B7A"/>
              </a:buClr>
              <a:buSzPts val="950"/>
              <a:buFont typeface="Calibri"/>
              <a:buNone/>
            </a:pPr>
            <a:r>
              <a:rPr b="0" i="0" lang="en-US" sz="950" u="none" cap="none" strike="noStrike">
                <a:solidFill>
                  <a:srgbClr val="5F6B7A"/>
                </a:solidFill>
                <a:latin typeface="Calibri"/>
                <a:ea typeface="Calibri"/>
                <a:cs typeface="Calibri"/>
                <a:sym typeface="Calibri"/>
              </a:rPr>
              <a:t>~12 ms</a:t>
            </a:r>
            <a:endParaRPr b="0" i="0" sz="950" u="none" cap="none" strike="noStrike">
              <a:solidFill>
                <a:schemeClr val="dk1"/>
              </a:solidFill>
              <a:latin typeface="Calibri"/>
              <a:ea typeface="Calibri"/>
              <a:cs typeface="Calibri"/>
              <a:sym typeface="Calibri"/>
            </a:endParaRPr>
          </a:p>
        </p:txBody>
      </p:sp>
      <p:cxnSp>
        <p:nvCxnSpPr>
          <p:cNvPr id="3710" name="Google Shape;3710;p133"/>
          <p:cNvCxnSpPr/>
          <p:nvPr/>
        </p:nvCxnSpPr>
        <p:spPr>
          <a:xfrm>
            <a:off x="4030370" y="2807208"/>
            <a:ext cx="274320" cy="0"/>
          </a:xfrm>
          <a:prstGeom prst="straightConnector1">
            <a:avLst/>
          </a:prstGeom>
          <a:noFill/>
          <a:ln cap="flat" cmpd="sng" w="19050">
            <a:solidFill>
              <a:srgbClr val="8A96A6"/>
            </a:solidFill>
            <a:prstDash val="solid"/>
            <a:round/>
            <a:headEnd len="sm" w="sm" type="none"/>
            <a:tailEnd len="med" w="med" type="triangle"/>
          </a:ln>
        </p:spPr>
      </p:cxnSp>
      <p:sp>
        <p:nvSpPr>
          <p:cNvPr id="3711" name="Google Shape;3711;p133"/>
          <p:cNvSpPr/>
          <p:nvPr/>
        </p:nvSpPr>
        <p:spPr>
          <a:xfrm>
            <a:off x="4359554" y="2121408"/>
            <a:ext cx="3472586" cy="1371600"/>
          </a:xfrm>
          <a:prstGeom prst="roundRect">
            <a:avLst>
              <a:gd fmla="val 4667" name="adj"/>
            </a:avLst>
          </a:prstGeom>
          <a:solidFill>
            <a:srgbClr val="F2F6F9"/>
          </a:solidFill>
          <a:ln cap="flat" cmpd="sng" w="15875">
            <a:solidFill>
              <a:srgbClr val="00A79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12" name="Google Shape;3712;p133"/>
          <p:cNvSpPr/>
          <p:nvPr/>
        </p:nvSpPr>
        <p:spPr>
          <a:xfrm>
            <a:off x="4432706" y="2176272"/>
            <a:ext cx="3326282" cy="6172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D2A5C"/>
              </a:buClr>
              <a:buSzPts val="1250"/>
              <a:buFont typeface="Calibri"/>
              <a:buNone/>
            </a:pPr>
            <a:r>
              <a:rPr b="1" i="0" lang="en-US" sz="1250" u="none" cap="none" strike="noStrike">
                <a:solidFill>
                  <a:srgbClr val="1D2A5C"/>
                </a:solidFill>
                <a:latin typeface="Calibri"/>
                <a:ea typeface="Calibri"/>
                <a:cs typeface="Calibri"/>
                <a:sym typeface="Calibri"/>
              </a:rPr>
              <a:t>Preprocess</a:t>
            </a:r>
            <a:endParaRPr b="0" i="0" sz="1250" u="none" cap="none" strike="noStrike">
              <a:solidFill>
                <a:schemeClr val="dk1"/>
              </a:solidFill>
              <a:latin typeface="Calibri"/>
              <a:ea typeface="Calibri"/>
              <a:cs typeface="Calibri"/>
              <a:sym typeface="Calibri"/>
            </a:endParaRPr>
          </a:p>
        </p:txBody>
      </p:sp>
      <p:sp>
        <p:nvSpPr>
          <p:cNvPr id="3713" name="Google Shape;3713;p133"/>
          <p:cNvSpPr/>
          <p:nvPr/>
        </p:nvSpPr>
        <p:spPr>
          <a:xfrm>
            <a:off x="4432706" y="2779776"/>
            <a:ext cx="3326282" cy="658368"/>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rgbClr val="5F6B7A"/>
              </a:buClr>
              <a:buSzPts val="950"/>
              <a:buFont typeface="Calibri"/>
              <a:buNone/>
            </a:pPr>
            <a:r>
              <a:rPr b="0" i="0" lang="en-US" sz="950" u="none" cap="none" strike="noStrike">
                <a:solidFill>
                  <a:srgbClr val="5F6B7A"/>
                </a:solidFill>
                <a:latin typeface="Calibri"/>
                <a:ea typeface="Calibri"/>
                <a:cs typeface="Calibri"/>
                <a:sym typeface="Calibri"/>
              </a:rPr>
              <a:t>~6 ms · OpenCV @ 416²</a:t>
            </a:r>
            <a:endParaRPr b="0" i="0" sz="950" u="none" cap="none" strike="noStrike">
              <a:solidFill>
                <a:schemeClr val="dk1"/>
              </a:solidFill>
              <a:latin typeface="Calibri"/>
              <a:ea typeface="Calibri"/>
              <a:cs typeface="Calibri"/>
              <a:sym typeface="Calibri"/>
            </a:endParaRPr>
          </a:p>
        </p:txBody>
      </p:sp>
      <p:cxnSp>
        <p:nvCxnSpPr>
          <p:cNvPr id="3714" name="Google Shape;3714;p133"/>
          <p:cNvCxnSpPr/>
          <p:nvPr/>
        </p:nvCxnSpPr>
        <p:spPr>
          <a:xfrm>
            <a:off x="7887005" y="2807208"/>
            <a:ext cx="274320" cy="0"/>
          </a:xfrm>
          <a:prstGeom prst="straightConnector1">
            <a:avLst/>
          </a:prstGeom>
          <a:noFill/>
          <a:ln cap="flat" cmpd="sng" w="19050">
            <a:solidFill>
              <a:srgbClr val="8A96A6"/>
            </a:solidFill>
            <a:prstDash val="solid"/>
            <a:round/>
            <a:headEnd len="sm" w="sm" type="none"/>
            <a:tailEnd len="med" w="med" type="triangle"/>
          </a:ln>
        </p:spPr>
      </p:cxnSp>
      <p:sp>
        <p:nvSpPr>
          <p:cNvPr id="3715" name="Google Shape;3715;p133"/>
          <p:cNvSpPr/>
          <p:nvPr/>
        </p:nvSpPr>
        <p:spPr>
          <a:xfrm>
            <a:off x="8216189" y="2121408"/>
            <a:ext cx="3472586" cy="1371600"/>
          </a:xfrm>
          <a:prstGeom prst="roundRect">
            <a:avLst>
              <a:gd fmla="val 4667" name="adj"/>
            </a:avLst>
          </a:prstGeom>
          <a:solidFill>
            <a:srgbClr val="F2F6F9"/>
          </a:solidFill>
          <a:ln cap="flat" cmpd="sng" w="15875">
            <a:solidFill>
              <a:srgbClr val="00A79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16" name="Google Shape;3716;p133"/>
          <p:cNvSpPr/>
          <p:nvPr/>
        </p:nvSpPr>
        <p:spPr>
          <a:xfrm>
            <a:off x="8289341" y="2176272"/>
            <a:ext cx="3326282" cy="6172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D2A5C"/>
              </a:buClr>
              <a:buSzPts val="1250"/>
              <a:buFont typeface="Calibri"/>
              <a:buNone/>
            </a:pPr>
            <a:r>
              <a:rPr b="1" i="0" lang="en-US" sz="1250" u="none" cap="none" strike="noStrike">
                <a:solidFill>
                  <a:srgbClr val="1D2A5C"/>
                </a:solidFill>
                <a:latin typeface="Calibri"/>
                <a:ea typeface="Calibri"/>
                <a:cs typeface="Calibri"/>
                <a:sym typeface="Calibri"/>
              </a:rPr>
              <a:t>Infer</a:t>
            </a:r>
            <a:endParaRPr b="0" i="0" sz="1250" u="none" cap="none" strike="noStrike">
              <a:solidFill>
                <a:schemeClr val="dk1"/>
              </a:solidFill>
              <a:latin typeface="Calibri"/>
              <a:ea typeface="Calibri"/>
              <a:cs typeface="Calibri"/>
              <a:sym typeface="Calibri"/>
            </a:endParaRPr>
          </a:p>
        </p:txBody>
      </p:sp>
      <p:sp>
        <p:nvSpPr>
          <p:cNvPr id="3717" name="Google Shape;3717;p133"/>
          <p:cNvSpPr/>
          <p:nvPr/>
        </p:nvSpPr>
        <p:spPr>
          <a:xfrm>
            <a:off x="8289341" y="2779776"/>
            <a:ext cx="3326282" cy="658368"/>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rgbClr val="5F6B7A"/>
              </a:buClr>
              <a:buSzPts val="950"/>
              <a:buFont typeface="Calibri"/>
              <a:buNone/>
            </a:pPr>
            <a:r>
              <a:rPr b="0" i="0" lang="en-US" sz="950" u="none" cap="none" strike="noStrike">
                <a:solidFill>
                  <a:srgbClr val="5F6B7A"/>
                </a:solidFill>
                <a:latin typeface="Calibri"/>
                <a:ea typeface="Calibri"/>
                <a:cs typeface="Calibri"/>
                <a:sym typeface="Calibri"/>
              </a:rPr>
              <a:t>~17 ms</a:t>
            </a:r>
            <a:endParaRPr b="0" i="0" sz="950" u="none" cap="none" strike="noStrike">
              <a:solidFill>
                <a:schemeClr val="dk1"/>
              </a:solidFill>
              <a:latin typeface="Calibri"/>
              <a:ea typeface="Calibri"/>
              <a:cs typeface="Calibri"/>
              <a:sym typeface="Calibri"/>
            </a:endParaRPr>
          </a:p>
        </p:txBody>
      </p:sp>
      <p:cxnSp>
        <p:nvCxnSpPr>
          <p:cNvPr id="3718" name="Google Shape;3718;p133"/>
          <p:cNvCxnSpPr/>
          <p:nvPr/>
        </p:nvCxnSpPr>
        <p:spPr>
          <a:xfrm>
            <a:off x="9952482" y="3493008"/>
            <a:ext cx="0" cy="777240"/>
          </a:xfrm>
          <a:prstGeom prst="straightConnector1">
            <a:avLst/>
          </a:prstGeom>
          <a:noFill/>
          <a:ln cap="flat" cmpd="sng" w="19050">
            <a:solidFill>
              <a:srgbClr val="8A96A6"/>
            </a:solidFill>
            <a:prstDash val="solid"/>
            <a:round/>
            <a:headEnd len="sm" w="sm" type="none"/>
            <a:tailEnd len="med" w="med" type="triangle"/>
          </a:ln>
        </p:spPr>
      </p:cxnSp>
      <p:cxnSp>
        <p:nvCxnSpPr>
          <p:cNvPr id="3719" name="Google Shape;3719;p133"/>
          <p:cNvCxnSpPr/>
          <p:nvPr/>
        </p:nvCxnSpPr>
        <p:spPr>
          <a:xfrm>
            <a:off x="9952482" y="3493008"/>
            <a:ext cx="0" cy="274320"/>
          </a:xfrm>
          <a:prstGeom prst="straightConnector1">
            <a:avLst/>
          </a:prstGeom>
          <a:noFill/>
          <a:ln cap="flat" cmpd="sng" w="15875">
            <a:solidFill>
              <a:srgbClr val="E8503A"/>
            </a:solidFill>
            <a:prstDash val="dash"/>
            <a:round/>
            <a:headEnd len="sm" w="sm" type="none"/>
            <a:tailEnd len="sm" w="sm" type="none"/>
          </a:ln>
        </p:spPr>
      </p:cxnSp>
      <p:sp>
        <p:nvSpPr>
          <p:cNvPr id="3720" name="Google Shape;3720;p133"/>
          <p:cNvSpPr/>
          <p:nvPr/>
        </p:nvSpPr>
        <p:spPr>
          <a:xfrm>
            <a:off x="8170469" y="3767328"/>
            <a:ext cx="3564026" cy="475488"/>
          </a:xfrm>
          <a:prstGeom prst="roundRect">
            <a:avLst>
              <a:gd fmla="val 11538" name="adj"/>
            </a:avLst>
          </a:prstGeom>
          <a:solidFill>
            <a:srgbClr val="FDEDEA"/>
          </a:solidFill>
          <a:ln cap="flat" cmpd="sng" w="12700">
            <a:solidFill>
              <a:srgbClr val="E8503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21" name="Google Shape;3721;p133"/>
          <p:cNvSpPr/>
          <p:nvPr/>
        </p:nvSpPr>
        <p:spPr>
          <a:xfrm>
            <a:off x="8216189" y="3767328"/>
            <a:ext cx="3472586" cy="47548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E8503A"/>
              </a:buClr>
              <a:buSzPts val="950"/>
              <a:buFont typeface="Calibri"/>
              <a:buNone/>
            </a:pPr>
            <a:r>
              <a:rPr b="1" i="0" lang="en-US" sz="950" u="none" cap="none" strike="noStrike">
                <a:solidFill>
                  <a:srgbClr val="E8503A"/>
                </a:solidFill>
                <a:latin typeface="Calibri"/>
                <a:ea typeface="Calibri"/>
                <a:cs typeface="Calibri"/>
                <a:sym typeface="Calibri"/>
              </a:rPr>
              <a:t>cloud path: 60–150 ms RTT + jitter blows the budget</a:t>
            </a:r>
            <a:endParaRPr b="0" i="0" sz="950" u="none" cap="none" strike="noStrike">
              <a:solidFill>
                <a:schemeClr val="dk1"/>
              </a:solidFill>
              <a:latin typeface="Calibri"/>
              <a:ea typeface="Calibri"/>
              <a:cs typeface="Calibri"/>
              <a:sym typeface="Calibri"/>
            </a:endParaRPr>
          </a:p>
        </p:txBody>
      </p:sp>
      <p:sp>
        <p:nvSpPr>
          <p:cNvPr id="3722" name="Google Shape;3722;p133"/>
          <p:cNvSpPr/>
          <p:nvPr/>
        </p:nvSpPr>
        <p:spPr>
          <a:xfrm>
            <a:off x="8216189" y="4361688"/>
            <a:ext cx="3472586" cy="1371600"/>
          </a:xfrm>
          <a:prstGeom prst="roundRect">
            <a:avLst>
              <a:gd fmla="val 4667" name="adj"/>
            </a:avLst>
          </a:prstGeom>
          <a:solidFill>
            <a:srgbClr val="F2F6F9"/>
          </a:solidFill>
          <a:ln cap="flat" cmpd="sng" w="15875">
            <a:solidFill>
              <a:srgbClr val="00A79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23" name="Google Shape;3723;p133"/>
          <p:cNvSpPr/>
          <p:nvPr/>
        </p:nvSpPr>
        <p:spPr>
          <a:xfrm>
            <a:off x="8289341" y="4416552"/>
            <a:ext cx="3326282" cy="6172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D2A5C"/>
              </a:buClr>
              <a:buSzPts val="1250"/>
              <a:buFont typeface="Calibri"/>
              <a:buNone/>
            </a:pPr>
            <a:r>
              <a:rPr b="1" i="0" lang="en-US" sz="1250" u="none" cap="none" strike="noStrike">
                <a:solidFill>
                  <a:srgbClr val="1D2A5C"/>
                </a:solidFill>
                <a:latin typeface="Calibri"/>
                <a:ea typeface="Calibri"/>
                <a:cs typeface="Calibri"/>
                <a:sym typeface="Calibri"/>
              </a:rPr>
              <a:t>Post + NMS</a:t>
            </a:r>
            <a:endParaRPr b="0" i="0" sz="1250" u="none" cap="none" strike="noStrike">
              <a:solidFill>
                <a:schemeClr val="dk1"/>
              </a:solidFill>
              <a:latin typeface="Calibri"/>
              <a:ea typeface="Calibri"/>
              <a:cs typeface="Calibri"/>
              <a:sym typeface="Calibri"/>
            </a:endParaRPr>
          </a:p>
        </p:txBody>
      </p:sp>
      <p:sp>
        <p:nvSpPr>
          <p:cNvPr id="3724" name="Google Shape;3724;p133"/>
          <p:cNvSpPr/>
          <p:nvPr/>
        </p:nvSpPr>
        <p:spPr>
          <a:xfrm>
            <a:off x="8289341" y="5020056"/>
            <a:ext cx="3326282" cy="658368"/>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rgbClr val="5F6B7A"/>
              </a:buClr>
              <a:buSzPts val="950"/>
              <a:buFont typeface="Calibri"/>
              <a:buNone/>
            </a:pPr>
            <a:r>
              <a:rPr b="0" i="0" lang="en-US" sz="950" u="none" cap="none" strike="noStrike">
                <a:solidFill>
                  <a:srgbClr val="5F6B7A"/>
                </a:solidFill>
                <a:latin typeface="Calibri"/>
                <a:ea typeface="Calibri"/>
                <a:cs typeface="Calibri"/>
                <a:sym typeface="Calibri"/>
              </a:rPr>
              <a:t>~4 ms</a:t>
            </a:r>
            <a:endParaRPr b="0" i="0" sz="950" u="none" cap="none" strike="noStrike">
              <a:solidFill>
                <a:schemeClr val="dk1"/>
              </a:solidFill>
              <a:latin typeface="Calibri"/>
              <a:ea typeface="Calibri"/>
              <a:cs typeface="Calibri"/>
              <a:sym typeface="Calibri"/>
            </a:endParaRPr>
          </a:p>
        </p:txBody>
      </p:sp>
      <p:cxnSp>
        <p:nvCxnSpPr>
          <p:cNvPr id="3725" name="Google Shape;3725;p133"/>
          <p:cNvCxnSpPr/>
          <p:nvPr/>
        </p:nvCxnSpPr>
        <p:spPr>
          <a:xfrm>
            <a:off x="7887005" y="5047488"/>
            <a:ext cx="274320" cy="0"/>
          </a:xfrm>
          <a:prstGeom prst="straightConnector1">
            <a:avLst/>
          </a:prstGeom>
          <a:noFill/>
          <a:ln cap="flat" cmpd="sng" w="19050">
            <a:solidFill>
              <a:srgbClr val="8A96A6"/>
            </a:solidFill>
            <a:prstDash val="solid"/>
            <a:round/>
            <a:headEnd len="med" w="med" type="triangle"/>
            <a:tailEnd len="sm" w="sm" type="none"/>
          </a:ln>
        </p:spPr>
      </p:cxnSp>
      <p:sp>
        <p:nvSpPr>
          <p:cNvPr id="3726" name="Google Shape;3726;p133"/>
          <p:cNvSpPr/>
          <p:nvPr/>
        </p:nvSpPr>
        <p:spPr>
          <a:xfrm>
            <a:off x="4359554" y="4361688"/>
            <a:ext cx="3472586" cy="1371600"/>
          </a:xfrm>
          <a:prstGeom prst="roundRect">
            <a:avLst>
              <a:gd fmla="val 4667" name="adj"/>
            </a:avLst>
          </a:prstGeom>
          <a:solidFill>
            <a:srgbClr val="F2F6F9"/>
          </a:solidFill>
          <a:ln cap="flat" cmpd="sng" w="15875">
            <a:solidFill>
              <a:srgbClr val="00A79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27" name="Google Shape;3727;p133"/>
          <p:cNvSpPr/>
          <p:nvPr/>
        </p:nvSpPr>
        <p:spPr>
          <a:xfrm>
            <a:off x="4432706" y="4416552"/>
            <a:ext cx="3326282" cy="6172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D2A5C"/>
              </a:buClr>
              <a:buSzPts val="1250"/>
              <a:buFont typeface="Calibri"/>
              <a:buNone/>
            </a:pPr>
            <a:r>
              <a:rPr b="1" i="0" lang="en-US" sz="1250" u="none" cap="none" strike="noStrike">
                <a:solidFill>
                  <a:srgbClr val="1D2A5C"/>
                </a:solidFill>
                <a:latin typeface="Calibri"/>
                <a:ea typeface="Calibri"/>
                <a:cs typeface="Calibri"/>
                <a:sym typeface="Calibri"/>
              </a:rPr>
              <a:t>Decide</a:t>
            </a:r>
            <a:endParaRPr b="0" i="0" sz="1250" u="none" cap="none" strike="noStrike">
              <a:solidFill>
                <a:schemeClr val="dk1"/>
              </a:solidFill>
              <a:latin typeface="Calibri"/>
              <a:ea typeface="Calibri"/>
              <a:cs typeface="Calibri"/>
              <a:sym typeface="Calibri"/>
            </a:endParaRPr>
          </a:p>
        </p:txBody>
      </p:sp>
      <p:sp>
        <p:nvSpPr>
          <p:cNvPr id="3728" name="Google Shape;3728;p133"/>
          <p:cNvSpPr/>
          <p:nvPr/>
        </p:nvSpPr>
        <p:spPr>
          <a:xfrm>
            <a:off x="4432706" y="5020056"/>
            <a:ext cx="3326282" cy="658368"/>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rgbClr val="5F6B7A"/>
              </a:buClr>
              <a:buSzPts val="950"/>
              <a:buFont typeface="Calibri"/>
              <a:buNone/>
            </a:pPr>
            <a:r>
              <a:rPr b="0" i="0" lang="en-US" sz="950" u="none" cap="none" strike="noStrike">
                <a:solidFill>
                  <a:srgbClr val="5F6B7A"/>
                </a:solidFill>
                <a:latin typeface="Calibri"/>
                <a:ea typeface="Calibri"/>
                <a:cs typeface="Calibri"/>
                <a:sym typeface="Calibri"/>
              </a:rPr>
              <a:t>~2 ms</a:t>
            </a:r>
            <a:endParaRPr b="0" i="0" sz="950" u="none" cap="none" strike="noStrike">
              <a:solidFill>
                <a:schemeClr val="dk1"/>
              </a:solidFill>
              <a:latin typeface="Calibri"/>
              <a:ea typeface="Calibri"/>
              <a:cs typeface="Calibri"/>
              <a:sym typeface="Calibri"/>
            </a:endParaRPr>
          </a:p>
        </p:txBody>
      </p:sp>
      <p:cxnSp>
        <p:nvCxnSpPr>
          <p:cNvPr id="3729" name="Google Shape;3729;p133"/>
          <p:cNvCxnSpPr/>
          <p:nvPr/>
        </p:nvCxnSpPr>
        <p:spPr>
          <a:xfrm>
            <a:off x="4030370" y="5047488"/>
            <a:ext cx="274320" cy="0"/>
          </a:xfrm>
          <a:prstGeom prst="straightConnector1">
            <a:avLst/>
          </a:prstGeom>
          <a:noFill/>
          <a:ln cap="flat" cmpd="sng" w="19050">
            <a:solidFill>
              <a:srgbClr val="8A96A6"/>
            </a:solidFill>
            <a:prstDash val="solid"/>
            <a:round/>
            <a:headEnd len="med" w="med" type="triangle"/>
            <a:tailEnd len="sm" w="sm" type="none"/>
          </a:ln>
        </p:spPr>
      </p:cxnSp>
      <p:sp>
        <p:nvSpPr>
          <p:cNvPr id="3730" name="Google Shape;3730;p133"/>
          <p:cNvSpPr/>
          <p:nvPr/>
        </p:nvSpPr>
        <p:spPr>
          <a:xfrm>
            <a:off x="502920" y="4361688"/>
            <a:ext cx="3472586" cy="1371600"/>
          </a:xfrm>
          <a:prstGeom prst="roundRect">
            <a:avLst>
              <a:gd fmla="val 4667" name="adj"/>
            </a:avLst>
          </a:prstGeom>
          <a:solidFill>
            <a:srgbClr val="1D2A5C"/>
          </a:solidFill>
          <a:ln cap="flat" cmpd="sng" w="15875">
            <a:solidFill>
              <a:srgbClr val="00A79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31" name="Google Shape;3731;p133"/>
          <p:cNvSpPr/>
          <p:nvPr/>
        </p:nvSpPr>
        <p:spPr>
          <a:xfrm>
            <a:off x="576072" y="4416552"/>
            <a:ext cx="3326282" cy="6172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250"/>
              <a:buFont typeface="Calibri"/>
              <a:buNone/>
            </a:pPr>
            <a:r>
              <a:rPr b="1" i="0" lang="en-US" sz="1250" u="none" cap="none" strike="noStrike">
                <a:solidFill>
                  <a:srgbClr val="FFFFFF"/>
                </a:solidFill>
                <a:latin typeface="Calibri"/>
                <a:ea typeface="Calibri"/>
                <a:cs typeface="Calibri"/>
                <a:sym typeface="Calibri"/>
              </a:rPr>
              <a:t>Actuate</a:t>
            </a:r>
            <a:endParaRPr b="0" i="0" sz="1250" u="none" cap="none" strike="noStrike">
              <a:solidFill>
                <a:schemeClr val="dk1"/>
              </a:solidFill>
              <a:latin typeface="Calibri"/>
              <a:ea typeface="Calibri"/>
              <a:cs typeface="Calibri"/>
              <a:sym typeface="Calibri"/>
            </a:endParaRPr>
          </a:p>
        </p:txBody>
      </p:sp>
      <p:sp>
        <p:nvSpPr>
          <p:cNvPr id="3732" name="Google Shape;3732;p133"/>
          <p:cNvSpPr/>
          <p:nvPr/>
        </p:nvSpPr>
        <p:spPr>
          <a:xfrm>
            <a:off x="576072" y="5020056"/>
            <a:ext cx="3326282" cy="658368"/>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rgbClr val="B9C8E8"/>
              </a:buClr>
              <a:buSzPts val="950"/>
              <a:buFont typeface="Calibri"/>
              <a:buNone/>
            </a:pPr>
            <a:r>
              <a:rPr b="0" i="0" lang="en-US" sz="950" u="none" cap="none" strike="noStrike">
                <a:solidFill>
                  <a:srgbClr val="B9C8E8"/>
                </a:solidFill>
                <a:latin typeface="Calibri"/>
                <a:ea typeface="Calibri"/>
                <a:cs typeface="Calibri"/>
                <a:sym typeface="Calibri"/>
              </a:rPr>
              <a:t>~45 ms + margin</a:t>
            </a:r>
            <a:endParaRPr b="0" i="0" sz="950" u="none" cap="none" strike="noStrike">
              <a:solidFill>
                <a:schemeClr val="dk1"/>
              </a:solidFill>
              <a:latin typeface="Calibri"/>
              <a:ea typeface="Calibri"/>
              <a:cs typeface="Calibri"/>
              <a:sym typeface="Calibri"/>
            </a:endParaRPr>
          </a:p>
        </p:txBody>
      </p:sp>
    </p:spTree>
  </p:cSld>
  <p:clrMapOvr>
    <a:masterClrMapping/>
  </p:clrMapOvr>
</p:sld>
</file>

<file path=ppt/slides/slide1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737" name="Shape 3737"/>
        <p:cNvGrpSpPr/>
        <p:nvPr/>
      </p:nvGrpSpPr>
      <p:grpSpPr>
        <a:xfrm>
          <a:off x="0" y="0"/>
          <a:ext cx="0" cy="0"/>
          <a:chOff x="0" y="0"/>
          <a:chExt cx="0" cy="0"/>
        </a:xfrm>
      </p:grpSpPr>
      <p:sp>
        <p:nvSpPr>
          <p:cNvPr id="3738" name="Google Shape;3738;p134"/>
          <p:cNvSpPr/>
          <p:nvPr/>
        </p:nvSpPr>
        <p:spPr>
          <a:xfrm>
            <a:off x="502920" y="274320"/>
            <a:ext cx="9646920" cy="56692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D2A5C"/>
              </a:buClr>
              <a:buSzPts val="2700"/>
              <a:buFont typeface="Calibri"/>
              <a:buNone/>
            </a:pPr>
            <a:r>
              <a:rPr b="1" i="0" lang="en-US" sz="2700" u="none" cap="none" strike="noStrike">
                <a:solidFill>
                  <a:srgbClr val="1D2A5C"/>
                </a:solidFill>
                <a:latin typeface="Calibri"/>
                <a:ea typeface="Calibri"/>
                <a:cs typeface="Calibri"/>
                <a:sym typeface="Calibri"/>
              </a:rPr>
              <a:t>Benchmarking without lying to yourself</a:t>
            </a:r>
            <a:endParaRPr b="0" i="0" sz="2700" u="none" cap="none" strike="noStrike">
              <a:solidFill>
                <a:schemeClr val="dk1"/>
              </a:solidFill>
              <a:latin typeface="Calibri"/>
              <a:ea typeface="Calibri"/>
              <a:cs typeface="Calibri"/>
              <a:sym typeface="Calibri"/>
            </a:endParaRPr>
          </a:p>
        </p:txBody>
      </p:sp>
      <p:sp>
        <p:nvSpPr>
          <p:cNvPr id="3739" name="Google Shape;3739;p134"/>
          <p:cNvSpPr/>
          <p:nvPr/>
        </p:nvSpPr>
        <p:spPr>
          <a:xfrm>
            <a:off x="502920" y="859536"/>
            <a:ext cx="9646920" cy="31089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F6B7A"/>
              </a:buClr>
              <a:buSzPts val="1250"/>
              <a:buFont typeface="Arial"/>
              <a:buNone/>
            </a:pPr>
            <a:r>
              <a:rPr b="0" i="0" lang="en-US" sz="1250" u="none" cap="none" strike="noStrike">
                <a:solidFill>
                  <a:srgbClr val="5F6B7A"/>
                </a:solidFill>
                <a:latin typeface="Arial"/>
                <a:ea typeface="Arial"/>
                <a:cs typeface="Arial"/>
                <a:sym typeface="Arial"/>
              </a:rPr>
              <a:t>قياس أداء صادق</a:t>
            </a:r>
            <a:endParaRPr b="0" i="0" sz="1250" u="none" cap="none" strike="noStrike">
              <a:solidFill>
                <a:schemeClr val="dk1"/>
              </a:solidFill>
              <a:latin typeface="Calibri"/>
              <a:ea typeface="Calibri"/>
              <a:cs typeface="Calibri"/>
              <a:sym typeface="Calibri"/>
            </a:endParaRPr>
          </a:p>
        </p:txBody>
      </p:sp>
      <p:pic>
        <p:nvPicPr>
          <p:cNvPr descr="/sessions/blissful-determined-ritchie/build/assets/sdaia_logo.png" id="3740" name="Google Shape;3740;p134"/>
          <p:cNvPicPr preferRelativeResize="0"/>
          <p:nvPr/>
        </p:nvPicPr>
        <p:blipFill rotWithShape="1">
          <a:blip r:embed="rId3">
            <a:alphaModFix/>
          </a:blip>
          <a:srcRect b="0" l="0" r="0" t="0"/>
          <a:stretch/>
        </p:blipFill>
        <p:spPr>
          <a:xfrm>
            <a:off x="10625328" y="310896"/>
            <a:ext cx="1078992" cy="264111"/>
          </a:xfrm>
          <a:prstGeom prst="rect">
            <a:avLst/>
          </a:prstGeom>
          <a:noFill/>
          <a:ln>
            <a:noFill/>
          </a:ln>
        </p:spPr>
      </p:pic>
      <p:sp>
        <p:nvSpPr>
          <p:cNvPr id="3741" name="Google Shape;3741;p134"/>
          <p:cNvSpPr/>
          <p:nvPr/>
        </p:nvSpPr>
        <p:spPr>
          <a:xfrm>
            <a:off x="502920" y="6528816"/>
            <a:ext cx="8686800"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A79D"/>
              </a:buClr>
              <a:buSzPts val="800"/>
              <a:buFont typeface="Calibri"/>
              <a:buNone/>
            </a:pPr>
            <a:r>
              <a:rPr b="1" i="0" lang="en-US" sz="800" u="none" cap="none" strike="noStrike">
                <a:solidFill>
                  <a:srgbClr val="00A79D"/>
                </a:solidFill>
                <a:latin typeface="Calibri"/>
                <a:ea typeface="Calibri"/>
                <a:cs typeface="Calibri"/>
                <a:sym typeface="Calibri"/>
              </a:rPr>
              <a:t>MODULE 7   </a:t>
            </a:r>
            <a:r>
              <a:rPr b="0" i="0" lang="en-US" sz="800" u="none" cap="none" strike="noStrike">
                <a:solidFill>
                  <a:srgbClr val="8A96A6"/>
                </a:solidFill>
                <a:latin typeface="Calibri"/>
                <a:ea typeface="Calibri"/>
                <a:cs typeface="Calibri"/>
                <a:sym typeface="Calibri"/>
              </a:rPr>
              <a:t>SDA-AIE-212 · Computer Vision Systems Development</a:t>
            </a:r>
            <a:endParaRPr b="0" i="0" sz="800" u="none" cap="none" strike="noStrike">
              <a:solidFill>
                <a:schemeClr val="dk1"/>
              </a:solidFill>
              <a:latin typeface="Calibri"/>
              <a:ea typeface="Calibri"/>
              <a:cs typeface="Calibri"/>
              <a:sym typeface="Calibri"/>
            </a:endParaRPr>
          </a:p>
        </p:txBody>
      </p:sp>
      <p:sp>
        <p:nvSpPr>
          <p:cNvPr id="3742" name="Google Shape;3742;p134"/>
          <p:cNvSpPr/>
          <p:nvPr/>
        </p:nvSpPr>
        <p:spPr>
          <a:xfrm>
            <a:off x="11292840" y="6528816"/>
            <a:ext cx="411480" cy="219456"/>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8A96A6"/>
              </a:buClr>
              <a:buSzPts val="900"/>
              <a:buFont typeface="Calibri"/>
              <a:buNone/>
            </a:pPr>
            <a:r>
              <a:rPr b="0" i="0" lang="en-US" sz="900" u="none" cap="none" strike="noStrike">
                <a:solidFill>
                  <a:srgbClr val="8A96A6"/>
                </a:solidFill>
                <a:latin typeface="Calibri"/>
                <a:ea typeface="Calibri"/>
                <a:cs typeface="Calibri"/>
                <a:sym typeface="Calibri"/>
              </a:rPr>
              <a:t>134</a:t>
            </a:r>
            <a:endParaRPr b="0" i="0" sz="900" u="none" cap="none" strike="noStrike">
              <a:solidFill>
                <a:schemeClr val="dk1"/>
              </a:solidFill>
              <a:latin typeface="Calibri"/>
              <a:ea typeface="Calibri"/>
              <a:cs typeface="Calibri"/>
              <a:sym typeface="Calibri"/>
            </a:endParaRPr>
          </a:p>
        </p:txBody>
      </p:sp>
      <p:sp>
        <p:nvSpPr>
          <p:cNvPr id="3743" name="Google Shape;3743;p134"/>
          <p:cNvSpPr/>
          <p:nvPr/>
        </p:nvSpPr>
        <p:spPr>
          <a:xfrm>
            <a:off x="502920" y="1453896"/>
            <a:ext cx="329184" cy="329184"/>
          </a:xfrm>
          <a:prstGeom prst="ellipse">
            <a:avLst/>
          </a:prstGeom>
          <a:solidFill>
            <a:srgbClr val="00A79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44" name="Google Shape;3744;p134"/>
          <p:cNvSpPr/>
          <p:nvPr/>
        </p:nvSpPr>
        <p:spPr>
          <a:xfrm>
            <a:off x="502920" y="1453896"/>
            <a:ext cx="329184" cy="32918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300"/>
              <a:buFont typeface="Calibri"/>
              <a:buNone/>
            </a:pPr>
            <a:r>
              <a:rPr b="1" i="0" lang="en-US" sz="1300" u="none" cap="none" strike="noStrike">
                <a:solidFill>
                  <a:srgbClr val="FFFFFF"/>
                </a:solidFill>
                <a:latin typeface="Calibri"/>
                <a:ea typeface="Calibri"/>
                <a:cs typeface="Calibri"/>
                <a:sym typeface="Calibri"/>
              </a:rPr>
              <a:t>1</a:t>
            </a:r>
            <a:endParaRPr b="0" i="0" sz="1300" u="none" cap="none" strike="noStrike">
              <a:solidFill>
                <a:schemeClr val="dk1"/>
              </a:solidFill>
              <a:latin typeface="Calibri"/>
              <a:ea typeface="Calibri"/>
              <a:cs typeface="Calibri"/>
              <a:sym typeface="Calibri"/>
            </a:endParaRPr>
          </a:p>
        </p:txBody>
      </p:sp>
      <p:sp>
        <p:nvSpPr>
          <p:cNvPr id="3745" name="Google Shape;3745;p134"/>
          <p:cNvSpPr/>
          <p:nvPr/>
        </p:nvSpPr>
        <p:spPr>
          <a:xfrm>
            <a:off x="1005840" y="1389888"/>
            <a:ext cx="10682935"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D2A5C"/>
              </a:buClr>
              <a:buSzPts val="1400"/>
              <a:buFont typeface="Calibri"/>
              <a:buNone/>
            </a:pPr>
            <a:r>
              <a:rPr b="1" i="0" lang="en-US" sz="1400" u="none" cap="none" strike="noStrike">
                <a:solidFill>
                  <a:srgbClr val="1D2A5C"/>
                </a:solidFill>
                <a:latin typeface="Calibri"/>
                <a:ea typeface="Calibri"/>
                <a:cs typeface="Calibri"/>
                <a:sym typeface="Calibri"/>
              </a:rPr>
              <a:t>Warm-up first</a:t>
            </a:r>
            <a:endParaRPr b="0" i="0" sz="1400" u="none" cap="none" strike="noStrike">
              <a:solidFill>
                <a:schemeClr val="dk1"/>
              </a:solidFill>
              <a:latin typeface="Calibri"/>
              <a:ea typeface="Calibri"/>
              <a:cs typeface="Calibri"/>
              <a:sym typeface="Calibri"/>
            </a:endParaRPr>
          </a:p>
        </p:txBody>
      </p:sp>
      <p:sp>
        <p:nvSpPr>
          <p:cNvPr id="3746" name="Google Shape;3746;p134"/>
          <p:cNvSpPr/>
          <p:nvPr/>
        </p:nvSpPr>
        <p:spPr>
          <a:xfrm>
            <a:off x="1005840" y="1691640"/>
            <a:ext cx="10682935" cy="645566"/>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5F6B7A"/>
              </a:buClr>
              <a:buSzPts val="1150"/>
              <a:buFont typeface="Calibri"/>
              <a:buNone/>
            </a:pPr>
            <a:r>
              <a:rPr b="0" i="0" lang="en-US" sz="1150" u="none" cap="none" strike="noStrike">
                <a:solidFill>
                  <a:srgbClr val="5F6B7A"/>
                </a:solidFill>
                <a:latin typeface="Calibri"/>
                <a:ea typeface="Calibri"/>
                <a:cs typeface="Calibri"/>
                <a:sym typeface="Calibri"/>
              </a:rPr>
              <a:t>First runs pay allocation, JIT, provider graph compilation (TensorRT: minutes). Discard ≥ 20 warm-up runs before timing.</a:t>
            </a:r>
            <a:endParaRPr b="0" i="0" sz="1150" u="none" cap="none" strike="noStrike">
              <a:solidFill>
                <a:schemeClr val="dk1"/>
              </a:solidFill>
              <a:latin typeface="Calibri"/>
              <a:ea typeface="Calibri"/>
              <a:cs typeface="Calibri"/>
              <a:sym typeface="Calibri"/>
            </a:endParaRPr>
          </a:p>
        </p:txBody>
      </p:sp>
      <p:sp>
        <p:nvSpPr>
          <p:cNvPr id="3747" name="Google Shape;3747;p134"/>
          <p:cNvSpPr/>
          <p:nvPr/>
        </p:nvSpPr>
        <p:spPr>
          <a:xfrm>
            <a:off x="502920" y="2446934"/>
            <a:ext cx="329184" cy="329184"/>
          </a:xfrm>
          <a:prstGeom prst="ellipse">
            <a:avLst/>
          </a:prstGeom>
          <a:solidFill>
            <a:srgbClr val="29ABE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48" name="Google Shape;3748;p134"/>
          <p:cNvSpPr/>
          <p:nvPr/>
        </p:nvSpPr>
        <p:spPr>
          <a:xfrm>
            <a:off x="502920" y="2446934"/>
            <a:ext cx="329184" cy="32918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300"/>
              <a:buFont typeface="Calibri"/>
              <a:buNone/>
            </a:pPr>
            <a:r>
              <a:rPr b="1" i="0" lang="en-US" sz="1300" u="none" cap="none" strike="noStrike">
                <a:solidFill>
                  <a:srgbClr val="FFFFFF"/>
                </a:solidFill>
                <a:latin typeface="Calibri"/>
                <a:ea typeface="Calibri"/>
                <a:cs typeface="Calibri"/>
                <a:sym typeface="Calibri"/>
              </a:rPr>
              <a:t>2</a:t>
            </a:r>
            <a:endParaRPr b="0" i="0" sz="1300" u="none" cap="none" strike="noStrike">
              <a:solidFill>
                <a:schemeClr val="dk1"/>
              </a:solidFill>
              <a:latin typeface="Calibri"/>
              <a:ea typeface="Calibri"/>
              <a:cs typeface="Calibri"/>
              <a:sym typeface="Calibri"/>
            </a:endParaRPr>
          </a:p>
        </p:txBody>
      </p:sp>
      <p:sp>
        <p:nvSpPr>
          <p:cNvPr id="3749" name="Google Shape;3749;p134"/>
          <p:cNvSpPr/>
          <p:nvPr/>
        </p:nvSpPr>
        <p:spPr>
          <a:xfrm>
            <a:off x="1005840" y="2382926"/>
            <a:ext cx="10682935"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D2A5C"/>
              </a:buClr>
              <a:buSzPts val="1400"/>
              <a:buFont typeface="Calibri"/>
              <a:buNone/>
            </a:pPr>
            <a:r>
              <a:rPr b="1" i="0" lang="en-US" sz="1400" u="none" cap="none" strike="noStrike">
                <a:solidFill>
                  <a:srgbClr val="1D2A5C"/>
                </a:solidFill>
                <a:latin typeface="Calibri"/>
                <a:ea typeface="Calibri"/>
                <a:cs typeface="Calibri"/>
                <a:sym typeface="Calibri"/>
              </a:rPr>
              <a:t>Percentiles, not means</a:t>
            </a:r>
            <a:endParaRPr b="0" i="0" sz="1400" u="none" cap="none" strike="noStrike">
              <a:solidFill>
                <a:schemeClr val="dk1"/>
              </a:solidFill>
              <a:latin typeface="Calibri"/>
              <a:ea typeface="Calibri"/>
              <a:cs typeface="Calibri"/>
              <a:sym typeface="Calibri"/>
            </a:endParaRPr>
          </a:p>
        </p:txBody>
      </p:sp>
      <p:sp>
        <p:nvSpPr>
          <p:cNvPr id="3750" name="Google Shape;3750;p134"/>
          <p:cNvSpPr/>
          <p:nvPr/>
        </p:nvSpPr>
        <p:spPr>
          <a:xfrm>
            <a:off x="1005840" y="2684678"/>
            <a:ext cx="10682935" cy="645566"/>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5F6B7A"/>
              </a:buClr>
              <a:buSzPts val="1150"/>
              <a:buFont typeface="Calibri"/>
              <a:buNone/>
            </a:pPr>
            <a:r>
              <a:rPr b="0" i="0" lang="en-US" sz="1150" u="none" cap="none" strike="noStrike">
                <a:solidFill>
                  <a:srgbClr val="5F6B7A"/>
                </a:solidFill>
                <a:latin typeface="Calibri"/>
                <a:ea typeface="Calibri"/>
                <a:cs typeface="Calibri"/>
                <a:sym typeface="Calibri"/>
              </a:rPr>
              <a:t>The eject gate misses on p99, not on average. Report p50/p95/p99 over ≥ 500 timed runs — under realistic co-load on a shared box.</a:t>
            </a:r>
            <a:endParaRPr b="0" i="0" sz="1150" u="none" cap="none" strike="noStrike">
              <a:solidFill>
                <a:schemeClr val="dk1"/>
              </a:solidFill>
              <a:latin typeface="Calibri"/>
              <a:ea typeface="Calibri"/>
              <a:cs typeface="Calibri"/>
              <a:sym typeface="Calibri"/>
            </a:endParaRPr>
          </a:p>
        </p:txBody>
      </p:sp>
      <p:sp>
        <p:nvSpPr>
          <p:cNvPr id="3751" name="Google Shape;3751;p134"/>
          <p:cNvSpPr/>
          <p:nvPr/>
        </p:nvSpPr>
        <p:spPr>
          <a:xfrm>
            <a:off x="502920" y="3439973"/>
            <a:ext cx="329184" cy="329184"/>
          </a:xfrm>
          <a:prstGeom prst="ellipse">
            <a:avLst/>
          </a:prstGeom>
          <a:solidFill>
            <a:srgbClr val="F5822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52" name="Google Shape;3752;p134"/>
          <p:cNvSpPr/>
          <p:nvPr/>
        </p:nvSpPr>
        <p:spPr>
          <a:xfrm>
            <a:off x="502920" y="3439973"/>
            <a:ext cx="329184" cy="32918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300"/>
              <a:buFont typeface="Calibri"/>
              <a:buNone/>
            </a:pPr>
            <a:r>
              <a:rPr b="1" i="0" lang="en-US" sz="1300" u="none" cap="none" strike="noStrike">
                <a:solidFill>
                  <a:srgbClr val="FFFFFF"/>
                </a:solidFill>
                <a:latin typeface="Calibri"/>
                <a:ea typeface="Calibri"/>
                <a:cs typeface="Calibri"/>
                <a:sym typeface="Calibri"/>
              </a:rPr>
              <a:t>3</a:t>
            </a:r>
            <a:endParaRPr b="0" i="0" sz="1300" u="none" cap="none" strike="noStrike">
              <a:solidFill>
                <a:schemeClr val="dk1"/>
              </a:solidFill>
              <a:latin typeface="Calibri"/>
              <a:ea typeface="Calibri"/>
              <a:cs typeface="Calibri"/>
              <a:sym typeface="Calibri"/>
            </a:endParaRPr>
          </a:p>
        </p:txBody>
      </p:sp>
      <p:sp>
        <p:nvSpPr>
          <p:cNvPr id="3753" name="Google Shape;3753;p134"/>
          <p:cNvSpPr/>
          <p:nvPr/>
        </p:nvSpPr>
        <p:spPr>
          <a:xfrm>
            <a:off x="1005840" y="3375965"/>
            <a:ext cx="10682935"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D2A5C"/>
              </a:buClr>
              <a:buSzPts val="1400"/>
              <a:buFont typeface="Calibri"/>
              <a:buNone/>
            </a:pPr>
            <a:r>
              <a:rPr b="1" i="0" lang="en-US" sz="1400" u="none" cap="none" strike="noStrike">
                <a:solidFill>
                  <a:srgbClr val="1D2A5C"/>
                </a:solidFill>
                <a:latin typeface="Calibri"/>
                <a:ea typeface="Calibri"/>
                <a:cs typeface="Calibri"/>
                <a:sym typeface="Calibri"/>
              </a:rPr>
              <a:t>End-to-end or it didn't happen</a:t>
            </a:r>
            <a:endParaRPr b="0" i="0" sz="1400" u="none" cap="none" strike="noStrike">
              <a:solidFill>
                <a:schemeClr val="dk1"/>
              </a:solidFill>
              <a:latin typeface="Calibri"/>
              <a:ea typeface="Calibri"/>
              <a:cs typeface="Calibri"/>
              <a:sym typeface="Calibri"/>
            </a:endParaRPr>
          </a:p>
        </p:txBody>
      </p:sp>
      <p:sp>
        <p:nvSpPr>
          <p:cNvPr id="3754" name="Google Shape;3754;p134"/>
          <p:cNvSpPr/>
          <p:nvPr/>
        </p:nvSpPr>
        <p:spPr>
          <a:xfrm>
            <a:off x="1005840" y="3677717"/>
            <a:ext cx="10682935" cy="645566"/>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5F6B7A"/>
              </a:buClr>
              <a:buSzPts val="1150"/>
              <a:buFont typeface="Calibri"/>
              <a:buNone/>
            </a:pPr>
            <a:r>
              <a:rPr b="0" i="0" lang="en-US" sz="1150" u="none" cap="none" strike="noStrike">
                <a:solidFill>
                  <a:srgbClr val="5F6B7A"/>
                </a:solidFill>
                <a:latin typeface="Calibri"/>
                <a:ea typeface="Calibri"/>
                <a:cs typeface="Calibri"/>
                <a:sym typeface="Calibri"/>
              </a:rPr>
              <a:t>Time every stage: capture, decode, preprocess, infer, post, decide, actuate. Inference is often under half the budget.</a:t>
            </a:r>
            <a:endParaRPr b="0" i="0" sz="1150" u="none" cap="none" strike="noStrike">
              <a:solidFill>
                <a:schemeClr val="dk1"/>
              </a:solidFill>
              <a:latin typeface="Calibri"/>
              <a:ea typeface="Calibri"/>
              <a:cs typeface="Calibri"/>
              <a:sym typeface="Calibri"/>
            </a:endParaRPr>
          </a:p>
        </p:txBody>
      </p:sp>
      <p:sp>
        <p:nvSpPr>
          <p:cNvPr id="3755" name="Google Shape;3755;p134"/>
          <p:cNvSpPr/>
          <p:nvPr/>
        </p:nvSpPr>
        <p:spPr>
          <a:xfrm>
            <a:off x="502920" y="4433011"/>
            <a:ext cx="329184" cy="329184"/>
          </a:xfrm>
          <a:prstGeom prst="ellipse">
            <a:avLst/>
          </a:prstGeom>
          <a:solidFill>
            <a:srgbClr val="8DC63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56" name="Google Shape;3756;p134"/>
          <p:cNvSpPr/>
          <p:nvPr/>
        </p:nvSpPr>
        <p:spPr>
          <a:xfrm>
            <a:off x="502920" y="4433011"/>
            <a:ext cx="329184" cy="32918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300"/>
              <a:buFont typeface="Calibri"/>
              <a:buNone/>
            </a:pPr>
            <a:r>
              <a:rPr b="1" i="0" lang="en-US" sz="1300" u="none" cap="none" strike="noStrike">
                <a:solidFill>
                  <a:srgbClr val="FFFFFF"/>
                </a:solidFill>
                <a:latin typeface="Calibri"/>
                <a:ea typeface="Calibri"/>
                <a:cs typeface="Calibri"/>
                <a:sym typeface="Calibri"/>
              </a:rPr>
              <a:t>4</a:t>
            </a:r>
            <a:endParaRPr b="0" i="0" sz="1300" u="none" cap="none" strike="noStrike">
              <a:solidFill>
                <a:schemeClr val="dk1"/>
              </a:solidFill>
              <a:latin typeface="Calibri"/>
              <a:ea typeface="Calibri"/>
              <a:cs typeface="Calibri"/>
              <a:sym typeface="Calibri"/>
            </a:endParaRPr>
          </a:p>
        </p:txBody>
      </p:sp>
      <p:sp>
        <p:nvSpPr>
          <p:cNvPr id="3757" name="Google Shape;3757;p134"/>
          <p:cNvSpPr/>
          <p:nvPr/>
        </p:nvSpPr>
        <p:spPr>
          <a:xfrm>
            <a:off x="1005840" y="4369003"/>
            <a:ext cx="10682935"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D2A5C"/>
              </a:buClr>
              <a:buSzPts val="1400"/>
              <a:buFont typeface="Calibri"/>
              <a:buNone/>
            </a:pPr>
            <a:r>
              <a:rPr b="1" i="0" lang="en-US" sz="1400" u="none" cap="none" strike="noStrike">
                <a:solidFill>
                  <a:srgbClr val="1D2A5C"/>
                </a:solidFill>
                <a:latin typeface="Calibri"/>
                <a:ea typeface="Calibri"/>
                <a:cs typeface="Calibri"/>
                <a:sym typeface="Calibri"/>
              </a:rPr>
              <a:t>Throughput ≠ latency</a:t>
            </a:r>
            <a:endParaRPr b="0" i="0" sz="1400" u="none" cap="none" strike="noStrike">
              <a:solidFill>
                <a:schemeClr val="dk1"/>
              </a:solidFill>
              <a:latin typeface="Calibri"/>
              <a:ea typeface="Calibri"/>
              <a:cs typeface="Calibri"/>
              <a:sym typeface="Calibri"/>
            </a:endParaRPr>
          </a:p>
        </p:txBody>
      </p:sp>
      <p:sp>
        <p:nvSpPr>
          <p:cNvPr id="3758" name="Google Shape;3758;p134"/>
          <p:cNvSpPr/>
          <p:nvPr/>
        </p:nvSpPr>
        <p:spPr>
          <a:xfrm>
            <a:off x="1005840" y="4670755"/>
            <a:ext cx="10682935" cy="645566"/>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5F6B7A"/>
              </a:buClr>
              <a:buSzPts val="1150"/>
              <a:buFont typeface="Calibri"/>
              <a:buNone/>
            </a:pPr>
            <a:r>
              <a:rPr b="0" i="0" lang="en-US" sz="1150" u="none" cap="none" strike="noStrike">
                <a:solidFill>
                  <a:srgbClr val="5F6B7A"/>
                </a:solidFill>
                <a:latin typeface="Calibri"/>
                <a:ea typeface="Calibri"/>
                <a:cs typeface="Calibri"/>
                <a:sym typeface="Calibri"/>
              </a:rPr>
              <a:t>Batching raises FPS and worsens per-frame latency. Real-time line: batch=1. Overnight archive job: max batch. Both rows in the table.</a:t>
            </a:r>
            <a:endParaRPr b="0" i="0" sz="1150" u="none" cap="none" strike="noStrike">
              <a:solidFill>
                <a:schemeClr val="dk1"/>
              </a:solidFill>
              <a:latin typeface="Calibri"/>
              <a:ea typeface="Calibri"/>
              <a:cs typeface="Calibri"/>
              <a:sym typeface="Calibri"/>
            </a:endParaRPr>
          </a:p>
        </p:txBody>
      </p:sp>
      <p:sp>
        <p:nvSpPr>
          <p:cNvPr id="3759" name="Google Shape;3759;p134"/>
          <p:cNvSpPr/>
          <p:nvPr/>
        </p:nvSpPr>
        <p:spPr>
          <a:xfrm>
            <a:off x="502920" y="5426050"/>
            <a:ext cx="329184" cy="329184"/>
          </a:xfrm>
          <a:prstGeom prst="ellipse">
            <a:avLst/>
          </a:prstGeom>
          <a:solidFill>
            <a:srgbClr val="1D2A5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60" name="Google Shape;3760;p134"/>
          <p:cNvSpPr/>
          <p:nvPr/>
        </p:nvSpPr>
        <p:spPr>
          <a:xfrm>
            <a:off x="502920" y="5426050"/>
            <a:ext cx="329184" cy="32918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300"/>
              <a:buFont typeface="Calibri"/>
              <a:buNone/>
            </a:pPr>
            <a:r>
              <a:rPr b="1" i="0" lang="en-US" sz="1300" u="none" cap="none" strike="noStrike">
                <a:solidFill>
                  <a:srgbClr val="FFFFFF"/>
                </a:solidFill>
                <a:latin typeface="Calibri"/>
                <a:ea typeface="Calibri"/>
                <a:cs typeface="Calibri"/>
                <a:sym typeface="Calibri"/>
              </a:rPr>
              <a:t>5</a:t>
            </a:r>
            <a:endParaRPr b="0" i="0" sz="1300" u="none" cap="none" strike="noStrike">
              <a:solidFill>
                <a:schemeClr val="dk1"/>
              </a:solidFill>
              <a:latin typeface="Calibri"/>
              <a:ea typeface="Calibri"/>
              <a:cs typeface="Calibri"/>
              <a:sym typeface="Calibri"/>
            </a:endParaRPr>
          </a:p>
        </p:txBody>
      </p:sp>
      <p:sp>
        <p:nvSpPr>
          <p:cNvPr id="3761" name="Google Shape;3761;p134"/>
          <p:cNvSpPr/>
          <p:nvPr/>
        </p:nvSpPr>
        <p:spPr>
          <a:xfrm>
            <a:off x="1005840" y="5362042"/>
            <a:ext cx="10682935"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D2A5C"/>
              </a:buClr>
              <a:buSzPts val="1400"/>
              <a:buFont typeface="Calibri"/>
              <a:buNone/>
            </a:pPr>
            <a:r>
              <a:rPr b="1" i="0" lang="en-US" sz="1400" u="none" cap="none" strike="noStrike">
                <a:solidFill>
                  <a:srgbClr val="1D2A5C"/>
                </a:solidFill>
                <a:latin typeface="Calibri"/>
                <a:ea typeface="Calibri"/>
                <a:cs typeface="Calibri"/>
                <a:sym typeface="Calibri"/>
              </a:rPr>
              <a:t>Thermals are part of acceptance</a:t>
            </a:r>
            <a:endParaRPr b="0" i="0" sz="1400" u="none" cap="none" strike="noStrike">
              <a:solidFill>
                <a:schemeClr val="dk1"/>
              </a:solidFill>
              <a:latin typeface="Calibri"/>
              <a:ea typeface="Calibri"/>
              <a:cs typeface="Calibri"/>
              <a:sym typeface="Calibri"/>
            </a:endParaRPr>
          </a:p>
        </p:txBody>
      </p:sp>
      <p:sp>
        <p:nvSpPr>
          <p:cNvPr id="3762" name="Google Shape;3762;p134"/>
          <p:cNvSpPr/>
          <p:nvPr/>
        </p:nvSpPr>
        <p:spPr>
          <a:xfrm>
            <a:off x="1005840" y="5663794"/>
            <a:ext cx="10682935" cy="645566"/>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5F6B7A"/>
              </a:buClr>
              <a:buSzPts val="1150"/>
              <a:buFont typeface="Calibri"/>
              <a:buNone/>
            </a:pPr>
            <a:r>
              <a:rPr b="0" i="0" lang="en-US" sz="1150" u="none" cap="none" strike="noStrike">
                <a:solidFill>
                  <a:srgbClr val="5F6B7A"/>
                </a:solidFill>
                <a:latin typeface="Calibri"/>
                <a:ea typeface="Calibri"/>
                <a:cs typeface="Calibri"/>
                <a:sym typeface="Calibri"/>
              </a:rPr>
              <a:t>Boxes in Gulf ambient temperatures throttle — a 10-minute sustained-load run belongs in acceptance testing.</a:t>
            </a:r>
            <a:endParaRPr b="0" i="0" sz="1150" u="none" cap="none" strike="noStrike">
              <a:solidFill>
                <a:schemeClr val="dk1"/>
              </a:solidFill>
              <a:latin typeface="Calibri"/>
              <a:ea typeface="Calibri"/>
              <a:cs typeface="Calibri"/>
              <a:sym typeface="Calibri"/>
            </a:endParaRPr>
          </a:p>
        </p:txBody>
      </p:sp>
    </p:spTree>
  </p:cSld>
  <p:clrMapOvr>
    <a:masterClrMapping/>
  </p:clrMapOvr>
</p:sld>
</file>

<file path=ppt/slides/slide1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767" name="Shape 3767"/>
        <p:cNvGrpSpPr/>
        <p:nvPr/>
      </p:nvGrpSpPr>
      <p:grpSpPr>
        <a:xfrm>
          <a:off x="0" y="0"/>
          <a:ext cx="0" cy="0"/>
          <a:chOff x="0" y="0"/>
          <a:chExt cx="0" cy="0"/>
        </a:xfrm>
      </p:grpSpPr>
      <p:sp>
        <p:nvSpPr>
          <p:cNvPr id="3768" name="Google Shape;3768;p135"/>
          <p:cNvSpPr/>
          <p:nvPr/>
        </p:nvSpPr>
        <p:spPr>
          <a:xfrm>
            <a:off x="502920" y="274320"/>
            <a:ext cx="9646920" cy="56692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D2A5C"/>
              </a:buClr>
              <a:buSzPts val="2700"/>
              <a:buFont typeface="Calibri"/>
              <a:buNone/>
            </a:pPr>
            <a:r>
              <a:rPr b="1" i="0" lang="en-US" sz="2700" u="none" cap="none" strike="noStrike">
                <a:solidFill>
                  <a:srgbClr val="1D2A5C"/>
                </a:solidFill>
                <a:latin typeface="Calibri"/>
                <a:ea typeface="Calibri"/>
                <a:cs typeface="Calibri"/>
                <a:sym typeface="Calibri"/>
              </a:rPr>
              <a:t>The edge loop is production software</a:t>
            </a:r>
            <a:endParaRPr b="0" i="0" sz="2700" u="none" cap="none" strike="noStrike">
              <a:solidFill>
                <a:schemeClr val="dk1"/>
              </a:solidFill>
              <a:latin typeface="Calibri"/>
              <a:ea typeface="Calibri"/>
              <a:cs typeface="Calibri"/>
              <a:sym typeface="Calibri"/>
            </a:endParaRPr>
          </a:p>
        </p:txBody>
      </p:sp>
      <p:sp>
        <p:nvSpPr>
          <p:cNvPr id="3769" name="Google Shape;3769;p135"/>
          <p:cNvSpPr/>
          <p:nvPr/>
        </p:nvSpPr>
        <p:spPr>
          <a:xfrm>
            <a:off x="502920" y="859536"/>
            <a:ext cx="9646920" cy="31089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F6B7A"/>
              </a:buClr>
              <a:buSzPts val="1250"/>
              <a:buFont typeface="Arial"/>
              <a:buNone/>
            </a:pPr>
            <a:r>
              <a:rPr b="0" i="0" lang="en-US" sz="1250" u="none" cap="none" strike="noStrike">
                <a:solidFill>
                  <a:srgbClr val="5F6B7A"/>
                </a:solidFill>
                <a:latin typeface="Arial"/>
                <a:ea typeface="Arial"/>
                <a:cs typeface="Arial"/>
                <a:sym typeface="Arial"/>
              </a:rPr>
              <a:t>حلقة الاستدلال الطرفية</a:t>
            </a:r>
            <a:endParaRPr b="0" i="0" sz="1250" u="none" cap="none" strike="noStrike">
              <a:solidFill>
                <a:schemeClr val="dk1"/>
              </a:solidFill>
              <a:latin typeface="Calibri"/>
              <a:ea typeface="Calibri"/>
              <a:cs typeface="Calibri"/>
              <a:sym typeface="Calibri"/>
            </a:endParaRPr>
          </a:p>
        </p:txBody>
      </p:sp>
      <p:pic>
        <p:nvPicPr>
          <p:cNvPr descr="/sessions/blissful-determined-ritchie/build/assets/sdaia_logo.png" id="3770" name="Google Shape;3770;p135"/>
          <p:cNvPicPr preferRelativeResize="0"/>
          <p:nvPr/>
        </p:nvPicPr>
        <p:blipFill rotWithShape="1">
          <a:blip r:embed="rId3">
            <a:alphaModFix/>
          </a:blip>
          <a:srcRect b="0" l="0" r="0" t="0"/>
          <a:stretch/>
        </p:blipFill>
        <p:spPr>
          <a:xfrm>
            <a:off x="10625328" y="310896"/>
            <a:ext cx="1078992" cy="264111"/>
          </a:xfrm>
          <a:prstGeom prst="rect">
            <a:avLst/>
          </a:prstGeom>
          <a:noFill/>
          <a:ln>
            <a:noFill/>
          </a:ln>
        </p:spPr>
      </p:pic>
      <p:sp>
        <p:nvSpPr>
          <p:cNvPr id="3771" name="Google Shape;3771;p135"/>
          <p:cNvSpPr/>
          <p:nvPr/>
        </p:nvSpPr>
        <p:spPr>
          <a:xfrm>
            <a:off x="502920" y="6528816"/>
            <a:ext cx="8686800"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A79D"/>
              </a:buClr>
              <a:buSzPts val="800"/>
              <a:buFont typeface="Calibri"/>
              <a:buNone/>
            </a:pPr>
            <a:r>
              <a:rPr b="1" i="0" lang="en-US" sz="800" u="none" cap="none" strike="noStrike">
                <a:solidFill>
                  <a:srgbClr val="00A79D"/>
                </a:solidFill>
                <a:latin typeface="Calibri"/>
                <a:ea typeface="Calibri"/>
                <a:cs typeface="Calibri"/>
                <a:sym typeface="Calibri"/>
              </a:rPr>
              <a:t>MODULE 7   </a:t>
            </a:r>
            <a:r>
              <a:rPr b="0" i="0" lang="en-US" sz="800" u="none" cap="none" strike="noStrike">
                <a:solidFill>
                  <a:srgbClr val="8A96A6"/>
                </a:solidFill>
                <a:latin typeface="Calibri"/>
                <a:ea typeface="Calibri"/>
                <a:cs typeface="Calibri"/>
                <a:sym typeface="Calibri"/>
              </a:rPr>
              <a:t>SDA-AIE-212 · Computer Vision Systems Development</a:t>
            </a:r>
            <a:endParaRPr b="0" i="0" sz="800" u="none" cap="none" strike="noStrike">
              <a:solidFill>
                <a:schemeClr val="dk1"/>
              </a:solidFill>
              <a:latin typeface="Calibri"/>
              <a:ea typeface="Calibri"/>
              <a:cs typeface="Calibri"/>
              <a:sym typeface="Calibri"/>
            </a:endParaRPr>
          </a:p>
        </p:txBody>
      </p:sp>
      <p:sp>
        <p:nvSpPr>
          <p:cNvPr id="3772" name="Google Shape;3772;p135"/>
          <p:cNvSpPr/>
          <p:nvPr/>
        </p:nvSpPr>
        <p:spPr>
          <a:xfrm>
            <a:off x="11292840" y="6528816"/>
            <a:ext cx="411480" cy="219456"/>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8A96A6"/>
              </a:buClr>
              <a:buSzPts val="900"/>
              <a:buFont typeface="Calibri"/>
              <a:buNone/>
            </a:pPr>
            <a:r>
              <a:rPr b="0" i="0" lang="en-US" sz="900" u="none" cap="none" strike="noStrike">
                <a:solidFill>
                  <a:srgbClr val="8A96A6"/>
                </a:solidFill>
                <a:latin typeface="Calibri"/>
                <a:ea typeface="Calibri"/>
                <a:cs typeface="Calibri"/>
                <a:sym typeface="Calibri"/>
              </a:rPr>
              <a:t>135</a:t>
            </a:r>
            <a:endParaRPr b="0" i="0" sz="900" u="none" cap="none" strike="noStrike">
              <a:solidFill>
                <a:schemeClr val="dk1"/>
              </a:solidFill>
              <a:latin typeface="Calibri"/>
              <a:ea typeface="Calibri"/>
              <a:cs typeface="Calibri"/>
              <a:sym typeface="Calibri"/>
            </a:endParaRPr>
          </a:p>
        </p:txBody>
      </p:sp>
      <p:sp>
        <p:nvSpPr>
          <p:cNvPr id="3773" name="Google Shape;3773;p135"/>
          <p:cNvSpPr/>
          <p:nvPr/>
        </p:nvSpPr>
        <p:spPr>
          <a:xfrm>
            <a:off x="502920" y="1559052"/>
            <a:ext cx="329184" cy="329184"/>
          </a:xfrm>
          <a:prstGeom prst="ellipse">
            <a:avLst/>
          </a:prstGeom>
          <a:solidFill>
            <a:srgbClr val="00A79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74" name="Google Shape;3774;p135"/>
          <p:cNvSpPr/>
          <p:nvPr/>
        </p:nvSpPr>
        <p:spPr>
          <a:xfrm>
            <a:off x="502920" y="1559052"/>
            <a:ext cx="329184" cy="32918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300"/>
              <a:buFont typeface="Calibri"/>
              <a:buNone/>
            </a:pPr>
            <a:r>
              <a:rPr b="1" i="0" lang="en-US" sz="1300" u="none" cap="none" strike="noStrike">
                <a:solidFill>
                  <a:srgbClr val="FFFFFF"/>
                </a:solidFill>
                <a:latin typeface="Calibri"/>
                <a:ea typeface="Calibri"/>
                <a:cs typeface="Calibri"/>
                <a:sym typeface="Calibri"/>
              </a:rPr>
              <a:t>1</a:t>
            </a:r>
            <a:endParaRPr b="0" i="0" sz="1300" u="none" cap="none" strike="noStrike">
              <a:solidFill>
                <a:schemeClr val="dk1"/>
              </a:solidFill>
              <a:latin typeface="Calibri"/>
              <a:ea typeface="Calibri"/>
              <a:cs typeface="Calibri"/>
              <a:sym typeface="Calibri"/>
            </a:endParaRPr>
          </a:p>
        </p:txBody>
      </p:sp>
      <p:sp>
        <p:nvSpPr>
          <p:cNvPr id="3775" name="Google Shape;3775;p135"/>
          <p:cNvSpPr/>
          <p:nvPr/>
        </p:nvSpPr>
        <p:spPr>
          <a:xfrm>
            <a:off x="1005840" y="1495044"/>
            <a:ext cx="493776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D2A5C"/>
              </a:buClr>
              <a:buSzPts val="1400"/>
              <a:buFont typeface="Calibri"/>
              <a:buNone/>
            </a:pPr>
            <a:r>
              <a:rPr b="1" i="0" lang="en-US" sz="1400" u="none" cap="none" strike="noStrike">
                <a:solidFill>
                  <a:srgbClr val="1D2A5C"/>
                </a:solidFill>
                <a:latin typeface="Calibri"/>
                <a:ea typeface="Calibri"/>
                <a:cs typeface="Calibri"/>
                <a:sym typeface="Calibri"/>
              </a:rPr>
              <a:t>Drop-oldest ring buffer</a:t>
            </a:r>
            <a:endParaRPr b="0" i="0" sz="1400" u="none" cap="none" strike="noStrike">
              <a:solidFill>
                <a:schemeClr val="dk1"/>
              </a:solidFill>
              <a:latin typeface="Calibri"/>
              <a:ea typeface="Calibri"/>
              <a:cs typeface="Calibri"/>
              <a:sym typeface="Calibri"/>
            </a:endParaRPr>
          </a:p>
        </p:txBody>
      </p:sp>
      <p:sp>
        <p:nvSpPr>
          <p:cNvPr id="3776" name="Google Shape;3776;p135"/>
          <p:cNvSpPr/>
          <p:nvPr/>
        </p:nvSpPr>
        <p:spPr>
          <a:xfrm>
            <a:off x="1005840" y="1796796"/>
            <a:ext cx="4937760" cy="841248"/>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5F6B7A"/>
              </a:buClr>
              <a:buSzPts val="1150"/>
              <a:buFont typeface="Calibri"/>
              <a:buNone/>
            </a:pPr>
            <a:r>
              <a:rPr b="0" i="0" lang="en-US" sz="1150" u="none" cap="none" strike="noStrike">
                <a:solidFill>
                  <a:srgbClr val="5F6B7A"/>
                </a:solidFill>
                <a:latin typeface="Calibri"/>
                <a:ea typeface="Calibri"/>
                <a:cs typeface="Calibri"/>
                <a:sym typeface="Calibri"/>
              </a:rPr>
              <a:t>Stale frames are worthless on a moving belt; one structured JSON log per decision.</a:t>
            </a:r>
            <a:endParaRPr b="0" i="0" sz="1150" u="none" cap="none" strike="noStrike">
              <a:solidFill>
                <a:schemeClr val="dk1"/>
              </a:solidFill>
              <a:latin typeface="Calibri"/>
              <a:ea typeface="Calibri"/>
              <a:cs typeface="Calibri"/>
              <a:sym typeface="Calibri"/>
            </a:endParaRPr>
          </a:p>
        </p:txBody>
      </p:sp>
      <p:sp>
        <p:nvSpPr>
          <p:cNvPr id="3777" name="Google Shape;3777;p135"/>
          <p:cNvSpPr/>
          <p:nvPr/>
        </p:nvSpPr>
        <p:spPr>
          <a:xfrm>
            <a:off x="502920" y="2747772"/>
            <a:ext cx="329184" cy="329184"/>
          </a:xfrm>
          <a:prstGeom prst="ellipse">
            <a:avLst/>
          </a:prstGeom>
          <a:solidFill>
            <a:srgbClr val="29ABE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78" name="Google Shape;3778;p135"/>
          <p:cNvSpPr/>
          <p:nvPr/>
        </p:nvSpPr>
        <p:spPr>
          <a:xfrm>
            <a:off x="502920" y="2747772"/>
            <a:ext cx="329184" cy="32918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300"/>
              <a:buFont typeface="Calibri"/>
              <a:buNone/>
            </a:pPr>
            <a:r>
              <a:rPr b="1" i="0" lang="en-US" sz="1300" u="none" cap="none" strike="noStrike">
                <a:solidFill>
                  <a:srgbClr val="FFFFFF"/>
                </a:solidFill>
                <a:latin typeface="Calibri"/>
                <a:ea typeface="Calibri"/>
                <a:cs typeface="Calibri"/>
                <a:sym typeface="Calibri"/>
              </a:rPr>
              <a:t>2</a:t>
            </a:r>
            <a:endParaRPr b="0" i="0" sz="1300" u="none" cap="none" strike="noStrike">
              <a:solidFill>
                <a:schemeClr val="dk1"/>
              </a:solidFill>
              <a:latin typeface="Calibri"/>
              <a:ea typeface="Calibri"/>
              <a:cs typeface="Calibri"/>
              <a:sym typeface="Calibri"/>
            </a:endParaRPr>
          </a:p>
        </p:txBody>
      </p:sp>
      <p:sp>
        <p:nvSpPr>
          <p:cNvPr id="3779" name="Google Shape;3779;p135"/>
          <p:cNvSpPr/>
          <p:nvPr/>
        </p:nvSpPr>
        <p:spPr>
          <a:xfrm>
            <a:off x="1005840" y="2683764"/>
            <a:ext cx="493776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D2A5C"/>
              </a:buClr>
              <a:buSzPts val="1400"/>
              <a:buFont typeface="Calibri"/>
              <a:buNone/>
            </a:pPr>
            <a:r>
              <a:rPr b="1" i="0" lang="en-US" sz="1400" u="none" cap="none" strike="noStrike">
                <a:solidFill>
                  <a:srgbClr val="1D2A5C"/>
                </a:solidFill>
                <a:latin typeface="Calibri"/>
                <a:ea typeface="Calibri"/>
                <a:cs typeface="Calibri"/>
                <a:sym typeface="Calibri"/>
              </a:rPr>
              <a:t>Fallback ladder — agreed before go-live</a:t>
            </a:r>
            <a:endParaRPr b="0" i="0" sz="1400" u="none" cap="none" strike="noStrike">
              <a:solidFill>
                <a:schemeClr val="dk1"/>
              </a:solidFill>
              <a:latin typeface="Calibri"/>
              <a:ea typeface="Calibri"/>
              <a:cs typeface="Calibri"/>
              <a:sym typeface="Calibri"/>
            </a:endParaRPr>
          </a:p>
        </p:txBody>
      </p:sp>
      <p:sp>
        <p:nvSpPr>
          <p:cNvPr id="3780" name="Google Shape;3780;p135"/>
          <p:cNvSpPr/>
          <p:nvPr/>
        </p:nvSpPr>
        <p:spPr>
          <a:xfrm>
            <a:off x="1005840" y="2985516"/>
            <a:ext cx="4937760" cy="841248"/>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5F6B7A"/>
              </a:buClr>
              <a:buSzPts val="1150"/>
              <a:buFont typeface="Calibri"/>
              <a:buNone/>
            </a:pPr>
            <a:r>
              <a:rPr b="0" i="0" lang="en-US" sz="1150" u="none" cap="none" strike="noStrike">
                <a:solidFill>
                  <a:srgbClr val="5F6B7A"/>
                </a:solidFill>
                <a:latin typeface="Calibri"/>
                <a:ea typeface="Calibri"/>
                <a:cs typeface="Calibri"/>
                <a:sym typeface="Calibri"/>
              </a:rPr>
              <a:t>Model unhealthy: line moves + alert + spool, or line stops? A food-safety call, not engineering.</a:t>
            </a:r>
            <a:endParaRPr b="0" i="0" sz="1150" u="none" cap="none" strike="noStrike">
              <a:solidFill>
                <a:schemeClr val="dk1"/>
              </a:solidFill>
              <a:latin typeface="Calibri"/>
              <a:ea typeface="Calibri"/>
              <a:cs typeface="Calibri"/>
              <a:sym typeface="Calibri"/>
            </a:endParaRPr>
          </a:p>
        </p:txBody>
      </p:sp>
      <p:sp>
        <p:nvSpPr>
          <p:cNvPr id="3781" name="Google Shape;3781;p135"/>
          <p:cNvSpPr/>
          <p:nvPr/>
        </p:nvSpPr>
        <p:spPr>
          <a:xfrm>
            <a:off x="502920" y="3936492"/>
            <a:ext cx="329184" cy="329184"/>
          </a:xfrm>
          <a:prstGeom prst="ellipse">
            <a:avLst/>
          </a:prstGeom>
          <a:solidFill>
            <a:srgbClr val="F5822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82" name="Google Shape;3782;p135"/>
          <p:cNvSpPr/>
          <p:nvPr/>
        </p:nvSpPr>
        <p:spPr>
          <a:xfrm>
            <a:off x="502920" y="3936492"/>
            <a:ext cx="329184" cy="32918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300"/>
              <a:buFont typeface="Calibri"/>
              <a:buNone/>
            </a:pPr>
            <a:r>
              <a:rPr b="1" i="0" lang="en-US" sz="1300" u="none" cap="none" strike="noStrike">
                <a:solidFill>
                  <a:srgbClr val="FFFFFF"/>
                </a:solidFill>
                <a:latin typeface="Calibri"/>
                <a:ea typeface="Calibri"/>
                <a:cs typeface="Calibri"/>
                <a:sym typeface="Calibri"/>
              </a:rPr>
              <a:t>3</a:t>
            </a:r>
            <a:endParaRPr b="0" i="0" sz="1300" u="none" cap="none" strike="noStrike">
              <a:solidFill>
                <a:schemeClr val="dk1"/>
              </a:solidFill>
              <a:latin typeface="Calibri"/>
              <a:ea typeface="Calibri"/>
              <a:cs typeface="Calibri"/>
              <a:sym typeface="Calibri"/>
            </a:endParaRPr>
          </a:p>
        </p:txBody>
      </p:sp>
      <p:sp>
        <p:nvSpPr>
          <p:cNvPr id="3783" name="Google Shape;3783;p135"/>
          <p:cNvSpPr/>
          <p:nvPr/>
        </p:nvSpPr>
        <p:spPr>
          <a:xfrm>
            <a:off x="1005840" y="3872484"/>
            <a:ext cx="493776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D2A5C"/>
              </a:buClr>
              <a:buSzPts val="1400"/>
              <a:buFont typeface="Calibri"/>
              <a:buNone/>
            </a:pPr>
            <a:r>
              <a:rPr b="1" i="0" lang="en-US" sz="1400" u="none" cap="none" strike="noStrike">
                <a:solidFill>
                  <a:srgbClr val="1D2A5C"/>
                </a:solidFill>
                <a:latin typeface="Calibri"/>
                <a:ea typeface="Calibri"/>
                <a:cs typeface="Calibri"/>
                <a:sym typeface="Calibri"/>
              </a:rPr>
              <a:t>Updates as versioned bundles</a:t>
            </a:r>
            <a:endParaRPr b="0" i="0" sz="1400" u="none" cap="none" strike="noStrike">
              <a:solidFill>
                <a:schemeClr val="dk1"/>
              </a:solidFill>
              <a:latin typeface="Calibri"/>
              <a:ea typeface="Calibri"/>
              <a:cs typeface="Calibri"/>
              <a:sym typeface="Calibri"/>
            </a:endParaRPr>
          </a:p>
        </p:txBody>
      </p:sp>
      <p:sp>
        <p:nvSpPr>
          <p:cNvPr id="3784" name="Google Shape;3784;p135"/>
          <p:cNvSpPr/>
          <p:nvPr/>
        </p:nvSpPr>
        <p:spPr>
          <a:xfrm>
            <a:off x="1005840" y="4174236"/>
            <a:ext cx="4937760" cy="841248"/>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5F6B7A"/>
              </a:buClr>
              <a:buSzPts val="1150"/>
              <a:buFont typeface="Calibri"/>
              <a:buNone/>
            </a:pPr>
            <a:r>
              <a:rPr b="0" i="0" lang="en-US" sz="1150" u="none" cap="none" strike="noStrike">
                <a:solidFill>
                  <a:srgbClr val="5F6B7A"/>
                </a:solidFill>
                <a:latin typeface="Calibri"/>
                <a:ea typeface="Calibri"/>
                <a:cs typeface="Calibri"/>
                <a:sym typeface="Calibri"/>
              </a:rPr>
              <a:t>ONNX + config + contract + harness report; shadow → one line → fleet; rollback = config flip.</a:t>
            </a:r>
            <a:endParaRPr b="0" i="0" sz="1150" u="none" cap="none" strike="noStrike">
              <a:solidFill>
                <a:schemeClr val="dk1"/>
              </a:solidFill>
              <a:latin typeface="Calibri"/>
              <a:ea typeface="Calibri"/>
              <a:cs typeface="Calibri"/>
              <a:sym typeface="Calibri"/>
            </a:endParaRPr>
          </a:p>
        </p:txBody>
      </p:sp>
      <p:sp>
        <p:nvSpPr>
          <p:cNvPr id="3785" name="Google Shape;3785;p135"/>
          <p:cNvSpPr/>
          <p:nvPr/>
        </p:nvSpPr>
        <p:spPr>
          <a:xfrm>
            <a:off x="502920" y="5125212"/>
            <a:ext cx="329184" cy="329184"/>
          </a:xfrm>
          <a:prstGeom prst="ellipse">
            <a:avLst/>
          </a:prstGeom>
          <a:solidFill>
            <a:srgbClr val="8DC63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86" name="Google Shape;3786;p135"/>
          <p:cNvSpPr/>
          <p:nvPr/>
        </p:nvSpPr>
        <p:spPr>
          <a:xfrm>
            <a:off x="502920" y="5125212"/>
            <a:ext cx="329184" cy="32918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300"/>
              <a:buFont typeface="Calibri"/>
              <a:buNone/>
            </a:pPr>
            <a:r>
              <a:rPr b="1" i="0" lang="en-US" sz="1300" u="none" cap="none" strike="noStrike">
                <a:solidFill>
                  <a:srgbClr val="FFFFFF"/>
                </a:solidFill>
                <a:latin typeface="Calibri"/>
                <a:ea typeface="Calibri"/>
                <a:cs typeface="Calibri"/>
                <a:sym typeface="Calibri"/>
              </a:rPr>
              <a:t>4</a:t>
            </a:r>
            <a:endParaRPr b="0" i="0" sz="1300" u="none" cap="none" strike="noStrike">
              <a:solidFill>
                <a:schemeClr val="dk1"/>
              </a:solidFill>
              <a:latin typeface="Calibri"/>
              <a:ea typeface="Calibri"/>
              <a:cs typeface="Calibri"/>
              <a:sym typeface="Calibri"/>
            </a:endParaRPr>
          </a:p>
        </p:txBody>
      </p:sp>
      <p:sp>
        <p:nvSpPr>
          <p:cNvPr id="3787" name="Google Shape;3787;p135"/>
          <p:cNvSpPr/>
          <p:nvPr/>
        </p:nvSpPr>
        <p:spPr>
          <a:xfrm>
            <a:off x="1005840" y="5061204"/>
            <a:ext cx="493776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D2A5C"/>
              </a:buClr>
              <a:buSzPts val="1400"/>
              <a:buFont typeface="Calibri"/>
              <a:buNone/>
            </a:pPr>
            <a:r>
              <a:rPr b="1" i="0" lang="en-US" sz="1400" u="none" cap="none" strike="noStrike">
                <a:solidFill>
                  <a:srgbClr val="1D2A5C"/>
                </a:solidFill>
                <a:latin typeface="Calibri"/>
                <a:ea typeface="Calibri"/>
                <a:cs typeface="Calibri"/>
                <a:sym typeface="Calibri"/>
              </a:rPr>
              <a:t>Security and residency</a:t>
            </a:r>
            <a:endParaRPr b="0" i="0" sz="1400" u="none" cap="none" strike="noStrike">
              <a:solidFill>
                <a:schemeClr val="dk1"/>
              </a:solidFill>
              <a:latin typeface="Calibri"/>
              <a:ea typeface="Calibri"/>
              <a:cs typeface="Calibri"/>
              <a:sym typeface="Calibri"/>
            </a:endParaRPr>
          </a:p>
        </p:txBody>
      </p:sp>
      <p:sp>
        <p:nvSpPr>
          <p:cNvPr id="3788" name="Google Shape;3788;p135"/>
          <p:cNvSpPr/>
          <p:nvPr/>
        </p:nvSpPr>
        <p:spPr>
          <a:xfrm>
            <a:off x="1005840" y="5362956"/>
            <a:ext cx="4937760" cy="841248"/>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5F6B7A"/>
              </a:buClr>
              <a:buSzPts val="1150"/>
              <a:buFont typeface="Calibri"/>
              <a:buNone/>
            </a:pPr>
            <a:r>
              <a:rPr b="0" i="0" lang="en-US" sz="1150" u="none" cap="none" strike="noStrike">
                <a:solidFill>
                  <a:srgbClr val="5F6B7A"/>
                </a:solidFill>
                <a:latin typeface="Calibri"/>
                <a:ea typeface="Calibri"/>
                <a:cs typeface="Calibri"/>
                <a:sym typeface="Calibri"/>
              </a:rPr>
              <a:t>No raw-frame retention beyond a bounded incident buffer; telemetry is structured events.</a:t>
            </a:r>
            <a:endParaRPr b="0" i="0" sz="1150" u="none" cap="none" strike="noStrike">
              <a:solidFill>
                <a:schemeClr val="dk1"/>
              </a:solidFill>
              <a:latin typeface="Calibri"/>
              <a:ea typeface="Calibri"/>
              <a:cs typeface="Calibri"/>
              <a:sym typeface="Calibri"/>
            </a:endParaRPr>
          </a:p>
        </p:txBody>
      </p:sp>
      <p:sp>
        <p:nvSpPr>
          <p:cNvPr id="3789" name="Google Shape;3789;p135"/>
          <p:cNvSpPr/>
          <p:nvPr/>
        </p:nvSpPr>
        <p:spPr>
          <a:xfrm>
            <a:off x="6355080" y="2866644"/>
            <a:ext cx="1044702" cy="1371600"/>
          </a:xfrm>
          <a:prstGeom prst="roundRect">
            <a:avLst>
              <a:gd fmla="val 6127" name="adj"/>
            </a:avLst>
          </a:prstGeom>
          <a:solidFill>
            <a:srgbClr val="F2F6F9"/>
          </a:solidFill>
          <a:ln cap="flat" cmpd="sng" w="15875">
            <a:solidFill>
              <a:srgbClr val="00A79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90" name="Google Shape;3790;p135"/>
          <p:cNvSpPr/>
          <p:nvPr/>
        </p:nvSpPr>
        <p:spPr>
          <a:xfrm>
            <a:off x="6428232" y="2921508"/>
            <a:ext cx="898398" cy="6172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D2A5C"/>
              </a:buClr>
              <a:buSzPts val="1250"/>
              <a:buFont typeface="Calibri"/>
              <a:buNone/>
            </a:pPr>
            <a:r>
              <a:rPr b="1" i="0" lang="en-US" sz="1250" u="none" cap="none" strike="noStrike">
                <a:solidFill>
                  <a:srgbClr val="1D2A5C"/>
                </a:solidFill>
                <a:latin typeface="Calibri"/>
                <a:ea typeface="Calibri"/>
                <a:cs typeface="Calibri"/>
                <a:sym typeface="Calibri"/>
              </a:rPr>
              <a:t>Capture</a:t>
            </a:r>
            <a:endParaRPr b="0" i="0" sz="1250" u="none" cap="none" strike="noStrike">
              <a:solidFill>
                <a:schemeClr val="dk1"/>
              </a:solidFill>
              <a:latin typeface="Calibri"/>
              <a:ea typeface="Calibri"/>
              <a:cs typeface="Calibri"/>
              <a:sym typeface="Calibri"/>
            </a:endParaRPr>
          </a:p>
        </p:txBody>
      </p:sp>
      <p:sp>
        <p:nvSpPr>
          <p:cNvPr id="3791" name="Google Shape;3791;p135"/>
          <p:cNvSpPr/>
          <p:nvPr/>
        </p:nvSpPr>
        <p:spPr>
          <a:xfrm>
            <a:off x="6428232" y="3525012"/>
            <a:ext cx="898398" cy="658368"/>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rgbClr val="5F6B7A"/>
              </a:buClr>
              <a:buSzPts val="950"/>
              <a:buFont typeface="Calibri"/>
              <a:buNone/>
            </a:pPr>
            <a:r>
              <a:rPr b="0" i="0" lang="en-US" sz="950" u="none" cap="none" strike="noStrike">
                <a:solidFill>
                  <a:srgbClr val="5F6B7A"/>
                </a:solidFill>
                <a:latin typeface="Calibri"/>
                <a:ea typeface="Calibri"/>
                <a:cs typeface="Calibri"/>
                <a:sym typeface="Calibri"/>
              </a:rPr>
              <a:t>ring buffer</a:t>
            </a:r>
            <a:endParaRPr b="0" i="0" sz="950" u="none" cap="none" strike="noStrike">
              <a:solidFill>
                <a:schemeClr val="dk1"/>
              </a:solidFill>
              <a:latin typeface="Calibri"/>
              <a:ea typeface="Calibri"/>
              <a:cs typeface="Calibri"/>
              <a:sym typeface="Calibri"/>
            </a:endParaRPr>
          </a:p>
        </p:txBody>
      </p:sp>
      <p:cxnSp>
        <p:nvCxnSpPr>
          <p:cNvPr id="3792" name="Google Shape;3792;p135"/>
          <p:cNvCxnSpPr/>
          <p:nvPr/>
        </p:nvCxnSpPr>
        <p:spPr>
          <a:xfrm>
            <a:off x="7454646" y="3552444"/>
            <a:ext cx="274320" cy="0"/>
          </a:xfrm>
          <a:prstGeom prst="straightConnector1">
            <a:avLst/>
          </a:prstGeom>
          <a:noFill/>
          <a:ln cap="flat" cmpd="sng" w="19050">
            <a:solidFill>
              <a:srgbClr val="8A96A6"/>
            </a:solidFill>
            <a:prstDash val="solid"/>
            <a:round/>
            <a:headEnd len="sm" w="sm" type="none"/>
            <a:tailEnd len="med" w="med" type="triangle"/>
          </a:ln>
        </p:spPr>
      </p:cxnSp>
      <p:sp>
        <p:nvSpPr>
          <p:cNvPr id="3793" name="Google Shape;3793;p135"/>
          <p:cNvSpPr/>
          <p:nvPr/>
        </p:nvSpPr>
        <p:spPr>
          <a:xfrm>
            <a:off x="7783830" y="2866644"/>
            <a:ext cx="1044702" cy="1371600"/>
          </a:xfrm>
          <a:prstGeom prst="roundRect">
            <a:avLst>
              <a:gd fmla="val 6127" name="adj"/>
            </a:avLst>
          </a:prstGeom>
          <a:solidFill>
            <a:srgbClr val="F2F6F9"/>
          </a:solidFill>
          <a:ln cap="flat" cmpd="sng" w="15875">
            <a:solidFill>
              <a:srgbClr val="00A79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94" name="Google Shape;3794;p135"/>
          <p:cNvSpPr/>
          <p:nvPr/>
        </p:nvSpPr>
        <p:spPr>
          <a:xfrm>
            <a:off x="7856982" y="2921508"/>
            <a:ext cx="898398" cy="6172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D2A5C"/>
              </a:buClr>
              <a:buSzPts val="1250"/>
              <a:buFont typeface="Calibri"/>
              <a:buNone/>
            </a:pPr>
            <a:r>
              <a:rPr b="1" i="0" lang="en-US" sz="1250" u="none" cap="none" strike="noStrike">
                <a:solidFill>
                  <a:srgbClr val="1D2A5C"/>
                </a:solidFill>
                <a:latin typeface="Calibri"/>
                <a:ea typeface="Calibri"/>
                <a:cs typeface="Calibri"/>
                <a:sym typeface="Calibri"/>
              </a:rPr>
              <a:t>Preprocess</a:t>
            </a:r>
            <a:endParaRPr b="0" i="0" sz="1250" u="none" cap="none" strike="noStrike">
              <a:solidFill>
                <a:schemeClr val="dk1"/>
              </a:solidFill>
              <a:latin typeface="Calibri"/>
              <a:ea typeface="Calibri"/>
              <a:cs typeface="Calibri"/>
              <a:sym typeface="Calibri"/>
            </a:endParaRPr>
          </a:p>
        </p:txBody>
      </p:sp>
      <p:sp>
        <p:nvSpPr>
          <p:cNvPr id="3795" name="Google Shape;3795;p135"/>
          <p:cNvSpPr/>
          <p:nvPr/>
        </p:nvSpPr>
        <p:spPr>
          <a:xfrm>
            <a:off x="7856982" y="3525012"/>
            <a:ext cx="898398" cy="658368"/>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rgbClr val="5F6B7A"/>
              </a:buClr>
              <a:buSzPts val="950"/>
              <a:buFont typeface="Calibri"/>
              <a:buNone/>
            </a:pPr>
            <a:r>
              <a:rPr b="0" i="0" lang="en-US" sz="950" u="none" cap="none" strike="noStrike">
                <a:solidFill>
                  <a:srgbClr val="5F6B7A"/>
                </a:solidFill>
                <a:latin typeface="Calibri"/>
                <a:ea typeface="Calibri"/>
                <a:cs typeface="Calibri"/>
                <a:sym typeface="Calibri"/>
              </a:rPr>
              <a:t>contract parity</a:t>
            </a:r>
            <a:endParaRPr b="0" i="0" sz="950" u="none" cap="none" strike="noStrike">
              <a:solidFill>
                <a:schemeClr val="dk1"/>
              </a:solidFill>
              <a:latin typeface="Calibri"/>
              <a:ea typeface="Calibri"/>
              <a:cs typeface="Calibri"/>
              <a:sym typeface="Calibri"/>
            </a:endParaRPr>
          </a:p>
        </p:txBody>
      </p:sp>
      <p:cxnSp>
        <p:nvCxnSpPr>
          <p:cNvPr id="3796" name="Google Shape;3796;p135"/>
          <p:cNvCxnSpPr/>
          <p:nvPr/>
        </p:nvCxnSpPr>
        <p:spPr>
          <a:xfrm>
            <a:off x="8883396" y="3552444"/>
            <a:ext cx="274320" cy="0"/>
          </a:xfrm>
          <a:prstGeom prst="straightConnector1">
            <a:avLst/>
          </a:prstGeom>
          <a:noFill/>
          <a:ln cap="flat" cmpd="sng" w="19050">
            <a:solidFill>
              <a:srgbClr val="8A96A6"/>
            </a:solidFill>
            <a:prstDash val="solid"/>
            <a:round/>
            <a:headEnd len="sm" w="sm" type="none"/>
            <a:tailEnd len="med" w="med" type="triangle"/>
          </a:ln>
        </p:spPr>
      </p:cxnSp>
      <p:sp>
        <p:nvSpPr>
          <p:cNvPr id="3797" name="Google Shape;3797;p135"/>
          <p:cNvSpPr/>
          <p:nvPr/>
        </p:nvSpPr>
        <p:spPr>
          <a:xfrm>
            <a:off x="9212580" y="2866644"/>
            <a:ext cx="1044702" cy="1371600"/>
          </a:xfrm>
          <a:prstGeom prst="roundRect">
            <a:avLst>
              <a:gd fmla="val 6127" name="adj"/>
            </a:avLst>
          </a:prstGeom>
          <a:solidFill>
            <a:srgbClr val="F2F6F9"/>
          </a:solidFill>
          <a:ln cap="flat" cmpd="sng" w="15875">
            <a:solidFill>
              <a:srgbClr val="00A79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98" name="Google Shape;3798;p135"/>
          <p:cNvSpPr/>
          <p:nvPr/>
        </p:nvSpPr>
        <p:spPr>
          <a:xfrm>
            <a:off x="9285732" y="2921508"/>
            <a:ext cx="898398" cy="6172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D2A5C"/>
              </a:buClr>
              <a:buSzPts val="1250"/>
              <a:buFont typeface="Calibri"/>
              <a:buNone/>
            </a:pPr>
            <a:r>
              <a:rPr b="1" i="0" lang="en-US" sz="1250" u="none" cap="none" strike="noStrike">
                <a:solidFill>
                  <a:srgbClr val="1D2A5C"/>
                </a:solidFill>
                <a:latin typeface="Calibri"/>
                <a:ea typeface="Calibri"/>
                <a:cs typeface="Calibri"/>
                <a:sym typeface="Calibri"/>
              </a:rPr>
              <a:t>Infer + decide</a:t>
            </a:r>
            <a:endParaRPr b="0" i="0" sz="1250" u="none" cap="none" strike="noStrike">
              <a:solidFill>
                <a:schemeClr val="dk1"/>
              </a:solidFill>
              <a:latin typeface="Calibri"/>
              <a:ea typeface="Calibri"/>
              <a:cs typeface="Calibri"/>
              <a:sym typeface="Calibri"/>
            </a:endParaRPr>
          </a:p>
        </p:txBody>
      </p:sp>
      <p:sp>
        <p:nvSpPr>
          <p:cNvPr id="3799" name="Google Shape;3799;p135"/>
          <p:cNvSpPr/>
          <p:nvPr/>
        </p:nvSpPr>
        <p:spPr>
          <a:xfrm>
            <a:off x="9285732" y="3525012"/>
            <a:ext cx="898398" cy="658368"/>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rgbClr val="5F6B7A"/>
              </a:buClr>
              <a:buSzPts val="950"/>
              <a:buFont typeface="Calibri"/>
              <a:buNone/>
            </a:pPr>
            <a:r>
              <a:rPr b="0" i="0" lang="en-US" sz="950" u="none" cap="none" strike="noStrike">
                <a:solidFill>
                  <a:srgbClr val="5F6B7A"/>
                </a:solidFill>
                <a:latin typeface="Calibri"/>
                <a:ea typeface="Calibri"/>
                <a:cs typeface="Calibri"/>
                <a:sym typeface="Calibri"/>
              </a:rPr>
              <a:t>grading rules</a:t>
            </a:r>
            <a:endParaRPr b="0" i="0" sz="950" u="none" cap="none" strike="noStrike">
              <a:solidFill>
                <a:schemeClr val="dk1"/>
              </a:solidFill>
              <a:latin typeface="Calibri"/>
              <a:ea typeface="Calibri"/>
              <a:cs typeface="Calibri"/>
              <a:sym typeface="Calibri"/>
            </a:endParaRPr>
          </a:p>
        </p:txBody>
      </p:sp>
      <p:cxnSp>
        <p:nvCxnSpPr>
          <p:cNvPr id="3800" name="Google Shape;3800;p135"/>
          <p:cNvCxnSpPr/>
          <p:nvPr/>
        </p:nvCxnSpPr>
        <p:spPr>
          <a:xfrm>
            <a:off x="10312146" y="3552444"/>
            <a:ext cx="274320" cy="0"/>
          </a:xfrm>
          <a:prstGeom prst="straightConnector1">
            <a:avLst/>
          </a:prstGeom>
          <a:noFill/>
          <a:ln cap="flat" cmpd="sng" w="19050">
            <a:solidFill>
              <a:srgbClr val="8A96A6"/>
            </a:solidFill>
            <a:prstDash val="solid"/>
            <a:round/>
            <a:headEnd len="sm" w="sm" type="none"/>
            <a:tailEnd len="med" w="med" type="triangle"/>
          </a:ln>
        </p:spPr>
      </p:cxnSp>
      <p:cxnSp>
        <p:nvCxnSpPr>
          <p:cNvPr id="3801" name="Google Shape;3801;p135"/>
          <p:cNvCxnSpPr/>
          <p:nvPr/>
        </p:nvCxnSpPr>
        <p:spPr>
          <a:xfrm>
            <a:off x="9734931" y="4238244"/>
            <a:ext cx="0" cy="274320"/>
          </a:xfrm>
          <a:prstGeom prst="straightConnector1">
            <a:avLst/>
          </a:prstGeom>
          <a:noFill/>
          <a:ln cap="flat" cmpd="sng" w="15875">
            <a:solidFill>
              <a:srgbClr val="E8503A"/>
            </a:solidFill>
            <a:prstDash val="dash"/>
            <a:round/>
            <a:headEnd len="sm" w="sm" type="none"/>
            <a:tailEnd len="sm" w="sm" type="none"/>
          </a:ln>
        </p:spPr>
      </p:cxnSp>
      <p:sp>
        <p:nvSpPr>
          <p:cNvPr id="3802" name="Google Shape;3802;p135"/>
          <p:cNvSpPr/>
          <p:nvPr/>
        </p:nvSpPr>
        <p:spPr>
          <a:xfrm>
            <a:off x="9166860" y="4512564"/>
            <a:ext cx="1136142" cy="475488"/>
          </a:xfrm>
          <a:prstGeom prst="roundRect">
            <a:avLst>
              <a:gd fmla="val 11538" name="adj"/>
            </a:avLst>
          </a:prstGeom>
          <a:solidFill>
            <a:srgbClr val="FDEDEA"/>
          </a:solidFill>
          <a:ln cap="flat" cmpd="sng" w="12700">
            <a:solidFill>
              <a:srgbClr val="E8503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03" name="Google Shape;3803;p135"/>
          <p:cNvSpPr/>
          <p:nvPr/>
        </p:nvSpPr>
        <p:spPr>
          <a:xfrm>
            <a:off x="9212580" y="4512564"/>
            <a:ext cx="1044702" cy="47548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E8503A"/>
              </a:buClr>
              <a:buSzPts val="950"/>
              <a:buFont typeface="Calibri"/>
              <a:buNone/>
            </a:pPr>
            <a:r>
              <a:rPr b="1" i="0" lang="en-US" sz="950" u="none" cap="none" strike="noStrike">
                <a:solidFill>
                  <a:srgbClr val="E8503A"/>
                </a:solidFill>
                <a:latin typeface="Calibri"/>
                <a:ea typeface="Calibri"/>
                <a:cs typeface="Calibri"/>
                <a:sym typeface="Calibri"/>
              </a:rPr>
              <a:t>watchdog: latency + input-fingerprint drift</a:t>
            </a:r>
            <a:endParaRPr b="0" i="0" sz="950" u="none" cap="none" strike="noStrike">
              <a:solidFill>
                <a:schemeClr val="dk1"/>
              </a:solidFill>
              <a:latin typeface="Calibri"/>
              <a:ea typeface="Calibri"/>
              <a:cs typeface="Calibri"/>
              <a:sym typeface="Calibri"/>
            </a:endParaRPr>
          </a:p>
        </p:txBody>
      </p:sp>
      <p:sp>
        <p:nvSpPr>
          <p:cNvPr id="3804" name="Google Shape;3804;p135"/>
          <p:cNvSpPr/>
          <p:nvPr/>
        </p:nvSpPr>
        <p:spPr>
          <a:xfrm>
            <a:off x="10641330" y="2866644"/>
            <a:ext cx="1044702" cy="1371600"/>
          </a:xfrm>
          <a:prstGeom prst="roundRect">
            <a:avLst>
              <a:gd fmla="val 6127" name="adj"/>
            </a:avLst>
          </a:prstGeom>
          <a:solidFill>
            <a:srgbClr val="1D2A5C"/>
          </a:solidFill>
          <a:ln cap="flat" cmpd="sng" w="15875">
            <a:solidFill>
              <a:srgbClr val="00A79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05" name="Google Shape;3805;p135"/>
          <p:cNvSpPr/>
          <p:nvPr/>
        </p:nvSpPr>
        <p:spPr>
          <a:xfrm>
            <a:off x="10714482" y="2921508"/>
            <a:ext cx="898398" cy="6172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250"/>
              <a:buFont typeface="Calibri"/>
              <a:buNone/>
            </a:pPr>
            <a:r>
              <a:rPr b="1" i="0" lang="en-US" sz="1250" u="none" cap="none" strike="noStrike">
                <a:solidFill>
                  <a:srgbClr val="FFFFFF"/>
                </a:solidFill>
                <a:latin typeface="Calibri"/>
                <a:ea typeface="Calibri"/>
                <a:cs typeface="Calibri"/>
                <a:sym typeface="Calibri"/>
              </a:rPr>
              <a:t>Actuate</a:t>
            </a:r>
            <a:endParaRPr b="0" i="0" sz="1250" u="none" cap="none" strike="noStrike">
              <a:solidFill>
                <a:schemeClr val="dk1"/>
              </a:solidFill>
              <a:latin typeface="Calibri"/>
              <a:ea typeface="Calibri"/>
              <a:cs typeface="Calibri"/>
              <a:sym typeface="Calibri"/>
            </a:endParaRPr>
          </a:p>
        </p:txBody>
      </p:sp>
      <p:sp>
        <p:nvSpPr>
          <p:cNvPr id="3806" name="Google Shape;3806;p135"/>
          <p:cNvSpPr/>
          <p:nvPr/>
        </p:nvSpPr>
        <p:spPr>
          <a:xfrm>
            <a:off x="10714482" y="3525012"/>
            <a:ext cx="898398" cy="658368"/>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rgbClr val="B9C8E8"/>
              </a:buClr>
              <a:buSzPts val="950"/>
              <a:buFont typeface="Calibri"/>
              <a:buNone/>
            </a:pPr>
            <a:r>
              <a:rPr b="0" i="0" lang="en-US" sz="950" u="none" cap="none" strike="noStrike">
                <a:solidFill>
                  <a:srgbClr val="B9C8E8"/>
                </a:solidFill>
                <a:latin typeface="Calibri"/>
                <a:ea typeface="Calibri"/>
                <a:cs typeface="Calibri"/>
                <a:sym typeface="Calibri"/>
              </a:rPr>
              <a:t>+ JSON log</a:t>
            </a:r>
            <a:endParaRPr b="0" i="0" sz="950" u="none" cap="none" strike="noStrike">
              <a:solidFill>
                <a:schemeClr val="dk1"/>
              </a:solidFill>
              <a:latin typeface="Calibri"/>
              <a:ea typeface="Calibri"/>
              <a:cs typeface="Calibri"/>
              <a:sym typeface="Calibri"/>
            </a:endParaRPr>
          </a:p>
        </p:txBody>
      </p:sp>
    </p:spTree>
  </p:cSld>
  <p:clrMapOvr>
    <a:masterClrMapping/>
  </p:clrMapOvr>
</p:sld>
</file>

<file path=ppt/slides/slide1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811" name="Shape 3811"/>
        <p:cNvGrpSpPr/>
        <p:nvPr/>
      </p:nvGrpSpPr>
      <p:grpSpPr>
        <a:xfrm>
          <a:off x="0" y="0"/>
          <a:ext cx="0" cy="0"/>
          <a:chOff x="0" y="0"/>
          <a:chExt cx="0" cy="0"/>
        </a:xfrm>
      </p:grpSpPr>
      <p:sp>
        <p:nvSpPr>
          <p:cNvPr id="3812" name="Google Shape;3812;p136"/>
          <p:cNvSpPr/>
          <p:nvPr/>
        </p:nvSpPr>
        <p:spPr>
          <a:xfrm>
            <a:off x="502920" y="274320"/>
            <a:ext cx="9646920" cy="56692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D2A5C"/>
              </a:buClr>
              <a:buSzPts val="2700"/>
              <a:buFont typeface="Calibri"/>
              <a:buNone/>
            </a:pPr>
            <a:r>
              <a:rPr b="1" i="0" lang="en-US" sz="2700" u="none" cap="none" strike="noStrike">
                <a:solidFill>
                  <a:srgbClr val="1D2A5C"/>
                </a:solidFill>
                <a:latin typeface="Calibri"/>
                <a:ea typeface="Calibri"/>
                <a:cs typeface="Calibri"/>
                <a:sym typeface="Calibri"/>
              </a:rPr>
              <a:t>Common mistakes on the last mile</a:t>
            </a:r>
            <a:endParaRPr b="0" i="0" sz="2700" u="none" cap="none" strike="noStrike">
              <a:solidFill>
                <a:schemeClr val="dk1"/>
              </a:solidFill>
              <a:latin typeface="Calibri"/>
              <a:ea typeface="Calibri"/>
              <a:cs typeface="Calibri"/>
              <a:sym typeface="Calibri"/>
            </a:endParaRPr>
          </a:p>
        </p:txBody>
      </p:sp>
      <p:sp>
        <p:nvSpPr>
          <p:cNvPr id="3813" name="Google Shape;3813;p136"/>
          <p:cNvSpPr/>
          <p:nvPr/>
        </p:nvSpPr>
        <p:spPr>
          <a:xfrm>
            <a:off x="502920" y="859536"/>
            <a:ext cx="9646920" cy="31089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F6B7A"/>
              </a:buClr>
              <a:buSzPts val="1250"/>
              <a:buFont typeface="Arial"/>
              <a:buNone/>
            </a:pPr>
            <a:r>
              <a:rPr b="0" i="0" lang="en-US" sz="1250" u="none" cap="none" strike="noStrike">
                <a:solidFill>
                  <a:srgbClr val="5F6B7A"/>
                </a:solidFill>
                <a:latin typeface="Arial"/>
                <a:ea typeface="Arial"/>
                <a:cs typeface="Arial"/>
                <a:sym typeface="Arial"/>
              </a:rPr>
              <a:t>أخطاء شائعة</a:t>
            </a:r>
            <a:endParaRPr b="0" i="0" sz="1250" u="none" cap="none" strike="noStrike">
              <a:solidFill>
                <a:schemeClr val="dk1"/>
              </a:solidFill>
              <a:latin typeface="Calibri"/>
              <a:ea typeface="Calibri"/>
              <a:cs typeface="Calibri"/>
              <a:sym typeface="Calibri"/>
            </a:endParaRPr>
          </a:p>
        </p:txBody>
      </p:sp>
      <p:pic>
        <p:nvPicPr>
          <p:cNvPr descr="/sessions/blissful-determined-ritchie/build/assets/sdaia_logo.png" id="3814" name="Google Shape;3814;p136"/>
          <p:cNvPicPr preferRelativeResize="0"/>
          <p:nvPr/>
        </p:nvPicPr>
        <p:blipFill rotWithShape="1">
          <a:blip r:embed="rId3">
            <a:alphaModFix/>
          </a:blip>
          <a:srcRect b="0" l="0" r="0" t="0"/>
          <a:stretch/>
        </p:blipFill>
        <p:spPr>
          <a:xfrm>
            <a:off x="10625328" y="310896"/>
            <a:ext cx="1078992" cy="264111"/>
          </a:xfrm>
          <a:prstGeom prst="rect">
            <a:avLst/>
          </a:prstGeom>
          <a:noFill/>
          <a:ln>
            <a:noFill/>
          </a:ln>
        </p:spPr>
      </p:pic>
      <p:sp>
        <p:nvSpPr>
          <p:cNvPr id="3815" name="Google Shape;3815;p136"/>
          <p:cNvSpPr/>
          <p:nvPr/>
        </p:nvSpPr>
        <p:spPr>
          <a:xfrm>
            <a:off x="502920" y="6528816"/>
            <a:ext cx="8686800"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A79D"/>
              </a:buClr>
              <a:buSzPts val="800"/>
              <a:buFont typeface="Calibri"/>
              <a:buNone/>
            </a:pPr>
            <a:r>
              <a:rPr b="1" i="0" lang="en-US" sz="800" u="none" cap="none" strike="noStrike">
                <a:solidFill>
                  <a:srgbClr val="00A79D"/>
                </a:solidFill>
                <a:latin typeface="Calibri"/>
                <a:ea typeface="Calibri"/>
                <a:cs typeface="Calibri"/>
                <a:sym typeface="Calibri"/>
              </a:rPr>
              <a:t>MODULE 7   </a:t>
            </a:r>
            <a:r>
              <a:rPr b="0" i="0" lang="en-US" sz="800" u="none" cap="none" strike="noStrike">
                <a:solidFill>
                  <a:srgbClr val="8A96A6"/>
                </a:solidFill>
                <a:latin typeface="Calibri"/>
                <a:ea typeface="Calibri"/>
                <a:cs typeface="Calibri"/>
                <a:sym typeface="Calibri"/>
              </a:rPr>
              <a:t>SDA-AIE-212 · Computer Vision Systems Development</a:t>
            </a:r>
            <a:endParaRPr b="0" i="0" sz="800" u="none" cap="none" strike="noStrike">
              <a:solidFill>
                <a:schemeClr val="dk1"/>
              </a:solidFill>
              <a:latin typeface="Calibri"/>
              <a:ea typeface="Calibri"/>
              <a:cs typeface="Calibri"/>
              <a:sym typeface="Calibri"/>
            </a:endParaRPr>
          </a:p>
        </p:txBody>
      </p:sp>
      <p:sp>
        <p:nvSpPr>
          <p:cNvPr id="3816" name="Google Shape;3816;p136"/>
          <p:cNvSpPr/>
          <p:nvPr/>
        </p:nvSpPr>
        <p:spPr>
          <a:xfrm>
            <a:off x="11292840" y="6528816"/>
            <a:ext cx="411480" cy="219456"/>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8A96A6"/>
              </a:buClr>
              <a:buSzPts val="900"/>
              <a:buFont typeface="Calibri"/>
              <a:buNone/>
            </a:pPr>
            <a:r>
              <a:rPr b="0" i="0" lang="en-US" sz="900" u="none" cap="none" strike="noStrike">
                <a:solidFill>
                  <a:srgbClr val="8A96A6"/>
                </a:solidFill>
                <a:latin typeface="Calibri"/>
                <a:ea typeface="Calibri"/>
                <a:cs typeface="Calibri"/>
                <a:sym typeface="Calibri"/>
              </a:rPr>
              <a:t>136</a:t>
            </a:r>
            <a:endParaRPr b="0" i="0" sz="900" u="none" cap="none" strike="noStrike">
              <a:solidFill>
                <a:schemeClr val="dk1"/>
              </a:solidFill>
              <a:latin typeface="Calibri"/>
              <a:ea typeface="Calibri"/>
              <a:cs typeface="Calibri"/>
              <a:sym typeface="Calibri"/>
            </a:endParaRPr>
          </a:p>
        </p:txBody>
      </p:sp>
      <p:sp>
        <p:nvSpPr>
          <p:cNvPr id="3817" name="Google Shape;3817;p136"/>
          <p:cNvSpPr/>
          <p:nvPr/>
        </p:nvSpPr>
        <p:spPr>
          <a:xfrm>
            <a:off x="502920" y="1389888"/>
            <a:ext cx="11185855" cy="3657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5F6B7A"/>
              </a:buClr>
              <a:buSzPts val="1250"/>
              <a:buFont typeface="Calibri"/>
              <a:buNone/>
            </a:pPr>
            <a:r>
              <a:rPr b="0" i="1" lang="en-US" sz="1250" u="none" cap="none" strike="noStrike">
                <a:solidFill>
                  <a:srgbClr val="5F6B7A"/>
                </a:solidFill>
                <a:latin typeface="Calibri"/>
                <a:ea typeface="Calibri"/>
                <a:cs typeface="Calibri"/>
                <a:sym typeface="Calibri"/>
              </a:rPr>
              <a:t>Production hygiene: telemetry carries stage latencies + fingerprints per box; the previous bundle stays on-box for rollback.</a:t>
            </a:r>
            <a:endParaRPr b="0" i="0" sz="1250" u="none" cap="none" strike="noStrike">
              <a:solidFill>
                <a:schemeClr val="dk1"/>
              </a:solidFill>
              <a:latin typeface="Calibri"/>
              <a:ea typeface="Calibri"/>
              <a:cs typeface="Calibri"/>
              <a:sym typeface="Calibri"/>
            </a:endParaRPr>
          </a:p>
        </p:txBody>
      </p:sp>
      <p:graphicFrame>
        <p:nvGraphicFramePr>
          <p:cNvPr id="3818" name="Google Shape;3818;p136"/>
          <p:cNvGraphicFramePr/>
          <p:nvPr/>
        </p:nvGraphicFramePr>
        <p:xfrm>
          <a:off x="502920" y="1865376"/>
          <a:ext cx="3000000" cy="3000000"/>
        </p:xfrm>
        <a:graphic>
          <a:graphicData uri="http://schemas.openxmlformats.org/drawingml/2006/table">
            <a:tbl>
              <a:tblPr>
                <a:noFill/>
                <a:tableStyleId>{F80342BA-3033-44D6-9F91-622DC7A4C435}</a:tableStyleId>
              </a:tblPr>
              <a:tblGrid>
                <a:gridCol w="3316050"/>
                <a:gridCol w="3829050"/>
                <a:gridCol w="4040750"/>
              </a:tblGrid>
              <a:tr h="628325">
                <a:tc>
                  <a:txBody>
                    <a:bodyPr/>
                    <a:lstStyle/>
                    <a:p>
                      <a:pPr indent="0" lvl="0" marL="0" marR="0" rtl="0" algn="l">
                        <a:spcBef>
                          <a:spcPts val="0"/>
                        </a:spcBef>
                        <a:spcAft>
                          <a:spcPts val="0"/>
                        </a:spcAft>
                        <a:buClr>
                          <a:srgbClr val="FFFFFF"/>
                        </a:buClr>
                        <a:buSzPts val="1050"/>
                        <a:buFont typeface="Calibri"/>
                        <a:buNone/>
                      </a:pPr>
                      <a:r>
                        <a:rPr b="1" lang="en-US" sz="1050" u="none" cap="none" strike="noStrike">
                          <a:solidFill>
                            <a:srgbClr val="FFFFFF"/>
                          </a:solidFill>
                          <a:latin typeface="Calibri"/>
                          <a:ea typeface="Calibri"/>
                          <a:cs typeface="Calibri"/>
                          <a:sym typeface="Calibri"/>
                        </a:rPr>
                        <a:t>Mistake</a:t>
                      </a:r>
                      <a:endParaRPr sz="1050" u="none" cap="none" strike="noStrike">
                        <a:latin typeface="Calibri"/>
                        <a:ea typeface="Calibri"/>
                        <a:cs typeface="Calibri"/>
                        <a:sym typeface="Calibri"/>
                      </a:endParaRPr>
                    </a:p>
                  </a:txBody>
                  <a:tcPr marT="64000" marB="64000" marR="64000" marL="64000" anchor="ctr">
                    <a:lnL cap="flat" cmpd="sng" w="9525">
                      <a:solidFill>
                        <a:srgbClr val="D9E2EA"/>
                      </a:solidFill>
                      <a:prstDash val="solid"/>
                      <a:round/>
                      <a:headEnd len="sm" w="sm" type="none"/>
                      <a:tailEnd len="sm" w="sm" type="none"/>
                    </a:lnL>
                    <a:lnR cap="flat" cmpd="sng" w="9525">
                      <a:solidFill>
                        <a:srgbClr val="D9E2EA"/>
                      </a:solidFill>
                      <a:prstDash val="solid"/>
                      <a:round/>
                      <a:headEnd len="sm" w="sm" type="none"/>
                      <a:tailEnd len="sm" w="sm" type="none"/>
                    </a:lnR>
                    <a:lnT cap="flat" cmpd="sng" w="9525">
                      <a:solidFill>
                        <a:srgbClr val="D9E2EA"/>
                      </a:solidFill>
                      <a:prstDash val="solid"/>
                      <a:round/>
                      <a:headEnd len="sm" w="sm" type="none"/>
                      <a:tailEnd len="sm" w="sm" type="none"/>
                    </a:lnT>
                    <a:lnB cap="flat" cmpd="sng" w="9525">
                      <a:solidFill>
                        <a:srgbClr val="D9E2EA"/>
                      </a:solidFill>
                      <a:prstDash val="solid"/>
                      <a:round/>
                      <a:headEnd len="sm" w="sm" type="none"/>
                      <a:tailEnd len="sm" w="sm" type="none"/>
                    </a:lnB>
                    <a:solidFill>
                      <a:srgbClr val="1D2A5C"/>
                    </a:solidFill>
                  </a:tcPr>
                </a:tc>
                <a:tc>
                  <a:txBody>
                    <a:bodyPr/>
                    <a:lstStyle/>
                    <a:p>
                      <a:pPr indent="0" lvl="0" marL="0" marR="0" rtl="0" algn="l">
                        <a:spcBef>
                          <a:spcPts val="0"/>
                        </a:spcBef>
                        <a:spcAft>
                          <a:spcPts val="0"/>
                        </a:spcAft>
                        <a:buClr>
                          <a:srgbClr val="FFFFFF"/>
                        </a:buClr>
                        <a:buSzPts val="1050"/>
                        <a:buFont typeface="Calibri"/>
                        <a:buNone/>
                      </a:pPr>
                      <a:r>
                        <a:rPr b="1" lang="en-US" sz="1050" u="none" cap="none" strike="noStrike">
                          <a:solidFill>
                            <a:srgbClr val="FFFFFF"/>
                          </a:solidFill>
                          <a:latin typeface="Calibri"/>
                          <a:ea typeface="Calibri"/>
                          <a:cs typeface="Calibri"/>
                          <a:sym typeface="Calibri"/>
                        </a:rPr>
                        <a:t>Consequence</a:t>
                      </a:r>
                      <a:endParaRPr sz="1050" u="none" cap="none" strike="noStrike">
                        <a:latin typeface="Calibri"/>
                        <a:ea typeface="Calibri"/>
                        <a:cs typeface="Calibri"/>
                        <a:sym typeface="Calibri"/>
                      </a:endParaRPr>
                    </a:p>
                  </a:txBody>
                  <a:tcPr marT="64000" marB="64000" marR="64000" marL="64000" anchor="ctr">
                    <a:lnL cap="flat" cmpd="sng" w="9525">
                      <a:solidFill>
                        <a:srgbClr val="D9E2EA"/>
                      </a:solidFill>
                      <a:prstDash val="solid"/>
                      <a:round/>
                      <a:headEnd len="sm" w="sm" type="none"/>
                      <a:tailEnd len="sm" w="sm" type="none"/>
                    </a:lnL>
                    <a:lnR cap="flat" cmpd="sng" w="9525">
                      <a:solidFill>
                        <a:srgbClr val="D9E2EA"/>
                      </a:solidFill>
                      <a:prstDash val="solid"/>
                      <a:round/>
                      <a:headEnd len="sm" w="sm" type="none"/>
                      <a:tailEnd len="sm" w="sm" type="none"/>
                    </a:lnR>
                    <a:lnT cap="flat" cmpd="sng" w="9525">
                      <a:solidFill>
                        <a:srgbClr val="D9E2EA"/>
                      </a:solidFill>
                      <a:prstDash val="solid"/>
                      <a:round/>
                      <a:headEnd len="sm" w="sm" type="none"/>
                      <a:tailEnd len="sm" w="sm" type="none"/>
                    </a:lnT>
                    <a:lnB cap="flat" cmpd="sng" w="9525">
                      <a:solidFill>
                        <a:srgbClr val="D9E2EA"/>
                      </a:solidFill>
                      <a:prstDash val="solid"/>
                      <a:round/>
                      <a:headEnd len="sm" w="sm" type="none"/>
                      <a:tailEnd len="sm" w="sm" type="none"/>
                    </a:lnB>
                    <a:solidFill>
                      <a:srgbClr val="1D2A5C"/>
                    </a:solidFill>
                  </a:tcPr>
                </a:tc>
                <a:tc>
                  <a:txBody>
                    <a:bodyPr/>
                    <a:lstStyle/>
                    <a:p>
                      <a:pPr indent="0" lvl="0" marL="0" marR="0" rtl="0" algn="l">
                        <a:spcBef>
                          <a:spcPts val="0"/>
                        </a:spcBef>
                        <a:spcAft>
                          <a:spcPts val="0"/>
                        </a:spcAft>
                        <a:buClr>
                          <a:srgbClr val="FFFFFF"/>
                        </a:buClr>
                        <a:buSzPts val="1050"/>
                        <a:buFont typeface="Calibri"/>
                        <a:buNone/>
                      </a:pPr>
                      <a:r>
                        <a:rPr b="1" lang="en-US" sz="1050" u="none" cap="none" strike="noStrike">
                          <a:solidFill>
                            <a:srgbClr val="FFFFFF"/>
                          </a:solidFill>
                          <a:latin typeface="Calibri"/>
                          <a:ea typeface="Calibri"/>
                          <a:cs typeface="Calibri"/>
                          <a:sym typeface="Calibri"/>
                        </a:rPr>
                        <a:t>Defence</a:t>
                      </a:r>
                      <a:endParaRPr sz="1050" u="none" cap="none" strike="noStrike">
                        <a:latin typeface="Calibri"/>
                        <a:ea typeface="Calibri"/>
                        <a:cs typeface="Calibri"/>
                        <a:sym typeface="Calibri"/>
                      </a:endParaRPr>
                    </a:p>
                  </a:txBody>
                  <a:tcPr marT="64000" marB="64000" marR="64000" marL="64000" anchor="ctr">
                    <a:lnL cap="flat" cmpd="sng" w="9525">
                      <a:solidFill>
                        <a:srgbClr val="D9E2EA"/>
                      </a:solidFill>
                      <a:prstDash val="solid"/>
                      <a:round/>
                      <a:headEnd len="sm" w="sm" type="none"/>
                      <a:tailEnd len="sm" w="sm" type="none"/>
                    </a:lnL>
                    <a:lnR cap="flat" cmpd="sng" w="9525">
                      <a:solidFill>
                        <a:srgbClr val="D9E2EA"/>
                      </a:solidFill>
                      <a:prstDash val="solid"/>
                      <a:round/>
                      <a:headEnd len="sm" w="sm" type="none"/>
                      <a:tailEnd len="sm" w="sm" type="none"/>
                    </a:lnR>
                    <a:lnT cap="flat" cmpd="sng" w="9525">
                      <a:solidFill>
                        <a:srgbClr val="D9E2EA"/>
                      </a:solidFill>
                      <a:prstDash val="solid"/>
                      <a:round/>
                      <a:headEnd len="sm" w="sm" type="none"/>
                      <a:tailEnd len="sm" w="sm" type="none"/>
                    </a:lnT>
                    <a:lnB cap="flat" cmpd="sng" w="9525">
                      <a:solidFill>
                        <a:srgbClr val="D9E2EA"/>
                      </a:solidFill>
                      <a:prstDash val="solid"/>
                      <a:round/>
                      <a:headEnd len="sm" w="sm" type="none"/>
                      <a:tailEnd len="sm" w="sm" type="none"/>
                    </a:lnB>
                    <a:solidFill>
                      <a:srgbClr val="1D2A5C"/>
                    </a:solidFill>
                  </a:tcPr>
                </a:tc>
              </a:tr>
              <a:tr h="628325">
                <a:tc>
                  <a:txBody>
                    <a:bodyPr/>
                    <a:lstStyle/>
                    <a:p>
                      <a:pPr indent="0" lvl="0" marL="0" marR="0" rtl="0" algn="l">
                        <a:spcBef>
                          <a:spcPts val="0"/>
                        </a:spcBef>
                        <a:spcAft>
                          <a:spcPts val="0"/>
                        </a:spcAft>
                        <a:buClr>
                          <a:srgbClr val="1D2A5C"/>
                        </a:buClr>
                        <a:buSzPts val="1050"/>
                        <a:buFont typeface="Calibri"/>
                        <a:buNone/>
                      </a:pPr>
                      <a:r>
                        <a:rPr b="1" lang="en-US" sz="1050" u="none" cap="none" strike="noStrike">
                          <a:solidFill>
                            <a:srgbClr val="1D2A5C"/>
                          </a:solidFill>
                          <a:latin typeface="Calibri"/>
                          <a:ea typeface="Calibri"/>
                          <a:cs typeface="Calibri"/>
                          <a:sym typeface="Calibri"/>
                        </a:rPr>
                        <a:t>Export without parity tests</a:t>
                      </a:r>
                      <a:endParaRPr sz="1050" u="none" cap="none" strike="noStrike">
                        <a:latin typeface="Calibri"/>
                        <a:ea typeface="Calibri"/>
                        <a:cs typeface="Calibri"/>
                        <a:sym typeface="Calibri"/>
                      </a:endParaRPr>
                    </a:p>
                  </a:txBody>
                  <a:tcPr marT="64000" marB="64000" marR="64000" marL="64000" anchor="ctr">
                    <a:lnL cap="flat" cmpd="sng" w="9525">
                      <a:solidFill>
                        <a:srgbClr val="D9E2EA"/>
                      </a:solidFill>
                      <a:prstDash val="solid"/>
                      <a:round/>
                      <a:headEnd len="sm" w="sm" type="none"/>
                      <a:tailEnd len="sm" w="sm" type="none"/>
                    </a:lnL>
                    <a:lnR cap="flat" cmpd="sng" w="9525">
                      <a:solidFill>
                        <a:srgbClr val="D9E2EA"/>
                      </a:solidFill>
                      <a:prstDash val="solid"/>
                      <a:round/>
                      <a:headEnd len="sm" w="sm" type="none"/>
                      <a:tailEnd len="sm" w="sm" type="none"/>
                    </a:lnR>
                    <a:lnT cap="flat" cmpd="sng" w="9525">
                      <a:solidFill>
                        <a:srgbClr val="D9E2EA"/>
                      </a:solidFill>
                      <a:prstDash val="solid"/>
                      <a:round/>
                      <a:headEnd len="sm" w="sm" type="none"/>
                      <a:tailEnd len="sm" w="sm" type="none"/>
                    </a:lnT>
                    <a:lnB cap="flat" cmpd="sng" w="9525">
                      <a:solidFill>
                        <a:srgbClr val="D9E2EA"/>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23293B"/>
                        </a:buClr>
                        <a:buSzPts val="1050"/>
                        <a:buFont typeface="Calibri"/>
                        <a:buNone/>
                      </a:pPr>
                      <a:r>
                        <a:rPr lang="en-US" sz="1050" u="none" cap="none" strike="noStrike">
                          <a:solidFill>
                            <a:srgbClr val="23293B"/>
                          </a:solidFill>
                          <a:latin typeface="Calibri"/>
                          <a:ea typeface="Calibri"/>
                          <a:cs typeface="Calibri"/>
                          <a:sym typeface="Calibri"/>
                        </a:rPr>
                        <a:t>Silently-decomposed op: −2 mAP, 3 days lost</a:t>
                      </a:r>
                      <a:endParaRPr sz="1050" u="none" cap="none" strike="noStrike">
                        <a:latin typeface="Calibri"/>
                        <a:ea typeface="Calibri"/>
                        <a:cs typeface="Calibri"/>
                        <a:sym typeface="Calibri"/>
                      </a:endParaRPr>
                    </a:p>
                  </a:txBody>
                  <a:tcPr marT="64000" marB="64000" marR="64000" marL="64000" anchor="ctr">
                    <a:lnL cap="flat" cmpd="sng" w="9525">
                      <a:solidFill>
                        <a:srgbClr val="D9E2EA"/>
                      </a:solidFill>
                      <a:prstDash val="solid"/>
                      <a:round/>
                      <a:headEnd len="sm" w="sm" type="none"/>
                      <a:tailEnd len="sm" w="sm" type="none"/>
                    </a:lnL>
                    <a:lnR cap="flat" cmpd="sng" w="9525">
                      <a:solidFill>
                        <a:srgbClr val="D9E2EA"/>
                      </a:solidFill>
                      <a:prstDash val="solid"/>
                      <a:round/>
                      <a:headEnd len="sm" w="sm" type="none"/>
                      <a:tailEnd len="sm" w="sm" type="none"/>
                    </a:lnR>
                    <a:lnT cap="flat" cmpd="sng" w="9525">
                      <a:solidFill>
                        <a:srgbClr val="D9E2EA"/>
                      </a:solidFill>
                      <a:prstDash val="solid"/>
                      <a:round/>
                      <a:headEnd len="sm" w="sm" type="none"/>
                      <a:tailEnd len="sm" w="sm" type="none"/>
                    </a:lnT>
                    <a:lnB cap="flat" cmpd="sng" w="9525">
                      <a:solidFill>
                        <a:srgbClr val="D9E2EA"/>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23293B"/>
                        </a:buClr>
                        <a:buSzPts val="1050"/>
                        <a:buFont typeface="Calibri"/>
                        <a:buNone/>
                      </a:pPr>
                      <a:r>
                        <a:rPr lang="en-US" sz="1050" u="none" cap="none" strike="noStrike">
                          <a:solidFill>
                            <a:srgbClr val="23293B"/>
                          </a:solidFill>
                          <a:latin typeface="Calibri"/>
                          <a:ea typeface="Calibri"/>
                          <a:cs typeface="Calibri"/>
                          <a:sym typeface="Calibri"/>
                        </a:rPr>
                        <a:t>Parity as a unit test, in CI on every export</a:t>
                      </a:r>
                      <a:endParaRPr sz="1050" u="none" cap="none" strike="noStrike">
                        <a:latin typeface="Calibri"/>
                        <a:ea typeface="Calibri"/>
                        <a:cs typeface="Calibri"/>
                        <a:sym typeface="Calibri"/>
                      </a:endParaRPr>
                    </a:p>
                  </a:txBody>
                  <a:tcPr marT="64000" marB="64000" marR="64000" marL="64000" anchor="ctr">
                    <a:lnL cap="flat" cmpd="sng" w="9525">
                      <a:solidFill>
                        <a:srgbClr val="D9E2EA"/>
                      </a:solidFill>
                      <a:prstDash val="solid"/>
                      <a:round/>
                      <a:headEnd len="sm" w="sm" type="none"/>
                      <a:tailEnd len="sm" w="sm" type="none"/>
                    </a:lnL>
                    <a:lnR cap="flat" cmpd="sng" w="9525">
                      <a:solidFill>
                        <a:srgbClr val="D9E2EA"/>
                      </a:solidFill>
                      <a:prstDash val="solid"/>
                      <a:round/>
                      <a:headEnd len="sm" w="sm" type="none"/>
                      <a:tailEnd len="sm" w="sm" type="none"/>
                    </a:lnR>
                    <a:lnT cap="flat" cmpd="sng" w="9525">
                      <a:solidFill>
                        <a:srgbClr val="D9E2EA"/>
                      </a:solidFill>
                      <a:prstDash val="solid"/>
                      <a:round/>
                      <a:headEnd len="sm" w="sm" type="none"/>
                      <a:tailEnd len="sm" w="sm" type="none"/>
                    </a:lnT>
                    <a:lnB cap="flat" cmpd="sng" w="9525">
                      <a:solidFill>
                        <a:srgbClr val="D9E2EA"/>
                      </a:solidFill>
                      <a:prstDash val="solid"/>
                      <a:round/>
                      <a:headEnd len="sm" w="sm" type="none"/>
                      <a:tailEnd len="sm" w="sm" type="none"/>
                    </a:lnB>
                    <a:solidFill>
                      <a:srgbClr val="FFFFFF"/>
                    </a:solidFill>
                  </a:tcPr>
                </a:tc>
              </a:tr>
              <a:tr h="628325">
                <a:tc>
                  <a:txBody>
                    <a:bodyPr/>
                    <a:lstStyle/>
                    <a:p>
                      <a:pPr indent="0" lvl="0" marL="0" marR="0" rtl="0" algn="l">
                        <a:spcBef>
                          <a:spcPts val="0"/>
                        </a:spcBef>
                        <a:spcAft>
                          <a:spcPts val="0"/>
                        </a:spcAft>
                        <a:buClr>
                          <a:srgbClr val="1D2A5C"/>
                        </a:buClr>
                        <a:buSzPts val="1050"/>
                        <a:buFont typeface="Calibri"/>
                        <a:buNone/>
                      </a:pPr>
                      <a:r>
                        <a:rPr b="1" lang="en-US" sz="1050" u="none" cap="none" strike="noStrike">
                          <a:solidFill>
                            <a:srgbClr val="1D2A5C"/>
                          </a:solidFill>
                          <a:latin typeface="Calibri"/>
                          <a:ea typeface="Calibri"/>
                          <a:cs typeface="Calibri"/>
                          <a:sym typeface="Calibri"/>
                        </a:rPr>
                        <a:t>Wrapper preprocessing from memory</a:t>
                      </a:r>
                      <a:endParaRPr sz="1050" u="none" cap="none" strike="noStrike">
                        <a:latin typeface="Calibri"/>
                        <a:ea typeface="Calibri"/>
                        <a:cs typeface="Calibri"/>
                        <a:sym typeface="Calibri"/>
                      </a:endParaRPr>
                    </a:p>
                  </a:txBody>
                  <a:tcPr marT="64000" marB="64000" marR="64000" marL="64000" anchor="ctr">
                    <a:lnL cap="flat" cmpd="sng" w="9525">
                      <a:solidFill>
                        <a:srgbClr val="D9E2EA"/>
                      </a:solidFill>
                      <a:prstDash val="solid"/>
                      <a:round/>
                      <a:headEnd len="sm" w="sm" type="none"/>
                      <a:tailEnd len="sm" w="sm" type="none"/>
                    </a:lnL>
                    <a:lnR cap="flat" cmpd="sng" w="9525">
                      <a:solidFill>
                        <a:srgbClr val="D9E2EA"/>
                      </a:solidFill>
                      <a:prstDash val="solid"/>
                      <a:round/>
                      <a:headEnd len="sm" w="sm" type="none"/>
                      <a:tailEnd len="sm" w="sm" type="none"/>
                    </a:lnR>
                    <a:lnT cap="flat" cmpd="sng" w="9525">
                      <a:solidFill>
                        <a:srgbClr val="D9E2EA"/>
                      </a:solidFill>
                      <a:prstDash val="solid"/>
                      <a:round/>
                      <a:headEnd len="sm" w="sm" type="none"/>
                      <a:tailEnd len="sm" w="sm" type="none"/>
                    </a:lnT>
                    <a:lnB cap="flat" cmpd="sng" w="9525">
                      <a:solidFill>
                        <a:srgbClr val="D9E2EA"/>
                      </a:solidFill>
                      <a:prstDash val="solid"/>
                      <a:round/>
                      <a:headEnd len="sm" w="sm" type="none"/>
                      <a:tailEnd len="sm" w="sm" type="none"/>
                    </a:lnB>
                    <a:solidFill>
                      <a:srgbClr val="F2F6F9"/>
                    </a:solidFill>
                  </a:tcPr>
                </a:tc>
                <a:tc>
                  <a:txBody>
                    <a:bodyPr/>
                    <a:lstStyle/>
                    <a:p>
                      <a:pPr indent="0" lvl="0" marL="0" marR="0" rtl="0" algn="l">
                        <a:spcBef>
                          <a:spcPts val="0"/>
                        </a:spcBef>
                        <a:spcAft>
                          <a:spcPts val="0"/>
                        </a:spcAft>
                        <a:buClr>
                          <a:srgbClr val="23293B"/>
                        </a:buClr>
                        <a:buSzPts val="1050"/>
                        <a:buFont typeface="Calibri"/>
                        <a:buNone/>
                      </a:pPr>
                      <a:r>
                        <a:rPr lang="en-US" sz="1050" u="none" cap="none" strike="noStrike">
                          <a:solidFill>
                            <a:srgbClr val="23293B"/>
                          </a:solidFill>
                          <a:latin typeface="Calibri"/>
                          <a:ea typeface="Calibri"/>
                          <a:cs typeface="Calibri"/>
                          <a:sym typeface="Calibri"/>
                        </a:rPr>
                        <a:t>Interpolation / normalisation drift</a:t>
                      </a:r>
                      <a:endParaRPr sz="1050" u="none" cap="none" strike="noStrike">
                        <a:latin typeface="Calibri"/>
                        <a:ea typeface="Calibri"/>
                        <a:cs typeface="Calibri"/>
                        <a:sym typeface="Calibri"/>
                      </a:endParaRPr>
                    </a:p>
                  </a:txBody>
                  <a:tcPr marT="64000" marB="64000" marR="64000" marL="64000" anchor="ctr">
                    <a:lnL cap="flat" cmpd="sng" w="9525">
                      <a:solidFill>
                        <a:srgbClr val="D9E2EA"/>
                      </a:solidFill>
                      <a:prstDash val="solid"/>
                      <a:round/>
                      <a:headEnd len="sm" w="sm" type="none"/>
                      <a:tailEnd len="sm" w="sm" type="none"/>
                    </a:lnL>
                    <a:lnR cap="flat" cmpd="sng" w="9525">
                      <a:solidFill>
                        <a:srgbClr val="D9E2EA"/>
                      </a:solidFill>
                      <a:prstDash val="solid"/>
                      <a:round/>
                      <a:headEnd len="sm" w="sm" type="none"/>
                      <a:tailEnd len="sm" w="sm" type="none"/>
                    </a:lnR>
                    <a:lnT cap="flat" cmpd="sng" w="9525">
                      <a:solidFill>
                        <a:srgbClr val="D9E2EA"/>
                      </a:solidFill>
                      <a:prstDash val="solid"/>
                      <a:round/>
                      <a:headEnd len="sm" w="sm" type="none"/>
                      <a:tailEnd len="sm" w="sm" type="none"/>
                    </a:lnT>
                    <a:lnB cap="flat" cmpd="sng" w="9525">
                      <a:solidFill>
                        <a:srgbClr val="D9E2EA"/>
                      </a:solidFill>
                      <a:prstDash val="solid"/>
                      <a:round/>
                      <a:headEnd len="sm" w="sm" type="none"/>
                      <a:tailEnd len="sm" w="sm" type="none"/>
                    </a:lnB>
                    <a:solidFill>
                      <a:srgbClr val="F2F6F9"/>
                    </a:solidFill>
                  </a:tcPr>
                </a:tc>
                <a:tc>
                  <a:txBody>
                    <a:bodyPr/>
                    <a:lstStyle/>
                    <a:p>
                      <a:pPr indent="0" lvl="0" marL="0" marR="0" rtl="0" algn="l">
                        <a:spcBef>
                          <a:spcPts val="0"/>
                        </a:spcBef>
                        <a:spcAft>
                          <a:spcPts val="0"/>
                        </a:spcAft>
                        <a:buClr>
                          <a:srgbClr val="23293B"/>
                        </a:buClr>
                        <a:buSzPts val="1050"/>
                        <a:buFont typeface="Calibri"/>
                        <a:buNone/>
                      </a:pPr>
                      <a:r>
                        <a:rPr lang="en-US" sz="1050" u="none" cap="none" strike="noStrike">
                          <a:solidFill>
                            <a:srgbClr val="23293B"/>
                          </a:solidFill>
                          <a:latin typeface="Calibri"/>
                          <a:ea typeface="Calibri"/>
                          <a:cs typeface="Calibri"/>
                          <a:sym typeface="Calibri"/>
                        </a:rPr>
                        <a:t>Equivalence-test vs eval_tf() on 50 real images</a:t>
                      </a:r>
                      <a:endParaRPr sz="1050" u="none" cap="none" strike="noStrike">
                        <a:latin typeface="Calibri"/>
                        <a:ea typeface="Calibri"/>
                        <a:cs typeface="Calibri"/>
                        <a:sym typeface="Calibri"/>
                      </a:endParaRPr>
                    </a:p>
                  </a:txBody>
                  <a:tcPr marT="64000" marB="64000" marR="64000" marL="64000" anchor="ctr">
                    <a:lnL cap="flat" cmpd="sng" w="9525">
                      <a:solidFill>
                        <a:srgbClr val="D9E2EA"/>
                      </a:solidFill>
                      <a:prstDash val="solid"/>
                      <a:round/>
                      <a:headEnd len="sm" w="sm" type="none"/>
                      <a:tailEnd len="sm" w="sm" type="none"/>
                    </a:lnL>
                    <a:lnR cap="flat" cmpd="sng" w="9525">
                      <a:solidFill>
                        <a:srgbClr val="D9E2EA"/>
                      </a:solidFill>
                      <a:prstDash val="solid"/>
                      <a:round/>
                      <a:headEnd len="sm" w="sm" type="none"/>
                      <a:tailEnd len="sm" w="sm" type="none"/>
                    </a:lnR>
                    <a:lnT cap="flat" cmpd="sng" w="9525">
                      <a:solidFill>
                        <a:srgbClr val="D9E2EA"/>
                      </a:solidFill>
                      <a:prstDash val="solid"/>
                      <a:round/>
                      <a:headEnd len="sm" w="sm" type="none"/>
                      <a:tailEnd len="sm" w="sm" type="none"/>
                    </a:lnT>
                    <a:lnB cap="flat" cmpd="sng" w="9525">
                      <a:solidFill>
                        <a:srgbClr val="D9E2EA"/>
                      </a:solidFill>
                      <a:prstDash val="solid"/>
                      <a:round/>
                      <a:headEnd len="sm" w="sm" type="none"/>
                      <a:tailEnd len="sm" w="sm" type="none"/>
                    </a:lnB>
                    <a:solidFill>
                      <a:srgbClr val="F2F6F9"/>
                    </a:solidFill>
                  </a:tcPr>
                </a:tc>
              </a:tr>
              <a:tr h="628325">
                <a:tc>
                  <a:txBody>
                    <a:bodyPr/>
                    <a:lstStyle/>
                    <a:p>
                      <a:pPr indent="0" lvl="0" marL="0" marR="0" rtl="0" algn="l">
                        <a:spcBef>
                          <a:spcPts val="0"/>
                        </a:spcBef>
                        <a:spcAft>
                          <a:spcPts val="0"/>
                        </a:spcAft>
                        <a:buClr>
                          <a:srgbClr val="1D2A5C"/>
                        </a:buClr>
                        <a:buSzPts val="1050"/>
                        <a:buFont typeface="Calibri"/>
                        <a:buNone/>
                      </a:pPr>
                      <a:r>
                        <a:rPr b="1" lang="en-US" sz="1050" u="none" cap="none" strike="noStrike">
                          <a:solidFill>
                            <a:srgbClr val="1D2A5C"/>
                          </a:solidFill>
                          <a:latin typeface="Calibri"/>
                          <a:ea typeface="Calibri"/>
                          <a:cs typeface="Calibri"/>
                          <a:sym typeface="Calibri"/>
                        </a:rPr>
                        <a:t>Unrepresentative calibration set</a:t>
                      </a:r>
                      <a:endParaRPr sz="1050" u="none" cap="none" strike="noStrike">
                        <a:latin typeface="Calibri"/>
                        <a:ea typeface="Calibri"/>
                        <a:cs typeface="Calibri"/>
                        <a:sym typeface="Calibri"/>
                      </a:endParaRPr>
                    </a:p>
                  </a:txBody>
                  <a:tcPr marT="64000" marB="64000" marR="64000" marL="64000" anchor="ctr">
                    <a:lnL cap="flat" cmpd="sng" w="9525">
                      <a:solidFill>
                        <a:srgbClr val="D9E2EA"/>
                      </a:solidFill>
                      <a:prstDash val="solid"/>
                      <a:round/>
                      <a:headEnd len="sm" w="sm" type="none"/>
                      <a:tailEnd len="sm" w="sm" type="none"/>
                    </a:lnL>
                    <a:lnR cap="flat" cmpd="sng" w="9525">
                      <a:solidFill>
                        <a:srgbClr val="D9E2EA"/>
                      </a:solidFill>
                      <a:prstDash val="solid"/>
                      <a:round/>
                      <a:headEnd len="sm" w="sm" type="none"/>
                      <a:tailEnd len="sm" w="sm" type="none"/>
                    </a:lnR>
                    <a:lnT cap="flat" cmpd="sng" w="9525">
                      <a:solidFill>
                        <a:srgbClr val="D9E2EA"/>
                      </a:solidFill>
                      <a:prstDash val="solid"/>
                      <a:round/>
                      <a:headEnd len="sm" w="sm" type="none"/>
                      <a:tailEnd len="sm" w="sm" type="none"/>
                    </a:lnT>
                    <a:lnB cap="flat" cmpd="sng" w="9525">
                      <a:solidFill>
                        <a:srgbClr val="D9E2EA"/>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23293B"/>
                        </a:buClr>
                        <a:buSzPts val="1050"/>
                        <a:buFont typeface="Calibri"/>
                        <a:buNone/>
                      </a:pPr>
                      <a:r>
                        <a:rPr lang="en-US" sz="1050" u="none" cap="none" strike="noStrike">
                          <a:solidFill>
                            <a:srgbClr val="23293B"/>
                          </a:solidFill>
                          <a:latin typeface="Calibri"/>
                          <a:ea typeface="Calibri"/>
                          <a:cs typeface="Calibri"/>
                          <a:sym typeface="Calibri"/>
                        </a:rPr>
                        <a:t>Daytime calibration, evening collapse</a:t>
                      </a:r>
                      <a:endParaRPr sz="1050" u="none" cap="none" strike="noStrike">
                        <a:latin typeface="Calibri"/>
                        <a:ea typeface="Calibri"/>
                        <a:cs typeface="Calibri"/>
                        <a:sym typeface="Calibri"/>
                      </a:endParaRPr>
                    </a:p>
                  </a:txBody>
                  <a:tcPr marT="64000" marB="64000" marR="64000" marL="64000" anchor="ctr">
                    <a:lnL cap="flat" cmpd="sng" w="9525">
                      <a:solidFill>
                        <a:srgbClr val="D9E2EA"/>
                      </a:solidFill>
                      <a:prstDash val="solid"/>
                      <a:round/>
                      <a:headEnd len="sm" w="sm" type="none"/>
                      <a:tailEnd len="sm" w="sm" type="none"/>
                    </a:lnL>
                    <a:lnR cap="flat" cmpd="sng" w="9525">
                      <a:solidFill>
                        <a:srgbClr val="D9E2EA"/>
                      </a:solidFill>
                      <a:prstDash val="solid"/>
                      <a:round/>
                      <a:headEnd len="sm" w="sm" type="none"/>
                      <a:tailEnd len="sm" w="sm" type="none"/>
                    </a:lnR>
                    <a:lnT cap="flat" cmpd="sng" w="9525">
                      <a:solidFill>
                        <a:srgbClr val="D9E2EA"/>
                      </a:solidFill>
                      <a:prstDash val="solid"/>
                      <a:round/>
                      <a:headEnd len="sm" w="sm" type="none"/>
                      <a:tailEnd len="sm" w="sm" type="none"/>
                    </a:lnT>
                    <a:lnB cap="flat" cmpd="sng" w="9525">
                      <a:solidFill>
                        <a:srgbClr val="D9E2EA"/>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23293B"/>
                        </a:buClr>
                        <a:buSzPts val="1050"/>
                        <a:buFont typeface="Calibri"/>
                        <a:buNone/>
                      </a:pPr>
                      <a:r>
                        <a:rPr lang="en-US" sz="1050" u="none" cap="none" strike="noStrike">
                          <a:solidFill>
                            <a:srgbClr val="23293B"/>
                          </a:solidFill>
                          <a:latin typeface="Calibri"/>
                          <a:ea typeface="Calibri"/>
                          <a:cs typeface="Calibri"/>
                          <a:sym typeface="Calibri"/>
                        </a:rPr>
                        <a:t>Sample calibration slice-aware, like the test set</a:t>
                      </a:r>
                      <a:endParaRPr sz="1050" u="none" cap="none" strike="noStrike">
                        <a:latin typeface="Calibri"/>
                        <a:ea typeface="Calibri"/>
                        <a:cs typeface="Calibri"/>
                        <a:sym typeface="Calibri"/>
                      </a:endParaRPr>
                    </a:p>
                  </a:txBody>
                  <a:tcPr marT="64000" marB="64000" marR="64000" marL="64000" anchor="ctr">
                    <a:lnL cap="flat" cmpd="sng" w="9525">
                      <a:solidFill>
                        <a:srgbClr val="D9E2EA"/>
                      </a:solidFill>
                      <a:prstDash val="solid"/>
                      <a:round/>
                      <a:headEnd len="sm" w="sm" type="none"/>
                      <a:tailEnd len="sm" w="sm" type="none"/>
                    </a:lnL>
                    <a:lnR cap="flat" cmpd="sng" w="9525">
                      <a:solidFill>
                        <a:srgbClr val="D9E2EA"/>
                      </a:solidFill>
                      <a:prstDash val="solid"/>
                      <a:round/>
                      <a:headEnd len="sm" w="sm" type="none"/>
                      <a:tailEnd len="sm" w="sm" type="none"/>
                    </a:lnR>
                    <a:lnT cap="flat" cmpd="sng" w="9525">
                      <a:solidFill>
                        <a:srgbClr val="D9E2EA"/>
                      </a:solidFill>
                      <a:prstDash val="solid"/>
                      <a:round/>
                      <a:headEnd len="sm" w="sm" type="none"/>
                      <a:tailEnd len="sm" w="sm" type="none"/>
                    </a:lnT>
                    <a:lnB cap="flat" cmpd="sng" w="9525">
                      <a:solidFill>
                        <a:srgbClr val="D9E2EA"/>
                      </a:solidFill>
                      <a:prstDash val="solid"/>
                      <a:round/>
                      <a:headEnd len="sm" w="sm" type="none"/>
                      <a:tailEnd len="sm" w="sm" type="none"/>
                    </a:lnB>
                    <a:solidFill>
                      <a:srgbClr val="FFFFFF"/>
                    </a:solidFill>
                  </a:tcPr>
                </a:tc>
              </a:tr>
              <a:tr h="628325">
                <a:tc>
                  <a:txBody>
                    <a:bodyPr/>
                    <a:lstStyle/>
                    <a:p>
                      <a:pPr indent="0" lvl="0" marL="0" marR="0" rtl="0" algn="l">
                        <a:spcBef>
                          <a:spcPts val="0"/>
                        </a:spcBef>
                        <a:spcAft>
                          <a:spcPts val="0"/>
                        </a:spcAft>
                        <a:buClr>
                          <a:srgbClr val="1D2A5C"/>
                        </a:buClr>
                        <a:buSzPts val="1050"/>
                        <a:buFont typeface="Calibri"/>
                        <a:buNone/>
                      </a:pPr>
                      <a:r>
                        <a:rPr b="1" lang="en-US" sz="1050" u="none" cap="none" strike="noStrike">
                          <a:solidFill>
                            <a:srgbClr val="1D2A5C"/>
                          </a:solidFill>
                          <a:latin typeface="Calibri"/>
                          <a:ea typeface="Calibri"/>
                          <a:cs typeface="Calibri"/>
                          <a:sym typeface="Calibri"/>
                        </a:rPr>
                        <a:t>Benchmarking model, not pipeline</a:t>
                      </a:r>
                      <a:endParaRPr sz="1050" u="none" cap="none" strike="noStrike">
                        <a:latin typeface="Calibri"/>
                        <a:ea typeface="Calibri"/>
                        <a:cs typeface="Calibri"/>
                        <a:sym typeface="Calibri"/>
                      </a:endParaRPr>
                    </a:p>
                  </a:txBody>
                  <a:tcPr marT="64000" marB="64000" marR="64000" marL="64000" anchor="ctr">
                    <a:lnL cap="flat" cmpd="sng" w="9525">
                      <a:solidFill>
                        <a:srgbClr val="D9E2EA"/>
                      </a:solidFill>
                      <a:prstDash val="solid"/>
                      <a:round/>
                      <a:headEnd len="sm" w="sm" type="none"/>
                      <a:tailEnd len="sm" w="sm" type="none"/>
                    </a:lnL>
                    <a:lnR cap="flat" cmpd="sng" w="9525">
                      <a:solidFill>
                        <a:srgbClr val="D9E2EA"/>
                      </a:solidFill>
                      <a:prstDash val="solid"/>
                      <a:round/>
                      <a:headEnd len="sm" w="sm" type="none"/>
                      <a:tailEnd len="sm" w="sm" type="none"/>
                    </a:lnR>
                    <a:lnT cap="flat" cmpd="sng" w="9525">
                      <a:solidFill>
                        <a:srgbClr val="D9E2EA"/>
                      </a:solidFill>
                      <a:prstDash val="solid"/>
                      <a:round/>
                      <a:headEnd len="sm" w="sm" type="none"/>
                      <a:tailEnd len="sm" w="sm" type="none"/>
                    </a:lnT>
                    <a:lnB cap="flat" cmpd="sng" w="9525">
                      <a:solidFill>
                        <a:srgbClr val="D9E2EA"/>
                      </a:solidFill>
                      <a:prstDash val="solid"/>
                      <a:round/>
                      <a:headEnd len="sm" w="sm" type="none"/>
                      <a:tailEnd len="sm" w="sm" type="none"/>
                    </a:lnB>
                    <a:solidFill>
                      <a:srgbClr val="F2F6F9"/>
                    </a:solidFill>
                  </a:tcPr>
                </a:tc>
                <a:tc>
                  <a:txBody>
                    <a:bodyPr/>
                    <a:lstStyle/>
                    <a:p>
                      <a:pPr indent="0" lvl="0" marL="0" marR="0" rtl="0" algn="l">
                        <a:spcBef>
                          <a:spcPts val="0"/>
                        </a:spcBef>
                        <a:spcAft>
                          <a:spcPts val="0"/>
                        </a:spcAft>
                        <a:buClr>
                          <a:srgbClr val="23293B"/>
                        </a:buClr>
                        <a:buSzPts val="1050"/>
                        <a:buFont typeface="Calibri"/>
                        <a:buNone/>
                      </a:pPr>
                      <a:r>
                        <a:rPr lang="en-US" sz="1050" u="none" cap="none" strike="noStrike">
                          <a:solidFill>
                            <a:srgbClr val="23293B"/>
                          </a:solidFill>
                          <a:latin typeface="Calibri"/>
                          <a:ea typeface="Calibri"/>
                          <a:cs typeface="Calibri"/>
                          <a:sym typeface="Calibri"/>
                        </a:rPr>
                        <a:t>9 ms inference inside a 70 ms pipeline</a:t>
                      </a:r>
                      <a:endParaRPr sz="1050" u="none" cap="none" strike="noStrike">
                        <a:latin typeface="Calibri"/>
                        <a:ea typeface="Calibri"/>
                        <a:cs typeface="Calibri"/>
                        <a:sym typeface="Calibri"/>
                      </a:endParaRPr>
                    </a:p>
                  </a:txBody>
                  <a:tcPr marT="64000" marB="64000" marR="64000" marL="64000" anchor="ctr">
                    <a:lnL cap="flat" cmpd="sng" w="9525">
                      <a:solidFill>
                        <a:srgbClr val="D9E2EA"/>
                      </a:solidFill>
                      <a:prstDash val="solid"/>
                      <a:round/>
                      <a:headEnd len="sm" w="sm" type="none"/>
                      <a:tailEnd len="sm" w="sm" type="none"/>
                    </a:lnL>
                    <a:lnR cap="flat" cmpd="sng" w="9525">
                      <a:solidFill>
                        <a:srgbClr val="D9E2EA"/>
                      </a:solidFill>
                      <a:prstDash val="solid"/>
                      <a:round/>
                      <a:headEnd len="sm" w="sm" type="none"/>
                      <a:tailEnd len="sm" w="sm" type="none"/>
                    </a:lnR>
                    <a:lnT cap="flat" cmpd="sng" w="9525">
                      <a:solidFill>
                        <a:srgbClr val="D9E2EA"/>
                      </a:solidFill>
                      <a:prstDash val="solid"/>
                      <a:round/>
                      <a:headEnd len="sm" w="sm" type="none"/>
                      <a:tailEnd len="sm" w="sm" type="none"/>
                    </a:lnT>
                    <a:lnB cap="flat" cmpd="sng" w="9525">
                      <a:solidFill>
                        <a:srgbClr val="D9E2EA"/>
                      </a:solidFill>
                      <a:prstDash val="solid"/>
                      <a:round/>
                      <a:headEnd len="sm" w="sm" type="none"/>
                      <a:tailEnd len="sm" w="sm" type="none"/>
                    </a:lnB>
                    <a:solidFill>
                      <a:srgbClr val="F2F6F9"/>
                    </a:solidFill>
                  </a:tcPr>
                </a:tc>
                <a:tc>
                  <a:txBody>
                    <a:bodyPr/>
                    <a:lstStyle/>
                    <a:p>
                      <a:pPr indent="0" lvl="0" marL="0" marR="0" rtl="0" algn="l">
                        <a:spcBef>
                          <a:spcPts val="0"/>
                        </a:spcBef>
                        <a:spcAft>
                          <a:spcPts val="0"/>
                        </a:spcAft>
                        <a:buClr>
                          <a:srgbClr val="23293B"/>
                        </a:buClr>
                        <a:buSzPts val="1050"/>
                        <a:buFont typeface="Calibri"/>
                        <a:buNone/>
                      </a:pPr>
                      <a:r>
                        <a:rPr lang="en-US" sz="1050" u="none" cap="none" strike="noStrike">
                          <a:solidFill>
                            <a:srgbClr val="23293B"/>
                          </a:solidFill>
                          <a:latin typeface="Calibri"/>
                          <a:ea typeface="Calibri"/>
                          <a:cs typeface="Calibri"/>
                          <a:sym typeface="Calibri"/>
                        </a:rPr>
                        <a:t>Time every stage</a:t>
                      </a:r>
                      <a:endParaRPr sz="1050" u="none" cap="none" strike="noStrike">
                        <a:latin typeface="Calibri"/>
                        <a:ea typeface="Calibri"/>
                        <a:cs typeface="Calibri"/>
                        <a:sym typeface="Calibri"/>
                      </a:endParaRPr>
                    </a:p>
                  </a:txBody>
                  <a:tcPr marT="64000" marB="64000" marR="64000" marL="64000" anchor="ctr">
                    <a:lnL cap="flat" cmpd="sng" w="9525">
                      <a:solidFill>
                        <a:srgbClr val="D9E2EA"/>
                      </a:solidFill>
                      <a:prstDash val="solid"/>
                      <a:round/>
                      <a:headEnd len="sm" w="sm" type="none"/>
                      <a:tailEnd len="sm" w="sm" type="none"/>
                    </a:lnL>
                    <a:lnR cap="flat" cmpd="sng" w="9525">
                      <a:solidFill>
                        <a:srgbClr val="D9E2EA"/>
                      </a:solidFill>
                      <a:prstDash val="solid"/>
                      <a:round/>
                      <a:headEnd len="sm" w="sm" type="none"/>
                      <a:tailEnd len="sm" w="sm" type="none"/>
                    </a:lnR>
                    <a:lnT cap="flat" cmpd="sng" w="9525">
                      <a:solidFill>
                        <a:srgbClr val="D9E2EA"/>
                      </a:solidFill>
                      <a:prstDash val="solid"/>
                      <a:round/>
                      <a:headEnd len="sm" w="sm" type="none"/>
                      <a:tailEnd len="sm" w="sm" type="none"/>
                    </a:lnT>
                    <a:lnB cap="flat" cmpd="sng" w="9525">
                      <a:solidFill>
                        <a:srgbClr val="D9E2EA"/>
                      </a:solidFill>
                      <a:prstDash val="solid"/>
                      <a:round/>
                      <a:headEnd len="sm" w="sm" type="none"/>
                      <a:tailEnd len="sm" w="sm" type="none"/>
                    </a:lnB>
                    <a:solidFill>
                      <a:srgbClr val="F2F6F9"/>
                    </a:solidFill>
                  </a:tcPr>
                </a:tc>
              </a:tr>
              <a:tr h="628325">
                <a:tc>
                  <a:txBody>
                    <a:bodyPr/>
                    <a:lstStyle/>
                    <a:p>
                      <a:pPr indent="0" lvl="0" marL="0" marR="0" rtl="0" algn="l">
                        <a:spcBef>
                          <a:spcPts val="0"/>
                        </a:spcBef>
                        <a:spcAft>
                          <a:spcPts val="0"/>
                        </a:spcAft>
                        <a:buClr>
                          <a:srgbClr val="1D2A5C"/>
                        </a:buClr>
                        <a:buSzPts val="1050"/>
                        <a:buFont typeface="Calibri"/>
                        <a:buNone/>
                      </a:pPr>
                      <a:r>
                        <a:rPr b="1" lang="en-US" sz="1050" u="none" cap="none" strike="noStrike">
                          <a:solidFill>
                            <a:srgbClr val="1D2A5C"/>
                          </a:solidFill>
                          <a:latin typeface="Calibri"/>
                          <a:ea typeface="Calibri"/>
                          <a:cs typeface="Calibri"/>
                          <a:sym typeface="Calibri"/>
                        </a:rPr>
                        <a:t>NMS baked into the graph</a:t>
                      </a:r>
                      <a:endParaRPr sz="1050" u="none" cap="none" strike="noStrike">
                        <a:latin typeface="Calibri"/>
                        <a:ea typeface="Calibri"/>
                        <a:cs typeface="Calibri"/>
                        <a:sym typeface="Calibri"/>
                      </a:endParaRPr>
                    </a:p>
                  </a:txBody>
                  <a:tcPr marT="64000" marB="64000" marR="64000" marL="64000" anchor="ctr">
                    <a:lnL cap="flat" cmpd="sng" w="9525">
                      <a:solidFill>
                        <a:srgbClr val="D9E2EA"/>
                      </a:solidFill>
                      <a:prstDash val="solid"/>
                      <a:round/>
                      <a:headEnd len="sm" w="sm" type="none"/>
                      <a:tailEnd len="sm" w="sm" type="none"/>
                    </a:lnL>
                    <a:lnR cap="flat" cmpd="sng" w="9525">
                      <a:solidFill>
                        <a:srgbClr val="D9E2EA"/>
                      </a:solidFill>
                      <a:prstDash val="solid"/>
                      <a:round/>
                      <a:headEnd len="sm" w="sm" type="none"/>
                      <a:tailEnd len="sm" w="sm" type="none"/>
                    </a:lnR>
                    <a:lnT cap="flat" cmpd="sng" w="9525">
                      <a:solidFill>
                        <a:srgbClr val="D9E2EA"/>
                      </a:solidFill>
                      <a:prstDash val="solid"/>
                      <a:round/>
                      <a:headEnd len="sm" w="sm" type="none"/>
                      <a:tailEnd len="sm" w="sm" type="none"/>
                    </a:lnT>
                    <a:lnB cap="flat" cmpd="sng" w="9525">
                      <a:solidFill>
                        <a:srgbClr val="D9E2EA"/>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23293B"/>
                        </a:buClr>
                        <a:buSzPts val="1050"/>
                        <a:buFont typeface="Calibri"/>
                        <a:buNone/>
                      </a:pPr>
                      <a:r>
                        <a:rPr lang="en-US" sz="1050" u="none" cap="none" strike="noStrike">
                          <a:solidFill>
                            <a:srgbClr val="23293B"/>
                          </a:solidFill>
                          <a:latin typeface="Calibri"/>
                          <a:ea typeface="Calibri"/>
                          <a:cs typeface="Calibri"/>
                          <a:sym typeface="Calibri"/>
                        </a:rPr>
                        <a:t>Operating point un-tunable without re-export</a:t>
                      </a:r>
                      <a:endParaRPr sz="1050" u="none" cap="none" strike="noStrike">
                        <a:latin typeface="Calibri"/>
                        <a:ea typeface="Calibri"/>
                        <a:cs typeface="Calibri"/>
                        <a:sym typeface="Calibri"/>
                      </a:endParaRPr>
                    </a:p>
                  </a:txBody>
                  <a:tcPr marT="64000" marB="64000" marR="64000" marL="64000" anchor="ctr">
                    <a:lnL cap="flat" cmpd="sng" w="9525">
                      <a:solidFill>
                        <a:srgbClr val="D9E2EA"/>
                      </a:solidFill>
                      <a:prstDash val="solid"/>
                      <a:round/>
                      <a:headEnd len="sm" w="sm" type="none"/>
                      <a:tailEnd len="sm" w="sm" type="none"/>
                    </a:lnL>
                    <a:lnR cap="flat" cmpd="sng" w="9525">
                      <a:solidFill>
                        <a:srgbClr val="D9E2EA"/>
                      </a:solidFill>
                      <a:prstDash val="solid"/>
                      <a:round/>
                      <a:headEnd len="sm" w="sm" type="none"/>
                      <a:tailEnd len="sm" w="sm" type="none"/>
                    </a:lnR>
                    <a:lnT cap="flat" cmpd="sng" w="9525">
                      <a:solidFill>
                        <a:srgbClr val="D9E2EA"/>
                      </a:solidFill>
                      <a:prstDash val="solid"/>
                      <a:round/>
                      <a:headEnd len="sm" w="sm" type="none"/>
                      <a:tailEnd len="sm" w="sm" type="none"/>
                    </a:lnT>
                    <a:lnB cap="flat" cmpd="sng" w="9525">
                      <a:solidFill>
                        <a:srgbClr val="D9E2EA"/>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23293B"/>
                        </a:buClr>
                        <a:buSzPts val="1050"/>
                        <a:buFont typeface="Calibri"/>
                        <a:buNone/>
                      </a:pPr>
                      <a:r>
                        <a:rPr lang="en-US" sz="1050" u="none" cap="none" strike="noStrike">
                          <a:solidFill>
                            <a:srgbClr val="23293B"/>
                          </a:solidFill>
                          <a:latin typeface="Calibri"/>
                          <a:ea typeface="Calibri"/>
                          <a:cs typeface="Calibri"/>
                          <a:sym typeface="Calibri"/>
                        </a:rPr>
                        <a:t>Keep thresholds in config</a:t>
                      </a:r>
                      <a:endParaRPr sz="1050" u="none" cap="none" strike="noStrike">
                        <a:latin typeface="Calibri"/>
                        <a:ea typeface="Calibri"/>
                        <a:cs typeface="Calibri"/>
                        <a:sym typeface="Calibri"/>
                      </a:endParaRPr>
                    </a:p>
                  </a:txBody>
                  <a:tcPr marT="64000" marB="64000" marR="64000" marL="64000" anchor="ctr">
                    <a:lnL cap="flat" cmpd="sng" w="9525">
                      <a:solidFill>
                        <a:srgbClr val="D9E2EA"/>
                      </a:solidFill>
                      <a:prstDash val="solid"/>
                      <a:round/>
                      <a:headEnd len="sm" w="sm" type="none"/>
                      <a:tailEnd len="sm" w="sm" type="none"/>
                    </a:lnL>
                    <a:lnR cap="flat" cmpd="sng" w="9525">
                      <a:solidFill>
                        <a:srgbClr val="D9E2EA"/>
                      </a:solidFill>
                      <a:prstDash val="solid"/>
                      <a:round/>
                      <a:headEnd len="sm" w="sm" type="none"/>
                      <a:tailEnd len="sm" w="sm" type="none"/>
                    </a:lnR>
                    <a:lnT cap="flat" cmpd="sng" w="9525">
                      <a:solidFill>
                        <a:srgbClr val="D9E2EA"/>
                      </a:solidFill>
                      <a:prstDash val="solid"/>
                      <a:round/>
                      <a:headEnd len="sm" w="sm" type="none"/>
                      <a:tailEnd len="sm" w="sm" type="none"/>
                    </a:lnT>
                    <a:lnB cap="flat" cmpd="sng" w="9525">
                      <a:solidFill>
                        <a:srgbClr val="D9E2EA"/>
                      </a:solidFill>
                      <a:prstDash val="solid"/>
                      <a:round/>
                      <a:headEnd len="sm" w="sm" type="none"/>
                      <a:tailEnd len="sm" w="sm" type="none"/>
                    </a:lnB>
                    <a:solidFill>
                      <a:srgbClr val="FFFFFF"/>
                    </a:solidFill>
                  </a:tcPr>
                </a:tc>
              </a:tr>
              <a:tr h="628325">
                <a:tc>
                  <a:txBody>
                    <a:bodyPr/>
                    <a:lstStyle/>
                    <a:p>
                      <a:pPr indent="0" lvl="0" marL="0" marR="0" rtl="0" algn="l">
                        <a:spcBef>
                          <a:spcPts val="0"/>
                        </a:spcBef>
                        <a:spcAft>
                          <a:spcPts val="0"/>
                        </a:spcAft>
                        <a:buClr>
                          <a:srgbClr val="1D2A5C"/>
                        </a:buClr>
                        <a:buSzPts val="1050"/>
                        <a:buFont typeface="Calibri"/>
                        <a:buNone/>
                      </a:pPr>
                      <a:r>
                        <a:rPr b="1" lang="en-US" sz="1050" u="none" cap="none" strike="noStrike">
                          <a:solidFill>
                            <a:srgbClr val="1D2A5C"/>
                          </a:solidFill>
                          <a:latin typeface="Calibri"/>
                          <a:ea typeface="Calibri"/>
                          <a:cs typeface="Calibri"/>
                          <a:sym typeface="Calibri"/>
                        </a:rPr>
                        <a:t>No thermal soak test</a:t>
                      </a:r>
                      <a:endParaRPr sz="1050" u="none" cap="none" strike="noStrike">
                        <a:latin typeface="Calibri"/>
                        <a:ea typeface="Calibri"/>
                        <a:cs typeface="Calibri"/>
                        <a:sym typeface="Calibri"/>
                      </a:endParaRPr>
                    </a:p>
                  </a:txBody>
                  <a:tcPr marT="64000" marB="64000" marR="64000" marL="64000" anchor="ctr">
                    <a:lnL cap="flat" cmpd="sng" w="9525">
                      <a:solidFill>
                        <a:srgbClr val="D9E2EA"/>
                      </a:solidFill>
                      <a:prstDash val="solid"/>
                      <a:round/>
                      <a:headEnd len="sm" w="sm" type="none"/>
                      <a:tailEnd len="sm" w="sm" type="none"/>
                    </a:lnL>
                    <a:lnR cap="flat" cmpd="sng" w="9525">
                      <a:solidFill>
                        <a:srgbClr val="D9E2EA"/>
                      </a:solidFill>
                      <a:prstDash val="solid"/>
                      <a:round/>
                      <a:headEnd len="sm" w="sm" type="none"/>
                      <a:tailEnd len="sm" w="sm" type="none"/>
                    </a:lnR>
                    <a:lnT cap="flat" cmpd="sng" w="9525">
                      <a:solidFill>
                        <a:srgbClr val="D9E2EA"/>
                      </a:solidFill>
                      <a:prstDash val="solid"/>
                      <a:round/>
                      <a:headEnd len="sm" w="sm" type="none"/>
                      <a:tailEnd len="sm" w="sm" type="none"/>
                    </a:lnT>
                    <a:lnB cap="flat" cmpd="sng" w="9525">
                      <a:solidFill>
                        <a:srgbClr val="D9E2EA"/>
                      </a:solidFill>
                      <a:prstDash val="solid"/>
                      <a:round/>
                      <a:headEnd len="sm" w="sm" type="none"/>
                      <a:tailEnd len="sm" w="sm" type="none"/>
                    </a:lnB>
                    <a:solidFill>
                      <a:srgbClr val="F2F6F9"/>
                    </a:solidFill>
                  </a:tcPr>
                </a:tc>
                <a:tc>
                  <a:txBody>
                    <a:bodyPr/>
                    <a:lstStyle/>
                    <a:p>
                      <a:pPr indent="0" lvl="0" marL="0" marR="0" rtl="0" algn="l">
                        <a:spcBef>
                          <a:spcPts val="0"/>
                        </a:spcBef>
                        <a:spcAft>
                          <a:spcPts val="0"/>
                        </a:spcAft>
                        <a:buClr>
                          <a:srgbClr val="23293B"/>
                        </a:buClr>
                        <a:buSzPts val="1050"/>
                        <a:buFont typeface="Calibri"/>
                        <a:buNone/>
                      </a:pPr>
                      <a:r>
                        <a:rPr lang="en-US" sz="1050" u="none" cap="none" strike="noStrike">
                          <a:solidFill>
                            <a:srgbClr val="23293B"/>
                          </a:solidFill>
                          <a:latin typeface="Calibri"/>
                          <a:ea typeface="Calibri"/>
                          <a:cs typeface="Calibri"/>
                          <a:sym typeface="Calibri"/>
                        </a:rPr>
                        <a:t>Gulf-summer throttling found in production</a:t>
                      </a:r>
                      <a:endParaRPr sz="1050" u="none" cap="none" strike="noStrike">
                        <a:latin typeface="Calibri"/>
                        <a:ea typeface="Calibri"/>
                        <a:cs typeface="Calibri"/>
                        <a:sym typeface="Calibri"/>
                      </a:endParaRPr>
                    </a:p>
                  </a:txBody>
                  <a:tcPr marT="64000" marB="64000" marR="64000" marL="64000" anchor="ctr">
                    <a:lnL cap="flat" cmpd="sng" w="9525">
                      <a:solidFill>
                        <a:srgbClr val="D9E2EA"/>
                      </a:solidFill>
                      <a:prstDash val="solid"/>
                      <a:round/>
                      <a:headEnd len="sm" w="sm" type="none"/>
                      <a:tailEnd len="sm" w="sm" type="none"/>
                    </a:lnL>
                    <a:lnR cap="flat" cmpd="sng" w="9525">
                      <a:solidFill>
                        <a:srgbClr val="D9E2EA"/>
                      </a:solidFill>
                      <a:prstDash val="solid"/>
                      <a:round/>
                      <a:headEnd len="sm" w="sm" type="none"/>
                      <a:tailEnd len="sm" w="sm" type="none"/>
                    </a:lnR>
                    <a:lnT cap="flat" cmpd="sng" w="9525">
                      <a:solidFill>
                        <a:srgbClr val="D9E2EA"/>
                      </a:solidFill>
                      <a:prstDash val="solid"/>
                      <a:round/>
                      <a:headEnd len="sm" w="sm" type="none"/>
                      <a:tailEnd len="sm" w="sm" type="none"/>
                    </a:lnT>
                    <a:lnB cap="flat" cmpd="sng" w="9525">
                      <a:solidFill>
                        <a:srgbClr val="D9E2EA"/>
                      </a:solidFill>
                      <a:prstDash val="solid"/>
                      <a:round/>
                      <a:headEnd len="sm" w="sm" type="none"/>
                      <a:tailEnd len="sm" w="sm" type="none"/>
                    </a:lnB>
                    <a:solidFill>
                      <a:srgbClr val="F2F6F9"/>
                    </a:solidFill>
                  </a:tcPr>
                </a:tc>
                <a:tc>
                  <a:txBody>
                    <a:bodyPr/>
                    <a:lstStyle/>
                    <a:p>
                      <a:pPr indent="0" lvl="0" marL="0" marR="0" rtl="0" algn="l">
                        <a:spcBef>
                          <a:spcPts val="0"/>
                        </a:spcBef>
                        <a:spcAft>
                          <a:spcPts val="0"/>
                        </a:spcAft>
                        <a:buClr>
                          <a:srgbClr val="23293B"/>
                        </a:buClr>
                        <a:buSzPts val="1050"/>
                        <a:buFont typeface="Calibri"/>
                        <a:buNone/>
                      </a:pPr>
                      <a:r>
                        <a:rPr lang="en-US" sz="1050" u="none" cap="none" strike="noStrike">
                          <a:solidFill>
                            <a:srgbClr val="23293B"/>
                          </a:solidFill>
                          <a:latin typeface="Calibri"/>
                          <a:ea typeface="Calibri"/>
                          <a:cs typeface="Calibri"/>
                          <a:sym typeface="Calibri"/>
                        </a:rPr>
                        <a:t>Sustained-load run in acceptance</a:t>
                      </a:r>
                      <a:endParaRPr sz="1050" u="none" cap="none" strike="noStrike">
                        <a:latin typeface="Calibri"/>
                        <a:ea typeface="Calibri"/>
                        <a:cs typeface="Calibri"/>
                        <a:sym typeface="Calibri"/>
                      </a:endParaRPr>
                    </a:p>
                  </a:txBody>
                  <a:tcPr marT="64000" marB="64000" marR="64000" marL="64000" anchor="ctr">
                    <a:lnL cap="flat" cmpd="sng" w="9525">
                      <a:solidFill>
                        <a:srgbClr val="D9E2EA"/>
                      </a:solidFill>
                      <a:prstDash val="solid"/>
                      <a:round/>
                      <a:headEnd len="sm" w="sm" type="none"/>
                      <a:tailEnd len="sm" w="sm" type="none"/>
                    </a:lnL>
                    <a:lnR cap="flat" cmpd="sng" w="9525">
                      <a:solidFill>
                        <a:srgbClr val="D9E2EA"/>
                      </a:solidFill>
                      <a:prstDash val="solid"/>
                      <a:round/>
                      <a:headEnd len="sm" w="sm" type="none"/>
                      <a:tailEnd len="sm" w="sm" type="none"/>
                    </a:lnR>
                    <a:lnT cap="flat" cmpd="sng" w="9525">
                      <a:solidFill>
                        <a:srgbClr val="D9E2EA"/>
                      </a:solidFill>
                      <a:prstDash val="solid"/>
                      <a:round/>
                      <a:headEnd len="sm" w="sm" type="none"/>
                      <a:tailEnd len="sm" w="sm" type="none"/>
                    </a:lnT>
                    <a:lnB cap="flat" cmpd="sng" w="9525">
                      <a:solidFill>
                        <a:srgbClr val="D9E2EA"/>
                      </a:solidFill>
                      <a:prstDash val="solid"/>
                      <a:round/>
                      <a:headEnd len="sm" w="sm" type="none"/>
                      <a:tailEnd len="sm" w="sm" type="none"/>
                    </a:lnB>
                    <a:solidFill>
                      <a:srgbClr val="F2F6F9"/>
                    </a:solidFill>
                  </a:tcPr>
                </a:tc>
              </a:tr>
            </a:tbl>
          </a:graphicData>
        </a:graphic>
      </p:graphicFrame>
    </p:spTree>
  </p:cSld>
  <p:clrMapOvr>
    <a:masterClrMapping/>
  </p:clrMapOvr>
</p:sld>
</file>

<file path=ppt/slides/slide1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823" name="Shape 3823"/>
        <p:cNvGrpSpPr/>
        <p:nvPr/>
      </p:nvGrpSpPr>
      <p:grpSpPr>
        <a:xfrm>
          <a:off x="0" y="0"/>
          <a:ext cx="0" cy="0"/>
          <a:chOff x="0" y="0"/>
          <a:chExt cx="0" cy="0"/>
        </a:xfrm>
      </p:grpSpPr>
      <p:sp>
        <p:nvSpPr>
          <p:cNvPr id="3824" name="Google Shape;3824;p137"/>
          <p:cNvSpPr/>
          <p:nvPr/>
        </p:nvSpPr>
        <p:spPr>
          <a:xfrm>
            <a:off x="502920" y="274320"/>
            <a:ext cx="9646920" cy="56692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D2A5C"/>
              </a:buClr>
              <a:buSzPts val="2700"/>
              <a:buFont typeface="Calibri"/>
              <a:buNone/>
            </a:pPr>
            <a:r>
              <a:rPr b="1" i="0" lang="en-US" sz="2700" u="none" cap="none" strike="noStrike">
                <a:solidFill>
                  <a:srgbClr val="1D2A5C"/>
                </a:solidFill>
                <a:latin typeface="Calibri"/>
                <a:ea typeface="Calibri"/>
                <a:cs typeface="Calibri"/>
                <a:sym typeface="Calibri"/>
              </a:rPr>
              <a:t>Export with parity verification</a:t>
            </a:r>
            <a:endParaRPr b="0" i="0" sz="2700" u="none" cap="none" strike="noStrike">
              <a:solidFill>
                <a:schemeClr val="dk1"/>
              </a:solidFill>
              <a:latin typeface="Calibri"/>
              <a:ea typeface="Calibri"/>
              <a:cs typeface="Calibri"/>
              <a:sym typeface="Calibri"/>
            </a:endParaRPr>
          </a:p>
        </p:txBody>
      </p:sp>
      <p:sp>
        <p:nvSpPr>
          <p:cNvPr id="3825" name="Google Shape;3825;p137"/>
          <p:cNvSpPr/>
          <p:nvPr/>
        </p:nvSpPr>
        <p:spPr>
          <a:xfrm>
            <a:off x="502920" y="859536"/>
            <a:ext cx="9646920" cy="31089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F6B7A"/>
              </a:buClr>
              <a:buSzPts val="1250"/>
              <a:buFont typeface="Arial"/>
              <a:buNone/>
            </a:pPr>
            <a:r>
              <a:rPr b="0" i="0" lang="en-US" sz="1250" u="none" cap="none" strike="noStrike">
                <a:solidFill>
                  <a:srgbClr val="5F6B7A"/>
                </a:solidFill>
                <a:latin typeface="Arial"/>
                <a:ea typeface="Arial"/>
                <a:cs typeface="Arial"/>
                <a:sym typeface="Arial"/>
              </a:rPr>
              <a:t>التصدير مع التحقق من التطابق</a:t>
            </a:r>
            <a:endParaRPr b="0" i="0" sz="1250" u="none" cap="none" strike="noStrike">
              <a:solidFill>
                <a:schemeClr val="dk1"/>
              </a:solidFill>
              <a:latin typeface="Calibri"/>
              <a:ea typeface="Calibri"/>
              <a:cs typeface="Calibri"/>
              <a:sym typeface="Calibri"/>
            </a:endParaRPr>
          </a:p>
        </p:txBody>
      </p:sp>
      <p:pic>
        <p:nvPicPr>
          <p:cNvPr descr="/sessions/blissful-determined-ritchie/build/assets/sdaia_logo.png" id="3826" name="Google Shape;3826;p137"/>
          <p:cNvPicPr preferRelativeResize="0"/>
          <p:nvPr/>
        </p:nvPicPr>
        <p:blipFill rotWithShape="1">
          <a:blip r:embed="rId3">
            <a:alphaModFix/>
          </a:blip>
          <a:srcRect b="0" l="0" r="0" t="0"/>
          <a:stretch/>
        </p:blipFill>
        <p:spPr>
          <a:xfrm>
            <a:off x="10625328" y="310896"/>
            <a:ext cx="1078992" cy="264111"/>
          </a:xfrm>
          <a:prstGeom prst="rect">
            <a:avLst/>
          </a:prstGeom>
          <a:noFill/>
          <a:ln>
            <a:noFill/>
          </a:ln>
        </p:spPr>
      </p:pic>
      <p:sp>
        <p:nvSpPr>
          <p:cNvPr id="3827" name="Google Shape;3827;p137"/>
          <p:cNvSpPr/>
          <p:nvPr/>
        </p:nvSpPr>
        <p:spPr>
          <a:xfrm>
            <a:off x="502920" y="6528816"/>
            <a:ext cx="8686800"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A79D"/>
              </a:buClr>
              <a:buSzPts val="800"/>
              <a:buFont typeface="Calibri"/>
              <a:buNone/>
            </a:pPr>
            <a:r>
              <a:rPr b="1" i="0" lang="en-US" sz="800" u="none" cap="none" strike="noStrike">
                <a:solidFill>
                  <a:srgbClr val="00A79D"/>
                </a:solidFill>
                <a:latin typeface="Calibri"/>
                <a:ea typeface="Calibri"/>
                <a:cs typeface="Calibri"/>
                <a:sym typeface="Calibri"/>
              </a:rPr>
              <a:t>MODULE 7   </a:t>
            </a:r>
            <a:r>
              <a:rPr b="0" i="0" lang="en-US" sz="800" u="none" cap="none" strike="noStrike">
                <a:solidFill>
                  <a:srgbClr val="8A96A6"/>
                </a:solidFill>
                <a:latin typeface="Calibri"/>
                <a:ea typeface="Calibri"/>
                <a:cs typeface="Calibri"/>
                <a:sym typeface="Calibri"/>
              </a:rPr>
              <a:t>SDA-AIE-212 · Computer Vision Systems Development</a:t>
            </a:r>
            <a:endParaRPr b="0" i="0" sz="800" u="none" cap="none" strike="noStrike">
              <a:solidFill>
                <a:schemeClr val="dk1"/>
              </a:solidFill>
              <a:latin typeface="Calibri"/>
              <a:ea typeface="Calibri"/>
              <a:cs typeface="Calibri"/>
              <a:sym typeface="Calibri"/>
            </a:endParaRPr>
          </a:p>
        </p:txBody>
      </p:sp>
      <p:sp>
        <p:nvSpPr>
          <p:cNvPr id="3828" name="Google Shape;3828;p137"/>
          <p:cNvSpPr/>
          <p:nvPr/>
        </p:nvSpPr>
        <p:spPr>
          <a:xfrm>
            <a:off x="11292840" y="6528816"/>
            <a:ext cx="411480" cy="219456"/>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8A96A6"/>
              </a:buClr>
              <a:buSzPts val="900"/>
              <a:buFont typeface="Calibri"/>
              <a:buNone/>
            </a:pPr>
            <a:r>
              <a:rPr b="0" i="0" lang="en-US" sz="900" u="none" cap="none" strike="noStrike">
                <a:solidFill>
                  <a:srgbClr val="8A96A6"/>
                </a:solidFill>
                <a:latin typeface="Calibri"/>
                <a:ea typeface="Calibri"/>
                <a:cs typeface="Calibri"/>
                <a:sym typeface="Calibri"/>
              </a:rPr>
              <a:t>137</a:t>
            </a:r>
            <a:endParaRPr b="0" i="0" sz="900" u="none" cap="none" strike="noStrike">
              <a:solidFill>
                <a:schemeClr val="dk1"/>
              </a:solidFill>
              <a:latin typeface="Calibri"/>
              <a:ea typeface="Calibri"/>
              <a:cs typeface="Calibri"/>
              <a:sym typeface="Calibri"/>
            </a:endParaRPr>
          </a:p>
        </p:txBody>
      </p:sp>
      <p:sp>
        <p:nvSpPr>
          <p:cNvPr id="3829" name="Google Shape;3829;p137"/>
          <p:cNvSpPr/>
          <p:nvPr/>
        </p:nvSpPr>
        <p:spPr>
          <a:xfrm>
            <a:off x="502920" y="1389888"/>
            <a:ext cx="7178040" cy="4965192"/>
          </a:xfrm>
          <a:prstGeom prst="roundRect">
            <a:avLst>
              <a:gd fmla="val 1842" name="adj"/>
            </a:avLst>
          </a:prstGeom>
          <a:solidFill>
            <a:srgbClr val="0F172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30" name="Google Shape;3830;p137"/>
          <p:cNvSpPr/>
          <p:nvPr/>
        </p:nvSpPr>
        <p:spPr>
          <a:xfrm>
            <a:off x="704088" y="1536192"/>
            <a:ext cx="1843430" cy="292608"/>
          </a:xfrm>
          <a:prstGeom prst="roundRect">
            <a:avLst>
              <a:gd fmla="val 18750" name="adj"/>
            </a:avLst>
          </a:prstGeom>
          <a:solidFill>
            <a:srgbClr val="1E293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31" name="Google Shape;3831;p137"/>
          <p:cNvSpPr/>
          <p:nvPr/>
        </p:nvSpPr>
        <p:spPr>
          <a:xfrm>
            <a:off x="795528" y="1536192"/>
            <a:ext cx="662940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EEAD4"/>
              </a:buClr>
              <a:buSzPts val="950"/>
              <a:buFont typeface="Courier New"/>
              <a:buNone/>
            </a:pPr>
            <a:r>
              <a:rPr b="0" i="0" lang="en-US" sz="950" u="none" cap="none" strike="noStrike">
                <a:solidFill>
                  <a:srgbClr val="5EEAD4"/>
                </a:solidFill>
                <a:latin typeface="Courier New"/>
                <a:ea typeface="Courier New"/>
                <a:cs typeface="Courier New"/>
                <a:sym typeface="Courier New"/>
              </a:rPr>
              <a:t>scripts/export_onnx.py</a:t>
            </a:r>
            <a:endParaRPr b="0" i="0" sz="950" u="none" cap="none" strike="noStrike">
              <a:solidFill>
                <a:schemeClr val="dk1"/>
              </a:solidFill>
              <a:latin typeface="Calibri"/>
              <a:ea typeface="Calibri"/>
              <a:cs typeface="Calibri"/>
              <a:sym typeface="Calibri"/>
            </a:endParaRPr>
          </a:p>
        </p:txBody>
      </p:sp>
      <p:sp>
        <p:nvSpPr>
          <p:cNvPr id="3832" name="Google Shape;3832;p137"/>
          <p:cNvSpPr/>
          <p:nvPr/>
        </p:nvSpPr>
        <p:spPr>
          <a:xfrm>
            <a:off x="758952" y="1920240"/>
            <a:ext cx="6720840" cy="4279392"/>
          </a:xfrm>
          <a:prstGeom prst="rect">
            <a:avLst/>
          </a:prstGeom>
          <a:noFill/>
          <a:ln>
            <a:noFill/>
          </a:ln>
        </p:spPr>
        <p:txBody>
          <a:bodyPr anchorCtr="0" anchor="t" bIns="0" lIns="0" spcFirstLastPara="1" rIns="0" wrap="square" tIns="0">
            <a:noAutofit/>
          </a:bodyPr>
          <a:lstStyle/>
          <a:p>
            <a:pPr indent="0" lvl="0" marL="0" marR="0" rtl="0" algn="l">
              <a:lnSpc>
                <a:spcPct val="128000"/>
              </a:lnSpc>
              <a:spcBef>
                <a:spcPts val="0"/>
              </a:spcBef>
              <a:spcAft>
                <a:spcPts val="0"/>
              </a:spcAft>
              <a:buClr>
                <a:srgbClr val="DCE6F5"/>
              </a:buClr>
              <a:buSzPts val="1000"/>
              <a:buFont typeface="Courier New"/>
              <a:buNone/>
            </a:pPr>
            <a:r>
              <a:rPr b="0" i="0" lang="en-US" sz="1000" u="none" cap="none" strike="noStrike">
                <a:solidFill>
                  <a:srgbClr val="DCE6F5"/>
                </a:solidFill>
                <a:latin typeface="Courier New"/>
                <a:ea typeface="Courier New"/>
                <a:cs typeface="Courier New"/>
                <a:sym typeface="Courier New"/>
              </a:rPr>
              <a:t>model.load_state_dict(ckpt["state_dict"])</a:t>
            </a:r>
            <a:endParaRPr b="0" i="0" sz="1000" u="none" cap="none" strike="noStrike">
              <a:solidFill>
                <a:schemeClr val="dk1"/>
              </a:solidFill>
              <a:latin typeface="Calibri"/>
              <a:ea typeface="Calibri"/>
              <a:cs typeface="Calibri"/>
              <a:sym typeface="Calibri"/>
            </a:endParaRPr>
          </a:p>
          <a:p>
            <a:pPr indent="0" lvl="0" marL="0" marR="0" rtl="0" algn="l">
              <a:lnSpc>
                <a:spcPct val="128000"/>
              </a:lnSpc>
              <a:spcBef>
                <a:spcPts val="0"/>
              </a:spcBef>
              <a:spcAft>
                <a:spcPts val="0"/>
              </a:spcAft>
              <a:buClr>
                <a:srgbClr val="DCE6F5"/>
              </a:buClr>
              <a:buSzPts val="1000"/>
              <a:buFont typeface="Courier New"/>
              <a:buNone/>
            </a:pPr>
            <a:r>
              <a:rPr b="0" i="0" lang="en-US" sz="1000" u="none" cap="none" strike="noStrike">
                <a:solidFill>
                  <a:srgbClr val="DCE6F5"/>
                </a:solidFill>
                <a:latin typeface="Courier New"/>
                <a:ea typeface="Courier New"/>
                <a:cs typeface="Courier New"/>
                <a:sym typeface="Courier New"/>
              </a:rPr>
              <a:t>model.eval()                      # export in eval mode. Always.</a:t>
            </a:r>
            <a:endParaRPr b="0" i="0" sz="1000" u="none" cap="none" strike="noStrike">
              <a:solidFill>
                <a:schemeClr val="dk1"/>
              </a:solidFill>
              <a:latin typeface="Calibri"/>
              <a:ea typeface="Calibri"/>
              <a:cs typeface="Calibri"/>
              <a:sym typeface="Calibri"/>
            </a:endParaRPr>
          </a:p>
          <a:p>
            <a:pPr indent="0" lvl="0" marL="0" marR="0" rtl="0" algn="l">
              <a:lnSpc>
                <a:spcPct val="128000"/>
              </a:lnSpc>
              <a:spcBef>
                <a:spcPts val="0"/>
              </a:spcBef>
              <a:spcAft>
                <a:spcPts val="0"/>
              </a:spcAft>
              <a:buClr>
                <a:srgbClr val="DCE6F5"/>
              </a:buClr>
              <a:buSzPts val="1000"/>
              <a:buFont typeface="Courier New"/>
              <a:buNone/>
            </a:pPr>
            <a:r>
              <a:rPr b="0" i="0" lang="en-US" sz="1000" u="none" cap="none" strike="noStrike">
                <a:solidFill>
                  <a:srgbClr val="DCE6F5"/>
                </a:solidFill>
                <a:latin typeface="Courier New"/>
                <a:ea typeface="Courier New"/>
                <a:cs typeface="Courier New"/>
                <a:sym typeface="Courier New"/>
              </a:rPr>
              <a:t> </a:t>
            </a:r>
            <a:endParaRPr b="0" i="0" sz="1000" u="none" cap="none" strike="noStrike">
              <a:solidFill>
                <a:schemeClr val="dk1"/>
              </a:solidFill>
              <a:latin typeface="Calibri"/>
              <a:ea typeface="Calibri"/>
              <a:cs typeface="Calibri"/>
              <a:sym typeface="Calibri"/>
            </a:endParaRPr>
          </a:p>
          <a:p>
            <a:pPr indent="0" lvl="0" marL="0" marR="0" rtl="0" algn="l">
              <a:lnSpc>
                <a:spcPct val="128000"/>
              </a:lnSpc>
              <a:spcBef>
                <a:spcPts val="0"/>
              </a:spcBef>
              <a:spcAft>
                <a:spcPts val="0"/>
              </a:spcAft>
              <a:buClr>
                <a:srgbClr val="DCE6F5"/>
              </a:buClr>
              <a:buSzPts val="1000"/>
              <a:buFont typeface="Courier New"/>
              <a:buNone/>
            </a:pPr>
            <a:r>
              <a:rPr b="0" i="0" lang="en-US" sz="1000" u="none" cap="none" strike="noStrike">
                <a:solidFill>
                  <a:srgbClr val="DCE6F5"/>
                </a:solidFill>
                <a:latin typeface="Courier New"/>
                <a:ea typeface="Courier New"/>
                <a:cs typeface="Courier New"/>
                <a:sym typeface="Courier New"/>
              </a:rPr>
              <a:t>dummy = torch.randn(1, 3, 224, 224)</a:t>
            </a:r>
            <a:endParaRPr b="0" i="0" sz="1000" u="none" cap="none" strike="noStrike">
              <a:solidFill>
                <a:schemeClr val="dk1"/>
              </a:solidFill>
              <a:latin typeface="Calibri"/>
              <a:ea typeface="Calibri"/>
              <a:cs typeface="Calibri"/>
              <a:sym typeface="Calibri"/>
            </a:endParaRPr>
          </a:p>
          <a:p>
            <a:pPr indent="0" lvl="0" marL="0" marR="0" rtl="0" algn="l">
              <a:lnSpc>
                <a:spcPct val="128000"/>
              </a:lnSpc>
              <a:spcBef>
                <a:spcPts val="0"/>
              </a:spcBef>
              <a:spcAft>
                <a:spcPts val="0"/>
              </a:spcAft>
              <a:buClr>
                <a:srgbClr val="DCE6F5"/>
              </a:buClr>
              <a:buSzPts val="1000"/>
              <a:buFont typeface="Courier New"/>
              <a:buNone/>
            </a:pPr>
            <a:r>
              <a:rPr b="0" i="0" lang="en-US" sz="1000" u="none" cap="none" strike="noStrike">
                <a:solidFill>
                  <a:srgbClr val="DCE6F5"/>
                </a:solidFill>
                <a:latin typeface="Courier New"/>
                <a:ea typeface="Courier New"/>
                <a:cs typeface="Courier New"/>
                <a:sym typeface="Courier New"/>
              </a:rPr>
              <a:t>torch.onnx.export(model, dummy, "dist/grade_resnet50.onnx",</a:t>
            </a:r>
            <a:endParaRPr b="0" i="0" sz="1000" u="none" cap="none" strike="noStrike">
              <a:solidFill>
                <a:schemeClr val="dk1"/>
              </a:solidFill>
              <a:latin typeface="Calibri"/>
              <a:ea typeface="Calibri"/>
              <a:cs typeface="Calibri"/>
              <a:sym typeface="Calibri"/>
            </a:endParaRPr>
          </a:p>
          <a:p>
            <a:pPr indent="0" lvl="0" marL="0" marR="0" rtl="0" algn="l">
              <a:lnSpc>
                <a:spcPct val="128000"/>
              </a:lnSpc>
              <a:spcBef>
                <a:spcPts val="0"/>
              </a:spcBef>
              <a:spcAft>
                <a:spcPts val="0"/>
              </a:spcAft>
              <a:buClr>
                <a:srgbClr val="DCE6F5"/>
              </a:buClr>
              <a:buSzPts val="1000"/>
              <a:buFont typeface="Courier New"/>
              <a:buNone/>
            </a:pPr>
            <a:r>
              <a:rPr b="0" i="0" lang="en-US" sz="1000" u="none" cap="none" strike="noStrike">
                <a:solidFill>
                  <a:srgbClr val="DCE6F5"/>
                </a:solidFill>
                <a:latin typeface="Courier New"/>
                <a:ea typeface="Courier New"/>
                <a:cs typeface="Courier New"/>
                <a:sym typeface="Courier New"/>
              </a:rPr>
              <a:t>                  opset_version=17,</a:t>
            </a:r>
            <a:endParaRPr b="0" i="0" sz="1000" u="none" cap="none" strike="noStrike">
              <a:solidFill>
                <a:schemeClr val="dk1"/>
              </a:solidFill>
              <a:latin typeface="Calibri"/>
              <a:ea typeface="Calibri"/>
              <a:cs typeface="Calibri"/>
              <a:sym typeface="Calibri"/>
            </a:endParaRPr>
          </a:p>
          <a:p>
            <a:pPr indent="0" lvl="0" marL="0" marR="0" rtl="0" algn="l">
              <a:lnSpc>
                <a:spcPct val="128000"/>
              </a:lnSpc>
              <a:spcBef>
                <a:spcPts val="0"/>
              </a:spcBef>
              <a:spcAft>
                <a:spcPts val="0"/>
              </a:spcAft>
              <a:buClr>
                <a:srgbClr val="DCE6F5"/>
              </a:buClr>
              <a:buSzPts val="1000"/>
              <a:buFont typeface="Courier New"/>
              <a:buNone/>
            </a:pPr>
            <a:r>
              <a:rPr b="0" i="0" lang="en-US" sz="1000" u="none" cap="none" strike="noStrike">
                <a:solidFill>
                  <a:srgbClr val="DCE6F5"/>
                </a:solidFill>
                <a:latin typeface="Courier New"/>
                <a:ea typeface="Courier New"/>
                <a:cs typeface="Courier New"/>
                <a:sym typeface="Courier New"/>
              </a:rPr>
              <a:t>                  input_names=["image"], output_names=["logits"],</a:t>
            </a:r>
            <a:endParaRPr b="0" i="0" sz="1000" u="none" cap="none" strike="noStrike">
              <a:solidFill>
                <a:schemeClr val="dk1"/>
              </a:solidFill>
              <a:latin typeface="Calibri"/>
              <a:ea typeface="Calibri"/>
              <a:cs typeface="Calibri"/>
              <a:sym typeface="Calibri"/>
            </a:endParaRPr>
          </a:p>
          <a:p>
            <a:pPr indent="0" lvl="0" marL="0" marR="0" rtl="0" algn="l">
              <a:lnSpc>
                <a:spcPct val="128000"/>
              </a:lnSpc>
              <a:spcBef>
                <a:spcPts val="0"/>
              </a:spcBef>
              <a:spcAft>
                <a:spcPts val="0"/>
              </a:spcAft>
              <a:buClr>
                <a:srgbClr val="DCE6F5"/>
              </a:buClr>
              <a:buSzPts val="1000"/>
              <a:buFont typeface="Courier New"/>
              <a:buNone/>
            </a:pPr>
            <a:r>
              <a:rPr b="0" i="0" lang="en-US" sz="1000" u="none" cap="none" strike="noStrike">
                <a:solidFill>
                  <a:srgbClr val="DCE6F5"/>
                </a:solidFill>
                <a:latin typeface="Courier New"/>
                <a:ea typeface="Courier New"/>
                <a:cs typeface="Courier New"/>
                <a:sym typeface="Courier New"/>
              </a:rPr>
              <a:t>                  dynamic_axes=None)  # single camera: fix shapes</a:t>
            </a:r>
            <a:endParaRPr b="0" i="0" sz="1000" u="none" cap="none" strike="noStrike">
              <a:solidFill>
                <a:schemeClr val="dk1"/>
              </a:solidFill>
              <a:latin typeface="Calibri"/>
              <a:ea typeface="Calibri"/>
              <a:cs typeface="Calibri"/>
              <a:sym typeface="Calibri"/>
            </a:endParaRPr>
          </a:p>
          <a:p>
            <a:pPr indent="0" lvl="0" marL="0" marR="0" rtl="0" algn="l">
              <a:lnSpc>
                <a:spcPct val="128000"/>
              </a:lnSpc>
              <a:spcBef>
                <a:spcPts val="0"/>
              </a:spcBef>
              <a:spcAft>
                <a:spcPts val="0"/>
              </a:spcAft>
              <a:buClr>
                <a:srgbClr val="DCE6F5"/>
              </a:buClr>
              <a:buSzPts val="1000"/>
              <a:buFont typeface="Courier New"/>
              <a:buNone/>
            </a:pPr>
            <a:r>
              <a:rPr b="0" i="0" lang="en-US" sz="1000" u="none" cap="none" strike="noStrike">
                <a:solidFill>
                  <a:srgbClr val="DCE6F5"/>
                </a:solidFill>
                <a:latin typeface="Courier New"/>
                <a:ea typeface="Courier New"/>
                <a:cs typeface="Courier New"/>
                <a:sym typeface="Courier New"/>
              </a:rPr>
              <a:t> </a:t>
            </a:r>
            <a:endParaRPr b="0" i="0" sz="1000" u="none" cap="none" strike="noStrike">
              <a:solidFill>
                <a:schemeClr val="dk1"/>
              </a:solidFill>
              <a:latin typeface="Calibri"/>
              <a:ea typeface="Calibri"/>
              <a:cs typeface="Calibri"/>
              <a:sym typeface="Calibri"/>
            </a:endParaRPr>
          </a:p>
          <a:p>
            <a:pPr indent="0" lvl="0" marL="0" marR="0" rtl="0" algn="l">
              <a:lnSpc>
                <a:spcPct val="128000"/>
              </a:lnSpc>
              <a:spcBef>
                <a:spcPts val="0"/>
              </a:spcBef>
              <a:spcAft>
                <a:spcPts val="0"/>
              </a:spcAft>
              <a:buClr>
                <a:srgbClr val="8FBF71"/>
              </a:buClr>
              <a:buSzPts val="1000"/>
              <a:buFont typeface="Courier New"/>
              <a:buNone/>
            </a:pPr>
            <a:r>
              <a:rPr b="0" i="0" lang="en-US" sz="1000" u="none" cap="none" strike="noStrike">
                <a:solidFill>
                  <a:srgbClr val="8FBF71"/>
                </a:solidFill>
                <a:latin typeface="Courier New"/>
                <a:ea typeface="Courier New"/>
                <a:cs typeface="Courier New"/>
                <a:sym typeface="Courier New"/>
              </a:rPr>
              <a:t># parity test on REAL validation images, not random tensors</a:t>
            </a:r>
            <a:endParaRPr b="0" i="0" sz="1000" u="none" cap="none" strike="noStrike">
              <a:solidFill>
                <a:schemeClr val="dk1"/>
              </a:solidFill>
              <a:latin typeface="Calibri"/>
              <a:ea typeface="Calibri"/>
              <a:cs typeface="Calibri"/>
              <a:sym typeface="Calibri"/>
            </a:endParaRPr>
          </a:p>
          <a:p>
            <a:pPr indent="0" lvl="0" marL="0" marR="0" rtl="0" algn="l">
              <a:lnSpc>
                <a:spcPct val="128000"/>
              </a:lnSpc>
              <a:spcBef>
                <a:spcPts val="0"/>
              </a:spcBef>
              <a:spcAft>
                <a:spcPts val="0"/>
              </a:spcAft>
              <a:buClr>
                <a:srgbClr val="DCE6F5"/>
              </a:buClr>
              <a:buSzPts val="1000"/>
              <a:buFont typeface="Courier New"/>
              <a:buNone/>
            </a:pPr>
            <a:r>
              <a:rPr b="0" i="0" lang="en-US" sz="1000" u="none" cap="none" strike="noStrike">
                <a:solidFill>
                  <a:srgbClr val="DCE6F5"/>
                </a:solidFill>
                <a:latin typeface="Courier New"/>
                <a:ea typeface="Courier New"/>
                <a:cs typeface="Courier New"/>
                <a:sym typeface="Courier New"/>
              </a:rPr>
              <a:t>sess = ort.InferenceSession("dist/grade_resnet50.onnx",</a:t>
            </a:r>
            <a:endParaRPr b="0" i="0" sz="1000" u="none" cap="none" strike="noStrike">
              <a:solidFill>
                <a:schemeClr val="dk1"/>
              </a:solidFill>
              <a:latin typeface="Calibri"/>
              <a:ea typeface="Calibri"/>
              <a:cs typeface="Calibri"/>
              <a:sym typeface="Calibri"/>
            </a:endParaRPr>
          </a:p>
          <a:p>
            <a:pPr indent="0" lvl="0" marL="0" marR="0" rtl="0" algn="l">
              <a:lnSpc>
                <a:spcPct val="128000"/>
              </a:lnSpc>
              <a:spcBef>
                <a:spcPts val="0"/>
              </a:spcBef>
              <a:spcAft>
                <a:spcPts val="0"/>
              </a:spcAft>
              <a:buClr>
                <a:srgbClr val="DCE6F5"/>
              </a:buClr>
              <a:buSzPts val="1000"/>
              <a:buFont typeface="Courier New"/>
              <a:buNone/>
            </a:pPr>
            <a:r>
              <a:rPr b="0" i="0" lang="en-US" sz="1000" u="none" cap="none" strike="noStrike">
                <a:solidFill>
                  <a:srgbClr val="DCE6F5"/>
                </a:solidFill>
                <a:latin typeface="Courier New"/>
                <a:ea typeface="Courier New"/>
                <a:cs typeface="Courier New"/>
                <a:sym typeface="Courier New"/>
              </a:rPr>
              <a:t>                            providers=["CPUExecutionProvider"])</a:t>
            </a:r>
            <a:endParaRPr b="0" i="0" sz="1000" u="none" cap="none" strike="noStrike">
              <a:solidFill>
                <a:schemeClr val="dk1"/>
              </a:solidFill>
              <a:latin typeface="Calibri"/>
              <a:ea typeface="Calibri"/>
              <a:cs typeface="Calibri"/>
              <a:sym typeface="Calibri"/>
            </a:endParaRPr>
          </a:p>
          <a:p>
            <a:pPr indent="0" lvl="0" marL="0" marR="0" rtl="0" algn="l">
              <a:lnSpc>
                <a:spcPct val="128000"/>
              </a:lnSpc>
              <a:spcBef>
                <a:spcPts val="0"/>
              </a:spcBef>
              <a:spcAft>
                <a:spcPts val="0"/>
              </a:spcAft>
              <a:buClr>
                <a:srgbClr val="DCE6F5"/>
              </a:buClr>
              <a:buSzPts val="1000"/>
              <a:buFont typeface="Courier New"/>
              <a:buNone/>
            </a:pPr>
            <a:r>
              <a:rPr b="0" i="0" lang="en-US" sz="1000" u="none" cap="none" strike="noStrike">
                <a:solidFill>
                  <a:srgbClr val="DCE6F5"/>
                </a:solidFill>
                <a:latin typeface="Courier New"/>
                <a:ea typeface="Courier New"/>
                <a:cs typeface="Courier New"/>
                <a:sym typeface="Courier New"/>
              </a:rPr>
              <a:t>max_diff, flips = 0.0, 0</a:t>
            </a:r>
            <a:endParaRPr b="0" i="0" sz="1000" u="none" cap="none" strike="noStrike">
              <a:solidFill>
                <a:schemeClr val="dk1"/>
              </a:solidFill>
              <a:latin typeface="Calibri"/>
              <a:ea typeface="Calibri"/>
              <a:cs typeface="Calibri"/>
              <a:sym typeface="Calibri"/>
            </a:endParaRPr>
          </a:p>
          <a:p>
            <a:pPr indent="0" lvl="0" marL="0" marR="0" rtl="0" algn="l">
              <a:lnSpc>
                <a:spcPct val="128000"/>
              </a:lnSpc>
              <a:spcBef>
                <a:spcPts val="0"/>
              </a:spcBef>
              <a:spcAft>
                <a:spcPts val="0"/>
              </a:spcAft>
              <a:buClr>
                <a:srgbClr val="DCE6F5"/>
              </a:buClr>
              <a:buSzPts val="1000"/>
              <a:buFont typeface="Courier New"/>
              <a:buNone/>
            </a:pPr>
            <a:r>
              <a:rPr b="0" i="0" lang="en-US" sz="1000" u="none" cap="none" strike="noStrike">
                <a:solidFill>
                  <a:srgbClr val="DCE6F5"/>
                </a:solidFill>
                <a:latin typeface="Courier New"/>
                <a:ea typeface="Courier New"/>
                <a:cs typeface="Courier New"/>
                <a:sym typeface="Courier New"/>
              </a:rPr>
              <a:t>for img, _ in parity_sample(n=100):</a:t>
            </a:r>
            <a:endParaRPr b="0" i="0" sz="1000" u="none" cap="none" strike="noStrike">
              <a:solidFill>
                <a:schemeClr val="dk1"/>
              </a:solidFill>
              <a:latin typeface="Calibri"/>
              <a:ea typeface="Calibri"/>
              <a:cs typeface="Calibri"/>
              <a:sym typeface="Calibri"/>
            </a:endParaRPr>
          </a:p>
          <a:p>
            <a:pPr indent="0" lvl="0" marL="0" marR="0" rtl="0" algn="l">
              <a:lnSpc>
                <a:spcPct val="128000"/>
              </a:lnSpc>
              <a:spcBef>
                <a:spcPts val="0"/>
              </a:spcBef>
              <a:spcAft>
                <a:spcPts val="0"/>
              </a:spcAft>
              <a:buClr>
                <a:srgbClr val="DCE6F5"/>
              </a:buClr>
              <a:buSzPts val="1000"/>
              <a:buFont typeface="Courier New"/>
              <a:buNone/>
            </a:pPr>
            <a:r>
              <a:rPr b="0" i="0" lang="en-US" sz="1000" u="none" cap="none" strike="noStrike">
                <a:solidFill>
                  <a:srgbClr val="DCE6F5"/>
                </a:solidFill>
                <a:latin typeface="Courier New"/>
                <a:ea typeface="Courier New"/>
                <a:cs typeface="Courier New"/>
                <a:sym typeface="Courier New"/>
              </a:rPr>
              <a:t>    x = tf(img).unsqueeze(0)</a:t>
            </a:r>
            <a:endParaRPr b="0" i="0" sz="1000" u="none" cap="none" strike="noStrike">
              <a:solidFill>
                <a:schemeClr val="dk1"/>
              </a:solidFill>
              <a:latin typeface="Calibri"/>
              <a:ea typeface="Calibri"/>
              <a:cs typeface="Calibri"/>
              <a:sym typeface="Calibri"/>
            </a:endParaRPr>
          </a:p>
          <a:p>
            <a:pPr indent="0" lvl="0" marL="0" marR="0" rtl="0" algn="l">
              <a:lnSpc>
                <a:spcPct val="128000"/>
              </a:lnSpc>
              <a:spcBef>
                <a:spcPts val="0"/>
              </a:spcBef>
              <a:spcAft>
                <a:spcPts val="0"/>
              </a:spcAft>
              <a:buClr>
                <a:srgbClr val="DCE6F5"/>
              </a:buClr>
              <a:buSzPts val="1000"/>
              <a:buFont typeface="Courier New"/>
              <a:buNone/>
            </a:pPr>
            <a:r>
              <a:rPr b="0" i="0" lang="en-US" sz="1000" u="none" cap="none" strike="noStrike">
                <a:solidFill>
                  <a:srgbClr val="DCE6F5"/>
                </a:solidFill>
                <a:latin typeface="Courier New"/>
                <a:ea typeface="Courier New"/>
                <a:cs typeface="Courier New"/>
                <a:sym typeface="Courier New"/>
              </a:rPr>
              <a:t>    with torch.no_grad():</a:t>
            </a:r>
            <a:endParaRPr b="0" i="0" sz="1000" u="none" cap="none" strike="noStrike">
              <a:solidFill>
                <a:schemeClr val="dk1"/>
              </a:solidFill>
              <a:latin typeface="Calibri"/>
              <a:ea typeface="Calibri"/>
              <a:cs typeface="Calibri"/>
              <a:sym typeface="Calibri"/>
            </a:endParaRPr>
          </a:p>
          <a:p>
            <a:pPr indent="0" lvl="0" marL="0" marR="0" rtl="0" algn="l">
              <a:lnSpc>
                <a:spcPct val="128000"/>
              </a:lnSpc>
              <a:spcBef>
                <a:spcPts val="0"/>
              </a:spcBef>
              <a:spcAft>
                <a:spcPts val="0"/>
              </a:spcAft>
              <a:buClr>
                <a:srgbClr val="DCE6F5"/>
              </a:buClr>
              <a:buSzPts val="1000"/>
              <a:buFont typeface="Courier New"/>
              <a:buNone/>
            </a:pPr>
            <a:r>
              <a:rPr b="0" i="0" lang="en-US" sz="1000" u="none" cap="none" strike="noStrike">
                <a:solidFill>
                  <a:srgbClr val="DCE6F5"/>
                </a:solidFill>
                <a:latin typeface="Courier New"/>
                <a:ea typeface="Courier New"/>
                <a:cs typeface="Courier New"/>
                <a:sym typeface="Courier New"/>
              </a:rPr>
              <a:t>        ref = model(x).numpy()</a:t>
            </a:r>
            <a:endParaRPr b="0" i="0" sz="1000" u="none" cap="none" strike="noStrike">
              <a:solidFill>
                <a:schemeClr val="dk1"/>
              </a:solidFill>
              <a:latin typeface="Calibri"/>
              <a:ea typeface="Calibri"/>
              <a:cs typeface="Calibri"/>
              <a:sym typeface="Calibri"/>
            </a:endParaRPr>
          </a:p>
          <a:p>
            <a:pPr indent="0" lvl="0" marL="0" marR="0" rtl="0" algn="l">
              <a:lnSpc>
                <a:spcPct val="128000"/>
              </a:lnSpc>
              <a:spcBef>
                <a:spcPts val="0"/>
              </a:spcBef>
              <a:spcAft>
                <a:spcPts val="0"/>
              </a:spcAft>
              <a:buClr>
                <a:srgbClr val="DCE6F5"/>
              </a:buClr>
              <a:buSzPts val="1000"/>
              <a:buFont typeface="Courier New"/>
              <a:buNone/>
            </a:pPr>
            <a:r>
              <a:rPr b="0" i="0" lang="en-US" sz="1000" u="none" cap="none" strike="noStrike">
                <a:solidFill>
                  <a:srgbClr val="DCE6F5"/>
                </a:solidFill>
                <a:latin typeface="Courier New"/>
                <a:ea typeface="Courier New"/>
                <a:cs typeface="Courier New"/>
                <a:sym typeface="Courier New"/>
              </a:rPr>
              <a:t>    out = sess.run(None, {"image": x.numpy()})[0]</a:t>
            </a:r>
            <a:endParaRPr b="0" i="0" sz="1000" u="none" cap="none" strike="noStrike">
              <a:solidFill>
                <a:schemeClr val="dk1"/>
              </a:solidFill>
              <a:latin typeface="Calibri"/>
              <a:ea typeface="Calibri"/>
              <a:cs typeface="Calibri"/>
              <a:sym typeface="Calibri"/>
            </a:endParaRPr>
          </a:p>
          <a:p>
            <a:pPr indent="0" lvl="0" marL="0" marR="0" rtl="0" algn="l">
              <a:lnSpc>
                <a:spcPct val="128000"/>
              </a:lnSpc>
              <a:spcBef>
                <a:spcPts val="0"/>
              </a:spcBef>
              <a:spcAft>
                <a:spcPts val="0"/>
              </a:spcAft>
              <a:buClr>
                <a:srgbClr val="DCE6F5"/>
              </a:buClr>
              <a:buSzPts val="1000"/>
              <a:buFont typeface="Courier New"/>
              <a:buNone/>
            </a:pPr>
            <a:r>
              <a:rPr b="0" i="0" lang="en-US" sz="1000" u="none" cap="none" strike="noStrike">
                <a:solidFill>
                  <a:srgbClr val="DCE6F5"/>
                </a:solidFill>
                <a:latin typeface="Courier New"/>
                <a:ea typeface="Courier New"/>
                <a:cs typeface="Courier New"/>
                <a:sym typeface="Courier New"/>
              </a:rPr>
              <a:t>    max_diff = max(max_diff, float(np.abs(ref - out).max()))</a:t>
            </a:r>
            <a:endParaRPr b="0" i="0" sz="1000" u="none" cap="none" strike="noStrike">
              <a:solidFill>
                <a:schemeClr val="dk1"/>
              </a:solidFill>
              <a:latin typeface="Calibri"/>
              <a:ea typeface="Calibri"/>
              <a:cs typeface="Calibri"/>
              <a:sym typeface="Calibri"/>
            </a:endParaRPr>
          </a:p>
          <a:p>
            <a:pPr indent="0" lvl="0" marL="0" marR="0" rtl="0" algn="l">
              <a:lnSpc>
                <a:spcPct val="128000"/>
              </a:lnSpc>
              <a:spcBef>
                <a:spcPts val="0"/>
              </a:spcBef>
              <a:spcAft>
                <a:spcPts val="0"/>
              </a:spcAft>
              <a:buClr>
                <a:srgbClr val="DCE6F5"/>
              </a:buClr>
              <a:buSzPts val="1000"/>
              <a:buFont typeface="Courier New"/>
              <a:buNone/>
            </a:pPr>
            <a:r>
              <a:rPr b="0" i="0" lang="en-US" sz="1000" u="none" cap="none" strike="noStrike">
                <a:solidFill>
                  <a:srgbClr val="DCE6F5"/>
                </a:solidFill>
                <a:latin typeface="Courier New"/>
                <a:ea typeface="Courier New"/>
                <a:cs typeface="Courier New"/>
                <a:sym typeface="Courier New"/>
              </a:rPr>
              <a:t>    flips += int(ref.argmax() != out.argmax())</a:t>
            </a:r>
            <a:endParaRPr b="0" i="0" sz="1000" u="none" cap="none" strike="noStrike">
              <a:solidFill>
                <a:schemeClr val="dk1"/>
              </a:solidFill>
              <a:latin typeface="Calibri"/>
              <a:ea typeface="Calibri"/>
              <a:cs typeface="Calibri"/>
              <a:sym typeface="Calibri"/>
            </a:endParaRPr>
          </a:p>
          <a:p>
            <a:pPr indent="0" lvl="0" marL="0" marR="0" rtl="0" algn="l">
              <a:lnSpc>
                <a:spcPct val="128000"/>
              </a:lnSpc>
              <a:spcBef>
                <a:spcPts val="0"/>
              </a:spcBef>
              <a:spcAft>
                <a:spcPts val="0"/>
              </a:spcAft>
              <a:buClr>
                <a:srgbClr val="DCE6F5"/>
              </a:buClr>
              <a:buSzPts val="1000"/>
              <a:buFont typeface="Courier New"/>
              <a:buNone/>
            </a:pPr>
            <a:r>
              <a:rPr b="0" i="0" lang="en-US" sz="1000" u="none" cap="none" strike="noStrike">
                <a:solidFill>
                  <a:srgbClr val="DCE6F5"/>
                </a:solidFill>
                <a:latin typeface="Courier New"/>
                <a:ea typeface="Courier New"/>
                <a:cs typeface="Courier New"/>
                <a:sym typeface="Courier New"/>
              </a:rPr>
              <a:t>assert max_diff &lt; 1e-4 and flips == 0, (max_diff, flips)</a:t>
            </a:r>
            <a:endParaRPr b="0" i="0" sz="1000" u="none" cap="none" strike="noStrike">
              <a:solidFill>
                <a:schemeClr val="dk1"/>
              </a:solidFill>
              <a:latin typeface="Calibri"/>
              <a:ea typeface="Calibri"/>
              <a:cs typeface="Calibri"/>
              <a:sym typeface="Calibri"/>
            </a:endParaRPr>
          </a:p>
          <a:p>
            <a:pPr indent="0" lvl="0" marL="0" marR="0" rtl="0" algn="l">
              <a:lnSpc>
                <a:spcPct val="128000"/>
              </a:lnSpc>
              <a:spcBef>
                <a:spcPts val="0"/>
              </a:spcBef>
              <a:spcAft>
                <a:spcPts val="0"/>
              </a:spcAft>
              <a:buClr>
                <a:srgbClr val="DCE6F5"/>
              </a:buClr>
              <a:buSzPts val="1000"/>
              <a:buFont typeface="Courier New"/>
              <a:buNone/>
            </a:pPr>
            <a:r>
              <a:rPr b="0" i="0" lang="en-US" sz="1000" u="none" cap="none" strike="noStrike">
                <a:solidFill>
                  <a:srgbClr val="DCE6F5"/>
                </a:solidFill>
                <a:latin typeface="Courier New"/>
                <a:ea typeface="Courier New"/>
                <a:cs typeface="Courier New"/>
                <a:sym typeface="Courier New"/>
              </a:rPr>
              <a:t>print(f"parity OK: max diff={max_diff:.2e}, flips={flips}/100")</a:t>
            </a:r>
            <a:endParaRPr b="0" i="0" sz="1000" u="none" cap="none" strike="noStrike">
              <a:solidFill>
                <a:schemeClr val="dk1"/>
              </a:solidFill>
              <a:latin typeface="Calibri"/>
              <a:ea typeface="Calibri"/>
              <a:cs typeface="Calibri"/>
              <a:sym typeface="Calibri"/>
            </a:endParaRPr>
          </a:p>
        </p:txBody>
      </p:sp>
      <p:sp>
        <p:nvSpPr>
          <p:cNvPr id="3833" name="Google Shape;3833;p137"/>
          <p:cNvSpPr/>
          <p:nvPr/>
        </p:nvSpPr>
        <p:spPr>
          <a:xfrm>
            <a:off x="7973568" y="1389888"/>
            <a:ext cx="3712464" cy="1463040"/>
          </a:xfrm>
          <a:prstGeom prst="roundRect">
            <a:avLst>
              <a:gd fmla="val 4375" name="adj"/>
            </a:avLst>
          </a:prstGeom>
          <a:solidFill>
            <a:srgbClr val="F2F6F9"/>
          </a:solidFill>
          <a:ln cap="flat" cmpd="sng" w="12700">
            <a:solidFill>
              <a:srgbClr val="D9E2E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34" name="Google Shape;3834;p137"/>
          <p:cNvSpPr/>
          <p:nvPr/>
        </p:nvSpPr>
        <p:spPr>
          <a:xfrm>
            <a:off x="8101584" y="1508760"/>
            <a:ext cx="237744" cy="237744"/>
          </a:xfrm>
          <a:prstGeom prst="ellipse">
            <a:avLst/>
          </a:prstGeom>
          <a:solidFill>
            <a:srgbClr val="00A79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35" name="Google Shape;3835;p137"/>
          <p:cNvSpPr/>
          <p:nvPr/>
        </p:nvSpPr>
        <p:spPr>
          <a:xfrm>
            <a:off x="8101584" y="1508760"/>
            <a:ext cx="237744" cy="23774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000"/>
              <a:buFont typeface="Calibri"/>
              <a:buNone/>
            </a:pPr>
            <a:r>
              <a:rPr b="1" i="0" lang="en-US" sz="1000" u="none" cap="none" strike="noStrike">
                <a:solidFill>
                  <a:srgbClr val="FFFFFF"/>
                </a:solidFill>
                <a:latin typeface="Calibri"/>
                <a:ea typeface="Calibri"/>
                <a:cs typeface="Calibri"/>
                <a:sym typeface="Calibri"/>
              </a:rPr>
              <a:t>1</a:t>
            </a:r>
            <a:endParaRPr b="0" i="0" sz="1000" u="none" cap="none" strike="noStrike">
              <a:solidFill>
                <a:schemeClr val="dk1"/>
              </a:solidFill>
              <a:latin typeface="Calibri"/>
              <a:ea typeface="Calibri"/>
              <a:cs typeface="Calibri"/>
              <a:sym typeface="Calibri"/>
            </a:endParaRPr>
          </a:p>
        </p:txBody>
      </p:sp>
      <p:sp>
        <p:nvSpPr>
          <p:cNvPr id="3836" name="Google Shape;3836;p137"/>
          <p:cNvSpPr/>
          <p:nvPr/>
        </p:nvSpPr>
        <p:spPr>
          <a:xfrm>
            <a:off x="8430768" y="1444752"/>
            <a:ext cx="3145536"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D2A5C"/>
              </a:buClr>
              <a:buSzPts val="1150"/>
              <a:buFont typeface="Calibri"/>
              <a:buNone/>
            </a:pPr>
            <a:r>
              <a:rPr b="1" i="0" lang="en-US" sz="1150" u="none" cap="none" strike="noStrike">
                <a:solidFill>
                  <a:srgbClr val="1D2A5C"/>
                </a:solidFill>
                <a:latin typeface="Calibri"/>
                <a:ea typeface="Calibri"/>
                <a:cs typeface="Calibri"/>
                <a:sym typeface="Calibri"/>
              </a:rPr>
              <a:t>model.eval() — always</a:t>
            </a:r>
            <a:endParaRPr b="0" i="0" sz="1150" u="none" cap="none" strike="noStrike">
              <a:solidFill>
                <a:schemeClr val="dk1"/>
              </a:solidFill>
              <a:latin typeface="Calibri"/>
              <a:ea typeface="Calibri"/>
              <a:cs typeface="Calibri"/>
              <a:sym typeface="Calibri"/>
            </a:endParaRPr>
          </a:p>
        </p:txBody>
      </p:sp>
      <p:sp>
        <p:nvSpPr>
          <p:cNvPr id="3837" name="Google Shape;3837;p137"/>
          <p:cNvSpPr/>
          <p:nvPr/>
        </p:nvSpPr>
        <p:spPr>
          <a:xfrm>
            <a:off x="8430768" y="1719072"/>
            <a:ext cx="3145536" cy="1060704"/>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5F6B7A"/>
              </a:buClr>
              <a:buSzPts val="1000"/>
              <a:buFont typeface="Calibri"/>
              <a:buNone/>
            </a:pPr>
            <a:r>
              <a:rPr b="0" i="0" lang="en-US" sz="1000" u="none" cap="none" strike="noStrike">
                <a:solidFill>
                  <a:srgbClr val="5F6B7A"/>
                </a:solidFill>
                <a:latin typeface="Calibri"/>
                <a:ea typeface="Calibri"/>
                <a:cs typeface="Calibri"/>
                <a:sym typeface="Calibri"/>
              </a:rPr>
              <a:t>The lab's planted bug: train-mode export gives random decision flips.</a:t>
            </a:r>
            <a:endParaRPr b="0" i="0" sz="1000" u="none" cap="none" strike="noStrike">
              <a:solidFill>
                <a:schemeClr val="dk1"/>
              </a:solidFill>
              <a:latin typeface="Calibri"/>
              <a:ea typeface="Calibri"/>
              <a:cs typeface="Calibri"/>
              <a:sym typeface="Calibri"/>
            </a:endParaRPr>
          </a:p>
        </p:txBody>
      </p:sp>
      <p:sp>
        <p:nvSpPr>
          <p:cNvPr id="3838" name="Google Shape;3838;p137"/>
          <p:cNvSpPr/>
          <p:nvPr/>
        </p:nvSpPr>
        <p:spPr>
          <a:xfrm>
            <a:off x="7973568" y="3054096"/>
            <a:ext cx="3712464" cy="1463040"/>
          </a:xfrm>
          <a:prstGeom prst="roundRect">
            <a:avLst>
              <a:gd fmla="val 4375" name="adj"/>
            </a:avLst>
          </a:prstGeom>
          <a:solidFill>
            <a:srgbClr val="F2F6F9"/>
          </a:solidFill>
          <a:ln cap="flat" cmpd="sng" w="12700">
            <a:solidFill>
              <a:srgbClr val="D9E2E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39" name="Google Shape;3839;p137"/>
          <p:cNvSpPr/>
          <p:nvPr/>
        </p:nvSpPr>
        <p:spPr>
          <a:xfrm>
            <a:off x="8101584" y="3172968"/>
            <a:ext cx="237744" cy="237744"/>
          </a:xfrm>
          <a:prstGeom prst="ellipse">
            <a:avLst/>
          </a:prstGeom>
          <a:solidFill>
            <a:srgbClr val="29ABE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40" name="Google Shape;3840;p137"/>
          <p:cNvSpPr/>
          <p:nvPr/>
        </p:nvSpPr>
        <p:spPr>
          <a:xfrm>
            <a:off x="8101584" y="3172968"/>
            <a:ext cx="237744" cy="23774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000"/>
              <a:buFont typeface="Calibri"/>
              <a:buNone/>
            </a:pPr>
            <a:r>
              <a:rPr b="1" i="0" lang="en-US" sz="1000" u="none" cap="none" strike="noStrike">
                <a:solidFill>
                  <a:srgbClr val="FFFFFF"/>
                </a:solidFill>
                <a:latin typeface="Calibri"/>
                <a:ea typeface="Calibri"/>
                <a:cs typeface="Calibri"/>
                <a:sym typeface="Calibri"/>
              </a:rPr>
              <a:t>2</a:t>
            </a:r>
            <a:endParaRPr b="0" i="0" sz="1000" u="none" cap="none" strike="noStrike">
              <a:solidFill>
                <a:schemeClr val="dk1"/>
              </a:solidFill>
              <a:latin typeface="Calibri"/>
              <a:ea typeface="Calibri"/>
              <a:cs typeface="Calibri"/>
              <a:sym typeface="Calibri"/>
            </a:endParaRPr>
          </a:p>
        </p:txBody>
      </p:sp>
      <p:sp>
        <p:nvSpPr>
          <p:cNvPr id="3841" name="Google Shape;3841;p137"/>
          <p:cNvSpPr/>
          <p:nvPr/>
        </p:nvSpPr>
        <p:spPr>
          <a:xfrm>
            <a:off x="8430768" y="3108960"/>
            <a:ext cx="3145536"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D2A5C"/>
              </a:buClr>
              <a:buSzPts val="1150"/>
              <a:buFont typeface="Calibri"/>
              <a:buNone/>
            </a:pPr>
            <a:r>
              <a:rPr b="1" i="0" lang="en-US" sz="1150" u="none" cap="none" strike="noStrike">
                <a:solidFill>
                  <a:srgbClr val="1D2A5C"/>
                </a:solidFill>
                <a:latin typeface="Calibri"/>
                <a:ea typeface="Calibri"/>
                <a:cs typeface="Calibri"/>
                <a:sym typeface="Calibri"/>
              </a:rPr>
              <a:t>Real images, not tensors</a:t>
            </a:r>
            <a:endParaRPr b="0" i="0" sz="1150" u="none" cap="none" strike="noStrike">
              <a:solidFill>
                <a:schemeClr val="dk1"/>
              </a:solidFill>
              <a:latin typeface="Calibri"/>
              <a:ea typeface="Calibri"/>
              <a:cs typeface="Calibri"/>
              <a:sym typeface="Calibri"/>
            </a:endParaRPr>
          </a:p>
        </p:txBody>
      </p:sp>
      <p:sp>
        <p:nvSpPr>
          <p:cNvPr id="3842" name="Google Shape;3842;p137"/>
          <p:cNvSpPr/>
          <p:nvPr/>
        </p:nvSpPr>
        <p:spPr>
          <a:xfrm>
            <a:off x="8430768" y="3383280"/>
            <a:ext cx="3145536" cy="1060704"/>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5F6B7A"/>
              </a:buClr>
              <a:buSzPts val="1000"/>
              <a:buFont typeface="Calibri"/>
              <a:buNone/>
            </a:pPr>
            <a:r>
              <a:rPr b="0" i="0" lang="en-US" sz="1000" u="none" cap="none" strike="noStrike">
                <a:solidFill>
                  <a:srgbClr val="5F6B7A"/>
                </a:solidFill>
                <a:latin typeface="Calibri"/>
                <a:ea typeface="Calibri"/>
                <a:cs typeface="Calibri"/>
                <a:sym typeface="Calibri"/>
              </a:rPr>
              <a:t>Random-tensor parity misses preprocessing drift entirely.</a:t>
            </a:r>
            <a:endParaRPr b="0" i="0" sz="1000" u="none" cap="none" strike="noStrike">
              <a:solidFill>
                <a:schemeClr val="dk1"/>
              </a:solidFill>
              <a:latin typeface="Calibri"/>
              <a:ea typeface="Calibri"/>
              <a:cs typeface="Calibri"/>
              <a:sym typeface="Calibri"/>
            </a:endParaRPr>
          </a:p>
        </p:txBody>
      </p:sp>
      <p:sp>
        <p:nvSpPr>
          <p:cNvPr id="3843" name="Google Shape;3843;p137"/>
          <p:cNvSpPr/>
          <p:nvPr/>
        </p:nvSpPr>
        <p:spPr>
          <a:xfrm>
            <a:off x="7973568" y="4718304"/>
            <a:ext cx="3712464" cy="1463040"/>
          </a:xfrm>
          <a:prstGeom prst="roundRect">
            <a:avLst>
              <a:gd fmla="val 4375" name="adj"/>
            </a:avLst>
          </a:prstGeom>
          <a:solidFill>
            <a:srgbClr val="F2F6F9"/>
          </a:solidFill>
          <a:ln cap="flat" cmpd="sng" w="12700">
            <a:solidFill>
              <a:srgbClr val="D9E2E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44" name="Google Shape;3844;p137"/>
          <p:cNvSpPr/>
          <p:nvPr/>
        </p:nvSpPr>
        <p:spPr>
          <a:xfrm>
            <a:off x="8101584" y="4837176"/>
            <a:ext cx="237744" cy="237744"/>
          </a:xfrm>
          <a:prstGeom prst="ellipse">
            <a:avLst/>
          </a:prstGeom>
          <a:solidFill>
            <a:srgbClr val="F5822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45" name="Google Shape;3845;p137"/>
          <p:cNvSpPr/>
          <p:nvPr/>
        </p:nvSpPr>
        <p:spPr>
          <a:xfrm>
            <a:off x="8101584" y="4837176"/>
            <a:ext cx="237744" cy="23774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000"/>
              <a:buFont typeface="Calibri"/>
              <a:buNone/>
            </a:pPr>
            <a:r>
              <a:rPr b="1" i="0" lang="en-US" sz="1000" u="none" cap="none" strike="noStrike">
                <a:solidFill>
                  <a:srgbClr val="FFFFFF"/>
                </a:solidFill>
                <a:latin typeface="Calibri"/>
                <a:ea typeface="Calibri"/>
                <a:cs typeface="Calibri"/>
                <a:sym typeface="Calibri"/>
              </a:rPr>
              <a:t>3</a:t>
            </a:r>
            <a:endParaRPr b="0" i="0" sz="1000" u="none" cap="none" strike="noStrike">
              <a:solidFill>
                <a:schemeClr val="dk1"/>
              </a:solidFill>
              <a:latin typeface="Calibri"/>
              <a:ea typeface="Calibri"/>
              <a:cs typeface="Calibri"/>
              <a:sym typeface="Calibri"/>
            </a:endParaRPr>
          </a:p>
        </p:txBody>
      </p:sp>
      <p:sp>
        <p:nvSpPr>
          <p:cNvPr id="3846" name="Google Shape;3846;p137"/>
          <p:cNvSpPr/>
          <p:nvPr/>
        </p:nvSpPr>
        <p:spPr>
          <a:xfrm>
            <a:off x="8430768" y="4773168"/>
            <a:ext cx="3145536"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D2A5C"/>
              </a:buClr>
              <a:buSzPts val="1150"/>
              <a:buFont typeface="Calibri"/>
              <a:buNone/>
            </a:pPr>
            <a:r>
              <a:rPr b="1" i="0" lang="en-US" sz="1150" u="none" cap="none" strike="noStrike">
                <a:solidFill>
                  <a:srgbClr val="1D2A5C"/>
                </a:solidFill>
                <a:latin typeface="Calibri"/>
                <a:ea typeface="Calibri"/>
                <a:cs typeface="Calibri"/>
                <a:sym typeface="Calibri"/>
              </a:rPr>
              <a:t>Two assertions</a:t>
            </a:r>
            <a:endParaRPr b="0" i="0" sz="1150" u="none" cap="none" strike="noStrike">
              <a:solidFill>
                <a:schemeClr val="dk1"/>
              </a:solidFill>
              <a:latin typeface="Calibri"/>
              <a:ea typeface="Calibri"/>
              <a:cs typeface="Calibri"/>
              <a:sym typeface="Calibri"/>
            </a:endParaRPr>
          </a:p>
        </p:txBody>
      </p:sp>
      <p:sp>
        <p:nvSpPr>
          <p:cNvPr id="3847" name="Google Shape;3847;p137"/>
          <p:cNvSpPr/>
          <p:nvPr/>
        </p:nvSpPr>
        <p:spPr>
          <a:xfrm>
            <a:off x="8430768" y="5047488"/>
            <a:ext cx="3145536" cy="1060704"/>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5F6B7A"/>
              </a:buClr>
              <a:buSzPts val="1000"/>
              <a:buFont typeface="Calibri"/>
              <a:buNone/>
            </a:pPr>
            <a:r>
              <a:rPr b="0" i="0" lang="en-US" sz="1000" u="none" cap="none" strike="noStrike">
                <a:solidFill>
                  <a:srgbClr val="5F6B7A"/>
                </a:solidFill>
                <a:latin typeface="Calibri"/>
                <a:ea typeface="Calibri"/>
                <a:cs typeface="Calibri"/>
                <a:sym typeface="Calibri"/>
              </a:rPr>
              <a:t>max diff &lt; 1e-4 AND zero decision flips — decisions are the stronger, cheaper test.</a:t>
            </a:r>
            <a:endParaRPr b="0" i="0" sz="1000" u="none" cap="none" strike="noStrike">
              <a:solidFill>
                <a:schemeClr val="dk1"/>
              </a:solidFill>
              <a:latin typeface="Calibri"/>
              <a:ea typeface="Calibri"/>
              <a:cs typeface="Calibri"/>
              <a:sym typeface="Calibri"/>
            </a:endParaRPr>
          </a:p>
        </p:txBody>
      </p:sp>
    </p:spTree>
  </p:cSld>
  <p:clrMapOvr>
    <a:masterClrMapping/>
  </p:clrMapOvr>
</p:sld>
</file>

<file path=ppt/slides/slide1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852" name="Shape 3852"/>
        <p:cNvGrpSpPr/>
        <p:nvPr/>
      </p:nvGrpSpPr>
      <p:grpSpPr>
        <a:xfrm>
          <a:off x="0" y="0"/>
          <a:ext cx="0" cy="0"/>
          <a:chOff x="0" y="0"/>
          <a:chExt cx="0" cy="0"/>
        </a:xfrm>
      </p:grpSpPr>
      <p:sp>
        <p:nvSpPr>
          <p:cNvPr id="3853" name="Google Shape;3853;p138"/>
          <p:cNvSpPr/>
          <p:nvPr/>
        </p:nvSpPr>
        <p:spPr>
          <a:xfrm>
            <a:off x="502920" y="274320"/>
            <a:ext cx="9646920" cy="56692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D2A5C"/>
              </a:buClr>
              <a:buSzPts val="2700"/>
              <a:buFont typeface="Calibri"/>
              <a:buNone/>
            </a:pPr>
            <a:r>
              <a:rPr b="1" i="0" lang="en-US" sz="2700" u="none" cap="none" strike="noStrike">
                <a:solidFill>
                  <a:srgbClr val="1D2A5C"/>
                </a:solidFill>
                <a:latin typeface="Calibri"/>
                <a:ea typeface="Calibri"/>
                <a:cs typeface="Calibri"/>
                <a:sym typeface="Calibri"/>
              </a:rPr>
              <a:t>The honest benchmark</a:t>
            </a:r>
            <a:endParaRPr b="0" i="0" sz="2700" u="none" cap="none" strike="noStrike">
              <a:solidFill>
                <a:schemeClr val="dk1"/>
              </a:solidFill>
              <a:latin typeface="Calibri"/>
              <a:ea typeface="Calibri"/>
              <a:cs typeface="Calibri"/>
              <a:sym typeface="Calibri"/>
            </a:endParaRPr>
          </a:p>
        </p:txBody>
      </p:sp>
      <p:sp>
        <p:nvSpPr>
          <p:cNvPr id="3854" name="Google Shape;3854;p138"/>
          <p:cNvSpPr/>
          <p:nvPr/>
        </p:nvSpPr>
        <p:spPr>
          <a:xfrm>
            <a:off x="502920" y="859536"/>
            <a:ext cx="9646920" cy="31089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F6B7A"/>
              </a:buClr>
              <a:buSzPts val="1250"/>
              <a:buFont typeface="Arial"/>
              <a:buNone/>
            </a:pPr>
            <a:r>
              <a:rPr b="0" i="0" lang="en-US" sz="1250" u="none" cap="none" strike="noStrike">
                <a:solidFill>
                  <a:srgbClr val="5F6B7A"/>
                </a:solidFill>
                <a:latin typeface="Arial"/>
                <a:ea typeface="Arial"/>
                <a:cs typeface="Arial"/>
                <a:sym typeface="Arial"/>
              </a:rPr>
              <a:t>القياس الصادق</a:t>
            </a:r>
            <a:endParaRPr b="0" i="0" sz="1250" u="none" cap="none" strike="noStrike">
              <a:solidFill>
                <a:schemeClr val="dk1"/>
              </a:solidFill>
              <a:latin typeface="Calibri"/>
              <a:ea typeface="Calibri"/>
              <a:cs typeface="Calibri"/>
              <a:sym typeface="Calibri"/>
            </a:endParaRPr>
          </a:p>
        </p:txBody>
      </p:sp>
      <p:pic>
        <p:nvPicPr>
          <p:cNvPr descr="/sessions/blissful-determined-ritchie/build/assets/sdaia_logo.png" id="3855" name="Google Shape;3855;p138"/>
          <p:cNvPicPr preferRelativeResize="0"/>
          <p:nvPr/>
        </p:nvPicPr>
        <p:blipFill rotWithShape="1">
          <a:blip r:embed="rId3">
            <a:alphaModFix/>
          </a:blip>
          <a:srcRect b="0" l="0" r="0" t="0"/>
          <a:stretch/>
        </p:blipFill>
        <p:spPr>
          <a:xfrm>
            <a:off x="10625328" y="310896"/>
            <a:ext cx="1078992" cy="264111"/>
          </a:xfrm>
          <a:prstGeom prst="rect">
            <a:avLst/>
          </a:prstGeom>
          <a:noFill/>
          <a:ln>
            <a:noFill/>
          </a:ln>
        </p:spPr>
      </p:pic>
      <p:sp>
        <p:nvSpPr>
          <p:cNvPr id="3856" name="Google Shape;3856;p138"/>
          <p:cNvSpPr/>
          <p:nvPr/>
        </p:nvSpPr>
        <p:spPr>
          <a:xfrm>
            <a:off x="502920" y="6528816"/>
            <a:ext cx="8686800"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A79D"/>
              </a:buClr>
              <a:buSzPts val="800"/>
              <a:buFont typeface="Calibri"/>
              <a:buNone/>
            </a:pPr>
            <a:r>
              <a:rPr b="1" i="0" lang="en-US" sz="800" u="none" cap="none" strike="noStrike">
                <a:solidFill>
                  <a:srgbClr val="00A79D"/>
                </a:solidFill>
                <a:latin typeface="Calibri"/>
                <a:ea typeface="Calibri"/>
                <a:cs typeface="Calibri"/>
                <a:sym typeface="Calibri"/>
              </a:rPr>
              <a:t>MODULE 7   </a:t>
            </a:r>
            <a:r>
              <a:rPr b="0" i="0" lang="en-US" sz="800" u="none" cap="none" strike="noStrike">
                <a:solidFill>
                  <a:srgbClr val="8A96A6"/>
                </a:solidFill>
                <a:latin typeface="Calibri"/>
                <a:ea typeface="Calibri"/>
                <a:cs typeface="Calibri"/>
                <a:sym typeface="Calibri"/>
              </a:rPr>
              <a:t>SDA-AIE-212 · Computer Vision Systems Development</a:t>
            </a:r>
            <a:endParaRPr b="0" i="0" sz="800" u="none" cap="none" strike="noStrike">
              <a:solidFill>
                <a:schemeClr val="dk1"/>
              </a:solidFill>
              <a:latin typeface="Calibri"/>
              <a:ea typeface="Calibri"/>
              <a:cs typeface="Calibri"/>
              <a:sym typeface="Calibri"/>
            </a:endParaRPr>
          </a:p>
        </p:txBody>
      </p:sp>
      <p:sp>
        <p:nvSpPr>
          <p:cNvPr id="3857" name="Google Shape;3857;p138"/>
          <p:cNvSpPr/>
          <p:nvPr/>
        </p:nvSpPr>
        <p:spPr>
          <a:xfrm>
            <a:off x="11292840" y="6528816"/>
            <a:ext cx="411480" cy="219456"/>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8A96A6"/>
              </a:buClr>
              <a:buSzPts val="900"/>
              <a:buFont typeface="Calibri"/>
              <a:buNone/>
            </a:pPr>
            <a:r>
              <a:rPr b="0" i="0" lang="en-US" sz="900" u="none" cap="none" strike="noStrike">
                <a:solidFill>
                  <a:srgbClr val="8A96A6"/>
                </a:solidFill>
                <a:latin typeface="Calibri"/>
                <a:ea typeface="Calibri"/>
                <a:cs typeface="Calibri"/>
                <a:sym typeface="Calibri"/>
              </a:rPr>
              <a:t>138</a:t>
            </a:r>
            <a:endParaRPr b="0" i="0" sz="900" u="none" cap="none" strike="noStrike">
              <a:solidFill>
                <a:schemeClr val="dk1"/>
              </a:solidFill>
              <a:latin typeface="Calibri"/>
              <a:ea typeface="Calibri"/>
              <a:cs typeface="Calibri"/>
              <a:sym typeface="Calibri"/>
            </a:endParaRPr>
          </a:p>
        </p:txBody>
      </p:sp>
      <p:sp>
        <p:nvSpPr>
          <p:cNvPr id="3858" name="Google Shape;3858;p138"/>
          <p:cNvSpPr/>
          <p:nvPr/>
        </p:nvSpPr>
        <p:spPr>
          <a:xfrm>
            <a:off x="502920" y="1389888"/>
            <a:ext cx="7178040" cy="4965192"/>
          </a:xfrm>
          <a:prstGeom prst="roundRect">
            <a:avLst>
              <a:gd fmla="val 1842" name="adj"/>
            </a:avLst>
          </a:prstGeom>
          <a:solidFill>
            <a:srgbClr val="0F172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59" name="Google Shape;3859;p138"/>
          <p:cNvSpPr/>
          <p:nvPr/>
        </p:nvSpPr>
        <p:spPr>
          <a:xfrm>
            <a:off x="704088" y="1536192"/>
            <a:ext cx="1415491" cy="292608"/>
          </a:xfrm>
          <a:prstGeom prst="roundRect">
            <a:avLst>
              <a:gd fmla="val 18750" name="adj"/>
            </a:avLst>
          </a:prstGeom>
          <a:solidFill>
            <a:srgbClr val="1E293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60" name="Google Shape;3860;p138"/>
          <p:cNvSpPr/>
          <p:nvPr/>
        </p:nvSpPr>
        <p:spPr>
          <a:xfrm>
            <a:off x="795528" y="1536192"/>
            <a:ext cx="662940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EEAD4"/>
              </a:buClr>
              <a:buSzPts val="950"/>
              <a:buFont typeface="Courier New"/>
              <a:buNone/>
            </a:pPr>
            <a:r>
              <a:rPr b="0" i="0" lang="en-US" sz="950" u="none" cap="none" strike="noStrike">
                <a:solidFill>
                  <a:srgbClr val="5EEAD4"/>
                </a:solidFill>
                <a:latin typeface="Courier New"/>
                <a:ea typeface="Courier New"/>
                <a:cs typeface="Courier New"/>
                <a:sym typeface="Courier New"/>
              </a:rPr>
              <a:t>scripts/bench.py</a:t>
            </a:r>
            <a:endParaRPr b="0" i="0" sz="950" u="none" cap="none" strike="noStrike">
              <a:solidFill>
                <a:schemeClr val="dk1"/>
              </a:solidFill>
              <a:latin typeface="Calibri"/>
              <a:ea typeface="Calibri"/>
              <a:cs typeface="Calibri"/>
              <a:sym typeface="Calibri"/>
            </a:endParaRPr>
          </a:p>
        </p:txBody>
      </p:sp>
      <p:sp>
        <p:nvSpPr>
          <p:cNvPr id="3861" name="Google Shape;3861;p138"/>
          <p:cNvSpPr/>
          <p:nvPr/>
        </p:nvSpPr>
        <p:spPr>
          <a:xfrm>
            <a:off x="758952" y="1920240"/>
            <a:ext cx="6720840" cy="4279392"/>
          </a:xfrm>
          <a:prstGeom prst="rect">
            <a:avLst/>
          </a:prstGeom>
          <a:noFill/>
          <a:ln>
            <a:noFill/>
          </a:ln>
        </p:spPr>
        <p:txBody>
          <a:bodyPr anchorCtr="0" anchor="t" bIns="0" lIns="0" spcFirstLastPara="1" rIns="0" wrap="square" tIns="0">
            <a:noAutofit/>
          </a:bodyPr>
          <a:lstStyle/>
          <a:p>
            <a:pPr indent="0" lvl="0" marL="0" marR="0" rtl="0" algn="l">
              <a:lnSpc>
                <a:spcPct val="128000"/>
              </a:lnSpc>
              <a:spcBef>
                <a:spcPts val="0"/>
              </a:spcBef>
              <a:spcAft>
                <a:spcPts val="0"/>
              </a:spcAft>
              <a:buClr>
                <a:srgbClr val="DCE6F5"/>
              </a:buClr>
              <a:buSzPts val="1000"/>
              <a:buFont typeface="Courier New"/>
              <a:buNone/>
            </a:pPr>
            <a:r>
              <a:rPr b="0" i="0" lang="en-US" sz="1000" u="none" cap="none" strike="noStrike">
                <a:solidFill>
                  <a:srgbClr val="DCE6F5"/>
                </a:solidFill>
                <a:latin typeface="Courier New"/>
                <a:ea typeface="Courier New"/>
                <a:cs typeface="Courier New"/>
                <a:sym typeface="Courier New"/>
              </a:rPr>
              <a:t>for _ in range(20):               # warm-up: JIT, allocs, provider</a:t>
            </a:r>
            <a:endParaRPr b="0" i="0" sz="1000" u="none" cap="none" strike="noStrike">
              <a:solidFill>
                <a:schemeClr val="dk1"/>
              </a:solidFill>
              <a:latin typeface="Calibri"/>
              <a:ea typeface="Calibri"/>
              <a:cs typeface="Calibri"/>
              <a:sym typeface="Calibri"/>
            </a:endParaRPr>
          </a:p>
          <a:p>
            <a:pPr indent="0" lvl="0" marL="0" marR="0" rtl="0" algn="l">
              <a:lnSpc>
                <a:spcPct val="128000"/>
              </a:lnSpc>
              <a:spcBef>
                <a:spcPts val="0"/>
              </a:spcBef>
              <a:spcAft>
                <a:spcPts val="0"/>
              </a:spcAft>
              <a:buClr>
                <a:srgbClr val="DCE6F5"/>
              </a:buClr>
              <a:buSzPts val="1000"/>
              <a:buFont typeface="Courier New"/>
              <a:buNone/>
            </a:pPr>
            <a:r>
              <a:rPr b="0" i="0" lang="en-US" sz="1000" u="none" cap="none" strike="noStrike">
                <a:solidFill>
                  <a:srgbClr val="DCE6F5"/>
                </a:solidFill>
                <a:latin typeface="Courier New"/>
                <a:ea typeface="Courier New"/>
                <a:cs typeface="Courier New"/>
                <a:sym typeface="Courier New"/>
              </a:rPr>
              <a:t>    sess.run(None, {"images": preprocess_cv2(frames[0])})</a:t>
            </a:r>
            <a:endParaRPr b="0" i="0" sz="1000" u="none" cap="none" strike="noStrike">
              <a:solidFill>
                <a:schemeClr val="dk1"/>
              </a:solidFill>
              <a:latin typeface="Calibri"/>
              <a:ea typeface="Calibri"/>
              <a:cs typeface="Calibri"/>
              <a:sym typeface="Calibri"/>
            </a:endParaRPr>
          </a:p>
          <a:p>
            <a:pPr indent="0" lvl="0" marL="0" marR="0" rtl="0" algn="l">
              <a:lnSpc>
                <a:spcPct val="128000"/>
              </a:lnSpc>
              <a:spcBef>
                <a:spcPts val="0"/>
              </a:spcBef>
              <a:spcAft>
                <a:spcPts val="0"/>
              </a:spcAft>
              <a:buClr>
                <a:srgbClr val="DCE6F5"/>
              </a:buClr>
              <a:buSzPts val="1000"/>
              <a:buFont typeface="Courier New"/>
              <a:buNone/>
            </a:pPr>
            <a:r>
              <a:rPr b="0" i="0" lang="en-US" sz="1000" u="none" cap="none" strike="noStrike">
                <a:solidFill>
                  <a:srgbClr val="DCE6F5"/>
                </a:solidFill>
                <a:latin typeface="Courier New"/>
                <a:ea typeface="Courier New"/>
                <a:cs typeface="Courier New"/>
                <a:sym typeface="Courier New"/>
              </a:rPr>
              <a:t> </a:t>
            </a:r>
            <a:endParaRPr b="0" i="0" sz="1000" u="none" cap="none" strike="noStrike">
              <a:solidFill>
                <a:schemeClr val="dk1"/>
              </a:solidFill>
              <a:latin typeface="Calibri"/>
              <a:ea typeface="Calibri"/>
              <a:cs typeface="Calibri"/>
              <a:sym typeface="Calibri"/>
            </a:endParaRPr>
          </a:p>
          <a:p>
            <a:pPr indent="0" lvl="0" marL="0" marR="0" rtl="0" algn="l">
              <a:lnSpc>
                <a:spcPct val="128000"/>
              </a:lnSpc>
              <a:spcBef>
                <a:spcPts val="0"/>
              </a:spcBef>
              <a:spcAft>
                <a:spcPts val="0"/>
              </a:spcAft>
              <a:buClr>
                <a:srgbClr val="DCE6F5"/>
              </a:buClr>
              <a:buSzPts val="1000"/>
              <a:buFont typeface="Courier New"/>
              <a:buNone/>
            </a:pPr>
            <a:r>
              <a:rPr b="0" i="0" lang="en-US" sz="1000" u="none" cap="none" strike="noStrike">
                <a:solidFill>
                  <a:srgbClr val="DCE6F5"/>
                </a:solidFill>
                <a:latin typeface="Courier New"/>
                <a:ea typeface="Courier New"/>
                <a:cs typeface="Courier New"/>
                <a:sym typeface="Courier New"/>
              </a:rPr>
              <a:t>stages = {"pre": [], "infer": [], "post": []}</a:t>
            </a:r>
            <a:endParaRPr b="0" i="0" sz="1000" u="none" cap="none" strike="noStrike">
              <a:solidFill>
                <a:schemeClr val="dk1"/>
              </a:solidFill>
              <a:latin typeface="Calibri"/>
              <a:ea typeface="Calibri"/>
              <a:cs typeface="Calibri"/>
              <a:sym typeface="Calibri"/>
            </a:endParaRPr>
          </a:p>
          <a:p>
            <a:pPr indent="0" lvl="0" marL="0" marR="0" rtl="0" algn="l">
              <a:lnSpc>
                <a:spcPct val="128000"/>
              </a:lnSpc>
              <a:spcBef>
                <a:spcPts val="0"/>
              </a:spcBef>
              <a:spcAft>
                <a:spcPts val="0"/>
              </a:spcAft>
              <a:buClr>
                <a:srgbClr val="DCE6F5"/>
              </a:buClr>
              <a:buSzPts val="1000"/>
              <a:buFont typeface="Courier New"/>
              <a:buNone/>
            </a:pPr>
            <a:r>
              <a:rPr b="0" i="0" lang="en-US" sz="1000" u="none" cap="none" strike="noStrike">
                <a:solidFill>
                  <a:srgbClr val="DCE6F5"/>
                </a:solidFill>
                <a:latin typeface="Courier New"/>
                <a:ea typeface="Courier New"/>
                <a:cs typeface="Courier New"/>
                <a:sym typeface="Courier New"/>
              </a:rPr>
              <a:t>for i in range(500):</a:t>
            </a:r>
            <a:endParaRPr b="0" i="0" sz="1000" u="none" cap="none" strike="noStrike">
              <a:solidFill>
                <a:schemeClr val="dk1"/>
              </a:solidFill>
              <a:latin typeface="Calibri"/>
              <a:ea typeface="Calibri"/>
              <a:cs typeface="Calibri"/>
              <a:sym typeface="Calibri"/>
            </a:endParaRPr>
          </a:p>
          <a:p>
            <a:pPr indent="0" lvl="0" marL="0" marR="0" rtl="0" algn="l">
              <a:lnSpc>
                <a:spcPct val="128000"/>
              </a:lnSpc>
              <a:spcBef>
                <a:spcPts val="0"/>
              </a:spcBef>
              <a:spcAft>
                <a:spcPts val="0"/>
              </a:spcAft>
              <a:buClr>
                <a:srgbClr val="DCE6F5"/>
              </a:buClr>
              <a:buSzPts val="1000"/>
              <a:buFont typeface="Courier New"/>
              <a:buNone/>
            </a:pPr>
            <a:r>
              <a:rPr b="0" i="0" lang="en-US" sz="1000" u="none" cap="none" strike="noStrike">
                <a:solidFill>
                  <a:srgbClr val="DCE6F5"/>
                </a:solidFill>
                <a:latin typeface="Courier New"/>
                <a:ea typeface="Courier New"/>
                <a:cs typeface="Courier New"/>
                <a:sym typeface="Courier New"/>
              </a:rPr>
              <a:t>    f = frames[i % len(frames)]</a:t>
            </a:r>
            <a:endParaRPr b="0" i="0" sz="1000" u="none" cap="none" strike="noStrike">
              <a:solidFill>
                <a:schemeClr val="dk1"/>
              </a:solidFill>
              <a:latin typeface="Calibri"/>
              <a:ea typeface="Calibri"/>
              <a:cs typeface="Calibri"/>
              <a:sym typeface="Calibri"/>
            </a:endParaRPr>
          </a:p>
          <a:p>
            <a:pPr indent="0" lvl="0" marL="0" marR="0" rtl="0" algn="l">
              <a:lnSpc>
                <a:spcPct val="128000"/>
              </a:lnSpc>
              <a:spcBef>
                <a:spcPts val="0"/>
              </a:spcBef>
              <a:spcAft>
                <a:spcPts val="0"/>
              </a:spcAft>
              <a:buClr>
                <a:srgbClr val="DCE6F5"/>
              </a:buClr>
              <a:buSzPts val="1000"/>
              <a:buFont typeface="Courier New"/>
              <a:buNone/>
            </a:pPr>
            <a:r>
              <a:rPr b="0" i="0" lang="en-US" sz="1000" u="none" cap="none" strike="noStrike">
                <a:solidFill>
                  <a:srgbClr val="DCE6F5"/>
                </a:solidFill>
                <a:latin typeface="Courier New"/>
                <a:ea typeface="Courier New"/>
                <a:cs typeface="Courier New"/>
                <a:sym typeface="Courier New"/>
              </a:rPr>
              <a:t>    t0 = time.perf_counter()</a:t>
            </a:r>
            <a:endParaRPr b="0" i="0" sz="1000" u="none" cap="none" strike="noStrike">
              <a:solidFill>
                <a:schemeClr val="dk1"/>
              </a:solidFill>
              <a:latin typeface="Calibri"/>
              <a:ea typeface="Calibri"/>
              <a:cs typeface="Calibri"/>
              <a:sym typeface="Calibri"/>
            </a:endParaRPr>
          </a:p>
          <a:p>
            <a:pPr indent="0" lvl="0" marL="0" marR="0" rtl="0" algn="l">
              <a:lnSpc>
                <a:spcPct val="128000"/>
              </a:lnSpc>
              <a:spcBef>
                <a:spcPts val="0"/>
              </a:spcBef>
              <a:spcAft>
                <a:spcPts val="0"/>
              </a:spcAft>
              <a:buClr>
                <a:srgbClr val="DCE6F5"/>
              </a:buClr>
              <a:buSzPts val="1000"/>
              <a:buFont typeface="Courier New"/>
              <a:buNone/>
            </a:pPr>
            <a:r>
              <a:rPr b="0" i="0" lang="en-US" sz="1000" u="none" cap="none" strike="noStrike">
                <a:solidFill>
                  <a:srgbClr val="DCE6F5"/>
                </a:solidFill>
                <a:latin typeface="Courier New"/>
                <a:ea typeface="Courier New"/>
                <a:cs typeface="Courier New"/>
                <a:sym typeface="Courier New"/>
              </a:rPr>
              <a:t>    x = preprocess_cv2(f)         # equivalence-tested vs eval_tf</a:t>
            </a:r>
            <a:endParaRPr b="0" i="0" sz="1000" u="none" cap="none" strike="noStrike">
              <a:solidFill>
                <a:schemeClr val="dk1"/>
              </a:solidFill>
              <a:latin typeface="Calibri"/>
              <a:ea typeface="Calibri"/>
              <a:cs typeface="Calibri"/>
              <a:sym typeface="Calibri"/>
            </a:endParaRPr>
          </a:p>
          <a:p>
            <a:pPr indent="0" lvl="0" marL="0" marR="0" rtl="0" algn="l">
              <a:lnSpc>
                <a:spcPct val="128000"/>
              </a:lnSpc>
              <a:spcBef>
                <a:spcPts val="0"/>
              </a:spcBef>
              <a:spcAft>
                <a:spcPts val="0"/>
              </a:spcAft>
              <a:buClr>
                <a:srgbClr val="DCE6F5"/>
              </a:buClr>
              <a:buSzPts val="1000"/>
              <a:buFont typeface="Courier New"/>
              <a:buNone/>
            </a:pPr>
            <a:r>
              <a:rPr b="0" i="0" lang="en-US" sz="1000" u="none" cap="none" strike="noStrike">
                <a:solidFill>
                  <a:srgbClr val="DCE6F5"/>
                </a:solidFill>
                <a:latin typeface="Courier New"/>
                <a:ea typeface="Courier New"/>
                <a:cs typeface="Courier New"/>
                <a:sym typeface="Courier New"/>
              </a:rPr>
              <a:t>    t1 = time.perf_counter()</a:t>
            </a:r>
            <a:endParaRPr b="0" i="0" sz="1000" u="none" cap="none" strike="noStrike">
              <a:solidFill>
                <a:schemeClr val="dk1"/>
              </a:solidFill>
              <a:latin typeface="Calibri"/>
              <a:ea typeface="Calibri"/>
              <a:cs typeface="Calibri"/>
              <a:sym typeface="Calibri"/>
            </a:endParaRPr>
          </a:p>
          <a:p>
            <a:pPr indent="0" lvl="0" marL="0" marR="0" rtl="0" algn="l">
              <a:lnSpc>
                <a:spcPct val="128000"/>
              </a:lnSpc>
              <a:spcBef>
                <a:spcPts val="0"/>
              </a:spcBef>
              <a:spcAft>
                <a:spcPts val="0"/>
              </a:spcAft>
              <a:buClr>
                <a:srgbClr val="DCE6F5"/>
              </a:buClr>
              <a:buSzPts val="1000"/>
              <a:buFont typeface="Courier New"/>
              <a:buNone/>
            </a:pPr>
            <a:r>
              <a:rPr b="0" i="0" lang="en-US" sz="1000" u="none" cap="none" strike="noStrike">
                <a:solidFill>
                  <a:srgbClr val="DCE6F5"/>
                </a:solidFill>
                <a:latin typeface="Courier New"/>
                <a:ea typeface="Courier New"/>
                <a:cs typeface="Courier New"/>
                <a:sym typeface="Courier New"/>
              </a:rPr>
              <a:t>    raw = sess.run(None, {"images": x})</a:t>
            </a:r>
            <a:endParaRPr b="0" i="0" sz="1000" u="none" cap="none" strike="noStrike">
              <a:solidFill>
                <a:schemeClr val="dk1"/>
              </a:solidFill>
              <a:latin typeface="Calibri"/>
              <a:ea typeface="Calibri"/>
              <a:cs typeface="Calibri"/>
              <a:sym typeface="Calibri"/>
            </a:endParaRPr>
          </a:p>
          <a:p>
            <a:pPr indent="0" lvl="0" marL="0" marR="0" rtl="0" algn="l">
              <a:lnSpc>
                <a:spcPct val="128000"/>
              </a:lnSpc>
              <a:spcBef>
                <a:spcPts val="0"/>
              </a:spcBef>
              <a:spcAft>
                <a:spcPts val="0"/>
              </a:spcAft>
              <a:buClr>
                <a:srgbClr val="DCE6F5"/>
              </a:buClr>
              <a:buSzPts val="1000"/>
              <a:buFont typeface="Courier New"/>
              <a:buNone/>
            </a:pPr>
            <a:r>
              <a:rPr b="0" i="0" lang="en-US" sz="1000" u="none" cap="none" strike="noStrike">
                <a:solidFill>
                  <a:srgbClr val="DCE6F5"/>
                </a:solidFill>
                <a:latin typeface="Courier New"/>
                <a:ea typeface="Courier New"/>
                <a:cs typeface="Courier New"/>
                <a:sym typeface="Courier New"/>
              </a:rPr>
              <a:t>    t2 = time.perf_counter()</a:t>
            </a:r>
            <a:endParaRPr b="0" i="0" sz="1000" u="none" cap="none" strike="noStrike">
              <a:solidFill>
                <a:schemeClr val="dk1"/>
              </a:solidFill>
              <a:latin typeface="Calibri"/>
              <a:ea typeface="Calibri"/>
              <a:cs typeface="Calibri"/>
              <a:sym typeface="Calibri"/>
            </a:endParaRPr>
          </a:p>
          <a:p>
            <a:pPr indent="0" lvl="0" marL="0" marR="0" rtl="0" algn="l">
              <a:lnSpc>
                <a:spcPct val="128000"/>
              </a:lnSpc>
              <a:spcBef>
                <a:spcPts val="0"/>
              </a:spcBef>
              <a:spcAft>
                <a:spcPts val="0"/>
              </a:spcAft>
              <a:buClr>
                <a:srgbClr val="DCE6F5"/>
              </a:buClr>
              <a:buSzPts val="1000"/>
              <a:buFont typeface="Courier New"/>
              <a:buNone/>
            </a:pPr>
            <a:r>
              <a:rPr b="0" i="0" lang="en-US" sz="1000" u="none" cap="none" strike="noStrike">
                <a:solidFill>
                  <a:srgbClr val="DCE6F5"/>
                </a:solidFill>
                <a:latin typeface="Courier New"/>
                <a:ea typeface="Courier New"/>
                <a:cs typeface="Courier New"/>
                <a:sym typeface="Courier New"/>
              </a:rPr>
              <a:t>    dets = decode_and_nms(raw, op_config)  # NMS in code, not graph</a:t>
            </a:r>
            <a:endParaRPr b="0" i="0" sz="1000" u="none" cap="none" strike="noStrike">
              <a:solidFill>
                <a:schemeClr val="dk1"/>
              </a:solidFill>
              <a:latin typeface="Calibri"/>
              <a:ea typeface="Calibri"/>
              <a:cs typeface="Calibri"/>
              <a:sym typeface="Calibri"/>
            </a:endParaRPr>
          </a:p>
          <a:p>
            <a:pPr indent="0" lvl="0" marL="0" marR="0" rtl="0" algn="l">
              <a:lnSpc>
                <a:spcPct val="128000"/>
              </a:lnSpc>
              <a:spcBef>
                <a:spcPts val="0"/>
              </a:spcBef>
              <a:spcAft>
                <a:spcPts val="0"/>
              </a:spcAft>
              <a:buClr>
                <a:srgbClr val="DCE6F5"/>
              </a:buClr>
              <a:buSzPts val="1000"/>
              <a:buFont typeface="Courier New"/>
              <a:buNone/>
            </a:pPr>
            <a:r>
              <a:rPr b="0" i="0" lang="en-US" sz="1000" u="none" cap="none" strike="noStrike">
                <a:solidFill>
                  <a:srgbClr val="DCE6F5"/>
                </a:solidFill>
                <a:latin typeface="Courier New"/>
                <a:ea typeface="Courier New"/>
                <a:cs typeface="Courier New"/>
                <a:sym typeface="Courier New"/>
              </a:rPr>
              <a:t>    t3 = time.perf_counter()</a:t>
            </a:r>
            <a:endParaRPr b="0" i="0" sz="1000" u="none" cap="none" strike="noStrike">
              <a:solidFill>
                <a:schemeClr val="dk1"/>
              </a:solidFill>
              <a:latin typeface="Calibri"/>
              <a:ea typeface="Calibri"/>
              <a:cs typeface="Calibri"/>
              <a:sym typeface="Calibri"/>
            </a:endParaRPr>
          </a:p>
          <a:p>
            <a:pPr indent="0" lvl="0" marL="0" marR="0" rtl="0" algn="l">
              <a:lnSpc>
                <a:spcPct val="128000"/>
              </a:lnSpc>
              <a:spcBef>
                <a:spcPts val="0"/>
              </a:spcBef>
              <a:spcAft>
                <a:spcPts val="0"/>
              </a:spcAft>
              <a:buClr>
                <a:srgbClr val="DCE6F5"/>
              </a:buClr>
              <a:buSzPts val="1000"/>
              <a:buFont typeface="Courier New"/>
              <a:buNone/>
            </a:pPr>
            <a:r>
              <a:rPr b="0" i="0" lang="en-US" sz="1000" u="none" cap="none" strike="noStrike">
                <a:solidFill>
                  <a:srgbClr val="DCE6F5"/>
                </a:solidFill>
                <a:latin typeface="Courier New"/>
                <a:ea typeface="Courier New"/>
                <a:cs typeface="Courier New"/>
                <a:sym typeface="Courier New"/>
              </a:rPr>
              <a:t>    stages["pre"].append(t1 - t0)</a:t>
            </a:r>
            <a:endParaRPr b="0" i="0" sz="1000" u="none" cap="none" strike="noStrike">
              <a:solidFill>
                <a:schemeClr val="dk1"/>
              </a:solidFill>
              <a:latin typeface="Calibri"/>
              <a:ea typeface="Calibri"/>
              <a:cs typeface="Calibri"/>
              <a:sym typeface="Calibri"/>
            </a:endParaRPr>
          </a:p>
          <a:p>
            <a:pPr indent="0" lvl="0" marL="0" marR="0" rtl="0" algn="l">
              <a:lnSpc>
                <a:spcPct val="128000"/>
              </a:lnSpc>
              <a:spcBef>
                <a:spcPts val="0"/>
              </a:spcBef>
              <a:spcAft>
                <a:spcPts val="0"/>
              </a:spcAft>
              <a:buClr>
                <a:srgbClr val="DCE6F5"/>
              </a:buClr>
              <a:buSzPts val="1000"/>
              <a:buFont typeface="Courier New"/>
              <a:buNone/>
            </a:pPr>
            <a:r>
              <a:rPr b="0" i="0" lang="en-US" sz="1000" u="none" cap="none" strike="noStrike">
                <a:solidFill>
                  <a:srgbClr val="DCE6F5"/>
                </a:solidFill>
                <a:latin typeface="Courier New"/>
                <a:ea typeface="Courier New"/>
                <a:cs typeface="Courier New"/>
                <a:sym typeface="Courier New"/>
              </a:rPr>
              <a:t>    stages["infer"].append(t2 - t1)</a:t>
            </a:r>
            <a:endParaRPr b="0" i="0" sz="1000" u="none" cap="none" strike="noStrike">
              <a:solidFill>
                <a:schemeClr val="dk1"/>
              </a:solidFill>
              <a:latin typeface="Calibri"/>
              <a:ea typeface="Calibri"/>
              <a:cs typeface="Calibri"/>
              <a:sym typeface="Calibri"/>
            </a:endParaRPr>
          </a:p>
          <a:p>
            <a:pPr indent="0" lvl="0" marL="0" marR="0" rtl="0" algn="l">
              <a:lnSpc>
                <a:spcPct val="128000"/>
              </a:lnSpc>
              <a:spcBef>
                <a:spcPts val="0"/>
              </a:spcBef>
              <a:spcAft>
                <a:spcPts val="0"/>
              </a:spcAft>
              <a:buClr>
                <a:srgbClr val="DCE6F5"/>
              </a:buClr>
              <a:buSzPts val="1000"/>
              <a:buFont typeface="Courier New"/>
              <a:buNone/>
            </a:pPr>
            <a:r>
              <a:rPr b="0" i="0" lang="en-US" sz="1000" u="none" cap="none" strike="noStrike">
                <a:solidFill>
                  <a:srgbClr val="DCE6F5"/>
                </a:solidFill>
                <a:latin typeface="Courier New"/>
                <a:ea typeface="Courier New"/>
                <a:cs typeface="Courier New"/>
                <a:sym typeface="Courier New"/>
              </a:rPr>
              <a:t>    stages["post"].append(t3 - t2)</a:t>
            </a:r>
            <a:endParaRPr b="0" i="0" sz="1000" u="none" cap="none" strike="noStrike">
              <a:solidFill>
                <a:schemeClr val="dk1"/>
              </a:solidFill>
              <a:latin typeface="Calibri"/>
              <a:ea typeface="Calibri"/>
              <a:cs typeface="Calibri"/>
              <a:sym typeface="Calibri"/>
            </a:endParaRPr>
          </a:p>
          <a:p>
            <a:pPr indent="0" lvl="0" marL="0" marR="0" rtl="0" algn="l">
              <a:lnSpc>
                <a:spcPct val="128000"/>
              </a:lnSpc>
              <a:spcBef>
                <a:spcPts val="0"/>
              </a:spcBef>
              <a:spcAft>
                <a:spcPts val="0"/>
              </a:spcAft>
              <a:buClr>
                <a:srgbClr val="DCE6F5"/>
              </a:buClr>
              <a:buSzPts val="1000"/>
              <a:buFont typeface="Courier New"/>
              <a:buNone/>
            </a:pPr>
            <a:r>
              <a:rPr b="0" i="0" lang="en-US" sz="1000" u="none" cap="none" strike="noStrike">
                <a:solidFill>
                  <a:srgbClr val="DCE6F5"/>
                </a:solidFill>
                <a:latin typeface="Courier New"/>
                <a:ea typeface="Courier New"/>
                <a:cs typeface="Courier New"/>
                <a:sym typeface="Courier New"/>
              </a:rPr>
              <a:t> </a:t>
            </a:r>
            <a:endParaRPr b="0" i="0" sz="1000" u="none" cap="none" strike="noStrike">
              <a:solidFill>
                <a:schemeClr val="dk1"/>
              </a:solidFill>
              <a:latin typeface="Calibri"/>
              <a:ea typeface="Calibri"/>
              <a:cs typeface="Calibri"/>
              <a:sym typeface="Calibri"/>
            </a:endParaRPr>
          </a:p>
          <a:p>
            <a:pPr indent="0" lvl="0" marL="0" marR="0" rtl="0" algn="l">
              <a:lnSpc>
                <a:spcPct val="128000"/>
              </a:lnSpc>
              <a:spcBef>
                <a:spcPts val="0"/>
              </a:spcBef>
              <a:spcAft>
                <a:spcPts val="0"/>
              </a:spcAft>
              <a:buClr>
                <a:srgbClr val="DCE6F5"/>
              </a:buClr>
              <a:buSzPts val="1000"/>
              <a:buFont typeface="Courier New"/>
              <a:buNone/>
            </a:pPr>
            <a:r>
              <a:rPr b="0" i="0" lang="en-US" sz="1000" u="none" cap="none" strike="noStrike">
                <a:solidFill>
                  <a:srgbClr val="DCE6F5"/>
                </a:solidFill>
                <a:latin typeface="Courier New"/>
                <a:ea typeface="Courier New"/>
                <a:cs typeface="Courier New"/>
                <a:sym typeface="Courier New"/>
              </a:rPr>
              <a:t>for k, v in stages.items():</a:t>
            </a:r>
            <a:endParaRPr b="0" i="0" sz="1000" u="none" cap="none" strike="noStrike">
              <a:solidFill>
                <a:schemeClr val="dk1"/>
              </a:solidFill>
              <a:latin typeface="Calibri"/>
              <a:ea typeface="Calibri"/>
              <a:cs typeface="Calibri"/>
              <a:sym typeface="Calibri"/>
            </a:endParaRPr>
          </a:p>
          <a:p>
            <a:pPr indent="0" lvl="0" marL="0" marR="0" rtl="0" algn="l">
              <a:lnSpc>
                <a:spcPct val="128000"/>
              </a:lnSpc>
              <a:spcBef>
                <a:spcPts val="0"/>
              </a:spcBef>
              <a:spcAft>
                <a:spcPts val="0"/>
              </a:spcAft>
              <a:buClr>
                <a:srgbClr val="DCE6F5"/>
              </a:buClr>
              <a:buSzPts val="1000"/>
              <a:buFont typeface="Courier New"/>
              <a:buNone/>
            </a:pPr>
            <a:r>
              <a:rPr b="0" i="0" lang="en-US" sz="1000" u="none" cap="none" strike="noStrike">
                <a:solidFill>
                  <a:srgbClr val="DCE6F5"/>
                </a:solidFill>
                <a:latin typeface="Courier New"/>
                <a:ea typeface="Courier New"/>
                <a:cs typeface="Courier New"/>
                <a:sym typeface="Courier New"/>
              </a:rPr>
              <a:t>    ms = np.array(v) * 1000</a:t>
            </a:r>
            <a:endParaRPr b="0" i="0" sz="1000" u="none" cap="none" strike="noStrike">
              <a:solidFill>
                <a:schemeClr val="dk1"/>
              </a:solidFill>
              <a:latin typeface="Calibri"/>
              <a:ea typeface="Calibri"/>
              <a:cs typeface="Calibri"/>
              <a:sym typeface="Calibri"/>
            </a:endParaRPr>
          </a:p>
          <a:p>
            <a:pPr indent="0" lvl="0" marL="0" marR="0" rtl="0" algn="l">
              <a:lnSpc>
                <a:spcPct val="128000"/>
              </a:lnSpc>
              <a:spcBef>
                <a:spcPts val="0"/>
              </a:spcBef>
              <a:spcAft>
                <a:spcPts val="0"/>
              </a:spcAft>
              <a:buClr>
                <a:srgbClr val="DCE6F5"/>
              </a:buClr>
              <a:buSzPts val="1000"/>
              <a:buFont typeface="Courier New"/>
              <a:buNone/>
            </a:pPr>
            <a:r>
              <a:rPr b="0" i="0" lang="en-US" sz="1000" u="none" cap="none" strike="noStrike">
                <a:solidFill>
                  <a:srgbClr val="DCE6F5"/>
                </a:solidFill>
                <a:latin typeface="Courier New"/>
                <a:ea typeface="Courier New"/>
                <a:cs typeface="Courier New"/>
                <a:sym typeface="Courier New"/>
              </a:rPr>
              <a:t>    print(f"{k:&gt;6}: p50={np.percentile(ms, 50):5.1f}  "</a:t>
            </a:r>
            <a:endParaRPr b="0" i="0" sz="1000" u="none" cap="none" strike="noStrike">
              <a:solidFill>
                <a:schemeClr val="dk1"/>
              </a:solidFill>
              <a:latin typeface="Calibri"/>
              <a:ea typeface="Calibri"/>
              <a:cs typeface="Calibri"/>
              <a:sym typeface="Calibri"/>
            </a:endParaRPr>
          </a:p>
          <a:p>
            <a:pPr indent="0" lvl="0" marL="0" marR="0" rtl="0" algn="l">
              <a:lnSpc>
                <a:spcPct val="128000"/>
              </a:lnSpc>
              <a:spcBef>
                <a:spcPts val="0"/>
              </a:spcBef>
              <a:spcAft>
                <a:spcPts val="0"/>
              </a:spcAft>
              <a:buClr>
                <a:srgbClr val="DCE6F5"/>
              </a:buClr>
              <a:buSzPts val="1000"/>
              <a:buFont typeface="Courier New"/>
              <a:buNone/>
            </a:pPr>
            <a:r>
              <a:rPr b="0" i="0" lang="en-US" sz="1000" u="none" cap="none" strike="noStrike">
                <a:solidFill>
                  <a:srgbClr val="DCE6F5"/>
                </a:solidFill>
                <a:latin typeface="Courier New"/>
                <a:ea typeface="Courier New"/>
                <a:cs typeface="Courier New"/>
                <a:sym typeface="Courier New"/>
              </a:rPr>
              <a:t>          f"p95={np.percentile(ms, 95):5.1f}  "</a:t>
            </a:r>
            <a:endParaRPr b="0" i="0" sz="1000" u="none" cap="none" strike="noStrike">
              <a:solidFill>
                <a:schemeClr val="dk1"/>
              </a:solidFill>
              <a:latin typeface="Calibri"/>
              <a:ea typeface="Calibri"/>
              <a:cs typeface="Calibri"/>
              <a:sym typeface="Calibri"/>
            </a:endParaRPr>
          </a:p>
          <a:p>
            <a:pPr indent="0" lvl="0" marL="0" marR="0" rtl="0" algn="l">
              <a:lnSpc>
                <a:spcPct val="128000"/>
              </a:lnSpc>
              <a:spcBef>
                <a:spcPts val="0"/>
              </a:spcBef>
              <a:spcAft>
                <a:spcPts val="0"/>
              </a:spcAft>
              <a:buClr>
                <a:srgbClr val="DCE6F5"/>
              </a:buClr>
              <a:buSzPts val="1000"/>
              <a:buFont typeface="Courier New"/>
              <a:buNone/>
            </a:pPr>
            <a:r>
              <a:rPr b="0" i="0" lang="en-US" sz="1000" u="none" cap="none" strike="noStrike">
                <a:solidFill>
                  <a:srgbClr val="DCE6F5"/>
                </a:solidFill>
                <a:latin typeface="Courier New"/>
                <a:ea typeface="Courier New"/>
                <a:cs typeface="Courier New"/>
                <a:sym typeface="Courier New"/>
              </a:rPr>
              <a:t>          f"p99={np.percentile(ms, 99):5.1f} ms")</a:t>
            </a:r>
            <a:endParaRPr b="0" i="0" sz="1000" u="none" cap="none" strike="noStrike">
              <a:solidFill>
                <a:schemeClr val="dk1"/>
              </a:solidFill>
              <a:latin typeface="Calibri"/>
              <a:ea typeface="Calibri"/>
              <a:cs typeface="Calibri"/>
              <a:sym typeface="Calibri"/>
            </a:endParaRPr>
          </a:p>
        </p:txBody>
      </p:sp>
      <p:sp>
        <p:nvSpPr>
          <p:cNvPr id="3862" name="Google Shape;3862;p138"/>
          <p:cNvSpPr/>
          <p:nvPr/>
        </p:nvSpPr>
        <p:spPr>
          <a:xfrm>
            <a:off x="7973568" y="1389888"/>
            <a:ext cx="3712464" cy="1463040"/>
          </a:xfrm>
          <a:prstGeom prst="roundRect">
            <a:avLst>
              <a:gd fmla="val 4375" name="adj"/>
            </a:avLst>
          </a:prstGeom>
          <a:solidFill>
            <a:srgbClr val="F2F6F9"/>
          </a:solidFill>
          <a:ln cap="flat" cmpd="sng" w="12700">
            <a:solidFill>
              <a:srgbClr val="D9E2E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63" name="Google Shape;3863;p138"/>
          <p:cNvSpPr/>
          <p:nvPr/>
        </p:nvSpPr>
        <p:spPr>
          <a:xfrm>
            <a:off x="8101584" y="1508760"/>
            <a:ext cx="237744" cy="237744"/>
          </a:xfrm>
          <a:prstGeom prst="ellipse">
            <a:avLst/>
          </a:prstGeom>
          <a:solidFill>
            <a:srgbClr val="00A79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64" name="Google Shape;3864;p138"/>
          <p:cNvSpPr/>
          <p:nvPr/>
        </p:nvSpPr>
        <p:spPr>
          <a:xfrm>
            <a:off x="8101584" y="1508760"/>
            <a:ext cx="237744" cy="23774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000"/>
              <a:buFont typeface="Calibri"/>
              <a:buNone/>
            </a:pPr>
            <a:r>
              <a:rPr b="1" i="0" lang="en-US" sz="1000" u="none" cap="none" strike="noStrike">
                <a:solidFill>
                  <a:srgbClr val="FFFFFF"/>
                </a:solidFill>
                <a:latin typeface="Calibri"/>
                <a:ea typeface="Calibri"/>
                <a:cs typeface="Calibri"/>
                <a:sym typeface="Calibri"/>
              </a:rPr>
              <a:t>1</a:t>
            </a:r>
            <a:endParaRPr b="0" i="0" sz="1000" u="none" cap="none" strike="noStrike">
              <a:solidFill>
                <a:schemeClr val="dk1"/>
              </a:solidFill>
              <a:latin typeface="Calibri"/>
              <a:ea typeface="Calibri"/>
              <a:cs typeface="Calibri"/>
              <a:sym typeface="Calibri"/>
            </a:endParaRPr>
          </a:p>
        </p:txBody>
      </p:sp>
      <p:sp>
        <p:nvSpPr>
          <p:cNvPr id="3865" name="Google Shape;3865;p138"/>
          <p:cNvSpPr/>
          <p:nvPr/>
        </p:nvSpPr>
        <p:spPr>
          <a:xfrm>
            <a:off x="8430768" y="1444752"/>
            <a:ext cx="3145536"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D2A5C"/>
              </a:buClr>
              <a:buSzPts val="1150"/>
              <a:buFont typeface="Calibri"/>
              <a:buNone/>
            </a:pPr>
            <a:r>
              <a:rPr b="1" i="0" lang="en-US" sz="1150" u="none" cap="none" strike="noStrike">
                <a:solidFill>
                  <a:srgbClr val="1D2A5C"/>
                </a:solidFill>
                <a:latin typeface="Calibri"/>
                <a:ea typeface="Calibri"/>
                <a:cs typeface="Calibri"/>
                <a:sym typeface="Calibri"/>
              </a:rPr>
              <a:t>20 warm-up runs discarded</a:t>
            </a:r>
            <a:endParaRPr b="0" i="0" sz="1150" u="none" cap="none" strike="noStrike">
              <a:solidFill>
                <a:schemeClr val="dk1"/>
              </a:solidFill>
              <a:latin typeface="Calibri"/>
              <a:ea typeface="Calibri"/>
              <a:cs typeface="Calibri"/>
              <a:sym typeface="Calibri"/>
            </a:endParaRPr>
          </a:p>
        </p:txBody>
      </p:sp>
      <p:sp>
        <p:nvSpPr>
          <p:cNvPr id="3866" name="Google Shape;3866;p138"/>
          <p:cNvSpPr/>
          <p:nvPr/>
        </p:nvSpPr>
        <p:spPr>
          <a:xfrm>
            <a:off x="8430768" y="1719072"/>
            <a:ext cx="3145536" cy="1060704"/>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5F6B7A"/>
              </a:buClr>
              <a:buSzPts val="1000"/>
              <a:buFont typeface="Calibri"/>
              <a:buNone/>
            </a:pPr>
            <a:r>
              <a:rPr b="0" i="0" lang="en-US" sz="1000" u="none" cap="none" strike="noStrike">
                <a:solidFill>
                  <a:srgbClr val="5F6B7A"/>
                </a:solidFill>
                <a:latin typeface="Calibri"/>
                <a:ea typeface="Calibri"/>
                <a:cs typeface="Calibri"/>
                <a:sym typeface="Calibri"/>
              </a:rPr>
              <a:t>First runs pay provider graph compilation — up to 10× slower.</a:t>
            </a:r>
            <a:endParaRPr b="0" i="0" sz="1000" u="none" cap="none" strike="noStrike">
              <a:solidFill>
                <a:schemeClr val="dk1"/>
              </a:solidFill>
              <a:latin typeface="Calibri"/>
              <a:ea typeface="Calibri"/>
              <a:cs typeface="Calibri"/>
              <a:sym typeface="Calibri"/>
            </a:endParaRPr>
          </a:p>
        </p:txBody>
      </p:sp>
      <p:sp>
        <p:nvSpPr>
          <p:cNvPr id="3867" name="Google Shape;3867;p138"/>
          <p:cNvSpPr/>
          <p:nvPr/>
        </p:nvSpPr>
        <p:spPr>
          <a:xfrm>
            <a:off x="7973568" y="3054096"/>
            <a:ext cx="3712464" cy="1463040"/>
          </a:xfrm>
          <a:prstGeom prst="roundRect">
            <a:avLst>
              <a:gd fmla="val 4375" name="adj"/>
            </a:avLst>
          </a:prstGeom>
          <a:solidFill>
            <a:srgbClr val="F2F6F9"/>
          </a:solidFill>
          <a:ln cap="flat" cmpd="sng" w="12700">
            <a:solidFill>
              <a:srgbClr val="D9E2E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68" name="Google Shape;3868;p138"/>
          <p:cNvSpPr/>
          <p:nvPr/>
        </p:nvSpPr>
        <p:spPr>
          <a:xfrm>
            <a:off x="8101584" y="3172968"/>
            <a:ext cx="237744" cy="237744"/>
          </a:xfrm>
          <a:prstGeom prst="ellipse">
            <a:avLst/>
          </a:prstGeom>
          <a:solidFill>
            <a:srgbClr val="29ABE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69" name="Google Shape;3869;p138"/>
          <p:cNvSpPr/>
          <p:nvPr/>
        </p:nvSpPr>
        <p:spPr>
          <a:xfrm>
            <a:off x="8101584" y="3172968"/>
            <a:ext cx="237744" cy="23774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000"/>
              <a:buFont typeface="Calibri"/>
              <a:buNone/>
            </a:pPr>
            <a:r>
              <a:rPr b="1" i="0" lang="en-US" sz="1000" u="none" cap="none" strike="noStrike">
                <a:solidFill>
                  <a:srgbClr val="FFFFFF"/>
                </a:solidFill>
                <a:latin typeface="Calibri"/>
                <a:ea typeface="Calibri"/>
                <a:cs typeface="Calibri"/>
                <a:sym typeface="Calibri"/>
              </a:rPr>
              <a:t>2</a:t>
            </a:r>
            <a:endParaRPr b="0" i="0" sz="1000" u="none" cap="none" strike="noStrike">
              <a:solidFill>
                <a:schemeClr val="dk1"/>
              </a:solidFill>
              <a:latin typeface="Calibri"/>
              <a:ea typeface="Calibri"/>
              <a:cs typeface="Calibri"/>
              <a:sym typeface="Calibri"/>
            </a:endParaRPr>
          </a:p>
        </p:txBody>
      </p:sp>
      <p:sp>
        <p:nvSpPr>
          <p:cNvPr id="3870" name="Google Shape;3870;p138"/>
          <p:cNvSpPr/>
          <p:nvPr/>
        </p:nvSpPr>
        <p:spPr>
          <a:xfrm>
            <a:off x="8430768" y="3108960"/>
            <a:ext cx="3145536"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D2A5C"/>
              </a:buClr>
              <a:buSzPts val="1150"/>
              <a:buFont typeface="Calibri"/>
              <a:buNone/>
            </a:pPr>
            <a:r>
              <a:rPr b="1" i="0" lang="en-US" sz="1150" u="none" cap="none" strike="noStrike">
                <a:solidFill>
                  <a:srgbClr val="1D2A5C"/>
                </a:solidFill>
                <a:latin typeface="Calibri"/>
                <a:ea typeface="Calibri"/>
                <a:cs typeface="Calibri"/>
                <a:sym typeface="Calibri"/>
              </a:rPr>
              <a:t>Stage-by-stage timing</a:t>
            </a:r>
            <a:endParaRPr b="0" i="0" sz="1150" u="none" cap="none" strike="noStrike">
              <a:solidFill>
                <a:schemeClr val="dk1"/>
              </a:solidFill>
              <a:latin typeface="Calibri"/>
              <a:ea typeface="Calibri"/>
              <a:cs typeface="Calibri"/>
              <a:sym typeface="Calibri"/>
            </a:endParaRPr>
          </a:p>
        </p:txBody>
      </p:sp>
      <p:sp>
        <p:nvSpPr>
          <p:cNvPr id="3871" name="Google Shape;3871;p138"/>
          <p:cNvSpPr/>
          <p:nvPr/>
        </p:nvSpPr>
        <p:spPr>
          <a:xfrm>
            <a:off x="8430768" y="3383280"/>
            <a:ext cx="3145536" cy="1060704"/>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5F6B7A"/>
              </a:buClr>
              <a:buSzPts val="1000"/>
              <a:buFont typeface="Calibri"/>
              <a:buNone/>
            </a:pPr>
            <a:r>
              <a:rPr b="0" i="0" lang="en-US" sz="1000" u="none" cap="none" strike="noStrike">
                <a:solidFill>
                  <a:srgbClr val="5F6B7A"/>
                </a:solidFill>
                <a:latin typeface="Calibri"/>
                <a:ea typeface="Calibri"/>
                <a:cs typeface="Calibri"/>
                <a:sym typeface="Calibri"/>
              </a:rPr>
              <a:t>The Amdahl reveal: preprocessing rivals inference after INT8.</a:t>
            </a:r>
            <a:endParaRPr b="0" i="0" sz="1000" u="none" cap="none" strike="noStrike">
              <a:solidFill>
                <a:schemeClr val="dk1"/>
              </a:solidFill>
              <a:latin typeface="Calibri"/>
              <a:ea typeface="Calibri"/>
              <a:cs typeface="Calibri"/>
              <a:sym typeface="Calibri"/>
            </a:endParaRPr>
          </a:p>
        </p:txBody>
      </p:sp>
      <p:sp>
        <p:nvSpPr>
          <p:cNvPr id="3872" name="Google Shape;3872;p138"/>
          <p:cNvSpPr/>
          <p:nvPr/>
        </p:nvSpPr>
        <p:spPr>
          <a:xfrm>
            <a:off x="7973568" y="4718304"/>
            <a:ext cx="3712464" cy="1463040"/>
          </a:xfrm>
          <a:prstGeom prst="roundRect">
            <a:avLst>
              <a:gd fmla="val 4375" name="adj"/>
            </a:avLst>
          </a:prstGeom>
          <a:solidFill>
            <a:srgbClr val="F2F6F9"/>
          </a:solidFill>
          <a:ln cap="flat" cmpd="sng" w="12700">
            <a:solidFill>
              <a:srgbClr val="D9E2E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73" name="Google Shape;3873;p138"/>
          <p:cNvSpPr/>
          <p:nvPr/>
        </p:nvSpPr>
        <p:spPr>
          <a:xfrm>
            <a:off x="8101584" y="4837176"/>
            <a:ext cx="237744" cy="237744"/>
          </a:xfrm>
          <a:prstGeom prst="ellipse">
            <a:avLst/>
          </a:prstGeom>
          <a:solidFill>
            <a:srgbClr val="F5822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74" name="Google Shape;3874;p138"/>
          <p:cNvSpPr/>
          <p:nvPr/>
        </p:nvSpPr>
        <p:spPr>
          <a:xfrm>
            <a:off x="8101584" y="4837176"/>
            <a:ext cx="237744" cy="23774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000"/>
              <a:buFont typeface="Calibri"/>
              <a:buNone/>
            </a:pPr>
            <a:r>
              <a:rPr b="1" i="0" lang="en-US" sz="1000" u="none" cap="none" strike="noStrike">
                <a:solidFill>
                  <a:srgbClr val="FFFFFF"/>
                </a:solidFill>
                <a:latin typeface="Calibri"/>
                <a:ea typeface="Calibri"/>
                <a:cs typeface="Calibri"/>
                <a:sym typeface="Calibri"/>
              </a:rPr>
              <a:t>3</a:t>
            </a:r>
            <a:endParaRPr b="0" i="0" sz="1000" u="none" cap="none" strike="noStrike">
              <a:solidFill>
                <a:schemeClr val="dk1"/>
              </a:solidFill>
              <a:latin typeface="Calibri"/>
              <a:ea typeface="Calibri"/>
              <a:cs typeface="Calibri"/>
              <a:sym typeface="Calibri"/>
            </a:endParaRPr>
          </a:p>
        </p:txBody>
      </p:sp>
      <p:sp>
        <p:nvSpPr>
          <p:cNvPr id="3875" name="Google Shape;3875;p138"/>
          <p:cNvSpPr/>
          <p:nvPr/>
        </p:nvSpPr>
        <p:spPr>
          <a:xfrm>
            <a:off x="8430768" y="4773168"/>
            <a:ext cx="3145536"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D2A5C"/>
              </a:buClr>
              <a:buSzPts val="1150"/>
              <a:buFont typeface="Calibri"/>
              <a:buNone/>
            </a:pPr>
            <a:r>
              <a:rPr b="1" i="0" lang="en-US" sz="1150" u="none" cap="none" strike="noStrike">
                <a:solidFill>
                  <a:srgbClr val="1D2A5C"/>
                </a:solidFill>
                <a:latin typeface="Calibri"/>
                <a:ea typeface="Calibri"/>
                <a:cs typeface="Calibri"/>
                <a:sym typeface="Calibri"/>
              </a:rPr>
              <a:t>p50/p95/p99 over 500 runs</a:t>
            </a:r>
            <a:endParaRPr b="0" i="0" sz="1150" u="none" cap="none" strike="noStrike">
              <a:solidFill>
                <a:schemeClr val="dk1"/>
              </a:solidFill>
              <a:latin typeface="Calibri"/>
              <a:ea typeface="Calibri"/>
              <a:cs typeface="Calibri"/>
              <a:sym typeface="Calibri"/>
            </a:endParaRPr>
          </a:p>
        </p:txBody>
      </p:sp>
      <p:sp>
        <p:nvSpPr>
          <p:cNvPr id="3876" name="Google Shape;3876;p138"/>
          <p:cNvSpPr/>
          <p:nvPr/>
        </p:nvSpPr>
        <p:spPr>
          <a:xfrm>
            <a:off x="8430768" y="5047488"/>
            <a:ext cx="3145536" cy="1060704"/>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5F6B7A"/>
              </a:buClr>
              <a:buSzPts val="1000"/>
              <a:buFont typeface="Calibri"/>
              <a:buNone/>
            </a:pPr>
            <a:r>
              <a:rPr b="0" i="0" lang="en-US" sz="1000" u="none" cap="none" strike="noStrike">
                <a:solidFill>
                  <a:srgbClr val="5F6B7A"/>
                </a:solidFill>
                <a:latin typeface="Calibri"/>
                <a:ea typeface="Calibri"/>
                <a:cs typeface="Calibri"/>
                <a:sym typeface="Calibri"/>
              </a:rPr>
              <a:t>Means are for brochures; the eject gate misses on the tail.</a:t>
            </a:r>
            <a:endParaRPr b="0" i="0" sz="1000" u="none" cap="none" strike="noStrike">
              <a:solidFill>
                <a:schemeClr val="dk1"/>
              </a:solidFill>
              <a:latin typeface="Calibri"/>
              <a:ea typeface="Calibri"/>
              <a:cs typeface="Calibri"/>
              <a:sym typeface="Calibri"/>
            </a:endParaRPr>
          </a:p>
        </p:txBody>
      </p:sp>
    </p:spTree>
  </p:cSld>
  <p:clrMapOvr>
    <a:masterClrMapping/>
  </p:clrMapOvr>
</p:sld>
</file>

<file path=ppt/slides/slide1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881" name="Shape 3881"/>
        <p:cNvGrpSpPr/>
        <p:nvPr/>
      </p:nvGrpSpPr>
      <p:grpSpPr>
        <a:xfrm>
          <a:off x="0" y="0"/>
          <a:ext cx="0" cy="0"/>
          <a:chOff x="0" y="0"/>
          <a:chExt cx="0" cy="0"/>
        </a:xfrm>
      </p:grpSpPr>
      <p:sp>
        <p:nvSpPr>
          <p:cNvPr id="3882" name="Google Shape;3882;p139"/>
          <p:cNvSpPr/>
          <p:nvPr/>
        </p:nvSpPr>
        <p:spPr>
          <a:xfrm>
            <a:off x="502920" y="274320"/>
            <a:ext cx="9646920" cy="56692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D2A5C"/>
              </a:buClr>
              <a:buSzPts val="2700"/>
              <a:buFont typeface="Calibri"/>
              <a:buNone/>
            </a:pPr>
            <a:r>
              <a:rPr b="1" i="0" lang="en-US" sz="2700" u="none" cap="none" strike="noStrike">
                <a:solidFill>
                  <a:srgbClr val="1D2A5C"/>
                </a:solidFill>
                <a:latin typeface="Calibri"/>
                <a:ea typeface="Calibri"/>
                <a:cs typeface="Calibri"/>
                <a:sym typeface="Calibri"/>
              </a:rPr>
              <a:t>Lab 7 — Export, optimise, benchmark</a:t>
            </a:r>
            <a:endParaRPr b="0" i="0" sz="2700" u="none" cap="none" strike="noStrike">
              <a:solidFill>
                <a:schemeClr val="dk1"/>
              </a:solidFill>
              <a:latin typeface="Calibri"/>
              <a:ea typeface="Calibri"/>
              <a:cs typeface="Calibri"/>
              <a:sym typeface="Calibri"/>
            </a:endParaRPr>
          </a:p>
        </p:txBody>
      </p:sp>
      <p:sp>
        <p:nvSpPr>
          <p:cNvPr id="3883" name="Google Shape;3883;p139"/>
          <p:cNvSpPr/>
          <p:nvPr/>
        </p:nvSpPr>
        <p:spPr>
          <a:xfrm>
            <a:off x="502920" y="859536"/>
            <a:ext cx="9646920" cy="31089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F6B7A"/>
              </a:buClr>
              <a:buSzPts val="1250"/>
              <a:buFont typeface="Arial"/>
              <a:buNone/>
            </a:pPr>
            <a:r>
              <a:rPr b="0" i="0" lang="en-US" sz="1250" u="none" cap="none" strike="noStrike">
                <a:solidFill>
                  <a:srgbClr val="5F6B7A"/>
                </a:solidFill>
                <a:latin typeface="Arial"/>
                <a:ea typeface="Arial"/>
                <a:cs typeface="Arial"/>
                <a:sym typeface="Arial"/>
              </a:rPr>
              <a:t>المختبر السابع</a:t>
            </a:r>
            <a:endParaRPr b="0" i="0" sz="1250" u="none" cap="none" strike="noStrike">
              <a:solidFill>
                <a:schemeClr val="dk1"/>
              </a:solidFill>
              <a:latin typeface="Calibri"/>
              <a:ea typeface="Calibri"/>
              <a:cs typeface="Calibri"/>
              <a:sym typeface="Calibri"/>
            </a:endParaRPr>
          </a:p>
        </p:txBody>
      </p:sp>
      <p:pic>
        <p:nvPicPr>
          <p:cNvPr descr="/sessions/blissful-determined-ritchie/build/assets/sdaia_logo.png" id="3884" name="Google Shape;3884;p139"/>
          <p:cNvPicPr preferRelativeResize="0"/>
          <p:nvPr/>
        </p:nvPicPr>
        <p:blipFill rotWithShape="1">
          <a:blip r:embed="rId3">
            <a:alphaModFix/>
          </a:blip>
          <a:srcRect b="0" l="0" r="0" t="0"/>
          <a:stretch/>
        </p:blipFill>
        <p:spPr>
          <a:xfrm>
            <a:off x="10625328" y="310896"/>
            <a:ext cx="1078992" cy="264111"/>
          </a:xfrm>
          <a:prstGeom prst="rect">
            <a:avLst/>
          </a:prstGeom>
          <a:noFill/>
          <a:ln>
            <a:noFill/>
          </a:ln>
        </p:spPr>
      </p:pic>
      <p:sp>
        <p:nvSpPr>
          <p:cNvPr id="3885" name="Google Shape;3885;p139"/>
          <p:cNvSpPr/>
          <p:nvPr/>
        </p:nvSpPr>
        <p:spPr>
          <a:xfrm>
            <a:off x="502920" y="6528816"/>
            <a:ext cx="8686800"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A79D"/>
              </a:buClr>
              <a:buSzPts val="800"/>
              <a:buFont typeface="Calibri"/>
              <a:buNone/>
            </a:pPr>
            <a:r>
              <a:rPr b="1" i="0" lang="en-US" sz="800" u="none" cap="none" strike="noStrike">
                <a:solidFill>
                  <a:srgbClr val="00A79D"/>
                </a:solidFill>
                <a:latin typeface="Calibri"/>
                <a:ea typeface="Calibri"/>
                <a:cs typeface="Calibri"/>
                <a:sym typeface="Calibri"/>
              </a:rPr>
              <a:t>MODULE 7 · LAB   </a:t>
            </a:r>
            <a:r>
              <a:rPr b="0" i="0" lang="en-US" sz="800" u="none" cap="none" strike="noStrike">
                <a:solidFill>
                  <a:srgbClr val="8A96A6"/>
                </a:solidFill>
                <a:latin typeface="Calibri"/>
                <a:ea typeface="Calibri"/>
                <a:cs typeface="Calibri"/>
                <a:sym typeface="Calibri"/>
              </a:rPr>
              <a:t>SDA-AIE-212 · Computer Vision Systems Development</a:t>
            </a:r>
            <a:endParaRPr b="0" i="0" sz="800" u="none" cap="none" strike="noStrike">
              <a:solidFill>
                <a:schemeClr val="dk1"/>
              </a:solidFill>
              <a:latin typeface="Calibri"/>
              <a:ea typeface="Calibri"/>
              <a:cs typeface="Calibri"/>
              <a:sym typeface="Calibri"/>
            </a:endParaRPr>
          </a:p>
        </p:txBody>
      </p:sp>
      <p:sp>
        <p:nvSpPr>
          <p:cNvPr id="3886" name="Google Shape;3886;p139"/>
          <p:cNvSpPr/>
          <p:nvPr/>
        </p:nvSpPr>
        <p:spPr>
          <a:xfrm>
            <a:off x="11292840" y="6528816"/>
            <a:ext cx="411480" cy="219456"/>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8A96A6"/>
              </a:buClr>
              <a:buSzPts val="900"/>
              <a:buFont typeface="Calibri"/>
              <a:buNone/>
            </a:pPr>
            <a:r>
              <a:rPr b="0" i="0" lang="en-US" sz="900" u="none" cap="none" strike="noStrike">
                <a:solidFill>
                  <a:srgbClr val="8A96A6"/>
                </a:solidFill>
                <a:latin typeface="Calibri"/>
                <a:ea typeface="Calibri"/>
                <a:cs typeface="Calibri"/>
                <a:sym typeface="Calibri"/>
              </a:rPr>
              <a:t>139</a:t>
            </a:r>
            <a:endParaRPr b="0" i="0" sz="900" u="none" cap="none" strike="noStrike">
              <a:solidFill>
                <a:schemeClr val="dk1"/>
              </a:solidFill>
              <a:latin typeface="Calibri"/>
              <a:ea typeface="Calibri"/>
              <a:cs typeface="Calibri"/>
              <a:sym typeface="Calibri"/>
            </a:endParaRPr>
          </a:p>
        </p:txBody>
      </p:sp>
      <p:sp>
        <p:nvSpPr>
          <p:cNvPr id="3887" name="Google Shape;3887;p139"/>
          <p:cNvSpPr/>
          <p:nvPr/>
        </p:nvSpPr>
        <p:spPr>
          <a:xfrm>
            <a:off x="502920" y="1389888"/>
            <a:ext cx="5806440" cy="932688"/>
          </a:xfrm>
          <a:prstGeom prst="roundRect">
            <a:avLst>
              <a:gd fmla="val 7843" name="adj"/>
            </a:avLst>
          </a:prstGeom>
          <a:solidFill>
            <a:srgbClr val="E9F6F5"/>
          </a:solidFill>
          <a:ln cap="flat" cmpd="sng" w="12700">
            <a:solidFill>
              <a:srgbClr val="00A79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88" name="Google Shape;3888;p139"/>
          <p:cNvSpPr/>
          <p:nvPr/>
        </p:nvSpPr>
        <p:spPr>
          <a:xfrm>
            <a:off x="649224" y="1463040"/>
            <a:ext cx="5532120"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A79D"/>
              </a:buClr>
              <a:buSzPts val="900"/>
              <a:buFont typeface="Calibri"/>
              <a:buNone/>
            </a:pPr>
            <a:r>
              <a:rPr b="1" i="0" lang="en-US" sz="900" u="none" cap="none" strike="noStrike">
                <a:solidFill>
                  <a:srgbClr val="00A79D"/>
                </a:solidFill>
                <a:latin typeface="Calibri"/>
                <a:ea typeface="Calibri"/>
                <a:cs typeface="Calibri"/>
                <a:sym typeface="Calibri"/>
              </a:rPr>
              <a:t>OBJECTIVE</a:t>
            </a:r>
            <a:endParaRPr b="0" i="0" sz="900" u="none" cap="none" strike="noStrike">
              <a:solidFill>
                <a:schemeClr val="dk1"/>
              </a:solidFill>
              <a:latin typeface="Calibri"/>
              <a:ea typeface="Calibri"/>
              <a:cs typeface="Calibri"/>
              <a:sym typeface="Calibri"/>
            </a:endParaRPr>
          </a:p>
        </p:txBody>
      </p:sp>
      <p:sp>
        <p:nvSpPr>
          <p:cNvPr id="3889" name="Google Shape;3889;p139"/>
          <p:cNvSpPr/>
          <p:nvPr/>
        </p:nvSpPr>
        <p:spPr>
          <a:xfrm>
            <a:off x="649224" y="1682496"/>
            <a:ext cx="5532120" cy="585216"/>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23293B"/>
              </a:buClr>
              <a:buSzPts val="1050"/>
              <a:buFont typeface="Calibri"/>
              <a:buNone/>
            </a:pPr>
            <a:r>
              <a:rPr b="0" i="0" lang="en-US" sz="1050" u="none" cap="none" strike="noStrike">
                <a:solidFill>
                  <a:srgbClr val="23293B"/>
                </a:solidFill>
                <a:latin typeface="Calibri"/>
                <a:ea typeface="Calibri"/>
                <a:cs typeface="Calibri"/>
                <a:sym typeface="Calibri"/>
              </a:rPr>
              <a:t>Export both models to ONNX with passing parity tests, quantise to INT8, and build the trade-off table that selects the line config</a:t>
            </a:r>
            <a:endParaRPr b="0" i="0" sz="1050" u="none" cap="none" strike="noStrike">
              <a:solidFill>
                <a:schemeClr val="dk1"/>
              </a:solidFill>
              <a:latin typeface="Calibri"/>
              <a:ea typeface="Calibri"/>
              <a:cs typeface="Calibri"/>
              <a:sym typeface="Calibri"/>
            </a:endParaRPr>
          </a:p>
        </p:txBody>
      </p:sp>
      <p:sp>
        <p:nvSpPr>
          <p:cNvPr id="3890" name="Google Shape;3890;p139"/>
          <p:cNvSpPr/>
          <p:nvPr/>
        </p:nvSpPr>
        <p:spPr>
          <a:xfrm>
            <a:off x="6510528" y="1389888"/>
            <a:ext cx="1600200" cy="932688"/>
          </a:xfrm>
          <a:prstGeom prst="roundRect">
            <a:avLst>
              <a:gd fmla="val 7843" name="adj"/>
            </a:avLst>
          </a:prstGeom>
          <a:solidFill>
            <a:srgbClr val="F2F6F9"/>
          </a:solidFill>
          <a:ln cap="flat" cmpd="sng" w="12700">
            <a:solidFill>
              <a:srgbClr val="D9E2E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91" name="Google Shape;3891;p139"/>
          <p:cNvSpPr/>
          <p:nvPr/>
        </p:nvSpPr>
        <p:spPr>
          <a:xfrm>
            <a:off x="6656832" y="1463040"/>
            <a:ext cx="1325880"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A79D"/>
              </a:buClr>
              <a:buSzPts val="900"/>
              <a:buFont typeface="Calibri"/>
              <a:buNone/>
            </a:pPr>
            <a:r>
              <a:rPr b="1" i="0" lang="en-US" sz="900" u="none" cap="none" strike="noStrike">
                <a:solidFill>
                  <a:srgbClr val="00A79D"/>
                </a:solidFill>
                <a:latin typeface="Calibri"/>
                <a:ea typeface="Calibri"/>
                <a:cs typeface="Calibri"/>
                <a:sym typeface="Calibri"/>
              </a:rPr>
              <a:t>DURATION</a:t>
            </a:r>
            <a:endParaRPr b="0" i="0" sz="900" u="none" cap="none" strike="noStrike">
              <a:solidFill>
                <a:schemeClr val="dk1"/>
              </a:solidFill>
              <a:latin typeface="Calibri"/>
              <a:ea typeface="Calibri"/>
              <a:cs typeface="Calibri"/>
              <a:sym typeface="Calibri"/>
            </a:endParaRPr>
          </a:p>
        </p:txBody>
      </p:sp>
      <p:sp>
        <p:nvSpPr>
          <p:cNvPr id="3892" name="Google Shape;3892;p139"/>
          <p:cNvSpPr/>
          <p:nvPr/>
        </p:nvSpPr>
        <p:spPr>
          <a:xfrm>
            <a:off x="6656832" y="1682496"/>
            <a:ext cx="1325880" cy="585216"/>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23293B"/>
              </a:buClr>
              <a:buSzPts val="1050"/>
              <a:buFont typeface="Calibri"/>
              <a:buNone/>
            </a:pPr>
            <a:r>
              <a:rPr b="0" i="0" lang="en-US" sz="1050" u="none" cap="none" strike="noStrike">
                <a:solidFill>
                  <a:srgbClr val="23293B"/>
                </a:solidFill>
                <a:latin typeface="Calibri"/>
                <a:ea typeface="Calibri"/>
                <a:cs typeface="Calibri"/>
                <a:sym typeface="Calibri"/>
              </a:rPr>
              <a:t>50 minutes</a:t>
            </a:r>
            <a:endParaRPr b="0" i="0" sz="1050" u="none" cap="none" strike="noStrike">
              <a:solidFill>
                <a:schemeClr val="dk1"/>
              </a:solidFill>
              <a:latin typeface="Calibri"/>
              <a:ea typeface="Calibri"/>
              <a:cs typeface="Calibri"/>
              <a:sym typeface="Calibri"/>
            </a:endParaRPr>
          </a:p>
        </p:txBody>
      </p:sp>
      <p:sp>
        <p:nvSpPr>
          <p:cNvPr id="3893" name="Google Shape;3893;p139"/>
          <p:cNvSpPr/>
          <p:nvPr/>
        </p:nvSpPr>
        <p:spPr>
          <a:xfrm>
            <a:off x="8311896" y="1389888"/>
            <a:ext cx="3383280" cy="932688"/>
          </a:xfrm>
          <a:prstGeom prst="roundRect">
            <a:avLst>
              <a:gd fmla="val 7843" name="adj"/>
            </a:avLst>
          </a:prstGeom>
          <a:solidFill>
            <a:srgbClr val="F2F6F9"/>
          </a:solidFill>
          <a:ln cap="flat" cmpd="sng" w="12700">
            <a:solidFill>
              <a:srgbClr val="D9E2E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94" name="Google Shape;3894;p139"/>
          <p:cNvSpPr/>
          <p:nvPr/>
        </p:nvSpPr>
        <p:spPr>
          <a:xfrm>
            <a:off x="8458200" y="1463040"/>
            <a:ext cx="3108960"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A79D"/>
              </a:buClr>
              <a:buSzPts val="900"/>
              <a:buFont typeface="Calibri"/>
              <a:buNone/>
            </a:pPr>
            <a:r>
              <a:rPr b="1" i="0" lang="en-US" sz="900" u="none" cap="none" strike="noStrike">
                <a:solidFill>
                  <a:srgbClr val="00A79D"/>
                </a:solidFill>
                <a:latin typeface="Calibri"/>
                <a:ea typeface="Calibri"/>
                <a:cs typeface="Calibri"/>
                <a:sym typeface="Calibri"/>
              </a:rPr>
              <a:t>SETUP</a:t>
            </a:r>
            <a:endParaRPr b="0" i="0" sz="900" u="none" cap="none" strike="noStrike">
              <a:solidFill>
                <a:schemeClr val="dk1"/>
              </a:solidFill>
              <a:latin typeface="Calibri"/>
              <a:ea typeface="Calibri"/>
              <a:cs typeface="Calibri"/>
              <a:sym typeface="Calibri"/>
            </a:endParaRPr>
          </a:p>
        </p:txBody>
      </p:sp>
      <p:sp>
        <p:nvSpPr>
          <p:cNvPr id="3895" name="Google Shape;3895;p139"/>
          <p:cNvSpPr/>
          <p:nvPr/>
        </p:nvSpPr>
        <p:spPr>
          <a:xfrm>
            <a:off x="8458200" y="1682496"/>
            <a:ext cx="3108960" cy="585216"/>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23293B"/>
              </a:buClr>
              <a:buSzPts val="1050"/>
              <a:buFont typeface="Calibri"/>
              <a:buNone/>
            </a:pPr>
            <a:r>
              <a:rPr b="0" i="0" lang="en-US" sz="1050" u="none" cap="none" strike="noStrike">
                <a:solidFill>
                  <a:srgbClr val="23293B"/>
                </a:solidFill>
                <a:latin typeface="Calibri"/>
                <a:ea typeface="Calibri"/>
                <a:cs typeface="Calibri"/>
                <a:sym typeface="Calibri"/>
              </a:rPr>
              <a:t>git checkout lab7-start · onnxruntime + quant tools · CPU by design</a:t>
            </a:r>
            <a:endParaRPr b="0" i="0" sz="1050" u="none" cap="none" strike="noStrike">
              <a:solidFill>
                <a:schemeClr val="dk1"/>
              </a:solidFill>
              <a:latin typeface="Calibri"/>
              <a:ea typeface="Calibri"/>
              <a:cs typeface="Calibri"/>
              <a:sym typeface="Calibri"/>
            </a:endParaRPr>
          </a:p>
        </p:txBody>
      </p:sp>
      <p:sp>
        <p:nvSpPr>
          <p:cNvPr id="3896" name="Google Shape;3896;p139"/>
          <p:cNvSpPr/>
          <p:nvPr/>
        </p:nvSpPr>
        <p:spPr>
          <a:xfrm>
            <a:off x="502920" y="2661666"/>
            <a:ext cx="274320" cy="274320"/>
          </a:xfrm>
          <a:prstGeom prst="ellipse">
            <a:avLst/>
          </a:prstGeom>
          <a:solidFill>
            <a:srgbClr val="1D2A5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97" name="Google Shape;3897;p139"/>
          <p:cNvSpPr/>
          <p:nvPr/>
        </p:nvSpPr>
        <p:spPr>
          <a:xfrm>
            <a:off x="502920" y="2661666"/>
            <a:ext cx="274320" cy="2743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100"/>
              <a:buFont typeface="Calibri"/>
              <a:buNone/>
            </a:pPr>
            <a:r>
              <a:rPr b="1" i="0" lang="en-US" sz="1100" u="none" cap="none" strike="noStrike">
                <a:solidFill>
                  <a:srgbClr val="FFFFFF"/>
                </a:solidFill>
                <a:latin typeface="Calibri"/>
                <a:ea typeface="Calibri"/>
                <a:cs typeface="Calibri"/>
                <a:sym typeface="Calibri"/>
              </a:rPr>
              <a:t>1</a:t>
            </a:r>
            <a:endParaRPr b="0" i="0" sz="1100" u="none" cap="none" strike="noStrike">
              <a:solidFill>
                <a:schemeClr val="dk1"/>
              </a:solidFill>
              <a:latin typeface="Calibri"/>
              <a:ea typeface="Calibri"/>
              <a:cs typeface="Calibri"/>
              <a:sym typeface="Calibri"/>
            </a:endParaRPr>
          </a:p>
        </p:txBody>
      </p:sp>
      <p:sp>
        <p:nvSpPr>
          <p:cNvPr id="3898" name="Google Shape;3898;p139"/>
          <p:cNvSpPr/>
          <p:nvPr/>
        </p:nvSpPr>
        <p:spPr>
          <a:xfrm>
            <a:off x="886968" y="2661666"/>
            <a:ext cx="658368" cy="274320"/>
          </a:xfrm>
          <a:prstGeom prst="roundRect">
            <a:avLst>
              <a:gd fmla="val 50000" name="adj"/>
            </a:avLst>
          </a:prstGeom>
          <a:solidFill>
            <a:srgbClr val="E9F6F5"/>
          </a:solidFill>
          <a:ln cap="flat" cmpd="sng" w="9525">
            <a:solidFill>
              <a:srgbClr val="00A79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99" name="Google Shape;3899;p139"/>
          <p:cNvSpPr/>
          <p:nvPr/>
        </p:nvSpPr>
        <p:spPr>
          <a:xfrm>
            <a:off x="886968" y="2661666"/>
            <a:ext cx="658368" cy="2743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56A63"/>
              </a:buClr>
              <a:buSzPts val="900"/>
              <a:buFont typeface="Calibri"/>
              <a:buNone/>
            </a:pPr>
            <a:r>
              <a:rPr b="1" i="0" lang="en-US" sz="900" u="none" cap="none" strike="noStrike">
                <a:solidFill>
                  <a:srgbClr val="056A63"/>
                </a:solidFill>
                <a:latin typeface="Calibri"/>
                <a:ea typeface="Calibri"/>
                <a:cs typeface="Calibri"/>
                <a:sym typeface="Calibri"/>
              </a:rPr>
              <a:t>10 min</a:t>
            </a:r>
            <a:endParaRPr b="0" i="0" sz="900" u="none" cap="none" strike="noStrike">
              <a:solidFill>
                <a:schemeClr val="dk1"/>
              </a:solidFill>
              <a:latin typeface="Calibri"/>
              <a:ea typeface="Calibri"/>
              <a:cs typeface="Calibri"/>
              <a:sym typeface="Calibri"/>
            </a:endParaRPr>
          </a:p>
        </p:txBody>
      </p:sp>
      <p:sp>
        <p:nvSpPr>
          <p:cNvPr id="3900" name="Google Shape;3900;p139"/>
          <p:cNvSpPr/>
          <p:nvPr/>
        </p:nvSpPr>
        <p:spPr>
          <a:xfrm>
            <a:off x="1673352" y="2523744"/>
            <a:ext cx="5733288" cy="5867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3293B"/>
              </a:buClr>
              <a:buSzPts val="1150"/>
              <a:buFont typeface="Calibri"/>
              <a:buNone/>
            </a:pPr>
            <a:r>
              <a:rPr b="0" i="0" lang="en-US" sz="1150" u="none" cap="none" strike="noStrike">
                <a:solidFill>
                  <a:srgbClr val="23293B"/>
                </a:solidFill>
                <a:latin typeface="Calibri"/>
                <a:ea typeface="Calibri"/>
                <a:cs typeface="Calibri"/>
                <a:sym typeface="Calibri"/>
              </a:rPr>
              <a:t>Export classifier; parity fails — diagnose the planted train-mode bug, fix, record</a:t>
            </a:r>
            <a:endParaRPr b="0" i="0" sz="1150" u="none" cap="none" strike="noStrike">
              <a:solidFill>
                <a:schemeClr val="dk1"/>
              </a:solidFill>
              <a:latin typeface="Calibri"/>
              <a:ea typeface="Calibri"/>
              <a:cs typeface="Calibri"/>
              <a:sym typeface="Calibri"/>
            </a:endParaRPr>
          </a:p>
        </p:txBody>
      </p:sp>
      <p:sp>
        <p:nvSpPr>
          <p:cNvPr id="3901" name="Google Shape;3901;p139"/>
          <p:cNvSpPr/>
          <p:nvPr/>
        </p:nvSpPr>
        <p:spPr>
          <a:xfrm>
            <a:off x="502920" y="3303270"/>
            <a:ext cx="274320" cy="274320"/>
          </a:xfrm>
          <a:prstGeom prst="ellipse">
            <a:avLst/>
          </a:prstGeom>
          <a:solidFill>
            <a:srgbClr val="1D2A5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02" name="Google Shape;3902;p139"/>
          <p:cNvSpPr/>
          <p:nvPr/>
        </p:nvSpPr>
        <p:spPr>
          <a:xfrm>
            <a:off x="502920" y="3303270"/>
            <a:ext cx="274320" cy="2743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100"/>
              <a:buFont typeface="Calibri"/>
              <a:buNone/>
            </a:pPr>
            <a:r>
              <a:rPr b="1" i="0" lang="en-US" sz="1100" u="none" cap="none" strike="noStrike">
                <a:solidFill>
                  <a:srgbClr val="FFFFFF"/>
                </a:solidFill>
                <a:latin typeface="Calibri"/>
                <a:ea typeface="Calibri"/>
                <a:cs typeface="Calibri"/>
                <a:sym typeface="Calibri"/>
              </a:rPr>
              <a:t>2</a:t>
            </a:r>
            <a:endParaRPr b="0" i="0" sz="1100" u="none" cap="none" strike="noStrike">
              <a:solidFill>
                <a:schemeClr val="dk1"/>
              </a:solidFill>
              <a:latin typeface="Calibri"/>
              <a:ea typeface="Calibri"/>
              <a:cs typeface="Calibri"/>
              <a:sym typeface="Calibri"/>
            </a:endParaRPr>
          </a:p>
        </p:txBody>
      </p:sp>
      <p:sp>
        <p:nvSpPr>
          <p:cNvPr id="3903" name="Google Shape;3903;p139"/>
          <p:cNvSpPr/>
          <p:nvPr/>
        </p:nvSpPr>
        <p:spPr>
          <a:xfrm>
            <a:off x="886968" y="3303270"/>
            <a:ext cx="658368" cy="274320"/>
          </a:xfrm>
          <a:prstGeom prst="roundRect">
            <a:avLst>
              <a:gd fmla="val 50000" name="adj"/>
            </a:avLst>
          </a:prstGeom>
          <a:solidFill>
            <a:srgbClr val="E9F6F5"/>
          </a:solidFill>
          <a:ln cap="flat" cmpd="sng" w="9525">
            <a:solidFill>
              <a:srgbClr val="00A79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04" name="Google Shape;3904;p139"/>
          <p:cNvSpPr/>
          <p:nvPr/>
        </p:nvSpPr>
        <p:spPr>
          <a:xfrm>
            <a:off x="886968" y="3303270"/>
            <a:ext cx="658368" cy="2743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56A63"/>
              </a:buClr>
              <a:buSzPts val="900"/>
              <a:buFont typeface="Calibri"/>
              <a:buNone/>
            </a:pPr>
            <a:r>
              <a:rPr b="1" i="0" lang="en-US" sz="900" u="none" cap="none" strike="noStrike">
                <a:solidFill>
                  <a:srgbClr val="056A63"/>
                </a:solidFill>
                <a:latin typeface="Calibri"/>
                <a:ea typeface="Calibri"/>
                <a:cs typeface="Calibri"/>
                <a:sym typeface="Calibri"/>
              </a:rPr>
              <a:t>8 min</a:t>
            </a:r>
            <a:endParaRPr b="0" i="0" sz="900" u="none" cap="none" strike="noStrike">
              <a:solidFill>
                <a:schemeClr val="dk1"/>
              </a:solidFill>
              <a:latin typeface="Calibri"/>
              <a:ea typeface="Calibri"/>
              <a:cs typeface="Calibri"/>
              <a:sym typeface="Calibri"/>
            </a:endParaRPr>
          </a:p>
        </p:txBody>
      </p:sp>
      <p:sp>
        <p:nvSpPr>
          <p:cNvPr id="3905" name="Google Shape;3905;p139"/>
          <p:cNvSpPr/>
          <p:nvPr/>
        </p:nvSpPr>
        <p:spPr>
          <a:xfrm>
            <a:off x="1673352" y="3165348"/>
            <a:ext cx="5733288" cy="5867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3293B"/>
              </a:buClr>
              <a:buSzPts val="1150"/>
              <a:buFont typeface="Calibri"/>
              <a:buNone/>
            </a:pPr>
            <a:r>
              <a:rPr b="0" i="0" lang="en-US" sz="1150" u="none" cap="none" strike="noStrike">
                <a:solidFill>
                  <a:srgbClr val="23293B"/>
                </a:solidFill>
                <a:latin typeface="Calibri"/>
                <a:ea typeface="Calibri"/>
                <a:cs typeface="Calibri"/>
                <a:sym typeface="Calibri"/>
              </a:rPr>
              <a:t>Export detector at 416², no in-graph NMS; decision parity via the M6 harness</a:t>
            </a:r>
            <a:endParaRPr b="0" i="0" sz="1150" u="none" cap="none" strike="noStrike">
              <a:solidFill>
                <a:schemeClr val="dk1"/>
              </a:solidFill>
              <a:latin typeface="Calibri"/>
              <a:ea typeface="Calibri"/>
              <a:cs typeface="Calibri"/>
              <a:sym typeface="Calibri"/>
            </a:endParaRPr>
          </a:p>
        </p:txBody>
      </p:sp>
      <p:sp>
        <p:nvSpPr>
          <p:cNvPr id="3906" name="Google Shape;3906;p139"/>
          <p:cNvSpPr/>
          <p:nvPr/>
        </p:nvSpPr>
        <p:spPr>
          <a:xfrm>
            <a:off x="502920" y="3944874"/>
            <a:ext cx="274320" cy="274320"/>
          </a:xfrm>
          <a:prstGeom prst="ellipse">
            <a:avLst/>
          </a:prstGeom>
          <a:solidFill>
            <a:srgbClr val="1D2A5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07" name="Google Shape;3907;p139"/>
          <p:cNvSpPr/>
          <p:nvPr/>
        </p:nvSpPr>
        <p:spPr>
          <a:xfrm>
            <a:off x="502920" y="3944874"/>
            <a:ext cx="274320" cy="2743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100"/>
              <a:buFont typeface="Calibri"/>
              <a:buNone/>
            </a:pPr>
            <a:r>
              <a:rPr b="1" i="0" lang="en-US" sz="1100" u="none" cap="none" strike="noStrike">
                <a:solidFill>
                  <a:srgbClr val="FFFFFF"/>
                </a:solidFill>
                <a:latin typeface="Calibri"/>
                <a:ea typeface="Calibri"/>
                <a:cs typeface="Calibri"/>
                <a:sym typeface="Calibri"/>
              </a:rPr>
              <a:t>3</a:t>
            </a:r>
            <a:endParaRPr b="0" i="0" sz="1100" u="none" cap="none" strike="noStrike">
              <a:solidFill>
                <a:schemeClr val="dk1"/>
              </a:solidFill>
              <a:latin typeface="Calibri"/>
              <a:ea typeface="Calibri"/>
              <a:cs typeface="Calibri"/>
              <a:sym typeface="Calibri"/>
            </a:endParaRPr>
          </a:p>
        </p:txBody>
      </p:sp>
      <p:sp>
        <p:nvSpPr>
          <p:cNvPr id="3908" name="Google Shape;3908;p139"/>
          <p:cNvSpPr/>
          <p:nvPr/>
        </p:nvSpPr>
        <p:spPr>
          <a:xfrm>
            <a:off x="886968" y="3944874"/>
            <a:ext cx="658368" cy="274320"/>
          </a:xfrm>
          <a:prstGeom prst="roundRect">
            <a:avLst>
              <a:gd fmla="val 50000" name="adj"/>
            </a:avLst>
          </a:prstGeom>
          <a:solidFill>
            <a:srgbClr val="E9F6F5"/>
          </a:solidFill>
          <a:ln cap="flat" cmpd="sng" w="9525">
            <a:solidFill>
              <a:srgbClr val="00A79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09" name="Google Shape;3909;p139"/>
          <p:cNvSpPr/>
          <p:nvPr/>
        </p:nvSpPr>
        <p:spPr>
          <a:xfrm>
            <a:off x="886968" y="3944874"/>
            <a:ext cx="658368" cy="2743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56A63"/>
              </a:buClr>
              <a:buSzPts val="900"/>
              <a:buFont typeface="Calibri"/>
              <a:buNone/>
            </a:pPr>
            <a:r>
              <a:rPr b="1" i="0" lang="en-US" sz="900" u="none" cap="none" strike="noStrike">
                <a:solidFill>
                  <a:srgbClr val="056A63"/>
                </a:solidFill>
                <a:latin typeface="Calibri"/>
                <a:ea typeface="Calibri"/>
                <a:cs typeface="Calibri"/>
                <a:sym typeface="Calibri"/>
              </a:rPr>
              <a:t>10 min</a:t>
            </a:r>
            <a:endParaRPr b="0" i="0" sz="900" u="none" cap="none" strike="noStrike">
              <a:solidFill>
                <a:schemeClr val="dk1"/>
              </a:solidFill>
              <a:latin typeface="Calibri"/>
              <a:ea typeface="Calibri"/>
              <a:cs typeface="Calibri"/>
              <a:sym typeface="Calibri"/>
            </a:endParaRPr>
          </a:p>
        </p:txBody>
      </p:sp>
      <p:sp>
        <p:nvSpPr>
          <p:cNvPr id="3910" name="Google Shape;3910;p139"/>
          <p:cNvSpPr/>
          <p:nvPr/>
        </p:nvSpPr>
        <p:spPr>
          <a:xfrm>
            <a:off x="1673352" y="3806952"/>
            <a:ext cx="5733288" cy="5867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3293B"/>
              </a:buClr>
              <a:buSzPts val="1150"/>
              <a:buFont typeface="Calibri"/>
              <a:buNone/>
            </a:pPr>
            <a:r>
              <a:rPr b="0" i="0" lang="en-US" sz="1150" u="none" cap="none" strike="noStrike">
                <a:solidFill>
                  <a:srgbClr val="23293B"/>
                </a:solidFill>
                <a:latin typeface="Calibri"/>
                <a:ea typeface="Calibri"/>
                <a:cs typeface="Calibri"/>
                <a:sym typeface="Calibri"/>
              </a:rPr>
              <a:t>Quantise dynamic, then static INT8; re-run harness, record per-class deltas (s09!)</a:t>
            </a:r>
            <a:endParaRPr b="0" i="0" sz="1150" u="none" cap="none" strike="noStrike">
              <a:solidFill>
                <a:schemeClr val="dk1"/>
              </a:solidFill>
              <a:latin typeface="Calibri"/>
              <a:ea typeface="Calibri"/>
              <a:cs typeface="Calibri"/>
              <a:sym typeface="Calibri"/>
            </a:endParaRPr>
          </a:p>
        </p:txBody>
      </p:sp>
      <p:sp>
        <p:nvSpPr>
          <p:cNvPr id="3911" name="Google Shape;3911;p139"/>
          <p:cNvSpPr/>
          <p:nvPr/>
        </p:nvSpPr>
        <p:spPr>
          <a:xfrm>
            <a:off x="502920" y="4586478"/>
            <a:ext cx="274320" cy="274320"/>
          </a:xfrm>
          <a:prstGeom prst="ellipse">
            <a:avLst/>
          </a:prstGeom>
          <a:solidFill>
            <a:srgbClr val="1D2A5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12" name="Google Shape;3912;p139"/>
          <p:cNvSpPr/>
          <p:nvPr/>
        </p:nvSpPr>
        <p:spPr>
          <a:xfrm>
            <a:off x="502920" y="4586478"/>
            <a:ext cx="274320" cy="2743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100"/>
              <a:buFont typeface="Calibri"/>
              <a:buNone/>
            </a:pPr>
            <a:r>
              <a:rPr b="1" i="0" lang="en-US" sz="1100" u="none" cap="none" strike="noStrike">
                <a:solidFill>
                  <a:srgbClr val="FFFFFF"/>
                </a:solidFill>
                <a:latin typeface="Calibri"/>
                <a:ea typeface="Calibri"/>
                <a:cs typeface="Calibri"/>
                <a:sym typeface="Calibri"/>
              </a:rPr>
              <a:t>4</a:t>
            </a:r>
            <a:endParaRPr b="0" i="0" sz="1100" u="none" cap="none" strike="noStrike">
              <a:solidFill>
                <a:schemeClr val="dk1"/>
              </a:solidFill>
              <a:latin typeface="Calibri"/>
              <a:ea typeface="Calibri"/>
              <a:cs typeface="Calibri"/>
              <a:sym typeface="Calibri"/>
            </a:endParaRPr>
          </a:p>
        </p:txBody>
      </p:sp>
      <p:sp>
        <p:nvSpPr>
          <p:cNvPr id="3913" name="Google Shape;3913;p139"/>
          <p:cNvSpPr/>
          <p:nvPr/>
        </p:nvSpPr>
        <p:spPr>
          <a:xfrm>
            <a:off x="886968" y="4586478"/>
            <a:ext cx="658368" cy="274320"/>
          </a:xfrm>
          <a:prstGeom prst="roundRect">
            <a:avLst>
              <a:gd fmla="val 50000" name="adj"/>
            </a:avLst>
          </a:prstGeom>
          <a:solidFill>
            <a:srgbClr val="E9F6F5"/>
          </a:solidFill>
          <a:ln cap="flat" cmpd="sng" w="9525">
            <a:solidFill>
              <a:srgbClr val="00A79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14" name="Google Shape;3914;p139"/>
          <p:cNvSpPr/>
          <p:nvPr/>
        </p:nvSpPr>
        <p:spPr>
          <a:xfrm>
            <a:off x="886968" y="4586478"/>
            <a:ext cx="658368" cy="2743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56A63"/>
              </a:buClr>
              <a:buSzPts val="900"/>
              <a:buFont typeface="Calibri"/>
              <a:buNone/>
            </a:pPr>
            <a:r>
              <a:rPr b="1" i="0" lang="en-US" sz="900" u="none" cap="none" strike="noStrike">
                <a:solidFill>
                  <a:srgbClr val="056A63"/>
                </a:solidFill>
                <a:latin typeface="Calibri"/>
                <a:ea typeface="Calibri"/>
                <a:cs typeface="Calibri"/>
                <a:sym typeface="Calibri"/>
              </a:rPr>
              <a:t>12 min</a:t>
            </a:r>
            <a:endParaRPr b="0" i="0" sz="900" u="none" cap="none" strike="noStrike">
              <a:solidFill>
                <a:schemeClr val="dk1"/>
              </a:solidFill>
              <a:latin typeface="Calibri"/>
              <a:ea typeface="Calibri"/>
              <a:cs typeface="Calibri"/>
              <a:sym typeface="Calibri"/>
            </a:endParaRPr>
          </a:p>
        </p:txBody>
      </p:sp>
      <p:sp>
        <p:nvSpPr>
          <p:cNvPr id="3915" name="Google Shape;3915;p139"/>
          <p:cNvSpPr/>
          <p:nvPr/>
        </p:nvSpPr>
        <p:spPr>
          <a:xfrm>
            <a:off x="1673352" y="4448556"/>
            <a:ext cx="5733288" cy="5867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3293B"/>
              </a:buClr>
              <a:buSzPts val="1150"/>
              <a:buFont typeface="Calibri"/>
              <a:buNone/>
            </a:pPr>
            <a:r>
              <a:rPr b="0" i="0" lang="en-US" sz="1150" u="none" cap="none" strike="noStrike">
                <a:solidFill>
                  <a:srgbClr val="23293B"/>
                </a:solidFill>
                <a:latin typeface="Calibri"/>
                <a:ea typeface="Calibri"/>
                <a:cs typeface="Calibri"/>
                <a:sym typeface="Calibri"/>
              </a:rPr>
              <a:t>bench.py on 4 configs (FP32/INT8 × 640/416); find the dominant stage, mitigate once</a:t>
            </a:r>
            <a:endParaRPr b="0" i="0" sz="1150" u="none" cap="none" strike="noStrike">
              <a:solidFill>
                <a:schemeClr val="dk1"/>
              </a:solidFill>
              <a:latin typeface="Calibri"/>
              <a:ea typeface="Calibri"/>
              <a:cs typeface="Calibri"/>
              <a:sym typeface="Calibri"/>
            </a:endParaRPr>
          </a:p>
        </p:txBody>
      </p:sp>
      <p:sp>
        <p:nvSpPr>
          <p:cNvPr id="3916" name="Google Shape;3916;p139"/>
          <p:cNvSpPr/>
          <p:nvPr/>
        </p:nvSpPr>
        <p:spPr>
          <a:xfrm>
            <a:off x="502920" y="5228082"/>
            <a:ext cx="274320" cy="274320"/>
          </a:xfrm>
          <a:prstGeom prst="ellipse">
            <a:avLst/>
          </a:prstGeom>
          <a:solidFill>
            <a:srgbClr val="1D2A5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17" name="Google Shape;3917;p139"/>
          <p:cNvSpPr/>
          <p:nvPr/>
        </p:nvSpPr>
        <p:spPr>
          <a:xfrm>
            <a:off x="502920" y="5228082"/>
            <a:ext cx="274320" cy="2743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100"/>
              <a:buFont typeface="Calibri"/>
              <a:buNone/>
            </a:pPr>
            <a:r>
              <a:rPr b="1" i="0" lang="en-US" sz="1100" u="none" cap="none" strike="noStrike">
                <a:solidFill>
                  <a:srgbClr val="FFFFFF"/>
                </a:solidFill>
                <a:latin typeface="Calibri"/>
                <a:ea typeface="Calibri"/>
                <a:cs typeface="Calibri"/>
                <a:sym typeface="Calibri"/>
              </a:rPr>
              <a:t>5</a:t>
            </a:r>
            <a:endParaRPr b="0" i="0" sz="1100" u="none" cap="none" strike="noStrike">
              <a:solidFill>
                <a:schemeClr val="dk1"/>
              </a:solidFill>
              <a:latin typeface="Calibri"/>
              <a:ea typeface="Calibri"/>
              <a:cs typeface="Calibri"/>
              <a:sym typeface="Calibri"/>
            </a:endParaRPr>
          </a:p>
        </p:txBody>
      </p:sp>
      <p:sp>
        <p:nvSpPr>
          <p:cNvPr id="3918" name="Google Shape;3918;p139"/>
          <p:cNvSpPr/>
          <p:nvPr/>
        </p:nvSpPr>
        <p:spPr>
          <a:xfrm>
            <a:off x="886968" y="5228082"/>
            <a:ext cx="658368" cy="274320"/>
          </a:xfrm>
          <a:prstGeom prst="roundRect">
            <a:avLst>
              <a:gd fmla="val 50000" name="adj"/>
            </a:avLst>
          </a:prstGeom>
          <a:solidFill>
            <a:srgbClr val="E9F6F5"/>
          </a:solidFill>
          <a:ln cap="flat" cmpd="sng" w="9525">
            <a:solidFill>
              <a:srgbClr val="00A79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19" name="Google Shape;3919;p139"/>
          <p:cNvSpPr/>
          <p:nvPr/>
        </p:nvSpPr>
        <p:spPr>
          <a:xfrm>
            <a:off x="886968" y="5228082"/>
            <a:ext cx="658368" cy="2743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56A63"/>
              </a:buClr>
              <a:buSzPts val="900"/>
              <a:buFont typeface="Calibri"/>
              <a:buNone/>
            </a:pPr>
            <a:r>
              <a:rPr b="1" i="0" lang="en-US" sz="900" u="none" cap="none" strike="noStrike">
                <a:solidFill>
                  <a:srgbClr val="056A63"/>
                </a:solidFill>
                <a:latin typeface="Calibri"/>
                <a:ea typeface="Calibri"/>
                <a:cs typeface="Calibri"/>
                <a:sym typeface="Calibri"/>
              </a:rPr>
              <a:t>8 min</a:t>
            </a:r>
            <a:endParaRPr b="0" i="0" sz="900" u="none" cap="none" strike="noStrike">
              <a:solidFill>
                <a:schemeClr val="dk1"/>
              </a:solidFill>
              <a:latin typeface="Calibri"/>
              <a:ea typeface="Calibri"/>
              <a:cs typeface="Calibri"/>
              <a:sym typeface="Calibri"/>
            </a:endParaRPr>
          </a:p>
        </p:txBody>
      </p:sp>
      <p:sp>
        <p:nvSpPr>
          <p:cNvPr id="3920" name="Google Shape;3920;p139"/>
          <p:cNvSpPr/>
          <p:nvPr/>
        </p:nvSpPr>
        <p:spPr>
          <a:xfrm>
            <a:off x="1673352" y="5090160"/>
            <a:ext cx="5733288" cy="5867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3293B"/>
              </a:buClr>
              <a:buSzPts val="1150"/>
              <a:buFont typeface="Calibri"/>
              <a:buNone/>
            </a:pPr>
            <a:r>
              <a:rPr b="0" i="0" lang="en-US" sz="1150" u="none" cap="none" strike="noStrike">
                <a:solidFill>
                  <a:srgbClr val="23293B"/>
                </a:solidFill>
                <a:latin typeface="Calibri"/>
                <a:ea typeface="Calibri"/>
                <a:cs typeface="Calibri"/>
                <a:sym typeface="Calibri"/>
              </a:rPr>
              <a:t>Select the line config vs budget (p99 ≤ 90 ms); justify in BENCHMARKS.md + slice cost</a:t>
            </a:r>
            <a:endParaRPr b="0" i="0" sz="1150" u="none" cap="none" strike="noStrike">
              <a:solidFill>
                <a:schemeClr val="dk1"/>
              </a:solidFill>
              <a:latin typeface="Calibri"/>
              <a:ea typeface="Calibri"/>
              <a:cs typeface="Calibri"/>
              <a:sym typeface="Calibri"/>
            </a:endParaRPr>
          </a:p>
        </p:txBody>
      </p:sp>
      <p:sp>
        <p:nvSpPr>
          <p:cNvPr id="3921" name="Google Shape;3921;p139"/>
          <p:cNvSpPr/>
          <p:nvPr/>
        </p:nvSpPr>
        <p:spPr>
          <a:xfrm>
            <a:off x="502920" y="5869686"/>
            <a:ext cx="274320" cy="274320"/>
          </a:xfrm>
          <a:prstGeom prst="ellipse">
            <a:avLst/>
          </a:prstGeom>
          <a:solidFill>
            <a:srgbClr val="1D2A5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22" name="Google Shape;3922;p139"/>
          <p:cNvSpPr/>
          <p:nvPr/>
        </p:nvSpPr>
        <p:spPr>
          <a:xfrm>
            <a:off x="502920" y="5869686"/>
            <a:ext cx="274320" cy="2743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100"/>
              <a:buFont typeface="Calibri"/>
              <a:buNone/>
            </a:pPr>
            <a:r>
              <a:rPr b="1" i="0" lang="en-US" sz="1100" u="none" cap="none" strike="noStrike">
                <a:solidFill>
                  <a:srgbClr val="FFFFFF"/>
                </a:solidFill>
                <a:latin typeface="Calibri"/>
                <a:ea typeface="Calibri"/>
                <a:cs typeface="Calibri"/>
                <a:sym typeface="Calibri"/>
              </a:rPr>
              <a:t>6</a:t>
            </a:r>
            <a:endParaRPr b="0" i="0" sz="1100" u="none" cap="none" strike="noStrike">
              <a:solidFill>
                <a:schemeClr val="dk1"/>
              </a:solidFill>
              <a:latin typeface="Calibri"/>
              <a:ea typeface="Calibri"/>
              <a:cs typeface="Calibri"/>
              <a:sym typeface="Calibri"/>
            </a:endParaRPr>
          </a:p>
        </p:txBody>
      </p:sp>
      <p:sp>
        <p:nvSpPr>
          <p:cNvPr id="3923" name="Google Shape;3923;p139"/>
          <p:cNvSpPr/>
          <p:nvPr/>
        </p:nvSpPr>
        <p:spPr>
          <a:xfrm>
            <a:off x="886968" y="5869686"/>
            <a:ext cx="658368" cy="274320"/>
          </a:xfrm>
          <a:prstGeom prst="roundRect">
            <a:avLst>
              <a:gd fmla="val 50000" name="adj"/>
            </a:avLst>
          </a:prstGeom>
          <a:solidFill>
            <a:srgbClr val="E9F6F5"/>
          </a:solidFill>
          <a:ln cap="flat" cmpd="sng" w="9525">
            <a:solidFill>
              <a:srgbClr val="00A79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24" name="Google Shape;3924;p139"/>
          <p:cNvSpPr/>
          <p:nvPr/>
        </p:nvSpPr>
        <p:spPr>
          <a:xfrm>
            <a:off x="886968" y="5869686"/>
            <a:ext cx="658368" cy="2743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56A63"/>
              </a:buClr>
              <a:buSzPts val="900"/>
              <a:buFont typeface="Calibri"/>
              <a:buNone/>
            </a:pPr>
            <a:r>
              <a:rPr b="1" i="0" lang="en-US" sz="900" u="none" cap="none" strike="noStrike">
                <a:solidFill>
                  <a:srgbClr val="056A63"/>
                </a:solidFill>
                <a:latin typeface="Calibri"/>
                <a:ea typeface="Calibri"/>
                <a:cs typeface="Calibri"/>
                <a:sym typeface="Calibri"/>
              </a:rPr>
              <a:t>2 min</a:t>
            </a:r>
            <a:endParaRPr b="0" i="0" sz="900" u="none" cap="none" strike="noStrike">
              <a:solidFill>
                <a:schemeClr val="dk1"/>
              </a:solidFill>
              <a:latin typeface="Calibri"/>
              <a:ea typeface="Calibri"/>
              <a:cs typeface="Calibri"/>
              <a:sym typeface="Calibri"/>
            </a:endParaRPr>
          </a:p>
        </p:txBody>
      </p:sp>
      <p:sp>
        <p:nvSpPr>
          <p:cNvPr id="3925" name="Google Shape;3925;p139"/>
          <p:cNvSpPr/>
          <p:nvPr/>
        </p:nvSpPr>
        <p:spPr>
          <a:xfrm>
            <a:off x="1673352" y="5731764"/>
            <a:ext cx="5733288" cy="5867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3293B"/>
              </a:buClr>
              <a:buSzPts val="1150"/>
              <a:buFont typeface="Calibri"/>
              <a:buNone/>
            </a:pPr>
            <a:r>
              <a:rPr b="0" i="0" lang="en-US" sz="1150" u="none" cap="none" strike="noStrike">
                <a:solidFill>
                  <a:srgbClr val="23293B"/>
                </a:solidFill>
                <a:latin typeface="Calibri"/>
                <a:ea typeface="Calibri"/>
                <a:cs typeface="Calibri"/>
                <a:sym typeface="Calibri"/>
              </a:rPr>
              <a:t>Commit: feat(deploy): ONNX + INT8 artefacts, benchmarked, line config selected</a:t>
            </a:r>
            <a:endParaRPr b="0" i="0" sz="1150" u="none" cap="none" strike="noStrike">
              <a:solidFill>
                <a:schemeClr val="dk1"/>
              </a:solidFill>
              <a:latin typeface="Calibri"/>
              <a:ea typeface="Calibri"/>
              <a:cs typeface="Calibri"/>
              <a:sym typeface="Calibri"/>
            </a:endParaRPr>
          </a:p>
        </p:txBody>
      </p:sp>
      <p:sp>
        <p:nvSpPr>
          <p:cNvPr id="3926" name="Google Shape;3926;p139"/>
          <p:cNvSpPr/>
          <p:nvPr/>
        </p:nvSpPr>
        <p:spPr>
          <a:xfrm>
            <a:off x="7635240" y="2505456"/>
            <a:ext cx="4050792" cy="3849624"/>
          </a:xfrm>
          <a:prstGeom prst="roundRect">
            <a:avLst>
              <a:gd fmla="val 2375" name="adj"/>
            </a:avLst>
          </a:prstGeom>
          <a:solidFill>
            <a:srgbClr val="0F172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27" name="Google Shape;3927;p139"/>
          <p:cNvSpPr/>
          <p:nvPr/>
        </p:nvSpPr>
        <p:spPr>
          <a:xfrm>
            <a:off x="7818120" y="2615184"/>
            <a:ext cx="3685032" cy="2377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EEAD4"/>
              </a:buClr>
              <a:buSzPts val="900"/>
              <a:buFont typeface="Calibri"/>
              <a:buNone/>
            </a:pPr>
            <a:r>
              <a:rPr b="1" i="0" lang="en-US" sz="900" u="none" cap="none" strike="noStrike">
                <a:solidFill>
                  <a:srgbClr val="5EEAD4"/>
                </a:solidFill>
                <a:latin typeface="Calibri"/>
                <a:ea typeface="Calibri"/>
                <a:cs typeface="Calibri"/>
                <a:sym typeface="Calibri"/>
              </a:rPr>
              <a:t>EXPECTED OUTPUT</a:t>
            </a:r>
            <a:endParaRPr b="0" i="0" sz="900" u="none" cap="none" strike="noStrike">
              <a:solidFill>
                <a:schemeClr val="dk1"/>
              </a:solidFill>
              <a:latin typeface="Calibri"/>
              <a:ea typeface="Calibri"/>
              <a:cs typeface="Calibri"/>
              <a:sym typeface="Calibri"/>
            </a:endParaRPr>
          </a:p>
        </p:txBody>
      </p:sp>
      <p:sp>
        <p:nvSpPr>
          <p:cNvPr id="3928" name="Google Shape;3928;p139"/>
          <p:cNvSpPr/>
          <p:nvPr/>
        </p:nvSpPr>
        <p:spPr>
          <a:xfrm>
            <a:off x="7818120" y="2907792"/>
            <a:ext cx="3703320" cy="3300984"/>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DCE6F5"/>
              </a:buClr>
              <a:buSzPts val="900"/>
              <a:buFont typeface="Courier New"/>
              <a:buNone/>
            </a:pPr>
            <a:r>
              <a:rPr b="0" i="0" lang="en-US" sz="900" u="none" cap="none" strike="noStrike">
                <a:solidFill>
                  <a:srgbClr val="DCE6F5"/>
                </a:solidFill>
                <a:latin typeface="Courier New"/>
                <a:ea typeface="Courier New"/>
                <a:cs typeface="Courier New"/>
                <a:sym typeface="Courier New"/>
              </a:rPr>
              <a:t>$ python scripts/export_onnx.py</a:t>
            </a:r>
            <a:endParaRPr b="0" i="0" sz="900" u="none" cap="none" strike="noStrike">
              <a:solidFill>
                <a:schemeClr val="dk1"/>
              </a:solidFill>
              <a:latin typeface="Calibri"/>
              <a:ea typeface="Calibri"/>
              <a:cs typeface="Calibri"/>
              <a:sym typeface="Calibri"/>
            </a:endParaRPr>
          </a:p>
          <a:p>
            <a:pPr indent="0" lvl="0" marL="0" marR="0" rtl="0" algn="l">
              <a:lnSpc>
                <a:spcPct val="130000"/>
              </a:lnSpc>
              <a:spcBef>
                <a:spcPts val="0"/>
              </a:spcBef>
              <a:spcAft>
                <a:spcPts val="0"/>
              </a:spcAft>
              <a:buClr>
                <a:srgbClr val="DCE6F5"/>
              </a:buClr>
              <a:buSzPts val="900"/>
              <a:buFont typeface="Courier New"/>
              <a:buNone/>
            </a:pPr>
            <a:r>
              <a:rPr b="0" i="0" lang="en-US" sz="900" u="none" cap="none" strike="noStrike">
                <a:solidFill>
                  <a:srgbClr val="DCE6F5"/>
                </a:solidFill>
                <a:latin typeface="Courier New"/>
                <a:ea typeface="Courier New"/>
                <a:cs typeface="Courier New"/>
                <a:sym typeface="Courier New"/>
              </a:rPr>
              <a:t>parity OK: max diff=3.1e-05, flips=0/100</a:t>
            </a:r>
            <a:endParaRPr b="0" i="0" sz="900" u="none" cap="none" strike="noStrike">
              <a:solidFill>
                <a:schemeClr val="dk1"/>
              </a:solidFill>
              <a:latin typeface="Calibri"/>
              <a:ea typeface="Calibri"/>
              <a:cs typeface="Calibri"/>
              <a:sym typeface="Calibri"/>
            </a:endParaRPr>
          </a:p>
          <a:p>
            <a:pPr indent="0" lvl="0" marL="0" marR="0" rtl="0" algn="l">
              <a:lnSpc>
                <a:spcPct val="130000"/>
              </a:lnSpc>
              <a:spcBef>
                <a:spcPts val="0"/>
              </a:spcBef>
              <a:spcAft>
                <a:spcPts val="0"/>
              </a:spcAft>
              <a:buClr>
                <a:srgbClr val="DCE6F5"/>
              </a:buClr>
              <a:buSzPts val="900"/>
              <a:buFont typeface="Courier New"/>
              <a:buNone/>
            </a:pPr>
            <a:r>
              <a:rPr b="0" i="0" lang="en-US" sz="900" u="none" cap="none" strike="noStrike">
                <a:solidFill>
                  <a:srgbClr val="DCE6F5"/>
                </a:solidFill>
                <a:latin typeface="Courier New"/>
                <a:ea typeface="Courier New"/>
                <a:cs typeface="Courier New"/>
                <a:sym typeface="Courier New"/>
              </a:rPr>
              <a:t>$ python scripts/bench.py    # INT8 @ 416</a:t>
            </a:r>
            <a:endParaRPr b="0" i="0" sz="900" u="none" cap="none" strike="noStrike">
              <a:solidFill>
                <a:schemeClr val="dk1"/>
              </a:solidFill>
              <a:latin typeface="Calibri"/>
              <a:ea typeface="Calibri"/>
              <a:cs typeface="Calibri"/>
              <a:sym typeface="Calibri"/>
            </a:endParaRPr>
          </a:p>
          <a:p>
            <a:pPr indent="0" lvl="0" marL="0" marR="0" rtl="0" algn="l">
              <a:lnSpc>
                <a:spcPct val="130000"/>
              </a:lnSpc>
              <a:spcBef>
                <a:spcPts val="0"/>
              </a:spcBef>
              <a:spcAft>
                <a:spcPts val="0"/>
              </a:spcAft>
              <a:buClr>
                <a:srgbClr val="DCE6F5"/>
              </a:buClr>
              <a:buSzPts val="900"/>
              <a:buFont typeface="Courier New"/>
              <a:buNone/>
            </a:pPr>
            <a:r>
              <a:rPr b="0" i="0" lang="en-US" sz="900" u="none" cap="none" strike="noStrike">
                <a:solidFill>
                  <a:srgbClr val="DCE6F5"/>
                </a:solidFill>
                <a:latin typeface="Courier New"/>
                <a:ea typeface="Courier New"/>
                <a:cs typeface="Courier New"/>
                <a:sym typeface="Courier New"/>
              </a:rPr>
              <a:t>   pre: p50=  5.8  p95=  7.1  p99=  9.4 ms</a:t>
            </a:r>
            <a:endParaRPr b="0" i="0" sz="900" u="none" cap="none" strike="noStrike">
              <a:solidFill>
                <a:schemeClr val="dk1"/>
              </a:solidFill>
              <a:latin typeface="Calibri"/>
              <a:ea typeface="Calibri"/>
              <a:cs typeface="Calibri"/>
              <a:sym typeface="Calibri"/>
            </a:endParaRPr>
          </a:p>
          <a:p>
            <a:pPr indent="0" lvl="0" marL="0" marR="0" rtl="0" algn="l">
              <a:lnSpc>
                <a:spcPct val="130000"/>
              </a:lnSpc>
              <a:spcBef>
                <a:spcPts val="0"/>
              </a:spcBef>
              <a:spcAft>
                <a:spcPts val="0"/>
              </a:spcAft>
              <a:buClr>
                <a:srgbClr val="DCE6F5"/>
              </a:buClr>
              <a:buSzPts val="900"/>
              <a:buFont typeface="Courier New"/>
              <a:buNone/>
            </a:pPr>
            <a:r>
              <a:rPr b="0" i="0" lang="en-US" sz="900" u="none" cap="none" strike="noStrike">
                <a:solidFill>
                  <a:srgbClr val="DCE6F5"/>
                </a:solidFill>
                <a:latin typeface="Courier New"/>
                <a:ea typeface="Courier New"/>
                <a:cs typeface="Courier New"/>
                <a:sym typeface="Courier New"/>
              </a:rPr>
              <a:t> infer: p50= 11.2  p95= 13.0  p99= 16.8 ms</a:t>
            </a:r>
            <a:endParaRPr b="0" i="0" sz="900" u="none" cap="none" strike="noStrike">
              <a:solidFill>
                <a:schemeClr val="dk1"/>
              </a:solidFill>
              <a:latin typeface="Calibri"/>
              <a:ea typeface="Calibri"/>
              <a:cs typeface="Calibri"/>
              <a:sym typeface="Calibri"/>
            </a:endParaRPr>
          </a:p>
          <a:p>
            <a:pPr indent="0" lvl="0" marL="0" marR="0" rtl="0" algn="l">
              <a:lnSpc>
                <a:spcPct val="130000"/>
              </a:lnSpc>
              <a:spcBef>
                <a:spcPts val="0"/>
              </a:spcBef>
              <a:spcAft>
                <a:spcPts val="0"/>
              </a:spcAft>
              <a:buClr>
                <a:srgbClr val="DCE6F5"/>
              </a:buClr>
              <a:buSzPts val="900"/>
              <a:buFont typeface="Courier New"/>
              <a:buNone/>
            </a:pPr>
            <a:r>
              <a:rPr b="0" i="0" lang="en-US" sz="900" u="none" cap="none" strike="noStrike">
                <a:solidFill>
                  <a:srgbClr val="DCE6F5"/>
                </a:solidFill>
                <a:latin typeface="Courier New"/>
                <a:ea typeface="Courier New"/>
                <a:cs typeface="Courier New"/>
                <a:sym typeface="Courier New"/>
              </a:rPr>
              <a:t>  post: p50=  2.1  p95=  2.9  p99=  3.7 ms</a:t>
            </a:r>
            <a:endParaRPr b="0" i="0" sz="900" u="none" cap="none" strike="noStrike">
              <a:solidFill>
                <a:schemeClr val="dk1"/>
              </a:solidFill>
              <a:latin typeface="Calibri"/>
              <a:ea typeface="Calibri"/>
              <a:cs typeface="Calibri"/>
              <a:sym typeface="Calibri"/>
            </a:endParaRPr>
          </a:p>
          <a:p>
            <a:pPr indent="0" lvl="0" marL="0" marR="0" rtl="0" algn="l">
              <a:lnSpc>
                <a:spcPct val="130000"/>
              </a:lnSpc>
              <a:spcBef>
                <a:spcPts val="0"/>
              </a:spcBef>
              <a:spcAft>
                <a:spcPts val="0"/>
              </a:spcAft>
              <a:buClr>
                <a:srgbClr val="DCE6F5"/>
              </a:buClr>
              <a:buSzPts val="900"/>
              <a:buFont typeface="Courier New"/>
              <a:buNone/>
            </a:pPr>
            <a:r>
              <a:rPr b="0" i="0" lang="en-US" sz="900" u="none" cap="none" strike="noStrike">
                <a:solidFill>
                  <a:srgbClr val="DCE6F5"/>
                </a:solidFill>
                <a:latin typeface="Courier New"/>
                <a:ea typeface="Courier New"/>
                <a:cs typeface="Courier New"/>
                <a:sym typeface="Courier New"/>
              </a:rPr>
              <a:t> TOTAL: p99= 28.9 ms (budget 380 ms e2e)</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1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933" name="Shape 3933"/>
        <p:cNvGrpSpPr/>
        <p:nvPr/>
      </p:nvGrpSpPr>
      <p:grpSpPr>
        <a:xfrm>
          <a:off x="0" y="0"/>
          <a:ext cx="0" cy="0"/>
          <a:chOff x="0" y="0"/>
          <a:chExt cx="0" cy="0"/>
        </a:xfrm>
      </p:grpSpPr>
      <p:sp>
        <p:nvSpPr>
          <p:cNvPr id="3934" name="Google Shape;3934;p140"/>
          <p:cNvSpPr/>
          <p:nvPr/>
        </p:nvSpPr>
        <p:spPr>
          <a:xfrm>
            <a:off x="502920" y="274320"/>
            <a:ext cx="9646920" cy="56692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D2A5C"/>
              </a:buClr>
              <a:buSzPts val="2700"/>
              <a:buFont typeface="Calibri"/>
              <a:buNone/>
            </a:pPr>
            <a:r>
              <a:rPr b="1" i="0" lang="en-US" sz="2700" u="none" cap="none" strike="noStrike">
                <a:solidFill>
                  <a:srgbClr val="1D2A5C"/>
                </a:solidFill>
                <a:latin typeface="Calibri"/>
                <a:ea typeface="Calibri"/>
                <a:cs typeface="Calibri"/>
                <a:sym typeface="Calibri"/>
              </a:rPr>
              <a:t>Lab 7 troubleshooting</a:t>
            </a:r>
            <a:endParaRPr b="0" i="0" sz="2700" u="none" cap="none" strike="noStrike">
              <a:solidFill>
                <a:schemeClr val="dk1"/>
              </a:solidFill>
              <a:latin typeface="Calibri"/>
              <a:ea typeface="Calibri"/>
              <a:cs typeface="Calibri"/>
              <a:sym typeface="Calibri"/>
            </a:endParaRPr>
          </a:p>
        </p:txBody>
      </p:sp>
      <p:sp>
        <p:nvSpPr>
          <p:cNvPr id="3935" name="Google Shape;3935;p140"/>
          <p:cNvSpPr/>
          <p:nvPr/>
        </p:nvSpPr>
        <p:spPr>
          <a:xfrm>
            <a:off x="502920" y="859536"/>
            <a:ext cx="9646920" cy="31089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F6B7A"/>
              </a:buClr>
              <a:buSzPts val="1250"/>
              <a:buFont typeface="Arial"/>
              <a:buNone/>
            </a:pPr>
            <a:r>
              <a:rPr b="0" i="0" lang="en-US" sz="1250" u="none" cap="none" strike="noStrike">
                <a:solidFill>
                  <a:srgbClr val="5F6B7A"/>
                </a:solidFill>
                <a:latin typeface="Arial"/>
                <a:ea typeface="Arial"/>
                <a:cs typeface="Arial"/>
                <a:sym typeface="Arial"/>
              </a:rPr>
              <a:t>استكشاف الأخطاء</a:t>
            </a:r>
            <a:endParaRPr b="0" i="0" sz="1250" u="none" cap="none" strike="noStrike">
              <a:solidFill>
                <a:schemeClr val="dk1"/>
              </a:solidFill>
              <a:latin typeface="Calibri"/>
              <a:ea typeface="Calibri"/>
              <a:cs typeface="Calibri"/>
              <a:sym typeface="Calibri"/>
            </a:endParaRPr>
          </a:p>
        </p:txBody>
      </p:sp>
      <p:pic>
        <p:nvPicPr>
          <p:cNvPr descr="/sessions/blissful-determined-ritchie/build/assets/sdaia_logo.png" id="3936" name="Google Shape;3936;p140"/>
          <p:cNvPicPr preferRelativeResize="0"/>
          <p:nvPr/>
        </p:nvPicPr>
        <p:blipFill rotWithShape="1">
          <a:blip r:embed="rId3">
            <a:alphaModFix/>
          </a:blip>
          <a:srcRect b="0" l="0" r="0" t="0"/>
          <a:stretch/>
        </p:blipFill>
        <p:spPr>
          <a:xfrm>
            <a:off x="10625328" y="310896"/>
            <a:ext cx="1078992" cy="264111"/>
          </a:xfrm>
          <a:prstGeom prst="rect">
            <a:avLst/>
          </a:prstGeom>
          <a:noFill/>
          <a:ln>
            <a:noFill/>
          </a:ln>
        </p:spPr>
      </p:pic>
      <p:sp>
        <p:nvSpPr>
          <p:cNvPr id="3937" name="Google Shape;3937;p140"/>
          <p:cNvSpPr/>
          <p:nvPr/>
        </p:nvSpPr>
        <p:spPr>
          <a:xfrm>
            <a:off x="502920" y="6528816"/>
            <a:ext cx="8686800"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A79D"/>
              </a:buClr>
              <a:buSzPts val="800"/>
              <a:buFont typeface="Calibri"/>
              <a:buNone/>
            </a:pPr>
            <a:r>
              <a:rPr b="1" i="0" lang="en-US" sz="800" u="none" cap="none" strike="noStrike">
                <a:solidFill>
                  <a:srgbClr val="00A79D"/>
                </a:solidFill>
                <a:latin typeface="Calibri"/>
                <a:ea typeface="Calibri"/>
                <a:cs typeface="Calibri"/>
                <a:sym typeface="Calibri"/>
              </a:rPr>
              <a:t>MODULE 7 · LAB   </a:t>
            </a:r>
            <a:r>
              <a:rPr b="0" i="0" lang="en-US" sz="800" u="none" cap="none" strike="noStrike">
                <a:solidFill>
                  <a:srgbClr val="8A96A6"/>
                </a:solidFill>
                <a:latin typeface="Calibri"/>
                <a:ea typeface="Calibri"/>
                <a:cs typeface="Calibri"/>
                <a:sym typeface="Calibri"/>
              </a:rPr>
              <a:t>SDA-AIE-212 · Computer Vision Systems Development</a:t>
            </a:r>
            <a:endParaRPr b="0" i="0" sz="800" u="none" cap="none" strike="noStrike">
              <a:solidFill>
                <a:schemeClr val="dk1"/>
              </a:solidFill>
              <a:latin typeface="Calibri"/>
              <a:ea typeface="Calibri"/>
              <a:cs typeface="Calibri"/>
              <a:sym typeface="Calibri"/>
            </a:endParaRPr>
          </a:p>
        </p:txBody>
      </p:sp>
      <p:sp>
        <p:nvSpPr>
          <p:cNvPr id="3938" name="Google Shape;3938;p140"/>
          <p:cNvSpPr/>
          <p:nvPr/>
        </p:nvSpPr>
        <p:spPr>
          <a:xfrm>
            <a:off x="11292840" y="6528816"/>
            <a:ext cx="411480" cy="219456"/>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8A96A6"/>
              </a:buClr>
              <a:buSzPts val="900"/>
              <a:buFont typeface="Calibri"/>
              <a:buNone/>
            </a:pPr>
            <a:r>
              <a:rPr b="0" i="0" lang="en-US" sz="900" u="none" cap="none" strike="noStrike">
                <a:solidFill>
                  <a:srgbClr val="8A96A6"/>
                </a:solidFill>
                <a:latin typeface="Calibri"/>
                <a:ea typeface="Calibri"/>
                <a:cs typeface="Calibri"/>
                <a:sym typeface="Calibri"/>
              </a:rPr>
              <a:t>140</a:t>
            </a:r>
            <a:endParaRPr b="0" i="0" sz="900" u="none" cap="none" strike="noStrike">
              <a:solidFill>
                <a:schemeClr val="dk1"/>
              </a:solidFill>
              <a:latin typeface="Calibri"/>
              <a:ea typeface="Calibri"/>
              <a:cs typeface="Calibri"/>
              <a:sym typeface="Calibri"/>
            </a:endParaRPr>
          </a:p>
        </p:txBody>
      </p:sp>
      <p:graphicFrame>
        <p:nvGraphicFramePr>
          <p:cNvPr id="3939" name="Google Shape;3939;p140"/>
          <p:cNvGraphicFramePr/>
          <p:nvPr/>
        </p:nvGraphicFramePr>
        <p:xfrm>
          <a:off x="502920" y="1389888"/>
          <a:ext cx="3000000" cy="3000000"/>
        </p:xfrm>
        <a:graphic>
          <a:graphicData uri="http://schemas.openxmlformats.org/drawingml/2006/table">
            <a:tbl>
              <a:tblPr>
                <a:noFill/>
                <a:tableStyleId>{F80342BA-3033-44D6-9F91-622DC7A4C435}</a:tableStyleId>
              </a:tblPr>
              <a:tblGrid>
                <a:gridCol w="3479950"/>
                <a:gridCol w="3419425"/>
                <a:gridCol w="4286475"/>
              </a:tblGrid>
              <a:tr h="713225">
                <a:tc>
                  <a:txBody>
                    <a:bodyPr/>
                    <a:lstStyle/>
                    <a:p>
                      <a:pPr indent="0" lvl="0" marL="0" marR="0" rtl="0" algn="l">
                        <a:spcBef>
                          <a:spcPts val="0"/>
                        </a:spcBef>
                        <a:spcAft>
                          <a:spcPts val="0"/>
                        </a:spcAft>
                        <a:buClr>
                          <a:srgbClr val="FFFFFF"/>
                        </a:buClr>
                        <a:buSzPts val="1150"/>
                        <a:buFont typeface="Calibri"/>
                        <a:buNone/>
                      </a:pPr>
                      <a:r>
                        <a:rPr b="1" lang="en-US" sz="1150" u="none" cap="none" strike="noStrike">
                          <a:solidFill>
                            <a:srgbClr val="FFFFFF"/>
                          </a:solidFill>
                          <a:latin typeface="Calibri"/>
                          <a:ea typeface="Calibri"/>
                          <a:cs typeface="Calibri"/>
                          <a:sym typeface="Calibri"/>
                        </a:rPr>
                        <a:t>Symptom</a:t>
                      </a:r>
                      <a:endParaRPr sz="1150" u="none" cap="none" strike="noStrike">
                        <a:latin typeface="Calibri"/>
                        <a:ea typeface="Calibri"/>
                        <a:cs typeface="Calibri"/>
                        <a:sym typeface="Calibri"/>
                      </a:endParaRPr>
                    </a:p>
                  </a:txBody>
                  <a:tcPr marT="64000" marB="64000" marR="64000" marL="64000" anchor="ctr">
                    <a:lnL cap="flat" cmpd="sng" w="9525">
                      <a:solidFill>
                        <a:srgbClr val="D9E2EA"/>
                      </a:solidFill>
                      <a:prstDash val="solid"/>
                      <a:round/>
                      <a:headEnd len="sm" w="sm" type="none"/>
                      <a:tailEnd len="sm" w="sm" type="none"/>
                    </a:lnL>
                    <a:lnR cap="flat" cmpd="sng" w="9525">
                      <a:solidFill>
                        <a:srgbClr val="D9E2EA"/>
                      </a:solidFill>
                      <a:prstDash val="solid"/>
                      <a:round/>
                      <a:headEnd len="sm" w="sm" type="none"/>
                      <a:tailEnd len="sm" w="sm" type="none"/>
                    </a:lnR>
                    <a:lnT cap="flat" cmpd="sng" w="9525">
                      <a:solidFill>
                        <a:srgbClr val="D9E2EA"/>
                      </a:solidFill>
                      <a:prstDash val="solid"/>
                      <a:round/>
                      <a:headEnd len="sm" w="sm" type="none"/>
                      <a:tailEnd len="sm" w="sm" type="none"/>
                    </a:lnT>
                    <a:lnB cap="flat" cmpd="sng" w="9525">
                      <a:solidFill>
                        <a:srgbClr val="D9E2EA"/>
                      </a:solidFill>
                      <a:prstDash val="solid"/>
                      <a:round/>
                      <a:headEnd len="sm" w="sm" type="none"/>
                      <a:tailEnd len="sm" w="sm" type="none"/>
                    </a:lnB>
                    <a:solidFill>
                      <a:srgbClr val="1D2A5C"/>
                    </a:solidFill>
                  </a:tcPr>
                </a:tc>
                <a:tc>
                  <a:txBody>
                    <a:bodyPr/>
                    <a:lstStyle/>
                    <a:p>
                      <a:pPr indent="0" lvl="0" marL="0" marR="0" rtl="0" algn="l">
                        <a:spcBef>
                          <a:spcPts val="0"/>
                        </a:spcBef>
                        <a:spcAft>
                          <a:spcPts val="0"/>
                        </a:spcAft>
                        <a:buClr>
                          <a:srgbClr val="FFFFFF"/>
                        </a:buClr>
                        <a:buSzPts val="1150"/>
                        <a:buFont typeface="Calibri"/>
                        <a:buNone/>
                      </a:pPr>
                      <a:r>
                        <a:rPr b="1" lang="en-US" sz="1150" u="none" cap="none" strike="noStrike">
                          <a:solidFill>
                            <a:srgbClr val="FFFFFF"/>
                          </a:solidFill>
                          <a:latin typeface="Calibri"/>
                          <a:ea typeface="Calibri"/>
                          <a:cs typeface="Calibri"/>
                          <a:sym typeface="Calibri"/>
                        </a:rPr>
                        <a:t>Cause</a:t>
                      </a:r>
                      <a:endParaRPr sz="1150" u="none" cap="none" strike="noStrike">
                        <a:latin typeface="Calibri"/>
                        <a:ea typeface="Calibri"/>
                        <a:cs typeface="Calibri"/>
                        <a:sym typeface="Calibri"/>
                      </a:endParaRPr>
                    </a:p>
                  </a:txBody>
                  <a:tcPr marT="64000" marB="64000" marR="64000" marL="64000" anchor="ctr">
                    <a:lnL cap="flat" cmpd="sng" w="9525">
                      <a:solidFill>
                        <a:srgbClr val="D9E2EA"/>
                      </a:solidFill>
                      <a:prstDash val="solid"/>
                      <a:round/>
                      <a:headEnd len="sm" w="sm" type="none"/>
                      <a:tailEnd len="sm" w="sm" type="none"/>
                    </a:lnL>
                    <a:lnR cap="flat" cmpd="sng" w="9525">
                      <a:solidFill>
                        <a:srgbClr val="D9E2EA"/>
                      </a:solidFill>
                      <a:prstDash val="solid"/>
                      <a:round/>
                      <a:headEnd len="sm" w="sm" type="none"/>
                      <a:tailEnd len="sm" w="sm" type="none"/>
                    </a:lnR>
                    <a:lnT cap="flat" cmpd="sng" w="9525">
                      <a:solidFill>
                        <a:srgbClr val="D9E2EA"/>
                      </a:solidFill>
                      <a:prstDash val="solid"/>
                      <a:round/>
                      <a:headEnd len="sm" w="sm" type="none"/>
                      <a:tailEnd len="sm" w="sm" type="none"/>
                    </a:lnT>
                    <a:lnB cap="flat" cmpd="sng" w="9525">
                      <a:solidFill>
                        <a:srgbClr val="D9E2EA"/>
                      </a:solidFill>
                      <a:prstDash val="solid"/>
                      <a:round/>
                      <a:headEnd len="sm" w="sm" type="none"/>
                      <a:tailEnd len="sm" w="sm" type="none"/>
                    </a:lnB>
                    <a:solidFill>
                      <a:srgbClr val="1D2A5C"/>
                    </a:solidFill>
                  </a:tcPr>
                </a:tc>
                <a:tc>
                  <a:txBody>
                    <a:bodyPr/>
                    <a:lstStyle/>
                    <a:p>
                      <a:pPr indent="0" lvl="0" marL="0" marR="0" rtl="0" algn="l">
                        <a:spcBef>
                          <a:spcPts val="0"/>
                        </a:spcBef>
                        <a:spcAft>
                          <a:spcPts val="0"/>
                        </a:spcAft>
                        <a:buClr>
                          <a:srgbClr val="FFFFFF"/>
                        </a:buClr>
                        <a:buSzPts val="1150"/>
                        <a:buFont typeface="Calibri"/>
                        <a:buNone/>
                      </a:pPr>
                      <a:r>
                        <a:rPr b="1" lang="en-US" sz="1150" u="none" cap="none" strike="noStrike">
                          <a:solidFill>
                            <a:srgbClr val="FFFFFF"/>
                          </a:solidFill>
                          <a:latin typeface="Calibri"/>
                          <a:ea typeface="Calibri"/>
                          <a:cs typeface="Calibri"/>
                          <a:sym typeface="Calibri"/>
                        </a:rPr>
                        <a:t>Fix</a:t>
                      </a:r>
                      <a:endParaRPr sz="1150" u="none" cap="none" strike="noStrike">
                        <a:latin typeface="Calibri"/>
                        <a:ea typeface="Calibri"/>
                        <a:cs typeface="Calibri"/>
                        <a:sym typeface="Calibri"/>
                      </a:endParaRPr>
                    </a:p>
                  </a:txBody>
                  <a:tcPr marT="64000" marB="64000" marR="64000" marL="64000" anchor="ctr">
                    <a:lnL cap="flat" cmpd="sng" w="9525">
                      <a:solidFill>
                        <a:srgbClr val="D9E2EA"/>
                      </a:solidFill>
                      <a:prstDash val="solid"/>
                      <a:round/>
                      <a:headEnd len="sm" w="sm" type="none"/>
                      <a:tailEnd len="sm" w="sm" type="none"/>
                    </a:lnL>
                    <a:lnR cap="flat" cmpd="sng" w="9525">
                      <a:solidFill>
                        <a:srgbClr val="D9E2EA"/>
                      </a:solidFill>
                      <a:prstDash val="solid"/>
                      <a:round/>
                      <a:headEnd len="sm" w="sm" type="none"/>
                      <a:tailEnd len="sm" w="sm" type="none"/>
                    </a:lnR>
                    <a:lnT cap="flat" cmpd="sng" w="9525">
                      <a:solidFill>
                        <a:srgbClr val="D9E2EA"/>
                      </a:solidFill>
                      <a:prstDash val="solid"/>
                      <a:round/>
                      <a:headEnd len="sm" w="sm" type="none"/>
                      <a:tailEnd len="sm" w="sm" type="none"/>
                    </a:lnT>
                    <a:lnB cap="flat" cmpd="sng" w="9525">
                      <a:solidFill>
                        <a:srgbClr val="D9E2EA"/>
                      </a:solidFill>
                      <a:prstDash val="solid"/>
                      <a:round/>
                      <a:headEnd len="sm" w="sm" type="none"/>
                      <a:tailEnd len="sm" w="sm" type="none"/>
                    </a:lnB>
                    <a:solidFill>
                      <a:srgbClr val="1D2A5C"/>
                    </a:solidFill>
                  </a:tcPr>
                </a:tc>
              </a:tr>
              <a:tr h="713225">
                <a:tc>
                  <a:txBody>
                    <a:bodyPr/>
                    <a:lstStyle/>
                    <a:p>
                      <a:pPr indent="0" lvl="0" marL="0" marR="0" rtl="0" algn="l">
                        <a:spcBef>
                          <a:spcPts val="0"/>
                        </a:spcBef>
                        <a:spcAft>
                          <a:spcPts val="0"/>
                        </a:spcAft>
                        <a:buClr>
                          <a:srgbClr val="1D2A5C"/>
                        </a:buClr>
                        <a:buSzPts val="1150"/>
                        <a:buFont typeface="Calibri"/>
                        <a:buNone/>
                      </a:pPr>
                      <a:r>
                        <a:rPr b="1" lang="en-US" sz="1150" u="none" cap="none" strike="noStrike">
                          <a:solidFill>
                            <a:srgbClr val="1D2A5C"/>
                          </a:solidFill>
                          <a:latin typeface="Calibri"/>
                          <a:ea typeface="Calibri"/>
                          <a:cs typeface="Calibri"/>
                          <a:sym typeface="Calibri"/>
                        </a:rPr>
                        <a:t>Random-pattern decision flips</a:t>
                      </a:r>
                      <a:endParaRPr sz="1150" u="none" cap="none" strike="noStrike">
                        <a:latin typeface="Calibri"/>
                        <a:ea typeface="Calibri"/>
                        <a:cs typeface="Calibri"/>
                        <a:sym typeface="Calibri"/>
                      </a:endParaRPr>
                    </a:p>
                  </a:txBody>
                  <a:tcPr marT="64000" marB="64000" marR="64000" marL="64000" anchor="ctr">
                    <a:lnL cap="flat" cmpd="sng" w="9525">
                      <a:solidFill>
                        <a:srgbClr val="D9E2EA"/>
                      </a:solidFill>
                      <a:prstDash val="solid"/>
                      <a:round/>
                      <a:headEnd len="sm" w="sm" type="none"/>
                      <a:tailEnd len="sm" w="sm" type="none"/>
                    </a:lnL>
                    <a:lnR cap="flat" cmpd="sng" w="9525">
                      <a:solidFill>
                        <a:srgbClr val="D9E2EA"/>
                      </a:solidFill>
                      <a:prstDash val="solid"/>
                      <a:round/>
                      <a:headEnd len="sm" w="sm" type="none"/>
                      <a:tailEnd len="sm" w="sm" type="none"/>
                    </a:lnR>
                    <a:lnT cap="flat" cmpd="sng" w="9525">
                      <a:solidFill>
                        <a:srgbClr val="D9E2EA"/>
                      </a:solidFill>
                      <a:prstDash val="solid"/>
                      <a:round/>
                      <a:headEnd len="sm" w="sm" type="none"/>
                      <a:tailEnd len="sm" w="sm" type="none"/>
                    </a:lnT>
                    <a:lnB cap="flat" cmpd="sng" w="9525">
                      <a:solidFill>
                        <a:srgbClr val="D9E2EA"/>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23293B"/>
                        </a:buClr>
                        <a:buSzPts val="1150"/>
                        <a:buFont typeface="Calibri"/>
                        <a:buNone/>
                      </a:pPr>
                      <a:r>
                        <a:rPr lang="en-US" sz="1150" u="none" cap="none" strike="noStrike">
                          <a:solidFill>
                            <a:srgbClr val="23293B"/>
                          </a:solidFill>
                          <a:latin typeface="Calibri"/>
                          <a:ea typeface="Calibri"/>
                          <a:cs typeface="Calibri"/>
                          <a:sym typeface="Calibri"/>
                        </a:rPr>
                        <a:t>Exported in train mode</a:t>
                      </a:r>
                      <a:endParaRPr sz="1150" u="none" cap="none" strike="noStrike">
                        <a:latin typeface="Calibri"/>
                        <a:ea typeface="Calibri"/>
                        <a:cs typeface="Calibri"/>
                        <a:sym typeface="Calibri"/>
                      </a:endParaRPr>
                    </a:p>
                  </a:txBody>
                  <a:tcPr marT="64000" marB="64000" marR="64000" marL="64000" anchor="ctr">
                    <a:lnL cap="flat" cmpd="sng" w="9525">
                      <a:solidFill>
                        <a:srgbClr val="D9E2EA"/>
                      </a:solidFill>
                      <a:prstDash val="solid"/>
                      <a:round/>
                      <a:headEnd len="sm" w="sm" type="none"/>
                      <a:tailEnd len="sm" w="sm" type="none"/>
                    </a:lnL>
                    <a:lnR cap="flat" cmpd="sng" w="9525">
                      <a:solidFill>
                        <a:srgbClr val="D9E2EA"/>
                      </a:solidFill>
                      <a:prstDash val="solid"/>
                      <a:round/>
                      <a:headEnd len="sm" w="sm" type="none"/>
                      <a:tailEnd len="sm" w="sm" type="none"/>
                    </a:lnR>
                    <a:lnT cap="flat" cmpd="sng" w="9525">
                      <a:solidFill>
                        <a:srgbClr val="D9E2EA"/>
                      </a:solidFill>
                      <a:prstDash val="solid"/>
                      <a:round/>
                      <a:headEnd len="sm" w="sm" type="none"/>
                      <a:tailEnd len="sm" w="sm" type="none"/>
                    </a:lnT>
                    <a:lnB cap="flat" cmpd="sng" w="9525">
                      <a:solidFill>
                        <a:srgbClr val="D9E2EA"/>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23293B"/>
                        </a:buClr>
                        <a:buSzPts val="1150"/>
                        <a:buFont typeface="Calibri"/>
                        <a:buNone/>
                      </a:pPr>
                      <a:r>
                        <a:rPr lang="en-US" sz="1150" u="none" cap="none" strike="noStrike">
                          <a:solidFill>
                            <a:srgbClr val="23293B"/>
                          </a:solidFill>
                          <a:latin typeface="Calibri"/>
                          <a:ea typeface="Calibri"/>
                          <a:cs typeface="Calibri"/>
                          <a:sym typeface="Calibri"/>
                        </a:rPr>
                        <a:t>model.eval() before export (the planted bug)</a:t>
                      </a:r>
                      <a:endParaRPr sz="1150" u="none" cap="none" strike="noStrike">
                        <a:latin typeface="Calibri"/>
                        <a:ea typeface="Calibri"/>
                        <a:cs typeface="Calibri"/>
                        <a:sym typeface="Calibri"/>
                      </a:endParaRPr>
                    </a:p>
                  </a:txBody>
                  <a:tcPr marT="64000" marB="64000" marR="64000" marL="64000" anchor="ctr">
                    <a:lnL cap="flat" cmpd="sng" w="9525">
                      <a:solidFill>
                        <a:srgbClr val="D9E2EA"/>
                      </a:solidFill>
                      <a:prstDash val="solid"/>
                      <a:round/>
                      <a:headEnd len="sm" w="sm" type="none"/>
                      <a:tailEnd len="sm" w="sm" type="none"/>
                    </a:lnL>
                    <a:lnR cap="flat" cmpd="sng" w="9525">
                      <a:solidFill>
                        <a:srgbClr val="D9E2EA"/>
                      </a:solidFill>
                      <a:prstDash val="solid"/>
                      <a:round/>
                      <a:headEnd len="sm" w="sm" type="none"/>
                      <a:tailEnd len="sm" w="sm" type="none"/>
                    </a:lnR>
                    <a:lnT cap="flat" cmpd="sng" w="9525">
                      <a:solidFill>
                        <a:srgbClr val="D9E2EA"/>
                      </a:solidFill>
                      <a:prstDash val="solid"/>
                      <a:round/>
                      <a:headEnd len="sm" w="sm" type="none"/>
                      <a:tailEnd len="sm" w="sm" type="none"/>
                    </a:lnT>
                    <a:lnB cap="flat" cmpd="sng" w="9525">
                      <a:solidFill>
                        <a:srgbClr val="D9E2EA"/>
                      </a:solidFill>
                      <a:prstDash val="solid"/>
                      <a:round/>
                      <a:headEnd len="sm" w="sm" type="none"/>
                      <a:tailEnd len="sm" w="sm" type="none"/>
                    </a:lnB>
                    <a:solidFill>
                      <a:srgbClr val="FFFFFF"/>
                    </a:solidFill>
                  </a:tcPr>
                </a:tc>
              </a:tr>
              <a:tr h="713225">
                <a:tc>
                  <a:txBody>
                    <a:bodyPr/>
                    <a:lstStyle/>
                    <a:p>
                      <a:pPr indent="0" lvl="0" marL="0" marR="0" rtl="0" algn="l">
                        <a:spcBef>
                          <a:spcPts val="0"/>
                        </a:spcBef>
                        <a:spcAft>
                          <a:spcPts val="0"/>
                        </a:spcAft>
                        <a:buClr>
                          <a:srgbClr val="1D2A5C"/>
                        </a:buClr>
                        <a:buSzPts val="1150"/>
                        <a:buFont typeface="Calibri"/>
                        <a:buNone/>
                      </a:pPr>
                      <a:r>
                        <a:rPr b="1" lang="en-US" sz="1150" u="none" cap="none" strike="noStrike">
                          <a:solidFill>
                            <a:srgbClr val="1D2A5C"/>
                          </a:solidFill>
                          <a:latin typeface="Calibri"/>
                          <a:ea typeface="Calibri"/>
                          <a:cs typeface="Calibri"/>
                          <a:sym typeface="Calibri"/>
                        </a:rPr>
                        <a:t>Parity diff ~1e-2, systematic</a:t>
                      </a:r>
                      <a:endParaRPr sz="1150" u="none" cap="none" strike="noStrike">
                        <a:latin typeface="Calibri"/>
                        <a:ea typeface="Calibri"/>
                        <a:cs typeface="Calibri"/>
                        <a:sym typeface="Calibri"/>
                      </a:endParaRPr>
                    </a:p>
                  </a:txBody>
                  <a:tcPr marT="64000" marB="64000" marR="64000" marL="64000" anchor="ctr">
                    <a:lnL cap="flat" cmpd="sng" w="9525">
                      <a:solidFill>
                        <a:srgbClr val="D9E2EA"/>
                      </a:solidFill>
                      <a:prstDash val="solid"/>
                      <a:round/>
                      <a:headEnd len="sm" w="sm" type="none"/>
                      <a:tailEnd len="sm" w="sm" type="none"/>
                    </a:lnL>
                    <a:lnR cap="flat" cmpd="sng" w="9525">
                      <a:solidFill>
                        <a:srgbClr val="D9E2EA"/>
                      </a:solidFill>
                      <a:prstDash val="solid"/>
                      <a:round/>
                      <a:headEnd len="sm" w="sm" type="none"/>
                      <a:tailEnd len="sm" w="sm" type="none"/>
                    </a:lnR>
                    <a:lnT cap="flat" cmpd="sng" w="9525">
                      <a:solidFill>
                        <a:srgbClr val="D9E2EA"/>
                      </a:solidFill>
                      <a:prstDash val="solid"/>
                      <a:round/>
                      <a:headEnd len="sm" w="sm" type="none"/>
                      <a:tailEnd len="sm" w="sm" type="none"/>
                    </a:lnT>
                    <a:lnB cap="flat" cmpd="sng" w="9525">
                      <a:solidFill>
                        <a:srgbClr val="D9E2EA"/>
                      </a:solidFill>
                      <a:prstDash val="solid"/>
                      <a:round/>
                      <a:headEnd len="sm" w="sm" type="none"/>
                      <a:tailEnd len="sm" w="sm" type="none"/>
                    </a:lnB>
                    <a:solidFill>
                      <a:srgbClr val="F2F6F9"/>
                    </a:solidFill>
                  </a:tcPr>
                </a:tc>
                <a:tc>
                  <a:txBody>
                    <a:bodyPr/>
                    <a:lstStyle/>
                    <a:p>
                      <a:pPr indent="0" lvl="0" marL="0" marR="0" rtl="0" algn="l">
                        <a:spcBef>
                          <a:spcPts val="0"/>
                        </a:spcBef>
                        <a:spcAft>
                          <a:spcPts val="0"/>
                        </a:spcAft>
                        <a:buClr>
                          <a:srgbClr val="23293B"/>
                        </a:buClr>
                        <a:buSzPts val="1150"/>
                        <a:buFont typeface="Calibri"/>
                        <a:buNone/>
                      </a:pPr>
                      <a:r>
                        <a:rPr lang="en-US" sz="1150" u="none" cap="none" strike="noStrike">
                          <a:solidFill>
                            <a:srgbClr val="23293B"/>
                          </a:solidFill>
                          <a:latin typeface="Calibri"/>
                          <a:ea typeface="Calibri"/>
                          <a:cs typeface="Calibri"/>
                          <a:sym typeface="Calibri"/>
                        </a:rPr>
                        <a:t>Wrapper preprocessing drift</a:t>
                      </a:r>
                      <a:endParaRPr sz="1150" u="none" cap="none" strike="noStrike">
                        <a:latin typeface="Calibri"/>
                        <a:ea typeface="Calibri"/>
                        <a:cs typeface="Calibri"/>
                        <a:sym typeface="Calibri"/>
                      </a:endParaRPr>
                    </a:p>
                  </a:txBody>
                  <a:tcPr marT="64000" marB="64000" marR="64000" marL="64000" anchor="ctr">
                    <a:lnL cap="flat" cmpd="sng" w="9525">
                      <a:solidFill>
                        <a:srgbClr val="D9E2EA"/>
                      </a:solidFill>
                      <a:prstDash val="solid"/>
                      <a:round/>
                      <a:headEnd len="sm" w="sm" type="none"/>
                      <a:tailEnd len="sm" w="sm" type="none"/>
                    </a:lnL>
                    <a:lnR cap="flat" cmpd="sng" w="9525">
                      <a:solidFill>
                        <a:srgbClr val="D9E2EA"/>
                      </a:solidFill>
                      <a:prstDash val="solid"/>
                      <a:round/>
                      <a:headEnd len="sm" w="sm" type="none"/>
                      <a:tailEnd len="sm" w="sm" type="none"/>
                    </a:lnR>
                    <a:lnT cap="flat" cmpd="sng" w="9525">
                      <a:solidFill>
                        <a:srgbClr val="D9E2EA"/>
                      </a:solidFill>
                      <a:prstDash val="solid"/>
                      <a:round/>
                      <a:headEnd len="sm" w="sm" type="none"/>
                      <a:tailEnd len="sm" w="sm" type="none"/>
                    </a:lnT>
                    <a:lnB cap="flat" cmpd="sng" w="9525">
                      <a:solidFill>
                        <a:srgbClr val="D9E2EA"/>
                      </a:solidFill>
                      <a:prstDash val="solid"/>
                      <a:round/>
                      <a:headEnd len="sm" w="sm" type="none"/>
                      <a:tailEnd len="sm" w="sm" type="none"/>
                    </a:lnB>
                    <a:solidFill>
                      <a:srgbClr val="F2F6F9"/>
                    </a:solidFill>
                  </a:tcPr>
                </a:tc>
                <a:tc>
                  <a:txBody>
                    <a:bodyPr/>
                    <a:lstStyle/>
                    <a:p>
                      <a:pPr indent="0" lvl="0" marL="0" marR="0" rtl="0" algn="l">
                        <a:spcBef>
                          <a:spcPts val="0"/>
                        </a:spcBef>
                        <a:spcAft>
                          <a:spcPts val="0"/>
                        </a:spcAft>
                        <a:buClr>
                          <a:srgbClr val="23293B"/>
                        </a:buClr>
                        <a:buSzPts val="1150"/>
                        <a:buFont typeface="Calibri"/>
                        <a:buNone/>
                      </a:pPr>
                      <a:r>
                        <a:rPr lang="en-US" sz="1150" u="none" cap="none" strike="noStrike">
                          <a:solidFill>
                            <a:srgbClr val="23293B"/>
                          </a:solidFill>
                          <a:latin typeface="Calibri"/>
                          <a:ea typeface="Calibri"/>
                          <a:cs typeface="Calibri"/>
                          <a:sym typeface="Calibri"/>
                        </a:rPr>
                        <a:t>Equivalence-test preprocess_cv2 vs eval_tf()</a:t>
                      </a:r>
                      <a:endParaRPr sz="1150" u="none" cap="none" strike="noStrike">
                        <a:latin typeface="Calibri"/>
                        <a:ea typeface="Calibri"/>
                        <a:cs typeface="Calibri"/>
                        <a:sym typeface="Calibri"/>
                      </a:endParaRPr>
                    </a:p>
                  </a:txBody>
                  <a:tcPr marT="64000" marB="64000" marR="64000" marL="64000" anchor="ctr">
                    <a:lnL cap="flat" cmpd="sng" w="9525">
                      <a:solidFill>
                        <a:srgbClr val="D9E2EA"/>
                      </a:solidFill>
                      <a:prstDash val="solid"/>
                      <a:round/>
                      <a:headEnd len="sm" w="sm" type="none"/>
                      <a:tailEnd len="sm" w="sm" type="none"/>
                    </a:lnL>
                    <a:lnR cap="flat" cmpd="sng" w="9525">
                      <a:solidFill>
                        <a:srgbClr val="D9E2EA"/>
                      </a:solidFill>
                      <a:prstDash val="solid"/>
                      <a:round/>
                      <a:headEnd len="sm" w="sm" type="none"/>
                      <a:tailEnd len="sm" w="sm" type="none"/>
                    </a:lnR>
                    <a:lnT cap="flat" cmpd="sng" w="9525">
                      <a:solidFill>
                        <a:srgbClr val="D9E2EA"/>
                      </a:solidFill>
                      <a:prstDash val="solid"/>
                      <a:round/>
                      <a:headEnd len="sm" w="sm" type="none"/>
                      <a:tailEnd len="sm" w="sm" type="none"/>
                    </a:lnT>
                    <a:lnB cap="flat" cmpd="sng" w="9525">
                      <a:solidFill>
                        <a:srgbClr val="D9E2EA"/>
                      </a:solidFill>
                      <a:prstDash val="solid"/>
                      <a:round/>
                      <a:headEnd len="sm" w="sm" type="none"/>
                      <a:tailEnd len="sm" w="sm" type="none"/>
                    </a:lnB>
                    <a:solidFill>
                      <a:srgbClr val="F2F6F9"/>
                    </a:solidFill>
                  </a:tcPr>
                </a:tc>
              </a:tr>
              <a:tr h="713225">
                <a:tc>
                  <a:txBody>
                    <a:bodyPr/>
                    <a:lstStyle/>
                    <a:p>
                      <a:pPr indent="0" lvl="0" marL="0" marR="0" rtl="0" algn="l">
                        <a:spcBef>
                          <a:spcPts val="0"/>
                        </a:spcBef>
                        <a:spcAft>
                          <a:spcPts val="0"/>
                        </a:spcAft>
                        <a:buClr>
                          <a:srgbClr val="1D2A5C"/>
                        </a:buClr>
                        <a:buSzPts val="1150"/>
                        <a:buFont typeface="Calibri"/>
                        <a:buNone/>
                      </a:pPr>
                      <a:r>
                        <a:rPr b="1" lang="en-US" sz="1150" u="none" cap="none" strike="noStrike">
                          <a:solidFill>
                            <a:srgbClr val="1D2A5C"/>
                          </a:solidFill>
                          <a:latin typeface="Calibri"/>
                          <a:ea typeface="Calibri"/>
                          <a:cs typeface="Calibri"/>
                          <a:sym typeface="Calibri"/>
                        </a:rPr>
                        <a:t>INT8 collapse on one slice</a:t>
                      </a:r>
                      <a:endParaRPr sz="1150" u="none" cap="none" strike="noStrike">
                        <a:latin typeface="Calibri"/>
                        <a:ea typeface="Calibri"/>
                        <a:cs typeface="Calibri"/>
                        <a:sym typeface="Calibri"/>
                      </a:endParaRPr>
                    </a:p>
                  </a:txBody>
                  <a:tcPr marT="64000" marB="64000" marR="64000" marL="64000" anchor="ctr">
                    <a:lnL cap="flat" cmpd="sng" w="9525">
                      <a:solidFill>
                        <a:srgbClr val="D9E2EA"/>
                      </a:solidFill>
                      <a:prstDash val="solid"/>
                      <a:round/>
                      <a:headEnd len="sm" w="sm" type="none"/>
                      <a:tailEnd len="sm" w="sm" type="none"/>
                    </a:lnL>
                    <a:lnR cap="flat" cmpd="sng" w="9525">
                      <a:solidFill>
                        <a:srgbClr val="D9E2EA"/>
                      </a:solidFill>
                      <a:prstDash val="solid"/>
                      <a:round/>
                      <a:headEnd len="sm" w="sm" type="none"/>
                      <a:tailEnd len="sm" w="sm" type="none"/>
                    </a:lnR>
                    <a:lnT cap="flat" cmpd="sng" w="9525">
                      <a:solidFill>
                        <a:srgbClr val="D9E2EA"/>
                      </a:solidFill>
                      <a:prstDash val="solid"/>
                      <a:round/>
                      <a:headEnd len="sm" w="sm" type="none"/>
                      <a:tailEnd len="sm" w="sm" type="none"/>
                    </a:lnT>
                    <a:lnB cap="flat" cmpd="sng" w="9525">
                      <a:solidFill>
                        <a:srgbClr val="D9E2EA"/>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23293B"/>
                        </a:buClr>
                        <a:buSzPts val="1150"/>
                        <a:buFont typeface="Calibri"/>
                        <a:buNone/>
                      </a:pPr>
                      <a:r>
                        <a:rPr lang="en-US" sz="1150" u="none" cap="none" strike="noStrike">
                          <a:solidFill>
                            <a:srgbClr val="23293B"/>
                          </a:solidFill>
                          <a:latin typeface="Calibri"/>
                          <a:ea typeface="Calibri"/>
                          <a:cs typeface="Calibri"/>
                          <a:sym typeface="Calibri"/>
                        </a:rPr>
                        <a:t>Unrepresentative calibration</a:t>
                      </a:r>
                      <a:endParaRPr sz="1150" u="none" cap="none" strike="noStrike">
                        <a:latin typeface="Calibri"/>
                        <a:ea typeface="Calibri"/>
                        <a:cs typeface="Calibri"/>
                        <a:sym typeface="Calibri"/>
                      </a:endParaRPr>
                    </a:p>
                  </a:txBody>
                  <a:tcPr marT="64000" marB="64000" marR="64000" marL="64000" anchor="ctr">
                    <a:lnL cap="flat" cmpd="sng" w="9525">
                      <a:solidFill>
                        <a:srgbClr val="D9E2EA"/>
                      </a:solidFill>
                      <a:prstDash val="solid"/>
                      <a:round/>
                      <a:headEnd len="sm" w="sm" type="none"/>
                      <a:tailEnd len="sm" w="sm" type="none"/>
                    </a:lnL>
                    <a:lnR cap="flat" cmpd="sng" w="9525">
                      <a:solidFill>
                        <a:srgbClr val="D9E2EA"/>
                      </a:solidFill>
                      <a:prstDash val="solid"/>
                      <a:round/>
                      <a:headEnd len="sm" w="sm" type="none"/>
                      <a:tailEnd len="sm" w="sm" type="none"/>
                    </a:lnR>
                    <a:lnT cap="flat" cmpd="sng" w="9525">
                      <a:solidFill>
                        <a:srgbClr val="D9E2EA"/>
                      </a:solidFill>
                      <a:prstDash val="solid"/>
                      <a:round/>
                      <a:headEnd len="sm" w="sm" type="none"/>
                      <a:tailEnd len="sm" w="sm" type="none"/>
                    </a:lnT>
                    <a:lnB cap="flat" cmpd="sng" w="9525">
                      <a:solidFill>
                        <a:srgbClr val="D9E2EA"/>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23293B"/>
                        </a:buClr>
                        <a:buSzPts val="1150"/>
                        <a:buFont typeface="Calibri"/>
                        <a:buNone/>
                      </a:pPr>
                      <a:r>
                        <a:rPr lang="en-US" sz="1150" u="none" cap="none" strike="noStrike">
                          <a:solidFill>
                            <a:srgbClr val="23293B"/>
                          </a:solidFill>
                          <a:latin typeface="Calibri"/>
                          <a:ea typeface="Calibri"/>
                          <a:cs typeface="Calibri"/>
                          <a:sym typeface="Calibri"/>
                        </a:rPr>
                        <a:t>Re-stratify by session / time bucket</a:t>
                      </a:r>
                      <a:endParaRPr sz="1150" u="none" cap="none" strike="noStrike">
                        <a:latin typeface="Calibri"/>
                        <a:ea typeface="Calibri"/>
                        <a:cs typeface="Calibri"/>
                        <a:sym typeface="Calibri"/>
                      </a:endParaRPr>
                    </a:p>
                  </a:txBody>
                  <a:tcPr marT="64000" marB="64000" marR="64000" marL="64000" anchor="ctr">
                    <a:lnL cap="flat" cmpd="sng" w="9525">
                      <a:solidFill>
                        <a:srgbClr val="D9E2EA"/>
                      </a:solidFill>
                      <a:prstDash val="solid"/>
                      <a:round/>
                      <a:headEnd len="sm" w="sm" type="none"/>
                      <a:tailEnd len="sm" w="sm" type="none"/>
                    </a:lnL>
                    <a:lnR cap="flat" cmpd="sng" w="9525">
                      <a:solidFill>
                        <a:srgbClr val="D9E2EA"/>
                      </a:solidFill>
                      <a:prstDash val="solid"/>
                      <a:round/>
                      <a:headEnd len="sm" w="sm" type="none"/>
                      <a:tailEnd len="sm" w="sm" type="none"/>
                    </a:lnR>
                    <a:lnT cap="flat" cmpd="sng" w="9525">
                      <a:solidFill>
                        <a:srgbClr val="D9E2EA"/>
                      </a:solidFill>
                      <a:prstDash val="solid"/>
                      <a:round/>
                      <a:headEnd len="sm" w="sm" type="none"/>
                      <a:tailEnd len="sm" w="sm" type="none"/>
                    </a:lnT>
                    <a:lnB cap="flat" cmpd="sng" w="9525">
                      <a:solidFill>
                        <a:srgbClr val="D9E2EA"/>
                      </a:solidFill>
                      <a:prstDash val="solid"/>
                      <a:round/>
                      <a:headEnd len="sm" w="sm" type="none"/>
                      <a:tailEnd len="sm" w="sm" type="none"/>
                    </a:lnB>
                    <a:solidFill>
                      <a:srgbClr val="FFFFFF"/>
                    </a:solidFill>
                  </a:tcPr>
                </a:tc>
              </a:tr>
              <a:tr h="713225">
                <a:tc>
                  <a:txBody>
                    <a:bodyPr/>
                    <a:lstStyle/>
                    <a:p>
                      <a:pPr indent="0" lvl="0" marL="0" marR="0" rtl="0" algn="l">
                        <a:spcBef>
                          <a:spcPts val="0"/>
                        </a:spcBef>
                        <a:spcAft>
                          <a:spcPts val="0"/>
                        </a:spcAft>
                        <a:buClr>
                          <a:srgbClr val="1D2A5C"/>
                        </a:buClr>
                        <a:buSzPts val="1150"/>
                        <a:buFont typeface="Calibri"/>
                        <a:buNone/>
                      </a:pPr>
                      <a:r>
                        <a:rPr b="1" lang="en-US" sz="1150" u="none" cap="none" strike="noStrike">
                          <a:solidFill>
                            <a:srgbClr val="1D2A5C"/>
                          </a:solidFill>
                          <a:latin typeface="Calibri"/>
                          <a:ea typeface="Calibri"/>
                          <a:cs typeface="Calibri"/>
                          <a:sym typeface="Calibri"/>
                        </a:rPr>
                        <a:t>First bench run 10× slower</a:t>
                      </a:r>
                      <a:endParaRPr sz="1150" u="none" cap="none" strike="noStrike">
                        <a:latin typeface="Calibri"/>
                        <a:ea typeface="Calibri"/>
                        <a:cs typeface="Calibri"/>
                        <a:sym typeface="Calibri"/>
                      </a:endParaRPr>
                    </a:p>
                  </a:txBody>
                  <a:tcPr marT="64000" marB="64000" marR="64000" marL="64000" anchor="ctr">
                    <a:lnL cap="flat" cmpd="sng" w="9525">
                      <a:solidFill>
                        <a:srgbClr val="D9E2EA"/>
                      </a:solidFill>
                      <a:prstDash val="solid"/>
                      <a:round/>
                      <a:headEnd len="sm" w="sm" type="none"/>
                      <a:tailEnd len="sm" w="sm" type="none"/>
                    </a:lnL>
                    <a:lnR cap="flat" cmpd="sng" w="9525">
                      <a:solidFill>
                        <a:srgbClr val="D9E2EA"/>
                      </a:solidFill>
                      <a:prstDash val="solid"/>
                      <a:round/>
                      <a:headEnd len="sm" w="sm" type="none"/>
                      <a:tailEnd len="sm" w="sm" type="none"/>
                    </a:lnR>
                    <a:lnT cap="flat" cmpd="sng" w="9525">
                      <a:solidFill>
                        <a:srgbClr val="D9E2EA"/>
                      </a:solidFill>
                      <a:prstDash val="solid"/>
                      <a:round/>
                      <a:headEnd len="sm" w="sm" type="none"/>
                      <a:tailEnd len="sm" w="sm" type="none"/>
                    </a:lnT>
                    <a:lnB cap="flat" cmpd="sng" w="9525">
                      <a:solidFill>
                        <a:srgbClr val="D9E2EA"/>
                      </a:solidFill>
                      <a:prstDash val="solid"/>
                      <a:round/>
                      <a:headEnd len="sm" w="sm" type="none"/>
                      <a:tailEnd len="sm" w="sm" type="none"/>
                    </a:lnB>
                    <a:solidFill>
                      <a:srgbClr val="F2F6F9"/>
                    </a:solidFill>
                  </a:tcPr>
                </a:tc>
                <a:tc>
                  <a:txBody>
                    <a:bodyPr/>
                    <a:lstStyle/>
                    <a:p>
                      <a:pPr indent="0" lvl="0" marL="0" marR="0" rtl="0" algn="l">
                        <a:spcBef>
                          <a:spcPts val="0"/>
                        </a:spcBef>
                        <a:spcAft>
                          <a:spcPts val="0"/>
                        </a:spcAft>
                        <a:buClr>
                          <a:srgbClr val="23293B"/>
                        </a:buClr>
                        <a:buSzPts val="1150"/>
                        <a:buFont typeface="Calibri"/>
                        <a:buNone/>
                      </a:pPr>
                      <a:r>
                        <a:rPr lang="en-US" sz="1150" u="none" cap="none" strike="noStrike">
                          <a:solidFill>
                            <a:srgbClr val="23293B"/>
                          </a:solidFill>
                          <a:latin typeface="Calibri"/>
                          <a:ea typeface="Calibri"/>
                          <a:cs typeface="Calibri"/>
                          <a:sym typeface="Calibri"/>
                        </a:rPr>
                        <a:t>No warm-up (graph compile)</a:t>
                      </a:r>
                      <a:endParaRPr sz="1150" u="none" cap="none" strike="noStrike">
                        <a:latin typeface="Calibri"/>
                        <a:ea typeface="Calibri"/>
                        <a:cs typeface="Calibri"/>
                        <a:sym typeface="Calibri"/>
                      </a:endParaRPr>
                    </a:p>
                  </a:txBody>
                  <a:tcPr marT="64000" marB="64000" marR="64000" marL="64000" anchor="ctr">
                    <a:lnL cap="flat" cmpd="sng" w="9525">
                      <a:solidFill>
                        <a:srgbClr val="D9E2EA"/>
                      </a:solidFill>
                      <a:prstDash val="solid"/>
                      <a:round/>
                      <a:headEnd len="sm" w="sm" type="none"/>
                      <a:tailEnd len="sm" w="sm" type="none"/>
                    </a:lnL>
                    <a:lnR cap="flat" cmpd="sng" w="9525">
                      <a:solidFill>
                        <a:srgbClr val="D9E2EA"/>
                      </a:solidFill>
                      <a:prstDash val="solid"/>
                      <a:round/>
                      <a:headEnd len="sm" w="sm" type="none"/>
                      <a:tailEnd len="sm" w="sm" type="none"/>
                    </a:lnR>
                    <a:lnT cap="flat" cmpd="sng" w="9525">
                      <a:solidFill>
                        <a:srgbClr val="D9E2EA"/>
                      </a:solidFill>
                      <a:prstDash val="solid"/>
                      <a:round/>
                      <a:headEnd len="sm" w="sm" type="none"/>
                      <a:tailEnd len="sm" w="sm" type="none"/>
                    </a:lnT>
                    <a:lnB cap="flat" cmpd="sng" w="9525">
                      <a:solidFill>
                        <a:srgbClr val="D9E2EA"/>
                      </a:solidFill>
                      <a:prstDash val="solid"/>
                      <a:round/>
                      <a:headEnd len="sm" w="sm" type="none"/>
                      <a:tailEnd len="sm" w="sm" type="none"/>
                    </a:lnB>
                    <a:solidFill>
                      <a:srgbClr val="F2F6F9"/>
                    </a:solidFill>
                  </a:tcPr>
                </a:tc>
                <a:tc>
                  <a:txBody>
                    <a:bodyPr/>
                    <a:lstStyle/>
                    <a:p>
                      <a:pPr indent="0" lvl="0" marL="0" marR="0" rtl="0" algn="l">
                        <a:spcBef>
                          <a:spcPts val="0"/>
                        </a:spcBef>
                        <a:spcAft>
                          <a:spcPts val="0"/>
                        </a:spcAft>
                        <a:buClr>
                          <a:srgbClr val="23293B"/>
                        </a:buClr>
                        <a:buSzPts val="1150"/>
                        <a:buFont typeface="Calibri"/>
                        <a:buNone/>
                      </a:pPr>
                      <a:r>
                        <a:rPr lang="en-US" sz="1150" u="none" cap="none" strike="noStrike">
                          <a:solidFill>
                            <a:srgbClr val="23293B"/>
                          </a:solidFill>
                          <a:latin typeface="Calibri"/>
                          <a:ea typeface="Calibri"/>
                          <a:cs typeface="Calibri"/>
                          <a:sym typeface="Calibri"/>
                        </a:rPr>
                        <a:t>Discard ≥ 20 warm-up runs</a:t>
                      </a:r>
                      <a:endParaRPr sz="1150" u="none" cap="none" strike="noStrike">
                        <a:latin typeface="Calibri"/>
                        <a:ea typeface="Calibri"/>
                        <a:cs typeface="Calibri"/>
                        <a:sym typeface="Calibri"/>
                      </a:endParaRPr>
                    </a:p>
                  </a:txBody>
                  <a:tcPr marT="64000" marB="64000" marR="64000" marL="64000" anchor="ctr">
                    <a:lnL cap="flat" cmpd="sng" w="9525">
                      <a:solidFill>
                        <a:srgbClr val="D9E2EA"/>
                      </a:solidFill>
                      <a:prstDash val="solid"/>
                      <a:round/>
                      <a:headEnd len="sm" w="sm" type="none"/>
                      <a:tailEnd len="sm" w="sm" type="none"/>
                    </a:lnL>
                    <a:lnR cap="flat" cmpd="sng" w="9525">
                      <a:solidFill>
                        <a:srgbClr val="D9E2EA"/>
                      </a:solidFill>
                      <a:prstDash val="solid"/>
                      <a:round/>
                      <a:headEnd len="sm" w="sm" type="none"/>
                      <a:tailEnd len="sm" w="sm" type="none"/>
                    </a:lnR>
                    <a:lnT cap="flat" cmpd="sng" w="9525">
                      <a:solidFill>
                        <a:srgbClr val="D9E2EA"/>
                      </a:solidFill>
                      <a:prstDash val="solid"/>
                      <a:round/>
                      <a:headEnd len="sm" w="sm" type="none"/>
                      <a:tailEnd len="sm" w="sm" type="none"/>
                    </a:lnT>
                    <a:lnB cap="flat" cmpd="sng" w="9525">
                      <a:solidFill>
                        <a:srgbClr val="D9E2EA"/>
                      </a:solidFill>
                      <a:prstDash val="solid"/>
                      <a:round/>
                      <a:headEnd len="sm" w="sm" type="none"/>
                      <a:tailEnd len="sm" w="sm" type="none"/>
                    </a:lnB>
                    <a:solidFill>
                      <a:srgbClr val="F2F6F9"/>
                    </a:solidFill>
                  </a:tcPr>
                </a:tc>
              </a:tr>
              <a:tr h="713225">
                <a:tc>
                  <a:txBody>
                    <a:bodyPr/>
                    <a:lstStyle/>
                    <a:p>
                      <a:pPr indent="0" lvl="0" marL="0" marR="0" rtl="0" algn="l">
                        <a:spcBef>
                          <a:spcPts val="0"/>
                        </a:spcBef>
                        <a:spcAft>
                          <a:spcPts val="0"/>
                        </a:spcAft>
                        <a:buClr>
                          <a:srgbClr val="1D2A5C"/>
                        </a:buClr>
                        <a:buSzPts val="1150"/>
                        <a:buFont typeface="Calibri"/>
                        <a:buNone/>
                      </a:pPr>
                      <a:r>
                        <a:rPr b="1" lang="en-US" sz="1150" u="none" cap="none" strike="noStrike">
                          <a:solidFill>
                            <a:srgbClr val="1D2A5C"/>
                          </a:solidFill>
                          <a:latin typeface="Calibri"/>
                          <a:ea typeface="Calibri"/>
                          <a:cs typeface="Calibri"/>
                          <a:sym typeface="Calibri"/>
                        </a:rPr>
                        <a:t>OpenVINO EP not found</a:t>
                      </a:r>
                      <a:endParaRPr sz="1150" u="none" cap="none" strike="noStrike">
                        <a:latin typeface="Calibri"/>
                        <a:ea typeface="Calibri"/>
                        <a:cs typeface="Calibri"/>
                        <a:sym typeface="Calibri"/>
                      </a:endParaRPr>
                    </a:p>
                  </a:txBody>
                  <a:tcPr marT="64000" marB="64000" marR="64000" marL="64000" anchor="ctr">
                    <a:lnL cap="flat" cmpd="sng" w="9525">
                      <a:solidFill>
                        <a:srgbClr val="D9E2EA"/>
                      </a:solidFill>
                      <a:prstDash val="solid"/>
                      <a:round/>
                      <a:headEnd len="sm" w="sm" type="none"/>
                      <a:tailEnd len="sm" w="sm" type="none"/>
                    </a:lnL>
                    <a:lnR cap="flat" cmpd="sng" w="9525">
                      <a:solidFill>
                        <a:srgbClr val="D9E2EA"/>
                      </a:solidFill>
                      <a:prstDash val="solid"/>
                      <a:round/>
                      <a:headEnd len="sm" w="sm" type="none"/>
                      <a:tailEnd len="sm" w="sm" type="none"/>
                    </a:lnR>
                    <a:lnT cap="flat" cmpd="sng" w="9525">
                      <a:solidFill>
                        <a:srgbClr val="D9E2EA"/>
                      </a:solidFill>
                      <a:prstDash val="solid"/>
                      <a:round/>
                      <a:headEnd len="sm" w="sm" type="none"/>
                      <a:tailEnd len="sm" w="sm" type="none"/>
                    </a:lnT>
                    <a:lnB cap="flat" cmpd="sng" w="9525">
                      <a:solidFill>
                        <a:srgbClr val="D9E2EA"/>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23293B"/>
                        </a:buClr>
                        <a:buSzPts val="1150"/>
                        <a:buFont typeface="Calibri"/>
                        <a:buNone/>
                      </a:pPr>
                      <a:r>
                        <a:rPr lang="en-US" sz="1150" u="none" cap="none" strike="noStrike">
                          <a:solidFill>
                            <a:srgbClr val="23293B"/>
                          </a:solidFill>
                          <a:latin typeface="Calibri"/>
                          <a:ea typeface="Calibri"/>
                          <a:cs typeface="Calibri"/>
                          <a:sym typeface="Calibri"/>
                        </a:rPr>
                        <a:t>Package variant without it</a:t>
                      </a:r>
                      <a:endParaRPr sz="1150" u="none" cap="none" strike="noStrike">
                        <a:latin typeface="Calibri"/>
                        <a:ea typeface="Calibri"/>
                        <a:cs typeface="Calibri"/>
                        <a:sym typeface="Calibri"/>
                      </a:endParaRPr>
                    </a:p>
                  </a:txBody>
                  <a:tcPr marT="64000" marB="64000" marR="64000" marL="64000" anchor="ctr">
                    <a:lnL cap="flat" cmpd="sng" w="9525">
                      <a:solidFill>
                        <a:srgbClr val="D9E2EA"/>
                      </a:solidFill>
                      <a:prstDash val="solid"/>
                      <a:round/>
                      <a:headEnd len="sm" w="sm" type="none"/>
                      <a:tailEnd len="sm" w="sm" type="none"/>
                    </a:lnL>
                    <a:lnR cap="flat" cmpd="sng" w="9525">
                      <a:solidFill>
                        <a:srgbClr val="D9E2EA"/>
                      </a:solidFill>
                      <a:prstDash val="solid"/>
                      <a:round/>
                      <a:headEnd len="sm" w="sm" type="none"/>
                      <a:tailEnd len="sm" w="sm" type="none"/>
                    </a:lnR>
                    <a:lnT cap="flat" cmpd="sng" w="9525">
                      <a:solidFill>
                        <a:srgbClr val="D9E2EA"/>
                      </a:solidFill>
                      <a:prstDash val="solid"/>
                      <a:round/>
                      <a:headEnd len="sm" w="sm" type="none"/>
                      <a:tailEnd len="sm" w="sm" type="none"/>
                    </a:lnT>
                    <a:lnB cap="flat" cmpd="sng" w="9525">
                      <a:solidFill>
                        <a:srgbClr val="D9E2EA"/>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23293B"/>
                        </a:buClr>
                        <a:buSzPts val="1150"/>
                        <a:buFont typeface="Calibri"/>
                        <a:buNone/>
                      </a:pPr>
                      <a:r>
                        <a:rPr lang="en-US" sz="1150" u="none" cap="none" strike="noStrike">
                          <a:solidFill>
                            <a:srgbClr val="23293B"/>
                          </a:solidFill>
                          <a:latin typeface="Calibri"/>
                          <a:ea typeface="Calibri"/>
                          <a:cs typeface="Calibri"/>
                          <a:sym typeface="Calibri"/>
                        </a:rPr>
                        <a:t>CPUExecutionProvider; note EP in the table</a:t>
                      </a:r>
                      <a:endParaRPr sz="1150" u="none" cap="none" strike="noStrike">
                        <a:latin typeface="Calibri"/>
                        <a:ea typeface="Calibri"/>
                        <a:cs typeface="Calibri"/>
                        <a:sym typeface="Calibri"/>
                      </a:endParaRPr>
                    </a:p>
                  </a:txBody>
                  <a:tcPr marT="64000" marB="64000" marR="64000" marL="64000" anchor="ctr">
                    <a:lnL cap="flat" cmpd="sng" w="9525">
                      <a:solidFill>
                        <a:srgbClr val="D9E2EA"/>
                      </a:solidFill>
                      <a:prstDash val="solid"/>
                      <a:round/>
                      <a:headEnd len="sm" w="sm" type="none"/>
                      <a:tailEnd len="sm" w="sm" type="none"/>
                    </a:lnL>
                    <a:lnR cap="flat" cmpd="sng" w="9525">
                      <a:solidFill>
                        <a:srgbClr val="D9E2EA"/>
                      </a:solidFill>
                      <a:prstDash val="solid"/>
                      <a:round/>
                      <a:headEnd len="sm" w="sm" type="none"/>
                      <a:tailEnd len="sm" w="sm" type="none"/>
                    </a:lnR>
                    <a:lnT cap="flat" cmpd="sng" w="9525">
                      <a:solidFill>
                        <a:srgbClr val="D9E2EA"/>
                      </a:solidFill>
                      <a:prstDash val="solid"/>
                      <a:round/>
                      <a:headEnd len="sm" w="sm" type="none"/>
                      <a:tailEnd len="sm" w="sm" type="none"/>
                    </a:lnT>
                    <a:lnB cap="flat" cmpd="sng" w="9525">
                      <a:solidFill>
                        <a:srgbClr val="D9E2EA"/>
                      </a:solidFill>
                      <a:prstDash val="solid"/>
                      <a:round/>
                      <a:headEnd len="sm" w="sm" type="none"/>
                      <a:tailEnd len="sm" w="sm" type="none"/>
                    </a:lnB>
                    <a:solidFill>
                      <a:srgbClr val="FFFFFF"/>
                    </a:solidFill>
                  </a:tcPr>
                </a:tc>
              </a:tr>
            </a:tbl>
          </a:graphicData>
        </a:graphic>
      </p:graphicFrame>
    </p:spTree>
  </p:cSld>
  <p:clrMapOvr>
    <a:masterClrMapping/>
  </p:clrMapOvr>
</p:sld>
</file>

<file path=ppt/slides/slide1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944" name="Shape 3944"/>
        <p:cNvGrpSpPr/>
        <p:nvPr/>
      </p:nvGrpSpPr>
      <p:grpSpPr>
        <a:xfrm>
          <a:off x="0" y="0"/>
          <a:ext cx="0" cy="0"/>
          <a:chOff x="0" y="0"/>
          <a:chExt cx="0" cy="0"/>
        </a:xfrm>
      </p:grpSpPr>
      <p:sp>
        <p:nvSpPr>
          <p:cNvPr id="3945" name="Google Shape;3945;p141"/>
          <p:cNvSpPr/>
          <p:nvPr/>
        </p:nvSpPr>
        <p:spPr>
          <a:xfrm>
            <a:off x="502920" y="274320"/>
            <a:ext cx="9646920" cy="56692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D2A5C"/>
              </a:buClr>
              <a:buSzPts val="2700"/>
              <a:buFont typeface="Calibri"/>
              <a:buNone/>
            </a:pPr>
            <a:r>
              <a:rPr b="1" i="0" lang="en-US" sz="2700" u="none" cap="none" strike="noStrike">
                <a:solidFill>
                  <a:srgbClr val="1D2A5C"/>
                </a:solidFill>
                <a:latin typeface="Calibri"/>
                <a:ea typeface="Calibri"/>
                <a:cs typeface="Calibri"/>
                <a:sym typeface="Calibri"/>
              </a:rPr>
              <a:t>Module 7 — Check your understanding</a:t>
            </a:r>
            <a:endParaRPr b="0" i="0" sz="2700" u="none" cap="none" strike="noStrike">
              <a:solidFill>
                <a:schemeClr val="dk1"/>
              </a:solidFill>
              <a:latin typeface="Calibri"/>
              <a:ea typeface="Calibri"/>
              <a:cs typeface="Calibri"/>
              <a:sym typeface="Calibri"/>
            </a:endParaRPr>
          </a:p>
        </p:txBody>
      </p:sp>
      <p:sp>
        <p:nvSpPr>
          <p:cNvPr id="3946" name="Google Shape;3946;p141"/>
          <p:cNvSpPr/>
          <p:nvPr/>
        </p:nvSpPr>
        <p:spPr>
          <a:xfrm>
            <a:off x="502920" y="859536"/>
            <a:ext cx="9646920" cy="31089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F6B7A"/>
              </a:buClr>
              <a:buSzPts val="1250"/>
              <a:buFont typeface="Arial"/>
              <a:buNone/>
            </a:pPr>
            <a:r>
              <a:rPr b="0" i="0" lang="en-US" sz="1250" u="none" cap="none" strike="noStrike">
                <a:solidFill>
                  <a:srgbClr val="5F6B7A"/>
                </a:solidFill>
                <a:latin typeface="Arial"/>
                <a:ea typeface="Arial"/>
                <a:cs typeface="Arial"/>
                <a:sym typeface="Arial"/>
              </a:rPr>
              <a:t>اختبار قصير</a:t>
            </a:r>
            <a:endParaRPr b="0" i="0" sz="1250" u="none" cap="none" strike="noStrike">
              <a:solidFill>
                <a:schemeClr val="dk1"/>
              </a:solidFill>
              <a:latin typeface="Calibri"/>
              <a:ea typeface="Calibri"/>
              <a:cs typeface="Calibri"/>
              <a:sym typeface="Calibri"/>
            </a:endParaRPr>
          </a:p>
        </p:txBody>
      </p:sp>
      <p:pic>
        <p:nvPicPr>
          <p:cNvPr descr="/sessions/blissful-determined-ritchie/build/assets/sdaia_logo.png" id="3947" name="Google Shape;3947;p141"/>
          <p:cNvPicPr preferRelativeResize="0"/>
          <p:nvPr/>
        </p:nvPicPr>
        <p:blipFill rotWithShape="1">
          <a:blip r:embed="rId3">
            <a:alphaModFix/>
          </a:blip>
          <a:srcRect b="0" l="0" r="0" t="0"/>
          <a:stretch/>
        </p:blipFill>
        <p:spPr>
          <a:xfrm>
            <a:off x="10625328" y="310896"/>
            <a:ext cx="1078992" cy="264111"/>
          </a:xfrm>
          <a:prstGeom prst="rect">
            <a:avLst/>
          </a:prstGeom>
          <a:noFill/>
          <a:ln>
            <a:noFill/>
          </a:ln>
        </p:spPr>
      </p:pic>
      <p:sp>
        <p:nvSpPr>
          <p:cNvPr id="3948" name="Google Shape;3948;p141"/>
          <p:cNvSpPr/>
          <p:nvPr/>
        </p:nvSpPr>
        <p:spPr>
          <a:xfrm>
            <a:off x="502920" y="6528816"/>
            <a:ext cx="8686800"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A79D"/>
              </a:buClr>
              <a:buSzPts val="800"/>
              <a:buFont typeface="Calibri"/>
              <a:buNone/>
            </a:pPr>
            <a:r>
              <a:rPr b="1" i="0" lang="en-US" sz="800" u="none" cap="none" strike="noStrike">
                <a:solidFill>
                  <a:srgbClr val="00A79D"/>
                </a:solidFill>
                <a:latin typeface="Calibri"/>
                <a:ea typeface="Calibri"/>
                <a:cs typeface="Calibri"/>
                <a:sym typeface="Calibri"/>
              </a:rPr>
              <a:t>MODULE 7 · QUIZ   </a:t>
            </a:r>
            <a:r>
              <a:rPr b="0" i="0" lang="en-US" sz="800" u="none" cap="none" strike="noStrike">
                <a:solidFill>
                  <a:srgbClr val="8A96A6"/>
                </a:solidFill>
                <a:latin typeface="Calibri"/>
                <a:ea typeface="Calibri"/>
                <a:cs typeface="Calibri"/>
                <a:sym typeface="Calibri"/>
              </a:rPr>
              <a:t>SDA-AIE-212 · Computer Vision Systems Development</a:t>
            </a:r>
            <a:endParaRPr b="0" i="0" sz="800" u="none" cap="none" strike="noStrike">
              <a:solidFill>
                <a:schemeClr val="dk1"/>
              </a:solidFill>
              <a:latin typeface="Calibri"/>
              <a:ea typeface="Calibri"/>
              <a:cs typeface="Calibri"/>
              <a:sym typeface="Calibri"/>
            </a:endParaRPr>
          </a:p>
        </p:txBody>
      </p:sp>
      <p:sp>
        <p:nvSpPr>
          <p:cNvPr id="3949" name="Google Shape;3949;p141"/>
          <p:cNvSpPr/>
          <p:nvPr/>
        </p:nvSpPr>
        <p:spPr>
          <a:xfrm>
            <a:off x="11292840" y="6528816"/>
            <a:ext cx="411480" cy="219456"/>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8A96A6"/>
              </a:buClr>
              <a:buSzPts val="900"/>
              <a:buFont typeface="Calibri"/>
              <a:buNone/>
            </a:pPr>
            <a:r>
              <a:rPr b="0" i="0" lang="en-US" sz="900" u="none" cap="none" strike="noStrike">
                <a:solidFill>
                  <a:srgbClr val="8A96A6"/>
                </a:solidFill>
                <a:latin typeface="Calibri"/>
                <a:ea typeface="Calibri"/>
                <a:cs typeface="Calibri"/>
                <a:sym typeface="Calibri"/>
              </a:rPr>
              <a:t>141</a:t>
            </a:r>
            <a:endParaRPr b="0" i="0" sz="900" u="none" cap="none" strike="noStrike">
              <a:solidFill>
                <a:schemeClr val="dk1"/>
              </a:solidFill>
              <a:latin typeface="Calibri"/>
              <a:ea typeface="Calibri"/>
              <a:cs typeface="Calibri"/>
              <a:sym typeface="Calibri"/>
            </a:endParaRPr>
          </a:p>
        </p:txBody>
      </p:sp>
      <p:sp>
        <p:nvSpPr>
          <p:cNvPr id="3950" name="Google Shape;3950;p141"/>
          <p:cNvSpPr/>
          <p:nvPr/>
        </p:nvSpPr>
        <p:spPr>
          <a:xfrm>
            <a:off x="502920" y="1417320"/>
            <a:ext cx="11183112" cy="801014"/>
          </a:xfrm>
          <a:prstGeom prst="roundRect">
            <a:avLst>
              <a:gd fmla="val 9132" name="adj"/>
            </a:avLst>
          </a:prstGeom>
          <a:solidFill>
            <a:srgbClr val="F2F6F9"/>
          </a:solidFill>
          <a:ln cap="flat" cmpd="sng" w="9525">
            <a:solidFill>
              <a:srgbClr val="D9E2E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51" name="Google Shape;3951;p141"/>
          <p:cNvSpPr/>
          <p:nvPr/>
        </p:nvSpPr>
        <p:spPr>
          <a:xfrm>
            <a:off x="649224" y="1644091"/>
            <a:ext cx="347472" cy="347472"/>
          </a:xfrm>
          <a:prstGeom prst="ellipse">
            <a:avLst/>
          </a:prstGeom>
          <a:solidFill>
            <a:srgbClr val="F5822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52" name="Google Shape;3952;p141"/>
          <p:cNvSpPr/>
          <p:nvPr/>
        </p:nvSpPr>
        <p:spPr>
          <a:xfrm>
            <a:off x="649224" y="1644091"/>
            <a:ext cx="347472" cy="34747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050"/>
              <a:buFont typeface="Calibri"/>
              <a:buNone/>
            </a:pPr>
            <a:r>
              <a:rPr b="1" i="0" lang="en-US" sz="1050" u="none" cap="none" strike="noStrike">
                <a:solidFill>
                  <a:srgbClr val="FFFFFF"/>
                </a:solidFill>
                <a:latin typeface="Calibri"/>
                <a:ea typeface="Calibri"/>
                <a:cs typeface="Calibri"/>
                <a:sym typeface="Calibri"/>
              </a:rPr>
              <a:t>Q1</a:t>
            </a:r>
            <a:endParaRPr b="0" i="0" sz="1050" u="none" cap="none" strike="noStrike">
              <a:solidFill>
                <a:schemeClr val="dk1"/>
              </a:solidFill>
              <a:latin typeface="Calibri"/>
              <a:ea typeface="Calibri"/>
              <a:cs typeface="Calibri"/>
              <a:sym typeface="Calibri"/>
            </a:endParaRPr>
          </a:p>
        </p:txBody>
      </p:sp>
      <p:sp>
        <p:nvSpPr>
          <p:cNvPr id="3953" name="Google Shape;3953;p141"/>
          <p:cNvSpPr/>
          <p:nvPr/>
        </p:nvSpPr>
        <p:spPr>
          <a:xfrm>
            <a:off x="1161288" y="1417320"/>
            <a:ext cx="10332720" cy="80101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3293B"/>
              </a:buClr>
              <a:buSzPts val="1250"/>
              <a:buFont typeface="Calibri"/>
              <a:buNone/>
            </a:pPr>
            <a:r>
              <a:rPr b="0" i="0" lang="en-US" sz="1250" u="none" cap="none" strike="noStrike">
                <a:solidFill>
                  <a:srgbClr val="23293B"/>
                </a:solidFill>
                <a:latin typeface="Calibri"/>
                <a:ea typeface="Calibri"/>
                <a:cs typeface="Calibri"/>
                <a:sym typeface="Calibri"/>
              </a:rPr>
              <a:t>What two artefact-level tests must pass before an ONNX export is 'done'?</a:t>
            </a:r>
            <a:endParaRPr b="0" i="0" sz="1250" u="none" cap="none" strike="noStrike">
              <a:solidFill>
                <a:schemeClr val="dk1"/>
              </a:solidFill>
              <a:latin typeface="Calibri"/>
              <a:ea typeface="Calibri"/>
              <a:cs typeface="Calibri"/>
              <a:sym typeface="Calibri"/>
            </a:endParaRPr>
          </a:p>
        </p:txBody>
      </p:sp>
      <p:sp>
        <p:nvSpPr>
          <p:cNvPr id="3954" name="Google Shape;3954;p141"/>
          <p:cNvSpPr/>
          <p:nvPr/>
        </p:nvSpPr>
        <p:spPr>
          <a:xfrm>
            <a:off x="502920" y="2346350"/>
            <a:ext cx="11183112" cy="801014"/>
          </a:xfrm>
          <a:prstGeom prst="roundRect">
            <a:avLst>
              <a:gd fmla="val 9132" name="adj"/>
            </a:avLst>
          </a:prstGeom>
          <a:solidFill>
            <a:srgbClr val="F2F6F9"/>
          </a:solidFill>
          <a:ln cap="flat" cmpd="sng" w="9525">
            <a:solidFill>
              <a:srgbClr val="D9E2E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55" name="Google Shape;3955;p141"/>
          <p:cNvSpPr/>
          <p:nvPr/>
        </p:nvSpPr>
        <p:spPr>
          <a:xfrm>
            <a:off x="649224" y="2573122"/>
            <a:ext cx="347472" cy="347472"/>
          </a:xfrm>
          <a:prstGeom prst="ellipse">
            <a:avLst/>
          </a:prstGeom>
          <a:solidFill>
            <a:srgbClr val="F5822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56" name="Google Shape;3956;p141"/>
          <p:cNvSpPr/>
          <p:nvPr/>
        </p:nvSpPr>
        <p:spPr>
          <a:xfrm>
            <a:off x="649224" y="2573122"/>
            <a:ext cx="347472" cy="34747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050"/>
              <a:buFont typeface="Calibri"/>
              <a:buNone/>
            </a:pPr>
            <a:r>
              <a:rPr b="1" i="0" lang="en-US" sz="1050" u="none" cap="none" strike="noStrike">
                <a:solidFill>
                  <a:srgbClr val="FFFFFF"/>
                </a:solidFill>
                <a:latin typeface="Calibri"/>
                <a:ea typeface="Calibri"/>
                <a:cs typeface="Calibri"/>
                <a:sym typeface="Calibri"/>
              </a:rPr>
              <a:t>Q2</a:t>
            </a:r>
            <a:endParaRPr b="0" i="0" sz="1050" u="none" cap="none" strike="noStrike">
              <a:solidFill>
                <a:schemeClr val="dk1"/>
              </a:solidFill>
              <a:latin typeface="Calibri"/>
              <a:ea typeface="Calibri"/>
              <a:cs typeface="Calibri"/>
              <a:sym typeface="Calibri"/>
            </a:endParaRPr>
          </a:p>
        </p:txBody>
      </p:sp>
      <p:sp>
        <p:nvSpPr>
          <p:cNvPr id="3957" name="Google Shape;3957;p141"/>
          <p:cNvSpPr/>
          <p:nvPr/>
        </p:nvSpPr>
        <p:spPr>
          <a:xfrm>
            <a:off x="1161288" y="2346350"/>
            <a:ext cx="10332720" cy="80101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3293B"/>
              </a:buClr>
              <a:buSzPts val="1250"/>
              <a:buFont typeface="Calibri"/>
              <a:buNone/>
            </a:pPr>
            <a:r>
              <a:rPr b="0" i="0" lang="en-US" sz="1250" u="none" cap="none" strike="noStrike">
                <a:solidFill>
                  <a:srgbClr val="23293B"/>
                </a:solidFill>
                <a:latin typeface="Calibri"/>
                <a:ea typeface="Calibri"/>
                <a:cs typeface="Calibri"/>
                <a:sym typeface="Calibri"/>
              </a:rPr>
              <a:t>Static vs dynamic quantisation — what does static add, and what does it therefore need?</a:t>
            </a:r>
            <a:endParaRPr b="0" i="0" sz="1250" u="none" cap="none" strike="noStrike">
              <a:solidFill>
                <a:schemeClr val="dk1"/>
              </a:solidFill>
              <a:latin typeface="Calibri"/>
              <a:ea typeface="Calibri"/>
              <a:cs typeface="Calibri"/>
              <a:sym typeface="Calibri"/>
            </a:endParaRPr>
          </a:p>
        </p:txBody>
      </p:sp>
      <p:sp>
        <p:nvSpPr>
          <p:cNvPr id="3958" name="Google Shape;3958;p141"/>
          <p:cNvSpPr/>
          <p:nvPr/>
        </p:nvSpPr>
        <p:spPr>
          <a:xfrm>
            <a:off x="502920" y="3275381"/>
            <a:ext cx="11183112" cy="801014"/>
          </a:xfrm>
          <a:prstGeom prst="roundRect">
            <a:avLst>
              <a:gd fmla="val 9132" name="adj"/>
            </a:avLst>
          </a:prstGeom>
          <a:solidFill>
            <a:srgbClr val="F2F6F9"/>
          </a:solidFill>
          <a:ln cap="flat" cmpd="sng" w="9525">
            <a:solidFill>
              <a:srgbClr val="D9E2E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59" name="Google Shape;3959;p141"/>
          <p:cNvSpPr/>
          <p:nvPr/>
        </p:nvSpPr>
        <p:spPr>
          <a:xfrm>
            <a:off x="649224" y="3502152"/>
            <a:ext cx="347472" cy="347472"/>
          </a:xfrm>
          <a:prstGeom prst="ellipse">
            <a:avLst/>
          </a:prstGeom>
          <a:solidFill>
            <a:srgbClr val="F5822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60" name="Google Shape;3960;p141"/>
          <p:cNvSpPr/>
          <p:nvPr/>
        </p:nvSpPr>
        <p:spPr>
          <a:xfrm>
            <a:off x="649224" y="3502152"/>
            <a:ext cx="347472" cy="34747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050"/>
              <a:buFont typeface="Calibri"/>
              <a:buNone/>
            </a:pPr>
            <a:r>
              <a:rPr b="1" i="0" lang="en-US" sz="1050" u="none" cap="none" strike="noStrike">
                <a:solidFill>
                  <a:srgbClr val="FFFFFF"/>
                </a:solidFill>
                <a:latin typeface="Calibri"/>
                <a:ea typeface="Calibri"/>
                <a:cs typeface="Calibri"/>
                <a:sym typeface="Calibri"/>
              </a:rPr>
              <a:t>Q3</a:t>
            </a:r>
            <a:endParaRPr b="0" i="0" sz="1050" u="none" cap="none" strike="noStrike">
              <a:solidFill>
                <a:schemeClr val="dk1"/>
              </a:solidFill>
              <a:latin typeface="Calibri"/>
              <a:ea typeface="Calibri"/>
              <a:cs typeface="Calibri"/>
              <a:sym typeface="Calibri"/>
            </a:endParaRPr>
          </a:p>
        </p:txBody>
      </p:sp>
      <p:sp>
        <p:nvSpPr>
          <p:cNvPr id="3961" name="Google Shape;3961;p141"/>
          <p:cNvSpPr/>
          <p:nvPr/>
        </p:nvSpPr>
        <p:spPr>
          <a:xfrm>
            <a:off x="1161288" y="3275381"/>
            <a:ext cx="10332720" cy="80101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3293B"/>
              </a:buClr>
              <a:buSzPts val="1250"/>
              <a:buFont typeface="Calibri"/>
              <a:buNone/>
            </a:pPr>
            <a:r>
              <a:rPr b="0" i="0" lang="en-US" sz="1250" u="none" cap="none" strike="noStrike">
                <a:solidFill>
                  <a:srgbClr val="23293B"/>
                </a:solidFill>
                <a:latin typeface="Calibri"/>
                <a:ea typeface="Calibri"/>
                <a:cs typeface="Calibri"/>
                <a:sym typeface="Calibri"/>
              </a:rPr>
              <a:t>Why report p99 rather than mean latency for the eject gate?</a:t>
            </a:r>
            <a:endParaRPr b="0" i="0" sz="1250" u="none" cap="none" strike="noStrike">
              <a:solidFill>
                <a:schemeClr val="dk1"/>
              </a:solidFill>
              <a:latin typeface="Calibri"/>
              <a:ea typeface="Calibri"/>
              <a:cs typeface="Calibri"/>
              <a:sym typeface="Calibri"/>
            </a:endParaRPr>
          </a:p>
        </p:txBody>
      </p:sp>
      <p:sp>
        <p:nvSpPr>
          <p:cNvPr id="3962" name="Google Shape;3962;p141"/>
          <p:cNvSpPr/>
          <p:nvPr/>
        </p:nvSpPr>
        <p:spPr>
          <a:xfrm>
            <a:off x="502920" y="4204411"/>
            <a:ext cx="11183112" cy="801014"/>
          </a:xfrm>
          <a:prstGeom prst="roundRect">
            <a:avLst>
              <a:gd fmla="val 9132" name="adj"/>
            </a:avLst>
          </a:prstGeom>
          <a:solidFill>
            <a:srgbClr val="F2F6F9"/>
          </a:solidFill>
          <a:ln cap="flat" cmpd="sng" w="9525">
            <a:solidFill>
              <a:srgbClr val="D9E2E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63" name="Google Shape;3963;p141"/>
          <p:cNvSpPr/>
          <p:nvPr/>
        </p:nvSpPr>
        <p:spPr>
          <a:xfrm>
            <a:off x="649224" y="4431182"/>
            <a:ext cx="347472" cy="347472"/>
          </a:xfrm>
          <a:prstGeom prst="ellipse">
            <a:avLst/>
          </a:prstGeom>
          <a:solidFill>
            <a:srgbClr val="F5822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64" name="Google Shape;3964;p141"/>
          <p:cNvSpPr/>
          <p:nvPr/>
        </p:nvSpPr>
        <p:spPr>
          <a:xfrm>
            <a:off x="649224" y="4431182"/>
            <a:ext cx="347472" cy="34747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050"/>
              <a:buFont typeface="Calibri"/>
              <a:buNone/>
            </a:pPr>
            <a:r>
              <a:rPr b="1" i="0" lang="en-US" sz="1050" u="none" cap="none" strike="noStrike">
                <a:solidFill>
                  <a:srgbClr val="FFFFFF"/>
                </a:solidFill>
                <a:latin typeface="Calibri"/>
                <a:ea typeface="Calibri"/>
                <a:cs typeface="Calibri"/>
                <a:sym typeface="Calibri"/>
              </a:rPr>
              <a:t>Q4</a:t>
            </a:r>
            <a:endParaRPr b="0" i="0" sz="1050" u="none" cap="none" strike="noStrike">
              <a:solidFill>
                <a:schemeClr val="dk1"/>
              </a:solidFill>
              <a:latin typeface="Calibri"/>
              <a:ea typeface="Calibri"/>
              <a:cs typeface="Calibri"/>
              <a:sym typeface="Calibri"/>
            </a:endParaRPr>
          </a:p>
        </p:txBody>
      </p:sp>
      <p:sp>
        <p:nvSpPr>
          <p:cNvPr id="3965" name="Google Shape;3965;p141"/>
          <p:cNvSpPr/>
          <p:nvPr/>
        </p:nvSpPr>
        <p:spPr>
          <a:xfrm>
            <a:off x="1161288" y="4204411"/>
            <a:ext cx="10332720" cy="80101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3293B"/>
              </a:buClr>
              <a:buSzPts val="1250"/>
              <a:buFont typeface="Calibri"/>
              <a:buNone/>
            </a:pPr>
            <a:r>
              <a:rPr b="0" i="0" lang="en-US" sz="1250" u="none" cap="none" strike="noStrike">
                <a:solidFill>
                  <a:srgbClr val="23293B"/>
                </a:solidFill>
                <a:latin typeface="Calibri"/>
                <a:ea typeface="Calibri"/>
                <a:cs typeface="Calibri"/>
                <a:sym typeface="Calibri"/>
              </a:rPr>
              <a:t>Why did the course export the detector WITHOUT in-graph NMS?</a:t>
            </a:r>
            <a:endParaRPr b="0" i="0" sz="1250" u="none" cap="none" strike="noStrike">
              <a:solidFill>
                <a:schemeClr val="dk1"/>
              </a:solidFill>
              <a:latin typeface="Calibri"/>
              <a:ea typeface="Calibri"/>
              <a:cs typeface="Calibri"/>
              <a:sym typeface="Calibri"/>
            </a:endParaRPr>
          </a:p>
        </p:txBody>
      </p:sp>
      <p:sp>
        <p:nvSpPr>
          <p:cNvPr id="3966" name="Google Shape;3966;p141"/>
          <p:cNvSpPr/>
          <p:nvPr/>
        </p:nvSpPr>
        <p:spPr>
          <a:xfrm>
            <a:off x="502920" y="5133442"/>
            <a:ext cx="11183112" cy="801014"/>
          </a:xfrm>
          <a:prstGeom prst="roundRect">
            <a:avLst>
              <a:gd fmla="val 9132" name="adj"/>
            </a:avLst>
          </a:prstGeom>
          <a:solidFill>
            <a:srgbClr val="F2F6F9"/>
          </a:solidFill>
          <a:ln cap="flat" cmpd="sng" w="9525">
            <a:solidFill>
              <a:srgbClr val="D9E2E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67" name="Google Shape;3967;p141"/>
          <p:cNvSpPr/>
          <p:nvPr/>
        </p:nvSpPr>
        <p:spPr>
          <a:xfrm>
            <a:off x="649224" y="5360213"/>
            <a:ext cx="347472" cy="347472"/>
          </a:xfrm>
          <a:prstGeom prst="ellipse">
            <a:avLst/>
          </a:prstGeom>
          <a:solidFill>
            <a:srgbClr val="F5822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68" name="Google Shape;3968;p141"/>
          <p:cNvSpPr/>
          <p:nvPr/>
        </p:nvSpPr>
        <p:spPr>
          <a:xfrm>
            <a:off x="649224" y="5360213"/>
            <a:ext cx="347472" cy="34747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050"/>
              <a:buFont typeface="Calibri"/>
              <a:buNone/>
            </a:pPr>
            <a:r>
              <a:rPr b="1" i="0" lang="en-US" sz="1050" u="none" cap="none" strike="noStrike">
                <a:solidFill>
                  <a:srgbClr val="FFFFFF"/>
                </a:solidFill>
                <a:latin typeface="Calibri"/>
                <a:ea typeface="Calibri"/>
                <a:cs typeface="Calibri"/>
                <a:sym typeface="Calibri"/>
              </a:rPr>
              <a:t>Q5</a:t>
            </a:r>
            <a:endParaRPr b="0" i="0" sz="1050" u="none" cap="none" strike="noStrike">
              <a:solidFill>
                <a:schemeClr val="dk1"/>
              </a:solidFill>
              <a:latin typeface="Calibri"/>
              <a:ea typeface="Calibri"/>
              <a:cs typeface="Calibri"/>
              <a:sym typeface="Calibri"/>
            </a:endParaRPr>
          </a:p>
        </p:txBody>
      </p:sp>
      <p:sp>
        <p:nvSpPr>
          <p:cNvPr id="3969" name="Google Shape;3969;p141"/>
          <p:cNvSpPr/>
          <p:nvPr/>
        </p:nvSpPr>
        <p:spPr>
          <a:xfrm>
            <a:off x="1161288" y="5133442"/>
            <a:ext cx="10332720" cy="80101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3293B"/>
              </a:buClr>
              <a:buSzPts val="1250"/>
              <a:buFont typeface="Calibri"/>
              <a:buNone/>
            </a:pPr>
            <a:r>
              <a:rPr b="0" i="0" lang="en-US" sz="1250" u="none" cap="none" strike="noStrike">
                <a:solidFill>
                  <a:srgbClr val="23293B"/>
                </a:solidFill>
                <a:latin typeface="Calibri"/>
                <a:ea typeface="Calibri"/>
                <a:cs typeface="Calibri"/>
                <a:sym typeface="Calibri"/>
              </a:rPr>
              <a:t>True/False: a 2.3× inference speed-up (640→416) yields ~2.3× pipeline speed-up.</a:t>
            </a:r>
            <a:endParaRPr b="0" i="0" sz="1250" u="none" cap="none" strike="noStrike">
              <a:solidFill>
                <a:schemeClr val="dk1"/>
              </a:solidFill>
              <a:latin typeface="Calibri"/>
              <a:ea typeface="Calibri"/>
              <a:cs typeface="Calibri"/>
              <a:sym typeface="Calibri"/>
            </a:endParaRPr>
          </a:p>
        </p:txBody>
      </p:sp>
      <p:sp>
        <p:nvSpPr>
          <p:cNvPr id="3970" name="Google Shape;3970;p141"/>
          <p:cNvSpPr/>
          <p:nvPr/>
        </p:nvSpPr>
        <p:spPr>
          <a:xfrm>
            <a:off x="502920" y="6099048"/>
            <a:ext cx="11183112"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8A96A6"/>
              </a:buClr>
              <a:buSzPts val="1000"/>
              <a:buFont typeface="Calibri"/>
              <a:buNone/>
            </a:pPr>
            <a:r>
              <a:rPr b="0" i="1" lang="en-US" sz="1000" u="none" cap="none" strike="noStrike">
                <a:solidFill>
                  <a:srgbClr val="8A96A6"/>
                </a:solidFill>
                <a:latin typeface="Calibri"/>
                <a:ea typeface="Calibri"/>
                <a:cs typeface="Calibri"/>
                <a:sym typeface="Calibri"/>
              </a:rPr>
              <a:t>Answers and marking guidance: speaker notes below ▼</a:t>
            </a:r>
            <a:endParaRPr b="0" i="0" sz="1000" u="none" cap="none" strike="noStrike">
              <a:solidFill>
                <a:schemeClr val="dk1"/>
              </a:solidFill>
              <a:latin typeface="Calibri"/>
              <a:ea typeface="Calibri"/>
              <a:cs typeface="Calibri"/>
              <a:sym typeface="Calibri"/>
            </a:endParaRPr>
          </a:p>
        </p:txBody>
      </p:sp>
    </p:spTree>
  </p:cSld>
  <p:clrMapOvr>
    <a:masterClrMapping/>
  </p:clrMapOvr>
</p:sld>
</file>

<file path=ppt/slides/slide1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975" name="Shape 3975"/>
        <p:cNvGrpSpPr/>
        <p:nvPr/>
      </p:nvGrpSpPr>
      <p:grpSpPr>
        <a:xfrm>
          <a:off x="0" y="0"/>
          <a:ext cx="0" cy="0"/>
          <a:chOff x="0" y="0"/>
          <a:chExt cx="0" cy="0"/>
        </a:xfrm>
      </p:grpSpPr>
      <p:sp>
        <p:nvSpPr>
          <p:cNvPr id="3976" name="Google Shape;3976;p142"/>
          <p:cNvSpPr/>
          <p:nvPr/>
        </p:nvSpPr>
        <p:spPr>
          <a:xfrm>
            <a:off x="502920" y="274320"/>
            <a:ext cx="9646920" cy="56692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D2A5C"/>
              </a:buClr>
              <a:buSzPts val="2700"/>
              <a:buFont typeface="Calibri"/>
              <a:buNone/>
            </a:pPr>
            <a:r>
              <a:rPr b="1" i="0" lang="en-US" sz="2700" u="none" cap="none" strike="noStrike">
                <a:solidFill>
                  <a:srgbClr val="1D2A5C"/>
                </a:solidFill>
                <a:latin typeface="Calibri"/>
                <a:ea typeface="Calibri"/>
                <a:cs typeface="Calibri"/>
                <a:sym typeface="Calibri"/>
              </a:rPr>
              <a:t>Beyond the lab: debug, review, discuss</a:t>
            </a:r>
            <a:endParaRPr b="0" i="0" sz="2700" u="none" cap="none" strike="noStrike">
              <a:solidFill>
                <a:schemeClr val="dk1"/>
              </a:solidFill>
              <a:latin typeface="Calibri"/>
              <a:ea typeface="Calibri"/>
              <a:cs typeface="Calibri"/>
              <a:sym typeface="Calibri"/>
            </a:endParaRPr>
          </a:p>
        </p:txBody>
      </p:sp>
      <p:sp>
        <p:nvSpPr>
          <p:cNvPr id="3977" name="Google Shape;3977;p142"/>
          <p:cNvSpPr/>
          <p:nvPr/>
        </p:nvSpPr>
        <p:spPr>
          <a:xfrm>
            <a:off x="502920" y="859536"/>
            <a:ext cx="9646920" cy="31089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F6B7A"/>
              </a:buClr>
              <a:buSzPts val="1250"/>
              <a:buFont typeface="Arial"/>
              <a:buNone/>
            </a:pPr>
            <a:r>
              <a:rPr b="0" i="0" lang="en-US" sz="1250" u="none" cap="none" strike="noStrike">
                <a:solidFill>
                  <a:srgbClr val="5F6B7A"/>
                </a:solidFill>
                <a:latin typeface="Arial"/>
                <a:ea typeface="Arial"/>
                <a:cs typeface="Arial"/>
                <a:sym typeface="Arial"/>
              </a:rPr>
              <a:t>تمارين إضافية</a:t>
            </a:r>
            <a:endParaRPr b="0" i="0" sz="1250" u="none" cap="none" strike="noStrike">
              <a:solidFill>
                <a:schemeClr val="dk1"/>
              </a:solidFill>
              <a:latin typeface="Calibri"/>
              <a:ea typeface="Calibri"/>
              <a:cs typeface="Calibri"/>
              <a:sym typeface="Calibri"/>
            </a:endParaRPr>
          </a:p>
        </p:txBody>
      </p:sp>
      <p:pic>
        <p:nvPicPr>
          <p:cNvPr descr="/sessions/blissful-determined-ritchie/build/assets/sdaia_logo.png" id="3978" name="Google Shape;3978;p142"/>
          <p:cNvPicPr preferRelativeResize="0"/>
          <p:nvPr/>
        </p:nvPicPr>
        <p:blipFill rotWithShape="1">
          <a:blip r:embed="rId3">
            <a:alphaModFix/>
          </a:blip>
          <a:srcRect b="0" l="0" r="0" t="0"/>
          <a:stretch/>
        </p:blipFill>
        <p:spPr>
          <a:xfrm>
            <a:off x="10625328" y="310896"/>
            <a:ext cx="1078992" cy="264111"/>
          </a:xfrm>
          <a:prstGeom prst="rect">
            <a:avLst/>
          </a:prstGeom>
          <a:noFill/>
          <a:ln>
            <a:noFill/>
          </a:ln>
        </p:spPr>
      </p:pic>
      <p:sp>
        <p:nvSpPr>
          <p:cNvPr id="3979" name="Google Shape;3979;p142"/>
          <p:cNvSpPr/>
          <p:nvPr/>
        </p:nvSpPr>
        <p:spPr>
          <a:xfrm>
            <a:off x="502920" y="6528816"/>
            <a:ext cx="8686800"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A79D"/>
              </a:buClr>
              <a:buSzPts val="800"/>
              <a:buFont typeface="Calibri"/>
              <a:buNone/>
            </a:pPr>
            <a:r>
              <a:rPr b="1" i="0" lang="en-US" sz="800" u="none" cap="none" strike="noStrike">
                <a:solidFill>
                  <a:srgbClr val="00A79D"/>
                </a:solidFill>
                <a:latin typeface="Calibri"/>
                <a:ea typeface="Calibri"/>
                <a:cs typeface="Calibri"/>
                <a:sym typeface="Calibri"/>
              </a:rPr>
              <a:t>MODULE 7   </a:t>
            </a:r>
            <a:r>
              <a:rPr b="0" i="0" lang="en-US" sz="800" u="none" cap="none" strike="noStrike">
                <a:solidFill>
                  <a:srgbClr val="8A96A6"/>
                </a:solidFill>
                <a:latin typeface="Calibri"/>
                <a:ea typeface="Calibri"/>
                <a:cs typeface="Calibri"/>
                <a:sym typeface="Calibri"/>
              </a:rPr>
              <a:t>SDA-AIE-212 · Computer Vision Systems Development</a:t>
            </a:r>
            <a:endParaRPr b="0" i="0" sz="800" u="none" cap="none" strike="noStrike">
              <a:solidFill>
                <a:schemeClr val="dk1"/>
              </a:solidFill>
              <a:latin typeface="Calibri"/>
              <a:ea typeface="Calibri"/>
              <a:cs typeface="Calibri"/>
              <a:sym typeface="Calibri"/>
            </a:endParaRPr>
          </a:p>
        </p:txBody>
      </p:sp>
      <p:sp>
        <p:nvSpPr>
          <p:cNvPr id="3980" name="Google Shape;3980;p142"/>
          <p:cNvSpPr/>
          <p:nvPr/>
        </p:nvSpPr>
        <p:spPr>
          <a:xfrm>
            <a:off x="11292840" y="6528816"/>
            <a:ext cx="411480" cy="219456"/>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8A96A6"/>
              </a:buClr>
              <a:buSzPts val="900"/>
              <a:buFont typeface="Calibri"/>
              <a:buNone/>
            </a:pPr>
            <a:r>
              <a:rPr b="0" i="0" lang="en-US" sz="900" u="none" cap="none" strike="noStrike">
                <a:solidFill>
                  <a:srgbClr val="8A96A6"/>
                </a:solidFill>
                <a:latin typeface="Calibri"/>
                <a:ea typeface="Calibri"/>
                <a:cs typeface="Calibri"/>
                <a:sym typeface="Calibri"/>
              </a:rPr>
              <a:t>142</a:t>
            </a:r>
            <a:endParaRPr b="0" i="0" sz="900" u="none" cap="none" strike="noStrike">
              <a:solidFill>
                <a:schemeClr val="dk1"/>
              </a:solidFill>
              <a:latin typeface="Calibri"/>
              <a:ea typeface="Calibri"/>
              <a:cs typeface="Calibri"/>
              <a:sym typeface="Calibri"/>
            </a:endParaRPr>
          </a:p>
        </p:txBody>
      </p:sp>
      <p:sp>
        <p:nvSpPr>
          <p:cNvPr id="3981" name="Google Shape;3981;p142"/>
          <p:cNvSpPr/>
          <p:nvPr/>
        </p:nvSpPr>
        <p:spPr>
          <a:xfrm>
            <a:off x="502920" y="1559052"/>
            <a:ext cx="329184" cy="329184"/>
          </a:xfrm>
          <a:prstGeom prst="ellipse">
            <a:avLst/>
          </a:prstGeom>
          <a:solidFill>
            <a:srgbClr val="00A79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82" name="Google Shape;3982;p142"/>
          <p:cNvSpPr/>
          <p:nvPr/>
        </p:nvSpPr>
        <p:spPr>
          <a:xfrm>
            <a:off x="502920" y="1559052"/>
            <a:ext cx="329184" cy="32918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300"/>
              <a:buFont typeface="Calibri"/>
              <a:buNone/>
            </a:pPr>
            <a:r>
              <a:rPr b="1" i="0" lang="en-US" sz="1300" u="none" cap="none" strike="noStrike">
                <a:solidFill>
                  <a:srgbClr val="FFFFFF"/>
                </a:solidFill>
                <a:latin typeface="Calibri"/>
                <a:ea typeface="Calibri"/>
                <a:cs typeface="Calibri"/>
                <a:sym typeface="Calibri"/>
              </a:rPr>
              <a:t>1</a:t>
            </a:r>
            <a:endParaRPr b="0" i="0" sz="1300" u="none" cap="none" strike="noStrike">
              <a:solidFill>
                <a:schemeClr val="dk1"/>
              </a:solidFill>
              <a:latin typeface="Calibri"/>
              <a:ea typeface="Calibri"/>
              <a:cs typeface="Calibri"/>
              <a:sym typeface="Calibri"/>
            </a:endParaRPr>
          </a:p>
        </p:txBody>
      </p:sp>
      <p:sp>
        <p:nvSpPr>
          <p:cNvPr id="3983" name="Google Shape;3983;p142"/>
          <p:cNvSpPr/>
          <p:nvPr/>
        </p:nvSpPr>
        <p:spPr>
          <a:xfrm>
            <a:off x="1005840" y="1495044"/>
            <a:ext cx="10682935"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D2A5C"/>
              </a:buClr>
              <a:buSzPts val="1400"/>
              <a:buFont typeface="Calibri"/>
              <a:buNone/>
            </a:pPr>
            <a:r>
              <a:rPr b="1" i="0" lang="en-US" sz="1400" u="none" cap="none" strike="noStrike">
                <a:solidFill>
                  <a:srgbClr val="1D2A5C"/>
                </a:solidFill>
                <a:latin typeface="Calibri"/>
                <a:ea typeface="Calibri"/>
                <a:cs typeface="Calibri"/>
                <a:sym typeface="Calibri"/>
              </a:rPr>
              <a:t>Debugging — sim-calib-day</a:t>
            </a:r>
            <a:endParaRPr b="0" i="0" sz="1400" u="none" cap="none" strike="noStrike">
              <a:solidFill>
                <a:schemeClr val="dk1"/>
              </a:solidFill>
              <a:latin typeface="Calibri"/>
              <a:ea typeface="Calibri"/>
              <a:cs typeface="Calibri"/>
              <a:sym typeface="Calibri"/>
            </a:endParaRPr>
          </a:p>
        </p:txBody>
      </p:sp>
      <p:sp>
        <p:nvSpPr>
          <p:cNvPr id="3984" name="Google Shape;3984;p142"/>
          <p:cNvSpPr/>
          <p:nvPr/>
        </p:nvSpPr>
        <p:spPr>
          <a:xfrm>
            <a:off x="1005840" y="1796796"/>
            <a:ext cx="10682935" cy="841248"/>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5F6B7A"/>
              </a:buClr>
              <a:buSzPts val="1150"/>
              <a:buFont typeface="Calibri"/>
              <a:buNone/>
            </a:pPr>
            <a:r>
              <a:rPr b="0" i="0" lang="en-US" sz="1150" u="none" cap="none" strike="noStrike">
                <a:solidFill>
                  <a:srgbClr val="5F6B7A"/>
                </a:solidFill>
                <a:latin typeface="Calibri"/>
                <a:ea typeface="Calibri"/>
                <a:cs typeface="Calibri"/>
                <a:sym typeface="Calibri"/>
              </a:rPr>
              <a:t>INT8 aggregate mAP drops only 0.013, but s09 recall falls 0.11. Find it via the slice report, re-stratify the calibration set, re-quantise, show the recovery.</a:t>
            </a:r>
            <a:endParaRPr b="0" i="0" sz="1150" u="none" cap="none" strike="noStrike">
              <a:solidFill>
                <a:schemeClr val="dk1"/>
              </a:solidFill>
              <a:latin typeface="Calibri"/>
              <a:ea typeface="Calibri"/>
              <a:cs typeface="Calibri"/>
              <a:sym typeface="Calibri"/>
            </a:endParaRPr>
          </a:p>
        </p:txBody>
      </p:sp>
      <p:sp>
        <p:nvSpPr>
          <p:cNvPr id="3985" name="Google Shape;3985;p142"/>
          <p:cNvSpPr/>
          <p:nvPr/>
        </p:nvSpPr>
        <p:spPr>
          <a:xfrm>
            <a:off x="502920" y="2747772"/>
            <a:ext cx="329184" cy="329184"/>
          </a:xfrm>
          <a:prstGeom prst="ellipse">
            <a:avLst/>
          </a:prstGeom>
          <a:solidFill>
            <a:srgbClr val="29ABE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86" name="Google Shape;3986;p142"/>
          <p:cNvSpPr/>
          <p:nvPr/>
        </p:nvSpPr>
        <p:spPr>
          <a:xfrm>
            <a:off x="502920" y="2747772"/>
            <a:ext cx="329184" cy="32918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300"/>
              <a:buFont typeface="Calibri"/>
              <a:buNone/>
            </a:pPr>
            <a:r>
              <a:rPr b="1" i="0" lang="en-US" sz="1300" u="none" cap="none" strike="noStrike">
                <a:solidFill>
                  <a:srgbClr val="FFFFFF"/>
                </a:solidFill>
                <a:latin typeface="Calibri"/>
                <a:ea typeface="Calibri"/>
                <a:cs typeface="Calibri"/>
                <a:sym typeface="Calibri"/>
              </a:rPr>
              <a:t>2</a:t>
            </a:r>
            <a:endParaRPr b="0" i="0" sz="1300" u="none" cap="none" strike="noStrike">
              <a:solidFill>
                <a:schemeClr val="dk1"/>
              </a:solidFill>
              <a:latin typeface="Calibri"/>
              <a:ea typeface="Calibri"/>
              <a:cs typeface="Calibri"/>
              <a:sym typeface="Calibri"/>
            </a:endParaRPr>
          </a:p>
        </p:txBody>
      </p:sp>
      <p:sp>
        <p:nvSpPr>
          <p:cNvPr id="3987" name="Google Shape;3987;p142"/>
          <p:cNvSpPr/>
          <p:nvPr/>
        </p:nvSpPr>
        <p:spPr>
          <a:xfrm>
            <a:off x="1005840" y="2683764"/>
            <a:ext cx="10682935"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D2A5C"/>
              </a:buClr>
              <a:buSzPts val="1400"/>
              <a:buFont typeface="Calibri"/>
              <a:buNone/>
            </a:pPr>
            <a:r>
              <a:rPr b="1" i="0" lang="en-US" sz="1400" u="none" cap="none" strike="noStrike">
                <a:solidFill>
                  <a:srgbClr val="1D2A5C"/>
                </a:solidFill>
                <a:latin typeface="Calibri"/>
                <a:ea typeface="Calibri"/>
                <a:cs typeface="Calibri"/>
                <a:sym typeface="Calibri"/>
              </a:rPr>
              <a:t>Code review — a deployment PR</a:t>
            </a:r>
            <a:endParaRPr b="0" i="0" sz="1400" u="none" cap="none" strike="noStrike">
              <a:solidFill>
                <a:schemeClr val="dk1"/>
              </a:solidFill>
              <a:latin typeface="Calibri"/>
              <a:ea typeface="Calibri"/>
              <a:cs typeface="Calibri"/>
              <a:sym typeface="Calibri"/>
            </a:endParaRPr>
          </a:p>
        </p:txBody>
      </p:sp>
      <p:sp>
        <p:nvSpPr>
          <p:cNvPr id="3988" name="Google Shape;3988;p142"/>
          <p:cNvSpPr/>
          <p:nvPr/>
        </p:nvSpPr>
        <p:spPr>
          <a:xfrm>
            <a:off x="1005840" y="2985516"/>
            <a:ext cx="10682935" cy="841248"/>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5F6B7A"/>
              </a:buClr>
              <a:buSzPts val="1150"/>
              <a:buFont typeface="Calibri"/>
              <a:buNone/>
            </a:pPr>
            <a:r>
              <a:rPr b="0" i="0" lang="en-US" sz="1150" u="none" cap="none" strike="noStrike">
                <a:solidFill>
                  <a:srgbClr val="5F6B7A"/>
                </a:solidFill>
                <a:latin typeface="Calibri"/>
                <a:ea typeface="Calibri"/>
                <a:cs typeface="Calibri"/>
                <a:sym typeface="Calibri"/>
              </a:rPr>
              <a:t>Normalisation at 0.5/0.5 'close enough'; a single timed run with no warm-up; conf=0.25 baked in via nms=True. Three findings, each with the incident it becomes.</a:t>
            </a:r>
            <a:endParaRPr b="0" i="0" sz="1150" u="none" cap="none" strike="noStrike">
              <a:solidFill>
                <a:schemeClr val="dk1"/>
              </a:solidFill>
              <a:latin typeface="Calibri"/>
              <a:ea typeface="Calibri"/>
              <a:cs typeface="Calibri"/>
              <a:sym typeface="Calibri"/>
            </a:endParaRPr>
          </a:p>
        </p:txBody>
      </p:sp>
      <p:sp>
        <p:nvSpPr>
          <p:cNvPr id="3989" name="Google Shape;3989;p142"/>
          <p:cNvSpPr/>
          <p:nvPr/>
        </p:nvSpPr>
        <p:spPr>
          <a:xfrm>
            <a:off x="502920" y="3936492"/>
            <a:ext cx="329184" cy="329184"/>
          </a:xfrm>
          <a:prstGeom prst="ellipse">
            <a:avLst/>
          </a:prstGeom>
          <a:solidFill>
            <a:srgbClr val="F5822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90" name="Google Shape;3990;p142"/>
          <p:cNvSpPr/>
          <p:nvPr/>
        </p:nvSpPr>
        <p:spPr>
          <a:xfrm>
            <a:off x="502920" y="3936492"/>
            <a:ext cx="329184" cy="32918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300"/>
              <a:buFont typeface="Calibri"/>
              <a:buNone/>
            </a:pPr>
            <a:r>
              <a:rPr b="1" i="0" lang="en-US" sz="1300" u="none" cap="none" strike="noStrike">
                <a:solidFill>
                  <a:srgbClr val="FFFFFF"/>
                </a:solidFill>
                <a:latin typeface="Calibri"/>
                <a:ea typeface="Calibri"/>
                <a:cs typeface="Calibri"/>
                <a:sym typeface="Calibri"/>
              </a:rPr>
              <a:t>3</a:t>
            </a:r>
            <a:endParaRPr b="0" i="0" sz="1300" u="none" cap="none" strike="noStrike">
              <a:solidFill>
                <a:schemeClr val="dk1"/>
              </a:solidFill>
              <a:latin typeface="Calibri"/>
              <a:ea typeface="Calibri"/>
              <a:cs typeface="Calibri"/>
              <a:sym typeface="Calibri"/>
            </a:endParaRPr>
          </a:p>
        </p:txBody>
      </p:sp>
      <p:sp>
        <p:nvSpPr>
          <p:cNvPr id="3991" name="Google Shape;3991;p142"/>
          <p:cNvSpPr/>
          <p:nvPr/>
        </p:nvSpPr>
        <p:spPr>
          <a:xfrm>
            <a:off x="1005840" y="3872484"/>
            <a:ext cx="10682935"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D2A5C"/>
              </a:buClr>
              <a:buSzPts val="1400"/>
              <a:buFont typeface="Calibri"/>
              <a:buNone/>
            </a:pPr>
            <a:r>
              <a:rPr b="1" i="0" lang="en-US" sz="1400" u="none" cap="none" strike="noStrike">
                <a:solidFill>
                  <a:srgbClr val="1D2A5C"/>
                </a:solidFill>
                <a:latin typeface="Calibri"/>
                <a:ea typeface="Calibri"/>
                <a:cs typeface="Calibri"/>
                <a:sym typeface="Calibri"/>
              </a:rPr>
              <a:t>Discussion — the cloud pitch</a:t>
            </a:r>
            <a:endParaRPr b="0" i="0" sz="1400" u="none" cap="none" strike="noStrike">
              <a:solidFill>
                <a:schemeClr val="dk1"/>
              </a:solidFill>
              <a:latin typeface="Calibri"/>
              <a:ea typeface="Calibri"/>
              <a:cs typeface="Calibri"/>
              <a:sym typeface="Calibri"/>
            </a:endParaRPr>
          </a:p>
        </p:txBody>
      </p:sp>
      <p:sp>
        <p:nvSpPr>
          <p:cNvPr id="3992" name="Google Shape;3992;p142"/>
          <p:cNvSpPr/>
          <p:nvPr/>
        </p:nvSpPr>
        <p:spPr>
          <a:xfrm>
            <a:off x="1005840" y="4174236"/>
            <a:ext cx="10682935" cy="841248"/>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5F6B7A"/>
              </a:buClr>
              <a:buSzPts val="1150"/>
              <a:buFont typeface="Calibri"/>
              <a:buNone/>
            </a:pPr>
            <a:r>
              <a:rPr b="0" i="0" lang="en-US" sz="1150" u="none" cap="none" strike="noStrike">
                <a:solidFill>
                  <a:srgbClr val="5F6B7A"/>
                </a:solidFill>
                <a:latin typeface="Calibri"/>
                <a:ea typeface="Calibri"/>
                <a:cs typeface="Calibri"/>
                <a:sym typeface="Calibri"/>
              </a:rPr>
              <a:t>An integrator proposes streaming all frames to a Riyadh region 'for simplicity'. Build the rejection from the 380 ms budget and bandwidth arithmetic.</a:t>
            </a:r>
            <a:endParaRPr b="0" i="0" sz="1150" u="none" cap="none" strike="noStrike">
              <a:solidFill>
                <a:schemeClr val="dk1"/>
              </a:solidFill>
              <a:latin typeface="Calibri"/>
              <a:ea typeface="Calibri"/>
              <a:cs typeface="Calibri"/>
              <a:sym typeface="Calibri"/>
            </a:endParaRPr>
          </a:p>
        </p:txBody>
      </p:sp>
      <p:sp>
        <p:nvSpPr>
          <p:cNvPr id="3993" name="Google Shape;3993;p142"/>
          <p:cNvSpPr/>
          <p:nvPr/>
        </p:nvSpPr>
        <p:spPr>
          <a:xfrm>
            <a:off x="502920" y="5125212"/>
            <a:ext cx="329184" cy="329184"/>
          </a:xfrm>
          <a:prstGeom prst="ellipse">
            <a:avLst/>
          </a:prstGeom>
          <a:solidFill>
            <a:srgbClr val="8DC63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94" name="Google Shape;3994;p142"/>
          <p:cNvSpPr/>
          <p:nvPr/>
        </p:nvSpPr>
        <p:spPr>
          <a:xfrm>
            <a:off x="502920" y="5125212"/>
            <a:ext cx="329184" cy="32918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300"/>
              <a:buFont typeface="Calibri"/>
              <a:buNone/>
            </a:pPr>
            <a:r>
              <a:rPr b="1" i="0" lang="en-US" sz="1300" u="none" cap="none" strike="noStrike">
                <a:solidFill>
                  <a:srgbClr val="FFFFFF"/>
                </a:solidFill>
                <a:latin typeface="Calibri"/>
                <a:ea typeface="Calibri"/>
                <a:cs typeface="Calibri"/>
                <a:sym typeface="Calibri"/>
              </a:rPr>
              <a:t>4</a:t>
            </a:r>
            <a:endParaRPr b="0" i="0" sz="1300" u="none" cap="none" strike="noStrike">
              <a:solidFill>
                <a:schemeClr val="dk1"/>
              </a:solidFill>
              <a:latin typeface="Calibri"/>
              <a:ea typeface="Calibri"/>
              <a:cs typeface="Calibri"/>
              <a:sym typeface="Calibri"/>
            </a:endParaRPr>
          </a:p>
        </p:txBody>
      </p:sp>
      <p:sp>
        <p:nvSpPr>
          <p:cNvPr id="3995" name="Google Shape;3995;p142"/>
          <p:cNvSpPr/>
          <p:nvPr/>
        </p:nvSpPr>
        <p:spPr>
          <a:xfrm>
            <a:off x="1005840" y="5061204"/>
            <a:ext cx="10682935"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D2A5C"/>
              </a:buClr>
              <a:buSzPts val="1400"/>
              <a:buFont typeface="Calibri"/>
              <a:buNone/>
            </a:pPr>
            <a:r>
              <a:rPr b="1" i="0" lang="en-US" sz="1400" u="none" cap="none" strike="noStrike">
                <a:solidFill>
                  <a:srgbClr val="1D2A5C"/>
                </a:solidFill>
                <a:latin typeface="Calibri"/>
                <a:ea typeface="Calibri"/>
                <a:cs typeface="Calibri"/>
                <a:sym typeface="Calibri"/>
              </a:rPr>
              <a:t>Discussion — mid-shift crash</a:t>
            </a:r>
            <a:endParaRPr b="0" i="0" sz="1400" u="none" cap="none" strike="noStrike">
              <a:solidFill>
                <a:schemeClr val="dk1"/>
              </a:solidFill>
              <a:latin typeface="Calibri"/>
              <a:ea typeface="Calibri"/>
              <a:cs typeface="Calibri"/>
              <a:sym typeface="Calibri"/>
            </a:endParaRPr>
          </a:p>
        </p:txBody>
      </p:sp>
      <p:sp>
        <p:nvSpPr>
          <p:cNvPr id="3996" name="Google Shape;3996;p142"/>
          <p:cNvSpPr/>
          <p:nvPr/>
        </p:nvSpPr>
        <p:spPr>
          <a:xfrm>
            <a:off x="1005840" y="5362956"/>
            <a:ext cx="10682935" cy="841248"/>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5F6B7A"/>
              </a:buClr>
              <a:buSzPts val="1150"/>
              <a:buFont typeface="Calibri"/>
              <a:buNone/>
            </a:pPr>
            <a:r>
              <a:rPr b="0" i="0" lang="en-US" sz="1150" u="none" cap="none" strike="noStrike">
                <a:solidFill>
                  <a:srgbClr val="5F6B7A"/>
                </a:solidFill>
                <a:latin typeface="Calibri"/>
                <a:ea typeface="Calibri"/>
                <a:cs typeface="Calibri"/>
                <a:sym typeface="Calibri"/>
              </a:rPr>
              <a:t>Walk the fallback ladder. Which choice belongs to engineering, and which to food-safety?</a:t>
            </a:r>
            <a:endParaRPr b="0" i="0" sz="1150" u="none" cap="none" strike="noStrike">
              <a:solidFill>
                <a:schemeClr val="dk1"/>
              </a:solidFill>
              <a:latin typeface="Calibri"/>
              <a:ea typeface="Calibri"/>
              <a:cs typeface="Calibri"/>
              <a:sym typeface="Calibri"/>
            </a:endParaRPr>
          </a:p>
        </p:txBody>
      </p:sp>
    </p:spTree>
  </p:cSld>
  <p:clrMapOvr>
    <a:masterClrMapping/>
  </p:clrMapOvr>
</p:sld>
</file>

<file path=ppt/slides/slide1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001" name="Shape 4001"/>
        <p:cNvGrpSpPr/>
        <p:nvPr/>
      </p:nvGrpSpPr>
      <p:grpSpPr>
        <a:xfrm>
          <a:off x="0" y="0"/>
          <a:ext cx="0" cy="0"/>
          <a:chOff x="0" y="0"/>
          <a:chExt cx="0" cy="0"/>
        </a:xfrm>
      </p:grpSpPr>
      <p:sp>
        <p:nvSpPr>
          <p:cNvPr id="4002" name="Google Shape;4002;p143"/>
          <p:cNvSpPr/>
          <p:nvPr/>
        </p:nvSpPr>
        <p:spPr>
          <a:xfrm>
            <a:off x="502920" y="274320"/>
            <a:ext cx="9646920" cy="56692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D2A5C"/>
              </a:buClr>
              <a:buSzPts val="2700"/>
              <a:buFont typeface="Calibri"/>
              <a:buNone/>
            </a:pPr>
            <a:r>
              <a:rPr b="1" i="0" lang="en-US" sz="2700" u="none" cap="none" strike="noStrike">
                <a:solidFill>
                  <a:srgbClr val="1D2A5C"/>
                </a:solidFill>
                <a:latin typeface="Calibri"/>
                <a:ea typeface="Calibri"/>
                <a:cs typeface="Calibri"/>
                <a:sym typeface="Calibri"/>
              </a:rPr>
              <a:t>Case study — ANPR at an industrial-city gate</a:t>
            </a:r>
            <a:endParaRPr b="0" i="0" sz="2700" u="none" cap="none" strike="noStrike">
              <a:solidFill>
                <a:schemeClr val="dk1"/>
              </a:solidFill>
              <a:latin typeface="Calibri"/>
              <a:ea typeface="Calibri"/>
              <a:cs typeface="Calibri"/>
              <a:sym typeface="Calibri"/>
            </a:endParaRPr>
          </a:p>
        </p:txBody>
      </p:sp>
      <p:sp>
        <p:nvSpPr>
          <p:cNvPr id="4003" name="Google Shape;4003;p143"/>
          <p:cNvSpPr/>
          <p:nvPr/>
        </p:nvSpPr>
        <p:spPr>
          <a:xfrm>
            <a:off x="502920" y="859536"/>
            <a:ext cx="9646920" cy="31089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F6B7A"/>
              </a:buClr>
              <a:buSzPts val="1250"/>
              <a:buFont typeface="Arial"/>
              <a:buNone/>
            </a:pPr>
            <a:r>
              <a:rPr b="0" i="0" lang="en-US" sz="1250" u="none" cap="none" strike="noStrike">
                <a:solidFill>
                  <a:srgbClr val="5F6B7A"/>
                </a:solidFill>
                <a:latin typeface="Arial"/>
                <a:ea typeface="Arial"/>
                <a:cs typeface="Arial"/>
                <a:sym typeface="Arial"/>
              </a:rPr>
              <a:t>دراسة حالة</a:t>
            </a:r>
            <a:endParaRPr b="0" i="0" sz="1250" u="none" cap="none" strike="noStrike">
              <a:solidFill>
                <a:schemeClr val="dk1"/>
              </a:solidFill>
              <a:latin typeface="Calibri"/>
              <a:ea typeface="Calibri"/>
              <a:cs typeface="Calibri"/>
              <a:sym typeface="Calibri"/>
            </a:endParaRPr>
          </a:p>
        </p:txBody>
      </p:sp>
      <p:pic>
        <p:nvPicPr>
          <p:cNvPr descr="/sessions/blissful-determined-ritchie/build/assets/sdaia_logo.png" id="4004" name="Google Shape;4004;p143"/>
          <p:cNvPicPr preferRelativeResize="0"/>
          <p:nvPr/>
        </p:nvPicPr>
        <p:blipFill rotWithShape="1">
          <a:blip r:embed="rId3">
            <a:alphaModFix/>
          </a:blip>
          <a:srcRect b="0" l="0" r="0" t="0"/>
          <a:stretch/>
        </p:blipFill>
        <p:spPr>
          <a:xfrm>
            <a:off x="10625328" y="310896"/>
            <a:ext cx="1078992" cy="264111"/>
          </a:xfrm>
          <a:prstGeom prst="rect">
            <a:avLst/>
          </a:prstGeom>
          <a:noFill/>
          <a:ln>
            <a:noFill/>
          </a:ln>
        </p:spPr>
      </p:pic>
      <p:sp>
        <p:nvSpPr>
          <p:cNvPr id="4005" name="Google Shape;4005;p143"/>
          <p:cNvSpPr/>
          <p:nvPr/>
        </p:nvSpPr>
        <p:spPr>
          <a:xfrm>
            <a:off x="502920" y="6528816"/>
            <a:ext cx="8686800"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A79D"/>
              </a:buClr>
              <a:buSzPts val="800"/>
              <a:buFont typeface="Calibri"/>
              <a:buNone/>
            </a:pPr>
            <a:r>
              <a:rPr b="1" i="0" lang="en-US" sz="800" u="none" cap="none" strike="noStrike">
                <a:solidFill>
                  <a:srgbClr val="00A79D"/>
                </a:solidFill>
                <a:latin typeface="Calibri"/>
                <a:ea typeface="Calibri"/>
                <a:cs typeface="Calibri"/>
                <a:sym typeface="Calibri"/>
              </a:rPr>
              <a:t>MODULE 7 · CASE   </a:t>
            </a:r>
            <a:r>
              <a:rPr b="0" i="0" lang="en-US" sz="800" u="none" cap="none" strike="noStrike">
                <a:solidFill>
                  <a:srgbClr val="8A96A6"/>
                </a:solidFill>
                <a:latin typeface="Calibri"/>
                <a:ea typeface="Calibri"/>
                <a:cs typeface="Calibri"/>
                <a:sym typeface="Calibri"/>
              </a:rPr>
              <a:t>SDA-AIE-212 · Computer Vision Systems Development</a:t>
            </a:r>
            <a:endParaRPr b="0" i="0" sz="800" u="none" cap="none" strike="noStrike">
              <a:solidFill>
                <a:schemeClr val="dk1"/>
              </a:solidFill>
              <a:latin typeface="Calibri"/>
              <a:ea typeface="Calibri"/>
              <a:cs typeface="Calibri"/>
              <a:sym typeface="Calibri"/>
            </a:endParaRPr>
          </a:p>
        </p:txBody>
      </p:sp>
      <p:sp>
        <p:nvSpPr>
          <p:cNvPr id="4006" name="Google Shape;4006;p143"/>
          <p:cNvSpPr/>
          <p:nvPr/>
        </p:nvSpPr>
        <p:spPr>
          <a:xfrm>
            <a:off x="11292840" y="6528816"/>
            <a:ext cx="411480" cy="219456"/>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8A96A6"/>
              </a:buClr>
              <a:buSzPts val="900"/>
              <a:buFont typeface="Calibri"/>
              <a:buNone/>
            </a:pPr>
            <a:r>
              <a:rPr b="0" i="0" lang="en-US" sz="900" u="none" cap="none" strike="noStrike">
                <a:solidFill>
                  <a:srgbClr val="8A96A6"/>
                </a:solidFill>
                <a:latin typeface="Calibri"/>
                <a:ea typeface="Calibri"/>
                <a:cs typeface="Calibri"/>
                <a:sym typeface="Calibri"/>
              </a:rPr>
              <a:t>143</a:t>
            </a:r>
            <a:endParaRPr b="0" i="0" sz="900" u="none" cap="none" strike="noStrike">
              <a:solidFill>
                <a:schemeClr val="dk1"/>
              </a:solidFill>
              <a:latin typeface="Calibri"/>
              <a:ea typeface="Calibri"/>
              <a:cs typeface="Calibri"/>
              <a:sym typeface="Calibri"/>
            </a:endParaRPr>
          </a:p>
        </p:txBody>
      </p:sp>
      <p:sp>
        <p:nvSpPr>
          <p:cNvPr id="4007" name="Google Shape;4007;p143"/>
          <p:cNvSpPr/>
          <p:nvPr/>
        </p:nvSpPr>
        <p:spPr>
          <a:xfrm>
            <a:off x="502920" y="1389888"/>
            <a:ext cx="6035040" cy="2377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A79D"/>
              </a:buClr>
              <a:buSzPts val="1000"/>
              <a:buFont typeface="Calibri"/>
              <a:buNone/>
            </a:pPr>
            <a:r>
              <a:rPr b="1" i="0" lang="en-US" sz="1000" u="none" cap="none" strike="noStrike">
                <a:solidFill>
                  <a:srgbClr val="00A79D"/>
                </a:solidFill>
                <a:latin typeface="Calibri"/>
                <a:ea typeface="Calibri"/>
                <a:cs typeface="Calibri"/>
                <a:sym typeface="Calibri"/>
              </a:rPr>
              <a:t>SCENARIO</a:t>
            </a:r>
            <a:endParaRPr b="0" i="0" sz="1000" u="none" cap="none" strike="noStrike">
              <a:solidFill>
                <a:schemeClr val="dk1"/>
              </a:solidFill>
              <a:latin typeface="Calibri"/>
              <a:ea typeface="Calibri"/>
              <a:cs typeface="Calibri"/>
              <a:sym typeface="Calibri"/>
            </a:endParaRPr>
          </a:p>
        </p:txBody>
      </p:sp>
      <p:sp>
        <p:nvSpPr>
          <p:cNvPr id="4008" name="Google Shape;4008;p143"/>
          <p:cNvSpPr/>
          <p:nvPr/>
        </p:nvSpPr>
        <p:spPr>
          <a:xfrm>
            <a:off x="502920" y="1645920"/>
            <a:ext cx="6035040" cy="896112"/>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23293B"/>
              </a:buClr>
              <a:buSzPts val="1150"/>
              <a:buFont typeface="Calibri"/>
              <a:buNone/>
            </a:pPr>
            <a:r>
              <a:rPr b="0" i="0" lang="en-US" sz="1150" u="none" cap="none" strike="noStrike">
                <a:solidFill>
                  <a:srgbClr val="23293B"/>
                </a:solidFill>
                <a:latin typeface="Calibri"/>
                <a:ea typeface="Calibri"/>
                <a:cs typeface="Calibri"/>
                <a:sym typeface="Calibri"/>
              </a:rPr>
              <a:t>An industrial city runs 14 vehicle gates with ANPR feeding access control. The incumbent sends every gate-camera frame to a cloud API: monthly costs climb with traffic, and the 200 ms barrier-open budget is intermittently blown — queues form at shift change, and tailgating rises when guards override the slow barrier.</a:t>
            </a:r>
            <a:endParaRPr b="0" i="0" sz="1150" u="none" cap="none" strike="noStrike">
              <a:solidFill>
                <a:schemeClr val="dk1"/>
              </a:solidFill>
              <a:latin typeface="Calibri"/>
              <a:ea typeface="Calibri"/>
              <a:cs typeface="Calibri"/>
              <a:sym typeface="Calibri"/>
            </a:endParaRPr>
          </a:p>
        </p:txBody>
      </p:sp>
      <p:sp>
        <p:nvSpPr>
          <p:cNvPr id="4009" name="Google Shape;4009;p143"/>
          <p:cNvSpPr/>
          <p:nvPr/>
        </p:nvSpPr>
        <p:spPr>
          <a:xfrm>
            <a:off x="502920" y="2706624"/>
            <a:ext cx="6035040" cy="2377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A79D"/>
              </a:buClr>
              <a:buSzPts val="1000"/>
              <a:buFont typeface="Calibri"/>
              <a:buNone/>
            </a:pPr>
            <a:r>
              <a:rPr b="1" i="0" lang="en-US" sz="1000" u="none" cap="none" strike="noStrike">
                <a:solidFill>
                  <a:srgbClr val="00A79D"/>
                </a:solidFill>
                <a:latin typeface="Calibri"/>
                <a:ea typeface="Calibri"/>
                <a:cs typeface="Calibri"/>
                <a:sym typeface="Calibri"/>
              </a:rPr>
              <a:t>BUSINESS CONTEXT</a:t>
            </a:r>
            <a:endParaRPr b="0" i="0" sz="1000" u="none" cap="none" strike="noStrike">
              <a:solidFill>
                <a:schemeClr val="dk1"/>
              </a:solidFill>
              <a:latin typeface="Calibri"/>
              <a:ea typeface="Calibri"/>
              <a:cs typeface="Calibri"/>
              <a:sym typeface="Calibri"/>
            </a:endParaRPr>
          </a:p>
        </p:txBody>
      </p:sp>
      <p:sp>
        <p:nvSpPr>
          <p:cNvPr id="4010" name="Google Shape;4010;p143"/>
          <p:cNvSpPr/>
          <p:nvPr/>
        </p:nvSpPr>
        <p:spPr>
          <a:xfrm>
            <a:off x="502920" y="2962656"/>
            <a:ext cx="6035040" cy="6858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5F6B7A"/>
              </a:buClr>
              <a:buSzPts val="1150"/>
              <a:buFont typeface="Calibri"/>
              <a:buNone/>
            </a:pPr>
            <a:r>
              <a:rPr b="0" i="0" lang="en-US" sz="1150" u="none" cap="none" strike="noStrike">
                <a:solidFill>
                  <a:srgbClr val="5F6B7A"/>
                </a:solidFill>
                <a:latin typeface="Calibri"/>
                <a:ea typeface="Calibri"/>
                <a:cs typeface="Calibri"/>
                <a:sym typeface="Calibri"/>
              </a:rPr>
              <a:t>The operator wants cost predictability and a hard latency guarantee; security wants zero degradation in plate-read accuracy; the data-governance office flags that gate imagery — faces visible through windshields — is leaving the country.</a:t>
            </a:r>
            <a:endParaRPr b="0" i="0" sz="1150" u="none" cap="none" strike="noStrike">
              <a:solidFill>
                <a:schemeClr val="dk1"/>
              </a:solidFill>
              <a:latin typeface="Calibri"/>
              <a:ea typeface="Calibri"/>
              <a:cs typeface="Calibri"/>
              <a:sym typeface="Calibri"/>
            </a:endParaRPr>
          </a:p>
        </p:txBody>
      </p:sp>
      <p:sp>
        <p:nvSpPr>
          <p:cNvPr id="4011" name="Google Shape;4011;p143"/>
          <p:cNvSpPr/>
          <p:nvPr/>
        </p:nvSpPr>
        <p:spPr>
          <a:xfrm>
            <a:off x="502920" y="3813048"/>
            <a:ext cx="6035040" cy="2377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A79D"/>
              </a:buClr>
              <a:buSzPts val="1000"/>
              <a:buFont typeface="Calibri"/>
              <a:buNone/>
            </a:pPr>
            <a:r>
              <a:rPr b="1" i="0" lang="en-US" sz="1000" u="none" cap="none" strike="noStrike">
                <a:solidFill>
                  <a:srgbClr val="00A79D"/>
                </a:solidFill>
                <a:latin typeface="Calibri"/>
                <a:ea typeface="Calibri"/>
                <a:cs typeface="Calibri"/>
                <a:sym typeface="Calibri"/>
              </a:rPr>
              <a:t>TECHNICAL CHALLENGE</a:t>
            </a:r>
            <a:endParaRPr b="0" i="0" sz="1000" u="none" cap="none" strike="noStrike">
              <a:solidFill>
                <a:schemeClr val="dk1"/>
              </a:solidFill>
              <a:latin typeface="Calibri"/>
              <a:ea typeface="Calibri"/>
              <a:cs typeface="Calibri"/>
              <a:sym typeface="Calibri"/>
            </a:endParaRPr>
          </a:p>
        </p:txBody>
      </p:sp>
      <p:sp>
        <p:nvSpPr>
          <p:cNvPr id="4012" name="Google Shape;4012;p143"/>
          <p:cNvSpPr/>
          <p:nvPr/>
        </p:nvSpPr>
        <p:spPr>
          <a:xfrm>
            <a:off x="502920" y="4069080"/>
            <a:ext cx="6035040" cy="6858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5F6B7A"/>
              </a:buClr>
              <a:buSzPts val="1150"/>
              <a:buFont typeface="Calibri"/>
              <a:buNone/>
            </a:pPr>
            <a:r>
              <a:rPr b="0" i="0" lang="en-US" sz="1150" u="none" cap="none" strike="noStrike">
                <a:solidFill>
                  <a:srgbClr val="5F6B7A"/>
                </a:solidFill>
                <a:latin typeface="Calibri"/>
                <a:ea typeface="Calibri"/>
                <a:cs typeface="Calibri"/>
                <a:sym typeface="Calibri"/>
              </a:rPr>
              <a:t>Migrate detection + plate reading to edge boxes at each gate inside 200 ms, at parity accuracy, with a fleet update mechanism for 14 sites — and an evidence pack that convinces security to switch.</a:t>
            </a:r>
            <a:endParaRPr b="0" i="0" sz="1150" u="none" cap="none" strike="noStrike">
              <a:solidFill>
                <a:schemeClr val="dk1"/>
              </a:solidFill>
              <a:latin typeface="Calibri"/>
              <a:ea typeface="Calibri"/>
              <a:cs typeface="Calibri"/>
              <a:sym typeface="Calibri"/>
            </a:endParaRPr>
          </a:p>
        </p:txBody>
      </p:sp>
      <p:sp>
        <p:nvSpPr>
          <p:cNvPr id="4013" name="Google Shape;4013;p143"/>
          <p:cNvSpPr/>
          <p:nvPr/>
        </p:nvSpPr>
        <p:spPr>
          <a:xfrm>
            <a:off x="6858000" y="1389888"/>
            <a:ext cx="4828032" cy="2184684"/>
          </a:xfrm>
          <a:prstGeom prst="roundRect">
            <a:avLst>
              <a:gd fmla="val 3767" name="adj"/>
            </a:avLst>
          </a:prstGeom>
          <a:solidFill>
            <a:srgbClr val="F2F6F9"/>
          </a:solidFill>
          <a:ln cap="flat" cmpd="sng" w="12700">
            <a:solidFill>
              <a:srgbClr val="D9E2E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14" name="Google Shape;4014;p143"/>
          <p:cNvSpPr/>
          <p:nvPr/>
        </p:nvSpPr>
        <p:spPr>
          <a:xfrm>
            <a:off x="7040880" y="1481328"/>
            <a:ext cx="4462272" cy="2377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58220"/>
              </a:buClr>
              <a:buSzPts val="950"/>
              <a:buFont typeface="Calibri"/>
              <a:buNone/>
            </a:pPr>
            <a:r>
              <a:rPr b="1" i="0" lang="en-US" sz="950" u="none" cap="none" strike="noStrike">
                <a:solidFill>
                  <a:srgbClr val="F58220"/>
                </a:solidFill>
                <a:latin typeface="Calibri"/>
                <a:ea typeface="Calibri"/>
                <a:cs typeface="Calibri"/>
                <a:sym typeface="Calibri"/>
              </a:rPr>
              <a:t>CONSTRAINTS</a:t>
            </a:r>
            <a:endParaRPr b="0" i="0" sz="950" u="none" cap="none" strike="noStrike">
              <a:solidFill>
                <a:schemeClr val="dk1"/>
              </a:solidFill>
              <a:latin typeface="Calibri"/>
              <a:ea typeface="Calibri"/>
              <a:cs typeface="Calibri"/>
              <a:sym typeface="Calibri"/>
            </a:endParaRPr>
          </a:p>
        </p:txBody>
      </p:sp>
      <p:sp>
        <p:nvSpPr>
          <p:cNvPr id="4015" name="Google Shape;4015;p143"/>
          <p:cNvSpPr/>
          <p:nvPr/>
        </p:nvSpPr>
        <p:spPr>
          <a:xfrm>
            <a:off x="7095744" y="1755648"/>
            <a:ext cx="4370832" cy="1681764"/>
          </a:xfrm>
          <a:prstGeom prst="rect">
            <a:avLst/>
          </a:prstGeom>
          <a:noFill/>
          <a:ln>
            <a:noFill/>
          </a:ln>
        </p:spPr>
        <p:txBody>
          <a:bodyPr anchorCtr="0" anchor="t" bIns="0" lIns="0" spcFirstLastPara="1" rIns="0" wrap="square" tIns="0">
            <a:noAutofit/>
          </a:bodyPr>
          <a:lstStyle/>
          <a:p>
            <a:pPr indent="-127000" lvl="0" marL="127000" marR="0" rtl="0" algn="l">
              <a:spcBef>
                <a:spcPts val="0"/>
              </a:spcBef>
              <a:spcAft>
                <a:spcPts val="0"/>
              </a:spcAft>
              <a:buClr>
                <a:srgbClr val="23293B"/>
              </a:buClr>
              <a:buSzPts val="1050"/>
              <a:buFont typeface="Calibri"/>
              <a:buChar char="•"/>
            </a:pPr>
            <a:r>
              <a:rPr b="0" i="0" lang="en-US" sz="1050" u="none" cap="none" strike="noStrike">
                <a:solidFill>
                  <a:srgbClr val="23293B"/>
                </a:solidFill>
                <a:latin typeface="Calibri"/>
                <a:ea typeface="Calibri"/>
                <a:cs typeface="Calibri"/>
                <a:sym typeface="Calibri"/>
              </a:rPr>
              <a:t>Fanless Intel PCs, no GPU — OpenVINO territory</a:t>
            </a:r>
            <a:endParaRPr b="0" i="0" sz="1050" u="none" cap="none" strike="noStrike">
              <a:solidFill>
                <a:schemeClr val="dk1"/>
              </a:solidFill>
              <a:latin typeface="Calibri"/>
              <a:ea typeface="Calibri"/>
              <a:cs typeface="Calibri"/>
              <a:sym typeface="Calibri"/>
            </a:endParaRPr>
          </a:p>
          <a:p>
            <a:pPr indent="-127000" lvl="0" marL="127000" marR="0" rtl="0" algn="l">
              <a:spcBef>
                <a:spcPts val="500"/>
              </a:spcBef>
              <a:spcAft>
                <a:spcPts val="0"/>
              </a:spcAft>
              <a:buClr>
                <a:srgbClr val="23293B"/>
              </a:buClr>
              <a:buSzPts val="1050"/>
              <a:buFont typeface="Calibri"/>
              <a:buChar char="•"/>
            </a:pPr>
            <a:r>
              <a:rPr b="0" i="0" lang="en-US" sz="1050" u="none" cap="none" strike="noStrike">
                <a:solidFill>
                  <a:srgbClr val="23293B"/>
                </a:solidFill>
                <a:latin typeface="Calibri"/>
                <a:ea typeface="Calibri"/>
                <a:cs typeface="Calibri"/>
                <a:sym typeface="Calibri"/>
              </a:rPr>
              <a:t>Summer ambient &gt; 45 °C: thermal soak mandatory</a:t>
            </a:r>
            <a:endParaRPr b="0" i="0" sz="1050" u="none" cap="none" strike="noStrike">
              <a:solidFill>
                <a:schemeClr val="dk1"/>
              </a:solidFill>
              <a:latin typeface="Calibri"/>
              <a:ea typeface="Calibri"/>
              <a:cs typeface="Calibri"/>
              <a:sym typeface="Calibri"/>
            </a:endParaRPr>
          </a:p>
          <a:p>
            <a:pPr indent="-127000" lvl="0" marL="127000" marR="0" rtl="0" algn="l">
              <a:spcBef>
                <a:spcPts val="500"/>
              </a:spcBef>
              <a:spcAft>
                <a:spcPts val="0"/>
              </a:spcAft>
              <a:buClr>
                <a:srgbClr val="23293B"/>
              </a:buClr>
              <a:buSzPts val="1050"/>
              <a:buFont typeface="Calibri"/>
              <a:buChar char="•"/>
            </a:pPr>
            <a:r>
              <a:rPr b="0" i="0" lang="en-US" sz="1050" u="none" cap="none" strike="noStrike">
                <a:solidFill>
                  <a:srgbClr val="23293B"/>
                </a:solidFill>
                <a:latin typeface="Calibri"/>
                <a:ea typeface="Calibri"/>
                <a:cs typeface="Calibri"/>
                <a:sym typeface="Calibri"/>
              </a:rPr>
              <a:t>Saudi + GCC plate formats — slice taxonomy</a:t>
            </a:r>
            <a:endParaRPr b="0" i="0" sz="1050" u="none" cap="none" strike="noStrike">
              <a:solidFill>
                <a:schemeClr val="dk1"/>
              </a:solidFill>
              <a:latin typeface="Calibri"/>
              <a:ea typeface="Calibri"/>
              <a:cs typeface="Calibri"/>
              <a:sym typeface="Calibri"/>
            </a:endParaRPr>
          </a:p>
          <a:p>
            <a:pPr indent="-127000" lvl="0" marL="127000" marR="0" rtl="0" algn="l">
              <a:spcBef>
                <a:spcPts val="500"/>
              </a:spcBef>
              <a:spcAft>
                <a:spcPts val="0"/>
              </a:spcAft>
              <a:buClr>
                <a:srgbClr val="23293B"/>
              </a:buClr>
              <a:buSzPts val="1050"/>
              <a:buFont typeface="Calibri"/>
              <a:buChar char="•"/>
            </a:pPr>
            <a:r>
              <a:rPr b="0" i="0" lang="en-US" sz="1050" u="none" cap="none" strike="noStrike">
                <a:solidFill>
                  <a:srgbClr val="23293B"/>
                </a:solidFill>
                <a:latin typeface="Calibri"/>
                <a:ea typeface="Calibri"/>
                <a:cs typeface="Calibri"/>
                <a:sym typeface="Calibri"/>
              </a:rPr>
              <a:t>Vendor shares no test set: build a frozen split</a:t>
            </a:r>
            <a:endParaRPr b="0" i="0" sz="1050" u="none" cap="none" strike="noStrike">
              <a:solidFill>
                <a:schemeClr val="dk1"/>
              </a:solidFill>
              <a:latin typeface="Calibri"/>
              <a:ea typeface="Calibri"/>
              <a:cs typeface="Calibri"/>
              <a:sym typeface="Calibri"/>
            </a:endParaRPr>
          </a:p>
          <a:p>
            <a:pPr indent="-127000" lvl="0" marL="127000" marR="0" rtl="0" algn="l">
              <a:spcBef>
                <a:spcPts val="500"/>
              </a:spcBef>
              <a:spcAft>
                <a:spcPts val="0"/>
              </a:spcAft>
              <a:buClr>
                <a:srgbClr val="23293B"/>
              </a:buClr>
              <a:buSzPts val="1050"/>
              <a:buFont typeface="Calibri"/>
              <a:buChar char="•"/>
            </a:pPr>
            <a:r>
              <a:rPr b="0" i="0" lang="en-US" sz="1050" u="none" cap="none" strike="noStrike">
                <a:solidFill>
                  <a:srgbClr val="23293B"/>
                </a:solidFill>
                <a:latin typeface="Calibri"/>
                <a:ea typeface="Calibri"/>
                <a:cs typeface="Calibri"/>
                <a:sym typeface="Calibri"/>
              </a:rPr>
              <a:t>Night and sandstorm frames are the hard slices</a:t>
            </a:r>
            <a:endParaRPr b="0" i="0" sz="1050" u="none" cap="none" strike="noStrike">
              <a:solidFill>
                <a:schemeClr val="dk1"/>
              </a:solidFill>
              <a:latin typeface="Calibri"/>
              <a:ea typeface="Calibri"/>
              <a:cs typeface="Calibri"/>
              <a:sym typeface="Calibri"/>
            </a:endParaRPr>
          </a:p>
        </p:txBody>
      </p:sp>
      <p:sp>
        <p:nvSpPr>
          <p:cNvPr id="4016" name="Google Shape;4016;p143"/>
          <p:cNvSpPr/>
          <p:nvPr/>
        </p:nvSpPr>
        <p:spPr>
          <a:xfrm>
            <a:off x="6858000" y="3803172"/>
            <a:ext cx="4828032" cy="2551908"/>
          </a:xfrm>
          <a:prstGeom prst="roundRect">
            <a:avLst>
              <a:gd fmla="val 3225" name="adj"/>
            </a:avLst>
          </a:prstGeom>
          <a:solidFill>
            <a:srgbClr val="E9F6F5"/>
          </a:solidFill>
          <a:ln cap="flat" cmpd="sng" w="12700">
            <a:solidFill>
              <a:srgbClr val="00A79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17" name="Google Shape;4017;p143"/>
          <p:cNvSpPr/>
          <p:nvPr/>
        </p:nvSpPr>
        <p:spPr>
          <a:xfrm>
            <a:off x="7040880" y="3894612"/>
            <a:ext cx="4462272" cy="2377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A79D"/>
              </a:buClr>
              <a:buSzPts val="950"/>
              <a:buFont typeface="Calibri"/>
              <a:buNone/>
            </a:pPr>
            <a:r>
              <a:rPr b="1" i="0" lang="en-US" sz="950" u="none" cap="none" strike="noStrike">
                <a:solidFill>
                  <a:srgbClr val="00A79D"/>
                </a:solidFill>
                <a:latin typeface="Calibri"/>
                <a:ea typeface="Calibri"/>
                <a:cs typeface="Calibri"/>
                <a:sym typeface="Calibri"/>
              </a:rPr>
              <a:t>DISCUSSION QUESTIONS</a:t>
            </a:r>
            <a:endParaRPr b="0" i="0" sz="950" u="none" cap="none" strike="noStrike">
              <a:solidFill>
                <a:schemeClr val="dk1"/>
              </a:solidFill>
              <a:latin typeface="Calibri"/>
              <a:ea typeface="Calibri"/>
              <a:cs typeface="Calibri"/>
              <a:sym typeface="Calibri"/>
            </a:endParaRPr>
          </a:p>
        </p:txBody>
      </p:sp>
      <p:sp>
        <p:nvSpPr>
          <p:cNvPr id="4018" name="Google Shape;4018;p143"/>
          <p:cNvSpPr/>
          <p:nvPr/>
        </p:nvSpPr>
        <p:spPr>
          <a:xfrm>
            <a:off x="7095744" y="4168932"/>
            <a:ext cx="4370832" cy="2048988"/>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23293B"/>
              </a:buClr>
              <a:buSzPts val="1050"/>
              <a:buFont typeface="Calibri"/>
              <a:buNone/>
            </a:pPr>
            <a:r>
              <a:rPr b="0" i="0" lang="en-US" sz="1050" u="none" cap="none" strike="noStrike">
                <a:solidFill>
                  <a:srgbClr val="23293B"/>
                </a:solidFill>
                <a:latin typeface="Calibri"/>
                <a:ea typeface="Calibri"/>
                <a:cs typeface="Calibri"/>
                <a:sym typeface="Calibri"/>
              </a:rPr>
              <a:t>1.  Why must the operator's own frozen split referee the migration?</a:t>
            </a:r>
            <a:endParaRPr b="0" i="0" sz="1050" u="none" cap="none" strike="noStrike">
              <a:solidFill>
                <a:schemeClr val="dk1"/>
              </a:solidFill>
              <a:latin typeface="Calibri"/>
              <a:ea typeface="Calibri"/>
              <a:cs typeface="Calibri"/>
              <a:sym typeface="Calibri"/>
            </a:endParaRPr>
          </a:p>
          <a:p>
            <a:pPr indent="0" lvl="0" marL="0" marR="0" rtl="0" algn="l">
              <a:spcBef>
                <a:spcPts val="600"/>
              </a:spcBef>
              <a:spcAft>
                <a:spcPts val="0"/>
              </a:spcAft>
              <a:buClr>
                <a:srgbClr val="23293B"/>
              </a:buClr>
              <a:buSzPts val="1050"/>
              <a:buFont typeface="Calibri"/>
              <a:buNone/>
            </a:pPr>
            <a:r>
              <a:rPr b="0" i="0" lang="en-US" sz="1050" u="none" cap="none" strike="noStrike">
                <a:solidFill>
                  <a:srgbClr val="23293B"/>
                </a:solidFill>
                <a:latin typeface="Calibri"/>
                <a:ea typeface="Calibri"/>
                <a:cs typeface="Calibri"/>
                <a:sym typeface="Calibri"/>
              </a:rPr>
              <a:t>2.  Design the calibration set — what breaks per missing slice?</a:t>
            </a:r>
            <a:endParaRPr b="0" i="0" sz="1050" u="none" cap="none" strike="noStrike">
              <a:solidFill>
                <a:schemeClr val="dk1"/>
              </a:solidFill>
              <a:latin typeface="Calibri"/>
              <a:ea typeface="Calibri"/>
              <a:cs typeface="Calibri"/>
              <a:sym typeface="Calibri"/>
            </a:endParaRPr>
          </a:p>
          <a:p>
            <a:pPr indent="0" lvl="0" marL="0" marR="0" rtl="0" algn="l">
              <a:spcBef>
                <a:spcPts val="600"/>
              </a:spcBef>
              <a:spcAft>
                <a:spcPts val="0"/>
              </a:spcAft>
              <a:buClr>
                <a:srgbClr val="23293B"/>
              </a:buClr>
              <a:buSzPts val="1050"/>
              <a:buFont typeface="Calibri"/>
              <a:buNone/>
            </a:pPr>
            <a:r>
              <a:rPr b="0" i="0" lang="en-US" sz="1050" u="none" cap="none" strike="noStrike">
                <a:solidFill>
                  <a:srgbClr val="23293B"/>
                </a:solidFill>
                <a:latin typeface="Calibri"/>
                <a:ea typeface="Calibri"/>
                <a:cs typeface="Calibri"/>
                <a:sym typeface="Calibri"/>
              </a:rPr>
              <a:t>3.  Shadow mode doubles cost for a month — what can only it measure?</a:t>
            </a:r>
            <a:endParaRPr b="0" i="0" sz="1050" u="none" cap="none" strike="noStrike">
              <a:solidFill>
                <a:schemeClr val="dk1"/>
              </a:solidFill>
              <a:latin typeface="Calibri"/>
              <a:ea typeface="Calibri"/>
              <a:cs typeface="Calibri"/>
              <a:sym typeface="Calibri"/>
            </a:endParaRPr>
          </a:p>
          <a:p>
            <a:pPr indent="0" lvl="0" marL="0" marR="0" rtl="0" algn="l">
              <a:spcBef>
                <a:spcPts val="600"/>
              </a:spcBef>
              <a:spcAft>
                <a:spcPts val="0"/>
              </a:spcAft>
              <a:buClr>
                <a:srgbClr val="23293B"/>
              </a:buClr>
              <a:buSzPts val="1050"/>
              <a:buFont typeface="Calibri"/>
              <a:buNone/>
            </a:pPr>
            <a:r>
              <a:rPr b="0" i="0" lang="en-US" sz="1050" u="none" cap="none" strike="noStrike">
                <a:solidFill>
                  <a:srgbClr val="23293B"/>
                </a:solidFill>
                <a:latin typeface="Calibri"/>
                <a:ea typeface="Calibri"/>
                <a:cs typeface="Calibri"/>
                <a:sym typeface="Calibri"/>
              </a:rPr>
              <a:t>4.  Vendor offers a regional endpoint — which problems remain?</a:t>
            </a:r>
            <a:endParaRPr b="0" i="0" sz="1050" u="none" cap="none" strike="noStrike">
              <a:solidFill>
                <a:schemeClr val="dk1"/>
              </a:solidFill>
              <a:latin typeface="Calibri"/>
              <a:ea typeface="Calibri"/>
              <a:cs typeface="Calibri"/>
              <a:sym typeface="Calibri"/>
            </a:endParaRPr>
          </a:p>
        </p:txBody>
      </p:sp>
    </p:spTree>
  </p:cSld>
  <p:clrMapOvr>
    <a:masterClrMapping/>
  </p:clrMapOvr>
</p:sld>
</file>

<file path=ppt/slides/slide1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023" name="Shape 4023"/>
        <p:cNvGrpSpPr/>
        <p:nvPr/>
      </p:nvGrpSpPr>
      <p:grpSpPr>
        <a:xfrm>
          <a:off x="0" y="0"/>
          <a:ext cx="0" cy="0"/>
          <a:chOff x="0" y="0"/>
          <a:chExt cx="0" cy="0"/>
        </a:xfrm>
      </p:grpSpPr>
      <p:sp>
        <p:nvSpPr>
          <p:cNvPr id="4024" name="Google Shape;4024;p144"/>
          <p:cNvSpPr/>
          <p:nvPr/>
        </p:nvSpPr>
        <p:spPr>
          <a:xfrm>
            <a:off x="502920" y="274320"/>
            <a:ext cx="9646920" cy="56692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D2A5C"/>
              </a:buClr>
              <a:buSzPts val="2700"/>
              <a:buFont typeface="Calibri"/>
              <a:buNone/>
            </a:pPr>
            <a:r>
              <a:rPr b="1" i="0" lang="en-US" sz="2700" u="none" cap="none" strike="noStrike">
                <a:solidFill>
                  <a:srgbClr val="1D2A5C"/>
                </a:solidFill>
                <a:latin typeface="Calibri"/>
                <a:ea typeface="Calibri"/>
                <a:cs typeface="Calibri"/>
                <a:sym typeface="Calibri"/>
              </a:rPr>
              <a:t>Module 7 benchmarks: the trade-off table</a:t>
            </a:r>
            <a:endParaRPr b="0" i="0" sz="2700" u="none" cap="none" strike="noStrike">
              <a:solidFill>
                <a:schemeClr val="dk1"/>
              </a:solidFill>
              <a:latin typeface="Calibri"/>
              <a:ea typeface="Calibri"/>
              <a:cs typeface="Calibri"/>
              <a:sym typeface="Calibri"/>
            </a:endParaRPr>
          </a:p>
        </p:txBody>
      </p:sp>
      <p:sp>
        <p:nvSpPr>
          <p:cNvPr id="4025" name="Google Shape;4025;p144"/>
          <p:cNvSpPr/>
          <p:nvPr/>
        </p:nvSpPr>
        <p:spPr>
          <a:xfrm>
            <a:off x="502920" y="859536"/>
            <a:ext cx="9646920" cy="31089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F6B7A"/>
              </a:buClr>
              <a:buSzPts val="1250"/>
              <a:buFont typeface="Arial"/>
              <a:buNone/>
            </a:pPr>
            <a:r>
              <a:rPr b="0" i="0" lang="en-US" sz="1250" u="none" cap="none" strike="noStrike">
                <a:solidFill>
                  <a:srgbClr val="5F6B7A"/>
                </a:solidFill>
                <a:latin typeface="Arial"/>
                <a:ea typeface="Arial"/>
                <a:cs typeface="Arial"/>
                <a:sym typeface="Arial"/>
              </a:rPr>
              <a:t>جدول المفاضلة</a:t>
            </a:r>
            <a:endParaRPr b="0" i="0" sz="1250" u="none" cap="none" strike="noStrike">
              <a:solidFill>
                <a:schemeClr val="dk1"/>
              </a:solidFill>
              <a:latin typeface="Calibri"/>
              <a:ea typeface="Calibri"/>
              <a:cs typeface="Calibri"/>
              <a:sym typeface="Calibri"/>
            </a:endParaRPr>
          </a:p>
        </p:txBody>
      </p:sp>
      <p:pic>
        <p:nvPicPr>
          <p:cNvPr descr="/sessions/blissful-determined-ritchie/build/assets/sdaia_logo.png" id="4026" name="Google Shape;4026;p144"/>
          <p:cNvPicPr preferRelativeResize="0"/>
          <p:nvPr/>
        </p:nvPicPr>
        <p:blipFill rotWithShape="1">
          <a:blip r:embed="rId3">
            <a:alphaModFix/>
          </a:blip>
          <a:srcRect b="0" l="0" r="0" t="0"/>
          <a:stretch/>
        </p:blipFill>
        <p:spPr>
          <a:xfrm>
            <a:off x="10625328" y="310896"/>
            <a:ext cx="1078992" cy="264111"/>
          </a:xfrm>
          <a:prstGeom prst="rect">
            <a:avLst/>
          </a:prstGeom>
          <a:noFill/>
          <a:ln>
            <a:noFill/>
          </a:ln>
        </p:spPr>
      </p:pic>
      <p:sp>
        <p:nvSpPr>
          <p:cNvPr id="4027" name="Google Shape;4027;p144"/>
          <p:cNvSpPr/>
          <p:nvPr/>
        </p:nvSpPr>
        <p:spPr>
          <a:xfrm>
            <a:off x="502920" y="6528816"/>
            <a:ext cx="8686800"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A79D"/>
              </a:buClr>
              <a:buSzPts val="800"/>
              <a:buFont typeface="Calibri"/>
              <a:buNone/>
            </a:pPr>
            <a:r>
              <a:rPr b="1" i="0" lang="en-US" sz="800" u="none" cap="none" strike="noStrike">
                <a:solidFill>
                  <a:srgbClr val="00A79D"/>
                </a:solidFill>
                <a:latin typeface="Calibri"/>
                <a:ea typeface="Calibri"/>
                <a:cs typeface="Calibri"/>
                <a:sym typeface="Calibri"/>
              </a:rPr>
              <a:t>MODULE 7   </a:t>
            </a:r>
            <a:r>
              <a:rPr b="0" i="0" lang="en-US" sz="800" u="none" cap="none" strike="noStrike">
                <a:solidFill>
                  <a:srgbClr val="8A96A6"/>
                </a:solidFill>
                <a:latin typeface="Calibri"/>
                <a:ea typeface="Calibri"/>
                <a:cs typeface="Calibri"/>
                <a:sym typeface="Calibri"/>
              </a:rPr>
              <a:t>SDA-AIE-212 · Computer Vision Systems Development</a:t>
            </a:r>
            <a:endParaRPr b="0" i="0" sz="800" u="none" cap="none" strike="noStrike">
              <a:solidFill>
                <a:schemeClr val="dk1"/>
              </a:solidFill>
              <a:latin typeface="Calibri"/>
              <a:ea typeface="Calibri"/>
              <a:cs typeface="Calibri"/>
              <a:sym typeface="Calibri"/>
            </a:endParaRPr>
          </a:p>
        </p:txBody>
      </p:sp>
      <p:sp>
        <p:nvSpPr>
          <p:cNvPr id="4028" name="Google Shape;4028;p144"/>
          <p:cNvSpPr/>
          <p:nvPr/>
        </p:nvSpPr>
        <p:spPr>
          <a:xfrm>
            <a:off x="11292840" y="6528816"/>
            <a:ext cx="411480" cy="219456"/>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8A96A6"/>
              </a:buClr>
              <a:buSzPts val="900"/>
              <a:buFont typeface="Calibri"/>
              <a:buNone/>
            </a:pPr>
            <a:r>
              <a:rPr b="0" i="0" lang="en-US" sz="900" u="none" cap="none" strike="noStrike">
                <a:solidFill>
                  <a:srgbClr val="8A96A6"/>
                </a:solidFill>
                <a:latin typeface="Calibri"/>
                <a:ea typeface="Calibri"/>
                <a:cs typeface="Calibri"/>
                <a:sym typeface="Calibri"/>
              </a:rPr>
              <a:t>144</a:t>
            </a:r>
            <a:endParaRPr b="0" i="0" sz="900" u="none" cap="none" strike="noStrike">
              <a:solidFill>
                <a:schemeClr val="dk1"/>
              </a:solidFill>
              <a:latin typeface="Calibri"/>
              <a:ea typeface="Calibri"/>
              <a:cs typeface="Calibri"/>
              <a:sym typeface="Calibri"/>
            </a:endParaRPr>
          </a:p>
        </p:txBody>
      </p:sp>
      <p:sp>
        <p:nvSpPr>
          <p:cNvPr id="4029" name="Google Shape;4029;p144"/>
          <p:cNvSpPr/>
          <p:nvPr/>
        </p:nvSpPr>
        <p:spPr>
          <a:xfrm>
            <a:off x="502920" y="1389888"/>
            <a:ext cx="11185855" cy="3657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5F6B7A"/>
              </a:buClr>
              <a:buSzPts val="1250"/>
              <a:buFont typeface="Calibri"/>
              <a:buNone/>
            </a:pPr>
            <a:r>
              <a:rPr b="0" i="1" lang="en-US" sz="1250" u="none" cap="none" strike="noStrike">
                <a:solidFill>
                  <a:srgbClr val="5F6B7A"/>
                </a:solidFill>
                <a:latin typeface="Calibri"/>
                <a:ea typeface="Calibri"/>
                <a:cs typeface="Calibri"/>
                <a:sym typeface="Calibri"/>
              </a:rPr>
              <a:t>Targets: parity &lt; 1e-4 with 0 flips · INT8 cost ≤ 0.02 mAP, no slice worse than 0.03 · pipeline p99 ≤ 90 ms · ≤ 12 MB INT8</a:t>
            </a:r>
            <a:endParaRPr b="0" i="0" sz="1250" u="none" cap="none" strike="noStrike">
              <a:solidFill>
                <a:schemeClr val="dk1"/>
              </a:solidFill>
              <a:latin typeface="Calibri"/>
              <a:ea typeface="Calibri"/>
              <a:cs typeface="Calibri"/>
              <a:sym typeface="Calibri"/>
            </a:endParaRPr>
          </a:p>
        </p:txBody>
      </p:sp>
      <p:graphicFrame>
        <p:nvGraphicFramePr>
          <p:cNvPr id="4030" name="Google Shape;4030;p144"/>
          <p:cNvGraphicFramePr/>
          <p:nvPr/>
        </p:nvGraphicFramePr>
        <p:xfrm>
          <a:off x="502920" y="1865376"/>
          <a:ext cx="3000000" cy="3000000"/>
        </p:xfrm>
        <a:graphic>
          <a:graphicData uri="http://schemas.openxmlformats.org/drawingml/2006/table">
            <a:tbl>
              <a:tblPr>
                <a:noFill/>
                <a:tableStyleId>{F80342BA-3033-44D6-9F91-622DC7A4C435}</a:tableStyleId>
              </a:tblPr>
              <a:tblGrid>
                <a:gridCol w="3500975"/>
                <a:gridCol w="3330100"/>
                <a:gridCol w="2646500"/>
                <a:gridCol w="1708300"/>
              </a:tblGrid>
              <a:tr h="713225">
                <a:tc>
                  <a:txBody>
                    <a:bodyPr/>
                    <a:lstStyle/>
                    <a:p>
                      <a:pPr indent="0" lvl="0" marL="0" marR="0" rtl="0" algn="l">
                        <a:spcBef>
                          <a:spcPts val="0"/>
                        </a:spcBef>
                        <a:spcAft>
                          <a:spcPts val="0"/>
                        </a:spcAft>
                        <a:buClr>
                          <a:srgbClr val="FFFFFF"/>
                        </a:buClr>
                        <a:buSzPts val="1150"/>
                        <a:buFont typeface="Calibri"/>
                        <a:buNone/>
                      </a:pPr>
                      <a:r>
                        <a:rPr b="1" lang="en-US" sz="1150" u="none" cap="none" strike="noStrike">
                          <a:solidFill>
                            <a:srgbClr val="FFFFFF"/>
                          </a:solidFill>
                          <a:latin typeface="Calibri"/>
                          <a:ea typeface="Calibri"/>
                          <a:cs typeface="Calibri"/>
                          <a:sym typeface="Calibri"/>
                        </a:rPr>
                        <a:t>Config</a:t>
                      </a:r>
                      <a:endParaRPr sz="1150" u="none" cap="none" strike="noStrike">
                        <a:latin typeface="Calibri"/>
                        <a:ea typeface="Calibri"/>
                        <a:cs typeface="Calibri"/>
                        <a:sym typeface="Calibri"/>
                      </a:endParaRPr>
                    </a:p>
                  </a:txBody>
                  <a:tcPr marT="64000" marB="64000" marR="64000" marL="64000" anchor="ctr">
                    <a:lnL cap="flat" cmpd="sng" w="9525">
                      <a:solidFill>
                        <a:srgbClr val="D9E2EA"/>
                      </a:solidFill>
                      <a:prstDash val="solid"/>
                      <a:round/>
                      <a:headEnd len="sm" w="sm" type="none"/>
                      <a:tailEnd len="sm" w="sm" type="none"/>
                    </a:lnL>
                    <a:lnR cap="flat" cmpd="sng" w="9525">
                      <a:solidFill>
                        <a:srgbClr val="D9E2EA"/>
                      </a:solidFill>
                      <a:prstDash val="solid"/>
                      <a:round/>
                      <a:headEnd len="sm" w="sm" type="none"/>
                      <a:tailEnd len="sm" w="sm" type="none"/>
                    </a:lnR>
                    <a:lnT cap="flat" cmpd="sng" w="9525">
                      <a:solidFill>
                        <a:srgbClr val="D9E2EA"/>
                      </a:solidFill>
                      <a:prstDash val="solid"/>
                      <a:round/>
                      <a:headEnd len="sm" w="sm" type="none"/>
                      <a:tailEnd len="sm" w="sm" type="none"/>
                    </a:lnT>
                    <a:lnB cap="flat" cmpd="sng" w="9525">
                      <a:solidFill>
                        <a:srgbClr val="D9E2EA"/>
                      </a:solidFill>
                      <a:prstDash val="solid"/>
                      <a:round/>
                      <a:headEnd len="sm" w="sm" type="none"/>
                      <a:tailEnd len="sm" w="sm" type="none"/>
                    </a:lnB>
                    <a:solidFill>
                      <a:srgbClr val="1D2A5C"/>
                    </a:solidFill>
                  </a:tcPr>
                </a:tc>
                <a:tc>
                  <a:txBody>
                    <a:bodyPr/>
                    <a:lstStyle/>
                    <a:p>
                      <a:pPr indent="0" lvl="0" marL="0" marR="0" rtl="0" algn="l">
                        <a:spcBef>
                          <a:spcPts val="0"/>
                        </a:spcBef>
                        <a:spcAft>
                          <a:spcPts val="0"/>
                        </a:spcAft>
                        <a:buClr>
                          <a:srgbClr val="FFFFFF"/>
                        </a:buClr>
                        <a:buSzPts val="1150"/>
                        <a:buFont typeface="Calibri"/>
                        <a:buNone/>
                      </a:pPr>
                      <a:r>
                        <a:rPr b="1" lang="en-US" sz="1150" u="none" cap="none" strike="noStrike">
                          <a:solidFill>
                            <a:srgbClr val="FFFFFF"/>
                          </a:solidFill>
                          <a:latin typeface="Calibri"/>
                          <a:ea typeface="Calibri"/>
                          <a:cs typeface="Calibri"/>
                          <a:sym typeface="Calibri"/>
                        </a:rPr>
                        <a:t>mAP@0.5 / insect AP</a:t>
                      </a:r>
                      <a:endParaRPr sz="1150" u="none" cap="none" strike="noStrike">
                        <a:latin typeface="Calibri"/>
                        <a:ea typeface="Calibri"/>
                        <a:cs typeface="Calibri"/>
                        <a:sym typeface="Calibri"/>
                      </a:endParaRPr>
                    </a:p>
                  </a:txBody>
                  <a:tcPr marT="64000" marB="64000" marR="64000" marL="64000" anchor="ctr">
                    <a:lnL cap="flat" cmpd="sng" w="9525">
                      <a:solidFill>
                        <a:srgbClr val="D9E2EA"/>
                      </a:solidFill>
                      <a:prstDash val="solid"/>
                      <a:round/>
                      <a:headEnd len="sm" w="sm" type="none"/>
                      <a:tailEnd len="sm" w="sm" type="none"/>
                    </a:lnL>
                    <a:lnR cap="flat" cmpd="sng" w="9525">
                      <a:solidFill>
                        <a:srgbClr val="D9E2EA"/>
                      </a:solidFill>
                      <a:prstDash val="solid"/>
                      <a:round/>
                      <a:headEnd len="sm" w="sm" type="none"/>
                      <a:tailEnd len="sm" w="sm" type="none"/>
                    </a:lnR>
                    <a:lnT cap="flat" cmpd="sng" w="9525">
                      <a:solidFill>
                        <a:srgbClr val="D9E2EA"/>
                      </a:solidFill>
                      <a:prstDash val="solid"/>
                      <a:round/>
                      <a:headEnd len="sm" w="sm" type="none"/>
                      <a:tailEnd len="sm" w="sm" type="none"/>
                    </a:lnT>
                    <a:lnB cap="flat" cmpd="sng" w="9525">
                      <a:solidFill>
                        <a:srgbClr val="D9E2EA"/>
                      </a:solidFill>
                      <a:prstDash val="solid"/>
                      <a:round/>
                      <a:headEnd len="sm" w="sm" type="none"/>
                      <a:tailEnd len="sm" w="sm" type="none"/>
                    </a:lnB>
                    <a:solidFill>
                      <a:srgbClr val="1D2A5C"/>
                    </a:solidFill>
                  </a:tcPr>
                </a:tc>
                <a:tc>
                  <a:txBody>
                    <a:bodyPr/>
                    <a:lstStyle/>
                    <a:p>
                      <a:pPr indent="0" lvl="0" marL="0" marR="0" rtl="0" algn="l">
                        <a:spcBef>
                          <a:spcPts val="0"/>
                        </a:spcBef>
                        <a:spcAft>
                          <a:spcPts val="0"/>
                        </a:spcAft>
                        <a:buClr>
                          <a:srgbClr val="FFFFFF"/>
                        </a:buClr>
                        <a:buSzPts val="1150"/>
                        <a:buFont typeface="Calibri"/>
                        <a:buNone/>
                      </a:pPr>
                      <a:r>
                        <a:rPr b="1" lang="en-US" sz="1150" u="none" cap="none" strike="noStrike">
                          <a:solidFill>
                            <a:srgbClr val="FFFFFF"/>
                          </a:solidFill>
                          <a:latin typeface="Calibri"/>
                          <a:ea typeface="Calibri"/>
                          <a:cs typeface="Calibri"/>
                          <a:sym typeface="Calibri"/>
                        </a:rPr>
                        <a:t>Pipeline p99</a:t>
                      </a:r>
                      <a:endParaRPr sz="1150" u="none" cap="none" strike="noStrike">
                        <a:latin typeface="Calibri"/>
                        <a:ea typeface="Calibri"/>
                        <a:cs typeface="Calibri"/>
                        <a:sym typeface="Calibri"/>
                      </a:endParaRPr>
                    </a:p>
                  </a:txBody>
                  <a:tcPr marT="64000" marB="64000" marR="64000" marL="64000" anchor="ctr">
                    <a:lnL cap="flat" cmpd="sng" w="9525">
                      <a:solidFill>
                        <a:srgbClr val="D9E2EA"/>
                      </a:solidFill>
                      <a:prstDash val="solid"/>
                      <a:round/>
                      <a:headEnd len="sm" w="sm" type="none"/>
                      <a:tailEnd len="sm" w="sm" type="none"/>
                    </a:lnL>
                    <a:lnR cap="flat" cmpd="sng" w="9525">
                      <a:solidFill>
                        <a:srgbClr val="D9E2EA"/>
                      </a:solidFill>
                      <a:prstDash val="solid"/>
                      <a:round/>
                      <a:headEnd len="sm" w="sm" type="none"/>
                      <a:tailEnd len="sm" w="sm" type="none"/>
                    </a:lnR>
                    <a:lnT cap="flat" cmpd="sng" w="9525">
                      <a:solidFill>
                        <a:srgbClr val="D9E2EA"/>
                      </a:solidFill>
                      <a:prstDash val="solid"/>
                      <a:round/>
                      <a:headEnd len="sm" w="sm" type="none"/>
                      <a:tailEnd len="sm" w="sm" type="none"/>
                    </a:lnT>
                    <a:lnB cap="flat" cmpd="sng" w="9525">
                      <a:solidFill>
                        <a:srgbClr val="D9E2EA"/>
                      </a:solidFill>
                      <a:prstDash val="solid"/>
                      <a:round/>
                      <a:headEnd len="sm" w="sm" type="none"/>
                      <a:tailEnd len="sm" w="sm" type="none"/>
                    </a:lnB>
                    <a:solidFill>
                      <a:srgbClr val="1D2A5C"/>
                    </a:solidFill>
                  </a:tcPr>
                </a:tc>
                <a:tc>
                  <a:txBody>
                    <a:bodyPr/>
                    <a:lstStyle/>
                    <a:p>
                      <a:pPr indent="0" lvl="0" marL="0" marR="0" rtl="0" algn="l">
                        <a:spcBef>
                          <a:spcPts val="0"/>
                        </a:spcBef>
                        <a:spcAft>
                          <a:spcPts val="0"/>
                        </a:spcAft>
                        <a:buClr>
                          <a:srgbClr val="FFFFFF"/>
                        </a:buClr>
                        <a:buSzPts val="1150"/>
                        <a:buFont typeface="Calibri"/>
                        <a:buNone/>
                      </a:pPr>
                      <a:r>
                        <a:rPr b="1" lang="en-US" sz="1150" u="none" cap="none" strike="noStrike">
                          <a:solidFill>
                            <a:srgbClr val="FFFFFF"/>
                          </a:solidFill>
                          <a:latin typeface="Calibri"/>
                          <a:ea typeface="Calibri"/>
                          <a:cs typeface="Calibri"/>
                          <a:sym typeface="Calibri"/>
                        </a:rPr>
                        <a:t>Size</a:t>
                      </a:r>
                      <a:endParaRPr sz="1150" u="none" cap="none" strike="noStrike">
                        <a:latin typeface="Calibri"/>
                        <a:ea typeface="Calibri"/>
                        <a:cs typeface="Calibri"/>
                        <a:sym typeface="Calibri"/>
                      </a:endParaRPr>
                    </a:p>
                  </a:txBody>
                  <a:tcPr marT="64000" marB="64000" marR="64000" marL="64000" anchor="ctr">
                    <a:lnL cap="flat" cmpd="sng" w="9525">
                      <a:solidFill>
                        <a:srgbClr val="D9E2EA"/>
                      </a:solidFill>
                      <a:prstDash val="solid"/>
                      <a:round/>
                      <a:headEnd len="sm" w="sm" type="none"/>
                      <a:tailEnd len="sm" w="sm" type="none"/>
                    </a:lnL>
                    <a:lnR cap="flat" cmpd="sng" w="9525">
                      <a:solidFill>
                        <a:srgbClr val="D9E2EA"/>
                      </a:solidFill>
                      <a:prstDash val="solid"/>
                      <a:round/>
                      <a:headEnd len="sm" w="sm" type="none"/>
                      <a:tailEnd len="sm" w="sm" type="none"/>
                    </a:lnR>
                    <a:lnT cap="flat" cmpd="sng" w="9525">
                      <a:solidFill>
                        <a:srgbClr val="D9E2EA"/>
                      </a:solidFill>
                      <a:prstDash val="solid"/>
                      <a:round/>
                      <a:headEnd len="sm" w="sm" type="none"/>
                      <a:tailEnd len="sm" w="sm" type="none"/>
                    </a:lnT>
                    <a:lnB cap="flat" cmpd="sng" w="9525">
                      <a:solidFill>
                        <a:srgbClr val="D9E2EA"/>
                      </a:solidFill>
                      <a:prstDash val="solid"/>
                      <a:round/>
                      <a:headEnd len="sm" w="sm" type="none"/>
                      <a:tailEnd len="sm" w="sm" type="none"/>
                    </a:lnB>
                    <a:solidFill>
                      <a:srgbClr val="1D2A5C"/>
                    </a:solidFill>
                  </a:tcPr>
                </a:tc>
              </a:tr>
              <a:tr h="713225">
                <a:tc>
                  <a:txBody>
                    <a:bodyPr/>
                    <a:lstStyle/>
                    <a:p>
                      <a:pPr indent="0" lvl="0" marL="0" marR="0" rtl="0" algn="l">
                        <a:spcBef>
                          <a:spcPts val="0"/>
                        </a:spcBef>
                        <a:spcAft>
                          <a:spcPts val="0"/>
                        </a:spcAft>
                        <a:buClr>
                          <a:srgbClr val="1D2A5C"/>
                        </a:buClr>
                        <a:buSzPts val="1150"/>
                        <a:buFont typeface="Calibri"/>
                        <a:buNone/>
                      </a:pPr>
                      <a:r>
                        <a:rPr b="1" lang="en-US" sz="1150" u="none" cap="none" strike="noStrike">
                          <a:solidFill>
                            <a:srgbClr val="1D2A5C"/>
                          </a:solidFill>
                          <a:latin typeface="Calibri"/>
                          <a:ea typeface="Calibri"/>
                          <a:cs typeface="Calibri"/>
                          <a:sym typeface="Calibri"/>
                        </a:rPr>
                        <a:t>FP32 @ 640</a:t>
                      </a:r>
                      <a:endParaRPr sz="1150" u="none" cap="none" strike="noStrike">
                        <a:latin typeface="Calibri"/>
                        <a:ea typeface="Calibri"/>
                        <a:cs typeface="Calibri"/>
                        <a:sym typeface="Calibri"/>
                      </a:endParaRPr>
                    </a:p>
                  </a:txBody>
                  <a:tcPr marT="64000" marB="64000" marR="64000" marL="64000" anchor="ctr">
                    <a:lnL cap="flat" cmpd="sng" w="9525">
                      <a:solidFill>
                        <a:srgbClr val="D9E2EA"/>
                      </a:solidFill>
                      <a:prstDash val="solid"/>
                      <a:round/>
                      <a:headEnd len="sm" w="sm" type="none"/>
                      <a:tailEnd len="sm" w="sm" type="none"/>
                    </a:lnL>
                    <a:lnR cap="flat" cmpd="sng" w="9525">
                      <a:solidFill>
                        <a:srgbClr val="D9E2EA"/>
                      </a:solidFill>
                      <a:prstDash val="solid"/>
                      <a:round/>
                      <a:headEnd len="sm" w="sm" type="none"/>
                      <a:tailEnd len="sm" w="sm" type="none"/>
                    </a:lnR>
                    <a:lnT cap="flat" cmpd="sng" w="9525">
                      <a:solidFill>
                        <a:srgbClr val="D9E2EA"/>
                      </a:solidFill>
                      <a:prstDash val="solid"/>
                      <a:round/>
                      <a:headEnd len="sm" w="sm" type="none"/>
                      <a:tailEnd len="sm" w="sm" type="none"/>
                    </a:lnT>
                    <a:lnB cap="flat" cmpd="sng" w="9525">
                      <a:solidFill>
                        <a:srgbClr val="D9E2EA"/>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23293B"/>
                        </a:buClr>
                        <a:buSzPts val="1150"/>
                        <a:buFont typeface="Calibri"/>
                        <a:buNone/>
                      </a:pPr>
                      <a:r>
                        <a:rPr lang="en-US" sz="1150" u="none" cap="none" strike="noStrike">
                          <a:solidFill>
                            <a:srgbClr val="23293B"/>
                          </a:solidFill>
                          <a:latin typeface="Calibri"/>
                          <a:ea typeface="Calibri"/>
                          <a:cs typeface="Calibri"/>
                          <a:sym typeface="Calibri"/>
                        </a:rPr>
                        <a:t>0.903 / 0.887</a:t>
                      </a:r>
                      <a:endParaRPr sz="1150" u="none" cap="none" strike="noStrike">
                        <a:latin typeface="Calibri"/>
                        <a:ea typeface="Calibri"/>
                        <a:cs typeface="Calibri"/>
                        <a:sym typeface="Calibri"/>
                      </a:endParaRPr>
                    </a:p>
                  </a:txBody>
                  <a:tcPr marT="64000" marB="64000" marR="64000" marL="64000" anchor="ctr">
                    <a:lnL cap="flat" cmpd="sng" w="9525">
                      <a:solidFill>
                        <a:srgbClr val="D9E2EA"/>
                      </a:solidFill>
                      <a:prstDash val="solid"/>
                      <a:round/>
                      <a:headEnd len="sm" w="sm" type="none"/>
                      <a:tailEnd len="sm" w="sm" type="none"/>
                    </a:lnL>
                    <a:lnR cap="flat" cmpd="sng" w="9525">
                      <a:solidFill>
                        <a:srgbClr val="D9E2EA"/>
                      </a:solidFill>
                      <a:prstDash val="solid"/>
                      <a:round/>
                      <a:headEnd len="sm" w="sm" type="none"/>
                      <a:tailEnd len="sm" w="sm" type="none"/>
                    </a:lnR>
                    <a:lnT cap="flat" cmpd="sng" w="9525">
                      <a:solidFill>
                        <a:srgbClr val="D9E2EA"/>
                      </a:solidFill>
                      <a:prstDash val="solid"/>
                      <a:round/>
                      <a:headEnd len="sm" w="sm" type="none"/>
                      <a:tailEnd len="sm" w="sm" type="none"/>
                    </a:lnT>
                    <a:lnB cap="flat" cmpd="sng" w="9525">
                      <a:solidFill>
                        <a:srgbClr val="D9E2EA"/>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23293B"/>
                        </a:buClr>
                        <a:buSzPts val="1150"/>
                        <a:buFont typeface="Calibri"/>
                        <a:buNone/>
                      </a:pPr>
                      <a:r>
                        <a:rPr lang="en-US" sz="1150" u="none" cap="none" strike="noStrike">
                          <a:solidFill>
                            <a:srgbClr val="23293B"/>
                          </a:solidFill>
                          <a:latin typeface="Calibri"/>
                          <a:ea typeface="Calibri"/>
                          <a:cs typeface="Calibri"/>
                          <a:sym typeface="Calibri"/>
                        </a:rPr>
                        <a:t>96.1 ms</a:t>
                      </a:r>
                      <a:endParaRPr sz="1150" u="none" cap="none" strike="noStrike">
                        <a:latin typeface="Calibri"/>
                        <a:ea typeface="Calibri"/>
                        <a:cs typeface="Calibri"/>
                        <a:sym typeface="Calibri"/>
                      </a:endParaRPr>
                    </a:p>
                  </a:txBody>
                  <a:tcPr marT="64000" marB="64000" marR="64000" marL="64000" anchor="ctr">
                    <a:lnL cap="flat" cmpd="sng" w="9525">
                      <a:solidFill>
                        <a:srgbClr val="D9E2EA"/>
                      </a:solidFill>
                      <a:prstDash val="solid"/>
                      <a:round/>
                      <a:headEnd len="sm" w="sm" type="none"/>
                      <a:tailEnd len="sm" w="sm" type="none"/>
                    </a:lnL>
                    <a:lnR cap="flat" cmpd="sng" w="9525">
                      <a:solidFill>
                        <a:srgbClr val="D9E2EA"/>
                      </a:solidFill>
                      <a:prstDash val="solid"/>
                      <a:round/>
                      <a:headEnd len="sm" w="sm" type="none"/>
                      <a:tailEnd len="sm" w="sm" type="none"/>
                    </a:lnR>
                    <a:lnT cap="flat" cmpd="sng" w="9525">
                      <a:solidFill>
                        <a:srgbClr val="D9E2EA"/>
                      </a:solidFill>
                      <a:prstDash val="solid"/>
                      <a:round/>
                      <a:headEnd len="sm" w="sm" type="none"/>
                      <a:tailEnd len="sm" w="sm" type="none"/>
                    </a:lnT>
                    <a:lnB cap="flat" cmpd="sng" w="9525">
                      <a:solidFill>
                        <a:srgbClr val="D9E2EA"/>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23293B"/>
                        </a:buClr>
                        <a:buSzPts val="1150"/>
                        <a:buFont typeface="Calibri"/>
                        <a:buNone/>
                      </a:pPr>
                      <a:r>
                        <a:rPr lang="en-US" sz="1150" u="none" cap="none" strike="noStrike">
                          <a:solidFill>
                            <a:srgbClr val="23293B"/>
                          </a:solidFill>
                          <a:latin typeface="Calibri"/>
                          <a:ea typeface="Calibri"/>
                          <a:cs typeface="Calibri"/>
                          <a:sym typeface="Calibri"/>
                        </a:rPr>
                        <a:t>38 MB</a:t>
                      </a:r>
                      <a:endParaRPr sz="1150" u="none" cap="none" strike="noStrike">
                        <a:latin typeface="Calibri"/>
                        <a:ea typeface="Calibri"/>
                        <a:cs typeface="Calibri"/>
                        <a:sym typeface="Calibri"/>
                      </a:endParaRPr>
                    </a:p>
                  </a:txBody>
                  <a:tcPr marT="64000" marB="64000" marR="64000" marL="64000" anchor="ctr">
                    <a:lnL cap="flat" cmpd="sng" w="9525">
                      <a:solidFill>
                        <a:srgbClr val="D9E2EA"/>
                      </a:solidFill>
                      <a:prstDash val="solid"/>
                      <a:round/>
                      <a:headEnd len="sm" w="sm" type="none"/>
                      <a:tailEnd len="sm" w="sm" type="none"/>
                    </a:lnL>
                    <a:lnR cap="flat" cmpd="sng" w="9525">
                      <a:solidFill>
                        <a:srgbClr val="D9E2EA"/>
                      </a:solidFill>
                      <a:prstDash val="solid"/>
                      <a:round/>
                      <a:headEnd len="sm" w="sm" type="none"/>
                      <a:tailEnd len="sm" w="sm" type="none"/>
                    </a:lnR>
                    <a:lnT cap="flat" cmpd="sng" w="9525">
                      <a:solidFill>
                        <a:srgbClr val="D9E2EA"/>
                      </a:solidFill>
                      <a:prstDash val="solid"/>
                      <a:round/>
                      <a:headEnd len="sm" w="sm" type="none"/>
                      <a:tailEnd len="sm" w="sm" type="none"/>
                    </a:lnT>
                    <a:lnB cap="flat" cmpd="sng" w="9525">
                      <a:solidFill>
                        <a:srgbClr val="D9E2EA"/>
                      </a:solidFill>
                      <a:prstDash val="solid"/>
                      <a:round/>
                      <a:headEnd len="sm" w="sm" type="none"/>
                      <a:tailEnd len="sm" w="sm" type="none"/>
                    </a:lnB>
                    <a:solidFill>
                      <a:srgbClr val="FFFFFF"/>
                    </a:solidFill>
                  </a:tcPr>
                </a:tc>
              </a:tr>
              <a:tr h="713225">
                <a:tc>
                  <a:txBody>
                    <a:bodyPr/>
                    <a:lstStyle/>
                    <a:p>
                      <a:pPr indent="0" lvl="0" marL="0" marR="0" rtl="0" algn="l">
                        <a:spcBef>
                          <a:spcPts val="0"/>
                        </a:spcBef>
                        <a:spcAft>
                          <a:spcPts val="0"/>
                        </a:spcAft>
                        <a:buClr>
                          <a:srgbClr val="1D2A5C"/>
                        </a:buClr>
                        <a:buSzPts val="1150"/>
                        <a:buFont typeface="Calibri"/>
                        <a:buNone/>
                      </a:pPr>
                      <a:r>
                        <a:rPr b="1" lang="en-US" sz="1150" u="none" cap="none" strike="noStrike">
                          <a:solidFill>
                            <a:srgbClr val="1D2A5C"/>
                          </a:solidFill>
                          <a:latin typeface="Calibri"/>
                          <a:ea typeface="Calibri"/>
                          <a:cs typeface="Calibri"/>
                          <a:sym typeface="Calibri"/>
                        </a:rPr>
                        <a:t>FP32 @ 416</a:t>
                      </a:r>
                      <a:endParaRPr sz="1150" u="none" cap="none" strike="noStrike">
                        <a:latin typeface="Calibri"/>
                        <a:ea typeface="Calibri"/>
                        <a:cs typeface="Calibri"/>
                        <a:sym typeface="Calibri"/>
                      </a:endParaRPr>
                    </a:p>
                  </a:txBody>
                  <a:tcPr marT="64000" marB="64000" marR="64000" marL="64000" anchor="ctr">
                    <a:lnL cap="flat" cmpd="sng" w="9525">
                      <a:solidFill>
                        <a:srgbClr val="D9E2EA"/>
                      </a:solidFill>
                      <a:prstDash val="solid"/>
                      <a:round/>
                      <a:headEnd len="sm" w="sm" type="none"/>
                      <a:tailEnd len="sm" w="sm" type="none"/>
                    </a:lnL>
                    <a:lnR cap="flat" cmpd="sng" w="9525">
                      <a:solidFill>
                        <a:srgbClr val="D9E2EA"/>
                      </a:solidFill>
                      <a:prstDash val="solid"/>
                      <a:round/>
                      <a:headEnd len="sm" w="sm" type="none"/>
                      <a:tailEnd len="sm" w="sm" type="none"/>
                    </a:lnR>
                    <a:lnT cap="flat" cmpd="sng" w="9525">
                      <a:solidFill>
                        <a:srgbClr val="D9E2EA"/>
                      </a:solidFill>
                      <a:prstDash val="solid"/>
                      <a:round/>
                      <a:headEnd len="sm" w="sm" type="none"/>
                      <a:tailEnd len="sm" w="sm" type="none"/>
                    </a:lnT>
                    <a:lnB cap="flat" cmpd="sng" w="9525">
                      <a:solidFill>
                        <a:srgbClr val="D9E2EA"/>
                      </a:solidFill>
                      <a:prstDash val="solid"/>
                      <a:round/>
                      <a:headEnd len="sm" w="sm" type="none"/>
                      <a:tailEnd len="sm" w="sm" type="none"/>
                    </a:lnB>
                    <a:solidFill>
                      <a:srgbClr val="F2F6F9"/>
                    </a:solidFill>
                  </a:tcPr>
                </a:tc>
                <a:tc>
                  <a:txBody>
                    <a:bodyPr/>
                    <a:lstStyle/>
                    <a:p>
                      <a:pPr indent="0" lvl="0" marL="0" marR="0" rtl="0" algn="l">
                        <a:spcBef>
                          <a:spcPts val="0"/>
                        </a:spcBef>
                        <a:spcAft>
                          <a:spcPts val="0"/>
                        </a:spcAft>
                        <a:buClr>
                          <a:srgbClr val="23293B"/>
                        </a:buClr>
                        <a:buSzPts val="1150"/>
                        <a:buFont typeface="Calibri"/>
                        <a:buNone/>
                      </a:pPr>
                      <a:r>
                        <a:rPr lang="en-US" sz="1150" u="none" cap="none" strike="noStrike">
                          <a:solidFill>
                            <a:srgbClr val="23293B"/>
                          </a:solidFill>
                          <a:latin typeface="Calibri"/>
                          <a:ea typeface="Calibri"/>
                          <a:cs typeface="Calibri"/>
                          <a:sym typeface="Calibri"/>
                        </a:rPr>
                        <a:t>0.882 / 0.829</a:t>
                      </a:r>
                      <a:endParaRPr sz="1150" u="none" cap="none" strike="noStrike">
                        <a:latin typeface="Calibri"/>
                        <a:ea typeface="Calibri"/>
                        <a:cs typeface="Calibri"/>
                        <a:sym typeface="Calibri"/>
                      </a:endParaRPr>
                    </a:p>
                  </a:txBody>
                  <a:tcPr marT="64000" marB="64000" marR="64000" marL="64000" anchor="ctr">
                    <a:lnL cap="flat" cmpd="sng" w="9525">
                      <a:solidFill>
                        <a:srgbClr val="D9E2EA"/>
                      </a:solidFill>
                      <a:prstDash val="solid"/>
                      <a:round/>
                      <a:headEnd len="sm" w="sm" type="none"/>
                      <a:tailEnd len="sm" w="sm" type="none"/>
                    </a:lnL>
                    <a:lnR cap="flat" cmpd="sng" w="9525">
                      <a:solidFill>
                        <a:srgbClr val="D9E2EA"/>
                      </a:solidFill>
                      <a:prstDash val="solid"/>
                      <a:round/>
                      <a:headEnd len="sm" w="sm" type="none"/>
                      <a:tailEnd len="sm" w="sm" type="none"/>
                    </a:lnR>
                    <a:lnT cap="flat" cmpd="sng" w="9525">
                      <a:solidFill>
                        <a:srgbClr val="D9E2EA"/>
                      </a:solidFill>
                      <a:prstDash val="solid"/>
                      <a:round/>
                      <a:headEnd len="sm" w="sm" type="none"/>
                      <a:tailEnd len="sm" w="sm" type="none"/>
                    </a:lnT>
                    <a:lnB cap="flat" cmpd="sng" w="9525">
                      <a:solidFill>
                        <a:srgbClr val="D9E2EA"/>
                      </a:solidFill>
                      <a:prstDash val="solid"/>
                      <a:round/>
                      <a:headEnd len="sm" w="sm" type="none"/>
                      <a:tailEnd len="sm" w="sm" type="none"/>
                    </a:lnB>
                    <a:solidFill>
                      <a:srgbClr val="F2F6F9"/>
                    </a:solidFill>
                  </a:tcPr>
                </a:tc>
                <a:tc>
                  <a:txBody>
                    <a:bodyPr/>
                    <a:lstStyle/>
                    <a:p>
                      <a:pPr indent="0" lvl="0" marL="0" marR="0" rtl="0" algn="l">
                        <a:spcBef>
                          <a:spcPts val="0"/>
                        </a:spcBef>
                        <a:spcAft>
                          <a:spcPts val="0"/>
                        </a:spcAft>
                        <a:buClr>
                          <a:srgbClr val="23293B"/>
                        </a:buClr>
                        <a:buSzPts val="1150"/>
                        <a:buFont typeface="Calibri"/>
                        <a:buNone/>
                      </a:pPr>
                      <a:r>
                        <a:rPr lang="en-US" sz="1150" u="none" cap="none" strike="noStrike">
                          <a:solidFill>
                            <a:srgbClr val="23293B"/>
                          </a:solidFill>
                          <a:latin typeface="Calibri"/>
                          <a:ea typeface="Calibri"/>
                          <a:cs typeface="Calibri"/>
                          <a:sym typeface="Calibri"/>
                        </a:rPr>
                        <a:t>51.0 ms</a:t>
                      </a:r>
                      <a:endParaRPr sz="1150" u="none" cap="none" strike="noStrike">
                        <a:latin typeface="Calibri"/>
                        <a:ea typeface="Calibri"/>
                        <a:cs typeface="Calibri"/>
                        <a:sym typeface="Calibri"/>
                      </a:endParaRPr>
                    </a:p>
                  </a:txBody>
                  <a:tcPr marT="64000" marB="64000" marR="64000" marL="64000" anchor="ctr">
                    <a:lnL cap="flat" cmpd="sng" w="9525">
                      <a:solidFill>
                        <a:srgbClr val="D9E2EA"/>
                      </a:solidFill>
                      <a:prstDash val="solid"/>
                      <a:round/>
                      <a:headEnd len="sm" w="sm" type="none"/>
                      <a:tailEnd len="sm" w="sm" type="none"/>
                    </a:lnL>
                    <a:lnR cap="flat" cmpd="sng" w="9525">
                      <a:solidFill>
                        <a:srgbClr val="D9E2EA"/>
                      </a:solidFill>
                      <a:prstDash val="solid"/>
                      <a:round/>
                      <a:headEnd len="sm" w="sm" type="none"/>
                      <a:tailEnd len="sm" w="sm" type="none"/>
                    </a:lnR>
                    <a:lnT cap="flat" cmpd="sng" w="9525">
                      <a:solidFill>
                        <a:srgbClr val="D9E2EA"/>
                      </a:solidFill>
                      <a:prstDash val="solid"/>
                      <a:round/>
                      <a:headEnd len="sm" w="sm" type="none"/>
                      <a:tailEnd len="sm" w="sm" type="none"/>
                    </a:lnT>
                    <a:lnB cap="flat" cmpd="sng" w="9525">
                      <a:solidFill>
                        <a:srgbClr val="D9E2EA"/>
                      </a:solidFill>
                      <a:prstDash val="solid"/>
                      <a:round/>
                      <a:headEnd len="sm" w="sm" type="none"/>
                      <a:tailEnd len="sm" w="sm" type="none"/>
                    </a:lnB>
                    <a:solidFill>
                      <a:srgbClr val="F2F6F9"/>
                    </a:solidFill>
                  </a:tcPr>
                </a:tc>
                <a:tc>
                  <a:txBody>
                    <a:bodyPr/>
                    <a:lstStyle/>
                    <a:p>
                      <a:pPr indent="0" lvl="0" marL="0" marR="0" rtl="0" algn="l">
                        <a:spcBef>
                          <a:spcPts val="0"/>
                        </a:spcBef>
                        <a:spcAft>
                          <a:spcPts val="0"/>
                        </a:spcAft>
                        <a:buClr>
                          <a:srgbClr val="23293B"/>
                        </a:buClr>
                        <a:buSzPts val="1150"/>
                        <a:buFont typeface="Calibri"/>
                        <a:buNone/>
                      </a:pPr>
                      <a:r>
                        <a:rPr lang="en-US" sz="1150" u="none" cap="none" strike="noStrike">
                          <a:solidFill>
                            <a:srgbClr val="23293B"/>
                          </a:solidFill>
                          <a:latin typeface="Calibri"/>
                          <a:ea typeface="Calibri"/>
                          <a:cs typeface="Calibri"/>
                          <a:sym typeface="Calibri"/>
                        </a:rPr>
                        <a:t>38 MB</a:t>
                      </a:r>
                      <a:endParaRPr sz="1150" u="none" cap="none" strike="noStrike">
                        <a:latin typeface="Calibri"/>
                        <a:ea typeface="Calibri"/>
                        <a:cs typeface="Calibri"/>
                        <a:sym typeface="Calibri"/>
                      </a:endParaRPr>
                    </a:p>
                  </a:txBody>
                  <a:tcPr marT="64000" marB="64000" marR="64000" marL="64000" anchor="ctr">
                    <a:lnL cap="flat" cmpd="sng" w="9525">
                      <a:solidFill>
                        <a:srgbClr val="D9E2EA"/>
                      </a:solidFill>
                      <a:prstDash val="solid"/>
                      <a:round/>
                      <a:headEnd len="sm" w="sm" type="none"/>
                      <a:tailEnd len="sm" w="sm" type="none"/>
                    </a:lnL>
                    <a:lnR cap="flat" cmpd="sng" w="9525">
                      <a:solidFill>
                        <a:srgbClr val="D9E2EA"/>
                      </a:solidFill>
                      <a:prstDash val="solid"/>
                      <a:round/>
                      <a:headEnd len="sm" w="sm" type="none"/>
                      <a:tailEnd len="sm" w="sm" type="none"/>
                    </a:lnR>
                    <a:lnT cap="flat" cmpd="sng" w="9525">
                      <a:solidFill>
                        <a:srgbClr val="D9E2EA"/>
                      </a:solidFill>
                      <a:prstDash val="solid"/>
                      <a:round/>
                      <a:headEnd len="sm" w="sm" type="none"/>
                      <a:tailEnd len="sm" w="sm" type="none"/>
                    </a:lnT>
                    <a:lnB cap="flat" cmpd="sng" w="9525">
                      <a:solidFill>
                        <a:srgbClr val="D9E2EA"/>
                      </a:solidFill>
                      <a:prstDash val="solid"/>
                      <a:round/>
                      <a:headEnd len="sm" w="sm" type="none"/>
                      <a:tailEnd len="sm" w="sm" type="none"/>
                    </a:lnB>
                    <a:solidFill>
                      <a:srgbClr val="F2F6F9"/>
                    </a:solidFill>
                  </a:tcPr>
                </a:tc>
              </a:tr>
              <a:tr h="713225">
                <a:tc>
                  <a:txBody>
                    <a:bodyPr/>
                    <a:lstStyle/>
                    <a:p>
                      <a:pPr indent="0" lvl="0" marL="0" marR="0" rtl="0" algn="l">
                        <a:spcBef>
                          <a:spcPts val="0"/>
                        </a:spcBef>
                        <a:spcAft>
                          <a:spcPts val="0"/>
                        </a:spcAft>
                        <a:buClr>
                          <a:srgbClr val="1D2A5C"/>
                        </a:buClr>
                        <a:buSzPts val="1150"/>
                        <a:buFont typeface="Calibri"/>
                        <a:buNone/>
                      </a:pPr>
                      <a:r>
                        <a:rPr b="1" lang="en-US" sz="1150" u="none" cap="none" strike="noStrike">
                          <a:solidFill>
                            <a:srgbClr val="1D2A5C"/>
                          </a:solidFill>
                          <a:latin typeface="Calibri"/>
                          <a:ea typeface="Calibri"/>
                          <a:cs typeface="Calibri"/>
                          <a:sym typeface="Calibri"/>
                        </a:rPr>
                        <a:t>INT8 @ 640</a:t>
                      </a:r>
                      <a:endParaRPr sz="1150" u="none" cap="none" strike="noStrike">
                        <a:latin typeface="Calibri"/>
                        <a:ea typeface="Calibri"/>
                        <a:cs typeface="Calibri"/>
                        <a:sym typeface="Calibri"/>
                      </a:endParaRPr>
                    </a:p>
                  </a:txBody>
                  <a:tcPr marT="64000" marB="64000" marR="64000" marL="64000" anchor="ctr">
                    <a:lnL cap="flat" cmpd="sng" w="9525">
                      <a:solidFill>
                        <a:srgbClr val="D9E2EA"/>
                      </a:solidFill>
                      <a:prstDash val="solid"/>
                      <a:round/>
                      <a:headEnd len="sm" w="sm" type="none"/>
                      <a:tailEnd len="sm" w="sm" type="none"/>
                    </a:lnL>
                    <a:lnR cap="flat" cmpd="sng" w="9525">
                      <a:solidFill>
                        <a:srgbClr val="D9E2EA"/>
                      </a:solidFill>
                      <a:prstDash val="solid"/>
                      <a:round/>
                      <a:headEnd len="sm" w="sm" type="none"/>
                      <a:tailEnd len="sm" w="sm" type="none"/>
                    </a:lnR>
                    <a:lnT cap="flat" cmpd="sng" w="9525">
                      <a:solidFill>
                        <a:srgbClr val="D9E2EA"/>
                      </a:solidFill>
                      <a:prstDash val="solid"/>
                      <a:round/>
                      <a:headEnd len="sm" w="sm" type="none"/>
                      <a:tailEnd len="sm" w="sm" type="none"/>
                    </a:lnT>
                    <a:lnB cap="flat" cmpd="sng" w="9525">
                      <a:solidFill>
                        <a:srgbClr val="D9E2EA"/>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23293B"/>
                        </a:buClr>
                        <a:buSzPts val="1150"/>
                        <a:buFont typeface="Calibri"/>
                        <a:buNone/>
                      </a:pPr>
                      <a:r>
                        <a:rPr lang="en-US" sz="1150" u="none" cap="none" strike="noStrike">
                          <a:solidFill>
                            <a:srgbClr val="23293B"/>
                          </a:solidFill>
                          <a:latin typeface="Calibri"/>
                          <a:ea typeface="Calibri"/>
                          <a:cs typeface="Calibri"/>
                          <a:sym typeface="Calibri"/>
                        </a:rPr>
                        <a:t>0.895 / 0.879</a:t>
                      </a:r>
                      <a:endParaRPr sz="1150" u="none" cap="none" strike="noStrike">
                        <a:latin typeface="Calibri"/>
                        <a:ea typeface="Calibri"/>
                        <a:cs typeface="Calibri"/>
                        <a:sym typeface="Calibri"/>
                      </a:endParaRPr>
                    </a:p>
                  </a:txBody>
                  <a:tcPr marT="64000" marB="64000" marR="64000" marL="64000" anchor="ctr">
                    <a:lnL cap="flat" cmpd="sng" w="9525">
                      <a:solidFill>
                        <a:srgbClr val="D9E2EA"/>
                      </a:solidFill>
                      <a:prstDash val="solid"/>
                      <a:round/>
                      <a:headEnd len="sm" w="sm" type="none"/>
                      <a:tailEnd len="sm" w="sm" type="none"/>
                    </a:lnL>
                    <a:lnR cap="flat" cmpd="sng" w="9525">
                      <a:solidFill>
                        <a:srgbClr val="D9E2EA"/>
                      </a:solidFill>
                      <a:prstDash val="solid"/>
                      <a:round/>
                      <a:headEnd len="sm" w="sm" type="none"/>
                      <a:tailEnd len="sm" w="sm" type="none"/>
                    </a:lnR>
                    <a:lnT cap="flat" cmpd="sng" w="9525">
                      <a:solidFill>
                        <a:srgbClr val="D9E2EA"/>
                      </a:solidFill>
                      <a:prstDash val="solid"/>
                      <a:round/>
                      <a:headEnd len="sm" w="sm" type="none"/>
                      <a:tailEnd len="sm" w="sm" type="none"/>
                    </a:lnT>
                    <a:lnB cap="flat" cmpd="sng" w="9525">
                      <a:solidFill>
                        <a:srgbClr val="D9E2EA"/>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23293B"/>
                        </a:buClr>
                        <a:buSzPts val="1150"/>
                        <a:buFont typeface="Calibri"/>
                        <a:buNone/>
                      </a:pPr>
                      <a:r>
                        <a:rPr lang="en-US" sz="1150" u="none" cap="none" strike="noStrike">
                          <a:solidFill>
                            <a:srgbClr val="23293B"/>
                          </a:solidFill>
                          <a:latin typeface="Calibri"/>
                          <a:ea typeface="Calibri"/>
                          <a:cs typeface="Calibri"/>
                          <a:sym typeface="Calibri"/>
                        </a:rPr>
                        <a:t>52.7 ms</a:t>
                      </a:r>
                      <a:endParaRPr sz="1150" u="none" cap="none" strike="noStrike">
                        <a:latin typeface="Calibri"/>
                        <a:ea typeface="Calibri"/>
                        <a:cs typeface="Calibri"/>
                        <a:sym typeface="Calibri"/>
                      </a:endParaRPr>
                    </a:p>
                  </a:txBody>
                  <a:tcPr marT="64000" marB="64000" marR="64000" marL="64000" anchor="ctr">
                    <a:lnL cap="flat" cmpd="sng" w="9525">
                      <a:solidFill>
                        <a:srgbClr val="D9E2EA"/>
                      </a:solidFill>
                      <a:prstDash val="solid"/>
                      <a:round/>
                      <a:headEnd len="sm" w="sm" type="none"/>
                      <a:tailEnd len="sm" w="sm" type="none"/>
                    </a:lnL>
                    <a:lnR cap="flat" cmpd="sng" w="9525">
                      <a:solidFill>
                        <a:srgbClr val="D9E2EA"/>
                      </a:solidFill>
                      <a:prstDash val="solid"/>
                      <a:round/>
                      <a:headEnd len="sm" w="sm" type="none"/>
                      <a:tailEnd len="sm" w="sm" type="none"/>
                    </a:lnR>
                    <a:lnT cap="flat" cmpd="sng" w="9525">
                      <a:solidFill>
                        <a:srgbClr val="D9E2EA"/>
                      </a:solidFill>
                      <a:prstDash val="solid"/>
                      <a:round/>
                      <a:headEnd len="sm" w="sm" type="none"/>
                      <a:tailEnd len="sm" w="sm" type="none"/>
                    </a:lnT>
                    <a:lnB cap="flat" cmpd="sng" w="9525">
                      <a:solidFill>
                        <a:srgbClr val="D9E2EA"/>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23293B"/>
                        </a:buClr>
                        <a:buSzPts val="1150"/>
                        <a:buFont typeface="Calibri"/>
                        <a:buNone/>
                      </a:pPr>
                      <a:r>
                        <a:rPr lang="en-US" sz="1150" u="none" cap="none" strike="noStrike">
                          <a:solidFill>
                            <a:srgbClr val="23293B"/>
                          </a:solidFill>
                          <a:latin typeface="Calibri"/>
                          <a:ea typeface="Calibri"/>
                          <a:cs typeface="Calibri"/>
                          <a:sym typeface="Calibri"/>
                        </a:rPr>
                        <a:t>10 MB</a:t>
                      </a:r>
                      <a:endParaRPr sz="1150" u="none" cap="none" strike="noStrike">
                        <a:latin typeface="Calibri"/>
                        <a:ea typeface="Calibri"/>
                        <a:cs typeface="Calibri"/>
                        <a:sym typeface="Calibri"/>
                      </a:endParaRPr>
                    </a:p>
                  </a:txBody>
                  <a:tcPr marT="64000" marB="64000" marR="64000" marL="64000" anchor="ctr">
                    <a:lnL cap="flat" cmpd="sng" w="9525">
                      <a:solidFill>
                        <a:srgbClr val="D9E2EA"/>
                      </a:solidFill>
                      <a:prstDash val="solid"/>
                      <a:round/>
                      <a:headEnd len="sm" w="sm" type="none"/>
                      <a:tailEnd len="sm" w="sm" type="none"/>
                    </a:lnL>
                    <a:lnR cap="flat" cmpd="sng" w="9525">
                      <a:solidFill>
                        <a:srgbClr val="D9E2EA"/>
                      </a:solidFill>
                      <a:prstDash val="solid"/>
                      <a:round/>
                      <a:headEnd len="sm" w="sm" type="none"/>
                      <a:tailEnd len="sm" w="sm" type="none"/>
                    </a:lnR>
                    <a:lnT cap="flat" cmpd="sng" w="9525">
                      <a:solidFill>
                        <a:srgbClr val="D9E2EA"/>
                      </a:solidFill>
                      <a:prstDash val="solid"/>
                      <a:round/>
                      <a:headEnd len="sm" w="sm" type="none"/>
                      <a:tailEnd len="sm" w="sm" type="none"/>
                    </a:lnT>
                    <a:lnB cap="flat" cmpd="sng" w="9525">
                      <a:solidFill>
                        <a:srgbClr val="D9E2EA"/>
                      </a:solidFill>
                      <a:prstDash val="solid"/>
                      <a:round/>
                      <a:headEnd len="sm" w="sm" type="none"/>
                      <a:tailEnd len="sm" w="sm" type="none"/>
                    </a:lnB>
                    <a:solidFill>
                      <a:srgbClr val="FFFFFF"/>
                    </a:solidFill>
                  </a:tcPr>
                </a:tc>
              </a:tr>
              <a:tr h="713225">
                <a:tc>
                  <a:txBody>
                    <a:bodyPr/>
                    <a:lstStyle/>
                    <a:p>
                      <a:pPr indent="0" lvl="0" marL="0" marR="0" rtl="0" algn="l">
                        <a:spcBef>
                          <a:spcPts val="0"/>
                        </a:spcBef>
                        <a:spcAft>
                          <a:spcPts val="0"/>
                        </a:spcAft>
                        <a:buClr>
                          <a:srgbClr val="1D2A5C"/>
                        </a:buClr>
                        <a:buSzPts val="1150"/>
                        <a:buFont typeface="Calibri"/>
                        <a:buNone/>
                      </a:pPr>
                      <a:r>
                        <a:rPr b="1" lang="en-US" sz="1150" u="none" cap="none" strike="noStrike">
                          <a:solidFill>
                            <a:srgbClr val="1D2A5C"/>
                          </a:solidFill>
                          <a:latin typeface="Calibri"/>
                          <a:ea typeface="Calibri"/>
                          <a:cs typeface="Calibri"/>
                          <a:sym typeface="Calibri"/>
                        </a:rPr>
                        <a:t>INT8 @ 416 — selected</a:t>
                      </a:r>
                      <a:endParaRPr sz="1150" u="none" cap="none" strike="noStrike">
                        <a:latin typeface="Calibri"/>
                        <a:ea typeface="Calibri"/>
                        <a:cs typeface="Calibri"/>
                        <a:sym typeface="Calibri"/>
                      </a:endParaRPr>
                    </a:p>
                  </a:txBody>
                  <a:tcPr marT="64000" marB="64000" marR="64000" marL="64000" anchor="ctr">
                    <a:lnL cap="flat" cmpd="sng" w="9525">
                      <a:solidFill>
                        <a:srgbClr val="D9E2EA"/>
                      </a:solidFill>
                      <a:prstDash val="solid"/>
                      <a:round/>
                      <a:headEnd len="sm" w="sm" type="none"/>
                      <a:tailEnd len="sm" w="sm" type="none"/>
                    </a:lnL>
                    <a:lnR cap="flat" cmpd="sng" w="9525">
                      <a:solidFill>
                        <a:srgbClr val="D9E2EA"/>
                      </a:solidFill>
                      <a:prstDash val="solid"/>
                      <a:round/>
                      <a:headEnd len="sm" w="sm" type="none"/>
                      <a:tailEnd len="sm" w="sm" type="none"/>
                    </a:lnR>
                    <a:lnT cap="flat" cmpd="sng" w="9525">
                      <a:solidFill>
                        <a:srgbClr val="D9E2EA"/>
                      </a:solidFill>
                      <a:prstDash val="solid"/>
                      <a:round/>
                      <a:headEnd len="sm" w="sm" type="none"/>
                      <a:tailEnd len="sm" w="sm" type="none"/>
                    </a:lnT>
                    <a:lnB cap="flat" cmpd="sng" w="9525">
                      <a:solidFill>
                        <a:srgbClr val="D9E2EA"/>
                      </a:solidFill>
                      <a:prstDash val="solid"/>
                      <a:round/>
                      <a:headEnd len="sm" w="sm" type="none"/>
                      <a:tailEnd len="sm" w="sm" type="none"/>
                    </a:lnB>
                    <a:solidFill>
                      <a:srgbClr val="F2F6F9"/>
                    </a:solidFill>
                  </a:tcPr>
                </a:tc>
                <a:tc>
                  <a:txBody>
                    <a:bodyPr/>
                    <a:lstStyle/>
                    <a:p>
                      <a:pPr indent="0" lvl="0" marL="0" marR="0" rtl="0" algn="l">
                        <a:spcBef>
                          <a:spcPts val="0"/>
                        </a:spcBef>
                        <a:spcAft>
                          <a:spcPts val="0"/>
                        </a:spcAft>
                        <a:buClr>
                          <a:srgbClr val="23293B"/>
                        </a:buClr>
                        <a:buSzPts val="1150"/>
                        <a:buFont typeface="Calibri"/>
                        <a:buNone/>
                      </a:pPr>
                      <a:r>
                        <a:rPr lang="en-US" sz="1150" u="none" cap="none" strike="noStrike">
                          <a:solidFill>
                            <a:srgbClr val="23293B"/>
                          </a:solidFill>
                          <a:latin typeface="Calibri"/>
                          <a:ea typeface="Calibri"/>
                          <a:cs typeface="Calibri"/>
                          <a:sym typeface="Calibri"/>
                        </a:rPr>
                        <a:t>0.871 / 0.821</a:t>
                      </a:r>
                      <a:endParaRPr sz="1150" u="none" cap="none" strike="noStrike">
                        <a:latin typeface="Calibri"/>
                        <a:ea typeface="Calibri"/>
                        <a:cs typeface="Calibri"/>
                        <a:sym typeface="Calibri"/>
                      </a:endParaRPr>
                    </a:p>
                  </a:txBody>
                  <a:tcPr marT="64000" marB="64000" marR="64000" marL="64000" anchor="ctr">
                    <a:lnL cap="flat" cmpd="sng" w="9525">
                      <a:solidFill>
                        <a:srgbClr val="D9E2EA"/>
                      </a:solidFill>
                      <a:prstDash val="solid"/>
                      <a:round/>
                      <a:headEnd len="sm" w="sm" type="none"/>
                      <a:tailEnd len="sm" w="sm" type="none"/>
                    </a:lnL>
                    <a:lnR cap="flat" cmpd="sng" w="9525">
                      <a:solidFill>
                        <a:srgbClr val="D9E2EA"/>
                      </a:solidFill>
                      <a:prstDash val="solid"/>
                      <a:round/>
                      <a:headEnd len="sm" w="sm" type="none"/>
                      <a:tailEnd len="sm" w="sm" type="none"/>
                    </a:lnR>
                    <a:lnT cap="flat" cmpd="sng" w="9525">
                      <a:solidFill>
                        <a:srgbClr val="D9E2EA"/>
                      </a:solidFill>
                      <a:prstDash val="solid"/>
                      <a:round/>
                      <a:headEnd len="sm" w="sm" type="none"/>
                      <a:tailEnd len="sm" w="sm" type="none"/>
                    </a:lnT>
                    <a:lnB cap="flat" cmpd="sng" w="9525">
                      <a:solidFill>
                        <a:srgbClr val="D9E2EA"/>
                      </a:solidFill>
                      <a:prstDash val="solid"/>
                      <a:round/>
                      <a:headEnd len="sm" w="sm" type="none"/>
                      <a:tailEnd len="sm" w="sm" type="none"/>
                    </a:lnB>
                    <a:solidFill>
                      <a:srgbClr val="F2F6F9"/>
                    </a:solidFill>
                  </a:tcPr>
                </a:tc>
                <a:tc>
                  <a:txBody>
                    <a:bodyPr/>
                    <a:lstStyle/>
                    <a:p>
                      <a:pPr indent="0" lvl="0" marL="0" marR="0" rtl="0" algn="l">
                        <a:spcBef>
                          <a:spcPts val="0"/>
                        </a:spcBef>
                        <a:spcAft>
                          <a:spcPts val="0"/>
                        </a:spcAft>
                        <a:buClr>
                          <a:srgbClr val="23293B"/>
                        </a:buClr>
                        <a:buSzPts val="1150"/>
                        <a:buFont typeface="Calibri"/>
                        <a:buNone/>
                      </a:pPr>
                      <a:r>
                        <a:rPr lang="en-US" sz="1150" u="none" cap="none" strike="noStrike">
                          <a:solidFill>
                            <a:srgbClr val="23293B"/>
                          </a:solidFill>
                          <a:latin typeface="Calibri"/>
                          <a:ea typeface="Calibri"/>
                          <a:cs typeface="Calibri"/>
                          <a:sym typeface="Calibri"/>
                        </a:rPr>
                        <a:t>28.9 ms</a:t>
                      </a:r>
                      <a:endParaRPr sz="1150" u="none" cap="none" strike="noStrike">
                        <a:latin typeface="Calibri"/>
                        <a:ea typeface="Calibri"/>
                        <a:cs typeface="Calibri"/>
                        <a:sym typeface="Calibri"/>
                      </a:endParaRPr>
                    </a:p>
                  </a:txBody>
                  <a:tcPr marT="64000" marB="64000" marR="64000" marL="64000" anchor="ctr">
                    <a:lnL cap="flat" cmpd="sng" w="9525">
                      <a:solidFill>
                        <a:srgbClr val="D9E2EA"/>
                      </a:solidFill>
                      <a:prstDash val="solid"/>
                      <a:round/>
                      <a:headEnd len="sm" w="sm" type="none"/>
                      <a:tailEnd len="sm" w="sm" type="none"/>
                    </a:lnL>
                    <a:lnR cap="flat" cmpd="sng" w="9525">
                      <a:solidFill>
                        <a:srgbClr val="D9E2EA"/>
                      </a:solidFill>
                      <a:prstDash val="solid"/>
                      <a:round/>
                      <a:headEnd len="sm" w="sm" type="none"/>
                      <a:tailEnd len="sm" w="sm" type="none"/>
                    </a:lnR>
                    <a:lnT cap="flat" cmpd="sng" w="9525">
                      <a:solidFill>
                        <a:srgbClr val="D9E2EA"/>
                      </a:solidFill>
                      <a:prstDash val="solid"/>
                      <a:round/>
                      <a:headEnd len="sm" w="sm" type="none"/>
                      <a:tailEnd len="sm" w="sm" type="none"/>
                    </a:lnT>
                    <a:lnB cap="flat" cmpd="sng" w="9525">
                      <a:solidFill>
                        <a:srgbClr val="D9E2EA"/>
                      </a:solidFill>
                      <a:prstDash val="solid"/>
                      <a:round/>
                      <a:headEnd len="sm" w="sm" type="none"/>
                      <a:tailEnd len="sm" w="sm" type="none"/>
                    </a:lnB>
                    <a:solidFill>
                      <a:srgbClr val="F2F6F9"/>
                    </a:solidFill>
                  </a:tcPr>
                </a:tc>
                <a:tc>
                  <a:txBody>
                    <a:bodyPr/>
                    <a:lstStyle/>
                    <a:p>
                      <a:pPr indent="0" lvl="0" marL="0" marR="0" rtl="0" algn="l">
                        <a:spcBef>
                          <a:spcPts val="0"/>
                        </a:spcBef>
                        <a:spcAft>
                          <a:spcPts val="0"/>
                        </a:spcAft>
                        <a:buClr>
                          <a:srgbClr val="23293B"/>
                        </a:buClr>
                        <a:buSzPts val="1150"/>
                        <a:buFont typeface="Calibri"/>
                        <a:buNone/>
                      </a:pPr>
                      <a:r>
                        <a:rPr lang="en-US" sz="1150" u="none" cap="none" strike="noStrike">
                          <a:solidFill>
                            <a:srgbClr val="23293B"/>
                          </a:solidFill>
                          <a:latin typeface="Calibri"/>
                          <a:ea typeface="Calibri"/>
                          <a:cs typeface="Calibri"/>
                          <a:sym typeface="Calibri"/>
                        </a:rPr>
                        <a:t>10 MB</a:t>
                      </a:r>
                      <a:endParaRPr sz="1150" u="none" cap="none" strike="noStrike">
                        <a:latin typeface="Calibri"/>
                        <a:ea typeface="Calibri"/>
                        <a:cs typeface="Calibri"/>
                        <a:sym typeface="Calibri"/>
                      </a:endParaRPr>
                    </a:p>
                  </a:txBody>
                  <a:tcPr marT="64000" marB="64000" marR="64000" marL="64000" anchor="ctr">
                    <a:lnL cap="flat" cmpd="sng" w="9525">
                      <a:solidFill>
                        <a:srgbClr val="D9E2EA"/>
                      </a:solidFill>
                      <a:prstDash val="solid"/>
                      <a:round/>
                      <a:headEnd len="sm" w="sm" type="none"/>
                      <a:tailEnd len="sm" w="sm" type="none"/>
                    </a:lnL>
                    <a:lnR cap="flat" cmpd="sng" w="9525">
                      <a:solidFill>
                        <a:srgbClr val="D9E2EA"/>
                      </a:solidFill>
                      <a:prstDash val="solid"/>
                      <a:round/>
                      <a:headEnd len="sm" w="sm" type="none"/>
                      <a:tailEnd len="sm" w="sm" type="none"/>
                    </a:lnR>
                    <a:lnT cap="flat" cmpd="sng" w="9525">
                      <a:solidFill>
                        <a:srgbClr val="D9E2EA"/>
                      </a:solidFill>
                      <a:prstDash val="solid"/>
                      <a:round/>
                      <a:headEnd len="sm" w="sm" type="none"/>
                      <a:tailEnd len="sm" w="sm" type="none"/>
                    </a:lnT>
                    <a:lnB cap="flat" cmpd="sng" w="9525">
                      <a:solidFill>
                        <a:srgbClr val="D9E2EA"/>
                      </a:solidFill>
                      <a:prstDash val="solid"/>
                      <a:round/>
                      <a:headEnd len="sm" w="sm" type="none"/>
                      <a:tailEnd len="sm" w="sm" type="none"/>
                    </a:lnB>
                    <a:solidFill>
                      <a:srgbClr val="F2F6F9"/>
                    </a:solidFill>
                  </a:tcPr>
                </a:tc>
              </a:tr>
            </a:tbl>
          </a:graphicData>
        </a:graphic>
      </p:graphicFrame>
    </p:spTree>
  </p:cSld>
  <p:clrMapOvr>
    <a:masterClrMapping/>
  </p:clrMapOvr>
</p:sld>
</file>

<file path=ppt/slides/slide1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41F49"/>
        </a:solidFill>
      </p:bgPr>
    </p:bg>
    <p:spTree>
      <p:nvGrpSpPr>
        <p:cNvPr id="4035" name="Shape 4035"/>
        <p:cNvGrpSpPr/>
        <p:nvPr/>
      </p:nvGrpSpPr>
      <p:grpSpPr>
        <a:xfrm>
          <a:off x="0" y="0"/>
          <a:ext cx="0" cy="0"/>
          <a:chOff x="0" y="0"/>
          <a:chExt cx="0" cy="0"/>
        </a:xfrm>
      </p:grpSpPr>
      <p:sp>
        <p:nvSpPr>
          <p:cNvPr id="4036" name="Google Shape;4036;p145"/>
          <p:cNvSpPr/>
          <p:nvPr/>
        </p:nvSpPr>
        <p:spPr>
          <a:xfrm>
            <a:off x="9418320" y="6149340"/>
            <a:ext cx="411480" cy="356616"/>
          </a:xfrm>
          <a:prstGeom prst="triangle">
            <a:avLst>
              <a:gd fmla="val 50000" name="adj"/>
            </a:avLst>
          </a:prstGeom>
          <a:solidFill>
            <a:srgbClr val="00A79D">
              <a:alpha val="18039"/>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37" name="Google Shape;4037;p145"/>
          <p:cNvSpPr/>
          <p:nvPr/>
        </p:nvSpPr>
        <p:spPr>
          <a:xfrm rot="10800000">
            <a:off x="9857232" y="5806440"/>
            <a:ext cx="411480" cy="356616"/>
          </a:xfrm>
          <a:prstGeom prst="triangle">
            <a:avLst>
              <a:gd fmla="val 50000" name="adj"/>
            </a:avLst>
          </a:prstGeom>
          <a:solidFill>
            <a:srgbClr val="29ABE2">
              <a:alpha val="18039"/>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38" name="Google Shape;4038;p145"/>
          <p:cNvSpPr/>
          <p:nvPr/>
        </p:nvSpPr>
        <p:spPr>
          <a:xfrm rot="10800000">
            <a:off x="9857232" y="6492240"/>
            <a:ext cx="411480" cy="356616"/>
          </a:xfrm>
          <a:prstGeom prst="triangle">
            <a:avLst>
              <a:gd fmla="val 50000" name="adj"/>
            </a:avLst>
          </a:prstGeom>
          <a:solidFill>
            <a:srgbClr val="F58220">
              <a:alpha val="18039"/>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39" name="Google Shape;4039;p145"/>
          <p:cNvSpPr/>
          <p:nvPr/>
        </p:nvSpPr>
        <p:spPr>
          <a:xfrm>
            <a:off x="10296144" y="6149340"/>
            <a:ext cx="411480" cy="356616"/>
          </a:xfrm>
          <a:prstGeom prst="triangle">
            <a:avLst>
              <a:gd fmla="val 50000" name="adj"/>
            </a:avLst>
          </a:prstGeom>
          <a:solidFill>
            <a:srgbClr val="8DC63F">
              <a:alpha val="18039"/>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40" name="Google Shape;4040;p145"/>
          <p:cNvSpPr/>
          <p:nvPr/>
        </p:nvSpPr>
        <p:spPr>
          <a:xfrm>
            <a:off x="10296144" y="5463540"/>
            <a:ext cx="411480" cy="356616"/>
          </a:xfrm>
          <a:prstGeom prst="triangle">
            <a:avLst>
              <a:gd fmla="val 50000" name="adj"/>
            </a:avLst>
          </a:prstGeom>
          <a:solidFill>
            <a:srgbClr val="1D2A5C">
              <a:alpha val="18039"/>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41" name="Google Shape;4041;p145"/>
          <p:cNvSpPr/>
          <p:nvPr/>
        </p:nvSpPr>
        <p:spPr>
          <a:xfrm rot="10800000">
            <a:off x="10735056" y="5806440"/>
            <a:ext cx="411480" cy="356616"/>
          </a:xfrm>
          <a:prstGeom prst="triangle">
            <a:avLst>
              <a:gd fmla="val 50000" name="adj"/>
            </a:avLst>
          </a:prstGeom>
          <a:solidFill>
            <a:srgbClr val="29ABE2">
              <a:alpha val="18039"/>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42" name="Google Shape;4042;p145"/>
          <p:cNvSpPr/>
          <p:nvPr/>
        </p:nvSpPr>
        <p:spPr>
          <a:xfrm>
            <a:off x="10735056" y="6492240"/>
            <a:ext cx="411480" cy="356616"/>
          </a:xfrm>
          <a:prstGeom prst="triangle">
            <a:avLst>
              <a:gd fmla="val 50000" name="adj"/>
            </a:avLst>
          </a:prstGeom>
          <a:solidFill>
            <a:srgbClr val="00A79D">
              <a:alpha val="18039"/>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43" name="Google Shape;4043;p145"/>
          <p:cNvSpPr/>
          <p:nvPr/>
        </p:nvSpPr>
        <p:spPr>
          <a:xfrm rot="10800000">
            <a:off x="11173968" y="6149340"/>
            <a:ext cx="411480" cy="356616"/>
          </a:xfrm>
          <a:prstGeom prst="triangle">
            <a:avLst>
              <a:gd fmla="val 50000" name="adj"/>
            </a:avLst>
          </a:prstGeom>
          <a:solidFill>
            <a:srgbClr val="F58220">
              <a:alpha val="18039"/>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44" name="Google Shape;4044;p145"/>
          <p:cNvSpPr/>
          <p:nvPr/>
        </p:nvSpPr>
        <p:spPr>
          <a:xfrm>
            <a:off x="365760" y="747522"/>
            <a:ext cx="233172" cy="202082"/>
          </a:xfrm>
          <a:prstGeom prst="triangle">
            <a:avLst>
              <a:gd fmla="val 50000" name="adj"/>
            </a:avLst>
          </a:prstGeom>
          <a:solidFill>
            <a:srgbClr val="00A79D">
              <a:alpha val="18039"/>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45" name="Google Shape;4045;p145"/>
          <p:cNvSpPr/>
          <p:nvPr/>
        </p:nvSpPr>
        <p:spPr>
          <a:xfrm rot="10800000">
            <a:off x="614477" y="553212"/>
            <a:ext cx="233172" cy="202082"/>
          </a:xfrm>
          <a:prstGeom prst="triangle">
            <a:avLst>
              <a:gd fmla="val 50000" name="adj"/>
            </a:avLst>
          </a:prstGeom>
          <a:solidFill>
            <a:srgbClr val="29ABE2">
              <a:alpha val="18039"/>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46" name="Google Shape;4046;p145"/>
          <p:cNvSpPr/>
          <p:nvPr/>
        </p:nvSpPr>
        <p:spPr>
          <a:xfrm rot="10800000">
            <a:off x="614477" y="941832"/>
            <a:ext cx="233172" cy="202082"/>
          </a:xfrm>
          <a:prstGeom prst="triangle">
            <a:avLst>
              <a:gd fmla="val 50000" name="adj"/>
            </a:avLst>
          </a:prstGeom>
          <a:solidFill>
            <a:srgbClr val="F58220">
              <a:alpha val="18039"/>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47" name="Google Shape;4047;p145"/>
          <p:cNvSpPr/>
          <p:nvPr/>
        </p:nvSpPr>
        <p:spPr>
          <a:xfrm>
            <a:off x="863194" y="747522"/>
            <a:ext cx="233172" cy="202082"/>
          </a:xfrm>
          <a:prstGeom prst="triangle">
            <a:avLst>
              <a:gd fmla="val 50000" name="adj"/>
            </a:avLst>
          </a:prstGeom>
          <a:solidFill>
            <a:srgbClr val="8DC63F">
              <a:alpha val="18039"/>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48" name="Google Shape;4048;p145"/>
          <p:cNvSpPr/>
          <p:nvPr/>
        </p:nvSpPr>
        <p:spPr>
          <a:xfrm>
            <a:off x="863194" y="358902"/>
            <a:ext cx="233172" cy="202082"/>
          </a:xfrm>
          <a:prstGeom prst="triangle">
            <a:avLst>
              <a:gd fmla="val 50000" name="adj"/>
            </a:avLst>
          </a:prstGeom>
          <a:solidFill>
            <a:srgbClr val="1D2A5C">
              <a:alpha val="18039"/>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49" name="Google Shape;4049;p145"/>
          <p:cNvSpPr/>
          <p:nvPr/>
        </p:nvSpPr>
        <p:spPr>
          <a:xfrm rot="10800000">
            <a:off x="1111910" y="553212"/>
            <a:ext cx="233172" cy="202082"/>
          </a:xfrm>
          <a:prstGeom prst="triangle">
            <a:avLst>
              <a:gd fmla="val 50000" name="adj"/>
            </a:avLst>
          </a:prstGeom>
          <a:solidFill>
            <a:srgbClr val="29ABE2">
              <a:alpha val="18039"/>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50" name="Google Shape;4050;p145"/>
          <p:cNvSpPr/>
          <p:nvPr/>
        </p:nvSpPr>
        <p:spPr>
          <a:xfrm>
            <a:off x="1111910" y="941832"/>
            <a:ext cx="233172" cy="202082"/>
          </a:xfrm>
          <a:prstGeom prst="triangle">
            <a:avLst>
              <a:gd fmla="val 50000" name="adj"/>
            </a:avLst>
          </a:prstGeom>
          <a:solidFill>
            <a:srgbClr val="00A79D">
              <a:alpha val="18039"/>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51" name="Google Shape;4051;p145"/>
          <p:cNvSpPr/>
          <p:nvPr/>
        </p:nvSpPr>
        <p:spPr>
          <a:xfrm rot="10800000">
            <a:off x="1360627" y="747522"/>
            <a:ext cx="233172" cy="202082"/>
          </a:xfrm>
          <a:prstGeom prst="triangle">
            <a:avLst>
              <a:gd fmla="val 50000" name="adj"/>
            </a:avLst>
          </a:prstGeom>
          <a:solidFill>
            <a:srgbClr val="F58220">
              <a:alpha val="18039"/>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52" name="Google Shape;4052;p145"/>
          <p:cNvSpPr/>
          <p:nvPr/>
        </p:nvSpPr>
        <p:spPr>
          <a:xfrm>
            <a:off x="10332720" y="347472"/>
            <a:ext cx="1481328" cy="566928"/>
          </a:xfrm>
          <a:prstGeom prst="roundRect">
            <a:avLst>
              <a:gd fmla="val 14516" name="adj"/>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sessions/blissful-determined-ritchie/build/assets/sdaia_logo.png" id="4053" name="Google Shape;4053;p145"/>
          <p:cNvPicPr preferRelativeResize="0"/>
          <p:nvPr/>
        </p:nvPicPr>
        <p:blipFill rotWithShape="1">
          <a:blip r:embed="rId3">
            <a:alphaModFix/>
          </a:blip>
          <a:srcRect b="0" l="0" r="0" t="0"/>
          <a:stretch/>
        </p:blipFill>
        <p:spPr>
          <a:xfrm>
            <a:off x="10442448" y="438912"/>
            <a:ext cx="1261872" cy="308876"/>
          </a:xfrm>
          <a:prstGeom prst="rect">
            <a:avLst/>
          </a:prstGeom>
          <a:noFill/>
          <a:ln>
            <a:noFill/>
          </a:ln>
        </p:spPr>
      </p:pic>
      <p:sp>
        <p:nvSpPr>
          <p:cNvPr id="4054" name="Google Shape;4054;p145"/>
          <p:cNvSpPr/>
          <p:nvPr/>
        </p:nvSpPr>
        <p:spPr>
          <a:xfrm>
            <a:off x="777240" y="1325880"/>
            <a:ext cx="548640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A79D"/>
              </a:buClr>
              <a:buSzPts val="2000"/>
              <a:buFont typeface="Calibri"/>
              <a:buNone/>
            </a:pPr>
            <a:r>
              <a:rPr b="1" i="0" lang="en-US" sz="2000" u="none" cap="none" strike="noStrike">
                <a:solidFill>
                  <a:srgbClr val="00A79D"/>
                </a:solidFill>
                <a:latin typeface="Calibri"/>
                <a:ea typeface="Calibri"/>
                <a:cs typeface="Calibri"/>
                <a:sym typeface="Calibri"/>
              </a:rPr>
              <a:t>CAPSTONE</a:t>
            </a:r>
            <a:endParaRPr b="0" i="0" sz="2000" u="none" cap="none" strike="noStrike">
              <a:solidFill>
                <a:schemeClr val="dk1"/>
              </a:solidFill>
              <a:latin typeface="Calibri"/>
              <a:ea typeface="Calibri"/>
              <a:cs typeface="Calibri"/>
              <a:sym typeface="Calibri"/>
            </a:endParaRPr>
          </a:p>
        </p:txBody>
      </p:sp>
      <p:sp>
        <p:nvSpPr>
          <p:cNvPr id="4055" name="Google Shape;4055;p145"/>
          <p:cNvSpPr/>
          <p:nvPr/>
        </p:nvSpPr>
        <p:spPr>
          <a:xfrm>
            <a:off x="749808" y="1828800"/>
            <a:ext cx="7589520" cy="13716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FFFFFF"/>
              </a:buClr>
              <a:buSzPts val="3600"/>
              <a:buFont typeface="Calibri"/>
              <a:buNone/>
            </a:pPr>
            <a:r>
              <a:rPr b="1" i="0" lang="en-US" sz="3600" u="none" cap="none" strike="noStrike">
                <a:solidFill>
                  <a:srgbClr val="FFFFFF"/>
                </a:solidFill>
                <a:latin typeface="Calibri"/>
                <a:ea typeface="Calibri"/>
                <a:cs typeface="Calibri"/>
                <a:sym typeface="Calibri"/>
              </a:rPr>
              <a:t>Tamr Vision — The Complete Edge Inspection System</a:t>
            </a:r>
            <a:endParaRPr b="0" i="0" sz="3600" u="none" cap="none" strike="noStrike">
              <a:solidFill>
                <a:schemeClr val="dk1"/>
              </a:solidFill>
              <a:latin typeface="Calibri"/>
              <a:ea typeface="Calibri"/>
              <a:cs typeface="Calibri"/>
              <a:sym typeface="Calibri"/>
            </a:endParaRPr>
          </a:p>
        </p:txBody>
      </p:sp>
      <p:sp>
        <p:nvSpPr>
          <p:cNvPr id="4056" name="Google Shape;4056;p145"/>
          <p:cNvSpPr/>
          <p:nvPr/>
        </p:nvSpPr>
        <p:spPr>
          <a:xfrm>
            <a:off x="777240" y="3127248"/>
            <a:ext cx="758952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B9C8E8"/>
              </a:buClr>
              <a:buSzPts val="1700"/>
              <a:buFont typeface="Arial"/>
              <a:buNone/>
            </a:pPr>
            <a:r>
              <a:rPr b="0" i="0" lang="en-US" sz="1700" u="none" cap="none" strike="noStrike">
                <a:solidFill>
                  <a:srgbClr val="B9C8E8"/>
                </a:solidFill>
                <a:latin typeface="Arial"/>
                <a:ea typeface="Arial"/>
                <a:cs typeface="Arial"/>
                <a:sym typeface="Arial"/>
              </a:rPr>
              <a:t>رؤية تمر — نظام الفحص الطرفي المتكامل</a:t>
            </a:r>
            <a:endParaRPr b="0" i="0" sz="1700" u="none" cap="none" strike="noStrike">
              <a:solidFill>
                <a:schemeClr val="dk1"/>
              </a:solidFill>
              <a:latin typeface="Calibri"/>
              <a:ea typeface="Calibri"/>
              <a:cs typeface="Calibri"/>
              <a:sym typeface="Calibri"/>
            </a:endParaRPr>
          </a:p>
        </p:txBody>
      </p:sp>
      <p:sp>
        <p:nvSpPr>
          <p:cNvPr id="4057" name="Google Shape;4057;p145"/>
          <p:cNvSpPr/>
          <p:nvPr/>
        </p:nvSpPr>
        <p:spPr>
          <a:xfrm>
            <a:off x="804672" y="3703320"/>
            <a:ext cx="6949440" cy="2560320"/>
          </a:xfrm>
          <a:prstGeom prst="rect">
            <a:avLst/>
          </a:prstGeom>
          <a:noFill/>
          <a:ln>
            <a:noFill/>
          </a:ln>
        </p:spPr>
        <p:txBody>
          <a:bodyPr anchorCtr="0" anchor="t" bIns="0" lIns="0" spcFirstLastPara="1" rIns="0" wrap="square" tIns="0">
            <a:noAutofit/>
          </a:bodyPr>
          <a:lstStyle/>
          <a:p>
            <a:pPr indent="-177800" lvl="0" marL="177800" marR="0" rtl="0" algn="l">
              <a:spcBef>
                <a:spcPts val="0"/>
              </a:spcBef>
              <a:spcAft>
                <a:spcPts val="0"/>
              </a:spcAft>
              <a:buClr>
                <a:srgbClr val="DCE6F8"/>
              </a:buClr>
              <a:buSzPts val="1300"/>
              <a:buFont typeface="Calibri"/>
              <a:buChar char="▪"/>
            </a:pPr>
            <a:r>
              <a:rPr b="0" i="0" lang="en-US" sz="1300" u="none" cap="none" strike="noStrike">
                <a:solidFill>
                  <a:srgbClr val="DCE6F8"/>
                </a:solidFill>
                <a:latin typeface="Calibri"/>
                <a:ea typeface="Calibri"/>
                <a:cs typeface="Calibri"/>
                <a:sym typeface="Calibri"/>
              </a:rPr>
              <a:t>One system: pipeline, classifier, detector, segmenter</a:t>
            </a:r>
            <a:endParaRPr b="0" i="0" sz="1300" u="none" cap="none" strike="noStrike">
              <a:solidFill>
                <a:schemeClr val="dk1"/>
              </a:solidFill>
              <a:latin typeface="Calibri"/>
              <a:ea typeface="Calibri"/>
              <a:cs typeface="Calibri"/>
              <a:sym typeface="Calibri"/>
            </a:endParaRPr>
          </a:p>
          <a:p>
            <a:pPr indent="-177800" lvl="0" marL="177800" marR="0" rtl="0" algn="l">
              <a:spcBef>
                <a:spcPts val="800"/>
              </a:spcBef>
              <a:spcAft>
                <a:spcPts val="0"/>
              </a:spcAft>
              <a:buClr>
                <a:srgbClr val="DCE6F8"/>
              </a:buClr>
              <a:buSzPts val="1300"/>
              <a:buFont typeface="Calibri"/>
              <a:buChar char="▪"/>
            </a:pPr>
            <a:r>
              <a:rPr b="0" i="0" lang="en-US" sz="1300" u="none" cap="none" strike="noStrike">
                <a:solidFill>
                  <a:srgbClr val="DCE6F8"/>
                </a:solidFill>
                <a:latin typeface="Calibri"/>
                <a:ea typeface="Calibri"/>
                <a:cs typeface="Calibri"/>
                <a:sym typeface="Calibri"/>
              </a:rPr>
              <a:t>Refereed by your own harness on the frozen split</a:t>
            </a:r>
            <a:endParaRPr b="0" i="0" sz="1300" u="none" cap="none" strike="noStrike">
              <a:solidFill>
                <a:schemeClr val="dk1"/>
              </a:solidFill>
              <a:latin typeface="Calibri"/>
              <a:ea typeface="Calibri"/>
              <a:cs typeface="Calibri"/>
              <a:sym typeface="Calibri"/>
            </a:endParaRPr>
          </a:p>
          <a:p>
            <a:pPr indent="-177800" lvl="0" marL="177800" marR="0" rtl="0" algn="l">
              <a:spcBef>
                <a:spcPts val="800"/>
              </a:spcBef>
              <a:spcAft>
                <a:spcPts val="0"/>
              </a:spcAft>
              <a:buClr>
                <a:srgbClr val="DCE6F8"/>
              </a:buClr>
              <a:buSzPts val="1300"/>
              <a:buFont typeface="Calibri"/>
              <a:buChar char="▪"/>
            </a:pPr>
            <a:r>
              <a:rPr b="0" i="0" lang="en-US" sz="1300" u="none" cap="none" strike="noStrike">
                <a:solidFill>
                  <a:srgbClr val="DCE6F8"/>
                </a:solidFill>
                <a:latin typeface="Calibri"/>
                <a:ea typeface="Calibri"/>
                <a:cs typeface="Calibri"/>
                <a:sym typeface="Calibri"/>
              </a:rPr>
              <a:t>Deployed as parity-tested, quantised edge artefacts</a:t>
            </a:r>
            <a:endParaRPr b="0" i="0" sz="1300" u="none" cap="none" strike="noStrike">
              <a:solidFill>
                <a:schemeClr val="dk1"/>
              </a:solidFill>
              <a:latin typeface="Calibri"/>
              <a:ea typeface="Calibri"/>
              <a:cs typeface="Calibri"/>
              <a:sym typeface="Calibri"/>
            </a:endParaRPr>
          </a:p>
          <a:p>
            <a:pPr indent="-177800" lvl="0" marL="177800" marR="0" rtl="0" algn="l">
              <a:spcBef>
                <a:spcPts val="800"/>
              </a:spcBef>
              <a:spcAft>
                <a:spcPts val="0"/>
              </a:spcAft>
              <a:buClr>
                <a:srgbClr val="DCE6F8"/>
              </a:buClr>
              <a:buSzPts val="1300"/>
              <a:buFont typeface="Calibri"/>
              <a:buChar char="▪"/>
            </a:pPr>
            <a:r>
              <a:rPr b="0" i="0" lang="en-US" sz="1300" u="none" cap="none" strike="noStrike">
                <a:solidFill>
                  <a:srgbClr val="DCE6F8"/>
                </a:solidFill>
                <a:latin typeface="Calibri"/>
                <a:ea typeface="Calibri"/>
                <a:cs typeface="Calibri"/>
                <a:sym typeface="Calibri"/>
              </a:rPr>
              <a:t>Plus one extension of your choice</a:t>
            </a:r>
            <a:endParaRPr b="0" i="0" sz="1300" u="none" cap="none" strike="noStrike">
              <a:solidFill>
                <a:schemeClr val="dk1"/>
              </a:solidFill>
              <a:latin typeface="Calibri"/>
              <a:ea typeface="Calibri"/>
              <a:cs typeface="Calibri"/>
              <a:sym typeface="Calibri"/>
            </a:endParaRPr>
          </a:p>
        </p:txBody>
      </p:sp>
      <p:sp>
        <p:nvSpPr>
          <p:cNvPr id="4058" name="Google Shape;4058;p145"/>
          <p:cNvSpPr/>
          <p:nvPr/>
        </p:nvSpPr>
        <p:spPr>
          <a:xfrm>
            <a:off x="8366760" y="3520440"/>
            <a:ext cx="3383280" cy="2286000"/>
          </a:xfrm>
          <a:prstGeom prst="roundRect">
            <a:avLst>
              <a:gd fmla="val 4000" name="adj"/>
            </a:avLst>
          </a:prstGeom>
          <a:solidFill>
            <a:srgbClr val="1C2C63"/>
          </a:solidFill>
          <a:ln cap="flat" cmpd="sng" w="15875">
            <a:solidFill>
              <a:srgbClr val="00A79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59" name="Google Shape;4059;p145"/>
          <p:cNvSpPr/>
          <p:nvPr/>
        </p:nvSpPr>
        <p:spPr>
          <a:xfrm>
            <a:off x="8595360" y="3703320"/>
            <a:ext cx="292608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A79D"/>
              </a:buClr>
              <a:buSzPts val="1000"/>
              <a:buFont typeface="Calibri"/>
              <a:buNone/>
            </a:pPr>
            <a:r>
              <a:rPr b="1" i="0" lang="en-US" sz="1000" u="none" cap="none" strike="noStrike">
                <a:solidFill>
                  <a:srgbClr val="00A79D"/>
                </a:solidFill>
                <a:latin typeface="Calibri"/>
                <a:ea typeface="Calibri"/>
                <a:cs typeface="Calibri"/>
                <a:sym typeface="Calibri"/>
              </a:rPr>
              <a:t>WHAT YOU DEMO</a:t>
            </a:r>
            <a:endParaRPr b="0" i="0" sz="1000" u="none" cap="none" strike="noStrike">
              <a:solidFill>
                <a:schemeClr val="dk1"/>
              </a:solidFill>
              <a:latin typeface="Calibri"/>
              <a:ea typeface="Calibri"/>
              <a:cs typeface="Calibri"/>
              <a:sym typeface="Calibri"/>
            </a:endParaRPr>
          </a:p>
        </p:txBody>
      </p:sp>
      <p:sp>
        <p:nvSpPr>
          <p:cNvPr id="4060" name="Google Shape;4060;p145"/>
          <p:cNvSpPr/>
          <p:nvPr/>
        </p:nvSpPr>
        <p:spPr>
          <a:xfrm>
            <a:off x="8595360" y="4041648"/>
            <a:ext cx="2971800" cy="16002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FFFFFF"/>
              </a:buClr>
              <a:buSzPts val="1250"/>
              <a:buFont typeface="Calibri"/>
              <a:buNone/>
            </a:pPr>
            <a:r>
              <a:rPr b="0" i="0" lang="en-US" sz="1250" u="none" cap="none" strike="noStrike">
                <a:solidFill>
                  <a:srgbClr val="FFFFFF"/>
                </a:solidFill>
                <a:latin typeface="Calibri"/>
                <a:ea typeface="Calibri"/>
                <a:cs typeface="Calibri"/>
                <a:sym typeface="Calibri"/>
              </a:rPr>
              <a:t>A 5-minute run on sample footage with live decisions and logs, one harness insight, one defended trade-off, and your remediation plan's top line</a:t>
            </a:r>
            <a:endParaRPr b="0" i="0" sz="1250" u="none" cap="none" strike="noStrike">
              <a:solidFill>
                <a:schemeClr val="dk1"/>
              </a:solidFill>
              <a:latin typeface="Calibri"/>
              <a:ea typeface="Calibri"/>
              <a:cs typeface="Calibri"/>
              <a:sym typeface="Calibri"/>
            </a:endParaRPr>
          </a:p>
        </p:txBody>
      </p:sp>
      <p:sp>
        <p:nvSpPr>
          <p:cNvPr id="4061" name="Google Shape;4061;p145"/>
          <p:cNvSpPr/>
          <p:nvPr/>
        </p:nvSpPr>
        <p:spPr>
          <a:xfrm>
            <a:off x="11292840" y="6528816"/>
            <a:ext cx="411480" cy="219456"/>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5A6A96"/>
              </a:buClr>
              <a:buSzPts val="900"/>
              <a:buFont typeface="Calibri"/>
              <a:buNone/>
            </a:pPr>
            <a:r>
              <a:rPr b="0" i="0" lang="en-US" sz="900" u="none" cap="none" strike="noStrike">
                <a:solidFill>
                  <a:srgbClr val="5A6A96"/>
                </a:solidFill>
                <a:latin typeface="Calibri"/>
                <a:ea typeface="Calibri"/>
                <a:cs typeface="Calibri"/>
                <a:sym typeface="Calibri"/>
              </a:rPr>
              <a:t>145</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1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066" name="Shape 4066"/>
        <p:cNvGrpSpPr/>
        <p:nvPr/>
      </p:nvGrpSpPr>
      <p:grpSpPr>
        <a:xfrm>
          <a:off x="0" y="0"/>
          <a:ext cx="0" cy="0"/>
          <a:chOff x="0" y="0"/>
          <a:chExt cx="0" cy="0"/>
        </a:xfrm>
      </p:grpSpPr>
      <p:sp>
        <p:nvSpPr>
          <p:cNvPr id="4067" name="Google Shape;4067;p146"/>
          <p:cNvSpPr/>
          <p:nvPr/>
        </p:nvSpPr>
        <p:spPr>
          <a:xfrm>
            <a:off x="502920" y="274320"/>
            <a:ext cx="9646920" cy="56692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D2A5C"/>
              </a:buClr>
              <a:buSzPts val="2700"/>
              <a:buFont typeface="Calibri"/>
              <a:buNone/>
            </a:pPr>
            <a:r>
              <a:rPr b="1" i="0" lang="en-US" sz="2700" u="none" cap="none" strike="noStrike">
                <a:solidFill>
                  <a:srgbClr val="1D2A5C"/>
                </a:solidFill>
                <a:latin typeface="Calibri"/>
                <a:ea typeface="Calibri"/>
                <a:cs typeface="Calibri"/>
                <a:sym typeface="Calibri"/>
              </a:rPr>
              <a:t>Mandatory scope: seven requirements</a:t>
            </a:r>
            <a:endParaRPr b="0" i="0" sz="2700" u="none" cap="none" strike="noStrike">
              <a:solidFill>
                <a:schemeClr val="dk1"/>
              </a:solidFill>
              <a:latin typeface="Calibri"/>
              <a:ea typeface="Calibri"/>
              <a:cs typeface="Calibri"/>
              <a:sym typeface="Calibri"/>
            </a:endParaRPr>
          </a:p>
        </p:txBody>
      </p:sp>
      <p:sp>
        <p:nvSpPr>
          <p:cNvPr id="4068" name="Google Shape;4068;p146"/>
          <p:cNvSpPr/>
          <p:nvPr/>
        </p:nvSpPr>
        <p:spPr>
          <a:xfrm>
            <a:off x="502920" y="859536"/>
            <a:ext cx="9646920" cy="31089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F6B7A"/>
              </a:buClr>
              <a:buSzPts val="1250"/>
              <a:buFont typeface="Arial"/>
              <a:buNone/>
            </a:pPr>
            <a:r>
              <a:rPr b="0" i="0" lang="en-US" sz="1250" u="none" cap="none" strike="noStrike">
                <a:solidFill>
                  <a:srgbClr val="5F6B7A"/>
                </a:solidFill>
                <a:latin typeface="Arial"/>
                <a:ea typeface="Arial"/>
                <a:cs typeface="Arial"/>
                <a:sym typeface="Arial"/>
              </a:rPr>
              <a:t>المتطلبات الإلزامية</a:t>
            </a:r>
            <a:endParaRPr b="0" i="0" sz="1250" u="none" cap="none" strike="noStrike">
              <a:solidFill>
                <a:schemeClr val="dk1"/>
              </a:solidFill>
              <a:latin typeface="Calibri"/>
              <a:ea typeface="Calibri"/>
              <a:cs typeface="Calibri"/>
              <a:sym typeface="Calibri"/>
            </a:endParaRPr>
          </a:p>
        </p:txBody>
      </p:sp>
      <p:pic>
        <p:nvPicPr>
          <p:cNvPr descr="/sessions/blissful-determined-ritchie/build/assets/sdaia_logo.png" id="4069" name="Google Shape;4069;p146"/>
          <p:cNvPicPr preferRelativeResize="0"/>
          <p:nvPr/>
        </p:nvPicPr>
        <p:blipFill rotWithShape="1">
          <a:blip r:embed="rId3">
            <a:alphaModFix/>
          </a:blip>
          <a:srcRect b="0" l="0" r="0" t="0"/>
          <a:stretch/>
        </p:blipFill>
        <p:spPr>
          <a:xfrm>
            <a:off x="10625328" y="310896"/>
            <a:ext cx="1078992" cy="264111"/>
          </a:xfrm>
          <a:prstGeom prst="rect">
            <a:avLst/>
          </a:prstGeom>
          <a:noFill/>
          <a:ln>
            <a:noFill/>
          </a:ln>
        </p:spPr>
      </p:pic>
      <p:sp>
        <p:nvSpPr>
          <p:cNvPr id="4070" name="Google Shape;4070;p146"/>
          <p:cNvSpPr/>
          <p:nvPr/>
        </p:nvSpPr>
        <p:spPr>
          <a:xfrm>
            <a:off x="502920" y="6528816"/>
            <a:ext cx="8686800"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A79D"/>
              </a:buClr>
              <a:buSzPts val="800"/>
              <a:buFont typeface="Calibri"/>
              <a:buNone/>
            </a:pPr>
            <a:r>
              <a:rPr b="1" i="0" lang="en-US" sz="800" u="none" cap="none" strike="noStrike">
                <a:solidFill>
                  <a:srgbClr val="00A79D"/>
                </a:solidFill>
                <a:latin typeface="Calibri"/>
                <a:ea typeface="Calibri"/>
                <a:cs typeface="Calibri"/>
                <a:sym typeface="Calibri"/>
              </a:rPr>
              <a:t>CAPSTONE   </a:t>
            </a:r>
            <a:r>
              <a:rPr b="0" i="0" lang="en-US" sz="800" u="none" cap="none" strike="noStrike">
                <a:solidFill>
                  <a:srgbClr val="8A96A6"/>
                </a:solidFill>
                <a:latin typeface="Calibri"/>
                <a:ea typeface="Calibri"/>
                <a:cs typeface="Calibri"/>
                <a:sym typeface="Calibri"/>
              </a:rPr>
              <a:t>SDA-AIE-212 · Computer Vision Systems Development</a:t>
            </a:r>
            <a:endParaRPr b="0" i="0" sz="800" u="none" cap="none" strike="noStrike">
              <a:solidFill>
                <a:schemeClr val="dk1"/>
              </a:solidFill>
              <a:latin typeface="Calibri"/>
              <a:ea typeface="Calibri"/>
              <a:cs typeface="Calibri"/>
              <a:sym typeface="Calibri"/>
            </a:endParaRPr>
          </a:p>
        </p:txBody>
      </p:sp>
      <p:sp>
        <p:nvSpPr>
          <p:cNvPr id="4071" name="Google Shape;4071;p146"/>
          <p:cNvSpPr/>
          <p:nvPr/>
        </p:nvSpPr>
        <p:spPr>
          <a:xfrm>
            <a:off x="11292840" y="6528816"/>
            <a:ext cx="411480" cy="219456"/>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8A96A6"/>
              </a:buClr>
              <a:buSzPts val="900"/>
              <a:buFont typeface="Calibri"/>
              <a:buNone/>
            </a:pPr>
            <a:r>
              <a:rPr b="0" i="0" lang="en-US" sz="900" u="none" cap="none" strike="noStrike">
                <a:solidFill>
                  <a:srgbClr val="8A96A6"/>
                </a:solidFill>
                <a:latin typeface="Calibri"/>
                <a:ea typeface="Calibri"/>
                <a:cs typeface="Calibri"/>
                <a:sym typeface="Calibri"/>
              </a:rPr>
              <a:t>146</a:t>
            </a:r>
            <a:endParaRPr b="0" i="0" sz="900" u="none" cap="none" strike="noStrike">
              <a:solidFill>
                <a:schemeClr val="dk1"/>
              </a:solidFill>
              <a:latin typeface="Calibri"/>
              <a:ea typeface="Calibri"/>
              <a:cs typeface="Calibri"/>
              <a:sym typeface="Calibri"/>
            </a:endParaRPr>
          </a:p>
        </p:txBody>
      </p:sp>
      <p:sp>
        <p:nvSpPr>
          <p:cNvPr id="4072" name="Google Shape;4072;p146"/>
          <p:cNvSpPr/>
          <p:nvPr/>
        </p:nvSpPr>
        <p:spPr>
          <a:xfrm>
            <a:off x="502920" y="1389888"/>
            <a:ext cx="11185855" cy="3657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5F6B7A"/>
              </a:buClr>
              <a:buSzPts val="1250"/>
              <a:buFont typeface="Calibri"/>
              <a:buNone/>
            </a:pPr>
            <a:r>
              <a:rPr b="0" i="1" lang="en-US" sz="1250" u="none" cap="none" strike="noStrike">
                <a:solidFill>
                  <a:srgbClr val="5F6B7A"/>
                </a:solidFill>
                <a:latin typeface="Calibri"/>
                <a:ea typeface="Calibri"/>
                <a:cs typeface="Calibri"/>
                <a:sym typeface="Calibri"/>
              </a:rPr>
              <a:t>Each requirement maps to the module that taught it — the capstone is integration plus your own engineering judgement.</a:t>
            </a:r>
            <a:endParaRPr b="0" i="0" sz="1250" u="none" cap="none" strike="noStrike">
              <a:solidFill>
                <a:schemeClr val="dk1"/>
              </a:solidFill>
              <a:latin typeface="Calibri"/>
              <a:ea typeface="Calibri"/>
              <a:cs typeface="Calibri"/>
              <a:sym typeface="Calibri"/>
            </a:endParaRPr>
          </a:p>
        </p:txBody>
      </p:sp>
      <p:graphicFrame>
        <p:nvGraphicFramePr>
          <p:cNvPr id="4073" name="Google Shape;4073;p146"/>
          <p:cNvGraphicFramePr/>
          <p:nvPr/>
        </p:nvGraphicFramePr>
        <p:xfrm>
          <a:off x="502920" y="1865376"/>
          <a:ext cx="3000000" cy="3000000"/>
        </p:xfrm>
        <a:graphic>
          <a:graphicData uri="http://schemas.openxmlformats.org/drawingml/2006/table">
            <a:tbl>
              <a:tblPr>
                <a:noFill/>
                <a:tableStyleId>{F80342BA-3033-44D6-9F91-622DC7A4C435}</a:tableStyleId>
              </a:tblPr>
              <a:tblGrid>
                <a:gridCol w="3773050"/>
                <a:gridCol w="5072875"/>
                <a:gridCol w="2339950"/>
              </a:tblGrid>
              <a:tr h="549775">
                <a:tc>
                  <a:txBody>
                    <a:bodyPr/>
                    <a:lstStyle/>
                    <a:p>
                      <a:pPr indent="0" lvl="0" marL="0" marR="0" rtl="0" algn="l">
                        <a:spcBef>
                          <a:spcPts val="0"/>
                        </a:spcBef>
                        <a:spcAft>
                          <a:spcPts val="0"/>
                        </a:spcAft>
                        <a:buClr>
                          <a:srgbClr val="FFFFFF"/>
                        </a:buClr>
                        <a:buSzPts val="1050"/>
                        <a:buFont typeface="Calibri"/>
                        <a:buNone/>
                      </a:pPr>
                      <a:r>
                        <a:rPr b="1" lang="en-US" sz="1050" u="none" cap="none" strike="noStrike">
                          <a:solidFill>
                            <a:srgbClr val="FFFFFF"/>
                          </a:solidFill>
                          <a:latin typeface="Calibri"/>
                          <a:ea typeface="Calibri"/>
                          <a:cs typeface="Calibri"/>
                          <a:sym typeface="Calibri"/>
                        </a:rPr>
                        <a:t>Requirement</a:t>
                      </a:r>
                      <a:endParaRPr sz="1050" u="none" cap="none" strike="noStrike">
                        <a:latin typeface="Calibri"/>
                        <a:ea typeface="Calibri"/>
                        <a:cs typeface="Calibri"/>
                        <a:sym typeface="Calibri"/>
                      </a:endParaRPr>
                    </a:p>
                  </a:txBody>
                  <a:tcPr marT="64000" marB="64000" marR="64000" marL="64000" anchor="ctr">
                    <a:lnL cap="flat" cmpd="sng" w="9525">
                      <a:solidFill>
                        <a:srgbClr val="D9E2EA"/>
                      </a:solidFill>
                      <a:prstDash val="solid"/>
                      <a:round/>
                      <a:headEnd len="sm" w="sm" type="none"/>
                      <a:tailEnd len="sm" w="sm" type="none"/>
                    </a:lnL>
                    <a:lnR cap="flat" cmpd="sng" w="9525">
                      <a:solidFill>
                        <a:srgbClr val="D9E2EA"/>
                      </a:solidFill>
                      <a:prstDash val="solid"/>
                      <a:round/>
                      <a:headEnd len="sm" w="sm" type="none"/>
                      <a:tailEnd len="sm" w="sm" type="none"/>
                    </a:lnR>
                    <a:lnT cap="flat" cmpd="sng" w="9525">
                      <a:solidFill>
                        <a:srgbClr val="D9E2EA"/>
                      </a:solidFill>
                      <a:prstDash val="solid"/>
                      <a:round/>
                      <a:headEnd len="sm" w="sm" type="none"/>
                      <a:tailEnd len="sm" w="sm" type="none"/>
                    </a:lnT>
                    <a:lnB cap="flat" cmpd="sng" w="9525">
                      <a:solidFill>
                        <a:srgbClr val="D9E2EA"/>
                      </a:solidFill>
                      <a:prstDash val="solid"/>
                      <a:round/>
                      <a:headEnd len="sm" w="sm" type="none"/>
                      <a:tailEnd len="sm" w="sm" type="none"/>
                    </a:lnB>
                    <a:solidFill>
                      <a:srgbClr val="1D2A5C"/>
                    </a:solidFill>
                  </a:tcPr>
                </a:tc>
                <a:tc>
                  <a:txBody>
                    <a:bodyPr/>
                    <a:lstStyle/>
                    <a:p>
                      <a:pPr indent="0" lvl="0" marL="0" marR="0" rtl="0" algn="l">
                        <a:spcBef>
                          <a:spcPts val="0"/>
                        </a:spcBef>
                        <a:spcAft>
                          <a:spcPts val="0"/>
                        </a:spcAft>
                        <a:buClr>
                          <a:srgbClr val="FFFFFF"/>
                        </a:buClr>
                        <a:buSzPts val="1050"/>
                        <a:buFont typeface="Calibri"/>
                        <a:buNone/>
                      </a:pPr>
                      <a:r>
                        <a:rPr b="1" lang="en-US" sz="1050" u="none" cap="none" strike="noStrike">
                          <a:solidFill>
                            <a:srgbClr val="FFFFFF"/>
                          </a:solidFill>
                          <a:latin typeface="Calibri"/>
                          <a:ea typeface="Calibri"/>
                          <a:cs typeface="Calibri"/>
                          <a:sym typeface="Calibri"/>
                        </a:rPr>
                        <a:t>Bar (frozen v2 test split)</a:t>
                      </a:r>
                      <a:endParaRPr sz="1050" u="none" cap="none" strike="noStrike">
                        <a:latin typeface="Calibri"/>
                        <a:ea typeface="Calibri"/>
                        <a:cs typeface="Calibri"/>
                        <a:sym typeface="Calibri"/>
                      </a:endParaRPr>
                    </a:p>
                  </a:txBody>
                  <a:tcPr marT="64000" marB="64000" marR="64000" marL="64000" anchor="ctr">
                    <a:lnL cap="flat" cmpd="sng" w="9525">
                      <a:solidFill>
                        <a:srgbClr val="D9E2EA"/>
                      </a:solidFill>
                      <a:prstDash val="solid"/>
                      <a:round/>
                      <a:headEnd len="sm" w="sm" type="none"/>
                      <a:tailEnd len="sm" w="sm" type="none"/>
                    </a:lnL>
                    <a:lnR cap="flat" cmpd="sng" w="9525">
                      <a:solidFill>
                        <a:srgbClr val="D9E2EA"/>
                      </a:solidFill>
                      <a:prstDash val="solid"/>
                      <a:round/>
                      <a:headEnd len="sm" w="sm" type="none"/>
                      <a:tailEnd len="sm" w="sm" type="none"/>
                    </a:lnR>
                    <a:lnT cap="flat" cmpd="sng" w="9525">
                      <a:solidFill>
                        <a:srgbClr val="D9E2EA"/>
                      </a:solidFill>
                      <a:prstDash val="solid"/>
                      <a:round/>
                      <a:headEnd len="sm" w="sm" type="none"/>
                      <a:tailEnd len="sm" w="sm" type="none"/>
                    </a:lnT>
                    <a:lnB cap="flat" cmpd="sng" w="9525">
                      <a:solidFill>
                        <a:srgbClr val="D9E2EA"/>
                      </a:solidFill>
                      <a:prstDash val="solid"/>
                      <a:round/>
                      <a:headEnd len="sm" w="sm" type="none"/>
                      <a:tailEnd len="sm" w="sm" type="none"/>
                    </a:lnB>
                    <a:solidFill>
                      <a:srgbClr val="1D2A5C"/>
                    </a:solidFill>
                  </a:tcPr>
                </a:tc>
                <a:tc>
                  <a:txBody>
                    <a:bodyPr/>
                    <a:lstStyle/>
                    <a:p>
                      <a:pPr indent="0" lvl="0" marL="0" marR="0" rtl="0" algn="l">
                        <a:spcBef>
                          <a:spcPts val="0"/>
                        </a:spcBef>
                        <a:spcAft>
                          <a:spcPts val="0"/>
                        </a:spcAft>
                        <a:buClr>
                          <a:srgbClr val="FFFFFF"/>
                        </a:buClr>
                        <a:buSzPts val="1050"/>
                        <a:buFont typeface="Calibri"/>
                        <a:buNone/>
                      </a:pPr>
                      <a:r>
                        <a:rPr b="1" lang="en-US" sz="1050" u="none" cap="none" strike="noStrike">
                          <a:solidFill>
                            <a:srgbClr val="FFFFFF"/>
                          </a:solidFill>
                          <a:latin typeface="Calibri"/>
                          <a:ea typeface="Calibri"/>
                          <a:cs typeface="Calibri"/>
                          <a:sym typeface="Calibri"/>
                        </a:rPr>
                        <a:t>LOs</a:t>
                      </a:r>
                      <a:endParaRPr sz="1050" u="none" cap="none" strike="noStrike">
                        <a:latin typeface="Calibri"/>
                        <a:ea typeface="Calibri"/>
                        <a:cs typeface="Calibri"/>
                        <a:sym typeface="Calibri"/>
                      </a:endParaRPr>
                    </a:p>
                  </a:txBody>
                  <a:tcPr marT="64000" marB="64000" marR="64000" marL="64000" anchor="ctr">
                    <a:lnL cap="flat" cmpd="sng" w="9525">
                      <a:solidFill>
                        <a:srgbClr val="D9E2EA"/>
                      </a:solidFill>
                      <a:prstDash val="solid"/>
                      <a:round/>
                      <a:headEnd len="sm" w="sm" type="none"/>
                      <a:tailEnd len="sm" w="sm" type="none"/>
                    </a:lnL>
                    <a:lnR cap="flat" cmpd="sng" w="9525">
                      <a:solidFill>
                        <a:srgbClr val="D9E2EA"/>
                      </a:solidFill>
                      <a:prstDash val="solid"/>
                      <a:round/>
                      <a:headEnd len="sm" w="sm" type="none"/>
                      <a:tailEnd len="sm" w="sm" type="none"/>
                    </a:lnR>
                    <a:lnT cap="flat" cmpd="sng" w="9525">
                      <a:solidFill>
                        <a:srgbClr val="D9E2EA"/>
                      </a:solidFill>
                      <a:prstDash val="solid"/>
                      <a:round/>
                      <a:headEnd len="sm" w="sm" type="none"/>
                      <a:tailEnd len="sm" w="sm" type="none"/>
                    </a:lnT>
                    <a:lnB cap="flat" cmpd="sng" w="9525">
                      <a:solidFill>
                        <a:srgbClr val="D9E2EA"/>
                      </a:solidFill>
                      <a:prstDash val="solid"/>
                      <a:round/>
                      <a:headEnd len="sm" w="sm" type="none"/>
                      <a:tailEnd len="sm" w="sm" type="none"/>
                    </a:lnB>
                    <a:solidFill>
                      <a:srgbClr val="1D2A5C"/>
                    </a:solidFill>
                  </a:tcPr>
                </a:tc>
              </a:tr>
              <a:tr h="549775">
                <a:tc>
                  <a:txBody>
                    <a:bodyPr/>
                    <a:lstStyle/>
                    <a:p>
                      <a:pPr indent="0" lvl="0" marL="0" marR="0" rtl="0" algn="l">
                        <a:spcBef>
                          <a:spcPts val="0"/>
                        </a:spcBef>
                        <a:spcAft>
                          <a:spcPts val="0"/>
                        </a:spcAft>
                        <a:buClr>
                          <a:srgbClr val="1D2A5C"/>
                        </a:buClr>
                        <a:buSzPts val="1050"/>
                        <a:buFont typeface="Calibri"/>
                        <a:buNone/>
                      </a:pPr>
                      <a:r>
                        <a:rPr b="1" lang="en-US" sz="1050" u="none" cap="none" strike="noStrike">
                          <a:solidFill>
                            <a:srgbClr val="1D2A5C"/>
                          </a:solidFill>
                          <a:latin typeface="Calibri"/>
                          <a:ea typeface="Calibri"/>
                          <a:cs typeface="Calibri"/>
                          <a:sym typeface="Calibri"/>
                        </a:rPr>
                        <a:t>Input pipeline + contract</a:t>
                      </a:r>
                      <a:endParaRPr sz="1050" u="none" cap="none" strike="noStrike">
                        <a:latin typeface="Calibri"/>
                        <a:ea typeface="Calibri"/>
                        <a:cs typeface="Calibri"/>
                        <a:sym typeface="Calibri"/>
                      </a:endParaRPr>
                    </a:p>
                  </a:txBody>
                  <a:tcPr marT="64000" marB="64000" marR="64000" marL="64000" anchor="ctr">
                    <a:lnL cap="flat" cmpd="sng" w="9525">
                      <a:solidFill>
                        <a:srgbClr val="D9E2EA"/>
                      </a:solidFill>
                      <a:prstDash val="solid"/>
                      <a:round/>
                      <a:headEnd len="sm" w="sm" type="none"/>
                      <a:tailEnd len="sm" w="sm" type="none"/>
                    </a:lnL>
                    <a:lnR cap="flat" cmpd="sng" w="9525">
                      <a:solidFill>
                        <a:srgbClr val="D9E2EA"/>
                      </a:solidFill>
                      <a:prstDash val="solid"/>
                      <a:round/>
                      <a:headEnd len="sm" w="sm" type="none"/>
                      <a:tailEnd len="sm" w="sm" type="none"/>
                    </a:lnR>
                    <a:lnT cap="flat" cmpd="sng" w="9525">
                      <a:solidFill>
                        <a:srgbClr val="D9E2EA"/>
                      </a:solidFill>
                      <a:prstDash val="solid"/>
                      <a:round/>
                      <a:headEnd len="sm" w="sm" type="none"/>
                      <a:tailEnd len="sm" w="sm" type="none"/>
                    </a:lnT>
                    <a:lnB cap="flat" cmpd="sng" w="9525">
                      <a:solidFill>
                        <a:srgbClr val="D9E2EA"/>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23293B"/>
                        </a:buClr>
                        <a:buSzPts val="1050"/>
                        <a:buFont typeface="Calibri"/>
                        <a:buNone/>
                      </a:pPr>
                      <a:r>
                        <a:rPr lang="en-US" sz="1050" u="none" cap="none" strike="noStrike">
                          <a:solidFill>
                            <a:srgbClr val="23293B"/>
                          </a:solidFill>
                          <a:latin typeface="Calibri"/>
                          <a:ea typeface="Calibri"/>
                          <a:cs typeface="Calibri"/>
                          <a:sym typeface="Calibri"/>
                        </a:rPr>
                        <a:t>Equivalence test passes; augmentation justified</a:t>
                      </a:r>
                      <a:endParaRPr sz="1050" u="none" cap="none" strike="noStrike">
                        <a:latin typeface="Calibri"/>
                        <a:ea typeface="Calibri"/>
                        <a:cs typeface="Calibri"/>
                        <a:sym typeface="Calibri"/>
                      </a:endParaRPr>
                    </a:p>
                  </a:txBody>
                  <a:tcPr marT="64000" marB="64000" marR="64000" marL="64000" anchor="ctr">
                    <a:lnL cap="flat" cmpd="sng" w="9525">
                      <a:solidFill>
                        <a:srgbClr val="D9E2EA"/>
                      </a:solidFill>
                      <a:prstDash val="solid"/>
                      <a:round/>
                      <a:headEnd len="sm" w="sm" type="none"/>
                      <a:tailEnd len="sm" w="sm" type="none"/>
                    </a:lnL>
                    <a:lnR cap="flat" cmpd="sng" w="9525">
                      <a:solidFill>
                        <a:srgbClr val="D9E2EA"/>
                      </a:solidFill>
                      <a:prstDash val="solid"/>
                      <a:round/>
                      <a:headEnd len="sm" w="sm" type="none"/>
                      <a:tailEnd len="sm" w="sm" type="none"/>
                    </a:lnR>
                    <a:lnT cap="flat" cmpd="sng" w="9525">
                      <a:solidFill>
                        <a:srgbClr val="D9E2EA"/>
                      </a:solidFill>
                      <a:prstDash val="solid"/>
                      <a:round/>
                      <a:headEnd len="sm" w="sm" type="none"/>
                      <a:tailEnd len="sm" w="sm" type="none"/>
                    </a:lnT>
                    <a:lnB cap="flat" cmpd="sng" w="9525">
                      <a:solidFill>
                        <a:srgbClr val="D9E2EA"/>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23293B"/>
                        </a:buClr>
                        <a:buSzPts val="1050"/>
                        <a:buFont typeface="Calibri"/>
                        <a:buNone/>
                      </a:pPr>
                      <a:r>
                        <a:rPr lang="en-US" sz="1050" u="none" cap="none" strike="noStrike">
                          <a:solidFill>
                            <a:srgbClr val="23293B"/>
                          </a:solidFill>
                          <a:latin typeface="Calibri"/>
                          <a:ea typeface="Calibri"/>
                          <a:cs typeface="Calibri"/>
                          <a:sym typeface="Calibri"/>
                        </a:rPr>
                        <a:t>LO1, LO3</a:t>
                      </a:r>
                      <a:endParaRPr sz="1050" u="none" cap="none" strike="noStrike">
                        <a:latin typeface="Calibri"/>
                        <a:ea typeface="Calibri"/>
                        <a:cs typeface="Calibri"/>
                        <a:sym typeface="Calibri"/>
                      </a:endParaRPr>
                    </a:p>
                  </a:txBody>
                  <a:tcPr marT="64000" marB="64000" marR="64000" marL="64000" anchor="ctr">
                    <a:lnL cap="flat" cmpd="sng" w="9525">
                      <a:solidFill>
                        <a:srgbClr val="D9E2EA"/>
                      </a:solidFill>
                      <a:prstDash val="solid"/>
                      <a:round/>
                      <a:headEnd len="sm" w="sm" type="none"/>
                      <a:tailEnd len="sm" w="sm" type="none"/>
                    </a:lnL>
                    <a:lnR cap="flat" cmpd="sng" w="9525">
                      <a:solidFill>
                        <a:srgbClr val="D9E2EA"/>
                      </a:solidFill>
                      <a:prstDash val="solid"/>
                      <a:round/>
                      <a:headEnd len="sm" w="sm" type="none"/>
                      <a:tailEnd len="sm" w="sm" type="none"/>
                    </a:lnR>
                    <a:lnT cap="flat" cmpd="sng" w="9525">
                      <a:solidFill>
                        <a:srgbClr val="D9E2EA"/>
                      </a:solidFill>
                      <a:prstDash val="solid"/>
                      <a:round/>
                      <a:headEnd len="sm" w="sm" type="none"/>
                      <a:tailEnd len="sm" w="sm" type="none"/>
                    </a:lnT>
                    <a:lnB cap="flat" cmpd="sng" w="9525">
                      <a:solidFill>
                        <a:srgbClr val="D9E2EA"/>
                      </a:solidFill>
                      <a:prstDash val="solid"/>
                      <a:round/>
                      <a:headEnd len="sm" w="sm" type="none"/>
                      <a:tailEnd len="sm" w="sm" type="none"/>
                    </a:lnB>
                    <a:solidFill>
                      <a:srgbClr val="FFFFFF"/>
                    </a:solidFill>
                  </a:tcPr>
                </a:tc>
              </a:tr>
              <a:tr h="549775">
                <a:tc>
                  <a:txBody>
                    <a:bodyPr/>
                    <a:lstStyle/>
                    <a:p>
                      <a:pPr indent="0" lvl="0" marL="0" marR="0" rtl="0" algn="l">
                        <a:spcBef>
                          <a:spcPts val="0"/>
                        </a:spcBef>
                        <a:spcAft>
                          <a:spcPts val="0"/>
                        </a:spcAft>
                        <a:buClr>
                          <a:srgbClr val="1D2A5C"/>
                        </a:buClr>
                        <a:buSzPts val="1050"/>
                        <a:buFont typeface="Calibri"/>
                        <a:buNone/>
                      </a:pPr>
                      <a:r>
                        <a:rPr b="1" lang="en-US" sz="1050" u="none" cap="none" strike="noStrike">
                          <a:solidFill>
                            <a:srgbClr val="1D2A5C"/>
                          </a:solidFill>
                          <a:latin typeface="Calibri"/>
                          <a:ea typeface="Calibri"/>
                          <a:cs typeface="Calibri"/>
                          <a:sym typeface="Calibri"/>
                        </a:rPr>
                        <a:t>Classification</a:t>
                      </a:r>
                      <a:endParaRPr sz="1050" u="none" cap="none" strike="noStrike">
                        <a:latin typeface="Calibri"/>
                        <a:ea typeface="Calibri"/>
                        <a:cs typeface="Calibri"/>
                        <a:sym typeface="Calibri"/>
                      </a:endParaRPr>
                    </a:p>
                  </a:txBody>
                  <a:tcPr marT="64000" marB="64000" marR="64000" marL="64000" anchor="ctr">
                    <a:lnL cap="flat" cmpd="sng" w="9525">
                      <a:solidFill>
                        <a:srgbClr val="D9E2EA"/>
                      </a:solidFill>
                      <a:prstDash val="solid"/>
                      <a:round/>
                      <a:headEnd len="sm" w="sm" type="none"/>
                      <a:tailEnd len="sm" w="sm" type="none"/>
                    </a:lnL>
                    <a:lnR cap="flat" cmpd="sng" w="9525">
                      <a:solidFill>
                        <a:srgbClr val="D9E2EA"/>
                      </a:solidFill>
                      <a:prstDash val="solid"/>
                      <a:round/>
                      <a:headEnd len="sm" w="sm" type="none"/>
                      <a:tailEnd len="sm" w="sm" type="none"/>
                    </a:lnR>
                    <a:lnT cap="flat" cmpd="sng" w="9525">
                      <a:solidFill>
                        <a:srgbClr val="D9E2EA"/>
                      </a:solidFill>
                      <a:prstDash val="solid"/>
                      <a:round/>
                      <a:headEnd len="sm" w="sm" type="none"/>
                      <a:tailEnd len="sm" w="sm" type="none"/>
                    </a:lnT>
                    <a:lnB cap="flat" cmpd="sng" w="9525">
                      <a:solidFill>
                        <a:srgbClr val="D9E2EA"/>
                      </a:solidFill>
                      <a:prstDash val="solid"/>
                      <a:round/>
                      <a:headEnd len="sm" w="sm" type="none"/>
                      <a:tailEnd len="sm" w="sm" type="none"/>
                    </a:lnB>
                    <a:solidFill>
                      <a:srgbClr val="F2F6F9"/>
                    </a:solidFill>
                  </a:tcPr>
                </a:tc>
                <a:tc>
                  <a:txBody>
                    <a:bodyPr/>
                    <a:lstStyle/>
                    <a:p>
                      <a:pPr indent="0" lvl="0" marL="0" marR="0" rtl="0" algn="l">
                        <a:spcBef>
                          <a:spcPts val="0"/>
                        </a:spcBef>
                        <a:spcAft>
                          <a:spcPts val="0"/>
                        </a:spcAft>
                        <a:buClr>
                          <a:srgbClr val="23293B"/>
                        </a:buClr>
                        <a:buSzPts val="1050"/>
                        <a:buFont typeface="Calibri"/>
                        <a:buNone/>
                      </a:pPr>
                      <a:r>
                        <a:rPr lang="en-US" sz="1050" u="none" cap="none" strike="noStrike">
                          <a:solidFill>
                            <a:srgbClr val="23293B"/>
                          </a:solidFill>
                          <a:latin typeface="Calibri"/>
                          <a:ea typeface="Calibri"/>
                          <a:cs typeface="Calibri"/>
                          <a:sym typeface="Calibri"/>
                        </a:rPr>
                        <a:t>macro-F1 ≥ 0.90; reject recall ≥ 0.95</a:t>
                      </a:r>
                      <a:endParaRPr sz="1050" u="none" cap="none" strike="noStrike">
                        <a:latin typeface="Calibri"/>
                        <a:ea typeface="Calibri"/>
                        <a:cs typeface="Calibri"/>
                        <a:sym typeface="Calibri"/>
                      </a:endParaRPr>
                    </a:p>
                  </a:txBody>
                  <a:tcPr marT="64000" marB="64000" marR="64000" marL="64000" anchor="ctr">
                    <a:lnL cap="flat" cmpd="sng" w="9525">
                      <a:solidFill>
                        <a:srgbClr val="D9E2EA"/>
                      </a:solidFill>
                      <a:prstDash val="solid"/>
                      <a:round/>
                      <a:headEnd len="sm" w="sm" type="none"/>
                      <a:tailEnd len="sm" w="sm" type="none"/>
                    </a:lnL>
                    <a:lnR cap="flat" cmpd="sng" w="9525">
                      <a:solidFill>
                        <a:srgbClr val="D9E2EA"/>
                      </a:solidFill>
                      <a:prstDash val="solid"/>
                      <a:round/>
                      <a:headEnd len="sm" w="sm" type="none"/>
                      <a:tailEnd len="sm" w="sm" type="none"/>
                    </a:lnR>
                    <a:lnT cap="flat" cmpd="sng" w="9525">
                      <a:solidFill>
                        <a:srgbClr val="D9E2EA"/>
                      </a:solidFill>
                      <a:prstDash val="solid"/>
                      <a:round/>
                      <a:headEnd len="sm" w="sm" type="none"/>
                      <a:tailEnd len="sm" w="sm" type="none"/>
                    </a:lnT>
                    <a:lnB cap="flat" cmpd="sng" w="9525">
                      <a:solidFill>
                        <a:srgbClr val="D9E2EA"/>
                      </a:solidFill>
                      <a:prstDash val="solid"/>
                      <a:round/>
                      <a:headEnd len="sm" w="sm" type="none"/>
                      <a:tailEnd len="sm" w="sm" type="none"/>
                    </a:lnB>
                    <a:solidFill>
                      <a:srgbClr val="F2F6F9"/>
                    </a:solidFill>
                  </a:tcPr>
                </a:tc>
                <a:tc>
                  <a:txBody>
                    <a:bodyPr/>
                    <a:lstStyle/>
                    <a:p>
                      <a:pPr indent="0" lvl="0" marL="0" marR="0" rtl="0" algn="l">
                        <a:spcBef>
                          <a:spcPts val="0"/>
                        </a:spcBef>
                        <a:spcAft>
                          <a:spcPts val="0"/>
                        </a:spcAft>
                        <a:buClr>
                          <a:srgbClr val="23293B"/>
                        </a:buClr>
                        <a:buSzPts val="1050"/>
                        <a:buFont typeface="Calibri"/>
                        <a:buNone/>
                      </a:pPr>
                      <a:r>
                        <a:rPr lang="en-US" sz="1050" u="none" cap="none" strike="noStrike">
                          <a:solidFill>
                            <a:srgbClr val="23293B"/>
                          </a:solidFill>
                          <a:latin typeface="Calibri"/>
                          <a:ea typeface="Calibri"/>
                          <a:cs typeface="Calibri"/>
                          <a:sym typeface="Calibri"/>
                        </a:rPr>
                        <a:t>LO1, LO4</a:t>
                      </a:r>
                      <a:endParaRPr sz="1050" u="none" cap="none" strike="noStrike">
                        <a:latin typeface="Calibri"/>
                        <a:ea typeface="Calibri"/>
                        <a:cs typeface="Calibri"/>
                        <a:sym typeface="Calibri"/>
                      </a:endParaRPr>
                    </a:p>
                  </a:txBody>
                  <a:tcPr marT="64000" marB="64000" marR="64000" marL="64000" anchor="ctr">
                    <a:lnL cap="flat" cmpd="sng" w="9525">
                      <a:solidFill>
                        <a:srgbClr val="D9E2EA"/>
                      </a:solidFill>
                      <a:prstDash val="solid"/>
                      <a:round/>
                      <a:headEnd len="sm" w="sm" type="none"/>
                      <a:tailEnd len="sm" w="sm" type="none"/>
                    </a:lnL>
                    <a:lnR cap="flat" cmpd="sng" w="9525">
                      <a:solidFill>
                        <a:srgbClr val="D9E2EA"/>
                      </a:solidFill>
                      <a:prstDash val="solid"/>
                      <a:round/>
                      <a:headEnd len="sm" w="sm" type="none"/>
                      <a:tailEnd len="sm" w="sm" type="none"/>
                    </a:lnR>
                    <a:lnT cap="flat" cmpd="sng" w="9525">
                      <a:solidFill>
                        <a:srgbClr val="D9E2EA"/>
                      </a:solidFill>
                      <a:prstDash val="solid"/>
                      <a:round/>
                      <a:headEnd len="sm" w="sm" type="none"/>
                      <a:tailEnd len="sm" w="sm" type="none"/>
                    </a:lnT>
                    <a:lnB cap="flat" cmpd="sng" w="9525">
                      <a:solidFill>
                        <a:srgbClr val="D9E2EA"/>
                      </a:solidFill>
                      <a:prstDash val="solid"/>
                      <a:round/>
                      <a:headEnd len="sm" w="sm" type="none"/>
                      <a:tailEnd len="sm" w="sm" type="none"/>
                    </a:lnB>
                    <a:solidFill>
                      <a:srgbClr val="F2F6F9"/>
                    </a:solidFill>
                  </a:tcPr>
                </a:tc>
              </a:tr>
              <a:tr h="549775">
                <a:tc>
                  <a:txBody>
                    <a:bodyPr/>
                    <a:lstStyle/>
                    <a:p>
                      <a:pPr indent="0" lvl="0" marL="0" marR="0" rtl="0" algn="l">
                        <a:spcBef>
                          <a:spcPts val="0"/>
                        </a:spcBef>
                        <a:spcAft>
                          <a:spcPts val="0"/>
                        </a:spcAft>
                        <a:buClr>
                          <a:srgbClr val="1D2A5C"/>
                        </a:buClr>
                        <a:buSzPts val="1050"/>
                        <a:buFont typeface="Calibri"/>
                        <a:buNone/>
                      </a:pPr>
                      <a:r>
                        <a:rPr b="1" lang="en-US" sz="1050" u="none" cap="none" strike="noStrike">
                          <a:solidFill>
                            <a:srgbClr val="1D2A5C"/>
                          </a:solidFill>
                          <a:latin typeface="Calibri"/>
                          <a:ea typeface="Calibri"/>
                          <a:cs typeface="Calibri"/>
                          <a:sym typeface="Calibri"/>
                        </a:rPr>
                        <a:t>Detection</a:t>
                      </a:r>
                      <a:endParaRPr sz="1050" u="none" cap="none" strike="noStrike">
                        <a:latin typeface="Calibri"/>
                        <a:ea typeface="Calibri"/>
                        <a:cs typeface="Calibri"/>
                        <a:sym typeface="Calibri"/>
                      </a:endParaRPr>
                    </a:p>
                  </a:txBody>
                  <a:tcPr marT="64000" marB="64000" marR="64000" marL="64000" anchor="ctr">
                    <a:lnL cap="flat" cmpd="sng" w="9525">
                      <a:solidFill>
                        <a:srgbClr val="D9E2EA"/>
                      </a:solidFill>
                      <a:prstDash val="solid"/>
                      <a:round/>
                      <a:headEnd len="sm" w="sm" type="none"/>
                      <a:tailEnd len="sm" w="sm" type="none"/>
                    </a:lnL>
                    <a:lnR cap="flat" cmpd="sng" w="9525">
                      <a:solidFill>
                        <a:srgbClr val="D9E2EA"/>
                      </a:solidFill>
                      <a:prstDash val="solid"/>
                      <a:round/>
                      <a:headEnd len="sm" w="sm" type="none"/>
                      <a:tailEnd len="sm" w="sm" type="none"/>
                    </a:lnR>
                    <a:lnT cap="flat" cmpd="sng" w="9525">
                      <a:solidFill>
                        <a:srgbClr val="D9E2EA"/>
                      </a:solidFill>
                      <a:prstDash val="solid"/>
                      <a:round/>
                      <a:headEnd len="sm" w="sm" type="none"/>
                      <a:tailEnd len="sm" w="sm" type="none"/>
                    </a:lnT>
                    <a:lnB cap="flat" cmpd="sng" w="9525">
                      <a:solidFill>
                        <a:srgbClr val="D9E2EA"/>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23293B"/>
                        </a:buClr>
                        <a:buSzPts val="1050"/>
                        <a:buFont typeface="Calibri"/>
                        <a:buNone/>
                      </a:pPr>
                      <a:r>
                        <a:rPr lang="en-US" sz="1050" u="none" cap="none" strike="noStrike">
                          <a:solidFill>
                            <a:srgbClr val="23293B"/>
                          </a:solidFill>
                          <a:latin typeface="Calibri"/>
                          <a:ea typeface="Calibri"/>
                          <a:cs typeface="Calibri"/>
                          <a:sym typeface="Calibri"/>
                        </a:rPr>
                        <a:t>mAP@0.5 ≥ 0.88; documented operating point</a:t>
                      </a:r>
                      <a:endParaRPr sz="1050" u="none" cap="none" strike="noStrike">
                        <a:latin typeface="Calibri"/>
                        <a:ea typeface="Calibri"/>
                        <a:cs typeface="Calibri"/>
                        <a:sym typeface="Calibri"/>
                      </a:endParaRPr>
                    </a:p>
                  </a:txBody>
                  <a:tcPr marT="64000" marB="64000" marR="64000" marL="64000" anchor="ctr">
                    <a:lnL cap="flat" cmpd="sng" w="9525">
                      <a:solidFill>
                        <a:srgbClr val="D9E2EA"/>
                      </a:solidFill>
                      <a:prstDash val="solid"/>
                      <a:round/>
                      <a:headEnd len="sm" w="sm" type="none"/>
                      <a:tailEnd len="sm" w="sm" type="none"/>
                    </a:lnL>
                    <a:lnR cap="flat" cmpd="sng" w="9525">
                      <a:solidFill>
                        <a:srgbClr val="D9E2EA"/>
                      </a:solidFill>
                      <a:prstDash val="solid"/>
                      <a:round/>
                      <a:headEnd len="sm" w="sm" type="none"/>
                      <a:tailEnd len="sm" w="sm" type="none"/>
                    </a:lnR>
                    <a:lnT cap="flat" cmpd="sng" w="9525">
                      <a:solidFill>
                        <a:srgbClr val="D9E2EA"/>
                      </a:solidFill>
                      <a:prstDash val="solid"/>
                      <a:round/>
                      <a:headEnd len="sm" w="sm" type="none"/>
                      <a:tailEnd len="sm" w="sm" type="none"/>
                    </a:lnT>
                    <a:lnB cap="flat" cmpd="sng" w="9525">
                      <a:solidFill>
                        <a:srgbClr val="D9E2EA"/>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23293B"/>
                        </a:buClr>
                        <a:buSzPts val="1050"/>
                        <a:buFont typeface="Calibri"/>
                        <a:buNone/>
                      </a:pPr>
                      <a:r>
                        <a:rPr lang="en-US" sz="1050" u="none" cap="none" strike="noStrike">
                          <a:solidFill>
                            <a:srgbClr val="23293B"/>
                          </a:solidFill>
                          <a:latin typeface="Calibri"/>
                          <a:ea typeface="Calibri"/>
                          <a:cs typeface="Calibri"/>
                          <a:sym typeface="Calibri"/>
                        </a:rPr>
                        <a:t>LO2, LO4-5</a:t>
                      </a:r>
                      <a:endParaRPr sz="1050" u="none" cap="none" strike="noStrike">
                        <a:latin typeface="Calibri"/>
                        <a:ea typeface="Calibri"/>
                        <a:cs typeface="Calibri"/>
                        <a:sym typeface="Calibri"/>
                      </a:endParaRPr>
                    </a:p>
                  </a:txBody>
                  <a:tcPr marT="64000" marB="64000" marR="64000" marL="64000" anchor="ctr">
                    <a:lnL cap="flat" cmpd="sng" w="9525">
                      <a:solidFill>
                        <a:srgbClr val="D9E2EA"/>
                      </a:solidFill>
                      <a:prstDash val="solid"/>
                      <a:round/>
                      <a:headEnd len="sm" w="sm" type="none"/>
                      <a:tailEnd len="sm" w="sm" type="none"/>
                    </a:lnL>
                    <a:lnR cap="flat" cmpd="sng" w="9525">
                      <a:solidFill>
                        <a:srgbClr val="D9E2EA"/>
                      </a:solidFill>
                      <a:prstDash val="solid"/>
                      <a:round/>
                      <a:headEnd len="sm" w="sm" type="none"/>
                      <a:tailEnd len="sm" w="sm" type="none"/>
                    </a:lnR>
                    <a:lnT cap="flat" cmpd="sng" w="9525">
                      <a:solidFill>
                        <a:srgbClr val="D9E2EA"/>
                      </a:solidFill>
                      <a:prstDash val="solid"/>
                      <a:round/>
                      <a:headEnd len="sm" w="sm" type="none"/>
                      <a:tailEnd len="sm" w="sm" type="none"/>
                    </a:lnT>
                    <a:lnB cap="flat" cmpd="sng" w="9525">
                      <a:solidFill>
                        <a:srgbClr val="D9E2EA"/>
                      </a:solidFill>
                      <a:prstDash val="solid"/>
                      <a:round/>
                      <a:headEnd len="sm" w="sm" type="none"/>
                      <a:tailEnd len="sm" w="sm" type="none"/>
                    </a:lnB>
                    <a:solidFill>
                      <a:srgbClr val="FFFFFF"/>
                    </a:solidFill>
                  </a:tcPr>
                </a:tc>
              </a:tr>
              <a:tr h="549775">
                <a:tc>
                  <a:txBody>
                    <a:bodyPr/>
                    <a:lstStyle/>
                    <a:p>
                      <a:pPr indent="0" lvl="0" marL="0" marR="0" rtl="0" algn="l">
                        <a:spcBef>
                          <a:spcPts val="0"/>
                        </a:spcBef>
                        <a:spcAft>
                          <a:spcPts val="0"/>
                        </a:spcAft>
                        <a:buClr>
                          <a:srgbClr val="1D2A5C"/>
                        </a:buClr>
                        <a:buSzPts val="1050"/>
                        <a:buFont typeface="Calibri"/>
                        <a:buNone/>
                      </a:pPr>
                      <a:r>
                        <a:rPr b="1" lang="en-US" sz="1050" u="none" cap="none" strike="noStrike">
                          <a:solidFill>
                            <a:srgbClr val="1D2A5C"/>
                          </a:solidFill>
                          <a:latin typeface="Calibri"/>
                          <a:ea typeface="Calibri"/>
                          <a:cs typeface="Calibri"/>
                          <a:sym typeface="Calibri"/>
                        </a:rPr>
                        <a:t>Segmentation + measurement</a:t>
                      </a:r>
                      <a:endParaRPr sz="1050" u="none" cap="none" strike="noStrike">
                        <a:latin typeface="Calibri"/>
                        <a:ea typeface="Calibri"/>
                        <a:cs typeface="Calibri"/>
                        <a:sym typeface="Calibri"/>
                      </a:endParaRPr>
                    </a:p>
                  </a:txBody>
                  <a:tcPr marT="64000" marB="64000" marR="64000" marL="64000" anchor="ctr">
                    <a:lnL cap="flat" cmpd="sng" w="9525">
                      <a:solidFill>
                        <a:srgbClr val="D9E2EA"/>
                      </a:solidFill>
                      <a:prstDash val="solid"/>
                      <a:round/>
                      <a:headEnd len="sm" w="sm" type="none"/>
                      <a:tailEnd len="sm" w="sm" type="none"/>
                    </a:lnL>
                    <a:lnR cap="flat" cmpd="sng" w="9525">
                      <a:solidFill>
                        <a:srgbClr val="D9E2EA"/>
                      </a:solidFill>
                      <a:prstDash val="solid"/>
                      <a:round/>
                      <a:headEnd len="sm" w="sm" type="none"/>
                      <a:tailEnd len="sm" w="sm" type="none"/>
                    </a:lnR>
                    <a:lnT cap="flat" cmpd="sng" w="9525">
                      <a:solidFill>
                        <a:srgbClr val="D9E2EA"/>
                      </a:solidFill>
                      <a:prstDash val="solid"/>
                      <a:round/>
                      <a:headEnd len="sm" w="sm" type="none"/>
                      <a:tailEnd len="sm" w="sm" type="none"/>
                    </a:lnT>
                    <a:lnB cap="flat" cmpd="sng" w="9525">
                      <a:solidFill>
                        <a:srgbClr val="D9E2EA"/>
                      </a:solidFill>
                      <a:prstDash val="solid"/>
                      <a:round/>
                      <a:headEnd len="sm" w="sm" type="none"/>
                      <a:tailEnd len="sm" w="sm" type="none"/>
                    </a:lnB>
                    <a:solidFill>
                      <a:srgbClr val="F2F6F9"/>
                    </a:solidFill>
                  </a:tcPr>
                </a:tc>
                <a:tc>
                  <a:txBody>
                    <a:bodyPr/>
                    <a:lstStyle/>
                    <a:p>
                      <a:pPr indent="0" lvl="0" marL="0" marR="0" rtl="0" algn="l">
                        <a:spcBef>
                          <a:spcPts val="0"/>
                        </a:spcBef>
                        <a:spcAft>
                          <a:spcPts val="0"/>
                        </a:spcAft>
                        <a:buClr>
                          <a:srgbClr val="23293B"/>
                        </a:buClr>
                        <a:buSzPts val="1050"/>
                        <a:buFont typeface="Calibri"/>
                        <a:buNone/>
                      </a:pPr>
                      <a:r>
                        <a:rPr lang="en-US" sz="1050" u="none" cap="none" strike="noStrike">
                          <a:solidFill>
                            <a:srgbClr val="23293B"/>
                          </a:solidFill>
                          <a:latin typeface="Calibri"/>
                          <a:ea typeface="Calibri"/>
                          <a:cs typeface="Calibri"/>
                          <a:sym typeface="Calibri"/>
                        </a:rPr>
                        <a:t>mask mAP ≥ 0.80; area MAE ≤ 1.5 pp; 8% rule</a:t>
                      </a:r>
                      <a:endParaRPr sz="1050" u="none" cap="none" strike="noStrike">
                        <a:latin typeface="Calibri"/>
                        <a:ea typeface="Calibri"/>
                        <a:cs typeface="Calibri"/>
                        <a:sym typeface="Calibri"/>
                      </a:endParaRPr>
                    </a:p>
                  </a:txBody>
                  <a:tcPr marT="64000" marB="64000" marR="64000" marL="64000" anchor="ctr">
                    <a:lnL cap="flat" cmpd="sng" w="9525">
                      <a:solidFill>
                        <a:srgbClr val="D9E2EA"/>
                      </a:solidFill>
                      <a:prstDash val="solid"/>
                      <a:round/>
                      <a:headEnd len="sm" w="sm" type="none"/>
                      <a:tailEnd len="sm" w="sm" type="none"/>
                    </a:lnL>
                    <a:lnR cap="flat" cmpd="sng" w="9525">
                      <a:solidFill>
                        <a:srgbClr val="D9E2EA"/>
                      </a:solidFill>
                      <a:prstDash val="solid"/>
                      <a:round/>
                      <a:headEnd len="sm" w="sm" type="none"/>
                      <a:tailEnd len="sm" w="sm" type="none"/>
                    </a:lnR>
                    <a:lnT cap="flat" cmpd="sng" w="9525">
                      <a:solidFill>
                        <a:srgbClr val="D9E2EA"/>
                      </a:solidFill>
                      <a:prstDash val="solid"/>
                      <a:round/>
                      <a:headEnd len="sm" w="sm" type="none"/>
                      <a:tailEnd len="sm" w="sm" type="none"/>
                    </a:lnT>
                    <a:lnB cap="flat" cmpd="sng" w="9525">
                      <a:solidFill>
                        <a:srgbClr val="D9E2EA"/>
                      </a:solidFill>
                      <a:prstDash val="solid"/>
                      <a:round/>
                      <a:headEnd len="sm" w="sm" type="none"/>
                      <a:tailEnd len="sm" w="sm" type="none"/>
                    </a:lnB>
                    <a:solidFill>
                      <a:srgbClr val="F2F6F9"/>
                    </a:solidFill>
                  </a:tcPr>
                </a:tc>
                <a:tc>
                  <a:txBody>
                    <a:bodyPr/>
                    <a:lstStyle/>
                    <a:p>
                      <a:pPr indent="0" lvl="0" marL="0" marR="0" rtl="0" algn="l">
                        <a:spcBef>
                          <a:spcPts val="0"/>
                        </a:spcBef>
                        <a:spcAft>
                          <a:spcPts val="0"/>
                        </a:spcAft>
                        <a:buClr>
                          <a:srgbClr val="23293B"/>
                        </a:buClr>
                        <a:buSzPts val="1050"/>
                        <a:buFont typeface="Calibri"/>
                        <a:buNone/>
                      </a:pPr>
                      <a:r>
                        <a:rPr lang="en-US" sz="1050" u="none" cap="none" strike="noStrike">
                          <a:solidFill>
                            <a:srgbClr val="23293B"/>
                          </a:solidFill>
                          <a:latin typeface="Calibri"/>
                          <a:ea typeface="Calibri"/>
                          <a:cs typeface="Calibri"/>
                          <a:sym typeface="Calibri"/>
                        </a:rPr>
                        <a:t>LO2, LO5</a:t>
                      </a:r>
                      <a:endParaRPr sz="1050" u="none" cap="none" strike="noStrike">
                        <a:latin typeface="Calibri"/>
                        <a:ea typeface="Calibri"/>
                        <a:cs typeface="Calibri"/>
                        <a:sym typeface="Calibri"/>
                      </a:endParaRPr>
                    </a:p>
                  </a:txBody>
                  <a:tcPr marT="64000" marB="64000" marR="64000" marL="64000" anchor="ctr">
                    <a:lnL cap="flat" cmpd="sng" w="9525">
                      <a:solidFill>
                        <a:srgbClr val="D9E2EA"/>
                      </a:solidFill>
                      <a:prstDash val="solid"/>
                      <a:round/>
                      <a:headEnd len="sm" w="sm" type="none"/>
                      <a:tailEnd len="sm" w="sm" type="none"/>
                    </a:lnL>
                    <a:lnR cap="flat" cmpd="sng" w="9525">
                      <a:solidFill>
                        <a:srgbClr val="D9E2EA"/>
                      </a:solidFill>
                      <a:prstDash val="solid"/>
                      <a:round/>
                      <a:headEnd len="sm" w="sm" type="none"/>
                      <a:tailEnd len="sm" w="sm" type="none"/>
                    </a:lnR>
                    <a:lnT cap="flat" cmpd="sng" w="9525">
                      <a:solidFill>
                        <a:srgbClr val="D9E2EA"/>
                      </a:solidFill>
                      <a:prstDash val="solid"/>
                      <a:round/>
                      <a:headEnd len="sm" w="sm" type="none"/>
                      <a:tailEnd len="sm" w="sm" type="none"/>
                    </a:lnT>
                    <a:lnB cap="flat" cmpd="sng" w="9525">
                      <a:solidFill>
                        <a:srgbClr val="D9E2EA"/>
                      </a:solidFill>
                      <a:prstDash val="solid"/>
                      <a:round/>
                      <a:headEnd len="sm" w="sm" type="none"/>
                      <a:tailEnd len="sm" w="sm" type="none"/>
                    </a:lnB>
                    <a:solidFill>
                      <a:srgbClr val="F2F6F9"/>
                    </a:solidFill>
                  </a:tcPr>
                </a:tc>
              </a:tr>
              <a:tr h="549775">
                <a:tc>
                  <a:txBody>
                    <a:bodyPr/>
                    <a:lstStyle/>
                    <a:p>
                      <a:pPr indent="0" lvl="0" marL="0" marR="0" rtl="0" algn="l">
                        <a:spcBef>
                          <a:spcPts val="0"/>
                        </a:spcBef>
                        <a:spcAft>
                          <a:spcPts val="0"/>
                        </a:spcAft>
                        <a:buClr>
                          <a:srgbClr val="1D2A5C"/>
                        </a:buClr>
                        <a:buSzPts val="1050"/>
                        <a:buFont typeface="Calibri"/>
                        <a:buNone/>
                      </a:pPr>
                      <a:r>
                        <a:rPr b="1" lang="en-US" sz="1050" u="none" cap="none" strike="noStrike">
                          <a:solidFill>
                            <a:srgbClr val="1D2A5C"/>
                          </a:solidFill>
                          <a:latin typeface="Calibri"/>
                          <a:ea typeface="Calibri"/>
                          <a:cs typeface="Calibri"/>
                          <a:sym typeface="Calibri"/>
                        </a:rPr>
                        <a:t>Dataset curation</a:t>
                      </a:r>
                      <a:endParaRPr sz="1050" u="none" cap="none" strike="noStrike">
                        <a:latin typeface="Calibri"/>
                        <a:ea typeface="Calibri"/>
                        <a:cs typeface="Calibri"/>
                        <a:sym typeface="Calibri"/>
                      </a:endParaRPr>
                    </a:p>
                  </a:txBody>
                  <a:tcPr marT="64000" marB="64000" marR="64000" marL="64000" anchor="ctr">
                    <a:lnL cap="flat" cmpd="sng" w="9525">
                      <a:solidFill>
                        <a:srgbClr val="D9E2EA"/>
                      </a:solidFill>
                      <a:prstDash val="solid"/>
                      <a:round/>
                      <a:headEnd len="sm" w="sm" type="none"/>
                      <a:tailEnd len="sm" w="sm" type="none"/>
                    </a:lnL>
                    <a:lnR cap="flat" cmpd="sng" w="9525">
                      <a:solidFill>
                        <a:srgbClr val="D9E2EA"/>
                      </a:solidFill>
                      <a:prstDash val="solid"/>
                      <a:round/>
                      <a:headEnd len="sm" w="sm" type="none"/>
                      <a:tailEnd len="sm" w="sm" type="none"/>
                    </a:lnR>
                    <a:lnT cap="flat" cmpd="sng" w="9525">
                      <a:solidFill>
                        <a:srgbClr val="D9E2EA"/>
                      </a:solidFill>
                      <a:prstDash val="solid"/>
                      <a:round/>
                      <a:headEnd len="sm" w="sm" type="none"/>
                      <a:tailEnd len="sm" w="sm" type="none"/>
                    </a:lnT>
                    <a:lnB cap="flat" cmpd="sng" w="9525">
                      <a:solidFill>
                        <a:srgbClr val="D9E2EA"/>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23293B"/>
                        </a:buClr>
                        <a:buSzPts val="1050"/>
                        <a:buFont typeface="Calibri"/>
                        <a:buNone/>
                      </a:pPr>
                      <a:r>
                        <a:rPr lang="en-US" sz="1050" u="none" cap="none" strike="noStrike">
                          <a:solidFill>
                            <a:srgbClr val="23293B"/>
                          </a:solidFill>
                          <a:latin typeface="Calibri"/>
                          <a:ea typeface="Calibri"/>
                          <a:cs typeface="Calibri"/>
                          <a:sym typeface="Calibri"/>
                        </a:rPr>
                        <a:t>v2 release artefacts + attributed v1→v2 delta</a:t>
                      </a:r>
                      <a:endParaRPr sz="1050" u="none" cap="none" strike="noStrike">
                        <a:latin typeface="Calibri"/>
                        <a:ea typeface="Calibri"/>
                        <a:cs typeface="Calibri"/>
                        <a:sym typeface="Calibri"/>
                      </a:endParaRPr>
                    </a:p>
                  </a:txBody>
                  <a:tcPr marT="64000" marB="64000" marR="64000" marL="64000" anchor="ctr">
                    <a:lnL cap="flat" cmpd="sng" w="9525">
                      <a:solidFill>
                        <a:srgbClr val="D9E2EA"/>
                      </a:solidFill>
                      <a:prstDash val="solid"/>
                      <a:round/>
                      <a:headEnd len="sm" w="sm" type="none"/>
                      <a:tailEnd len="sm" w="sm" type="none"/>
                    </a:lnL>
                    <a:lnR cap="flat" cmpd="sng" w="9525">
                      <a:solidFill>
                        <a:srgbClr val="D9E2EA"/>
                      </a:solidFill>
                      <a:prstDash val="solid"/>
                      <a:round/>
                      <a:headEnd len="sm" w="sm" type="none"/>
                      <a:tailEnd len="sm" w="sm" type="none"/>
                    </a:lnR>
                    <a:lnT cap="flat" cmpd="sng" w="9525">
                      <a:solidFill>
                        <a:srgbClr val="D9E2EA"/>
                      </a:solidFill>
                      <a:prstDash val="solid"/>
                      <a:round/>
                      <a:headEnd len="sm" w="sm" type="none"/>
                      <a:tailEnd len="sm" w="sm" type="none"/>
                    </a:lnT>
                    <a:lnB cap="flat" cmpd="sng" w="9525">
                      <a:solidFill>
                        <a:srgbClr val="D9E2EA"/>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23293B"/>
                        </a:buClr>
                        <a:buSzPts val="1050"/>
                        <a:buFont typeface="Calibri"/>
                        <a:buNone/>
                      </a:pPr>
                      <a:r>
                        <a:rPr lang="en-US" sz="1050" u="none" cap="none" strike="noStrike">
                          <a:solidFill>
                            <a:srgbClr val="23293B"/>
                          </a:solidFill>
                          <a:latin typeface="Calibri"/>
                          <a:ea typeface="Calibri"/>
                          <a:cs typeface="Calibri"/>
                          <a:sym typeface="Calibri"/>
                        </a:rPr>
                        <a:t>LO3</a:t>
                      </a:r>
                      <a:endParaRPr sz="1050" u="none" cap="none" strike="noStrike">
                        <a:latin typeface="Calibri"/>
                        <a:ea typeface="Calibri"/>
                        <a:cs typeface="Calibri"/>
                        <a:sym typeface="Calibri"/>
                      </a:endParaRPr>
                    </a:p>
                  </a:txBody>
                  <a:tcPr marT="64000" marB="64000" marR="64000" marL="64000" anchor="ctr">
                    <a:lnL cap="flat" cmpd="sng" w="9525">
                      <a:solidFill>
                        <a:srgbClr val="D9E2EA"/>
                      </a:solidFill>
                      <a:prstDash val="solid"/>
                      <a:round/>
                      <a:headEnd len="sm" w="sm" type="none"/>
                      <a:tailEnd len="sm" w="sm" type="none"/>
                    </a:lnL>
                    <a:lnR cap="flat" cmpd="sng" w="9525">
                      <a:solidFill>
                        <a:srgbClr val="D9E2EA"/>
                      </a:solidFill>
                      <a:prstDash val="solid"/>
                      <a:round/>
                      <a:headEnd len="sm" w="sm" type="none"/>
                      <a:tailEnd len="sm" w="sm" type="none"/>
                    </a:lnR>
                    <a:lnT cap="flat" cmpd="sng" w="9525">
                      <a:solidFill>
                        <a:srgbClr val="D9E2EA"/>
                      </a:solidFill>
                      <a:prstDash val="solid"/>
                      <a:round/>
                      <a:headEnd len="sm" w="sm" type="none"/>
                      <a:tailEnd len="sm" w="sm" type="none"/>
                    </a:lnT>
                    <a:lnB cap="flat" cmpd="sng" w="9525">
                      <a:solidFill>
                        <a:srgbClr val="D9E2EA"/>
                      </a:solidFill>
                      <a:prstDash val="solid"/>
                      <a:round/>
                      <a:headEnd len="sm" w="sm" type="none"/>
                      <a:tailEnd len="sm" w="sm" type="none"/>
                    </a:lnB>
                    <a:solidFill>
                      <a:srgbClr val="FFFFFF"/>
                    </a:solidFill>
                  </a:tcPr>
                </a:tc>
              </a:tr>
              <a:tr h="549775">
                <a:tc>
                  <a:txBody>
                    <a:bodyPr/>
                    <a:lstStyle/>
                    <a:p>
                      <a:pPr indent="0" lvl="0" marL="0" marR="0" rtl="0" algn="l">
                        <a:spcBef>
                          <a:spcPts val="0"/>
                        </a:spcBef>
                        <a:spcAft>
                          <a:spcPts val="0"/>
                        </a:spcAft>
                        <a:buClr>
                          <a:srgbClr val="1D2A5C"/>
                        </a:buClr>
                        <a:buSzPts val="1050"/>
                        <a:buFont typeface="Calibri"/>
                        <a:buNone/>
                      </a:pPr>
                      <a:r>
                        <a:rPr b="1" lang="en-US" sz="1050" u="none" cap="none" strike="noStrike">
                          <a:solidFill>
                            <a:srgbClr val="1D2A5C"/>
                          </a:solidFill>
                          <a:latin typeface="Calibri"/>
                          <a:ea typeface="Calibri"/>
                          <a:cs typeface="Calibri"/>
                          <a:sym typeface="Calibri"/>
                        </a:rPr>
                        <a:t>Evaluation harness</a:t>
                      </a:r>
                      <a:endParaRPr sz="1050" u="none" cap="none" strike="noStrike">
                        <a:latin typeface="Calibri"/>
                        <a:ea typeface="Calibri"/>
                        <a:cs typeface="Calibri"/>
                        <a:sym typeface="Calibri"/>
                      </a:endParaRPr>
                    </a:p>
                  </a:txBody>
                  <a:tcPr marT="64000" marB="64000" marR="64000" marL="64000" anchor="ctr">
                    <a:lnL cap="flat" cmpd="sng" w="9525">
                      <a:solidFill>
                        <a:srgbClr val="D9E2EA"/>
                      </a:solidFill>
                      <a:prstDash val="solid"/>
                      <a:round/>
                      <a:headEnd len="sm" w="sm" type="none"/>
                      <a:tailEnd len="sm" w="sm" type="none"/>
                    </a:lnL>
                    <a:lnR cap="flat" cmpd="sng" w="9525">
                      <a:solidFill>
                        <a:srgbClr val="D9E2EA"/>
                      </a:solidFill>
                      <a:prstDash val="solid"/>
                      <a:round/>
                      <a:headEnd len="sm" w="sm" type="none"/>
                      <a:tailEnd len="sm" w="sm" type="none"/>
                    </a:lnR>
                    <a:lnT cap="flat" cmpd="sng" w="9525">
                      <a:solidFill>
                        <a:srgbClr val="D9E2EA"/>
                      </a:solidFill>
                      <a:prstDash val="solid"/>
                      <a:round/>
                      <a:headEnd len="sm" w="sm" type="none"/>
                      <a:tailEnd len="sm" w="sm" type="none"/>
                    </a:lnT>
                    <a:lnB cap="flat" cmpd="sng" w="9525">
                      <a:solidFill>
                        <a:srgbClr val="D9E2EA"/>
                      </a:solidFill>
                      <a:prstDash val="solid"/>
                      <a:round/>
                      <a:headEnd len="sm" w="sm" type="none"/>
                      <a:tailEnd len="sm" w="sm" type="none"/>
                    </a:lnB>
                    <a:solidFill>
                      <a:srgbClr val="F2F6F9"/>
                    </a:solidFill>
                  </a:tcPr>
                </a:tc>
                <a:tc>
                  <a:txBody>
                    <a:bodyPr/>
                    <a:lstStyle/>
                    <a:p>
                      <a:pPr indent="0" lvl="0" marL="0" marR="0" rtl="0" algn="l">
                        <a:spcBef>
                          <a:spcPts val="0"/>
                        </a:spcBef>
                        <a:spcAft>
                          <a:spcPts val="0"/>
                        </a:spcAft>
                        <a:buClr>
                          <a:srgbClr val="23293B"/>
                        </a:buClr>
                        <a:buSzPts val="1050"/>
                        <a:buFont typeface="Calibri"/>
                        <a:buNone/>
                      </a:pPr>
                      <a:r>
                        <a:rPr lang="en-US" sz="1050" u="none" cap="none" strike="noStrike">
                          <a:solidFill>
                            <a:srgbClr val="23293B"/>
                          </a:solidFill>
                          <a:latin typeface="Calibri"/>
                          <a:ea typeface="Calibri"/>
                          <a:cs typeface="Calibri"/>
                          <a:sym typeface="Calibri"/>
                        </a:rPr>
                        <a:t>Per-class/slice reports; taxonomy; CI on delta</a:t>
                      </a:r>
                      <a:endParaRPr sz="1050" u="none" cap="none" strike="noStrike">
                        <a:latin typeface="Calibri"/>
                        <a:ea typeface="Calibri"/>
                        <a:cs typeface="Calibri"/>
                        <a:sym typeface="Calibri"/>
                      </a:endParaRPr>
                    </a:p>
                  </a:txBody>
                  <a:tcPr marT="64000" marB="64000" marR="64000" marL="64000" anchor="ctr">
                    <a:lnL cap="flat" cmpd="sng" w="9525">
                      <a:solidFill>
                        <a:srgbClr val="D9E2EA"/>
                      </a:solidFill>
                      <a:prstDash val="solid"/>
                      <a:round/>
                      <a:headEnd len="sm" w="sm" type="none"/>
                      <a:tailEnd len="sm" w="sm" type="none"/>
                    </a:lnL>
                    <a:lnR cap="flat" cmpd="sng" w="9525">
                      <a:solidFill>
                        <a:srgbClr val="D9E2EA"/>
                      </a:solidFill>
                      <a:prstDash val="solid"/>
                      <a:round/>
                      <a:headEnd len="sm" w="sm" type="none"/>
                      <a:tailEnd len="sm" w="sm" type="none"/>
                    </a:lnR>
                    <a:lnT cap="flat" cmpd="sng" w="9525">
                      <a:solidFill>
                        <a:srgbClr val="D9E2EA"/>
                      </a:solidFill>
                      <a:prstDash val="solid"/>
                      <a:round/>
                      <a:headEnd len="sm" w="sm" type="none"/>
                      <a:tailEnd len="sm" w="sm" type="none"/>
                    </a:lnT>
                    <a:lnB cap="flat" cmpd="sng" w="9525">
                      <a:solidFill>
                        <a:srgbClr val="D9E2EA"/>
                      </a:solidFill>
                      <a:prstDash val="solid"/>
                      <a:round/>
                      <a:headEnd len="sm" w="sm" type="none"/>
                      <a:tailEnd len="sm" w="sm" type="none"/>
                    </a:lnB>
                    <a:solidFill>
                      <a:srgbClr val="F2F6F9"/>
                    </a:solidFill>
                  </a:tcPr>
                </a:tc>
                <a:tc>
                  <a:txBody>
                    <a:bodyPr/>
                    <a:lstStyle/>
                    <a:p>
                      <a:pPr indent="0" lvl="0" marL="0" marR="0" rtl="0" algn="l">
                        <a:spcBef>
                          <a:spcPts val="0"/>
                        </a:spcBef>
                        <a:spcAft>
                          <a:spcPts val="0"/>
                        </a:spcAft>
                        <a:buClr>
                          <a:srgbClr val="23293B"/>
                        </a:buClr>
                        <a:buSzPts val="1050"/>
                        <a:buFont typeface="Calibri"/>
                        <a:buNone/>
                      </a:pPr>
                      <a:r>
                        <a:rPr lang="en-US" sz="1050" u="none" cap="none" strike="noStrike">
                          <a:solidFill>
                            <a:srgbClr val="23293B"/>
                          </a:solidFill>
                          <a:latin typeface="Calibri"/>
                          <a:ea typeface="Calibri"/>
                          <a:cs typeface="Calibri"/>
                          <a:sym typeface="Calibri"/>
                        </a:rPr>
                        <a:t>LO5</a:t>
                      </a:r>
                      <a:endParaRPr sz="1050" u="none" cap="none" strike="noStrike">
                        <a:latin typeface="Calibri"/>
                        <a:ea typeface="Calibri"/>
                        <a:cs typeface="Calibri"/>
                        <a:sym typeface="Calibri"/>
                      </a:endParaRPr>
                    </a:p>
                  </a:txBody>
                  <a:tcPr marT="64000" marB="64000" marR="64000" marL="64000" anchor="ctr">
                    <a:lnL cap="flat" cmpd="sng" w="9525">
                      <a:solidFill>
                        <a:srgbClr val="D9E2EA"/>
                      </a:solidFill>
                      <a:prstDash val="solid"/>
                      <a:round/>
                      <a:headEnd len="sm" w="sm" type="none"/>
                      <a:tailEnd len="sm" w="sm" type="none"/>
                    </a:lnL>
                    <a:lnR cap="flat" cmpd="sng" w="9525">
                      <a:solidFill>
                        <a:srgbClr val="D9E2EA"/>
                      </a:solidFill>
                      <a:prstDash val="solid"/>
                      <a:round/>
                      <a:headEnd len="sm" w="sm" type="none"/>
                      <a:tailEnd len="sm" w="sm" type="none"/>
                    </a:lnR>
                    <a:lnT cap="flat" cmpd="sng" w="9525">
                      <a:solidFill>
                        <a:srgbClr val="D9E2EA"/>
                      </a:solidFill>
                      <a:prstDash val="solid"/>
                      <a:round/>
                      <a:headEnd len="sm" w="sm" type="none"/>
                      <a:tailEnd len="sm" w="sm" type="none"/>
                    </a:lnT>
                    <a:lnB cap="flat" cmpd="sng" w="9525">
                      <a:solidFill>
                        <a:srgbClr val="D9E2EA"/>
                      </a:solidFill>
                      <a:prstDash val="solid"/>
                      <a:round/>
                      <a:headEnd len="sm" w="sm" type="none"/>
                      <a:tailEnd len="sm" w="sm" type="none"/>
                    </a:lnB>
                    <a:solidFill>
                      <a:srgbClr val="F2F6F9"/>
                    </a:solidFill>
                  </a:tcPr>
                </a:tc>
              </a:tr>
              <a:tr h="549775">
                <a:tc>
                  <a:txBody>
                    <a:bodyPr/>
                    <a:lstStyle/>
                    <a:p>
                      <a:pPr indent="0" lvl="0" marL="0" marR="0" rtl="0" algn="l">
                        <a:spcBef>
                          <a:spcPts val="0"/>
                        </a:spcBef>
                        <a:spcAft>
                          <a:spcPts val="0"/>
                        </a:spcAft>
                        <a:buClr>
                          <a:srgbClr val="1D2A5C"/>
                        </a:buClr>
                        <a:buSzPts val="1050"/>
                        <a:buFont typeface="Calibri"/>
                        <a:buNone/>
                      </a:pPr>
                      <a:r>
                        <a:rPr b="1" lang="en-US" sz="1050" u="none" cap="none" strike="noStrike">
                          <a:solidFill>
                            <a:srgbClr val="1D2A5C"/>
                          </a:solidFill>
                          <a:latin typeface="Calibri"/>
                          <a:ea typeface="Calibri"/>
                          <a:cs typeface="Calibri"/>
                          <a:sym typeface="Calibri"/>
                        </a:rPr>
                        <a:t>Deployment</a:t>
                      </a:r>
                      <a:endParaRPr sz="1050" u="none" cap="none" strike="noStrike">
                        <a:latin typeface="Calibri"/>
                        <a:ea typeface="Calibri"/>
                        <a:cs typeface="Calibri"/>
                        <a:sym typeface="Calibri"/>
                      </a:endParaRPr>
                    </a:p>
                  </a:txBody>
                  <a:tcPr marT="64000" marB="64000" marR="64000" marL="64000" anchor="ctr">
                    <a:lnL cap="flat" cmpd="sng" w="9525">
                      <a:solidFill>
                        <a:srgbClr val="D9E2EA"/>
                      </a:solidFill>
                      <a:prstDash val="solid"/>
                      <a:round/>
                      <a:headEnd len="sm" w="sm" type="none"/>
                      <a:tailEnd len="sm" w="sm" type="none"/>
                    </a:lnL>
                    <a:lnR cap="flat" cmpd="sng" w="9525">
                      <a:solidFill>
                        <a:srgbClr val="D9E2EA"/>
                      </a:solidFill>
                      <a:prstDash val="solid"/>
                      <a:round/>
                      <a:headEnd len="sm" w="sm" type="none"/>
                      <a:tailEnd len="sm" w="sm" type="none"/>
                    </a:lnR>
                    <a:lnT cap="flat" cmpd="sng" w="9525">
                      <a:solidFill>
                        <a:srgbClr val="D9E2EA"/>
                      </a:solidFill>
                      <a:prstDash val="solid"/>
                      <a:round/>
                      <a:headEnd len="sm" w="sm" type="none"/>
                      <a:tailEnd len="sm" w="sm" type="none"/>
                    </a:lnT>
                    <a:lnB cap="flat" cmpd="sng" w="9525">
                      <a:solidFill>
                        <a:srgbClr val="D9E2EA"/>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23293B"/>
                        </a:buClr>
                        <a:buSzPts val="1050"/>
                        <a:buFont typeface="Calibri"/>
                        <a:buNone/>
                      </a:pPr>
                      <a:r>
                        <a:rPr lang="en-US" sz="1050" u="none" cap="none" strike="noStrike">
                          <a:solidFill>
                            <a:srgbClr val="23293B"/>
                          </a:solidFill>
                          <a:latin typeface="Calibri"/>
                          <a:ea typeface="Calibri"/>
                          <a:cs typeface="Calibri"/>
                          <a:sym typeface="Calibri"/>
                        </a:rPr>
                        <a:t>Parity + slice-checked INT8 + trade-off table</a:t>
                      </a:r>
                      <a:endParaRPr sz="1050" u="none" cap="none" strike="noStrike">
                        <a:latin typeface="Calibri"/>
                        <a:ea typeface="Calibri"/>
                        <a:cs typeface="Calibri"/>
                        <a:sym typeface="Calibri"/>
                      </a:endParaRPr>
                    </a:p>
                  </a:txBody>
                  <a:tcPr marT="64000" marB="64000" marR="64000" marL="64000" anchor="ctr">
                    <a:lnL cap="flat" cmpd="sng" w="9525">
                      <a:solidFill>
                        <a:srgbClr val="D9E2EA"/>
                      </a:solidFill>
                      <a:prstDash val="solid"/>
                      <a:round/>
                      <a:headEnd len="sm" w="sm" type="none"/>
                      <a:tailEnd len="sm" w="sm" type="none"/>
                    </a:lnL>
                    <a:lnR cap="flat" cmpd="sng" w="9525">
                      <a:solidFill>
                        <a:srgbClr val="D9E2EA"/>
                      </a:solidFill>
                      <a:prstDash val="solid"/>
                      <a:round/>
                      <a:headEnd len="sm" w="sm" type="none"/>
                      <a:tailEnd len="sm" w="sm" type="none"/>
                    </a:lnR>
                    <a:lnT cap="flat" cmpd="sng" w="9525">
                      <a:solidFill>
                        <a:srgbClr val="D9E2EA"/>
                      </a:solidFill>
                      <a:prstDash val="solid"/>
                      <a:round/>
                      <a:headEnd len="sm" w="sm" type="none"/>
                      <a:tailEnd len="sm" w="sm" type="none"/>
                    </a:lnT>
                    <a:lnB cap="flat" cmpd="sng" w="9525">
                      <a:solidFill>
                        <a:srgbClr val="D9E2EA"/>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23293B"/>
                        </a:buClr>
                        <a:buSzPts val="1050"/>
                        <a:buFont typeface="Calibri"/>
                        <a:buNone/>
                      </a:pPr>
                      <a:r>
                        <a:rPr lang="en-US" sz="1050" u="none" cap="none" strike="noStrike">
                          <a:solidFill>
                            <a:srgbClr val="23293B"/>
                          </a:solidFill>
                          <a:latin typeface="Calibri"/>
                          <a:ea typeface="Calibri"/>
                          <a:cs typeface="Calibri"/>
                          <a:sym typeface="Calibri"/>
                        </a:rPr>
                        <a:t>LO6</a:t>
                      </a:r>
                      <a:endParaRPr sz="1050" u="none" cap="none" strike="noStrike">
                        <a:latin typeface="Calibri"/>
                        <a:ea typeface="Calibri"/>
                        <a:cs typeface="Calibri"/>
                        <a:sym typeface="Calibri"/>
                      </a:endParaRPr>
                    </a:p>
                  </a:txBody>
                  <a:tcPr marT="64000" marB="64000" marR="64000" marL="64000" anchor="ctr">
                    <a:lnL cap="flat" cmpd="sng" w="9525">
                      <a:solidFill>
                        <a:srgbClr val="D9E2EA"/>
                      </a:solidFill>
                      <a:prstDash val="solid"/>
                      <a:round/>
                      <a:headEnd len="sm" w="sm" type="none"/>
                      <a:tailEnd len="sm" w="sm" type="none"/>
                    </a:lnL>
                    <a:lnR cap="flat" cmpd="sng" w="9525">
                      <a:solidFill>
                        <a:srgbClr val="D9E2EA"/>
                      </a:solidFill>
                      <a:prstDash val="solid"/>
                      <a:round/>
                      <a:headEnd len="sm" w="sm" type="none"/>
                      <a:tailEnd len="sm" w="sm" type="none"/>
                    </a:lnR>
                    <a:lnT cap="flat" cmpd="sng" w="9525">
                      <a:solidFill>
                        <a:srgbClr val="D9E2EA"/>
                      </a:solidFill>
                      <a:prstDash val="solid"/>
                      <a:round/>
                      <a:headEnd len="sm" w="sm" type="none"/>
                      <a:tailEnd len="sm" w="sm" type="none"/>
                    </a:lnT>
                    <a:lnB cap="flat" cmpd="sng" w="9525">
                      <a:solidFill>
                        <a:srgbClr val="D9E2EA"/>
                      </a:solidFill>
                      <a:prstDash val="solid"/>
                      <a:round/>
                      <a:headEnd len="sm" w="sm" type="none"/>
                      <a:tailEnd len="sm" w="sm" type="none"/>
                    </a:lnB>
                    <a:solidFill>
                      <a:srgbClr val="FFFFFF"/>
                    </a:solidFill>
                  </a:tcPr>
                </a:tc>
              </a:tr>
            </a:tbl>
          </a:graphicData>
        </a:graphic>
      </p:graphicFrame>
    </p:spTree>
  </p:cSld>
  <p:clrMapOvr>
    <a:masterClrMapping/>
  </p:clrMapOvr>
</p:sld>
</file>

<file path=ppt/slides/slide1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078" name="Shape 4078"/>
        <p:cNvGrpSpPr/>
        <p:nvPr/>
      </p:nvGrpSpPr>
      <p:grpSpPr>
        <a:xfrm>
          <a:off x="0" y="0"/>
          <a:ext cx="0" cy="0"/>
          <a:chOff x="0" y="0"/>
          <a:chExt cx="0" cy="0"/>
        </a:xfrm>
      </p:grpSpPr>
      <p:sp>
        <p:nvSpPr>
          <p:cNvPr id="4079" name="Google Shape;4079;p147"/>
          <p:cNvSpPr/>
          <p:nvPr/>
        </p:nvSpPr>
        <p:spPr>
          <a:xfrm>
            <a:off x="502920" y="274320"/>
            <a:ext cx="9646920" cy="56692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D2A5C"/>
              </a:buClr>
              <a:buSzPts val="2700"/>
              <a:buFont typeface="Calibri"/>
              <a:buNone/>
            </a:pPr>
            <a:r>
              <a:rPr b="1" i="0" lang="en-US" sz="2700" u="none" cap="none" strike="noStrike">
                <a:solidFill>
                  <a:srgbClr val="1D2A5C"/>
                </a:solidFill>
                <a:latin typeface="Calibri"/>
                <a:ea typeface="Calibri"/>
                <a:cs typeface="Calibri"/>
                <a:sym typeface="Calibri"/>
              </a:rPr>
              <a:t>The system you assemble</a:t>
            </a:r>
            <a:endParaRPr b="0" i="0" sz="2700" u="none" cap="none" strike="noStrike">
              <a:solidFill>
                <a:schemeClr val="dk1"/>
              </a:solidFill>
              <a:latin typeface="Calibri"/>
              <a:ea typeface="Calibri"/>
              <a:cs typeface="Calibri"/>
              <a:sym typeface="Calibri"/>
            </a:endParaRPr>
          </a:p>
        </p:txBody>
      </p:sp>
      <p:sp>
        <p:nvSpPr>
          <p:cNvPr id="4080" name="Google Shape;4080;p147"/>
          <p:cNvSpPr/>
          <p:nvPr/>
        </p:nvSpPr>
        <p:spPr>
          <a:xfrm>
            <a:off x="502920" y="859536"/>
            <a:ext cx="9646920" cy="31089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F6B7A"/>
              </a:buClr>
              <a:buSzPts val="1250"/>
              <a:buFont typeface="Arial"/>
              <a:buNone/>
            </a:pPr>
            <a:r>
              <a:rPr b="0" i="0" lang="en-US" sz="1250" u="none" cap="none" strike="noStrike">
                <a:solidFill>
                  <a:srgbClr val="5F6B7A"/>
                </a:solidFill>
                <a:latin typeface="Arial"/>
                <a:ea typeface="Arial"/>
                <a:cs typeface="Arial"/>
                <a:sym typeface="Arial"/>
              </a:rPr>
              <a:t>النظام الذي ستجمعه</a:t>
            </a:r>
            <a:endParaRPr b="0" i="0" sz="1250" u="none" cap="none" strike="noStrike">
              <a:solidFill>
                <a:schemeClr val="dk1"/>
              </a:solidFill>
              <a:latin typeface="Calibri"/>
              <a:ea typeface="Calibri"/>
              <a:cs typeface="Calibri"/>
              <a:sym typeface="Calibri"/>
            </a:endParaRPr>
          </a:p>
        </p:txBody>
      </p:sp>
      <p:pic>
        <p:nvPicPr>
          <p:cNvPr descr="/sessions/blissful-determined-ritchie/build/assets/sdaia_logo.png" id="4081" name="Google Shape;4081;p147"/>
          <p:cNvPicPr preferRelativeResize="0"/>
          <p:nvPr/>
        </p:nvPicPr>
        <p:blipFill rotWithShape="1">
          <a:blip r:embed="rId3">
            <a:alphaModFix/>
          </a:blip>
          <a:srcRect b="0" l="0" r="0" t="0"/>
          <a:stretch/>
        </p:blipFill>
        <p:spPr>
          <a:xfrm>
            <a:off x="10625328" y="310896"/>
            <a:ext cx="1078992" cy="264111"/>
          </a:xfrm>
          <a:prstGeom prst="rect">
            <a:avLst/>
          </a:prstGeom>
          <a:noFill/>
          <a:ln>
            <a:noFill/>
          </a:ln>
        </p:spPr>
      </p:pic>
      <p:sp>
        <p:nvSpPr>
          <p:cNvPr id="4082" name="Google Shape;4082;p147"/>
          <p:cNvSpPr/>
          <p:nvPr/>
        </p:nvSpPr>
        <p:spPr>
          <a:xfrm>
            <a:off x="502920" y="6528816"/>
            <a:ext cx="8686800"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A79D"/>
              </a:buClr>
              <a:buSzPts val="800"/>
              <a:buFont typeface="Calibri"/>
              <a:buNone/>
            </a:pPr>
            <a:r>
              <a:rPr b="1" i="0" lang="en-US" sz="800" u="none" cap="none" strike="noStrike">
                <a:solidFill>
                  <a:srgbClr val="00A79D"/>
                </a:solidFill>
                <a:latin typeface="Calibri"/>
                <a:ea typeface="Calibri"/>
                <a:cs typeface="Calibri"/>
                <a:sym typeface="Calibri"/>
              </a:rPr>
              <a:t>CAPSTONE   </a:t>
            </a:r>
            <a:r>
              <a:rPr b="0" i="0" lang="en-US" sz="800" u="none" cap="none" strike="noStrike">
                <a:solidFill>
                  <a:srgbClr val="8A96A6"/>
                </a:solidFill>
                <a:latin typeface="Calibri"/>
                <a:ea typeface="Calibri"/>
                <a:cs typeface="Calibri"/>
                <a:sym typeface="Calibri"/>
              </a:rPr>
              <a:t>SDA-AIE-212 · Computer Vision Systems Development</a:t>
            </a:r>
            <a:endParaRPr b="0" i="0" sz="800" u="none" cap="none" strike="noStrike">
              <a:solidFill>
                <a:schemeClr val="dk1"/>
              </a:solidFill>
              <a:latin typeface="Calibri"/>
              <a:ea typeface="Calibri"/>
              <a:cs typeface="Calibri"/>
              <a:sym typeface="Calibri"/>
            </a:endParaRPr>
          </a:p>
        </p:txBody>
      </p:sp>
      <p:sp>
        <p:nvSpPr>
          <p:cNvPr id="4083" name="Google Shape;4083;p147"/>
          <p:cNvSpPr/>
          <p:nvPr/>
        </p:nvSpPr>
        <p:spPr>
          <a:xfrm>
            <a:off x="11292840" y="6528816"/>
            <a:ext cx="411480" cy="219456"/>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8A96A6"/>
              </a:buClr>
              <a:buSzPts val="900"/>
              <a:buFont typeface="Calibri"/>
              <a:buNone/>
            </a:pPr>
            <a:r>
              <a:rPr b="0" i="0" lang="en-US" sz="900" u="none" cap="none" strike="noStrike">
                <a:solidFill>
                  <a:srgbClr val="8A96A6"/>
                </a:solidFill>
                <a:latin typeface="Calibri"/>
                <a:ea typeface="Calibri"/>
                <a:cs typeface="Calibri"/>
                <a:sym typeface="Calibri"/>
              </a:rPr>
              <a:t>147</a:t>
            </a:r>
            <a:endParaRPr b="0" i="0" sz="900" u="none" cap="none" strike="noStrike">
              <a:solidFill>
                <a:schemeClr val="dk1"/>
              </a:solidFill>
              <a:latin typeface="Calibri"/>
              <a:ea typeface="Calibri"/>
              <a:cs typeface="Calibri"/>
              <a:sym typeface="Calibri"/>
            </a:endParaRPr>
          </a:p>
        </p:txBody>
      </p:sp>
      <p:sp>
        <p:nvSpPr>
          <p:cNvPr id="4084" name="Google Shape;4084;p147"/>
          <p:cNvSpPr/>
          <p:nvPr/>
        </p:nvSpPr>
        <p:spPr>
          <a:xfrm>
            <a:off x="502920" y="1389888"/>
            <a:ext cx="11185855" cy="384048"/>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5F6B7A"/>
              </a:buClr>
              <a:buSzPts val="1250"/>
              <a:buFont typeface="Calibri"/>
              <a:buNone/>
            </a:pPr>
            <a:r>
              <a:rPr b="0" i="1" lang="en-US" sz="1250" u="none" cap="none" strike="noStrike">
                <a:solidFill>
                  <a:srgbClr val="5F6B7A"/>
                </a:solidFill>
                <a:latin typeface="Calibri"/>
                <a:ea typeface="Calibri"/>
                <a:cs typeface="Calibri"/>
                <a:sym typeface="Calibri"/>
              </a:rPr>
              <a:t>The eject gate fires inside the 380 ms end-to-end budget; grading rules (8% area rule, operating points) live in config.</a:t>
            </a:r>
            <a:endParaRPr b="0" i="0" sz="1250" u="none" cap="none" strike="noStrike">
              <a:solidFill>
                <a:schemeClr val="dk1"/>
              </a:solidFill>
              <a:latin typeface="Calibri"/>
              <a:ea typeface="Calibri"/>
              <a:cs typeface="Calibri"/>
              <a:sym typeface="Calibri"/>
            </a:endParaRPr>
          </a:p>
        </p:txBody>
      </p:sp>
      <p:sp>
        <p:nvSpPr>
          <p:cNvPr id="4085" name="Google Shape;4085;p147"/>
          <p:cNvSpPr/>
          <p:nvPr/>
        </p:nvSpPr>
        <p:spPr>
          <a:xfrm>
            <a:off x="502920" y="1892808"/>
            <a:ext cx="11185855" cy="637032"/>
          </a:xfrm>
          <a:prstGeom prst="roundRect">
            <a:avLst>
              <a:gd fmla="val 8612" name="adj"/>
            </a:avLst>
          </a:prstGeom>
          <a:solidFill>
            <a:srgbClr val="1D2A5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86" name="Google Shape;4086;p147"/>
          <p:cNvSpPr/>
          <p:nvPr/>
        </p:nvSpPr>
        <p:spPr>
          <a:xfrm>
            <a:off x="685800" y="1892808"/>
            <a:ext cx="4698059" cy="637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300"/>
              <a:buFont typeface="Calibri"/>
              <a:buNone/>
            </a:pPr>
            <a:r>
              <a:rPr b="1" i="0" lang="en-US" sz="1300" u="none" cap="none" strike="noStrike">
                <a:solidFill>
                  <a:srgbClr val="FFFFFF"/>
                </a:solidFill>
                <a:latin typeface="Calibri"/>
                <a:ea typeface="Calibri"/>
                <a:cs typeface="Calibri"/>
                <a:sym typeface="Calibri"/>
              </a:rPr>
              <a:t>dates-qc releases</a:t>
            </a:r>
            <a:endParaRPr b="0" i="0" sz="1300" u="none" cap="none" strike="noStrike">
              <a:solidFill>
                <a:schemeClr val="dk1"/>
              </a:solidFill>
              <a:latin typeface="Calibri"/>
              <a:ea typeface="Calibri"/>
              <a:cs typeface="Calibri"/>
              <a:sym typeface="Calibri"/>
            </a:endParaRPr>
          </a:p>
        </p:txBody>
      </p:sp>
      <p:sp>
        <p:nvSpPr>
          <p:cNvPr id="4087" name="Google Shape;4087;p147"/>
          <p:cNvSpPr/>
          <p:nvPr/>
        </p:nvSpPr>
        <p:spPr>
          <a:xfrm>
            <a:off x="5424696" y="1892808"/>
            <a:ext cx="5928503" cy="637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D9E4F5"/>
              </a:buClr>
              <a:buSzPts val="1050"/>
              <a:buFont typeface="Calibri"/>
              <a:buNone/>
            </a:pPr>
            <a:r>
              <a:rPr b="0" i="0" lang="en-US" sz="1050" u="none" cap="none" strike="noStrike">
                <a:solidFill>
                  <a:srgbClr val="D9E4F5"/>
                </a:solidFill>
                <a:latin typeface="Calibri"/>
                <a:ea typeface="Calibri"/>
                <a:cs typeface="Calibri"/>
                <a:sym typeface="Calibri"/>
              </a:rPr>
              <a:t>v1 → v2 (M5), with the frozen test split alongside</a:t>
            </a:r>
            <a:endParaRPr b="0" i="0" sz="1050" u="none" cap="none" strike="noStrike">
              <a:solidFill>
                <a:schemeClr val="dk1"/>
              </a:solidFill>
              <a:latin typeface="Calibri"/>
              <a:ea typeface="Calibri"/>
              <a:cs typeface="Calibri"/>
              <a:sym typeface="Calibri"/>
            </a:endParaRPr>
          </a:p>
        </p:txBody>
      </p:sp>
      <p:sp>
        <p:nvSpPr>
          <p:cNvPr id="4088" name="Google Shape;4088;p147"/>
          <p:cNvSpPr/>
          <p:nvPr/>
        </p:nvSpPr>
        <p:spPr>
          <a:xfrm>
            <a:off x="758952" y="2657856"/>
            <a:ext cx="10673791" cy="637032"/>
          </a:xfrm>
          <a:prstGeom prst="roundRect">
            <a:avLst>
              <a:gd fmla="val 8612" name="adj"/>
            </a:avLst>
          </a:prstGeom>
          <a:solidFill>
            <a:srgbClr val="24437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89" name="Google Shape;4089;p147"/>
          <p:cNvSpPr/>
          <p:nvPr/>
        </p:nvSpPr>
        <p:spPr>
          <a:xfrm>
            <a:off x="941832" y="2657856"/>
            <a:ext cx="4482992" cy="637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300"/>
              <a:buFont typeface="Calibri"/>
              <a:buNone/>
            </a:pPr>
            <a:r>
              <a:rPr b="1" i="0" lang="en-US" sz="1300" u="none" cap="none" strike="noStrike">
                <a:solidFill>
                  <a:srgbClr val="FFFFFF"/>
                </a:solidFill>
                <a:latin typeface="Calibri"/>
                <a:ea typeface="Calibri"/>
                <a:cs typeface="Calibri"/>
                <a:sym typeface="Calibri"/>
              </a:rPr>
              <a:t>Training world (GPU)</a:t>
            </a:r>
            <a:endParaRPr b="0" i="0" sz="1300" u="none" cap="none" strike="noStrike">
              <a:solidFill>
                <a:schemeClr val="dk1"/>
              </a:solidFill>
              <a:latin typeface="Calibri"/>
              <a:ea typeface="Calibri"/>
              <a:cs typeface="Calibri"/>
              <a:sym typeface="Calibri"/>
            </a:endParaRPr>
          </a:p>
        </p:txBody>
      </p:sp>
      <p:sp>
        <p:nvSpPr>
          <p:cNvPr id="4090" name="Google Shape;4090;p147"/>
          <p:cNvSpPr/>
          <p:nvPr/>
        </p:nvSpPr>
        <p:spPr>
          <a:xfrm>
            <a:off x="5455420" y="2657856"/>
            <a:ext cx="5657109" cy="637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D9E4F5"/>
              </a:buClr>
              <a:buSzPts val="1050"/>
              <a:buFont typeface="Calibri"/>
              <a:buNone/>
            </a:pPr>
            <a:r>
              <a:rPr b="0" i="0" lang="en-US" sz="1050" u="none" cap="none" strike="noStrike">
                <a:solidFill>
                  <a:srgbClr val="D9E4F5"/>
                </a:solidFill>
                <a:latin typeface="Calibri"/>
                <a:ea typeface="Calibri"/>
                <a:cs typeface="Calibri"/>
                <a:sym typeface="Calibri"/>
              </a:rPr>
              <a:t>classifier (M2) · detector (M3) · segmenter (M4)</a:t>
            </a:r>
            <a:endParaRPr b="0" i="0" sz="1050" u="none" cap="none" strike="noStrike">
              <a:solidFill>
                <a:schemeClr val="dk1"/>
              </a:solidFill>
              <a:latin typeface="Calibri"/>
              <a:ea typeface="Calibri"/>
              <a:cs typeface="Calibri"/>
              <a:sym typeface="Calibri"/>
            </a:endParaRPr>
          </a:p>
        </p:txBody>
      </p:sp>
      <p:sp>
        <p:nvSpPr>
          <p:cNvPr id="4091" name="Google Shape;4091;p147"/>
          <p:cNvSpPr/>
          <p:nvPr/>
        </p:nvSpPr>
        <p:spPr>
          <a:xfrm>
            <a:off x="1014984" y="3422904"/>
            <a:ext cx="10161727" cy="637032"/>
          </a:xfrm>
          <a:prstGeom prst="roundRect">
            <a:avLst>
              <a:gd fmla="val 8612" name="adj"/>
            </a:avLst>
          </a:prstGeom>
          <a:solidFill>
            <a:srgbClr val="2A5CA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92" name="Google Shape;4092;p147"/>
          <p:cNvSpPr/>
          <p:nvPr/>
        </p:nvSpPr>
        <p:spPr>
          <a:xfrm>
            <a:off x="1197864" y="3422904"/>
            <a:ext cx="4267925" cy="637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300"/>
              <a:buFont typeface="Calibri"/>
              <a:buNone/>
            </a:pPr>
            <a:r>
              <a:rPr b="1" i="0" lang="en-US" sz="1300" u="none" cap="none" strike="noStrike">
                <a:solidFill>
                  <a:srgbClr val="FFFFFF"/>
                </a:solidFill>
                <a:latin typeface="Calibri"/>
                <a:ea typeface="Calibri"/>
                <a:cs typeface="Calibri"/>
                <a:sym typeface="Calibri"/>
              </a:rPr>
              <a:t>Evaluation harness (M6)</a:t>
            </a:r>
            <a:endParaRPr b="0" i="0" sz="1300" u="none" cap="none" strike="noStrike">
              <a:solidFill>
                <a:schemeClr val="dk1"/>
              </a:solidFill>
              <a:latin typeface="Calibri"/>
              <a:ea typeface="Calibri"/>
              <a:cs typeface="Calibri"/>
              <a:sym typeface="Calibri"/>
            </a:endParaRPr>
          </a:p>
        </p:txBody>
      </p:sp>
      <p:sp>
        <p:nvSpPr>
          <p:cNvPr id="4093" name="Google Shape;4093;p147"/>
          <p:cNvSpPr/>
          <p:nvPr/>
        </p:nvSpPr>
        <p:spPr>
          <a:xfrm>
            <a:off x="5486144" y="3422904"/>
            <a:ext cx="5385715" cy="637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D9E4F5"/>
              </a:buClr>
              <a:buSzPts val="1050"/>
              <a:buFont typeface="Calibri"/>
              <a:buNone/>
            </a:pPr>
            <a:r>
              <a:rPr b="0" i="0" lang="en-US" sz="1050" u="none" cap="none" strike="noStrike">
                <a:solidFill>
                  <a:srgbClr val="D9E4F5"/>
                </a:solidFill>
                <a:latin typeface="Calibri"/>
                <a:ea typeface="Calibri"/>
                <a:cs typeface="Calibri"/>
                <a:sym typeface="Calibri"/>
              </a:rPr>
              <a:t>regression + slices — referees everything</a:t>
            </a:r>
            <a:endParaRPr b="0" i="0" sz="1050" u="none" cap="none" strike="noStrike">
              <a:solidFill>
                <a:schemeClr val="dk1"/>
              </a:solidFill>
              <a:latin typeface="Calibri"/>
              <a:ea typeface="Calibri"/>
              <a:cs typeface="Calibri"/>
              <a:sym typeface="Calibri"/>
            </a:endParaRPr>
          </a:p>
        </p:txBody>
      </p:sp>
      <p:sp>
        <p:nvSpPr>
          <p:cNvPr id="4094" name="Google Shape;4094;p147"/>
          <p:cNvSpPr/>
          <p:nvPr/>
        </p:nvSpPr>
        <p:spPr>
          <a:xfrm>
            <a:off x="1271016" y="4187952"/>
            <a:ext cx="9649663" cy="637032"/>
          </a:xfrm>
          <a:prstGeom prst="roundRect">
            <a:avLst>
              <a:gd fmla="val 8612" name="adj"/>
            </a:avLst>
          </a:prstGeom>
          <a:solidFill>
            <a:srgbClr val="1F7FB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95" name="Google Shape;4095;p147"/>
          <p:cNvSpPr/>
          <p:nvPr/>
        </p:nvSpPr>
        <p:spPr>
          <a:xfrm>
            <a:off x="1453896" y="4187952"/>
            <a:ext cx="4052859" cy="637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300"/>
              <a:buFont typeface="Calibri"/>
              <a:buNone/>
            </a:pPr>
            <a:r>
              <a:rPr b="1" i="0" lang="en-US" sz="1300" u="none" cap="none" strike="noStrike">
                <a:solidFill>
                  <a:srgbClr val="FFFFFF"/>
                </a:solidFill>
                <a:latin typeface="Calibri"/>
                <a:ea typeface="Calibri"/>
                <a:cs typeface="Calibri"/>
                <a:sym typeface="Calibri"/>
              </a:rPr>
              <a:t>Export gate (M7)</a:t>
            </a:r>
            <a:endParaRPr b="0" i="0" sz="1300" u="none" cap="none" strike="noStrike">
              <a:solidFill>
                <a:schemeClr val="dk1"/>
              </a:solidFill>
              <a:latin typeface="Calibri"/>
              <a:ea typeface="Calibri"/>
              <a:cs typeface="Calibri"/>
              <a:sym typeface="Calibri"/>
            </a:endParaRPr>
          </a:p>
        </p:txBody>
      </p:sp>
      <p:sp>
        <p:nvSpPr>
          <p:cNvPr id="4096" name="Google Shape;4096;p147"/>
          <p:cNvSpPr/>
          <p:nvPr/>
        </p:nvSpPr>
        <p:spPr>
          <a:xfrm>
            <a:off x="5516868" y="4187952"/>
            <a:ext cx="5114321" cy="637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D9E4F5"/>
              </a:buClr>
              <a:buSzPts val="1050"/>
              <a:buFont typeface="Calibri"/>
              <a:buNone/>
            </a:pPr>
            <a:r>
              <a:rPr b="0" i="0" lang="en-US" sz="1050" u="none" cap="none" strike="noStrike">
                <a:solidFill>
                  <a:srgbClr val="D9E4F5"/>
                </a:solidFill>
                <a:latin typeface="Calibri"/>
                <a:ea typeface="Calibri"/>
                <a:cs typeface="Calibri"/>
                <a:sym typeface="Calibri"/>
              </a:rPr>
              <a:t>parity + INT8 → versioned bundle</a:t>
            </a:r>
            <a:endParaRPr b="0" i="0" sz="1050" u="none" cap="none" strike="noStrike">
              <a:solidFill>
                <a:schemeClr val="dk1"/>
              </a:solidFill>
              <a:latin typeface="Calibri"/>
              <a:ea typeface="Calibri"/>
              <a:cs typeface="Calibri"/>
              <a:sym typeface="Calibri"/>
            </a:endParaRPr>
          </a:p>
        </p:txBody>
      </p:sp>
      <p:sp>
        <p:nvSpPr>
          <p:cNvPr id="4097" name="Google Shape;4097;p147"/>
          <p:cNvSpPr/>
          <p:nvPr/>
        </p:nvSpPr>
        <p:spPr>
          <a:xfrm>
            <a:off x="1527048" y="4953000"/>
            <a:ext cx="9137599" cy="637032"/>
          </a:xfrm>
          <a:prstGeom prst="roundRect">
            <a:avLst>
              <a:gd fmla="val 8612" name="adj"/>
            </a:avLst>
          </a:prstGeom>
          <a:solidFill>
            <a:srgbClr val="29ABE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98" name="Google Shape;4098;p147"/>
          <p:cNvSpPr/>
          <p:nvPr/>
        </p:nvSpPr>
        <p:spPr>
          <a:xfrm>
            <a:off x="1709928" y="4953000"/>
            <a:ext cx="3837792" cy="637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300"/>
              <a:buFont typeface="Calibri"/>
              <a:buNone/>
            </a:pPr>
            <a:r>
              <a:rPr b="1" i="0" lang="en-US" sz="1300" u="none" cap="none" strike="noStrike">
                <a:solidFill>
                  <a:srgbClr val="FFFFFF"/>
                </a:solidFill>
                <a:latin typeface="Calibri"/>
                <a:ea typeface="Calibri"/>
                <a:cs typeface="Calibri"/>
                <a:sym typeface="Calibri"/>
              </a:rPr>
              <a:t>Edge box</a:t>
            </a:r>
            <a:endParaRPr b="0" i="0" sz="1300" u="none" cap="none" strike="noStrike">
              <a:solidFill>
                <a:schemeClr val="dk1"/>
              </a:solidFill>
              <a:latin typeface="Calibri"/>
              <a:ea typeface="Calibri"/>
              <a:cs typeface="Calibri"/>
              <a:sym typeface="Calibri"/>
            </a:endParaRPr>
          </a:p>
        </p:txBody>
      </p:sp>
      <p:sp>
        <p:nvSpPr>
          <p:cNvPr id="4099" name="Google Shape;4099;p147"/>
          <p:cNvSpPr/>
          <p:nvPr/>
        </p:nvSpPr>
        <p:spPr>
          <a:xfrm>
            <a:off x="5547592" y="4953000"/>
            <a:ext cx="4842928" cy="637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D9E4F5"/>
              </a:buClr>
              <a:buSzPts val="1050"/>
              <a:buFont typeface="Calibri"/>
              <a:buNone/>
            </a:pPr>
            <a:r>
              <a:rPr b="0" i="0" lang="en-US" sz="1050" u="none" cap="none" strike="noStrike">
                <a:solidFill>
                  <a:srgbClr val="D9E4F5"/>
                </a:solidFill>
                <a:latin typeface="Calibri"/>
                <a:ea typeface="Calibri"/>
                <a:cs typeface="Calibri"/>
                <a:sym typeface="Calibri"/>
              </a:rPr>
              <a:t>capture → contract → detect/segment/classify → grading rules</a:t>
            </a:r>
            <a:endParaRPr b="0" i="0" sz="1050" u="none" cap="none" strike="noStrike">
              <a:solidFill>
                <a:schemeClr val="dk1"/>
              </a:solidFill>
              <a:latin typeface="Calibri"/>
              <a:ea typeface="Calibri"/>
              <a:cs typeface="Calibri"/>
              <a:sym typeface="Calibri"/>
            </a:endParaRPr>
          </a:p>
        </p:txBody>
      </p:sp>
      <p:sp>
        <p:nvSpPr>
          <p:cNvPr id="4100" name="Google Shape;4100;p147"/>
          <p:cNvSpPr/>
          <p:nvPr/>
        </p:nvSpPr>
        <p:spPr>
          <a:xfrm>
            <a:off x="1783080" y="5718048"/>
            <a:ext cx="8625535" cy="637032"/>
          </a:xfrm>
          <a:prstGeom prst="roundRect">
            <a:avLst>
              <a:gd fmla="val 8612" name="adj"/>
            </a:avLst>
          </a:prstGeom>
          <a:solidFill>
            <a:srgbClr val="00A79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01" name="Google Shape;4101;p147"/>
          <p:cNvSpPr/>
          <p:nvPr/>
        </p:nvSpPr>
        <p:spPr>
          <a:xfrm>
            <a:off x="1965960" y="5718048"/>
            <a:ext cx="3622725" cy="637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300"/>
              <a:buFont typeface="Calibri"/>
              <a:buNone/>
            </a:pPr>
            <a:r>
              <a:rPr b="1" i="0" lang="en-US" sz="1300" u="none" cap="none" strike="noStrike">
                <a:solidFill>
                  <a:srgbClr val="FFFFFF"/>
                </a:solidFill>
                <a:latin typeface="Calibri"/>
                <a:ea typeface="Calibri"/>
                <a:cs typeface="Calibri"/>
                <a:sym typeface="Calibri"/>
              </a:rPr>
              <a:t>Audit / AL flywheel</a:t>
            </a:r>
            <a:endParaRPr b="0" i="0" sz="1300" u="none" cap="none" strike="noStrike">
              <a:solidFill>
                <a:schemeClr val="dk1"/>
              </a:solidFill>
              <a:latin typeface="Calibri"/>
              <a:ea typeface="Calibri"/>
              <a:cs typeface="Calibri"/>
              <a:sym typeface="Calibri"/>
            </a:endParaRPr>
          </a:p>
        </p:txBody>
      </p:sp>
      <p:sp>
        <p:nvSpPr>
          <p:cNvPr id="4102" name="Google Shape;4102;p147"/>
          <p:cNvSpPr/>
          <p:nvPr/>
        </p:nvSpPr>
        <p:spPr>
          <a:xfrm>
            <a:off x="5578315" y="5718048"/>
            <a:ext cx="4571534" cy="637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D9E4F5"/>
              </a:buClr>
              <a:buSzPts val="1050"/>
              <a:buFont typeface="Calibri"/>
              <a:buNone/>
            </a:pPr>
            <a:r>
              <a:rPr b="0" i="0" lang="en-US" sz="1050" u="none" cap="none" strike="noStrike">
                <a:solidFill>
                  <a:srgbClr val="D9E4F5"/>
                </a:solidFill>
                <a:latin typeface="Calibri"/>
                <a:ea typeface="Calibri"/>
                <a:cs typeface="Calibri"/>
                <a:sym typeface="Calibri"/>
              </a:rPr>
              <a:t>decision logs feed the M5 loop back toward v3</a:t>
            </a:r>
            <a:endParaRPr b="0" i="0" sz="1050" u="none" cap="none" strike="noStrike">
              <a:solidFill>
                <a:schemeClr val="dk1"/>
              </a:solidFill>
              <a:latin typeface="Calibri"/>
              <a:ea typeface="Calibri"/>
              <a:cs typeface="Calibri"/>
              <a:sym typeface="Calibri"/>
            </a:endParaRPr>
          </a:p>
        </p:txBody>
      </p:sp>
    </p:spTree>
  </p:cSld>
  <p:clrMapOvr>
    <a:masterClrMapping/>
  </p:clrMapOvr>
</p:sld>
</file>

<file path=ppt/slides/slide1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107" name="Shape 4107"/>
        <p:cNvGrpSpPr/>
        <p:nvPr/>
      </p:nvGrpSpPr>
      <p:grpSpPr>
        <a:xfrm>
          <a:off x="0" y="0"/>
          <a:ext cx="0" cy="0"/>
          <a:chOff x="0" y="0"/>
          <a:chExt cx="0" cy="0"/>
        </a:xfrm>
      </p:grpSpPr>
      <p:sp>
        <p:nvSpPr>
          <p:cNvPr id="4108" name="Google Shape;4108;p148"/>
          <p:cNvSpPr/>
          <p:nvPr/>
        </p:nvSpPr>
        <p:spPr>
          <a:xfrm>
            <a:off x="502920" y="274320"/>
            <a:ext cx="9646920" cy="56692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D2A5C"/>
              </a:buClr>
              <a:buSzPts val="2700"/>
              <a:buFont typeface="Calibri"/>
              <a:buNone/>
            </a:pPr>
            <a:r>
              <a:rPr b="1" i="0" lang="en-US" sz="2700" u="none" cap="none" strike="noStrike">
                <a:solidFill>
                  <a:srgbClr val="1D2A5C"/>
                </a:solidFill>
                <a:latin typeface="Calibri"/>
                <a:ea typeface="Calibri"/>
                <a:cs typeface="Calibri"/>
                <a:sym typeface="Calibri"/>
              </a:rPr>
              <a:t>Six milestones, six gates</a:t>
            </a:r>
            <a:endParaRPr b="0" i="0" sz="2700" u="none" cap="none" strike="noStrike">
              <a:solidFill>
                <a:schemeClr val="dk1"/>
              </a:solidFill>
              <a:latin typeface="Calibri"/>
              <a:ea typeface="Calibri"/>
              <a:cs typeface="Calibri"/>
              <a:sym typeface="Calibri"/>
            </a:endParaRPr>
          </a:p>
        </p:txBody>
      </p:sp>
      <p:sp>
        <p:nvSpPr>
          <p:cNvPr id="4109" name="Google Shape;4109;p148"/>
          <p:cNvSpPr/>
          <p:nvPr/>
        </p:nvSpPr>
        <p:spPr>
          <a:xfrm>
            <a:off x="502920" y="859536"/>
            <a:ext cx="9646920" cy="31089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F6B7A"/>
              </a:buClr>
              <a:buSzPts val="1250"/>
              <a:buFont typeface="Arial"/>
              <a:buNone/>
            </a:pPr>
            <a:r>
              <a:rPr b="0" i="0" lang="en-US" sz="1250" u="none" cap="none" strike="noStrike">
                <a:solidFill>
                  <a:srgbClr val="5F6B7A"/>
                </a:solidFill>
                <a:latin typeface="Arial"/>
                <a:ea typeface="Arial"/>
                <a:cs typeface="Arial"/>
                <a:sym typeface="Arial"/>
              </a:rPr>
              <a:t>المعالم والبوابات</a:t>
            </a:r>
            <a:endParaRPr b="0" i="0" sz="1250" u="none" cap="none" strike="noStrike">
              <a:solidFill>
                <a:schemeClr val="dk1"/>
              </a:solidFill>
              <a:latin typeface="Calibri"/>
              <a:ea typeface="Calibri"/>
              <a:cs typeface="Calibri"/>
              <a:sym typeface="Calibri"/>
            </a:endParaRPr>
          </a:p>
        </p:txBody>
      </p:sp>
      <p:pic>
        <p:nvPicPr>
          <p:cNvPr descr="/sessions/blissful-determined-ritchie/build/assets/sdaia_logo.png" id="4110" name="Google Shape;4110;p148"/>
          <p:cNvPicPr preferRelativeResize="0"/>
          <p:nvPr/>
        </p:nvPicPr>
        <p:blipFill rotWithShape="1">
          <a:blip r:embed="rId3">
            <a:alphaModFix/>
          </a:blip>
          <a:srcRect b="0" l="0" r="0" t="0"/>
          <a:stretch/>
        </p:blipFill>
        <p:spPr>
          <a:xfrm>
            <a:off x="10625328" y="310896"/>
            <a:ext cx="1078992" cy="264111"/>
          </a:xfrm>
          <a:prstGeom prst="rect">
            <a:avLst/>
          </a:prstGeom>
          <a:noFill/>
          <a:ln>
            <a:noFill/>
          </a:ln>
        </p:spPr>
      </p:pic>
      <p:sp>
        <p:nvSpPr>
          <p:cNvPr id="4111" name="Google Shape;4111;p148"/>
          <p:cNvSpPr/>
          <p:nvPr/>
        </p:nvSpPr>
        <p:spPr>
          <a:xfrm>
            <a:off x="502920" y="6528816"/>
            <a:ext cx="8686800"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A79D"/>
              </a:buClr>
              <a:buSzPts val="800"/>
              <a:buFont typeface="Calibri"/>
              <a:buNone/>
            </a:pPr>
            <a:r>
              <a:rPr b="1" i="0" lang="en-US" sz="800" u="none" cap="none" strike="noStrike">
                <a:solidFill>
                  <a:srgbClr val="00A79D"/>
                </a:solidFill>
                <a:latin typeface="Calibri"/>
                <a:ea typeface="Calibri"/>
                <a:cs typeface="Calibri"/>
                <a:sym typeface="Calibri"/>
              </a:rPr>
              <a:t>CAPSTONE   </a:t>
            </a:r>
            <a:r>
              <a:rPr b="0" i="0" lang="en-US" sz="800" u="none" cap="none" strike="noStrike">
                <a:solidFill>
                  <a:srgbClr val="8A96A6"/>
                </a:solidFill>
                <a:latin typeface="Calibri"/>
                <a:ea typeface="Calibri"/>
                <a:cs typeface="Calibri"/>
                <a:sym typeface="Calibri"/>
              </a:rPr>
              <a:t>SDA-AIE-212 · Computer Vision Systems Development</a:t>
            </a:r>
            <a:endParaRPr b="0" i="0" sz="800" u="none" cap="none" strike="noStrike">
              <a:solidFill>
                <a:schemeClr val="dk1"/>
              </a:solidFill>
              <a:latin typeface="Calibri"/>
              <a:ea typeface="Calibri"/>
              <a:cs typeface="Calibri"/>
              <a:sym typeface="Calibri"/>
            </a:endParaRPr>
          </a:p>
        </p:txBody>
      </p:sp>
      <p:sp>
        <p:nvSpPr>
          <p:cNvPr id="4112" name="Google Shape;4112;p148"/>
          <p:cNvSpPr/>
          <p:nvPr/>
        </p:nvSpPr>
        <p:spPr>
          <a:xfrm>
            <a:off x="11292840" y="6528816"/>
            <a:ext cx="411480" cy="219456"/>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8A96A6"/>
              </a:buClr>
              <a:buSzPts val="900"/>
              <a:buFont typeface="Calibri"/>
              <a:buNone/>
            </a:pPr>
            <a:r>
              <a:rPr b="0" i="0" lang="en-US" sz="900" u="none" cap="none" strike="noStrike">
                <a:solidFill>
                  <a:srgbClr val="8A96A6"/>
                </a:solidFill>
                <a:latin typeface="Calibri"/>
                <a:ea typeface="Calibri"/>
                <a:cs typeface="Calibri"/>
                <a:sym typeface="Calibri"/>
              </a:rPr>
              <a:t>148</a:t>
            </a:r>
            <a:endParaRPr b="0" i="0" sz="900" u="none" cap="none" strike="noStrike">
              <a:solidFill>
                <a:schemeClr val="dk1"/>
              </a:solidFill>
              <a:latin typeface="Calibri"/>
              <a:ea typeface="Calibri"/>
              <a:cs typeface="Calibri"/>
              <a:sym typeface="Calibri"/>
            </a:endParaRPr>
          </a:p>
        </p:txBody>
      </p:sp>
      <p:graphicFrame>
        <p:nvGraphicFramePr>
          <p:cNvPr id="4113" name="Google Shape;4113;p148"/>
          <p:cNvGraphicFramePr/>
          <p:nvPr/>
        </p:nvGraphicFramePr>
        <p:xfrm>
          <a:off x="502920" y="1389888"/>
          <a:ext cx="3000000" cy="3000000"/>
        </p:xfrm>
        <a:graphic>
          <a:graphicData uri="http://schemas.openxmlformats.org/drawingml/2006/table">
            <a:tbl>
              <a:tblPr>
                <a:noFill/>
                <a:tableStyleId>{F80342BA-3033-44D6-9F91-622DC7A4C435}</a:tableStyleId>
              </a:tblPr>
              <a:tblGrid>
                <a:gridCol w="4817600"/>
                <a:gridCol w="2606325"/>
                <a:gridCol w="3761925"/>
              </a:tblGrid>
              <a:tr h="696250">
                <a:tc>
                  <a:txBody>
                    <a:bodyPr/>
                    <a:lstStyle/>
                    <a:p>
                      <a:pPr indent="0" lvl="0" marL="0" marR="0" rtl="0" algn="l">
                        <a:spcBef>
                          <a:spcPts val="0"/>
                        </a:spcBef>
                        <a:spcAft>
                          <a:spcPts val="0"/>
                        </a:spcAft>
                        <a:buClr>
                          <a:srgbClr val="FFFFFF"/>
                        </a:buClr>
                        <a:buSzPts val="1050"/>
                        <a:buFont typeface="Calibri"/>
                        <a:buNone/>
                      </a:pPr>
                      <a:r>
                        <a:rPr b="1" lang="en-US" sz="1050" u="none" cap="none" strike="noStrike">
                          <a:solidFill>
                            <a:srgbClr val="FFFFFF"/>
                          </a:solidFill>
                          <a:latin typeface="Calibri"/>
                          <a:ea typeface="Calibri"/>
                          <a:cs typeface="Calibri"/>
                          <a:sym typeface="Calibri"/>
                        </a:rPr>
                        <a:t>Milestone</a:t>
                      </a:r>
                      <a:endParaRPr sz="1050" u="none" cap="none" strike="noStrike">
                        <a:latin typeface="Calibri"/>
                        <a:ea typeface="Calibri"/>
                        <a:cs typeface="Calibri"/>
                        <a:sym typeface="Calibri"/>
                      </a:endParaRPr>
                    </a:p>
                  </a:txBody>
                  <a:tcPr marT="64000" marB="64000" marR="64000" marL="64000" anchor="ctr">
                    <a:lnL cap="flat" cmpd="sng" w="9525">
                      <a:solidFill>
                        <a:srgbClr val="D9E2EA"/>
                      </a:solidFill>
                      <a:prstDash val="solid"/>
                      <a:round/>
                      <a:headEnd len="sm" w="sm" type="none"/>
                      <a:tailEnd len="sm" w="sm" type="none"/>
                    </a:lnL>
                    <a:lnR cap="flat" cmpd="sng" w="9525">
                      <a:solidFill>
                        <a:srgbClr val="D9E2EA"/>
                      </a:solidFill>
                      <a:prstDash val="solid"/>
                      <a:round/>
                      <a:headEnd len="sm" w="sm" type="none"/>
                      <a:tailEnd len="sm" w="sm" type="none"/>
                    </a:lnR>
                    <a:lnT cap="flat" cmpd="sng" w="9525">
                      <a:solidFill>
                        <a:srgbClr val="D9E2EA"/>
                      </a:solidFill>
                      <a:prstDash val="solid"/>
                      <a:round/>
                      <a:headEnd len="sm" w="sm" type="none"/>
                      <a:tailEnd len="sm" w="sm" type="none"/>
                    </a:lnT>
                    <a:lnB cap="flat" cmpd="sng" w="9525">
                      <a:solidFill>
                        <a:srgbClr val="D9E2EA"/>
                      </a:solidFill>
                      <a:prstDash val="solid"/>
                      <a:round/>
                      <a:headEnd len="sm" w="sm" type="none"/>
                      <a:tailEnd len="sm" w="sm" type="none"/>
                    </a:lnB>
                    <a:solidFill>
                      <a:srgbClr val="1D2A5C"/>
                    </a:solidFill>
                  </a:tcPr>
                </a:tc>
                <a:tc>
                  <a:txBody>
                    <a:bodyPr/>
                    <a:lstStyle/>
                    <a:p>
                      <a:pPr indent="0" lvl="0" marL="0" marR="0" rtl="0" algn="l">
                        <a:spcBef>
                          <a:spcPts val="0"/>
                        </a:spcBef>
                        <a:spcAft>
                          <a:spcPts val="0"/>
                        </a:spcAft>
                        <a:buClr>
                          <a:srgbClr val="FFFFFF"/>
                        </a:buClr>
                        <a:buSzPts val="1050"/>
                        <a:buFont typeface="Calibri"/>
                        <a:buNone/>
                      </a:pPr>
                      <a:r>
                        <a:rPr b="1" lang="en-US" sz="1050" u="none" cap="none" strike="noStrike">
                          <a:solidFill>
                            <a:srgbClr val="FFFFFF"/>
                          </a:solidFill>
                          <a:latin typeface="Calibri"/>
                          <a:ea typeface="Calibri"/>
                          <a:cs typeface="Calibri"/>
                          <a:sym typeface="Calibri"/>
                        </a:rPr>
                        <a:t>Due</a:t>
                      </a:r>
                      <a:endParaRPr sz="1050" u="none" cap="none" strike="noStrike">
                        <a:latin typeface="Calibri"/>
                        <a:ea typeface="Calibri"/>
                        <a:cs typeface="Calibri"/>
                        <a:sym typeface="Calibri"/>
                      </a:endParaRPr>
                    </a:p>
                  </a:txBody>
                  <a:tcPr marT="64000" marB="64000" marR="64000" marL="64000" anchor="ctr">
                    <a:lnL cap="flat" cmpd="sng" w="9525">
                      <a:solidFill>
                        <a:srgbClr val="D9E2EA"/>
                      </a:solidFill>
                      <a:prstDash val="solid"/>
                      <a:round/>
                      <a:headEnd len="sm" w="sm" type="none"/>
                      <a:tailEnd len="sm" w="sm" type="none"/>
                    </a:lnL>
                    <a:lnR cap="flat" cmpd="sng" w="9525">
                      <a:solidFill>
                        <a:srgbClr val="D9E2EA"/>
                      </a:solidFill>
                      <a:prstDash val="solid"/>
                      <a:round/>
                      <a:headEnd len="sm" w="sm" type="none"/>
                      <a:tailEnd len="sm" w="sm" type="none"/>
                    </a:lnR>
                    <a:lnT cap="flat" cmpd="sng" w="9525">
                      <a:solidFill>
                        <a:srgbClr val="D9E2EA"/>
                      </a:solidFill>
                      <a:prstDash val="solid"/>
                      <a:round/>
                      <a:headEnd len="sm" w="sm" type="none"/>
                      <a:tailEnd len="sm" w="sm" type="none"/>
                    </a:lnT>
                    <a:lnB cap="flat" cmpd="sng" w="9525">
                      <a:solidFill>
                        <a:srgbClr val="D9E2EA"/>
                      </a:solidFill>
                      <a:prstDash val="solid"/>
                      <a:round/>
                      <a:headEnd len="sm" w="sm" type="none"/>
                      <a:tailEnd len="sm" w="sm" type="none"/>
                    </a:lnB>
                    <a:solidFill>
                      <a:srgbClr val="1D2A5C"/>
                    </a:solidFill>
                  </a:tcPr>
                </a:tc>
                <a:tc>
                  <a:txBody>
                    <a:bodyPr/>
                    <a:lstStyle/>
                    <a:p>
                      <a:pPr indent="0" lvl="0" marL="0" marR="0" rtl="0" algn="l">
                        <a:spcBef>
                          <a:spcPts val="0"/>
                        </a:spcBef>
                        <a:spcAft>
                          <a:spcPts val="0"/>
                        </a:spcAft>
                        <a:buClr>
                          <a:srgbClr val="FFFFFF"/>
                        </a:buClr>
                        <a:buSzPts val="1050"/>
                        <a:buFont typeface="Calibri"/>
                        <a:buNone/>
                      </a:pPr>
                      <a:r>
                        <a:rPr b="1" lang="en-US" sz="1050" u="none" cap="none" strike="noStrike">
                          <a:solidFill>
                            <a:srgbClr val="FFFFFF"/>
                          </a:solidFill>
                          <a:latin typeface="Calibri"/>
                          <a:ea typeface="Calibri"/>
                          <a:cs typeface="Calibri"/>
                          <a:sym typeface="Calibri"/>
                        </a:rPr>
                        <a:t>Gate</a:t>
                      </a:r>
                      <a:endParaRPr sz="1050" u="none" cap="none" strike="noStrike">
                        <a:latin typeface="Calibri"/>
                        <a:ea typeface="Calibri"/>
                        <a:cs typeface="Calibri"/>
                        <a:sym typeface="Calibri"/>
                      </a:endParaRPr>
                    </a:p>
                  </a:txBody>
                  <a:tcPr marT="64000" marB="64000" marR="64000" marL="64000" anchor="ctr">
                    <a:lnL cap="flat" cmpd="sng" w="9525">
                      <a:solidFill>
                        <a:srgbClr val="D9E2EA"/>
                      </a:solidFill>
                      <a:prstDash val="solid"/>
                      <a:round/>
                      <a:headEnd len="sm" w="sm" type="none"/>
                      <a:tailEnd len="sm" w="sm" type="none"/>
                    </a:lnL>
                    <a:lnR cap="flat" cmpd="sng" w="9525">
                      <a:solidFill>
                        <a:srgbClr val="D9E2EA"/>
                      </a:solidFill>
                      <a:prstDash val="solid"/>
                      <a:round/>
                      <a:headEnd len="sm" w="sm" type="none"/>
                      <a:tailEnd len="sm" w="sm" type="none"/>
                    </a:lnR>
                    <a:lnT cap="flat" cmpd="sng" w="9525">
                      <a:solidFill>
                        <a:srgbClr val="D9E2EA"/>
                      </a:solidFill>
                      <a:prstDash val="solid"/>
                      <a:round/>
                      <a:headEnd len="sm" w="sm" type="none"/>
                      <a:tailEnd len="sm" w="sm" type="none"/>
                    </a:lnT>
                    <a:lnB cap="flat" cmpd="sng" w="9525">
                      <a:solidFill>
                        <a:srgbClr val="D9E2EA"/>
                      </a:solidFill>
                      <a:prstDash val="solid"/>
                      <a:round/>
                      <a:headEnd len="sm" w="sm" type="none"/>
                      <a:tailEnd len="sm" w="sm" type="none"/>
                    </a:lnB>
                    <a:solidFill>
                      <a:srgbClr val="1D2A5C"/>
                    </a:solidFill>
                  </a:tcPr>
                </a:tc>
              </a:tr>
              <a:tr h="696250">
                <a:tc>
                  <a:txBody>
                    <a:bodyPr/>
                    <a:lstStyle/>
                    <a:p>
                      <a:pPr indent="0" lvl="0" marL="0" marR="0" rtl="0" algn="l">
                        <a:spcBef>
                          <a:spcPts val="0"/>
                        </a:spcBef>
                        <a:spcAft>
                          <a:spcPts val="0"/>
                        </a:spcAft>
                        <a:buClr>
                          <a:srgbClr val="1D2A5C"/>
                        </a:buClr>
                        <a:buSzPts val="1050"/>
                        <a:buFont typeface="Calibri"/>
                        <a:buNone/>
                      </a:pPr>
                      <a:r>
                        <a:rPr b="1" lang="en-US" sz="1050" u="none" cap="none" strike="noStrike">
                          <a:solidFill>
                            <a:srgbClr val="1D2A5C"/>
                          </a:solidFill>
                          <a:latin typeface="Calibri"/>
                          <a:ea typeface="Calibri"/>
                          <a:cs typeface="Calibri"/>
                          <a:sym typeface="Calibri"/>
                        </a:rPr>
                        <a:t>M-A: pipeline + classifier + detector</a:t>
                      </a:r>
                      <a:endParaRPr sz="1050" u="none" cap="none" strike="noStrike">
                        <a:latin typeface="Calibri"/>
                        <a:ea typeface="Calibri"/>
                        <a:cs typeface="Calibri"/>
                        <a:sym typeface="Calibri"/>
                      </a:endParaRPr>
                    </a:p>
                  </a:txBody>
                  <a:tcPr marT="64000" marB="64000" marR="64000" marL="64000" anchor="ctr">
                    <a:lnL cap="flat" cmpd="sng" w="9525">
                      <a:solidFill>
                        <a:srgbClr val="D9E2EA"/>
                      </a:solidFill>
                      <a:prstDash val="solid"/>
                      <a:round/>
                      <a:headEnd len="sm" w="sm" type="none"/>
                      <a:tailEnd len="sm" w="sm" type="none"/>
                    </a:lnL>
                    <a:lnR cap="flat" cmpd="sng" w="9525">
                      <a:solidFill>
                        <a:srgbClr val="D9E2EA"/>
                      </a:solidFill>
                      <a:prstDash val="solid"/>
                      <a:round/>
                      <a:headEnd len="sm" w="sm" type="none"/>
                      <a:tailEnd len="sm" w="sm" type="none"/>
                    </a:lnR>
                    <a:lnT cap="flat" cmpd="sng" w="9525">
                      <a:solidFill>
                        <a:srgbClr val="D9E2EA"/>
                      </a:solidFill>
                      <a:prstDash val="solid"/>
                      <a:round/>
                      <a:headEnd len="sm" w="sm" type="none"/>
                      <a:tailEnd len="sm" w="sm" type="none"/>
                    </a:lnT>
                    <a:lnB cap="flat" cmpd="sng" w="9525">
                      <a:solidFill>
                        <a:srgbClr val="D9E2EA"/>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23293B"/>
                        </a:buClr>
                        <a:buSzPts val="1050"/>
                        <a:buFont typeface="Calibri"/>
                        <a:buNone/>
                      </a:pPr>
                      <a:r>
                        <a:rPr lang="en-US" sz="1050" u="none" cap="none" strike="noStrike">
                          <a:solidFill>
                            <a:srgbClr val="23293B"/>
                          </a:solidFill>
                          <a:latin typeface="Calibri"/>
                          <a:ea typeface="Calibri"/>
                          <a:cs typeface="Calibri"/>
                          <a:sym typeface="Calibri"/>
                        </a:rPr>
                        <a:t>End Day 2 H3</a:t>
                      </a:r>
                      <a:endParaRPr sz="1050" u="none" cap="none" strike="noStrike">
                        <a:latin typeface="Calibri"/>
                        <a:ea typeface="Calibri"/>
                        <a:cs typeface="Calibri"/>
                        <a:sym typeface="Calibri"/>
                      </a:endParaRPr>
                    </a:p>
                  </a:txBody>
                  <a:tcPr marT="64000" marB="64000" marR="64000" marL="64000" anchor="ctr">
                    <a:lnL cap="flat" cmpd="sng" w="9525">
                      <a:solidFill>
                        <a:srgbClr val="D9E2EA"/>
                      </a:solidFill>
                      <a:prstDash val="solid"/>
                      <a:round/>
                      <a:headEnd len="sm" w="sm" type="none"/>
                      <a:tailEnd len="sm" w="sm" type="none"/>
                    </a:lnL>
                    <a:lnR cap="flat" cmpd="sng" w="9525">
                      <a:solidFill>
                        <a:srgbClr val="D9E2EA"/>
                      </a:solidFill>
                      <a:prstDash val="solid"/>
                      <a:round/>
                      <a:headEnd len="sm" w="sm" type="none"/>
                      <a:tailEnd len="sm" w="sm" type="none"/>
                    </a:lnR>
                    <a:lnT cap="flat" cmpd="sng" w="9525">
                      <a:solidFill>
                        <a:srgbClr val="D9E2EA"/>
                      </a:solidFill>
                      <a:prstDash val="solid"/>
                      <a:round/>
                      <a:headEnd len="sm" w="sm" type="none"/>
                      <a:tailEnd len="sm" w="sm" type="none"/>
                    </a:lnT>
                    <a:lnB cap="flat" cmpd="sng" w="9525">
                      <a:solidFill>
                        <a:srgbClr val="D9E2EA"/>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23293B"/>
                        </a:buClr>
                        <a:buSzPts val="1050"/>
                        <a:buFont typeface="Calibri"/>
                        <a:buNone/>
                      </a:pPr>
                      <a:r>
                        <a:rPr lang="en-US" sz="1050" u="none" cap="none" strike="noStrike">
                          <a:solidFill>
                            <a:srgbClr val="23293B"/>
                          </a:solidFill>
                          <a:latin typeface="Calibri"/>
                          <a:ea typeface="Calibri"/>
                          <a:cs typeface="Calibri"/>
                          <a:sym typeface="Calibri"/>
                        </a:rPr>
                        <a:t>Instructor spot-check</a:t>
                      </a:r>
                      <a:endParaRPr sz="1050" u="none" cap="none" strike="noStrike">
                        <a:latin typeface="Calibri"/>
                        <a:ea typeface="Calibri"/>
                        <a:cs typeface="Calibri"/>
                        <a:sym typeface="Calibri"/>
                      </a:endParaRPr>
                    </a:p>
                  </a:txBody>
                  <a:tcPr marT="64000" marB="64000" marR="64000" marL="64000" anchor="ctr">
                    <a:lnL cap="flat" cmpd="sng" w="9525">
                      <a:solidFill>
                        <a:srgbClr val="D9E2EA"/>
                      </a:solidFill>
                      <a:prstDash val="solid"/>
                      <a:round/>
                      <a:headEnd len="sm" w="sm" type="none"/>
                      <a:tailEnd len="sm" w="sm" type="none"/>
                    </a:lnL>
                    <a:lnR cap="flat" cmpd="sng" w="9525">
                      <a:solidFill>
                        <a:srgbClr val="D9E2EA"/>
                      </a:solidFill>
                      <a:prstDash val="solid"/>
                      <a:round/>
                      <a:headEnd len="sm" w="sm" type="none"/>
                      <a:tailEnd len="sm" w="sm" type="none"/>
                    </a:lnR>
                    <a:lnT cap="flat" cmpd="sng" w="9525">
                      <a:solidFill>
                        <a:srgbClr val="D9E2EA"/>
                      </a:solidFill>
                      <a:prstDash val="solid"/>
                      <a:round/>
                      <a:headEnd len="sm" w="sm" type="none"/>
                      <a:tailEnd len="sm" w="sm" type="none"/>
                    </a:lnT>
                    <a:lnB cap="flat" cmpd="sng" w="9525">
                      <a:solidFill>
                        <a:srgbClr val="D9E2EA"/>
                      </a:solidFill>
                      <a:prstDash val="solid"/>
                      <a:round/>
                      <a:headEnd len="sm" w="sm" type="none"/>
                      <a:tailEnd len="sm" w="sm" type="none"/>
                    </a:lnB>
                    <a:solidFill>
                      <a:srgbClr val="FFFFFF"/>
                    </a:solidFill>
                  </a:tcPr>
                </a:tc>
              </a:tr>
              <a:tr h="696250">
                <a:tc>
                  <a:txBody>
                    <a:bodyPr/>
                    <a:lstStyle/>
                    <a:p>
                      <a:pPr indent="0" lvl="0" marL="0" marR="0" rtl="0" algn="l">
                        <a:spcBef>
                          <a:spcPts val="0"/>
                        </a:spcBef>
                        <a:spcAft>
                          <a:spcPts val="0"/>
                        </a:spcAft>
                        <a:buClr>
                          <a:srgbClr val="1D2A5C"/>
                        </a:buClr>
                        <a:buSzPts val="1050"/>
                        <a:buFont typeface="Calibri"/>
                        <a:buNone/>
                      </a:pPr>
                      <a:r>
                        <a:rPr b="1" lang="en-US" sz="1050" u="none" cap="none" strike="noStrike">
                          <a:solidFill>
                            <a:srgbClr val="1D2A5C"/>
                          </a:solidFill>
                          <a:latin typeface="Calibri"/>
                          <a:ea typeface="Calibri"/>
                          <a:cs typeface="Calibri"/>
                          <a:sym typeface="Calibri"/>
                        </a:rPr>
                        <a:t>M-B: segmentation + measurement wired</a:t>
                      </a:r>
                      <a:endParaRPr sz="1050" u="none" cap="none" strike="noStrike">
                        <a:latin typeface="Calibri"/>
                        <a:ea typeface="Calibri"/>
                        <a:cs typeface="Calibri"/>
                        <a:sym typeface="Calibri"/>
                      </a:endParaRPr>
                    </a:p>
                  </a:txBody>
                  <a:tcPr marT="64000" marB="64000" marR="64000" marL="64000" anchor="ctr">
                    <a:lnL cap="flat" cmpd="sng" w="9525">
                      <a:solidFill>
                        <a:srgbClr val="D9E2EA"/>
                      </a:solidFill>
                      <a:prstDash val="solid"/>
                      <a:round/>
                      <a:headEnd len="sm" w="sm" type="none"/>
                      <a:tailEnd len="sm" w="sm" type="none"/>
                    </a:lnL>
                    <a:lnR cap="flat" cmpd="sng" w="9525">
                      <a:solidFill>
                        <a:srgbClr val="D9E2EA"/>
                      </a:solidFill>
                      <a:prstDash val="solid"/>
                      <a:round/>
                      <a:headEnd len="sm" w="sm" type="none"/>
                      <a:tailEnd len="sm" w="sm" type="none"/>
                    </a:lnR>
                    <a:lnT cap="flat" cmpd="sng" w="9525">
                      <a:solidFill>
                        <a:srgbClr val="D9E2EA"/>
                      </a:solidFill>
                      <a:prstDash val="solid"/>
                      <a:round/>
                      <a:headEnd len="sm" w="sm" type="none"/>
                      <a:tailEnd len="sm" w="sm" type="none"/>
                    </a:lnT>
                    <a:lnB cap="flat" cmpd="sng" w="9525">
                      <a:solidFill>
                        <a:srgbClr val="D9E2EA"/>
                      </a:solidFill>
                      <a:prstDash val="solid"/>
                      <a:round/>
                      <a:headEnd len="sm" w="sm" type="none"/>
                      <a:tailEnd len="sm" w="sm" type="none"/>
                    </a:lnB>
                    <a:solidFill>
                      <a:srgbClr val="F2F6F9"/>
                    </a:solidFill>
                  </a:tcPr>
                </a:tc>
                <a:tc>
                  <a:txBody>
                    <a:bodyPr/>
                    <a:lstStyle/>
                    <a:p>
                      <a:pPr indent="0" lvl="0" marL="0" marR="0" rtl="0" algn="l">
                        <a:spcBef>
                          <a:spcPts val="0"/>
                        </a:spcBef>
                        <a:spcAft>
                          <a:spcPts val="0"/>
                        </a:spcAft>
                        <a:buClr>
                          <a:srgbClr val="23293B"/>
                        </a:buClr>
                        <a:buSzPts val="1050"/>
                        <a:buFont typeface="Calibri"/>
                        <a:buNone/>
                      </a:pPr>
                      <a:r>
                        <a:rPr lang="en-US" sz="1050" u="none" cap="none" strike="noStrike">
                          <a:solidFill>
                            <a:srgbClr val="23293B"/>
                          </a:solidFill>
                          <a:latin typeface="Calibri"/>
                          <a:ea typeface="Calibri"/>
                          <a:cs typeface="Calibri"/>
                          <a:sym typeface="Calibri"/>
                        </a:rPr>
                        <a:t>End Day 2</a:t>
                      </a:r>
                      <a:endParaRPr sz="1050" u="none" cap="none" strike="noStrike">
                        <a:latin typeface="Calibri"/>
                        <a:ea typeface="Calibri"/>
                        <a:cs typeface="Calibri"/>
                        <a:sym typeface="Calibri"/>
                      </a:endParaRPr>
                    </a:p>
                  </a:txBody>
                  <a:tcPr marT="64000" marB="64000" marR="64000" marL="64000" anchor="ctr">
                    <a:lnL cap="flat" cmpd="sng" w="9525">
                      <a:solidFill>
                        <a:srgbClr val="D9E2EA"/>
                      </a:solidFill>
                      <a:prstDash val="solid"/>
                      <a:round/>
                      <a:headEnd len="sm" w="sm" type="none"/>
                      <a:tailEnd len="sm" w="sm" type="none"/>
                    </a:lnL>
                    <a:lnR cap="flat" cmpd="sng" w="9525">
                      <a:solidFill>
                        <a:srgbClr val="D9E2EA"/>
                      </a:solidFill>
                      <a:prstDash val="solid"/>
                      <a:round/>
                      <a:headEnd len="sm" w="sm" type="none"/>
                      <a:tailEnd len="sm" w="sm" type="none"/>
                    </a:lnR>
                    <a:lnT cap="flat" cmpd="sng" w="9525">
                      <a:solidFill>
                        <a:srgbClr val="D9E2EA"/>
                      </a:solidFill>
                      <a:prstDash val="solid"/>
                      <a:round/>
                      <a:headEnd len="sm" w="sm" type="none"/>
                      <a:tailEnd len="sm" w="sm" type="none"/>
                    </a:lnT>
                    <a:lnB cap="flat" cmpd="sng" w="9525">
                      <a:solidFill>
                        <a:srgbClr val="D9E2EA"/>
                      </a:solidFill>
                      <a:prstDash val="solid"/>
                      <a:round/>
                      <a:headEnd len="sm" w="sm" type="none"/>
                      <a:tailEnd len="sm" w="sm" type="none"/>
                    </a:lnB>
                    <a:solidFill>
                      <a:srgbClr val="F2F6F9"/>
                    </a:solidFill>
                  </a:tcPr>
                </a:tc>
                <a:tc>
                  <a:txBody>
                    <a:bodyPr/>
                    <a:lstStyle/>
                    <a:p>
                      <a:pPr indent="0" lvl="0" marL="0" marR="0" rtl="0" algn="l">
                        <a:spcBef>
                          <a:spcPts val="0"/>
                        </a:spcBef>
                        <a:spcAft>
                          <a:spcPts val="0"/>
                        </a:spcAft>
                        <a:buClr>
                          <a:srgbClr val="23293B"/>
                        </a:buClr>
                        <a:buSzPts val="1050"/>
                        <a:buFont typeface="Calibri"/>
                        <a:buNone/>
                      </a:pPr>
                      <a:r>
                        <a:rPr lang="en-US" sz="1050" u="none" cap="none" strike="noStrike">
                          <a:solidFill>
                            <a:srgbClr val="23293B"/>
                          </a:solidFill>
                          <a:latin typeface="Calibri"/>
                          <a:ea typeface="Calibri"/>
                          <a:cs typeface="Calibri"/>
                          <a:sym typeface="Calibri"/>
                        </a:rPr>
                        <a:t>Area report on 20 frames</a:t>
                      </a:r>
                      <a:endParaRPr sz="1050" u="none" cap="none" strike="noStrike">
                        <a:latin typeface="Calibri"/>
                        <a:ea typeface="Calibri"/>
                        <a:cs typeface="Calibri"/>
                        <a:sym typeface="Calibri"/>
                      </a:endParaRPr>
                    </a:p>
                  </a:txBody>
                  <a:tcPr marT="64000" marB="64000" marR="64000" marL="64000" anchor="ctr">
                    <a:lnL cap="flat" cmpd="sng" w="9525">
                      <a:solidFill>
                        <a:srgbClr val="D9E2EA"/>
                      </a:solidFill>
                      <a:prstDash val="solid"/>
                      <a:round/>
                      <a:headEnd len="sm" w="sm" type="none"/>
                      <a:tailEnd len="sm" w="sm" type="none"/>
                    </a:lnL>
                    <a:lnR cap="flat" cmpd="sng" w="9525">
                      <a:solidFill>
                        <a:srgbClr val="D9E2EA"/>
                      </a:solidFill>
                      <a:prstDash val="solid"/>
                      <a:round/>
                      <a:headEnd len="sm" w="sm" type="none"/>
                      <a:tailEnd len="sm" w="sm" type="none"/>
                    </a:lnR>
                    <a:lnT cap="flat" cmpd="sng" w="9525">
                      <a:solidFill>
                        <a:srgbClr val="D9E2EA"/>
                      </a:solidFill>
                      <a:prstDash val="solid"/>
                      <a:round/>
                      <a:headEnd len="sm" w="sm" type="none"/>
                      <a:tailEnd len="sm" w="sm" type="none"/>
                    </a:lnT>
                    <a:lnB cap="flat" cmpd="sng" w="9525">
                      <a:solidFill>
                        <a:srgbClr val="D9E2EA"/>
                      </a:solidFill>
                      <a:prstDash val="solid"/>
                      <a:round/>
                      <a:headEnd len="sm" w="sm" type="none"/>
                      <a:tailEnd len="sm" w="sm" type="none"/>
                    </a:lnB>
                    <a:solidFill>
                      <a:srgbClr val="F2F6F9"/>
                    </a:solidFill>
                  </a:tcPr>
                </a:tc>
              </a:tr>
              <a:tr h="696250">
                <a:tc>
                  <a:txBody>
                    <a:bodyPr/>
                    <a:lstStyle/>
                    <a:p>
                      <a:pPr indent="0" lvl="0" marL="0" marR="0" rtl="0" algn="l">
                        <a:spcBef>
                          <a:spcPts val="0"/>
                        </a:spcBef>
                        <a:spcAft>
                          <a:spcPts val="0"/>
                        </a:spcAft>
                        <a:buClr>
                          <a:srgbClr val="1D2A5C"/>
                        </a:buClr>
                        <a:buSzPts val="1050"/>
                        <a:buFont typeface="Calibri"/>
                        <a:buNone/>
                      </a:pPr>
                      <a:r>
                        <a:rPr b="1" lang="en-US" sz="1050" u="none" cap="none" strike="noStrike">
                          <a:solidFill>
                            <a:srgbClr val="1D2A5C"/>
                          </a:solidFill>
                          <a:latin typeface="Calibri"/>
                          <a:ea typeface="Calibri"/>
                          <a:cs typeface="Calibri"/>
                          <a:sym typeface="Calibri"/>
                        </a:rPr>
                        <a:t>M-C: v2 release + retrain + regression</a:t>
                      </a:r>
                      <a:endParaRPr sz="1050" u="none" cap="none" strike="noStrike">
                        <a:latin typeface="Calibri"/>
                        <a:ea typeface="Calibri"/>
                        <a:cs typeface="Calibri"/>
                        <a:sym typeface="Calibri"/>
                      </a:endParaRPr>
                    </a:p>
                  </a:txBody>
                  <a:tcPr marT="64000" marB="64000" marR="64000" marL="64000" anchor="ctr">
                    <a:lnL cap="flat" cmpd="sng" w="9525">
                      <a:solidFill>
                        <a:srgbClr val="D9E2EA"/>
                      </a:solidFill>
                      <a:prstDash val="solid"/>
                      <a:round/>
                      <a:headEnd len="sm" w="sm" type="none"/>
                      <a:tailEnd len="sm" w="sm" type="none"/>
                    </a:lnL>
                    <a:lnR cap="flat" cmpd="sng" w="9525">
                      <a:solidFill>
                        <a:srgbClr val="D9E2EA"/>
                      </a:solidFill>
                      <a:prstDash val="solid"/>
                      <a:round/>
                      <a:headEnd len="sm" w="sm" type="none"/>
                      <a:tailEnd len="sm" w="sm" type="none"/>
                    </a:lnR>
                    <a:lnT cap="flat" cmpd="sng" w="9525">
                      <a:solidFill>
                        <a:srgbClr val="D9E2EA"/>
                      </a:solidFill>
                      <a:prstDash val="solid"/>
                      <a:round/>
                      <a:headEnd len="sm" w="sm" type="none"/>
                      <a:tailEnd len="sm" w="sm" type="none"/>
                    </a:lnT>
                    <a:lnB cap="flat" cmpd="sng" w="9525">
                      <a:solidFill>
                        <a:srgbClr val="D9E2EA"/>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23293B"/>
                        </a:buClr>
                        <a:buSzPts val="1050"/>
                        <a:buFont typeface="Calibri"/>
                        <a:buNone/>
                      </a:pPr>
                      <a:r>
                        <a:rPr lang="en-US" sz="1050" u="none" cap="none" strike="noStrike">
                          <a:solidFill>
                            <a:srgbClr val="23293B"/>
                          </a:solidFill>
                          <a:latin typeface="Calibri"/>
                          <a:ea typeface="Calibri"/>
                          <a:cs typeface="Calibri"/>
                          <a:sym typeface="Calibri"/>
                        </a:rPr>
                        <a:t>Day 3 H5</a:t>
                      </a:r>
                      <a:endParaRPr sz="1050" u="none" cap="none" strike="noStrike">
                        <a:latin typeface="Calibri"/>
                        <a:ea typeface="Calibri"/>
                        <a:cs typeface="Calibri"/>
                        <a:sym typeface="Calibri"/>
                      </a:endParaRPr>
                    </a:p>
                  </a:txBody>
                  <a:tcPr marT="64000" marB="64000" marR="64000" marL="64000" anchor="ctr">
                    <a:lnL cap="flat" cmpd="sng" w="9525">
                      <a:solidFill>
                        <a:srgbClr val="D9E2EA"/>
                      </a:solidFill>
                      <a:prstDash val="solid"/>
                      <a:round/>
                      <a:headEnd len="sm" w="sm" type="none"/>
                      <a:tailEnd len="sm" w="sm" type="none"/>
                    </a:lnL>
                    <a:lnR cap="flat" cmpd="sng" w="9525">
                      <a:solidFill>
                        <a:srgbClr val="D9E2EA"/>
                      </a:solidFill>
                      <a:prstDash val="solid"/>
                      <a:round/>
                      <a:headEnd len="sm" w="sm" type="none"/>
                      <a:tailEnd len="sm" w="sm" type="none"/>
                    </a:lnR>
                    <a:lnT cap="flat" cmpd="sng" w="9525">
                      <a:solidFill>
                        <a:srgbClr val="D9E2EA"/>
                      </a:solidFill>
                      <a:prstDash val="solid"/>
                      <a:round/>
                      <a:headEnd len="sm" w="sm" type="none"/>
                      <a:tailEnd len="sm" w="sm" type="none"/>
                    </a:lnT>
                    <a:lnB cap="flat" cmpd="sng" w="9525">
                      <a:solidFill>
                        <a:srgbClr val="D9E2EA"/>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23293B"/>
                        </a:buClr>
                        <a:buSzPts val="1050"/>
                        <a:buFont typeface="Calibri"/>
                        <a:buNone/>
                      </a:pPr>
                      <a:r>
                        <a:rPr lang="en-US" sz="1050" u="none" cap="none" strike="noStrike">
                          <a:solidFill>
                            <a:srgbClr val="23293B"/>
                          </a:solidFill>
                          <a:latin typeface="Calibri"/>
                          <a:ea typeface="Calibri"/>
                          <a:cs typeface="Calibri"/>
                          <a:sym typeface="Calibri"/>
                        </a:rPr>
                        <a:t>Regression summary posted</a:t>
                      </a:r>
                      <a:endParaRPr sz="1050" u="none" cap="none" strike="noStrike">
                        <a:latin typeface="Calibri"/>
                        <a:ea typeface="Calibri"/>
                        <a:cs typeface="Calibri"/>
                        <a:sym typeface="Calibri"/>
                      </a:endParaRPr>
                    </a:p>
                  </a:txBody>
                  <a:tcPr marT="64000" marB="64000" marR="64000" marL="64000" anchor="ctr">
                    <a:lnL cap="flat" cmpd="sng" w="9525">
                      <a:solidFill>
                        <a:srgbClr val="D9E2EA"/>
                      </a:solidFill>
                      <a:prstDash val="solid"/>
                      <a:round/>
                      <a:headEnd len="sm" w="sm" type="none"/>
                      <a:tailEnd len="sm" w="sm" type="none"/>
                    </a:lnL>
                    <a:lnR cap="flat" cmpd="sng" w="9525">
                      <a:solidFill>
                        <a:srgbClr val="D9E2EA"/>
                      </a:solidFill>
                      <a:prstDash val="solid"/>
                      <a:round/>
                      <a:headEnd len="sm" w="sm" type="none"/>
                      <a:tailEnd len="sm" w="sm" type="none"/>
                    </a:lnR>
                    <a:lnT cap="flat" cmpd="sng" w="9525">
                      <a:solidFill>
                        <a:srgbClr val="D9E2EA"/>
                      </a:solidFill>
                      <a:prstDash val="solid"/>
                      <a:round/>
                      <a:headEnd len="sm" w="sm" type="none"/>
                      <a:tailEnd len="sm" w="sm" type="none"/>
                    </a:lnT>
                    <a:lnB cap="flat" cmpd="sng" w="9525">
                      <a:solidFill>
                        <a:srgbClr val="D9E2EA"/>
                      </a:solidFill>
                      <a:prstDash val="solid"/>
                      <a:round/>
                      <a:headEnd len="sm" w="sm" type="none"/>
                      <a:tailEnd len="sm" w="sm" type="none"/>
                    </a:lnB>
                    <a:solidFill>
                      <a:srgbClr val="FFFFFF"/>
                    </a:solidFill>
                  </a:tcPr>
                </a:tc>
              </a:tr>
              <a:tr h="696250">
                <a:tc>
                  <a:txBody>
                    <a:bodyPr/>
                    <a:lstStyle/>
                    <a:p>
                      <a:pPr indent="0" lvl="0" marL="0" marR="0" rtl="0" algn="l">
                        <a:spcBef>
                          <a:spcPts val="0"/>
                        </a:spcBef>
                        <a:spcAft>
                          <a:spcPts val="0"/>
                        </a:spcAft>
                        <a:buClr>
                          <a:srgbClr val="1D2A5C"/>
                        </a:buClr>
                        <a:buSzPts val="1050"/>
                        <a:buFont typeface="Calibri"/>
                        <a:buNone/>
                      </a:pPr>
                      <a:r>
                        <a:rPr b="1" lang="en-US" sz="1050" u="none" cap="none" strike="noStrike">
                          <a:solidFill>
                            <a:srgbClr val="1D2A5C"/>
                          </a:solidFill>
                          <a:latin typeface="Calibri"/>
                          <a:ea typeface="Calibri"/>
                          <a:cs typeface="Calibri"/>
                          <a:sym typeface="Calibri"/>
                        </a:rPr>
                        <a:t>M-D: exported, quantised, benchmarked</a:t>
                      </a:r>
                      <a:endParaRPr sz="1050" u="none" cap="none" strike="noStrike">
                        <a:latin typeface="Calibri"/>
                        <a:ea typeface="Calibri"/>
                        <a:cs typeface="Calibri"/>
                        <a:sym typeface="Calibri"/>
                      </a:endParaRPr>
                    </a:p>
                  </a:txBody>
                  <a:tcPr marT="64000" marB="64000" marR="64000" marL="64000" anchor="ctr">
                    <a:lnL cap="flat" cmpd="sng" w="9525">
                      <a:solidFill>
                        <a:srgbClr val="D9E2EA"/>
                      </a:solidFill>
                      <a:prstDash val="solid"/>
                      <a:round/>
                      <a:headEnd len="sm" w="sm" type="none"/>
                      <a:tailEnd len="sm" w="sm" type="none"/>
                    </a:lnL>
                    <a:lnR cap="flat" cmpd="sng" w="9525">
                      <a:solidFill>
                        <a:srgbClr val="D9E2EA"/>
                      </a:solidFill>
                      <a:prstDash val="solid"/>
                      <a:round/>
                      <a:headEnd len="sm" w="sm" type="none"/>
                      <a:tailEnd len="sm" w="sm" type="none"/>
                    </a:lnR>
                    <a:lnT cap="flat" cmpd="sng" w="9525">
                      <a:solidFill>
                        <a:srgbClr val="D9E2EA"/>
                      </a:solidFill>
                      <a:prstDash val="solid"/>
                      <a:round/>
                      <a:headEnd len="sm" w="sm" type="none"/>
                      <a:tailEnd len="sm" w="sm" type="none"/>
                    </a:lnT>
                    <a:lnB cap="flat" cmpd="sng" w="9525">
                      <a:solidFill>
                        <a:srgbClr val="D9E2EA"/>
                      </a:solidFill>
                      <a:prstDash val="solid"/>
                      <a:round/>
                      <a:headEnd len="sm" w="sm" type="none"/>
                      <a:tailEnd len="sm" w="sm" type="none"/>
                    </a:lnB>
                    <a:solidFill>
                      <a:srgbClr val="F2F6F9"/>
                    </a:solidFill>
                  </a:tcPr>
                </a:tc>
                <a:tc>
                  <a:txBody>
                    <a:bodyPr/>
                    <a:lstStyle/>
                    <a:p>
                      <a:pPr indent="0" lvl="0" marL="0" marR="0" rtl="0" algn="l">
                        <a:spcBef>
                          <a:spcPts val="0"/>
                        </a:spcBef>
                        <a:spcAft>
                          <a:spcPts val="0"/>
                        </a:spcAft>
                        <a:buClr>
                          <a:srgbClr val="23293B"/>
                        </a:buClr>
                        <a:buSzPts val="1050"/>
                        <a:buFont typeface="Calibri"/>
                        <a:buNone/>
                      </a:pPr>
                      <a:r>
                        <a:rPr lang="en-US" sz="1050" u="none" cap="none" strike="noStrike">
                          <a:solidFill>
                            <a:srgbClr val="23293B"/>
                          </a:solidFill>
                          <a:latin typeface="Calibri"/>
                          <a:ea typeface="Calibri"/>
                          <a:cs typeface="Calibri"/>
                          <a:sym typeface="Calibri"/>
                        </a:rPr>
                        <a:t>Day 4 H2</a:t>
                      </a:r>
                      <a:endParaRPr sz="1050" u="none" cap="none" strike="noStrike">
                        <a:latin typeface="Calibri"/>
                        <a:ea typeface="Calibri"/>
                        <a:cs typeface="Calibri"/>
                        <a:sym typeface="Calibri"/>
                      </a:endParaRPr>
                    </a:p>
                  </a:txBody>
                  <a:tcPr marT="64000" marB="64000" marR="64000" marL="64000" anchor="ctr">
                    <a:lnL cap="flat" cmpd="sng" w="9525">
                      <a:solidFill>
                        <a:srgbClr val="D9E2EA"/>
                      </a:solidFill>
                      <a:prstDash val="solid"/>
                      <a:round/>
                      <a:headEnd len="sm" w="sm" type="none"/>
                      <a:tailEnd len="sm" w="sm" type="none"/>
                    </a:lnL>
                    <a:lnR cap="flat" cmpd="sng" w="9525">
                      <a:solidFill>
                        <a:srgbClr val="D9E2EA"/>
                      </a:solidFill>
                      <a:prstDash val="solid"/>
                      <a:round/>
                      <a:headEnd len="sm" w="sm" type="none"/>
                      <a:tailEnd len="sm" w="sm" type="none"/>
                    </a:lnR>
                    <a:lnT cap="flat" cmpd="sng" w="9525">
                      <a:solidFill>
                        <a:srgbClr val="D9E2EA"/>
                      </a:solidFill>
                      <a:prstDash val="solid"/>
                      <a:round/>
                      <a:headEnd len="sm" w="sm" type="none"/>
                      <a:tailEnd len="sm" w="sm" type="none"/>
                    </a:lnT>
                    <a:lnB cap="flat" cmpd="sng" w="9525">
                      <a:solidFill>
                        <a:srgbClr val="D9E2EA"/>
                      </a:solidFill>
                      <a:prstDash val="solid"/>
                      <a:round/>
                      <a:headEnd len="sm" w="sm" type="none"/>
                      <a:tailEnd len="sm" w="sm" type="none"/>
                    </a:lnB>
                    <a:solidFill>
                      <a:srgbClr val="F2F6F9"/>
                    </a:solidFill>
                  </a:tcPr>
                </a:tc>
                <a:tc>
                  <a:txBody>
                    <a:bodyPr/>
                    <a:lstStyle/>
                    <a:p>
                      <a:pPr indent="0" lvl="0" marL="0" marR="0" rtl="0" algn="l">
                        <a:spcBef>
                          <a:spcPts val="0"/>
                        </a:spcBef>
                        <a:spcAft>
                          <a:spcPts val="0"/>
                        </a:spcAft>
                        <a:buClr>
                          <a:srgbClr val="23293B"/>
                        </a:buClr>
                        <a:buSzPts val="1050"/>
                        <a:buFont typeface="Calibri"/>
                        <a:buNone/>
                      </a:pPr>
                      <a:r>
                        <a:rPr lang="en-US" sz="1050" u="none" cap="none" strike="noStrike">
                          <a:solidFill>
                            <a:srgbClr val="23293B"/>
                          </a:solidFill>
                          <a:latin typeface="Calibri"/>
                          <a:ea typeface="Calibri"/>
                          <a:cs typeface="Calibri"/>
                          <a:sym typeface="Calibri"/>
                        </a:rPr>
                        <a:t>Trade-off table complete</a:t>
                      </a:r>
                      <a:endParaRPr sz="1050" u="none" cap="none" strike="noStrike">
                        <a:latin typeface="Calibri"/>
                        <a:ea typeface="Calibri"/>
                        <a:cs typeface="Calibri"/>
                        <a:sym typeface="Calibri"/>
                      </a:endParaRPr>
                    </a:p>
                  </a:txBody>
                  <a:tcPr marT="64000" marB="64000" marR="64000" marL="64000" anchor="ctr">
                    <a:lnL cap="flat" cmpd="sng" w="9525">
                      <a:solidFill>
                        <a:srgbClr val="D9E2EA"/>
                      </a:solidFill>
                      <a:prstDash val="solid"/>
                      <a:round/>
                      <a:headEnd len="sm" w="sm" type="none"/>
                      <a:tailEnd len="sm" w="sm" type="none"/>
                    </a:lnL>
                    <a:lnR cap="flat" cmpd="sng" w="9525">
                      <a:solidFill>
                        <a:srgbClr val="D9E2EA"/>
                      </a:solidFill>
                      <a:prstDash val="solid"/>
                      <a:round/>
                      <a:headEnd len="sm" w="sm" type="none"/>
                      <a:tailEnd len="sm" w="sm" type="none"/>
                    </a:lnR>
                    <a:lnT cap="flat" cmpd="sng" w="9525">
                      <a:solidFill>
                        <a:srgbClr val="D9E2EA"/>
                      </a:solidFill>
                      <a:prstDash val="solid"/>
                      <a:round/>
                      <a:headEnd len="sm" w="sm" type="none"/>
                      <a:tailEnd len="sm" w="sm" type="none"/>
                    </a:lnT>
                    <a:lnB cap="flat" cmpd="sng" w="9525">
                      <a:solidFill>
                        <a:srgbClr val="D9E2EA"/>
                      </a:solidFill>
                      <a:prstDash val="solid"/>
                      <a:round/>
                      <a:headEnd len="sm" w="sm" type="none"/>
                      <a:tailEnd len="sm" w="sm" type="none"/>
                    </a:lnB>
                    <a:solidFill>
                      <a:srgbClr val="F2F6F9"/>
                    </a:solidFill>
                  </a:tcPr>
                </a:tc>
              </a:tr>
              <a:tr h="696250">
                <a:tc>
                  <a:txBody>
                    <a:bodyPr/>
                    <a:lstStyle/>
                    <a:p>
                      <a:pPr indent="0" lvl="0" marL="0" marR="0" rtl="0" algn="l">
                        <a:spcBef>
                          <a:spcPts val="0"/>
                        </a:spcBef>
                        <a:spcAft>
                          <a:spcPts val="0"/>
                        </a:spcAft>
                        <a:buClr>
                          <a:srgbClr val="1D2A5C"/>
                        </a:buClr>
                        <a:buSzPts val="1050"/>
                        <a:buFont typeface="Calibri"/>
                        <a:buNone/>
                      </a:pPr>
                      <a:r>
                        <a:rPr b="1" lang="en-US" sz="1050" u="none" cap="none" strike="noStrike">
                          <a:solidFill>
                            <a:srgbClr val="1D2A5C"/>
                          </a:solidFill>
                          <a:latin typeface="Calibri"/>
                          <a:ea typeface="Calibri"/>
                          <a:cs typeface="Calibri"/>
                          <a:sym typeface="Calibri"/>
                        </a:rPr>
                        <a:t>M-E: assembled system + audit + extension</a:t>
                      </a:r>
                      <a:endParaRPr sz="1050" u="none" cap="none" strike="noStrike">
                        <a:latin typeface="Calibri"/>
                        <a:ea typeface="Calibri"/>
                        <a:cs typeface="Calibri"/>
                        <a:sym typeface="Calibri"/>
                      </a:endParaRPr>
                    </a:p>
                  </a:txBody>
                  <a:tcPr marT="64000" marB="64000" marR="64000" marL="64000" anchor="ctr">
                    <a:lnL cap="flat" cmpd="sng" w="9525">
                      <a:solidFill>
                        <a:srgbClr val="D9E2EA"/>
                      </a:solidFill>
                      <a:prstDash val="solid"/>
                      <a:round/>
                      <a:headEnd len="sm" w="sm" type="none"/>
                      <a:tailEnd len="sm" w="sm" type="none"/>
                    </a:lnL>
                    <a:lnR cap="flat" cmpd="sng" w="9525">
                      <a:solidFill>
                        <a:srgbClr val="D9E2EA"/>
                      </a:solidFill>
                      <a:prstDash val="solid"/>
                      <a:round/>
                      <a:headEnd len="sm" w="sm" type="none"/>
                      <a:tailEnd len="sm" w="sm" type="none"/>
                    </a:lnR>
                    <a:lnT cap="flat" cmpd="sng" w="9525">
                      <a:solidFill>
                        <a:srgbClr val="D9E2EA"/>
                      </a:solidFill>
                      <a:prstDash val="solid"/>
                      <a:round/>
                      <a:headEnd len="sm" w="sm" type="none"/>
                      <a:tailEnd len="sm" w="sm" type="none"/>
                    </a:lnT>
                    <a:lnB cap="flat" cmpd="sng" w="9525">
                      <a:solidFill>
                        <a:srgbClr val="D9E2EA"/>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23293B"/>
                        </a:buClr>
                        <a:buSzPts val="1050"/>
                        <a:buFont typeface="Calibri"/>
                        <a:buNone/>
                      </a:pPr>
                      <a:r>
                        <a:rPr lang="en-US" sz="1050" u="none" cap="none" strike="noStrike">
                          <a:solidFill>
                            <a:srgbClr val="23293B"/>
                          </a:solidFill>
                          <a:latin typeface="Calibri"/>
                          <a:ea typeface="Calibri"/>
                          <a:cs typeface="Calibri"/>
                          <a:sym typeface="Calibri"/>
                        </a:rPr>
                        <a:t>Day 4 H4</a:t>
                      </a:r>
                      <a:endParaRPr sz="1050" u="none" cap="none" strike="noStrike">
                        <a:latin typeface="Calibri"/>
                        <a:ea typeface="Calibri"/>
                        <a:cs typeface="Calibri"/>
                        <a:sym typeface="Calibri"/>
                      </a:endParaRPr>
                    </a:p>
                  </a:txBody>
                  <a:tcPr marT="64000" marB="64000" marR="64000" marL="64000" anchor="ctr">
                    <a:lnL cap="flat" cmpd="sng" w="9525">
                      <a:solidFill>
                        <a:srgbClr val="D9E2EA"/>
                      </a:solidFill>
                      <a:prstDash val="solid"/>
                      <a:round/>
                      <a:headEnd len="sm" w="sm" type="none"/>
                      <a:tailEnd len="sm" w="sm" type="none"/>
                    </a:lnL>
                    <a:lnR cap="flat" cmpd="sng" w="9525">
                      <a:solidFill>
                        <a:srgbClr val="D9E2EA"/>
                      </a:solidFill>
                      <a:prstDash val="solid"/>
                      <a:round/>
                      <a:headEnd len="sm" w="sm" type="none"/>
                      <a:tailEnd len="sm" w="sm" type="none"/>
                    </a:lnR>
                    <a:lnT cap="flat" cmpd="sng" w="9525">
                      <a:solidFill>
                        <a:srgbClr val="D9E2EA"/>
                      </a:solidFill>
                      <a:prstDash val="solid"/>
                      <a:round/>
                      <a:headEnd len="sm" w="sm" type="none"/>
                      <a:tailEnd len="sm" w="sm" type="none"/>
                    </a:lnT>
                    <a:lnB cap="flat" cmpd="sng" w="9525">
                      <a:solidFill>
                        <a:srgbClr val="D9E2EA"/>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23293B"/>
                        </a:buClr>
                        <a:buSzPts val="1050"/>
                        <a:buFont typeface="Calibri"/>
                        <a:buNone/>
                      </a:pPr>
                      <a:r>
                        <a:rPr lang="en-US" sz="1050" u="none" cap="none" strike="noStrike">
                          <a:solidFill>
                            <a:srgbClr val="23293B"/>
                          </a:solidFill>
                          <a:latin typeface="Calibri"/>
                          <a:ea typeface="Calibri"/>
                          <a:cs typeface="Calibri"/>
                          <a:sym typeface="Calibri"/>
                        </a:rPr>
                        <a:t>Capstone checklist green</a:t>
                      </a:r>
                      <a:endParaRPr sz="1050" u="none" cap="none" strike="noStrike">
                        <a:latin typeface="Calibri"/>
                        <a:ea typeface="Calibri"/>
                        <a:cs typeface="Calibri"/>
                        <a:sym typeface="Calibri"/>
                      </a:endParaRPr>
                    </a:p>
                  </a:txBody>
                  <a:tcPr marT="64000" marB="64000" marR="64000" marL="64000" anchor="ctr">
                    <a:lnL cap="flat" cmpd="sng" w="9525">
                      <a:solidFill>
                        <a:srgbClr val="D9E2EA"/>
                      </a:solidFill>
                      <a:prstDash val="solid"/>
                      <a:round/>
                      <a:headEnd len="sm" w="sm" type="none"/>
                      <a:tailEnd len="sm" w="sm" type="none"/>
                    </a:lnL>
                    <a:lnR cap="flat" cmpd="sng" w="9525">
                      <a:solidFill>
                        <a:srgbClr val="D9E2EA"/>
                      </a:solidFill>
                      <a:prstDash val="solid"/>
                      <a:round/>
                      <a:headEnd len="sm" w="sm" type="none"/>
                      <a:tailEnd len="sm" w="sm" type="none"/>
                    </a:lnR>
                    <a:lnT cap="flat" cmpd="sng" w="9525">
                      <a:solidFill>
                        <a:srgbClr val="D9E2EA"/>
                      </a:solidFill>
                      <a:prstDash val="solid"/>
                      <a:round/>
                      <a:headEnd len="sm" w="sm" type="none"/>
                      <a:tailEnd len="sm" w="sm" type="none"/>
                    </a:lnT>
                    <a:lnB cap="flat" cmpd="sng" w="9525">
                      <a:solidFill>
                        <a:srgbClr val="D9E2EA"/>
                      </a:solidFill>
                      <a:prstDash val="solid"/>
                      <a:round/>
                      <a:headEnd len="sm" w="sm" type="none"/>
                      <a:tailEnd len="sm" w="sm" type="none"/>
                    </a:lnB>
                    <a:solidFill>
                      <a:srgbClr val="FFFFFF"/>
                    </a:solidFill>
                  </a:tcPr>
                </a:tc>
              </a:tr>
              <a:tr h="696250">
                <a:tc>
                  <a:txBody>
                    <a:bodyPr/>
                    <a:lstStyle/>
                    <a:p>
                      <a:pPr indent="0" lvl="0" marL="0" marR="0" rtl="0" algn="l">
                        <a:spcBef>
                          <a:spcPts val="0"/>
                        </a:spcBef>
                        <a:spcAft>
                          <a:spcPts val="0"/>
                        </a:spcAft>
                        <a:buClr>
                          <a:srgbClr val="1D2A5C"/>
                        </a:buClr>
                        <a:buSzPts val="1050"/>
                        <a:buFont typeface="Calibri"/>
                        <a:buNone/>
                      </a:pPr>
                      <a:r>
                        <a:rPr b="1" lang="en-US" sz="1050" u="none" cap="none" strike="noStrike">
                          <a:solidFill>
                            <a:srgbClr val="1D2A5C"/>
                          </a:solidFill>
                          <a:latin typeface="Calibri"/>
                          <a:ea typeface="Calibri"/>
                          <a:cs typeface="Calibri"/>
                          <a:sym typeface="Calibri"/>
                        </a:rPr>
                        <a:t>M-F: demo + submission</a:t>
                      </a:r>
                      <a:endParaRPr sz="1050" u="none" cap="none" strike="noStrike">
                        <a:latin typeface="Calibri"/>
                        <a:ea typeface="Calibri"/>
                        <a:cs typeface="Calibri"/>
                        <a:sym typeface="Calibri"/>
                      </a:endParaRPr>
                    </a:p>
                  </a:txBody>
                  <a:tcPr marT="64000" marB="64000" marR="64000" marL="64000" anchor="ctr">
                    <a:lnL cap="flat" cmpd="sng" w="9525">
                      <a:solidFill>
                        <a:srgbClr val="D9E2EA"/>
                      </a:solidFill>
                      <a:prstDash val="solid"/>
                      <a:round/>
                      <a:headEnd len="sm" w="sm" type="none"/>
                      <a:tailEnd len="sm" w="sm" type="none"/>
                    </a:lnL>
                    <a:lnR cap="flat" cmpd="sng" w="9525">
                      <a:solidFill>
                        <a:srgbClr val="D9E2EA"/>
                      </a:solidFill>
                      <a:prstDash val="solid"/>
                      <a:round/>
                      <a:headEnd len="sm" w="sm" type="none"/>
                      <a:tailEnd len="sm" w="sm" type="none"/>
                    </a:lnR>
                    <a:lnT cap="flat" cmpd="sng" w="9525">
                      <a:solidFill>
                        <a:srgbClr val="D9E2EA"/>
                      </a:solidFill>
                      <a:prstDash val="solid"/>
                      <a:round/>
                      <a:headEnd len="sm" w="sm" type="none"/>
                      <a:tailEnd len="sm" w="sm" type="none"/>
                    </a:lnT>
                    <a:lnB cap="flat" cmpd="sng" w="9525">
                      <a:solidFill>
                        <a:srgbClr val="D9E2EA"/>
                      </a:solidFill>
                      <a:prstDash val="solid"/>
                      <a:round/>
                      <a:headEnd len="sm" w="sm" type="none"/>
                      <a:tailEnd len="sm" w="sm" type="none"/>
                    </a:lnB>
                    <a:solidFill>
                      <a:srgbClr val="F2F6F9"/>
                    </a:solidFill>
                  </a:tcPr>
                </a:tc>
                <a:tc>
                  <a:txBody>
                    <a:bodyPr/>
                    <a:lstStyle/>
                    <a:p>
                      <a:pPr indent="0" lvl="0" marL="0" marR="0" rtl="0" algn="l">
                        <a:spcBef>
                          <a:spcPts val="0"/>
                        </a:spcBef>
                        <a:spcAft>
                          <a:spcPts val="0"/>
                        </a:spcAft>
                        <a:buClr>
                          <a:srgbClr val="23293B"/>
                        </a:buClr>
                        <a:buSzPts val="1050"/>
                        <a:buFont typeface="Calibri"/>
                        <a:buNone/>
                      </a:pPr>
                      <a:r>
                        <a:rPr lang="en-US" sz="1050" u="none" cap="none" strike="noStrike">
                          <a:solidFill>
                            <a:srgbClr val="23293B"/>
                          </a:solidFill>
                          <a:latin typeface="Calibri"/>
                          <a:ea typeface="Calibri"/>
                          <a:cs typeface="Calibri"/>
                          <a:sym typeface="Calibri"/>
                        </a:rPr>
                        <a:t>Day 4 H5</a:t>
                      </a:r>
                      <a:endParaRPr sz="1050" u="none" cap="none" strike="noStrike">
                        <a:latin typeface="Calibri"/>
                        <a:ea typeface="Calibri"/>
                        <a:cs typeface="Calibri"/>
                        <a:sym typeface="Calibri"/>
                      </a:endParaRPr>
                    </a:p>
                  </a:txBody>
                  <a:tcPr marT="64000" marB="64000" marR="64000" marL="64000" anchor="ctr">
                    <a:lnL cap="flat" cmpd="sng" w="9525">
                      <a:solidFill>
                        <a:srgbClr val="D9E2EA"/>
                      </a:solidFill>
                      <a:prstDash val="solid"/>
                      <a:round/>
                      <a:headEnd len="sm" w="sm" type="none"/>
                      <a:tailEnd len="sm" w="sm" type="none"/>
                    </a:lnL>
                    <a:lnR cap="flat" cmpd="sng" w="9525">
                      <a:solidFill>
                        <a:srgbClr val="D9E2EA"/>
                      </a:solidFill>
                      <a:prstDash val="solid"/>
                      <a:round/>
                      <a:headEnd len="sm" w="sm" type="none"/>
                      <a:tailEnd len="sm" w="sm" type="none"/>
                    </a:lnR>
                    <a:lnT cap="flat" cmpd="sng" w="9525">
                      <a:solidFill>
                        <a:srgbClr val="D9E2EA"/>
                      </a:solidFill>
                      <a:prstDash val="solid"/>
                      <a:round/>
                      <a:headEnd len="sm" w="sm" type="none"/>
                      <a:tailEnd len="sm" w="sm" type="none"/>
                    </a:lnT>
                    <a:lnB cap="flat" cmpd="sng" w="9525">
                      <a:solidFill>
                        <a:srgbClr val="D9E2EA"/>
                      </a:solidFill>
                      <a:prstDash val="solid"/>
                      <a:round/>
                      <a:headEnd len="sm" w="sm" type="none"/>
                      <a:tailEnd len="sm" w="sm" type="none"/>
                    </a:lnB>
                    <a:solidFill>
                      <a:srgbClr val="F2F6F9"/>
                    </a:solidFill>
                  </a:tcPr>
                </a:tc>
                <a:tc>
                  <a:txBody>
                    <a:bodyPr/>
                    <a:lstStyle/>
                    <a:p>
                      <a:pPr indent="0" lvl="0" marL="0" marR="0" rtl="0" algn="l">
                        <a:spcBef>
                          <a:spcPts val="0"/>
                        </a:spcBef>
                        <a:spcAft>
                          <a:spcPts val="0"/>
                        </a:spcAft>
                        <a:buClr>
                          <a:srgbClr val="23293B"/>
                        </a:buClr>
                        <a:buSzPts val="1050"/>
                        <a:buFont typeface="Calibri"/>
                        <a:buNone/>
                      </a:pPr>
                      <a:r>
                        <a:rPr lang="en-US" sz="1050" u="none" cap="none" strike="noStrike">
                          <a:solidFill>
                            <a:srgbClr val="23293B"/>
                          </a:solidFill>
                          <a:latin typeface="Calibri"/>
                          <a:ea typeface="Calibri"/>
                          <a:cs typeface="Calibri"/>
                          <a:sym typeface="Calibri"/>
                        </a:rPr>
                        <a:t>Rubric scoring</a:t>
                      </a:r>
                      <a:endParaRPr sz="1050" u="none" cap="none" strike="noStrike">
                        <a:latin typeface="Calibri"/>
                        <a:ea typeface="Calibri"/>
                        <a:cs typeface="Calibri"/>
                        <a:sym typeface="Calibri"/>
                      </a:endParaRPr>
                    </a:p>
                  </a:txBody>
                  <a:tcPr marT="64000" marB="64000" marR="64000" marL="64000" anchor="ctr">
                    <a:lnL cap="flat" cmpd="sng" w="9525">
                      <a:solidFill>
                        <a:srgbClr val="D9E2EA"/>
                      </a:solidFill>
                      <a:prstDash val="solid"/>
                      <a:round/>
                      <a:headEnd len="sm" w="sm" type="none"/>
                      <a:tailEnd len="sm" w="sm" type="none"/>
                    </a:lnL>
                    <a:lnR cap="flat" cmpd="sng" w="9525">
                      <a:solidFill>
                        <a:srgbClr val="D9E2EA"/>
                      </a:solidFill>
                      <a:prstDash val="solid"/>
                      <a:round/>
                      <a:headEnd len="sm" w="sm" type="none"/>
                      <a:tailEnd len="sm" w="sm" type="none"/>
                    </a:lnR>
                    <a:lnT cap="flat" cmpd="sng" w="9525">
                      <a:solidFill>
                        <a:srgbClr val="D9E2EA"/>
                      </a:solidFill>
                      <a:prstDash val="solid"/>
                      <a:round/>
                      <a:headEnd len="sm" w="sm" type="none"/>
                      <a:tailEnd len="sm" w="sm" type="none"/>
                    </a:lnT>
                    <a:lnB cap="flat" cmpd="sng" w="9525">
                      <a:solidFill>
                        <a:srgbClr val="D9E2EA"/>
                      </a:solidFill>
                      <a:prstDash val="solid"/>
                      <a:round/>
                      <a:headEnd len="sm" w="sm" type="none"/>
                      <a:tailEnd len="sm" w="sm" type="none"/>
                    </a:lnB>
                    <a:solidFill>
                      <a:srgbClr val="F2F6F9"/>
                    </a:solidFill>
                  </a:tcPr>
                </a:tc>
              </a:tr>
            </a:tbl>
          </a:graphicData>
        </a:graphic>
      </p:graphicFrame>
    </p:spTree>
  </p:cSld>
  <p:clrMapOvr>
    <a:masterClrMapping/>
  </p:clrMapOvr>
</p:sld>
</file>

<file path=ppt/slides/slide1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118" name="Shape 4118"/>
        <p:cNvGrpSpPr/>
        <p:nvPr/>
      </p:nvGrpSpPr>
      <p:grpSpPr>
        <a:xfrm>
          <a:off x="0" y="0"/>
          <a:ext cx="0" cy="0"/>
          <a:chOff x="0" y="0"/>
          <a:chExt cx="0" cy="0"/>
        </a:xfrm>
      </p:grpSpPr>
      <p:sp>
        <p:nvSpPr>
          <p:cNvPr id="4119" name="Google Shape;4119;p149"/>
          <p:cNvSpPr/>
          <p:nvPr/>
        </p:nvSpPr>
        <p:spPr>
          <a:xfrm>
            <a:off x="502920" y="274320"/>
            <a:ext cx="9646920" cy="56692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D2A5C"/>
              </a:buClr>
              <a:buSzPts val="2700"/>
              <a:buFont typeface="Calibri"/>
              <a:buNone/>
            </a:pPr>
            <a:r>
              <a:rPr b="1" i="0" lang="en-US" sz="2700" u="none" cap="none" strike="noStrike">
                <a:solidFill>
                  <a:srgbClr val="1D2A5C"/>
                </a:solidFill>
                <a:latin typeface="Calibri"/>
                <a:ea typeface="Calibri"/>
                <a:cs typeface="Calibri"/>
                <a:sym typeface="Calibri"/>
              </a:rPr>
              <a:t>What you submit</a:t>
            </a:r>
            <a:endParaRPr b="0" i="0" sz="2700" u="none" cap="none" strike="noStrike">
              <a:solidFill>
                <a:schemeClr val="dk1"/>
              </a:solidFill>
              <a:latin typeface="Calibri"/>
              <a:ea typeface="Calibri"/>
              <a:cs typeface="Calibri"/>
              <a:sym typeface="Calibri"/>
            </a:endParaRPr>
          </a:p>
        </p:txBody>
      </p:sp>
      <p:sp>
        <p:nvSpPr>
          <p:cNvPr id="4120" name="Google Shape;4120;p149"/>
          <p:cNvSpPr/>
          <p:nvPr/>
        </p:nvSpPr>
        <p:spPr>
          <a:xfrm>
            <a:off x="502920" y="859536"/>
            <a:ext cx="9646920" cy="31089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F6B7A"/>
              </a:buClr>
              <a:buSzPts val="1250"/>
              <a:buFont typeface="Arial"/>
              <a:buNone/>
            </a:pPr>
            <a:r>
              <a:rPr b="0" i="0" lang="en-US" sz="1250" u="none" cap="none" strike="noStrike">
                <a:solidFill>
                  <a:srgbClr val="5F6B7A"/>
                </a:solidFill>
                <a:latin typeface="Arial"/>
                <a:ea typeface="Arial"/>
                <a:cs typeface="Arial"/>
                <a:sym typeface="Arial"/>
              </a:rPr>
              <a:t>ما الذي تسلّمه</a:t>
            </a:r>
            <a:endParaRPr b="0" i="0" sz="1250" u="none" cap="none" strike="noStrike">
              <a:solidFill>
                <a:schemeClr val="dk1"/>
              </a:solidFill>
              <a:latin typeface="Calibri"/>
              <a:ea typeface="Calibri"/>
              <a:cs typeface="Calibri"/>
              <a:sym typeface="Calibri"/>
            </a:endParaRPr>
          </a:p>
        </p:txBody>
      </p:sp>
      <p:pic>
        <p:nvPicPr>
          <p:cNvPr descr="/sessions/blissful-determined-ritchie/build/assets/sdaia_logo.png" id="4121" name="Google Shape;4121;p149"/>
          <p:cNvPicPr preferRelativeResize="0"/>
          <p:nvPr/>
        </p:nvPicPr>
        <p:blipFill rotWithShape="1">
          <a:blip r:embed="rId3">
            <a:alphaModFix/>
          </a:blip>
          <a:srcRect b="0" l="0" r="0" t="0"/>
          <a:stretch/>
        </p:blipFill>
        <p:spPr>
          <a:xfrm>
            <a:off x="10625328" y="310896"/>
            <a:ext cx="1078992" cy="264111"/>
          </a:xfrm>
          <a:prstGeom prst="rect">
            <a:avLst/>
          </a:prstGeom>
          <a:noFill/>
          <a:ln>
            <a:noFill/>
          </a:ln>
        </p:spPr>
      </p:pic>
      <p:sp>
        <p:nvSpPr>
          <p:cNvPr id="4122" name="Google Shape;4122;p149"/>
          <p:cNvSpPr/>
          <p:nvPr/>
        </p:nvSpPr>
        <p:spPr>
          <a:xfrm>
            <a:off x="502920" y="6528816"/>
            <a:ext cx="8686800"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A79D"/>
              </a:buClr>
              <a:buSzPts val="800"/>
              <a:buFont typeface="Calibri"/>
              <a:buNone/>
            </a:pPr>
            <a:r>
              <a:rPr b="1" i="0" lang="en-US" sz="800" u="none" cap="none" strike="noStrike">
                <a:solidFill>
                  <a:srgbClr val="00A79D"/>
                </a:solidFill>
                <a:latin typeface="Calibri"/>
                <a:ea typeface="Calibri"/>
                <a:cs typeface="Calibri"/>
                <a:sym typeface="Calibri"/>
              </a:rPr>
              <a:t>CAPSTONE   </a:t>
            </a:r>
            <a:r>
              <a:rPr b="0" i="0" lang="en-US" sz="800" u="none" cap="none" strike="noStrike">
                <a:solidFill>
                  <a:srgbClr val="8A96A6"/>
                </a:solidFill>
                <a:latin typeface="Calibri"/>
                <a:ea typeface="Calibri"/>
                <a:cs typeface="Calibri"/>
                <a:sym typeface="Calibri"/>
              </a:rPr>
              <a:t>SDA-AIE-212 · Computer Vision Systems Development</a:t>
            </a:r>
            <a:endParaRPr b="0" i="0" sz="800" u="none" cap="none" strike="noStrike">
              <a:solidFill>
                <a:schemeClr val="dk1"/>
              </a:solidFill>
              <a:latin typeface="Calibri"/>
              <a:ea typeface="Calibri"/>
              <a:cs typeface="Calibri"/>
              <a:sym typeface="Calibri"/>
            </a:endParaRPr>
          </a:p>
        </p:txBody>
      </p:sp>
      <p:sp>
        <p:nvSpPr>
          <p:cNvPr id="4123" name="Google Shape;4123;p149"/>
          <p:cNvSpPr/>
          <p:nvPr/>
        </p:nvSpPr>
        <p:spPr>
          <a:xfrm>
            <a:off x="11292840" y="6528816"/>
            <a:ext cx="411480" cy="219456"/>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8A96A6"/>
              </a:buClr>
              <a:buSzPts val="900"/>
              <a:buFont typeface="Calibri"/>
              <a:buNone/>
            </a:pPr>
            <a:r>
              <a:rPr b="0" i="0" lang="en-US" sz="900" u="none" cap="none" strike="noStrike">
                <a:solidFill>
                  <a:srgbClr val="8A96A6"/>
                </a:solidFill>
                <a:latin typeface="Calibri"/>
                <a:ea typeface="Calibri"/>
                <a:cs typeface="Calibri"/>
                <a:sym typeface="Calibri"/>
              </a:rPr>
              <a:t>149</a:t>
            </a:r>
            <a:endParaRPr b="0" i="0" sz="900" u="none" cap="none" strike="noStrike">
              <a:solidFill>
                <a:schemeClr val="dk1"/>
              </a:solidFill>
              <a:latin typeface="Calibri"/>
              <a:ea typeface="Calibri"/>
              <a:cs typeface="Calibri"/>
              <a:sym typeface="Calibri"/>
            </a:endParaRPr>
          </a:p>
        </p:txBody>
      </p:sp>
      <p:sp>
        <p:nvSpPr>
          <p:cNvPr id="4124" name="Google Shape;4124;p149"/>
          <p:cNvSpPr/>
          <p:nvPr/>
        </p:nvSpPr>
        <p:spPr>
          <a:xfrm>
            <a:off x="502920" y="1389888"/>
            <a:ext cx="11185855" cy="384048"/>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5F6B7A"/>
              </a:buClr>
              <a:buSzPts val="1250"/>
              <a:buFont typeface="Calibri"/>
              <a:buNone/>
            </a:pPr>
            <a:r>
              <a:rPr b="0" i="1" lang="en-US" sz="1250" u="none" cap="none" strike="noStrike">
                <a:solidFill>
                  <a:srgbClr val="5F6B7A"/>
                </a:solidFill>
                <a:latin typeface="Calibri"/>
                <a:ea typeface="Calibri"/>
                <a:cs typeface="Calibri"/>
                <a:sym typeface="Calibri"/>
              </a:rPr>
              <a:t>Plus the 5-minute demo. Repos and BENCHMARKS.md are collected at the end of Hour 4, before demos begin.</a:t>
            </a:r>
            <a:endParaRPr b="0" i="0" sz="1250" u="none" cap="none" strike="noStrike">
              <a:solidFill>
                <a:schemeClr val="dk1"/>
              </a:solidFill>
              <a:latin typeface="Calibri"/>
              <a:ea typeface="Calibri"/>
              <a:cs typeface="Calibri"/>
              <a:sym typeface="Calibri"/>
            </a:endParaRPr>
          </a:p>
        </p:txBody>
      </p:sp>
      <p:sp>
        <p:nvSpPr>
          <p:cNvPr id="4125" name="Google Shape;4125;p149"/>
          <p:cNvSpPr/>
          <p:nvPr/>
        </p:nvSpPr>
        <p:spPr>
          <a:xfrm>
            <a:off x="502920" y="1892808"/>
            <a:ext cx="3545738" cy="2103120"/>
          </a:xfrm>
          <a:prstGeom prst="roundRect">
            <a:avLst>
              <a:gd fmla="val 3478" name="adj"/>
            </a:avLst>
          </a:prstGeom>
          <a:solidFill>
            <a:srgbClr val="F2F6F9"/>
          </a:solidFill>
          <a:ln cap="flat" cmpd="sng" w="12700">
            <a:solidFill>
              <a:srgbClr val="D9E2E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26" name="Google Shape;4126;p149"/>
          <p:cNvSpPr/>
          <p:nvPr/>
        </p:nvSpPr>
        <p:spPr>
          <a:xfrm>
            <a:off x="667512" y="2039112"/>
            <a:ext cx="310896" cy="310896"/>
          </a:xfrm>
          <a:prstGeom prst="ellipse">
            <a:avLst/>
          </a:prstGeom>
          <a:solidFill>
            <a:srgbClr val="00A79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27" name="Google Shape;4127;p149"/>
          <p:cNvSpPr/>
          <p:nvPr/>
        </p:nvSpPr>
        <p:spPr>
          <a:xfrm>
            <a:off x="667512" y="2039112"/>
            <a:ext cx="310896" cy="31089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200"/>
              <a:buFont typeface="Calibri"/>
              <a:buNone/>
            </a:pPr>
            <a:r>
              <a:rPr b="1" i="0" lang="en-US" sz="1200" u="none" cap="none" strike="noStrike">
                <a:solidFill>
                  <a:srgbClr val="FFFFFF"/>
                </a:solidFill>
                <a:latin typeface="Calibri"/>
                <a:ea typeface="Calibri"/>
                <a:cs typeface="Calibri"/>
                <a:sym typeface="Calibri"/>
              </a:rPr>
              <a:t>1</a:t>
            </a:r>
            <a:endParaRPr b="0" i="0" sz="1200" u="none" cap="none" strike="noStrike">
              <a:solidFill>
                <a:schemeClr val="dk1"/>
              </a:solidFill>
              <a:latin typeface="Calibri"/>
              <a:ea typeface="Calibri"/>
              <a:cs typeface="Calibri"/>
              <a:sym typeface="Calibri"/>
            </a:endParaRPr>
          </a:p>
        </p:txBody>
      </p:sp>
      <p:sp>
        <p:nvSpPr>
          <p:cNvPr id="4128" name="Google Shape;4128;p149"/>
          <p:cNvSpPr/>
          <p:nvPr/>
        </p:nvSpPr>
        <p:spPr>
          <a:xfrm>
            <a:off x="1088136" y="2002536"/>
            <a:ext cx="2814218" cy="38404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D2A5C"/>
              </a:buClr>
              <a:buSzPts val="1250"/>
              <a:buFont typeface="Calibri"/>
              <a:buNone/>
            </a:pPr>
            <a:r>
              <a:rPr b="1" i="0" lang="en-US" sz="1250" u="none" cap="none" strike="noStrike">
                <a:solidFill>
                  <a:srgbClr val="1D2A5C"/>
                </a:solidFill>
                <a:latin typeface="Calibri"/>
                <a:ea typeface="Calibri"/>
                <a:cs typeface="Calibri"/>
                <a:sym typeface="Calibri"/>
              </a:rPr>
              <a:t>Repository</a:t>
            </a:r>
            <a:endParaRPr b="0" i="0" sz="1250" u="none" cap="none" strike="noStrike">
              <a:solidFill>
                <a:schemeClr val="dk1"/>
              </a:solidFill>
              <a:latin typeface="Calibri"/>
              <a:ea typeface="Calibri"/>
              <a:cs typeface="Calibri"/>
              <a:sym typeface="Calibri"/>
            </a:endParaRPr>
          </a:p>
        </p:txBody>
      </p:sp>
      <p:sp>
        <p:nvSpPr>
          <p:cNvPr id="4129" name="Google Shape;4129;p149"/>
          <p:cNvSpPr/>
          <p:nvPr/>
        </p:nvSpPr>
        <p:spPr>
          <a:xfrm>
            <a:off x="685800" y="2423160"/>
            <a:ext cx="3179978" cy="14630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5F6B7A"/>
              </a:buClr>
              <a:buSzPts val="1100"/>
              <a:buFont typeface="Calibri"/>
              <a:buNone/>
            </a:pPr>
            <a:r>
              <a:rPr b="0" i="0" lang="en-US" sz="1100" u="none" cap="none" strike="noStrike">
                <a:solidFill>
                  <a:srgbClr val="5F6B7A"/>
                </a:solidFill>
                <a:latin typeface="Calibri"/>
                <a:ea typeface="Calibri"/>
                <a:cs typeface="Calibri"/>
                <a:sym typeface="Calibri"/>
              </a:rPr>
              <a:t>Full history: the tamr_vision/ package, scripts, configs, tests.</a:t>
            </a:r>
            <a:endParaRPr b="0" i="0" sz="1100" u="none" cap="none" strike="noStrike">
              <a:solidFill>
                <a:schemeClr val="dk1"/>
              </a:solidFill>
              <a:latin typeface="Calibri"/>
              <a:ea typeface="Calibri"/>
              <a:cs typeface="Calibri"/>
              <a:sym typeface="Calibri"/>
            </a:endParaRPr>
          </a:p>
        </p:txBody>
      </p:sp>
      <p:sp>
        <p:nvSpPr>
          <p:cNvPr id="4130" name="Google Shape;4130;p149"/>
          <p:cNvSpPr/>
          <p:nvPr/>
        </p:nvSpPr>
        <p:spPr>
          <a:xfrm>
            <a:off x="4322978" y="1892808"/>
            <a:ext cx="3545738" cy="2103120"/>
          </a:xfrm>
          <a:prstGeom prst="roundRect">
            <a:avLst>
              <a:gd fmla="val 3478" name="adj"/>
            </a:avLst>
          </a:prstGeom>
          <a:solidFill>
            <a:srgbClr val="F2F6F9"/>
          </a:solidFill>
          <a:ln cap="flat" cmpd="sng" w="12700">
            <a:solidFill>
              <a:srgbClr val="D9E2E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31" name="Google Shape;4131;p149"/>
          <p:cNvSpPr/>
          <p:nvPr/>
        </p:nvSpPr>
        <p:spPr>
          <a:xfrm>
            <a:off x="4487570" y="2039112"/>
            <a:ext cx="310896" cy="310896"/>
          </a:xfrm>
          <a:prstGeom prst="ellipse">
            <a:avLst/>
          </a:prstGeom>
          <a:solidFill>
            <a:srgbClr val="29ABE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32" name="Google Shape;4132;p149"/>
          <p:cNvSpPr/>
          <p:nvPr/>
        </p:nvSpPr>
        <p:spPr>
          <a:xfrm>
            <a:off x="4487570" y="2039112"/>
            <a:ext cx="310896" cy="31089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200"/>
              <a:buFont typeface="Calibri"/>
              <a:buNone/>
            </a:pPr>
            <a:r>
              <a:rPr b="1" i="0" lang="en-US" sz="1200" u="none" cap="none" strike="noStrike">
                <a:solidFill>
                  <a:srgbClr val="FFFFFF"/>
                </a:solidFill>
                <a:latin typeface="Calibri"/>
                <a:ea typeface="Calibri"/>
                <a:cs typeface="Calibri"/>
                <a:sym typeface="Calibri"/>
              </a:rPr>
              <a:t>2</a:t>
            </a:r>
            <a:endParaRPr b="0" i="0" sz="1200" u="none" cap="none" strike="noStrike">
              <a:solidFill>
                <a:schemeClr val="dk1"/>
              </a:solidFill>
              <a:latin typeface="Calibri"/>
              <a:ea typeface="Calibri"/>
              <a:cs typeface="Calibri"/>
              <a:sym typeface="Calibri"/>
            </a:endParaRPr>
          </a:p>
        </p:txBody>
      </p:sp>
      <p:sp>
        <p:nvSpPr>
          <p:cNvPr id="4133" name="Google Shape;4133;p149"/>
          <p:cNvSpPr/>
          <p:nvPr/>
        </p:nvSpPr>
        <p:spPr>
          <a:xfrm>
            <a:off x="4908194" y="2002536"/>
            <a:ext cx="2814218" cy="38404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D2A5C"/>
              </a:buClr>
              <a:buSzPts val="1250"/>
              <a:buFont typeface="Calibri"/>
              <a:buNone/>
            </a:pPr>
            <a:r>
              <a:rPr b="1" i="0" lang="en-US" sz="1250" u="none" cap="none" strike="noStrike">
                <a:solidFill>
                  <a:srgbClr val="1D2A5C"/>
                </a:solidFill>
                <a:latin typeface="Calibri"/>
                <a:ea typeface="Calibri"/>
                <a:cs typeface="Calibri"/>
                <a:sym typeface="Calibri"/>
              </a:rPr>
              <a:t>BENCHMARKS.md</a:t>
            </a:r>
            <a:endParaRPr b="0" i="0" sz="1250" u="none" cap="none" strike="noStrike">
              <a:solidFill>
                <a:schemeClr val="dk1"/>
              </a:solidFill>
              <a:latin typeface="Calibri"/>
              <a:ea typeface="Calibri"/>
              <a:cs typeface="Calibri"/>
              <a:sym typeface="Calibri"/>
            </a:endParaRPr>
          </a:p>
        </p:txBody>
      </p:sp>
      <p:sp>
        <p:nvSpPr>
          <p:cNvPr id="4134" name="Google Shape;4134;p149"/>
          <p:cNvSpPr/>
          <p:nvPr/>
        </p:nvSpPr>
        <p:spPr>
          <a:xfrm>
            <a:off x="4505858" y="2423160"/>
            <a:ext cx="3179978" cy="14630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5F6B7A"/>
              </a:buClr>
              <a:buSzPts val="1100"/>
              <a:buFont typeface="Calibri"/>
              <a:buNone/>
            </a:pPr>
            <a:r>
              <a:rPr b="0" i="0" lang="en-US" sz="1100" u="none" cap="none" strike="noStrike">
                <a:solidFill>
                  <a:srgbClr val="5F6B7A"/>
                </a:solidFill>
                <a:latin typeface="Calibri"/>
                <a:ea typeface="Calibri"/>
                <a:cs typeface="Calibri"/>
                <a:sym typeface="Calibri"/>
              </a:rPr>
              <a:t>Every course benchmark table filled from YOUR runs: throughput, model comparison, operating points, area MAE, deltas.</a:t>
            </a:r>
            <a:endParaRPr b="0" i="0" sz="1100" u="none" cap="none" strike="noStrike">
              <a:solidFill>
                <a:schemeClr val="dk1"/>
              </a:solidFill>
              <a:latin typeface="Calibri"/>
              <a:ea typeface="Calibri"/>
              <a:cs typeface="Calibri"/>
              <a:sym typeface="Calibri"/>
            </a:endParaRPr>
          </a:p>
        </p:txBody>
      </p:sp>
      <p:sp>
        <p:nvSpPr>
          <p:cNvPr id="4135" name="Google Shape;4135;p149"/>
          <p:cNvSpPr/>
          <p:nvPr/>
        </p:nvSpPr>
        <p:spPr>
          <a:xfrm>
            <a:off x="8143037" y="1892808"/>
            <a:ext cx="3545738" cy="2103120"/>
          </a:xfrm>
          <a:prstGeom prst="roundRect">
            <a:avLst>
              <a:gd fmla="val 3478" name="adj"/>
            </a:avLst>
          </a:prstGeom>
          <a:solidFill>
            <a:srgbClr val="F2F6F9"/>
          </a:solidFill>
          <a:ln cap="flat" cmpd="sng" w="12700">
            <a:solidFill>
              <a:srgbClr val="D9E2E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36" name="Google Shape;4136;p149"/>
          <p:cNvSpPr/>
          <p:nvPr/>
        </p:nvSpPr>
        <p:spPr>
          <a:xfrm>
            <a:off x="8307629" y="2039112"/>
            <a:ext cx="310896" cy="310896"/>
          </a:xfrm>
          <a:prstGeom prst="ellipse">
            <a:avLst/>
          </a:prstGeom>
          <a:solidFill>
            <a:srgbClr val="F5822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37" name="Google Shape;4137;p149"/>
          <p:cNvSpPr/>
          <p:nvPr/>
        </p:nvSpPr>
        <p:spPr>
          <a:xfrm>
            <a:off x="8307629" y="2039112"/>
            <a:ext cx="310896" cy="31089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200"/>
              <a:buFont typeface="Calibri"/>
              <a:buNone/>
            </a:pPr>
            <a:r>
              <a:rPr b="1" i="0" lang="en-US" sz="1200" u="none" cap="none" strike="noStrike">
                <a:solidFill>
                  <a:srgbClr val="FFFFFF"/>
                </a:solidFill>
                <a:latin typeface="Calibri"/>
                <a:ea typeface="Calibri"/>
                <a:cs typeface="Calibri"/>
                <a:sym typeface="Calibri"/>
              </a:rPr>
              <a:t>3</a:t>
            </a:r>
            <a:endParaRPr b="0" i="0" sz="1200" u="none" cap="none" strike="noStrike">
              <a:solidFill>
                <a:schemeClr val="dk1"/>
              </a:solidFill>
              <a:latin typeface="Calibri"/>
              <a:ea typeface="Calibri"/>
              <a:cs typeface="Calibri"/>
              <a:sym typeface="Calibri"/>
            </a:endParaRPr>
          </a:p>
        </p:txBody>
      </p:sp>
      <p:sp>
        <p:nvSpPr>
          <p:cNvPr id="4138" name="Google Shape;4138;p149"/>
          <p:cNvSpPr/>
          <p:nvPr/>
        </p:nvSpPr>
        <p:spPr>
          <a:xfrm>
            <a:off x="8728253" y="2002536"/>
            <a:ext cx="2814218" cy="38404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D2A5C"/>
              </a:buClr>
              <a:buSzPts val="1250"/>
              <a:buFont typeface="Calibri"/>
              <a:buNone/>
            </a:pPr>
            <a:r>
              <a:rPr b="1" i="0" lang="en-US" sz="1250" u="none" cap="none" strike="noStrike">
                <a:solidFill>
                  <a:srgbClr val="1D2A5C"/>
                </a:solidFill>
                <a:latin typeface="Calibri"/>
                <a:ea typeface="Calibri"/>
                <a:cs typeface="Calibri"/>
                <a:sym typeface="Calibri"/>
              </a:rPr>
              <a:t>Harness report pack</a:t>
            </a:r>
            <a:endParaRPr b="0" i="0" sz="1250" u="none" cap="none" strike="noStrike">
              <a:solidFill>
                <a:schemeClr val="dk1"/>
              </a:solidFill>
              <a:latin typeface="Calibri"/>
              <a:ea typeface="Calibri"/>
              <a:cs typeface="Calibri"/>
              <a:sym typeface="Calibri"/>
            </a:endParaRPr>
          </a:p>
        </p:txBody>
      </p:sp>
      <p:sp>
        <p:nvSpPr>
          <p:cNvPr id="4139" name="Google Shape;4139;p149"/>
          <p:cNvSpPr/>
          <p:nvPr/>
        </p:nvSpPr>
        <p:spPr>
          <a:xfrm>
            <a:off x="8325917" y="2423160"/>
            <a:ext cx="3179978" cy="14630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5F6B7A"/>
              </a:buClr>
              <a:buSzPts val="1100"/>
              <a:buFont typeface="Calibri"/>
              <a:buNone/>
            </a:pPr>
            <a:r>
              <a:rPr b="0" i="0" lang="en-US" sz="1100" u="none" cap="none" strike="noStrike">
                <a:solidFill>
                  <a:srgbClr val="5F6B7A"/>
                </a:solidFill>
                <a:latin typeface="Calibri"/>
                <a:ea typeface="Calibri"/>
                <a:cs typeface="Calibri"/>
                <a:sym typeface="Calibri"/>
              </a:rPr>
              <a:t>HTML report, slice tables, error gallery, regression summary with CI.</a:t>
            </a:r>
            <a:endParaRPr b="0" i="0" sz="1100" u="none" cap="none" strike="noStrike">
              <a:solidFill>
                <a:schemeClr val="dk1"/>
              </a:solidFill>
              <a:latin typeface="Calibri"/>
              <a:ea typeface="Calibri"/>
              <a:cs typeface="Calibri"/>
              <a:sym typeface="Calibri"/>
            </a:endParaRPr>
          </a:p>
        </p:txBody>
      </p:sp>
      <p:sp>
        <p:nvSpPr>
          <p:cNvPr id="4140" name="Google Shape;4140;p149"/>
          <p:cNvSpPr/>
          <p:nvPr/>
        </p:nvSpPr>
        <p:spPr>
          <a:xfrm>
            <a:off x="502920" y="4251960"/>
            <a:ext cx="3545738" cy="2103120"/>
          </a:xfrm>
          <a:prstGeom prst="roundRect">
            <a:avLst>
              <a:gd fmla="val 3478" name="adj"/>
            </a:avLst>
          </a:prstGeom>
          <a:solidFill>
            <a:srgbClr val="F2F6F9"/>
          </a:solidFill>
          <a:ln cap="flat" cmpd="sng" w="12700">
            <a:solidFill>
              <a:srgbClr val="D9E2E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41" name="Google Shape;4141;p149"/>
          <p:cNvSpPr/>
          <p:nvPr/>
        </p:nvSpPr>
        <p:spPr>
          <a:xfrm>
            <a:off x="667512" y="4398264"/>
            <a:ext cx="310896" cy="310896"/>
          </a:xfrm>
          <a:prstGeom prst="ellipse">
            <a:avLst/>
          </a:prstGeom>
          <a:solidFill>
            <a:srgbClr val="8DC63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42" name="Google Shape;4142;p149"/>
          <p:cNvSpPr/>
          <p:nvPr/>
        </p:nvSpPr>
        <p:spPr>
          <a:xfrm>
            <a:off x="667512" y="4398264"/>
            <a:ext cx="310896" cy="31089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200"/>
              <a:buFont typeface="Calibri"/>
              <a:buNone/>
            </a:pPr>
            <a:r>
              <a:rPr b="1" i="0" lang="en-US" sz="1200" u="none" cap="none" strike="noStrike">
                <a:solidFill>
                  <a:srgbClr val="FFFFFF"/>
                </a:solidFill>
                <a:latin typeface="Calibri"/>
                <a:ea typeface="Calibri"/>
                <a:cs typeface="Calibri"/>
                <a:sym typeface="Calibri"/>
              </a:rPr>
              <a:t>4</a:t>
            </a:r>
            <a:endParaRPr b="0" i="0" sz="1200" u="none" cap="none" strike="noStrike">
              <a:solidFill>
                <a:schemeClr val="dk1"/>
              </a:solidFill>
              <a:latin typeface="Calibri"/>
              <a:ea typeface="Calibri"/>
              <a:cs typeface="Calibri"/>
              <a:sym typeface="Calibri"/>
            </a:endParaRPr>
          </a:p>
        </p:txBody>
      </p:sp>
      <p:sp>
        <p:nvSpPr>
          <p:cNvPr id="4143" name="Google Shape;4143;p149"/>
          <p:cNvSpPr/>
          <p:nvPr/>
        </p:nvSpPr>
        <p:spPr>
          <a:xfrm>
            <a:off x="1088136" y="4361688"/>
            <a:ext cx="2814218" cy="38404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D2A5C"/>
              </a:buClr>
              <a:buSzPts val="1250"/>
              <a:buFont typeface="Calibri"/>
              <a:buNone/>
            </a:pPr>
            <a:r>
              <a:rPr b="1" i="0" lang="en-US" sz="1250" u="none" cap="none" strike="noStrike">
                <a:solidFill>
                  <a:srgbClr val="1D2A5C"/>
                </a:solidFill>
                <a:latin typeface="Calibri"/>
                <a:ea typeface="Calibri"/>
                <a:cs typeface="Calibri"/>
                <a:sym typeface="Calibri"/>
              </a:rPr>
              <a:t>v2 release folder</a:t>
            </a:r>
            <a:endParaRPr b="0" i="0" sz="1250" u="none" cap="none" strike="noStrike">
              <a:solidFill>
                <a:schemeClr val="dk1"/>
              </a:solidFill>
              <a:latin typeface="Calibri"/>
              <a:ea typeface="Calibri"/>
              <a:cs typeface="Calibri"/>
              <a:sym typeface="Calibri"/>
            </a:endParaRPr>
          </a:p>
        </p:txBody>
      </p:sp>
      <p:sp>
        <p:nvSpPr>
          <p:cNvPr id="4144" name="Google Shape;4144;p149"/>
          <p:cNvSpPr/>
          <p:nvPr/>
        </p:nvSpPr>
        <p:spPr>
          <a:xfrm>
            <a:off x="685800" y="4782312"/>
            <a:ext cx="3179978" cy="14630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5F6B7A"/>
              </a:buClr>
              <a:buSzPts val="1100"/>
              <a:buFont typeface="Calibri"/>
              <a:buNone/>
            </a:pPr>
            <a:r>
              <a:rPr b="0" i="0" lang="en-US" sz="1100" u="none" cap="none" strike="noStrike">
                <a:solidFill>
                  <a:srgbClr val="5F6B7A"/>
                </a:solidFill>
                <a:latin typeface="Calibri"/>
                <a:ea typeface="Calibri"/>
                <a:cs typeface="Calibri"/>
                <a:sym typeface="Calibri"/>
              </a:rPr>
              <a:t>RELEASE.json, manifest with hashes, spec PR link, agreement numbers.</a:t>
            </a:r>
            <a:endParaRPr b="0" i="0" sz="1100" u="none" cap="none" strike="noStrike">
              <a:solidFill>
                <a:schemeClr val="dk1"/>
              </a:solidFill>
              <a:latin typeface="Calibri"/>
              <a:ea typeface="Calibri"/>
              <a:cs typeface="Calibri"/>
              <a:sym typeface="Calibri"/>
            </a:endParaRPr>
          </a:p>
        </p:txBody>
      </p:sp>
      <p:sp>
        <p:nvSpPr>
          <p:cNvPr id="4145" name="Google Shape;4145;p149"/>
          <p:cNvSpPr/>
          <p:nvPr/>
        </p:nvSpPr>
        <p:spPr>
          <a:xfrm>
            <a:off x="4322978" y="4251960"/>
            <a:ext cx="3545738" cy="2103120"/>
          </a:xfrm>
          <a:prstGeom prst="roundRect">
            <a:avLst>
              <a:gd fmla="val 3478" name="adj"/>
            </a:avLst>
          </a:prstGeom>
          <a:solidFill>
            <a:srgbClr val="F2F6F9"/>
          </a:solidFill>
          <a:ln cap="flat" cmpd="sng" w="12700">
            <a:solidFill>
              <a:srgbClr val="D9E2E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46" name="Google Shape;4146;p149"/>
          <p:cNvSpPr/>
          <p:nvPr/>
        </p:nvSpPr>
        <p:spPr>
          <a:xfrm>
            <a:off x="4487570" y="4398264"/>
            <a:ext cx="310896" cy="310896"/>
          </a:xfrm>
          <a:prstGeom prst="ellipse">
            <a:avLst/>
          </a:prstGeom>
          <a:solidFill>
            <a:srgbClr val="1D2A5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47" name="Google Shape;4147;p149"/>
          <p:cNvSpPr/>
          <p:nvPr/>
        </p:nvSpPr>
        <p:spPr>
          <a:xfrm>
            <a:off x="4487570" y="4398264"/>
            <a:ext cx="310896" cy="31089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200"/>
              <a:buFont typeface="Calibri"/>
              <a:buNone/>
            </a:pPr>
            <a:r>
              <a:rPr b="1" i="0" lang="en-US" sz="1200" u="none" cap="none" strike="noStrike">
                <a:solidFill>
                  <a:srgbClr val="FFFFFF"/>
                </a:solidFill>
                <a:latin typeface="Calibri"/>
                <a:ea typeface="Calibri"/>
                <a:cs typeface="Calibri"/>
                <a:sym typeface="Calibri"/>
              </a:rPr>
              <a:t>5</a:t>
            </a:r>
            <a:endParaRPr b="0" i="0" sz="1200" u="none" cap="none" strike="noStrike">
              <a:solidFill>
                <a:schemeClr val="dk1"/>
              </a:solidFill>
              <a:latin typeface="Calibri"/>
              <a:ea typeface="Calibri"/>
              <a:cs typeface="Calibri"/>
              <a:sym typeface="Calibri"/>
            </a:endParaRPr>
          </a:p>
        </p:txBody>
      </p:sp>
      <p:sp>
        <p:nvSpPr>
          <p:cNvPr id="4148" name="Google Shape;4148;p149"/>
          <p:cNvSpPr/>
          <p:nvPr/>
        </p:nvSpPr>
        <p:spPr>
          <a:xfrm>
            <a:off x="4908194" y="4361688"/>
            <a:ext cx="2814218" cy="38404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D2A5C"/>
              </a:buClr>
              <a:buSzPts val="1250"/>
              <a:buFont typeface="Calibri"/>
              <a:buNone/>
            </a:pPr>
            <a:r>
              <a:rPr b="1" i="0" lang="en-US" sz="1250" u="none" cap="none" strike="noStrike">
                <a:solidFill>
                  <a:srgbClr val="1D2A5C"/>
                </a:solidFill>
                <a:latin typeface="Calibri"/>
                <a:ea typeface="Calibri"/>
                <a:cs typeface="Calibri"/>
                <a:sym typeface="Calibri"/>
              </a:rPr>
              <a:t>Deployment bundle</a:t>
            </a:r>
            <a:endParaRPr b="0" i="0" sz="1250" u="none" cap="none" strike="noStrike">
              <a:solidFill>
                <a:schemeClr val="dk1"/>
              </a:solidFill>
              <a:latin typeface="Calibri"/>
              <a:ea typeface="Calibri"/>
              <a:cs typeface="Calibri"/>
              <a:sym typeface="Calibri"/>
            </a:endParaRPr>
          </a:p>
        </p:txBody>
      </p:sp>
      <p:sp>
        <p:nvSpPr>
          <p:cNvPr id="4149" name="Google Shape;4149;p149"/>
          <p:cNvSpPr/>
          <p:nvPr/>
        </p:nvSpPr>
        <p:spPr>
          <a:xfrm>
            <a:off x="4505858" y="4782312"/>
            <a:ext cx="3179978" cy="14630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5F6B7A"/>
              </a:buClr>
              <a:buSzPts val="1100"/>
              <a:buFont typeface="Calibri"/>
              <a:buNone/>
            </a:pPr>
            <a:r>
              <a:rPr b="0" i="0" lang="en-US" sz="1100" u="none" cap="none" strike="noStrike">
                <a:solidFill>
                  <a:srgbClr val="5F6B7A"/>
                </a:solidFill>
                <a:latin typeface="Calibri"/>
                <a:ea typeface="Calibri"/>
                <a:cs typeface="Calibri"/>
                <a:sym typeface="Calibri"/>
              </a:rPr>
              <a:t>ONNX artefacts + config + parity evidence + selected line configuration.</a:t>
            </a:r>
            <a:endParaRPr b="0" i="0" sz="1100" u="none" cap="none" strike="noStrike">
              <a:solidFill>
                <a:schemeClr val="dk1"/>
              </a:solidFill>
              <a:latin typeface="Calibri"/>
              <a:ea typeface="Calibri"/>
              <a:cs typeface="Calibri"/>
              <a:sym typeface="Calibri"/>
            </a:endParaRPr>
          </a:p>
        </p:txBody>
      </p:sp>
      <p:sp>
        <p:nvSpPr>
          <p:cNvPr id="4150" name="Google Shape;4150;p149"/>
          <p:cNvSpPr/>
          <p:nvPr/>
        </p:nvSpPr>
        <p:spPr>
          <a:xfrm>
            <a:off x="8143037" y="4251960"/>
            <a:ext cx="3545738" cy="2103120"/>
          </a:xfrm>
          <a:prstGeom prst="roundRect">
            <a:avLst>
              <a:gd fmla="val 3478" name="adj"/>
            </a:avLst>
          </a:prstGeom>
          <a:solidFill>
            <a:srgbClr val="F2F6F9"/>
          </a:solidFill>
          <a:ln cap="flat" cmpd="sng" w="12700">
            <a:solidFill>
              <a:srgbClr val="D9E2E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51" name="Google Shape;4151;p149"/>
          <p:cNvSpPr/>
          <p:nvPr/>
        </p:nvSpPr>
        <p:spPr>
          <a:xfrm>
            <a:off x="8307629" y="4398264"/>
            <a:ext cx="310896" cy="310896"/>
          </a:xfrm>
          <a:prstGeom prst="ellipse">
            <a:avLst/>
          </a:prstGeom>
          <a:solidFill>
            <a:srgbClr val="E8503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52" name="Google Shape;4152;p149"/>
          <p:cNvSpPr/>
          <p:nvPr/>
        </p:nvSpPr>
        <p:spPr>
          <a:xfrm>
            <a:off x="8307629" y="4398264"/>
            <a:ext cx="310896" cy="31089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200"/>
              <a:buFont typeface="Calibri"/>
              <a:buNone/>
            </a:pPr>
            <a:r>
              <a:rPr b="1" i="0" lang="en-US" sz="1200" u="none" cap="none" strike="noStrike">
                <a:solidFill>
                  <a:srgbClr val="FFFFFF"/>
                </a:solidFill>
                <a:latin typeface="Calibri"/>
                <a:ea typeface="Calibri"/>
                <a:cs typeface="Calibri"/>
                <a:sym typeface="Calibri"/>
              </a:rPr>
              <a:t>6</a:t>
            </a:r>
            <a:endParaRPr b="0" i="0" sz="1200" u="none" cap="none" strike="noStrike">
              <a:solidFill>
                <a:schemeClr val="dk1"/>
              </a:solidFill>
              <a:latin typeface="Calibri"/>
              <a:ea typeface="Calibri"/>
              <a:cs typeface="Calibri"/>
              <a:sym typeface="Calibri"/>
            </a:endParaRPr>
          </a:p>
        </p:txBody>
      </p:sp>
      <p:sp>
        <p:nvSpPr>
          <p:cNvPr id="4153" name="Google Shape;4153;p149"/>
          <p:cNvSpPr/>
          <p:nvPr/>
        </p:nvSpPr>
        <p:spPr>
          <a:xfrm>
            <a:off x="8728253" y="4361688"/>
            <a:ext cx="2814218" cy="38404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D2A5C"/>
              </a:buClr>
              <a:buSzPts val="1250"/>
              <a:buFont typeface="Calibri"/>
              <a:buNone/>
            </a:pPr>
            <a:r>
              <a:rPr b="1" i="0" lang="en-US" sz="1250" u="none" cap="none" strike="noStrike">
                <a:solidFill>
                  <a:srgbClr val="1D2A5C"/>
                </a:solidFill>
                <a:latin typeface="Calibri"/>
                <a:ea typeface="Calibri"/>
                <a:cs typeface="Calibri"/>
                <a:sym typeface="Calibri"/>
              </a:rPr>
              <a:t>DECISIONS.md</a:t>
            </a:r>
            <a:endParaRPr b="0" i="0" sz="1250" u="none" cap="none" strike="noStrike">
              <a:solidFill>
                <a:schemeClr val="dk1"/>
              </a:solidFill>
              <a:latin typeface="Calibri"/>
              <a:ea typeface="Calibri"/>
              <a:cs typeface="Calibri"/>
              <a:sym typeface="Calibri"/>
            </a:endParaRPr>
          </a:p>
        </p:txBody>
      </p:sp>
      <p:sp>
        <p:nvSpPr>
          <p:cNvPr id="4154" name="Google Shape;4154;p149"/>
          <p:cNvSpPr/>
          <p:nvPr/>
        </p:nvSpPr>
        <p:spPr>
          <a:xfrm>
            <a:off x="8325917" y="4782312"/>
            <a:ext cx="3179978" cy="14630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5F6B7A"/>
              </a:buClr>
              <a:buSzPts val="1100"/>
              <a:buFont typeface="Calibri"/>
              <a:buNone/>
            </a:pPr>
            <a:r>
              <a:rPr b="0" i="0" lang="en-US" sz="1100" u="none" cap="none" strike="noStrike">
                <a:solidFill>
                  <a:srgbClr val="5F6B7A"/>
                </a:solidFill>
                <a:latin typeface="Calibri"/>
                <a:ea typeface="Calibri"/>
                <a:cs typeface="Calibri"/>
                <a:sym typeface="Calibri"/>
              </a:rPr>
              <a:t>Five one-paragraph engineering decisions with rationale — operating point, 416², calibration, fallback.</a:t>
            </a:r>
            <a:endParaRPr b="0" i="0" sz="1100" u="none" cap="none" strike="noStrike">
              <a:solidFill>
                <a:schemeClr val="dk1"/>
              </a:solidFill>
              <a:latin typeface="Calibri"/>
              <a:ea typeface="Calibri"/>
              <a:cs typeface="Calibri"/>
              <a:sym typeface="Calibri"/>
            </a:endParaRPr>
          </a:p>
        </p:txBody>
      </p:sp>
    </p:spTree>
  </p:cSld>
  <p:clrMapOvr>
    <a:masterClrMapping/>
  </p:clrMapOvr>
</p:sld>
</file>

<file path=ppt/slides/slide1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159" name="Shape 4159"/>
        <p:cNvGrpSpPr/>
        <p:nvPr/>
      </p:nvGrpSpPr>
      <p:grpSpPr>
        <a:xfrm>
          <a:off x="0" y="0"/>
          <a:ext cx="0" cy="0"/>
          <a:chOff x="0" y="0"/>
          <a:chExt cx="0" cy="0"/>
        </a:xfrm>
      </p:grpSpPr>
      <p:sp>
        <p:nvSpPr>
          <p:cNvPr id="4160" name="Google Shape;4160;p150"/>
          <p:cNvSpPr/>
          <p:nvPr/>
        </p:nvSpPr>
        <p:spPr>
          <a:xfrm>
            <a:off x="502920" y="274320"/>
            <a:ext cx="9646920" cy="56692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D2A5C"/>
              </a:buClr>
              <a:buSzPts val="2700"/>
              <a:buFont typeface="Calibri"/>
              <a:buNone/>
            </a:pPr>
            <a:r>
              <a:rPr b="1" i="0" lang="en-US" sz="2700" u="none" cap="none" strike="noStrike">
                <a:solidFill>
                  <a:srgbClr val="1D2A5C"/>
                </a:solidFill>
                <a:latin typeface="Calibri"/>
                <a:ea typeface="Calibri"/>
                <a:cs typeface="Calibri"/>
                <a:sym typeface="Calibri"/>
              </a:rPr>
              <a:t>Grading rubric — 100 points</a:t>
            </a:r>
            <a:endParaRPr b="0" i="0" sz="2700" u="none" cap="none" strike="noStrike">
              <a:solidFill>
                <a:schemeClr val="dk1"/>
              </a:solidFill>
              <a:latin typeface="Calibri"/>
              <a:ea typeface="Calibri"/>
              <a:cs typeface="Calibri"/>
              <a:sym typeface="Calibri"/>
            </a:endParaRPr>
          </a:p>
        </p:txBody>
      </p:sp>
      <p:sp>
        <p:nvSpPr>
          <p:cNvPr id="4161" name="Google Shape;4161;p150"/>
          <p:cNvSpPr/>
          <p:nvPr/>
        </p:nvSpPr>
        <p:spPr>
          <a:xfrm>
            <a:off x="502920" y="859536"/>
            <a:ext cx="9646920" cy="31089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F6B7A"/>
              </a:buClr>
              <a:buSzPts val="1250"/>
              <a:buFont typeface="Arial"/>
              <a:buNone/>
            </a:pPr>
            <a:r>
              <a:rPr b="0" i="0" lang="en-US" sz="1250" u="none" cap="none" strike="noStrike">
                <a:solidFill>
                  <a:srgbClr val="5F6B7A"/>
                </a:solidFill>
                <a:latin typeface="Arial"/>
                <a:ea typeface="Arial"/>
                <a:cs typeface="Arial"/>
                <a:sym typeface="Arial"/>
              </a:rPr>
              <a:t>معايير التقييم</a:t>
            </a:r>
            <a:endParaRPr b="0" i="0" sz="1250" u="none" cap="none" strike="noStrike">
              <a:solidFill>
                <a:schemeClr val="dk1"/>
              </a:solidFill>
              <a:latin typeface="Calibri"/>
              <a:ea typeface="Calibri"/>
              <a:cs typeface="Calibri"/>
              <a:sym typeface="Calibri"/>
            </a:endParaRPr>
          </a:p>
        </p:txBody>
      </p:sp>
      <p:pic>
        <p:nvPicPr>
          <p:cNvPr descr="/sessions/blissful-determined-ritchie/build/assets/sdaia_logo.png" id="4162" name="Google Shape;4162;p150"/>
          <p:cNvPicPr preferRelativeResize="0"/>
          <p:nvPr/>
        </p:nvPicPr>
        <p:blipFill rotWithShape="1">
          <a:blip r:embed="rId3">
            <a:alphaModFix/>
          </a:blip>
          <a:srcRect b="0" l="0" r="0" t="0"/>
          <a:stretch/>
        </p:blipFill>
        <p:spPr>
          <a:xfrm>
            <a:off x="10625328" y="310896"/>
            <a:ext cx="1078992" cy="264111"/>
          </a:xfrm>
          <a:prstGeom prst="rect">
            <a:avLst/>
          </a:prstGeom>
          <a:noFill/>
          <a:ln>
            <a:noFill/>
          </a:ln>
        </p:spPr>
      </p:pic>
      <p:sp>
        <p:nvSpPr>
          <p:cNvPr id="4163" name="Google Shape;4163;p150"/>
          <p:cNvSpPr/>
          <p:nvPr/>
        </p:nvSpPr>
        <p:spPr>
          <a:xfrm>
            <a:off x="502920" y="6528816"/>
            <a:ext cx="8686800"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A79D"/>
              </a:buClr>
              <a:buSzPts val="800"/>
              <a:buFont typeface="Calibri"/>
              <a:buNone/>
            </a:pPr>
            <a:r>
              <a:rPr b="1" i="0" lang="en-US" sz="800" u="none" cap="none" strike="noStrike">
                <a:solidFill>
                  <a:srgbClr val="00A79D"/>
                </a:solidFill>
                <a:latin typeface="Calibri"/>
                <a:ea typeface="Calibri"/>
                <a:cs typeface="Calibri"/>
                <a:sym typeface="Calibri"/>
              </a:rPr>
              <a:t>CAPSTONE   </a:t>
            </a:r>
            <a:r>
              <a:rPr b="0" i="0" lang="en-US" sz="800" u="none" cap="none" strike="noStrike">
                <a:solidFill>
                  <a:srgbClr val="8A96A6"/>
                </a:solidFill>
                <a:latin typeface="Calibri"/>
                <a:ea typeface="Calibri"/>
                <a:cs typeface="Calibri"/>
                <a:sym typeface="Calibri"/>
              </a:rPr>
              <a:t>SDA-AIE-212 · Computer Vision Systems Development</a:t>
            </a:r>
            <a:endParaRPr b="0" i="0" sz="800" u="none" cap="none" strike="noStrike">
              <a:solidFill>
                <a:schemeClr val="dk1"/>
              </a:solidFill>
              <a:latin typeface="Calibri"/>
              <a:ea typeface="Calibri"/>
              <a:cs typeface="Calibri"/>
              <a:sym typeface="Calibri"/>
            </a:endParaRPr>
          </a:p>
        </p:txBody>
      </p:sp>
      <p:sp>
        <p:nvSpPr>
          <p:cNvPr id="4164" name="Google Shape;4164;p150"/>
          <p:cNvSpPr/>
          <p:nvPr/>
        </p:nvSpPr>
        <p:spPr>
          <a:xfrm>
            <a:off x="11292840" y="6528816"/>
            <a:ext cx="411480" cy="219456"/>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8A96A6"/>
              </a:buClr>
              <a:buSzPts val="900"/>
              <a:buFont typeface="Calibri"/>
              <a:buNone/>
            </a:pPr>
            <a:r>
              <a:rPr b="0" i="0" lang="en-US" sz="900" u="none" cap="none" strike="noStrike">
                <a:solidFill>
                  <a:srgbClr val="8A96A6"/>
                </a:solidFill>
                <a:latin typeface="Calibri"/>
                <a:ea typeface="Calibri"/>
                <a:cs typeface="Calibri"/>
                <a:sym typeface="Calibri"/>
              </a:rPr>
              <a:t>150</a:t>
            </a:r>
            <a:endParaRPr b="0" i="0" sz="900" u="none" cap="none" strike="noStrike">
              <a:solidFill>
                <a:schemeClr val="dk1"/>
              </a:solidFill>
              <a:latin typeface="Calibri"/>
              <a:ea typeface="Calibri"/>
              <a:cs typeface="Calibri"/>
              <a:sym typeface="Calibri"/>
            </a:endParaRPr>
          </a:p>
        </p:txBody>
      </p:sp>
      <p:sp>
        <p:nvSpPr>
          <p:cNvPr id="4165" name="Google Shape;4165;p150"/>
          <p:cNvSpPr/>
          <p:nvPr/>
        </p:nvSpPr>
        <p:spPr>
          <a:xfrm>
            <a:off x="502920" y="1389888"/>
            <a:ext cx="11185855" cy="3657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5F6B7A"/>
              </a:buClr>
              <a:buSzPts val="1250"/>
              <a:buFont typeface="Calibri"/>
              <a:buNone/>
            </a:pPr>
            <a:r>
              <a:rPr b="0" i="1" lang="en-US" sz="1250" u="none" cap="none" strike="noStrike">
                <a:solidFill>
                  <a:srgbClr val="5F6B7A"/>
                </a:solidFill>
                <a:latin typeface="Calibri"/>
                <a:ea typeface="Calibri"/>
                <a:cs typeface="Calibri"/>
                <a:sym typeface="Calibri"/>
              </a:rPr>
              <a:t>Pass ≥ 70 · Distinction ≥ 90 · Extensions add up to +5 bonus (capped at 100) only if mandatory scope is ≥ 80.</a:t>
            </a:r>
            <a:endParaRPr b="0" i="0" sz="1250" u="none" cap="none" strike="noStrike">
              <a:solidFill>
                <a:schemeClr val="dk1"/>
              </a:solidFill>
              <a:latin typeface="Calibri"/>
              <a:ea typeface="Calibri"/>
              <a:cs typeface="Calibri"/>
              <a:sym typeface="Calibri"/>
            </a:endParaRPr>
          </a:p>
        </p:txBody>
      </p:sp>
      <p:graphicFrame>
        <p:nvGraphicFramePr>
          <p:cNvPr id="4166" name="Google Shape;4166;p150"/>
          <p:cNvGraphicFramePr/>
          <p:nvPr/>
        </p:nvGraphicFramePr>
        <p:xfrm>
          <a:off x="502920" y="1865376"/>
          <a:ext cx="3000000" cy="3000000"/>
        </p:xfrm>
        <a:graphic>
          <a:graphicData uri="http://schemas.openxmlformats.org/drawingml/2006/table">
            <a:tbl>
              <a:tblPr>
                <a:noFill/>
                <a:tableStyleId>{F80342BA-3033-44D6-9F91-622DC7A4C435}</a:tableStyleId>
              </a:tblPr>
              <a:tblGrid>
                <a:gridCol w="4278400"/>
                <a:gridCol w="1123575"/>
                <a:gridCol w="5783900"/>
              </a:tblGrid>
              <a:tr h="628325">
                <a:tc>
                  <a:txBody>
                    <a:bodyPr/>
                    <a:lstStyle/>
                    <a:p>
                      <a:pPr indent="0" lvl="0" marL="0" marR="0" rtl="0" algn="l">
                        <a:spcBef>
                          <a:spcPts val="0"/>
                        </a:spcBef>
                        <a:spcAft>
                          <a:spcPts val="0"/>
                        </a:spcAft>
                        <a:buClr>
                          <a:srgbClr val="FFFFFF"/>
                        </a:buClr>
                        <a:buSzPts val="1050"/>
                        <a:buFont typeface="Calibri"/>
                        <a:buNone/>
                      </a:pPr>
                      <a:r>
                        <a:rPr b="1" lang="en-US" sz="1050" u="none" cap="none" strike="noStrike">
                          <a:solidFill>
                            <a:srgbClr val="FFFFFF"/>
                          </a:solidFill>
                          <a:latin typeface="Calibri"/>
                          <a:ea typeface="Calibri"/>
                          <a:cs typeface="Calibri"/>
                          <a:sym typeface="Calibri"/>
                        </a:rPr>
                        <a:t>Criterion</a:t>
                      </a:r>
                      <a:endParaRPr sz="1050" u="none" cap="none" strike="noStrike">
                        <a:latin typeface="Calibri"/>
                        <a:ea typeface="Calibri"/>
                        <a:cs typeface="Calibri"/>
                        <a:sym typeface="Calibri"/>
                      </a:endParaRPr>
                    </a:p>
                  </a:txBody>
                  <a:tcPr marT="64000" marB="64000" marR="64000" marL="64000" anchor="ctr">
                    <a:lnL cap="flat" cmpd="sng" w="9525">
                      <a:solidFill>
                        <a:srgbClr val="D9E2EA"/>
                      </a:solidFill>
                      <a:prstDash val="solid"/>
                      <a:round/>
                      <a:headEnd len="sm" w="sm" type="none"/>
                      <a:tailEnd len="sm" w="sm" type="none"/>
                    </a:lnL>
                    <a:lnR cap="flat" cmpd="sng" w="9525">
                      <a:solidFill>
                        <a:srgbClr val="D9E2EA"/>
                      </a:solidFill>
                      <a:prstDash val="solid"/>
                      <a:round/>
                      <a:headEnd len="sm" w="sm" type="none"/>
                      <a:tailEnd len="sm" w="sm" type="none"/>
                    </a:lnR>
                    <a:lnT cap="flat" cmpd="sng" w="9525">
                      <a:solidFill>
                        <a:srgbClr val="D9E2EA"/>
                      </a:solidFill>
                      <a:prstDash val="solid"/>
                      <a:round/>
                      <a:headEnd len="sm" w="sm" type="none"/>
                      <a:tailEnd len="sm" w="sm" type="none"/>
                    </a:lnT>
                    <a:lnB cap="flat" cmpd="sng" w="9525">
                      <a:solidFill>
                        <a:srgbClr val="D9E2EA"/>
                      </a:solidFill>
                      <a:prstDash val="solid"/>
                      <a:round/>
                      <a:headEnd len="sm" w="sm" type="none"/>
                      <a:tailEnd len="sm" w="sm" type="none"/>
                    </a:lnB>
                    <a:solidFill>
                      <a:srgbClr val="1D2A5C"/>
                    </a:solidFill>
                  </a:tcPr>
                </a:tc>
                <a:tc>
                  <a:txBody>
                    <a:bodyPr/>
                    <a:lstStyle/>
                    <a:p>
                      <a:pPr indent="0" lvl="0" marL="0" marR="0" rtl="0" algn="l">
                        <a:spcBef>
                          <a:spcPts val="0"/>
                        </a:spcBef>
                        <a:spcAft>
                          <a:spcPts val="0"/>
                        </a:spcAft>
                        <a:buClr>
                          <a:srgbClr val="FFFFFF"/>
                        </a:buClr>
                        <a:buSzPts val="1050"/>
                        <a:buFont typeface="Calibri"/>
                        <a:buNone/>
                      </a:pPr>
                      <a:r>
                        <a:rPr b="1" lang="en-US" sz="1050" u="none" cap="none" strike="noStrike">
                          <a:solidFill>
                            <a:srgbClr val="FFFFFF"/>
                          </a:solidFill>
                          <a:latin typeface="Calibri"/>
                          <a:ea typeface="Calibri"/>
                          <a:cs typeface="Calibri"/>
                          <a:sym typeface="Calibri"/>
                        </a:rPr>
                        <a:t>Wt</a:t>
                      </a:r>
                      <a:endParaRPr sz="1050" u="none" cap="none" strike="noStrike">
                        <a:latin typeface="Calibri"/>
                        <a:ea typeface="Calibri"/>
                        <a:cs typeface="Calibri"/>
                        <a:sym typeface="Calibri"/>
                      </a:endParaRPr>
                    </a:p>
                  </a:txBody>
                  <a:tcPr marT="64000" marB="64000" marR="64000" marL="64000" anchor="ctr">
                    <a:lnL cap="flat" cmpd="sng" w="9525">
                      <a:solidFill>
                        <a:srgbClr val="D9E2EA"/>
                      </a:solidFill>
                      <a:prstDash val="solid"/>
                      <a:round/>
                      <a:headEnd len="sm" w="sm" type="none"/>
                      <a:tailEnd len="sm" w="sm" type="none"/>
                    </a:lnL>
                    <a:lnR cap="flat" cmpd="sng" w="9525">
                      <a:solidFill>
                        <a:srgbClr val="D9E2EA"/>
                      </a:solidFill>
                      <a:prstDash val="solid"/>
                      <a:round/>
                      <a:headEnd len="sm" w="sm" type="none"/>
                      <a:tailEnd len="sm" w="sm" type="none"/>
                    </a:lnR>
                    <a:lnT cap="flat" cmpd="sng" w="9525">
                      <a:solidFill>
                        <a:srgbClr val="D9E2EA"/>
                      </a:solidFill>
                      <a:prstDash val="solid"/>
                      <a:round/>
                      <a:headEnd len="sm" w="sm" type="none"/>
                      <a:tailEnd len="sm" w="sm" type="none"/>
                    </a:lnT>
                    <a:lnB cap="flat" cmpd="sng" w="9525">
                      <a:solidFill>
                        <a:srgbClr val="D9E2EA"/>
                      </a:solidFill>
                      <a:prstDash val="solid"/>
                      <a:round/>
                      <a:headEnd len="sm" w="sm" type="none"/>
                      <a:tailEnd len="sm" w="sm" type="none"/>
                    </a:lnB>
                    <a:solidFill>
                      <a:srgbClr val="1D2A5C"/>
                    </a:solidFill>
                  </a:tcPr>
                </a:tc>
                <a:tc>
                  <a:txBody>
                    <a:bodyPr/>
                    <a:lstStyle/>
                    <a:p>
                      <a:pPr indent="0" lvl="0" marL="0" marR="0" rtl="0" algn="l">
                        <a:spcBef>
                          <a:spcPts val="0"/>
                        </a:spcBef>
                        <a:spcAft>
                          <a:spcPts val="0"/>
                        </a:spcAft>
                        <a:buClr>
                          <a:srgbClr val="FFFFFF"/>
                        </a:buClr>
                        <a:buSzPts val="1050"/>
                        <a:buFont typeface="Calibri"/>
                        <a:buNone/>
                      </a:pPr>
                      <a:r>
                        <a:rPr b="1" lang="en-US" sz="1050" u="none" cap="none" strike="noStrike">
                          <a:solidFill>
                            <a:srgbClr val="FFFFFF"/>
                          </a:solidFill>
                          <a:latin typeface="Calibri"/>
                          <a:ea typeface="Calibri"/>
                          <a:cs typeface="Calibri"/>
                          <a:sym typeface="Calibri"/>
                        </a:rPr>
                        <a:t>Top band (90–100%) looks like</a:t>
                      </a:r>
                      <a:endParaRPr sz="1050" u="none" cap="none" strike="noStrike">
                        <a:latin typeface="Calibri"/>
                        <a:ea typeface="Calibri"/>
                        <a:cs typeface="Calibri"/>
                        <a:sym typeface="Calibri"/>
                      </a:endParaRPr>
                    </a:p>
                  </a:txBody>
                  <a:tcPr marT="64000" marB="64000" marR="64000" marL="64000" anchor="ctr">
                    <a:lnL cap="flat" cmpd="sng" w="9525">
                      <a:solidFill>
                        <a:srgbClr val="D9E2EA"/>
                      </a:solidFill>
                      <a:prstDash val="solid"/>
                      <a:round/>
                      <a:headEnd len="sm" w="sm" type="none"/>
                      <a:tailEnd len="sm" w="sm" type="none"/>
                    </a:lnL>
                    <a:lnR cap="flat" cmpd="sng" w="9525">
                      <a:solidFill>
                        <a:srgbClr val="D9E2EA"/>
                      </a:solidFill>
                      <a:prstDash val="solid"/>
                      <a:round/>
                      <a:headEnd len="sm" w="sm" type="none"/>
                      <a:tailEnd len="sm" w="sm" type="none"/>
                    </a:lnR>
                    <a:lnT cap="flat" cmpd="sng" w="9525">
                      <a:solidFill>
                        <a:srgbClr val="D9E2EA"/>
                      </a:solidFill>
                      <a:prstDash val="solid"/>
                      <a:round/>
                      <a:headEnd len="sm" w="sm" type="none"/>
                      <a:tailEnd len="sm" w="sm" type="none"/>
                    </a:lnT>
                    <a:lnB cap="flat" cmpd="sng" w="9525">
                      <a:solidFill>
                        <a:srgbClr val="D9E2EA"/>
                      </a:solidFill>
                      <a:prstDash val="solid"/>
                      <a:round/>
                      <a:headEnd len="sm" w="sm" type="none"/>
                      <a:tailEnd len="sm" w="sm" type="none"/>
                    </a:lnB>
                    <a:solidFill>
                      <a:srgbClr val="1D2A5C"/>
                    </a:solidFill>
                  </a:tcPr>
                </a:tc>
              </a:tr>
              <a:tr h="628325">
                <a:tc>
                  <a:txBody>
                    <a:bodyPr/>
                    <a:lstStyle/>
                    <a:p>
                      <a:pPr indent="0" lvl="0" marL="0" marR="0" rtl="0" algn="l">
                        <a:spcBef>
                          <a:spcPts val="0"/>
                        </a:spcBef>
                        <a:spcAft>
                          <a:spcPts val="0"/>
                        </a:spcAft>
                        <a:buClr>
                          <a:srgbClr val="1D2A5C"/>
                        </a:buClr>
                        <a:buSzPts val="1050"/>
                        <a:buFont typeface="Calibri"/>
                        <a:buNone/>
                      </a:pPr>
                      <a:r>
                        <a:rPr b="1" lang="en-US" sz="1050" u="none" cap="none" strike="noStrike">
                          <a:solidFill>
                            <a:srgbClr val="1D2A5C"/>
                          </a:solidFill>
                          <a:latin typeface="Calibri"/>
                          <a:ea typeface="Calibri"/>
                          <a:cs typeface="Calibri"/>
                          <a:sym typeface="Calibri"/>
                        </a:rPr>
                        <a:t>Model quality vs targets</a:t>
                      </a:r>
                      <a:endParaRPr sz="1050" u="none" cap="none" strike="noStrike">
                        <a:latin typeface="Calibri"/>
                        <a:ea typeface="Calibri"/>
                        <a:cs typeface="Calibri"/>
                        <a:sym typeface="Calibri"/>
                      </a:endParaRPr>
                    </a:p>
                  </a:txBody>
                  <a:tcPr marT="64000" marB="64000" marR="64000" marL="64000" anchor="ctr">
                    <a:lnL cap="flat" cmpd="sng" w="9525">
                      <a:solidFill>
                        <a:srgbClr val="D9E2EA"/>
                      </a:solidFill>
                      <a:prstDash val="solid"/>
                      <a:round/>
                      <a:headEnd len="sm" w="sm" type="none"/>
                      <a:tailEnd len="sm" w="sm" type="none"/>
                    </a:lnL>
                    <a:lnR cap="flat" cmpd="sng" w="9525">
                      <a:solidFill>
                        <a:srgbClr val="D9E2EA"/>
                      </a:solidFill>
                      <a:prstDash val="solid"/>
                      <a:round/>
                      <a:headEnd len="sm" w="sm" type="none"/>
                      <a:tailEnd len="sm" w="sm" type="none"/>
                    </a:lnR>
                    <a:lnT cap="flat" cmpd="sng" w="9525">
                      <a:solidFill>
                        <a:srgbClr val="D9E2EA"/>
                      </a:solidFill>
                      <a:prstDash val="solid"/>
                      <a:round/>
                      <a:headEnd len="sm" w="sm" type="none"/>
                      <a:tailEnd len="sm" w="sm" type="none"/>
                    </a:lnT>
                    <a:lnB cap="flat" cmpd="sng" w="9525">
                      <a:solidFill>
                        <a:srgbClr val="D9E2EA"/>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23293B"/>
                        </a:buClr>
                        <a:buSzPts val="1050"/>
                        <a:buFont typeface="Calibri"/>
                        <a:buNone/>
                      </a:pPr>
                      <a:r>
                        <a:rPr lang="en-US" sz="1050" u="none" cap="none" strike="noStrike">
                          <a:solidFill>
                            <a:srgbClr val="23293B"/>
                          </a:solidFill>
                          <a:latin typeface="Calibri"/>
                          <a:ea typeface="Calibri"/>
                          <a:cs typeface="Calibri"/>
                          <a:sym typeface="Calibri"/>
                        </a:rPr>
                        <a:t>20</a:t>
                      </a:r>
                      <a:endParaRPr sz="1050" u="none" cap="none" strike="noStrike">
                        <a:latin typeface="Calibri"/>
                        <a:ea typeface="Calibri"/>
                        <a:cs typeface="Calibri"/>
                        <a:sym typeface="Calibri"/>
                      </a:endParaRPr>
                    </a:p>
                  </a:txBody>
                  <a:tcPr marT="64000" marB="64000" marR="64000" marL="64000" anchor="ctr">
                    <a:lnL cap="flat" cmpd="sng" w="9525">
                      <a:solidFill>
                        <a:srgbClr val="D9E2EA"/>
                      </a:solidFill>
                      <a:prstDash val="solid"/>
                      <a:round/>
                      <a:headEnd len="sm" w="sm" type="none"/>
                      <a:tailEnd len="sm" w="sm" type="none"/>
                    </a:lnL>
                    <a:lnR cap="flat" cmpd="sng" w="9525">
                      <a:solidFill>
                        <a:srgbClr val="D9E2EA"/>
                      </a:solidFill>
                      <a:prstDash val="solid"/>
                      <a:round/>
                      <a:headEnd len="sm" w="sm" type="none"/>
                      <a:tailEnd len="sm" w="sm" type="none"/>
                    </a:lnR>
                    <a:lnT cap="flat" cmpd="sng" w="9525">
                      <a:solidFill>
                        <a:srgbClr val="D9E2EA"/>
                      </a:solidFill>
                      <a:prstDash val="solid"/>
                      <a:round/>
                      <a:headEnd len="sm" w="sm" type="none"/>
                      <a:tailEnd len="sm" w="sm" type="none"/>
                    </a:lnT>
                    <a:lnB cap="flat" cmpd="sng" w="9525">
                      <a:solidFill>
                        <a:srgbClr val="D9E2EA"/>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23293B"/>
                        </a:buClr>
                        <a:buSzPts val="1050"/>
                        <a:buFont typeface="Calibri"/>
                        <a:buNone/>
                      </a:pPr>
                      <a:r>
                        <a:rPr lang="en-US" sz="1050" u="none" cap="none" strike="noStrike">
                          <a:solidFill>
                            <a:srgbClr val="23293B"/>
                          </a:solidFill>
                          <a:latin typeface="Calibri"/>
                          <a:ea typeface="Calibri"/>
                          <a:cs typeface="Calibri"/>
                          <a:sym typeface="Calibri"/>
                        </a:rPr>
                        <a:t>All targets met on frozen split; honest, reproducible</a:t>
                      </a:r>
                      <a:endParaRPr sz="1050" u="none" cap="none" strike="noStrike">
                        <a:latin typeface="Calibri"/>
                        <a:ea typeface="Calibri"/>
                        <a:cs typeface="Calibri"/>
                        <a:sym typeface="Calibri"/>
                      </a:endParaRPr>
                    </a:p>
                  </a:txBody>
                  <a:tcPr marT="64000" marB="64000" marR="64000" marL="64000" anchor="ctr">
                    <a:lnL cap="flat" cmpd="sng" w="9525">
                      <a:solidFill>
                        <a:srgbClr val="D9E2EA"/>
                      </a:solidFill>
                      <a:prstDash val="solid"/>
                      <a:round/>
                      <a:headEnd len="sm" w="sm" type="none"/>
                      <a:tailEnd len="sm" w="sm" type="none"/>
                    </a:lnL>
                    <a:lnR cap="flat" cmpd="sng" w="9525">
                      <a:solidFill>
                        <a:srgbClr val="D9E2EA"/>
                      </a:solidFill>
                      <a:prstDash val="solid"/>
                      <a:round/>
                      <a:headEnd len="sm" w="sm" type="none"/>
                      <a:tailEnd len="sm" w="sm" type="none"/>
                    </a:lnR>
                    <a:lnT cap="flat" cmpd="sng" w="9525">
                      <a:solidFill>
                        <a:srgbClr val="D9E2EA"/>
                      </a:solidFill>
                      <a:prstDash val="solid"/>
                      <a:round/>
                      <a:headEnd len="sm" w="sm" type="none"/>
                      <a:tailEnd len="sm" w="sm" type="none"/>
                    </a:lnT>
                    <a:lnB cap="flat" cmpd="sng" w="9525">
                      <a:solidFill>
                        <a:srgbClr val="D9E2EA"/>
                      </a:solidFill>
                      <a:prstDash val="solid"/>
                      <a:round/>
                      <a:headEnd len="sm" w="sm" type="none"/>
                      <a:tailEnd len="sm" w="sm" type="none"/>
                    </a:lnB>
                    <a:solidFill>
                      <a:srgbClr val="FFFFFF"/>
                    </a:solidFill>
                  </a:tcPr>
                </a:tc>
              </a:tr>
              <a:tr h="628325">
                <a:tc>
                  <a:txBody>
                    <a:bodyPr/>
                    <a:lstStyle/>
                    <a:p>
                      <a:pPr indent="0" lvl="0" marL="0" marR="0" rtl="0" algn="l">
                        <a:spcBef>
                          <a:spcPts val="0"/>
                        </a:spcBef>
                        <a:spcAft>
                          <a:spcPts val="0"/>
                        </a:spcAft>
                        <a:buClr>
                          <a:srgbClr val="1D2A5C"/>
                        </a:buClr>
                        <a:buSzPts val="1050"/>
                        <a:buFont typeface="Calibri"/>
                        <a:buNone/>
                      </a:pPr>
                      <a:r>
                        <a:rPr b="1" lang="en-US" sz="1050" u="none" cap="none" strike="noStrike">
                          <a:solidFill>
                            <a:srgbClr val="1D2A5C"/>
                          </a:solidFill>
                          <a:latin typeface="Calibri"/>
                          <a:ea typeface="Calibri"/>
                          <a:cs typeface="Calibri"/>
                          <a:sym typeface="Calibri"/>
                        </a:rPr>
                        <a:t>Data curation &amp; v2 evidence</a:t>
                      </a:r>
                      <a:endParaRPr sz="1050" u="none" cap="none" strike="noStrike">
                        <a:latin typeface="Calibri"/>
                        <a:ea typeface="Calibri"/>
                        <a:cs typeface="Calibri"/>
                        <a:sym typeface="Calibri"/>
                      </a:endParaRPr>
                    </a:p>
                  </a:txBody>
                  <a:tcPr marT="64000" marB="64000" marR="64000" marL="64000" anchor="ctr">
                    <a:lnL cap="flat" cmpd="sng" w="9525">
                      <a:solidFill>
                        <a:srgbClr val="D9E2EA"/>
                      </a:solidFill>
                      <a:prstDash val="solid"/>
                      <a:round/>
                      <a:headEnd len="sm" w="sm" type="none"/>
                      <a:tailEnd len="sm" w="sm" type="none"/>
                    </a:lnL>
                    <a:lnR cap="flat" cmpd="sng" w="9525">
                      <a:solidFill>
                        <a:srgbClr val="D9E2EA"/>
                      </a:solidFill>
                      <a:prstDash val="solid"/>
                      <a:round/>
                      <a:headEnd len="sm" w="sm" type="none"/>
                      <a:tailEnd len="sm" w="sm" type="none"/>
                    </a:lnR>
                    <a:lnT cap="flat" cmpd="sng" w="9525">
                      <a:solidFill>
                        <a:srgbClr val="D9E2EA"/>
                      </a:solidFill>
                      <a:prstDash val="solid"/>
                      <a:round/>
                      <a:headEnd len="sm" w="sm" type="none"/>
                      <a:tailEnd len="sm" w="sm" type="none"/>
                    </a:lnT>
                    <a:lnB cap="flat" cmpd="sng" w="9525">
                      <a:solidFill>
                        <a:srgbClr val="D9E2EA"/>
                      </a:solidFill>
                      <a:prstDash val="solid"/>
                      <a:round/>
                      <a:headEnd len="sm" w="sm" type="none"/>
                      <a:tailEnd len="sm" w="sm" type="none"/>
                    </a:lnB>
                    <a:solidFill>
                      <a:srgbClr val="F2F6F9"/>
                    </a:solidFill>
                  </a:tcPr>
                </a:tc>
                <a:tc>
                  <a:txBody>
                    <a:bodyPr/>
                    <a:lstStyle/>
                    <a:p>
                      <a:pPr indent="0" lvl="0" marL="0" marR="0" rtl="0" algn="l">
                        <a:spcBef>
                          <a:spcPts val="0"/>
                        </a:spcBef>
                        <a:spcAft>
                          <a:spcPts val="0"/>
                        </a:spcAft>
                        <a:buClr>
                          <a:srgbClr val="23293B"/>
                        </a:buClr>
                        <a:buSzPts val="1050"/>
                        <a:buFont typeface="Calibri"/>
                        <a:buNone/>
                      </a:pPr>
                      <a:r>
                        <a:rPr lang="en-US" sz="1050" u="none" cap="none" strike="noStrike">
                          <a:solidFill>
                            <a:srgbClr val="23293B"/>
                          </a:solidFill>
                          <a:latin typeface="Calibri"/>
                          <a:ea typeface="Calibri"/>
                          <a:cs typeface="Calibri"/>
                          <a:sym typeface="Calibri"/>
                        </a:rPr>
                        <a:t>15</a:t>
                      </a:r>
                      <a:endParaRPr sz="1050" u="none" cap="none" strike="noStrike">
                        <a:latin typeface="Calibri"/>
                        <a:ea typeface="Calibri"/>
                        <a:cs typeface="Calibri"/>
                        <a:sym typeface="Calibri"/>
                      </a:endParaRPr>
                    </a:p>
                  </a:txBody>
                  <a:tcPr marT="64000" marB="64000" marR="64000" marL="64000" anchor="ctr">
                    <a:lnL cap="flat" cmpd="sng" w="9525">
                      <a:solidFill>
                        <a:srgbClr val="D9E2EA"/>
                      </a:solidFill>
                      <a:prstDash val="solid"/>
                      <a:round/>
                      <a:headEnd len="sm" w="sm" type="none"/>
                      <a:tailEnd len="sm" w="sm" type="none"/>
                    </a:lnL>
                    <a:lnR cap="flat" cmpd="sng" w="9525">
                      <a:solidFill>
                        <a:srgbClr val="D9E2EA"/>
                      </a:solidFill>
                      <a:prstDash val="solid"/>
                      <a:round/>
                      <a:headEnd len="sm" w="sm" type="none"/>
                      <a:tailEnd len="sm" w="sm" type="none"/>
                    </a:lnR>
                    <a:lnT cap="flat" cmpd="sng" w="9525">
                      <a:solidFill>
                        <a:srgbClr val="D9E2EA"/>
                      </a:solidFill>
                      <a:prstDash val="solid"/>
                      <a:round/>
                      <a:headEnd len="sm" w="sm" type="none"/>
                      <a:tailEnd len="sm" w="sm" type="none"/>
                    </a:lnT>
                    <a:lnB cap="flat" cmpd="sng" w="9525">
                      <a:solidFill>
                        <a:srgbClr val="D9E2EA"/>
                      </a:solidFill>
                      <a:prstDash val="solid"/>
                      <a:round/>
                      <a:headEnd len="sm" w="sm" type="none"/>
                      <a:tailEnd len="sm" w="sm" type="none"/>
                    </a:lnB>
                    <a:solidFill>
                      <a:srgbClr val="F2F6F9"/>
                    </a:solidFill>
                  </a:tcPr>
                </a:tc>
                <a:tc>
                  <a:txBody>
                    <a:bodyPr/>
                    <a:lstStyle/>
                    <a:p>
                      <a:pPr indent="0" lvl="0" marL="0" marR="0" rtl="0" algn="l">
                        <a:spcBef>
                          <a:spcPts val="0"/>
                        </a:spcBef>
                        <a:spcAft>
                          <a:spcPts val="0"/>
                        </a:spcAft>
                        <a:buClr>
                          <a:srgbClr val="23293B"/>
                        </a:buClr>
                        <a:buSzPts val="1050"/>
                        <a:buFont typeface="Calibri"/>
                        <a:buNone/>
                      </a:pPr>
                      <a:r>
                        <a:rPr lang="en-US" sz="1050" u="none" cap="none" strike="noStrike">
                          <a:solidFill>
                            <a:srgbClr val="23293B"/>
                          </a:solidFill>
                          <a:latin typeface="Calibri"/>
                          <a:ea typeface="Calibri"/>
                          <a:cs typeface="Calibri"/>
                          <a:sym typeface="Calibri"/>
                        </a:rPr>
                        <a:t>Audit triaged, spec fix merged, delta attributed</a:t>
                      </a:r>
                      <a:endParaRPr sz="1050" u="none" cap="none" strike="noStrike">
                        <a:latin typeface="Calibri"/>
                        <a:ea typeface="Calibri"/>
                        <a:cs typeface="Calibri"/>
                        <a:sym typeface="Calibri"/>
                      </a:endParaRPr>
                    </a:p>
                  </a:txBody>
                  <a:tcPr marT="64000" marB="64000" marR="64000" marL="64000" anchor="ctr">
                    <a:lnL cap="flat" cmpd="sng" w="9525">
                      <a:solidFill>
                        <a:srgbClr val="D9E2EA"/>
                      </a:solidFill>
                      <a:prstDash val="solid"/>
                      <a:round/>
                      <a:headEnd len="sm" w="sm" type="none"/>
                      <a:tailEnd len="sm" w="sm" type="none"/>
                    </a:lnL>
                    <a:lnR cap="flat" cmpd="sng" w="9525">
                      <a:solidFill>
                        <a:srgbClr val="D9E2EA"/>
                      </a:solidFill>
                      <a:prstDash val="solid"/>
                      <a:round/>
                      <a:headEnd len="sm" w="sm" type="none"/>
                      <a:tailEnd len="sm" w="sm" type="none"/>
                    </a:lnR>
                    <a:lnT cap="flat" cmpd="sng" w="9525">
                      <a:solidFill>
                        <a:srgbClr val="D9E2EA"/>
                      </a:solidFill>
                      <a:prstDash val="solid"/>
                      <a:round/>
                      <a:headEnd len="sm" w="sm" type="none"/>
                      <a:tailEnd len="sm" w="sm" type="none"/>
                    </a:lnT>
                    <a:lnB cap="flat" cmpd="sng" w="9525">
                      <a:solidFill>
                        <a:srgbClr val="D9E2EA"/>
                      </a:solidFill>
                      <a:prstDash val="solid"/>
                      <a:round/>
                      <a:headEnd len="sm" w="sm" type="none"/>
                      <a:tailEnd len="sm" w="sm" type="none"/>
                    </a:lnB>
                    <a:solidFill>
                      <a:srgbClr val="F2F6F9"/>
                    </a:solidFill>
                  </a:tcPr>
                </a:tc>
              </a:tr>
              <a:tr h="628325">
                <a:tc>
                  <a:txBody>
                    <a:bodyPr/>
                    <a:lstStyle/>
                    <a:p>
                      <a:pPr indent="0" lvl="0" marL="0" marR="0" rtl="0" algn="l">
                        <a:spcBef>
                          <a:spcPts val="0"/>
                        </a:spcBef>
                        <a:spcAft>
                          <a:spcPts val="0"/>
                        </a:spcAft>
                        <a:buClr>
                          <a:srgbClr val="1D2A5C"/>
                        </a:buClr>
                        <a:buSzPts val="1050"/>
                        <a:buFont typeface="Calibri"/>
                        <a:buNone/>
                      </a:pPr>
                      <a:r>
                        <a:rPr b="1" lang="en-US" sz="1050" u="none" cap="none" strike="noStrike">
                          <a:solidFill>
                            <a:srgbClr val="1D2A5C"/>
                          </a:solidFill>
                          <a:latin typeface="Calibri"/>
                          <a:ea typeface="Calibri"/>
                          <a:cs typeface="Calibri"/>
                          <a:sym typeface="Calibri"/>
                        </a:rPr>
                        <a:t>Evaluation harness &amp; analysis</a:t>
                      </a:r>
                      <a:endParaRPr sz="1050" u="none" cap="none" strike="noStrike">
                        <a:latin typeface="Calibri"/>
                        <a:ea typeface="Calibri"/>
                        <a:cs typeface="Calibri"/>
                        <a:sym typeface="Calibri"/>
                      </a:endParaRPr>
                    </a:p>
                  </a:txBody>
                  <a:tcPr marT="64000" marB="64000" marR="64000" marL="64000" anchor="ctr">
                    <a:lnL cap="flat" cmpd="sng" w="9525">
                      <a:solidFill>
                        <a:srgbClr val="D9E2EA"/>
                      </a:solidFill>
                      <a:prstDash val="solid"/>
                      <a:round/>
                      <a:headEnd len="sm" w="sm" type="none"/>
                      <a:tailEnd len="sm" w="sm" type="none"/>
                    </a:lnL>
                    <a:lnR cap="flat" cmpd="sng" w="9525">
                      <a:solidFill>
                        <a:srgbClr val="D9E2EA"/>
                      </a:solidFill>
                      <a:prstDash val="solid"/>
                      <a:round/>
                      <a:headEnd len="sm" w="sm" type="none"/>
                      <a:tailEnd len="sm" w="sm" type="none"/>
                    </a:lnR>
                    <a:lnT cap="flat" cmpd="sng" w="9525">
                      <a:solidFill>
                        <a:srgbClr val="D9E2EA"/>
                      </a:solidFill>
                      <a:prstDash val="solid"/>
                      <a:round/>
                      <a:headEnd len="sm" w="sm" type="none"/>
                      <a:tailEnd len="sm" w="sm" type="none"/>
                    </a:lnT>
                    <a:lnB cap="flat" cmpd="sng" w="9525">
                      <a:solidFill>
                        <a:srgbClr val="D9E2EA"/>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23293B"/>
                        </a:buClr>
                        <a:buSzPts val="1050"/>
                        <a:buFont typeface="Calibri"/>
                        <a:buNone/>
                      </a:pPr>
                      <a:r>
                        <a:rPr lang="en-US" sz="1050" u="none" cap="none" strike="noStrike">
                          <a:solidFill>
                            <a:srgbClr val="23293B"/>
                          </a:solidFill>
                          <a:latin typeface="Calibri"/>
                          <a:ea typeface="Calibri"/>
                          <a:cs typeface="Calibri"/>
                          <a:sym typeface="Calibri"/>
                        </a:rPr>
                        <a:t>20</a:t>
                      </a:r>
                      <a:endParaRPr sz="1050" u="none" cap="none" strike="noStrike">
                        <a:latin typeface="Calibri"/>
                        <a:ea typeface="Calibri"/>
                        <a:cs typeface="Calibri"/>
                        <a:sym typeface="Calibri"/>
                      </a:endParaRPr>
                    </a:p>
                  </a:txBody>
                  <a:tcPr marT="64000" marB="64000" marR="64000" marL="64000" anchor="ctr">
                    <a:lnL cap="flat" cmpd="sng" w="9525">
                      <a:solidFill>
                        <a:srgbClr val="D9E2EA"/>
                      </a:solidFill>
                      <a:prstDash val="solid"/>
                      <a:round/>
                      <a:headEnd len="sm" w="sm" type="none"/>
                      <a:tailEnd len="sm" w="sm" type="none"/>
                    </a:lnL>
                    <a:lnR cap="flat" cmpd="sng" w="9525">
                      <a:solidFill>
                        <a:srgbClr val="D9E2EA"/>
                      </a:solidFill>
                      <a:prstDash val="solid"/>
                      <a:round/>
                      <a:headEnd len="sm" w="sm" type="none"/>
                      <a:tailEnd len="sm" w="sm" type="none"/>
                    </a:lnR>
                    <a:lnT cap="flat" cmpd="sng" w="9525">
                      <a:solidFill>
                        <a:srgbClr val="D9E2EA"/>
                      </a:solidFill>
                      <a:prstDash val="solid"/>
                      <a:round/>
                      <a:headEnd len="sm" w="sm" type="none"/>
                      <a:tailEnd len="sm" w="sm" type="none"/>
                    </a:lnT>
                    <a:lnB cap="flat" cmpd="sng" w="9525">
                      <a:solidFill>
                        <a:srgbClr val="D9E2EA"/>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23293B"/>
                        </a:buClr>
                        <a:buSzPts val="1050"/>
                        <a:buFont typeface="Calibri"/>
                        <a:buNone/>
                      </a:pPr>
                      <a:r>
                        <a:rPr lang="en-US" sz="1050" u="none" cap="none" strike="noStrike">
                          <a:solidFill>
                            <a:srgbClr val="23293B"/>
                          </a:solidFill>
                          <a:latin typeface="Calibri"/>
                          <a:ea typeface="Calibri"/>
                          <a:cs typeface="Calibri"/>
                          <a:sym typeface="Calibri"/>
                        </a:rPr>
                        <a:t>Deterministic; slices; costed remediation plan; CI</a:t>
                      </a:r>
                      <a:endParaRPr sz="1050" u="none" cap="none" strike="noStrike">
                        <a:latin typeface="Calibri"/>
                        <a:ea typeface="Calibri"/>
                        <a:cs typeface="Calibri"/>
                        <a:sym typeface="Calibri"/>
                      </a:endParaRPr>
                    </a:p>
                  </a:txBody>
                  <a:tcPr marT="64000" marB="64000" marR="64000" marL="64000" anchor="ctr">
                    <a:lnL cap="flat" cmpd="sng" w="9525">
                      <a:solidFill>
                        <a:srgbClr val="D9E2EA"/>
                      </a:solidFill>
                      <a:prstDash val="solid"/>
                      <a:round/>
                      <a:headEnd len="sm" w="sm" type="none"/>
                      <a:tailEnd len="sm" w="sm" type="none"/>
                    </a:lnL>
                    <a:lnR cap="flat" cmpd="sng" w="9525">
                      <a:solidFill>
                        <a:srgbClr val="D9E2EA"/>
                      </a:solidFill>
                      <a:prstDash val="solid"/>
                      <a:round/>
                      <a:headEnd len="sm" w="sm" type="none"/>
                      <a:tailEnd len="sm" w="sm" type="none"/>
                    </a:lnR>
                    <a:lnT cap="flat" cmpd="sng" w="9525">
                      <a:solidFill>
                        <a:srgbClr val="D9E2EA"/>
                      </a:solidFill>
                      <a:prstDash val="solid"/>
                      <a:round/>
                      <a:headEnd len="sm" w="sm" type="none"/>
                      <a:tailEnd len="sm" w="sm" type="none"/>
                    </a:lnT>
                    <a:lnB cap="flat" cmpd="sng" w="9525">
                      <a:solidFill>
                        <a:srgbClr val="D9E2EA"/>
                      </a:solidFill>
                      <a:prstDash val="solid"/>
                      <a:round/>
                      <a:headEnd len="sm" w="sm" type="none"/>
                      <a:tailEnd len="sm" w="sm" type="none"/>
                    </a:lnB>
                    <a:solidFill>
                      <a:srgbClr val="FFFFFF"/>
                    </a:solidFill>
                  </a:tcPr>
                </a:tc>
              </a:tr>
              <a:tr h="628325">
                <a:tc>
                  <a:txBody>
                    <a:bodyPr/>
                    <a:lstStyle/>
                    <a:p>
                      <a:pPr indent="0" lvl="0" marL="0" marR="0" rtl="0" algn="l">
                        <a:spcBef>
                          <a:spcPts val="0"/>
                        </a:spcBef>
                        <a:spcAft>
                          <a:spcPts val="0"/>
                        </a:spcAft>
                        <a:buClr>
                          <a:srgbClr val="1D2A5C"/>
                        </a:buClr>
                        <a:buSzPts val="1050"/>
                        <a:buFont typeface="Calibri"/>
                        <a:buNone/>
                      </a:pPr>
                      <a:r>
                        <a:rPr b="1" lang="en-US" sz="1050" u="none" cap="none" strike="noStrike">
                          <a:solidFill>
                            <a:srgbClr val="1D2A5C"/>
                          </a:solidFill>
                          <a:latin typeface="Calibri"/>
                          <a:ea typeface="Calibri"/>
                          <a:cs typeface="Calibri"/>
                          <a:sym typeface="Calibri"/>
                        </a:rPr>
                        <a:t>Deployment &amp; optimisation</a:t>
                      </a:r>
                      <a:endParaRPr sz="1050" u="none" cap="none" strike="noStrike">
                        <a:latin typeface="Calibri"/>
                        <a:ea typeface="Calibri"/>
                        <a:cs typeface="Calibri"/>
                        <a:sym typeface="Calibri"/>
                      </a:endParaRPr>
                    </a:p>
                  </a:txBody>
                  <a:tcPr marT="64000" marB="64000" marR="64000" marL="64000" anchor="ctr">
                    <a:lnL cap="flat" cmpd="sng" w="9525">
                      <a:solidFill>
                        <a:srgbClr val="D9E2EA"/>
                      </a:solidFill>
                      <a:prstDash val="solid"/>
                      <a:round/>
                      <a:headEnd len="sm" w="sm" type="none"/>
                      <a:tailEnd len="sm" w="sm" type="none"/>
                    </a:lnL>
                    <a:lnR cap="flat" cmpd="sng" w="9525">
                      <a:solidFill>
                        <a:srgbClr val="D9E2EA"/>
                      </a:solidFill>
                      <a:prstDash val="solid"/>
                      <a:round/>
                      <a:headEnd len="sm" w="sm" type="none"/>
                      <a:tailEnd len="sm" w="sm" type="none"/>
                    </a:lnR>
                    <a:lnT cap="flat" cmpd="sng" w="9525">
                      <a:solidFill>
                        <a:srgbClr val="D9E2EA"/>
                      </a:solidFill>
                      <a:prstDash val="solid"/>
                      <a:round/>
                      <a:headEnd len="sm" w="sm" type="none"/>
                      <a:tailEnd len="sm" w="sm" type="none"/>
                    </a:lnT>
                    <a:lnB cap="flat" cmpd="sng" w="9525">
                      <a:solidFill>
                        <a:srgbClr val="D9E2EA"/>
                      </a:solidFill>
                      <a:prstDash val="solid"/>
                      <a:round/>
                      <a:headEnd len="sm" w="sm" type="none"/>
                      <a:tailEnd len="sm" w="sm" type="none"/>
                    </a:lnB>
                    <a:solidFill>
                      <a:srgbClr val="F2F6F9"/>
                    </a:solidFill>
                  </a:tcPr>
                </a:tc>
                <a:tc>
                  <a:txBody>
                    <a:bodyPr/>
                    <a:lstStyle/>
                    <a:p>
                      <a:pPr indent="0" lvl="0" marL="0" marR="0" rtl="0" algn="l">
                        <a:spcBef>
                          <a:spcPts val="0"/>
                        </a:spcBef>
                        <a:spcAft>
                          <a:spcPts val="0"/>
                        </a:spcAft>
                        <a:buClr>
                          <a:srgbClr val="23293B"/>
                        </a:buClr>
                        <a:buSzPts val="1050"/>
                        <a:buFont typeface="Calibri"/>
                        <a:buNone/>
                      </a:pPr>
                      <a:r>
                        <a:rPr lang="en-US" sz="1050" u="none" cap="none" strike="noStrike">
                          <a:solidFill>
                            <a:srgbClr val="23293B"/>
                          </a:solidFill>
                          <a:latin typeface="Calibri"/>
                          <a:ea typeface="Calibri"/>
                          <a:cs typeface="Calibri"/>
                          <a:sym typeface="Calibri"/>
                        </a:rPr>
                        <a:t>20</a:t>
                      </a:r>
                      <a:endParaRPr sz="1050" u="none" cap="none" strike="noStrike">
                        <a:latin typeface="Calibri"/>
                        <a:ea typeface="Calibri"/>
                        <a:cs typeface="Calibri"/>
                        <a:sym typeface="Calibri"/>
                      </a:endParaRPr>
                    </a:p>
                  </a:txBody>
                  <a:tcPr marT="64000" marB="64000" marR="64000" marL="64000" anchor="ctr">
                    <a:lnL cap="flat" cmpd="sng" w="9525">
                      <a:solidFill>
                        <a:srgbClr val="D9E2EA"/>
                      </a:solidFill>
                      <a:prstDash val="solid"/>
                      <a:round/>
                      <a:headEnd len="sm" w="sm" type="none"/>
                      <a:tailEnd len="sm" w="sm" type="none"/>
                    </a:lnL>
                    <a:lnR cap="flat" cmpd="sng" w="9525">
                      <a:solidFill>
                        <a:srgbClr val="D9E2EA"/>
                      </a:solidFill>
                      <a:prstDash val="solid"/>
                      <a:round/>
                      <a:headEnd len="sm" w="sm" type="none"/>
                      <a:tailEnd len="sm" w="sm" type="none"/>
                    </a:lnR>
                    <a:lnT cap="flat" cmpd="sng" w="9525">
                      <a:solidFill>
                        <a:srgbClr val="D9E2EA"/>
                      </a:solidFill>
                      <a:prstDash val="solid"/>
                      <a:round/>
                      <a:headEnd len="sm" w="sm" type="none"/>
                      <a:tailEnd len="sm" w="sm" type="none"/>
                    </a:lnT>
                    <a:lnB cap="flat" cmpd="sng" w="9525">
                      <a:solidFill>
                        <a:srgbClr val="D9E2EA"/>
                      </a:solidFill>
                      <a:prstDash val="solid"/>
                      <a:round/>
                      <a:headEnd len="sm" w="sm" type="none"/>
                      <a:tailEnd len="sm" w="sm" type="none"/>
                    </a:lnB>
                    <a:solidFill>
                      <a:srgbClr val="F2F6F9"/>
                    </a:solidFill>
                  </a:tcPr>
                </a:tc>
                <a:tc>
                  <a:txBody>
                    <a:bodyPr/>
                    <a:lstStyle/>
                    <a:p>
                      <a:pPr indent="0" lvl="0" marL="0" marR="0" rtl="0" algn="l">
                        <a:spcBef>
                          <a:spcPts val="0"/>
                        </a:spcBef>
                        <a:spcAft>
                          <a:spcPts val="0"/>
                        </a:spcAft>
                        <a:buClr>
                          <a:srgbClr val="23293B"/>
                        </a:buClr>
                        <a:buSzPts val="1050"/>
                        <a:buFont typeface="Calibri"/>
                        <a:buNone/>
                      </a:pPr>
                      <a:r>
                        <a:rPr lang="en-US" sz="1050" u="none" cap="none" strike="noStrike">
                          <a:solidFill>
                            <a:srgbClr val="23293B"/>
                          </a:solidFill>
                          <a:latin typeface="Calibri"/>
                          <a:ea typeface="Calibri"/>
                          <a:cs typeface="Calibri"/>
                          <a:sym typeface="Calibri"/>
                        </a:rPr>
                        <a:t>Parity-tested; slice-checked INT8; budget-justified</a:t>
                      </a:r>
                      <a:endParaRPr sz="1050" u="none" cap="none" strike="noStrike">
                        <a:latin typeface="Calibri"/>
                        <a:ea typeface="Calibri"/>
                        <a:cs typeface="Calibri"/>
                        <a:sym typeface="Calibri"/>
                      </a:endParaRPr>
                    </a:p>
                  </a:txBody>
                  <a:tcPr marT="64000" marB="64000" marR="64000" marL="64000" anchor="ctr">
                    <a:lnL cap="flat" cmpd="sng" w="9525">
                      <a:solidFill>
                        <a:srgbClr val="D9E2EA"/>
                      </a:solidFill>
                      <a:prstDash val="solid"/>
                      <a:round/>
                      <a:headEnd len="sm" w="sm" type="none"/>
                      <a:tailEnd len="sm" w="sm" type="none"/>
                    </a:lnL>
                    <a:lnR cap="flat" cmpd="sng" w="9525">
                      <a:solidFill>
                        <a:srgbClr val="D9E2EA"/>
                      </a:solidFill>
                      <a:prstDash val="solid"/>
                      <a:round/>
                      <a:headEnd len="sm" w="sm" type="none"/>
                      <a:tailEnd len="sm" w="sm" type="none"/>
                    </a:lnR>
                    <a:lnT cap="flat" cmpd="sng" w="9525">
                      <a:solidFill>
                        <a:srgbClr val="D9E2EA"/>
                      </a:solidFill>
                      <a:prstDash val="solid"/>
                      <a:round/>
                      <a:headEnd len="sm" w="sm" type="none"/>
                      <a:tailEnd len="sm" w="sm" type="none"/>
                    </a:lnT>
                    <a:lnB cap="flat" cmpd="sng" w="9525">
                      <a:solidFill>
                        <a:srgbClr val="D9E2EA"/>
                      </a:solidFill>
                      <a:prstDash val="solid"/>
                      <a:round/>
                      <a:headEnd len="sm" w="sm" type="none"/>
                      <a:tailEnd len="sm" w="sm" type="none"/>
                    </a:lnB>
                    <a:solidFill>
                      <a:srgbClr val="F2F6F9"/>
                    </a:solidFill>
                  </a:tcPr>
                </a:tc>
              </a:tr>
              <a:tr h="628325">
                <a:tc>
                  <a:txBody>
                    <a:bodyPr/>
                    <a:lstStyle/>
                    <a:p>
                      <a:pPr indent="0" lvl="0" marL="0" marR="0" rtl="0" algn="l">
                        <a:spcBef>
                          <a:spcPts val="0"/>
                        </a:spcBef>
                        <a:spcAft>
                          <a:spcPts val="0"/>
                        </a:spcAft>
                        <a:buClr>
                          <a:srgbClr val="1D2A5C"/>
                        </a:buClr>
                        <a:buSzPts val="1050"/>
                        <a:buFont typeface="Calibri"/>
                        <a:buNone/>
                      </a:pPr>
                      <a:r>
                        <a:rPr b="1" lang="en-US" sz="1050" u="none" cap="none" strike="noStrike">
                          <a:solidFill>
                            <a:srgbClr val="1D2A5C"/>
                          </a:solidFill>
                          <a:latin typeface="Calibri"/>
                          <a:ea typeface="Calibri"/>
                          <a:cs typeface="Calibri"/>
                          <a:sym typeface="Calibri"/>
                        </a:rPr>
                        <a:t>Integration &amp; decision logic</a:t>
                      </a:r>
                      <a:endParaRPr sz="1050" u="none" cap="none" strike="noStrike">
                        <a:latin typeface="Calibri"/>
                        <a:ea typeface="Calibri"/>
                        <a:cs typeface="Calibri"/>
                        <a:sym typeface="Calibri"/>
                      </a:endParaRPr>
                    </a:p>
                  </a:txBody>
                  <a:tcPr marT="64000" marB="64000" marR="64000" marL="64000" anchor="ctr">
                    <a:lnL cap="flat" cmpd="sng" w="9525">
                      <a:solidFill>
                        <a:srgbClr val="D9E2EA"/>
                      </a:solidFill>
                      <a:prstDash val="solid"/>
                      <a:round/>
                      <a:headEnd len="sm" w="sm" type="none"/>
                      <a:tailEnd len="sm" w="sm" type="none"/>
                    </a:lnL>
                    <a:lnR cap="flat" cmpd="sng" w="9525">
                      <a:solidFill>
                        <a:srgbClr val="D9E2EA"/>
                      </a:solidFill>
                      <a:prstDash val="solid"/>
                      <a:round/>
                      <a:headEnd len="sm" w="sm" type="none"/>
                      <a:tailEnd len="sm" w="sm" type="none"/>
                    </a:lnR>
                    <a:lnT cap="flat" cmpd="sng" w="9525">
                      <a:solidFill>
                        <a:srgbClr val="D9E2EA"/>
                      </a:solidFill>
                      <a:prstDash val="solid"/>
                      <a:round/>
                      <a:headEnd len="sm" w="sm" type="none"/>
                      <a:tailEnd len="sm" w="sm" type="none"/>
                    </a:lnT>
                    <a:lnB cap="flat" cmpd="sng" w="9525">
                      <a:solidFill>
                        <a:srgbClr val="D9E2EA"/>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23293B"/>
                        </a:buClr>
                        <a:buSzPts val="1050"/>
                        <a:buFont typeface="Calibri"/>
                        <a:buNone/>
                      </a:pPr>
                      <a:r>
                        <a:rPr lang="en-US" sz="1050" u="none" cap="none" strike="noStrike">
                          <a:solidFill>
                            <a:srgbClr val="23293B"/>
                          </a:solidFill>
                          <a:latin typeface="Calibri"/>
                          <a:ea typeface="Calibri"/>
                          <a:cs typeface="Calibri"/>
                          <a:sym typeface="Calibri"/>
                        </a:rPr>
                        <a:t>15</a:t>
                      </a:r>
                      <a:endParaRPr sz="1050" u="none" cap="none" strike="noStrike">
                        <a:latin typeface="Calibri"/>
                        <a:ea typeface="Calibri"/>
                        <a:cs typeface="Calibri"/>
                        <a:sym typeface="Calibri"/>
                      </a:endParaRPr>
                    </a:p>
                  </a:txBody>
                  <a:tcPr marT="64000" marB="64000" marR="64000" marL="64000" anchor="ctr">
                    <a:lnL cap="flat" cmpd="sng" w="9525">
                      <a:solidFill>
                        <a:srgbClr val="D9E2EA"/>
                      </a:solidFill>
                      <a:prstDash val="solid"/>
                      <a:round/>
                      <a:headEnd len="sm" w="sm" type="none"/>
                      <a:tailEnd len="sm" w="sm" type="none"/>
                    </a:lnL>
                    <a:lnR cap="flat" cmpd="sng" w="9525">
                      <a:solidFill>
                        <a:srgbClr val="D9E2EA"/>
                      </a:solidFill>
                      <a:prstDash val="solid"/>
                      <a:round/>
                      <a:headEnd len="sm" w="sm" type="none"/>
                      <a:tailEnd len="sm" w="sm" type="none"/>
                    </a:lnR>
                    <a:lnT cap="flat" cmpd="sng" w="9525">
                      <a:solidFill>
                        <a:srgbClr val="D9E2EA"/>
                      </a:solidFill>
                      <a:prstDash val="solid"/>
                      <a:round/>
                      <a:headEnd len="sm" w="sm" type="none"/>
                      <a:tailEnd len="sm" w="sm" type="none"/>
                    </a:lnT>
                    <a:lnB cap="flat" cmpd="sng" w="9525">
                      <a:solidFill>
                        <a:srgbClr val="D9E2EA"/>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23293B"/>
                        </a:buClr>
                        <a:buSzPts val="1050"/>
                        <a:buFont typeface="Calibri"/>
                        <a:buNone/>
                      </a:pPr>
                      <a:r>
                        <a:rPr lang="en-US" sz="1050" u="none" cap="none" strike="noStrike">
                          <a:solidFill>
                            <a:srgbClr val="23293B"/>
                          </a:solidFill>
                          <a:latin typeface="Calibri"/>
                          <a:ea typeface="Calibri"/>
                          <a:cs typeface="Calibri"/>
                          <a:sym typeface="Calibri"/>
                        </a:rPr>
                        <a:t>Full pipeline on footage; versioned rules; rich logs</a:t>
                      </a:r>
                      <a:endParaRPr sz="1050" u="none" cap="none" strike="noStrike">
                        <a:latin typeface="Calibri"/>
                        <a:ea typeface="Calibri"/>
                        <a:cs typeface="Calibri"/>
                        <a:sym typeface="Calibri"/>
                      </a:endParaRPr>
                    </a:p>
                  </a:txBody>
                  <a:tcPr marT="64000" marB="64000" marR="64000" marL="64000" anchor="ctr">
                    <a:lnL cap="flat" cmpd="sng" w="9525">
                      <a:solidFill>
                        <a:srgbClr val="D9E2EA"/>
                      </a:solidFill>
                      <a:prstDash val="solid"/>
                      <a:round/>
                      <a:headEnd len="sm" w="sm" type="none"/>
                      <a:tailEnd len="sm" w="sm" type="none"/>
                    </a:lnL>
                    <a:lnR cap="flat" cmpd="sng" w="9525">
                      <a:solidFill>
                        <a:srgbClr val="D9E2EA"/>
                      </a:solidFill>
                      <a:prstDash val="solid"/>
                      <a:round/>
                      <a:headEnd len="sm" w="sm" type="none"/>
                      <a:tailEnd len="sm" w="sm" type="none"/>
                    </a:lnR>
                    <a:lnT cap="flat" cmpd="sng" w="9525">
                      <a:solidFill>
                        <a:srgbClr val="D9E2EA"/>
                      </a:solidFill>
                      <a:prstDash val="solid"/>
                      <a:round/>
                      <a:headEnd len="sm" w="sm" type="none"/>
                      <a:tailEnd len="sm" w="sm" type="none"/>
                    </a:lnT>
                    <a:lnB cap="flat" cmpd="sng" w="9525">
                      <a:solidFill>
                        <a:srgbClr val="D9E2EA"/>
                      </a:solidFill>
                      <a:prstDash val="solid"/>
                      <a:round/>
                      <a:headEnd len="sm" w="sm" type="none"/>
                      <a:tailEnd len="sm" w="sm" type="none"/>
                    </a:lnB>
                    <a:solidFill>
                      <a:srgbClr val="FFFFFF"/>
                    </a:solidFill>
                  </a:tcPr>
                </a:tc>
              </a:tr>
              <a:tr h="628325">
                <a:tc>
                  <a:txBody>
                    <a:bodyPr/>
                    <a:lstStyle/>
                    <a:p>
                      <a:pPr indent="0" lvl="0" marL="0" marR="0" rtl="0" algn="l">
                        <a:spcBef>
                          <a:spcPts val="0"/>
                        </a:spcBef>
                        <a:spcAft>
                          <a:spcPts val="0"/>
                        </a:spcAft>
                        <a:buClr>
                          <a:srgbClr val="1D2A5C"/>
                        </a:buClr>
                        <a:buSzPts val="1050"/>
                        <a:buFont typeface="Calibri"/>
                        <a:buNone/>
                      </a:pPr>
                      <a:r>
                        <a:rPr b="1" lang="en-US" sz="1050" u="none" cap="none" strike="noStrike">
                          <a:solidFill>
                            <a:srgbClr val="1D2A5C"/>
                          </a:solidFill>
                          <a:latin typeface="Calibri"/>
                          <a:ea typeface="Calibri"/>
                          <a:cs typeface="Calibri"/>
                          <a:sym typeface="Calibri"/>
                        </a:rPr>
                        <a:t>Demo &amp; DECISIONS.md</a:t>
                      </a:r>
                      <a:endParaRPr sz="1050" u="none" cap="none" strike="noStrike">
                        <a:latin typeface="Calibri"/>
                        <a:ea typeface="Calibri"/>
                        <a:cs typeface="Calibri"/>
                        <a:sym typeface="Calibri"/>
                      </a:endParaRPr>
                    </a:p>
                  </a:txBody>
                  <a:tcPr marT="64000" marB="64000" marR="64000" marL="64000" anchor="ctr">
                    <a:lnL cap="flat" cmpd="sng" w="9525">
                      <a:solidFill>
                        <a:srgbClr val="D9E2EA"/>
                      </a:solidFill>
                      <a:prstDash val="solid"/>
                      <a:round/>
                      <a:headEnd len="sm" w="sm" type="none"/>
                      <a:tailEnd len="sm" w="sm" type="none"/>
                    </a:lnL>
                    <a:lnR cap="flat" cmpd="sng" w="9525">
                      <a:solidFill>
                        <a:srgbClr val="D9E2EA"/>
                      </a:solidFill>
                      <a:prstDash val="solid"/>
                      <a:round/>
                      <a:headEnd len="sm" w="sm" type="none"/>
                      <a:tailEnd len="sm" w="sm" type="none"/>
                    </a:lnR>
                    <a:lnT cap="flat" cmpd="sng" w="9525">
                      <a:solidFill>
                        <a:srgbClr val="D9E2EA"/>
                      </a:solidFill>
                      <a:prstDash val="solid"/>
                      <a:round/>
                      <a:headEnd len="sm" w="sm" type="none"/>
                      <a:tailEnd len="sm" w="sm" type="none"/>
                    </a:lnT>
                    <a:lnB cap="flat" cmpd="sng" w="9525">
                      <a:solidFill>
                        <a:srgbClr val="D9E2EA"/>
                      </a:solidFill>
                      <a:prstDash val="solid"/>
                      <a:round/>
                      <a:headEnd len="sm" w="sm" type="none"/>
                      <a:tailEnd len="sm" w="sm" type="none"/>
                    </a:lnB>
                    <a:solidFill>
                      <a:srgbClr val="F2F6F9"/>
                    </a:solidFill>
                  </a:tcPr>
                </a:tc>
                <a:tc>
                  <a:txBody>
                    <a:bodyPr/>
                    <a:lstStyle/>
                    <a:p>
                      <a:pPr indent="0" lvl="0" marL="0" marR="0" rtl="0" algn="l">
                        <a:spcBef>
                          <a:spcPts val="0"/>
                        </a:spcBef>
                        <a:spcAft>
                          <a:spcPts val="0"/>
                        </a:spcAft>
                        <a:buClr>
                          <a:srgbClr val="23293B"/>
                        </a:buClr>
                        <a:buSzPts val="1050"/>
                        <a:buFont typeface="Calibri"/>
                        <a:buNone/>
                      </a:pPr>
                      <a:r>
                        <a:rPr lang="en-US" sz="1050" u="none" cap="none" strike="noStrike">
                          <a:solidFill>
                            <a:srgbClr val="23293B"/>
                          </a:solidFill>
                          <a:latin typeface="Calibri"/>
                          <a:ea typeface="Calibri"/>
                          <a:cs typeface="Calibri"/>
                          <a:sym typeface="Calibri"/>
                        </a:rPr>
                        <a:t>10</a:t>
                      </a:r>
                      <a:endParaRPr sz="1050" u="none" cap="none" strike="noStrike">
                        <a:latin typeface="Calibri"/>
                        <a:ea typeface="Calibri"/>
                        <a:cs typeface="Calibri"/>
                        <a:sym typeface="Calibri"/>
                      </a:endParaRPr>
                    </a:p>
                  </a:txBody>
                  <a:tcPr marT="64000" marB="64000" marR="64000" marL="64000" anchor="ctr">
                    <a:lnL cap="flat" cmpd="sng" w="9525">
                      <a:solidFill>
                        <a:srgbClr val="D9E2EA"/>
                      </a:solidFill>
                      <a:prstDash val="solid"/>
                      <a:round/>
                      <a:headEnd len="sm" w="sm" type="none"/>
                      <a:tailEnd len="sm" w="sm" type="none"/>
                    </a:lnL>
                    <a:lnR cap="flat" cmpd="sng" w="9525">
                      <a:solidFill>
                        <a:srgbClr val="D9E2EA"/>
                      </a:solidFill>
                      <a:prstDash val="solid"/>
                      <a:round/>
                      <a:headEnd len="sm" w="sm" type="none"/>
                      <a:tailEnd len="sm" w="sm" type="none"/>
                    </a:lnR>
                    <a:lnT cap="flat" cmpd="sng" w="9525">
                      <a:solidFill>
                        <a:srgbClr val="D9E2EA"/>
                      </a:solidFill>
                      <a:prstDash val="solid"/>
                      <a:round/>
                      <a:headEnd len="sm" w="sm" type="none"/>
                      <a:tailEnd len="sm" w="sm" type="none"/>
                    </a:lnT>
                    <a:lnB cap="flat" cmpd="sng" w="9525">
                      <a:solidFill>
                        <a:srgbClr val="D9E2EA"/>
                      </a:solidFill>
                      <a:prstDash val="solid"/>
                      <a:round/>
                      <a:headEnd len="sm" w="sm" type="none"/>
                      <a:tailEnd len="sm" w="sm" type="none"/>
                    </a:lnB>
                    <a:solidFill>
                      <a:srgbClr val="F2F6F9"/>
                    </a:solidFill>
                  </a:tcPr>
                </a:tc>
                <a:tc>
                  <a:txBody>
                    <a:bodyPr/>
                    <a:lstStyle/>
                    <a:p>
                      <a:pPr indent="0" lvl="0" marL="0" marR="0" rtl="0" algn="l">
                        <a:spcBef>
                          <a:spcPts val="0"/>
                        </a:spcBef>
                        <a:spcAft>
                          <a:spcPts val="0"/>
                        </a:spcAft>
                        <a:buClr>
                          <a:srgbClr val="23293B"/>
                        </a:buClr>
                        <a:buSzPts val="1050"/>
                        <a:buFont typeface="Calibri"/>
                        <a:buNone/>
                      </a:pPr>
                      <a:r>
                        <a:rPr lang="en-US" sz="1050" u="none" cap="none" strike="noStrike">
                          <a:solidFill>
                            <a:srgbClr val="23293B"/>
                          </a:solidFill>
                          <a:latin typeface="Calibri"/>
                          <a:ea typeface="Calibri"/>
                          <a:cs typeface="Calibri"/>
                          <a:sym typeface="Calibri"/>
                        </a:rPr>
                        <a:t>Crisp demo; trade-off literacy across the stack</a:t>
                      </a:r>
                      <a:endParaRPr sz="1050" u="none" cap="none" strike="noStrike">
                        <a:latin typeface="Calibri"/>
                        <a:ea typeface="Calibri"/>
                        <a:cs typeface="Calibri"/>
                        <a:sym typeface="Calibri"/>
                      </a:endParaRPr>
                    </a:p>
                  </a:txBody>
                  <a:tcPr marT="64000" marB="64000" marR="64000" marL="64000" anchor="ctr">
                    <a:lnL cap="flat" cmpd="sng" w="9525">
                      <a:solidFill>
                        <a:srgbClr val="D9E2EA"/>
                      </a:solidFill>
                      <a:prstDash val="solid"/>
                      <a:round/>
                      <a:headEnd len="sm" w="sm" type="none"/>
                      <a:tailEnd len="sm" w="sm" type="none"/>
                    </a:lnL>
                    <a:lnR cap="flat" cmpd="sng" w="9525">
                      <a:solidFill>
                        <a:srgbClr val="D9E2EA"/>
                      </a:solidFill>
                      <a:prstDash val="solid"/>
                      <a:round/>
                      <a:headEnd len="sm" w="sm" type="none"/>
                      <a:tailEnd len="sm" w="sm" type="none"/>
                    </a:lnR>
                    <a:lnT cap="flat" cmpd="sng" w="9525">
                      <a:solidFill>
                        <a:srgbClr val="D9E2EA"/>
                      </a:solidFill>
                      <a:prstDash val="solid"/>
                      <a:round/>
                      <a:headEnd len="sm" w="sm" type="none"/>
                      <a:tailEnd len="sm" w="sm" type="none"/>
                    </a:lnT>
                    <a:lnB cap="flat" cmpd="sng" w="9525">
                      <a:solidFill>
                        <a:srgbClr val="D9E2EA"/>
                      </a:solidFill>
                      <a:prstDash val="solid"/>
                      <a:round/>
                      <a:headEnd len="sm" w="sm" type="none"/>
                      <a:tailEnd len="sm" w="sm" type="none"/>
                    </a:lnB>
                    <a:solidFill>
                      <a:srgbClr val="F2F6F9"/>
                    </a:solidFill>
                  </a:tcPr>
                </a:tc>
              </a:tr>
            </a:tbl>
          </a:graphicData>
        </a:graphic>
      </p:graphicFrame>
    </p:spTree>
  </p:cSld>
  <p:clrMapOvr>
    <a:masterClrMapping/>
  </p:clrMapOvr>
</p:sld>
</file>

<file path=ppt/slides/slide1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171" name="Shape 4171"/>
        <p:cNvGrpSpPr/>
        <p:nvPr/>
      </p:nvGrpSpPr>
      <p:grpSpPr>
        <a:xfrm>
          <a:off x="0" y="0"/>
          <a:ext cx="0" cy="0"/>
          <a:chOff x="0" y="0"/>
          <a:chExt cx="0" cy="0"/>
        </a:xfrm>
      </p:grpSpPr>
      <p:sp>
        <p:nvSpPr>
          <p:cNvPr id="4172" name="Google Shape;4172;p151"/>
          <p:cNvSpPr/>
          <p:nvPr/>
        </p:nvSpPr>
        <p:spPr>
          <a:xfrm>
            <a:off x="502920" y="274320"/>
            <a:ext cx="9646920" cy="56692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D2A5C"/>
              </a:buClr>
              <a:buSzPts val="2700"/>
              <a:buFont typeface="Calibri"/>
              <a:buNone/>
            </a:pPr>
            <a:r>
              <a:rPr b="1" i="0" lang="en-US" sz="2700" u="none" cap="none" strike="noStrike">
                <a:solidFill>
                  <a:srgbClr val="1D2A5C"/>
                </a:solidFill>
                <a:latin typeface="Calibri"/>
                <a:ea typeface="Calibri"/>
                <a:cs typeface="Calibri"/>
                <a:sym typeface="Calibri"/>
              </a:rPr>
              <a:t>Demo day: five minutes to prove it</a:t>
            </a:r>
            <a:endParaRPr b="0" i="0" sz="2700" u="none" cap="none" strike="noStrike">
              <a:solidFill>
                <a:schemeClr val="dk1"/>
              </a:solidFill>
              <a:latin typeface="Calibri"/>
              <a:ea typeface="Calibri"/>
              <a:cs typeface="Calibri"/>
              <a:sym typeface="Calibri"/>
            </a:endParaRPr>
          </a:p>
        </p:txBody>
      </p:sp>
      <p:sp>
        <p:nvSpPr>
          <p:cNvPr id="4173" name="Google Shape;4173;p151"/>
          <p:cNvSpPr/>
          <p:nvPr/>
        </p:nvSpPr>
        <p:spPr>
          <a:xfrm>
            <a:off x="502920" y="859536"/>
            <a:ext cx="9646920" cy="31089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F6B7A"/>
              </a:buClr>
              <a:buSzPts val="1250"/>
              <a:buFont typeface="Arial"/>
              <a:buNone/>
            </a:pPr>
            <a:r>
              <a:rPr b="0" i="0" lang="en-US" sz="1250" u="none" cap="none" strike="noStrike">
                <a:solidFill>
                  <a:srgbClr val="5F6B7A"/>
                </a:solidFill>
                <a:latin typeface="Arial"/>
                <a:ea typeface="Arial"/>
                <a:cs typeface="Arial"/>
                <a:sym typeface="Arial"/>
              </a:rPr>
              <a:t>يوم العرض</a:t>
            </a:r>
            <a:endParaRPr b="0" i="0" sz="1250" u="none" cap="none" strike="noStrike">
              <a:solidFill>
                <a:schemeClr val="dk1"/>
              </a:solidFill>
              <a:latin typeface="Calibri"/>
              <a:ea typeface="Calibri"/>
              <a:cs typeface="Calibri"/>
              <a:sym typeface="Calibri"/>
            </a:endParaRPr>
          </a:p>
        </p:txBody>
      </p:sp>
      <p:pic>
        <p:nvPicPr>
          <p:cNvPr descr="/sessions/blissful-determined-ritchie/build/assets/sdaia_logo.png" id="4174" name="Google Shape;4174;p151"/>
          <p:cNvPicPr preferRelativeResize="0"/>
          <p:nvPr/>
        </p:nvPicPr>
        <p:blipFill rotWithShape="1">
          <a:blip r:embed="rId3">
            <a:alphaModFix/>
          </a:blip>
          <a:srcRect b="0" l="0" r="0" t="0"/>
          <a:stretch/>
        </p:blipFill>
        <p:spPr>
          <a:xfrm>
            <a:off x="10625328" y="310896"/>
            <a:ext cx="1078992" cy="264111"/>
          </a:xfrm>
          <a:prstGeom prst="rect">
            <a:avLst/>
          </a:prstGeom>
          <a:noFill/>
          <a:ln>
            <a:noFill/>
          </a:ln>
        </p:spPr>
      </p:pic>
      <p:sp>
        <p:nvSpPr>
          <p:cNvPr id="4175" name="Google Shape;4175;p151"/>
          <p:cNvSpPr/>
          <p:nvPr/>
        </p:nvSpPr>
        <p:spPr>
          <a:xfrm>
            <a:off x="502920" y="6528816"/>
            <a:ext cx="8686800"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A79D"/>
              </a:buClr>
              <a:buSzPts val="800"/>
              <a:buFont typeface="Calibri"/>
              <a:buNone/>
            </a:pPr>
            <a:r>
              <a:rPr b="1" i="0" lang="en-US" sz="800" u="none" cap="none" strike="noStrike">
                <a:solidFill>
                  <a:srgbClr val="00A79D"/>
                </a:solidFill>
                <a:latin typeface="Calibri"/>
                <a:ea typeface="Calibri"/>
                <a:cs typeface="Calibri"/>
                <a:sym typeface="Calibri"/>
              </a:rPr>
              <a:t>CAPSTONE   </a:t>
            </a:r>
            <a:r>
              <a:rPr b="0" i="0" lang="en-US" sz="800" u="none" cap="none" strike="noStrike">
                <a:solidFill>
                  <a:srgbClr val="8A96A6"/>
                </a:solidFill>
                <a:latin typeface="Calibri"/>
                <a:ea typeface="Calibri"/>
                <a:cs typeface="Calibri"/>
                <a:sym typeface="Calibri"/>
              </a:rPr>
              <a:t>SDA-AIE-212 · Computer Vision Systems Development</a:t>
            </a:r>
            <a:endParaRPr b="0" i="0" sz="800" u="none" cap="none" strike="noStrike">
              <a:solidFill>
                <a:schemeClr val="dk1"/>
              </a:solidFill>
              <a:latin typeface="Calibri"/>
              <a:ea typeface="Calibri"/>
              <a:cs typeface="Calibri"/>
              <a:sym typeface="Calibri"/>
            </a:endParaRPr>
          </a:p>
        </p:txBody>
      </p:sp>
      <p:sp>
        <p:nvSpPr>
          <p:cNvPr id="4176" name="Google Shape;4176;p151"/>
          <p:cNvSpPr/>
          <p:nvPr/>
        </p:nvSpPr>
        <p:spPr>
          <a:xfrm>
            <a:off x="11292840" y="6528816"/>
            <a:ext cx="411480" cy="219456"/>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8A96A6"/>
              </a:buClr>
              <a:buSzPts val="900"/>
              <a:buFont typeface="Calibri"/>
              <a:buNone/>
            </a:pPr>
            <a:r>
              <a:rPr b="0" i="0" lang="en-US" sz="900" u="none" cap="none" strike="noStrike">
                <a:solidFill>
                  <a:srgbClr val="8A96A6"/>
                </a:solidFill>
                <a:latin typeface="Calibri"/>
                <a:ea typeface="Calibri"/>
                <a:cs typeface="Calibri"/>
                <a:sym typeface="Calibri"/>
              </a:rPr>
              <a:t>151</a:t>
            </a:r>
            <a:endParaRPr b="0" i="0" sz="900" u="none" cap="none" strike="noStrike">
              <a:solidFill>
                <a:schemeClr val="dk1"/>
              </a:solidFill>
              <a:latin typeface="Calibri"/>
              <a:ea typeface="Calibri"/>
              <a:cs typeface="Calibri"/>
              <a:sym typeface="Calibri"/>
            </a:endParaRPr>
          </a:p>
        </p:txBody>
      </p:sp>
      <p:sp>
        <p:nvSpPr>
          <p:cNvPr id="4177" name="Google Shape;4177;p151"/>
          <p:cNvSpPr/>
          <p:nvPr/>
        </p:nvSpPr>
        <p:spPr>
          <a:xfrm>
            <a:off x="502920" y="1559052"/>
            <a:ext cx="329184" cy="329184"/>
          </a:xfrm>
          <a:prstGeom prst="ellipse">
            <a:avLst/>
          </a:prstGeom>
          <a:solidFill>
            <a:srgbClr val="00A79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78" name="Google Shape;4178;p151"/>
          <p:cNvSpPr/>
          <p:nvPr/>
        </p:nvSpPr>
        <p:spPr>
          <a:xfrm>
            <a:off x="502920" y="1559052"/>
            <a:ext cx="329184" cy="32918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300"/>
              <a:buFont typeface="Calibri"/>
              <a:buNone/>
            </a:pPr>
            <a:r>
              <a:rPr b="1" i="0" lang="en-US" sz="1300" u="none" cap="none" strike="noStrike">
                <a:solidFill>
                  <a:srgbClr val="FFFFFF"/>
                </a:solidFill>
                <a:latin typeface="Calibri"/>
                <a:ea typeface="Calibri"/>
                <a:cs typeface="Calibri"/>
                <a:sym typeface="Calibri"/>
              </a:rPr>
              <a:t>1</a:t>
            </a:r>
            <a:endParaRPr b="0" i="0" sz="1300" u="none" cap="none" strike="noStrike">
              <a:solidFill>
                <a:schemeClr val="dk1"/>
              </a:solidFill>
              <a:latin typeface="Calibri"/>
              <a:ea typeface="Calibri"/>
              <a:cs typeface="Calibri"/>
              <a:sym typeface="Calibri"/>
            </a:endParaRPr>
          </a:p>
        </p:txBody>
      </p:sp>
      <p:sp>
        <p:nvSpPr>
          <p:cNvPr id="4179" name="Google Shape;4179;p151"/>
          <p:cNvSpPr/>
          <p:nvPr/>
        </p:nvSpPr>
        <p:spPr>
          <a:xfrm>
            <a:off x="1005840" y="1495044"/>
            <a:ext cx="10682935"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D2A5C"/>
              </a:buClr>
              <a:buSzPts val="1400"/>
              <a:buFont typeface="Calibri"/>
              <a:buNone/>
            </a:pPr>
            <a:r>
              <a:rPr b="1" i="0" lang="en-US" sz="1400" u="none" cap="none" strike="noStrike">
                <a:solidFill>
                  <a:srgbClr val="1D2A5C"/>
                </a:solidFill>
                <a:latin typeface="Calibri"/>
                <a:ea typeface="Calibri"/>
                <a:cs typeface="Calibri"/>
                <a:sym typeface="Calibri"/>
              </a:rPr>
              <a:t>The demo script</a:t>
            </a:r>
            <a:endParaRPr b="0" i="0" sz="1400" u="none" cap="none" strike="noStrike">
              <a:solidFill>
                <a:schemeClr val="dk1"/>
              </a:solidFill>
              <a:latin typeface="Calibri"/>
              <a:ea typeface="Calibri"/>
              <a:cs typeface="Calibri"/>
              <a:sym typeface="Calibri"/>
            </a:endParaRPr>
          </a:p>
        </p:txBody>
      </p:sp>
      <p:sp>
        <p:nvSpPr>
          <p:cNvPr id="4180" name="Google Shape;4180;p151"/>
          <p:cNvSpPr/>
          <p:nvPr/>
        </p:nvSpPr>
        <p:spPr>
          <a:xfrm>
            <a:off x="1005840" y="1796796"/>
            <a:ext cx="10682935" cy="841248"/>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5F6B7A"/>
              </a:buClr>
              <a:buSzPts val="1150"/>
              <a:buFont typeface="Calibri"/>
              <a:buNone/>
            </a:pPr>
            <a:r>
              <a:rPr b="0" i="0" lang="en-US" sz="1150" u="none" cap="none" strike="noStrike">
                <a:solidFill>
                  <a:srgbClr val="5F6B7A"/>
                </a:solidFill>
                <a:latin typeface="Calibri"/>
                <a:ea typeface="Calibri"/>
                <a:cs typeface="Calibri"/>
                <a:sym typeface="Calibri"/>
              </a:rPr>
              <a:t>Sample-footage run with decisions and logs; your worst slice (one harness insight); one defended trade-off (your selected config); your remediation plan's top line.</a:t>
            </a:r>
            <a:endParaRPr b="0" i="0" sz="1150" u="none" cap="none" strike="noStrike">
              <a:solidFill>
                <a:schemeClr val="dk1"/>
              </a:solidFill>
              <a:latin typeface="Calibri"/>
              <a:ea typeface="Calibri"/>
              <a:cs typeface="Calibri"/>
              <a:sym typeface="Calibri"/>
            </a:endParaRPr>
          </a:p>
        </p:txBody>
      </p:sp>
      <p:sp>
        <p:nvSpPr>
          <p:cNvPr id="4181" name="Google Shape;4181;p151"/>
          <p:cNvSpPr/>
          <p:nvPr/>
        </p:nvSpPr>
        <p:spPr>
          <a:xfrm>
            <a:off x="502920" y="2747772"/>
            <a:ext cx="329184" cy="329184"/>
          </a:xfrm>
          <a:prstGeom prst="ellipse">
            <a:avLst/>
          </a:prstGeom>
          <a:solidFill>
            <a:srgbClr val="29ABE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82" name="Google Shape;4182;p151"/>
          <p:cNvSpPr/>
          <p:nvPr/>
        </p:nvSpPr>
        <p:spPr>
          <a:xfrm>
            <a:off x="502920" y="2747772"/>
            <a:ext cx="329184" cy="32918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300"/>
              <a:buFont typeface="Calibri"/>
              <a:buNone/>
            </a:pPr>
            <a:r>
              <a:rPr b="1" i="0" lang="en-US" sz="1300" u="none" cap="none" strike="noStrike">
                <a:solidFill>
                  <a:srgbClr val="FFFFFF"/>
                </a:solidFill>
                <a:latin typeface="Calibri"/>
                <a:ea typeface="Calibri"/>
                <a:cs typeface="Calibri"/>
                <a:sym typeface="Calibri"/>
              </a:rPr>
              <a:t>2</a:t>
            </a:r>
            <a:endParaRPr b="0" i="0" sz="1300" u="none" cap="none" strike="noStrike">
              <a:solidFill>
                <a:schemeClr val="dk1"/>
              </a:solidFill>
              <a:latin typeface="Calibri"/>
              <a:ea typeface="Calibri"/>
              <a:cs typeface="Calibri"/>
              <a:sym typeface="Calibri"/>
            </a:endParaRPr>
          </a:p>
        </p:txBody>
      </p:sp>
      <p:sp>
        <p:nvSpPr>
          <p:cNvPr id="4183" name="Google Shape;4183;p151"/>
          <p:cNvSpPr/>
          <p:nvPr/>
        </p:nvSpPr>
        <p:spPr>
          <a:xfrm>
            <a:off x="1005840" y="2683764"/>
            <a:ext cx="10682935"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D2A5C"/>
              </a:buClr>
              <a:buSzPts val="1400"/>
              <a:buFont typeface="Calibri"/>
              <a:buNone/>
            </a:pPr>
            <a:r>
              <a:rPr b="1" i="0" lang="en-US" sz="1400" u="none" cap="none" strike="noStrike">
                <a:solidFill>
                  <a:srgbClr val="1D2A5C"/>
                </a:solidFill>
                <a:latin typeface="Calibri"/>
                <a:ea typeface="Calibri"/>
                <a:cs typeface="Calibri"/>
                <a:sym typeface="Calibri"/>
              </a:rPr>
              <a:t>Submission before demos</a:t>
            </a:r>
            <a:endParaRPr b="0" i="0" sz="1400" u="none" cap="none" strike="noStrike">
              <a:solidFill>
                <a:schemeClr val="dk1"/>
              </a:solidFill>
              <a:latin typeface="Calibri"/>
              <a:ea typeface="Calibri"/>
              <a:cs typeface="Calibri"/>
              <a:sym typeface="Calibri"/>
            </a:endParaRPr>
          </a:p>
        </p:txBody>
      </p:sp>
      <p:sp>
        <p:nvSpPr>
          <p:cNvPr id="4184" name="Google Shape;4184;p151"/>
          <p:cNvSpPr/>
          <p:nvPr/>
        </p:nvSpPr>
        <p:spPr>
          <a:xfrm>
            <a:off x="1005840" y="2985516"/>
            <a:ext cx="10682935" cy="841248"/>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5F6B7A"/>
              </a:buClr>
              <a:buSzPts val="1150"/>
              <a:buFont typeface="Calibri"/>
              <a:buNone/>
            </a:pPr>
            <a:r>
              <a:rPr b="0" i="0" lang="en-US" sz="1150" u="none" cap="none" strike="noStrike">
                <a:solidFill>
                  <a:srgbClr val="5F6B7A"/>
                </a:solidFill>
                <a:latin typeface="Calibri"/>
                <a:ea typeface="Calibri"/>
                <a:cs typeface="Calibri"/>
                <a:sym typeface="Calibri"/>
              </a:rPr>
              <a:t>Repository URLs + BENCHMARKS.md collected at end of Hour 4, so evaluation-harness results can be verified before demos begin.</a:t>
            </a:r>
            <a:endParaRPr b="0" i="0" sz="1150" u="none" cap="none" strike="noStrike">
              <a:solidFill>
                <a:schemeClr val="dk1"/>
              </a:solidFill>
              <a:latin typeface="Calibri"/>
              <a:ea typeface="Calibri"/>
              <a:cs typeface="Calibri"/>
              <a:sym typeface="Calibri"/>
            </a:endParaRPr>
          </a:p>
        </p:txBody>
      </p:sp>
      <p:sp>
        <p:nvSpPr>
          <p:cNvPr id="4185" name="Google Shape;4185;p151"/>
          <p:cNvSpPr/>
          <p:nvPr/>
        </p:nvSpPr>
        <p:spPr>
          <a:xfrm>
            <a:off x="502920" y="3936492"/>
            <a:ext cx="329184" cy="329184"/>
          </a:xfrm>
          <a:prstGeom prst="ellipse">
            <a:avLst/>
          </a:prstGeom>
          <a:solidFill>
            <a:srgbClr val="F5822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86" name="Google Shape;4186;p151"/>
          <p:cNvSpPr/>
          <p:nvPr/>
        </p:nvSpPr>
        <p:spPr>
          <a:xfrm>
            <a:off x="502920" y="3936492"/>
            <a:ext cx="329184" cy="32918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300"/>
              <a:buFont typeface="Calibri"/>
              <a:buNone/>
            </a:pPr>
            <a:r>
              <a:rPr b="1" i="0" lang="en-US" sz="1300" u="none" cap="none" strike="noStrike">
                <a:solidFill>
                  <a:srgbClr val="FFFFFF"/>
                </a:solidFill>
                <a:latin typeface="Calibri"/>
                <a:ea typeface="Calibri"/>
                <a:cs typeface="Calibri"/>
                <a:sym typeface="Calibri"/>
              </a:rPr>
              <a:t>3</a:t>
            </a:r>
            <a:endParaRPr b="0" i="0" sz="1300" u="none" cap="none" strike="noStrike">
              <a:solidFill>
                <a:schemeClr val="dk1"/>
              </a:solidFill>
              <a:latin typeface="Calibri"/>
              <a:ea typeface="Calibri"/>
              <a:cs typeface="Calibri"/>
              <a:sym typeface="Calibri"/>
            </a:endParaRPr>
          </a:p>
        </p:txBody>
      </p:sp>
      <p:sp>
        <p:nvSpPr>
          <p:cNvPr id="4187" name="Google Shape;4187;p151"/>
          <p:cNvSpPr/>
          <p:nvPr/>
        </p:nvSpPr>
        <p:spPr>
          <a:xfrm>
            <a:off x="1005840" y="3872484"/>
            <a:ext cx="10682935"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D2A5C"/>
              </a:buClr>
              <a:buSzPts val="1400"/>
              <a:buFont typeface="Calibri"/>
              <a:buNone/>
            </a:pPr>
            <a:r>
              <a:rPr b="1" i="0" lang="en-US" sz="1400" u="none" cap="none" strike="noStrike">
                <a:solidFill>
                  <a:srgbClr val="1D2A5C"/>
                </a:solidFill>
                <a:latin typeface="Calibri"/>
                <a:ea typeface="Calibri"/>
                <a:cs typeface="Calibri"/>
                <a:sym typeface="Calibri"/>
              </a:rPr>
              <a:t>One number verified live</a:t>
            </a:r>
            <a:endParaRPr b="0" i="0" sz="1400" u="none" cap="none" strike="noStrike">
              <a:solidFill>
                <a:schemeClr val="dk1"/>
              </a:solidFill>
              <a:latin typeface="Calibri"/>
              <a:ea typeface="Calibri"/>
              <a:cs typeface="Calibri"/>
              <a:sym typeface="Calibri"/>
            </a:endParaRPr>
          </a:p>
        </p:txBody>
      </p:sp>
      <p:sp>
        <p:nvSpPr>
          <p:cNvPr id="4188" name="Google Shape;4188;p151"/>
          <p:cNvSpPr/>
          <p:nvPr/>
        </p:nvSpPr>
        <p:spPr>
          <a:xfrm>
            <a:off x="1005840" y="4174236"/>
            <a:ext cx="10682935" cy="841248"/>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5F6B7A"/>
              </a:buClr>
              <a:buSzPts val="1150"/>
              <a:buFont typeface="Calibri"/>
              <a:buNone/>
            </a:pPr>
            <a:r>
              <a:rPr b="0" i="0" lang="en-US" sz="1150" u="none" cap="none" strike="noStrike">
                <a:solidFill>
                  <a:srgbClr val="5F6B7A"/>
                </a:solidFill>
                <a:latin typeface="Calibri"/>
                <a:ea typeface="Calibri"/>
                <a:cs typeface="Calibri"/>
                <a:sym typeface="Calibri"/>
              </a:rPr>
              <a:t>The instructor re-runs your harness on the frozen split against BENCHMARKS.md; any mismatch triggers a full check.</a:t>
            </a:r>
            <a:endParaRPr b="0" i="0" sz="1150" u="none" cap="none" strike="noStrike">
              <a:solidFill>
                <a:schemeClr val="dk1"/>
              </a:solidFill>
              <a:latin typeface="Calibri"/>
              <a:ea typeface="Calibri"/>
              <a:cs typeface="Calibri"/>
              <a:sym typeface="Calibri"/>
            </a:endParaRPr>
          </a:p>
        </p:txBody>
      </p:sp>
      <p:sp>
        <p:nvSpPr>
          <p:cNvPr id="4189" name="Google Shape;4189;p151"/>
          <p:cNvSpPr/>
          <p:nvPr/>
        </p:nvSpPr>
        <p:spPr>
          <a:xfrm>
            <a:off x="502920" y="5125212"/>
            <a:ext cx="329184" cy="329184"/>
          </a:xfrm>
          <a:prstGeom prst="ellipse">
            <a:avLst/>
          </a:prstGeom>
          <a:solidFill>
            <a:srgbClr val="8DC63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90" name="Google Shape;4190;p151"/>
          <p:cNvSpPr/>
          <p:nvPr/>
        </p:nvSpPr>
        <p:spPr>
          <a:xfrm>
            <a:off x="502920" y="5125212"/>
            <a:ext cx="329184" cy="32918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300"/>
              <a:buFont typeface="Calibri"/>
              <a:buNone/>
            </a:pPr>
            <a:r>
              <a:rPr b="1" i="0" lang="en-US" sz="1300" u="none" cap="none" strike="noStrike">
                <a:solidFill>
                  <a:srgbClr val="FFFFFF"/>
                </a:solidFill>
                <a:latin typeface="Calibri"/>
                <a:ea typeface="Calibri"/>
                <a:cs typeface="Calibri"/>
                <a:sym typeface="Calibri"/>
              </a:rPr>
              <a:t>4</a:t>
            </a:r>
            <a:endParaRPr b="0" i="0" sz="1300" u="none" cap="none" strike="noStrike">
              <a:solidFill>
                <a:schemeClr val="dk1"/>
              </a:solidFill>
              <a:latin typeface="Calibri"/>
              <a:ea typeface="Calibri"/>
              <a:cs typeface="Calibri"/>
              <a:sym typeface="Calibri"/>
            </a:endParaRPr>
          </a:p>
        </p:txBody>
      </p:sp>
      <p:sp>
        <p:nvSpPr>
          <p:cNvPr id="4191" name="Google Shape;4191;p151"/>
          <p:cNvSpPr/>
          <p:nvPr/>
        </p:nvSpPr>
        <p:spPr>
          <a:xfrm>
            <a:off x="1005840" y="5061204"/>
            <a:ext cx="10682935"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D2A5C"/>
              </a:buClr>
              <a:buSzPts val="1400"/>
              <a:buFont typeface="Calibri"/>
              <a:buNone/>
            </a:pPr>
            <a:r>
              <a:rPr b="1" i="0" lang="en-US" sz="1400" u="none" cap="none" strike="noStrike">
                <a:solidFill>
                  <a:srgbClr val="1D2A5C"/>
                </a:solidFill>
                <a:latin typeface="Calibri"/>
                <a:ea typeface="Calibri"/>
                <a:cs typeface="Calibri"/>
                <a:sym typeface="Calibri"/>
              </a:rPr>
              <a:t>Extensions (choose at least one)</a:t>
            </a:r>
            <a:endParaRPr b="0" i="0" sz="1400" u="none" cap="none" strike="noStrike">
              <a:solidFill>
                <a:schemeClr val="dk1"/>
              </a:solidFill>
              <a:latin typeface="Calibri"/>
              <a:ea typeface="Calibri"/>
              <a:cs typeface="Calibri"/>
              <a:sym typeface="Calibri"/>
            </a:endParaRPr>
          </a:p>
        </p:txBody>
      </p:sp>
      <p:sp>
        <p:nvSpPr>
          <p:cNvPr id="4192" name="Google Shape;4192;p151"/>
          <p:cNvSpPr/>
          <p:nvPr/>
        </p:nvSpPr>
        <p:spPr>
          <a:xfrm>
            <a:off x="1005840" y="5362956"/>
            <a:ext cx="10682935" cy="841248"/>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5F6B7A"/>
              </a:buClr>
              <a:buSzPts val="1150"/>
              <a:buFont typeface="Calibri"/>
              <a:buNone/>
            </a:pPr>
            <a:r>
              <a:rPr b="0" i="0" lang="en-US" sz="1150" u="none" cap="none" strike="noStrike">
                <a:solidFill>
                  <a:srgbClr val="5F6B7A"/>
                </a:solidFill>
                <a:latin typeface="Calibri"/>
                <a:ea typeface="Calibri"/>
                <a:cs typeface="Calibri"/>
                <a:sym typeface="Calibri"/>
              </a:rPr>
              <a:t>Live webcam/video demo · active-learning round 3 · Grad-CAM error gallery · 10-min sustained-load benchmark + alert threshold · operating-point auto-tuner.</a:t>
            </a:r>
            <a:endParaRPr b="0" i="0" sz="1150" u="none" cap="none" strike="noStrike">
              <a:solidFill>
                <a:schemeClr val="dk1"/>
              </a:solidFill>
              <a:latin typeface="Calibri"/>
              <a:ea typeface="Calibri"/>
              <a:cs typeface="Calibri"/>
              <a:sym typeface="Calibri"/>
            </a:endParaRPr>
          </a:p>
        </p:txBody>
      </p:sp>
    </p:spTree>
  </p:cSld>
  <p:clrMapOvr>
    <a:masterClrMapping/>
  </p:clrMapOvr>
</p:sld>
</file>

<file path=ppt/slides/slide1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197" name="Shape 4197"/>
        <p:cNvGrpSpPr/>
        <p:nvPr/>
      </p:nvGrpSpPr>
      <p:grpSpPr>
        <a:xfrm>
          <a:off x="0" y="0"/>
          <a:ext cx="0" cy="0"/>
          <a:chOff x="0" y="0"/>
          <a:chExt cx="0" cy="0"/>
        </a:xfrm>
      </p:grpSpPr>
      <p:sp>
        <p:nvSpPr>
          <p:cNvPr id="4198" name="Google Shape;4198;p152"/>
          <p:cNvSpPr/>
          <p:nvPr/>
        </p:nvSpPr>
        <p:spPr>
          <a:xfrm>
            <a:off x="502920" y="274320"/>
            <a:ext cx="9646920" cy="56692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D2A5C"/>
              </a:buClr>
              <a:buSzPts val="2700"/>
              <a:buFont typeface="Calibri"/>
              <a:buNone/>
            </a:pPr>
            <a:r>
              <a:rPr b="1" i="0" lang="en-US" sz="2700" u="none" cap="none" strike="noStrike">
                <a:solidFill>
                  <a:srgbClr val="1D2A5C"/>
                </a:solidFill>
                <a:latin typeface="Calibri"/>
                <a:ea typeface="Calibri"/>
                <a:cs typeface="Calibri"/>
                <a:sym typeface="Calibri"/>
              </a:rPr>
              <a:t>Course grade: components and weights</a:t>
            </a:r>
            <a:endParaRPr b="0" i="0" sz="2700" u="none" cap="none" strike="noStrike">
              <a:solidFill>
                <a:schemeClr val="dk1"/>
              </a:solidFill>
              <a:latin typeface="Calibri"/>
              <a:ea typeface="Calibri"/>
              <a:cs typeface="Calibri"/>
              <a:sym typeface="Calibri"/>
            </a:endParaRPr>
          </a:p>
        </p:txBody>
      </p:sp>
      <p:sp>
        <p:nvSpPr>
          <p:cNvPr id="4199" name="Google Shape;4199;p152"/>
          <p:cNvSpPr/>
          <p:nvPr/>
        </p:nvSpPr>
        <p:spPr>
          <a:xfrm>
            <a:off x="502920" y="859536"/>
            <a:ext cx="9646920" cy="31089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F6B7A"/>
              </a:buClr>
              <a:buSzPts val="1250"/>
              <a:buFont typeface="Arial"/>
              <a:buNone/>
            </a:pPr>
            <a:r>
              <a:rPr b="0" i="0" lang="en-US" sz="1250" u="none" cap="none" strike="noStrike">
                <a:solidFill>
                  <a:srgbClr val="5F6B7A"/>
                </a:solidFill>
                <a:latin typeface="Arial"/>
                <a:ea typeface="Arial"/>
                <a:cs typeface="Arial"/>
                <a:sym typeface="Arial"/>
              </a:rPr>
              <a:t>مكونات الدرجة</a:t>
            </a:r>
            <a:endParaRPr b="0" i="0" sz="1250" u="none" cap="none" strike="noStrike">
              <a:solidFill>
                <a:schemeClr val="dk1"/>
              </a:solidFill>
              <a:latin typeface="Calibri"/>
              <a:ea typeface="Calibri"/>
              <a:cs typeface="Calibri"/>
              <a:sym typeface="Calibri"/>
            </a:endParaRPr>
          </a:p>
        </p:txBody>
      </p:sp>
      <p:pic>
        <p:nvPicPr>
          <p:cNvPr descr="/sessions/blissful-determined-ritchie/build/assets/sdaia_logo.png" id="4200" name="Google Shape;4200;p152"/>
          <p:cNvPicPr preferRelativeResize="0"/>
          <p:nvPr/>
        </p:nvPicPr>
        <p:blipFill rotWithShape="1">
          <a:blip r:embed="rId3">
            <a:alphaModFix/>
          </a:blip>
          <a:srcRect b="0" l="0" r="0" t="0"/>
          <a:stretch/>
        </p:blipFill>
        <p:spPr>
          <a:xfrm>
            <a:off x="10625328" y="310896"/>
            <a:ext cx="1078992" cy="264111"/>
          </a:xfrm>
          <a:prstGeom prst="rect">
            <a:avLst/>
          </a:prstGeom>
          <a:noFill/>
          <a:ln>
            <a:noFill/>
          </a:ln>
        </p:spPr>
      </p:pic>
      <p:sp>
        <p:nvSpPr>
          <p:cNvPr id="4201" name="Google Shape;4201;p152"/>
          <p:cNvSpPr/>
          <p:nvPr/>
        </p:nvSpPr>
        <p:spPr>
          <a:xfrm>
            <a:off x="502920" y="6528816"/>
            <a:ext cx="8686800"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A79D"/>
              </a:buClr>
              <a:buSzPts val="800"/>
              <a:buFont typeface="Calibri"/>
              <a:buNone/>
            </a:pPr>
            <a:r>
              <a:rPr b="1" i="0" lang="en-US" sz="800" u="none" cap="none" strike="noStrike">
                <a:solidFill>
                  <a:srgbClr val="00A79D"/>
                </a:solidFill>
                <a:latin typeface="Calibri"/>
                <a:ea typeface="Calibri"/>
                <a:cs typeface="Calibri"/>
                <a:sym typeface="Calibri"/>
              </a:rPr>
              <a:t>ASSESSMENT   </a:t>
            </a:r>
            <a:r>
              <a:rPr b="0" i="0" lang="en-US" sz="800" u="none" cap="none" strike="noStrike">
                <a:solidFill>
                  <a:srgbClr val="8A96A6"/>
                </a:solidFill>
                <a:latin typeface="Calibri"/>
                <a:ea typeface="Calibri"/>
                <a:cs typeface="Calibri"/>
                <a:sym typeface="Calibri"/>
              </a:rPr>
              <a:t>SDA-AIE-212 · Computer Vision Systems Development</a:t>
            </a:r>
            <a:endParaRPr b="0" i="0" sz="800" u="none" cap="none" strike="noStrike">
              <a:solidFill>
                <a:schemeClr val="dk1"/>
              </a:solidFill>
              <a:latin typeface="Calibri"/>
              <a:ea typeface="Calibri"/>
              <a:cs typeface="Calibri"/>
              <a:sym typeface="Calibri"/>
            </a:endParaRPr>
          </a:p>
        </p:txBody>
      </p:sp>
      <p:sp>
        <p:nvSpPr>
          <p:cNvPr id="4202" name="Google Shape;4202;p152"/>
          <p:cNvSpPr/>
          <p:nvPr/>
        </p:nvSpPr>
        <p:spPr>
          <a:xfrm>
            <a:off x="11292840" y="6528816"/>
            <a:ext cx="411480" cy="219456"/>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8A96A6"/>
              </a:buClr>
              <a:buSzPts val="900"/>
              <a:buFont typeface="Calibri"/>
              <a:buNone/>
            </a:pPr>
            <a:r>
              <a:rPr b="0" i="0" lang="en-US" sz="900" u="none" cap="none" strike="noStrike">
                <a:solidFill>
                  <a:srgbClr val="8A96A6"/>
                </a:solidFill>
                <a:latin typeface="Calibri"/>
                <a:ea typeface="Calibri"/>
                <a:cs typeface="Calibri"/>
                <a:sym typeface="Calibri"/>
              </a:rPr>
              <a:t>152</a:t>
            </a:r>
            <a:endParaRPr b="0" i="0" sz="900" u="none" cap="none" strike="noStrike">
              <a:solidFill>
                <a:schemeClr val="dk1"/>
              </a:solidFill>
              <a:latin typeface="Calibri"/>
              <a:ea typeface="Calibri"/>
              <a:cs typeface="Calibri"/>
              <a:sym typeface="Calibri"/>
            </a:endParaRPr>
          </a:p>
        </p:txBody>
      </p:sp>
      <p:sp>
        <p:nvSpPr>
          <p:cNvPr id="4203" name="Google Shape;4203;p152"/>
          <p:cNvSpPr/>
          <p:nvPr/>
        </p:nvSpPr>
        <p:spPr>
          <a:xfrm>
            <a:off x="502920" y="1389888"/>
            <a:ext cx="11185855" cy="3657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5F6B7A"/>
              </a:buClr>
              <a:buSzPts val="1250"/>
              <a:buFont typeface="Calibri"/>
              <a:buNone/>
            </a:pPr>
            <a:r>
              <a:rPr b="0" i="1" lang="en-US" sz="1250" u="none" cap="none" strike="noStrike">
                <a:solidFill>
                  <a:srgbClr val="5F6B7A"/>
                </a:solidFill>
                <a:latin typeface="Calibri"/>
                <a:ea typeface="Calibri"/>
                <a:cs typeface="Calibri"/>
                <a:sym typeface="Calibri"/>
              </a:rPr>
              <a:t>Vision badge: ≥ 70 overall AND capstone ≥ 70 AND zero integrity flags (identical harness reports across repos are checked).</a:t>
            </a:r>
            <a:endParaRPr b="0" i="0" sz="1250" u="none" cap="none" strike="noStrike">
              <a:solidFill>
                <a:schemeClr val="dk1"/>
              </a:solidFill>
              <a:latin typeface="Calibri"/>
              <a:ea typeface="Calibri"/>
              <a:cs typeface="Calibri"/>
              <a:sym typeface="Calibri"/>
            </a:endParaRPr>
          </a:p>
        </p:txBody>
      </p:sp>
      <p:graphicFrame>
        <p:nvGraphicFramePr>
          <p:cNvPr id="4204" name="Google Shape;4204;p152"/>
          <p:cNvGraphicFramePr/>
          <p:nvPr/>
        </p:nvGraphicFramePr>
        <p:xfrm>
          <a:off x="502920" y="1865376"/>
          <a:ext cx="3000000" cy="3000000"/>
        </p:xfrm>
        <a:graphic>
          <a:graphicData uri="http://schemas.openxmlformats.org/drawingml/2006/table">
            <a:tbl>
              <a:tblPr>
                <a:noFill/>
                <a:tableStyleId>{F80342BA-3033-44D6-9F91-622DC7A4C435}</a:tableStyleId>
              </a:tblPr>
              <a:tblGrid>
                <a:gridCol w="4333750"/>
                <a:gridCol w="1847925"/>
                <a:gridCol w="5004175"/>
              </a:tblGrid>
              <a:tr h="713225">
                <a:tc>
                  <a:txBody>
                    <a:bodyPr/>
                    <a:lstStyle/>
                    <a:p>
                      <a:pPr indent="0" lvl="0" marL="0" marR="0" rtl="0" algn="l">
                        <a:spcBef>
                          <a:spcPts val="0"/>
                        </a:spcBef>
                        <a:spcAft>
                          <a:spcPts val="0"/>
                        </a:spcAft>
                        <a:buClr>
                          <a:srgbClr val="FFFFFF"/>
                        </a:buClr>
                        <a:buSzPts val="1150"/>
                        <a:buFont typeface="Calibri"/>
                        <a:buNone/>
                      </a:pPr>
                      <a:r>
                        <a:rPr b="1" lang="en-US" sz="1150" u="none" cap="none" strike="noStrike">
                          <a:solidFill>
                            <a:srgbClr val="FFFFFF"/>
                          </a:solidFill>
                          <a:latin typeface="Calibri"/>
                          <a:ea typeface="Calibri"/>
                          <a:cs typeface="Calibri"/>
                          <a:sym typeface="Calibri"/>
                        </a:rPr>
                        <a:t>Component</a:t>
                      </a:r>
                      <a:endParaRPr sz="1150" u="none" cap="none" strike="noStrike">
                        <a:latin typeface="Calibri"/>
                        <a:ea typeface="Calibri"/>
                        <a:cs typeface="Calibri"/>
                        <a:sym typeface="Calibri"/>
                      </a:endParaRPr>
                    </a:p>
                  </a:txBody>
                  <a:tcPr marT="64000" marB="64000" marR="64000" marL="64000" anchor="ctr">
                    <a:lnL cap="flat" cmpd="sng" w="9525">
                      <a:solidFill>
                        <a:srgbClr val="D9E2EA"/>
                      </a:solidFill>
                      <a:prstDash val="solid"/>
                      <a:round/>
                      <a:headEnd len="sm" w="sm" type="none"/>
                      <a:tailEnd len="sm" w="sm" type="none"/>
                    </a:lnL>
                    <a:lnR cap="flat" cmpd="sng" w="9525">
                      <a:solidFill>
                        <a:srgbClr val="D9E2EA"/>
                      </a:solidFill>
                      <a:prstDash val="solid"/>
                      <a:round/>
                      <a:headEnd len="sm" w="sm" type="none"/>
                      <a:tailEnd len="sm" w="sm" type="none"/>
                    </a:lnR>
                    <a:lnT cap="flat" cmpd="sng" w="9525">
                      <a:solidFill>
                        <a:srgbClr val="D9E2EA"/>
                      </a:solidFill>
                      <a:prstDash val="solid"/>
                      <a:round/>
                      <a:headEnd len="sm" w="sm" type="none"/>
                      <a:tailEnd len="sm" w="sm" type="none"/>
                    </a:lnT>
                    <a:lnB cap="flat" cmpd="sng" w="9525">
                      <a:solidFill>
                        <a:srgbClr val="D9E2EA"/>
                      </a:solidFill>
                      <a:prstDash val="solid"/>
                      <a:round/>
                      <a:headEnd len="sm" w="sm" type="none"/>
                      <a:tailEnd len="sm" w="sm" type="none"/>
                    </a:lnB>
                    <a:solidFill>
                      <a:srgbClr val="1D2A5C"/>
                    </a:solidFill>
                  </a:tcPr>
                </a:tc>
                <a:tc>
                  <a:txBody>
                    <a:bodyPr/>
                    <a:lstStyle/>
                    <a:p>
                      <a:pPr indent="0" lvl="0" marL="0" marR="0" rtl="0" algn="l">
                        <a:spcBef>
                          <a:spcPts val="0"/>
                        </a:spcBef>
                        <a:spcAft>
                          <a:spcPts val="0"/>
                        </a:spcAft>
                        <a:buClr>
                          <a:srgbClr val="FFFFFF"/>
                        </a:buClr>
                        <a:buSzPts val="1150"/>
                        <a:buFont typeface="Calibri"/>
                        <a:buNone/>
                      </a:pPr>
                      <a:r>
                        <a:rPr b="1" lang="en-US" sz="1150" u="none" cap="none" strike="noStrike">
                          <a:solidFill>
                            <a:srgbClr val="FFFFFF"/>
                          </a:solidFill>
                          <a:latin typeface="Calibri"/>
                          <a:ea typeface="Calibri"/>
                          <a:cs typeface="Calibri"/>
                          <a:sym typeface="Calibri"/>
                        </a:rPr>
                        <a:t>Weight</a:t>
                      </a:r>
                      <a:endParaRPr sz="1150" u="none" cap="none" strike="noStrike">
                        <a:latin typeface="Calibri"/>
                        <a:ea typeface="Calibri"/>
                        <a:cs typeface="Calibri"/>
                        <a:sym typeface="Calibri"/>
                      </a:endParaRPr>
                    </a:p>
                  </a:txBody>
                  <a:tcPr marT="64000" marB="64000" marR="64000" marL="64000" anchor="ctr">
                    <a:lnL cap="flat" cmpd="sng" w="9525">
                      <a:solidFill>
                        <a:srgbClr val="D9E2EA"/>
                      </a:solidFill>
                      <a:prstDash val="solid"/>
                      <a:round/>
                      <a:headEnd len="sm" w="sm" type="none"/>
                      <a:tailEnd len="sm" w="sm" type="none"/>
                    </a:lnL>
                    <a:lnR cap="flat" cmpd="sng" w="9525">
                      <a:solidFill>
                        <a:srgbClr val="D9E2EA"/>
                      </a:solidFill>
                      <a:prstDash val="solid"/>
                      <a:round/>
                      <a:headEnd len="sm" w="sm" type="none"/>
                      <a:tailEnd len="sm" w="sm" type="none"/>
                    </a:lnR>
                    <a:lnT cap="flat" cmpd="sng" w="9525">
                      <a:solidFill>
                        <a:srgbClr val="D9E2EA"/>
                      </a:solidFill>
                      <a:prstDash val="solid"/>
                      <a:round/>
                      <a:headEnd len="sm" w="sm" type="none"/>
                      <a:tailEnd len="sm" w="sm" type="none"/>
                    </a:lnT>
                    <a:lnB cap="flat" cmpd="sng" w="9525">
                      <a:solidFill>
                        <a:srgbClr val="D9E2EA"/>
                      </a:solidFill>
                      <a:prstDash val="solid"/>
                      <a:round/>
                      <a:headEnd len="sm" w="sm" type="none"/>
                      <a:tailEnd len="sm" w="sm" type="none"/>
                    </a:lnB>
                    <a:solidFill>
                      <a:srgbClr val="1D2A5C"/>
                    </a:solidFill>
                  </a:tcPr>
                </a:tc>
                <a:tc>
                  <a:txBody>
                    <a:bodyPr/>
                    <a:lstStyle/>
                    <a:p>
                      <a:pPr indent="0" lvl="0" marL="0" marR="0" rtl="0" algn="l">
                        <a:spcBef>
                          <a:spcPts val="0"/>
                        </a:spcBef>
                        <a:spcAft>
                          <a:spcPts val="0"/>
                        </a:spcAft>
                        <a:buClr>
                          <a:srgbClr val="FFFFFF"/>
                        </a:buClr>
                        <a:buSzPts val="1150"/>
                        <a:buFont typeface="Calibri"/>
                        <a:buNone/>
                      </a:pPr>
                      <a:r>
                        <a:rPr b="1" lang="en-US" sz="1150" u="none" cap="none" strike="noStrike">
                          <a:solidFill>
                            <a:srgbClr val="FFFFFF"/>
                          </a:solidFill>
                          <a:latin typeface="Calibri"/>
                          <a:ea typeface="Calibri"/>
                          <a:cs typeface="Calibri"/>
                          <a:sym typeface="Calibri"/>
                        </a:rPr>
                        <a:t>Evidence</a:t>
                      </a:r>
                      <a:endParaRPr sz="1150" u="none" cap="none" strike="noStrike">
                        <a:latin typeface="Calibri"/>
                        <a:ea typeface="Calibri"/>
                        <a:cs typeface="Calibri"/>
                        <a:sym typeface="Calibri"/>
                      </a:endParaRPr>
                    </a:p>
                  </a:txBody>
                  <a:tcPr marT="64000" marB="64000" marR="64000" marL="64000" anchor="ctr">
                    <a:lnL cap="flat" cmpd="sng" w="9525">
                      <a:solidFill>
                        <a:srgbClr val="D9E2EA"/>
                      </a:solidFill>
                      <a:prstDash val="solid"/>
                      <a:round/>
                      <a:headEnd len="sm" w="sm" type="none"/>
                      <a:tailEnd len="sm" w="sm" type="none"/>
                    </a:lnL>
                    <a:lnR cap="flat" cmpd="sng" w="9525">
                      <a:solidFill>
                        <a:srgbClr val="D9E2EA"/>
                      </a:solidFill>
                      <a:prstDash val="solid"/>
                      <a:round/>
                      <a:headEnd len="sm" w="sm" type="none"/>
                      <a:tailEnd len="sm" w="sm" type="none"/>
                    </a:lnR>
                    <a:lnT cap="flat" cmpd="sng" w="9525">
                      <a:solidFill>
                        <a:srgbClr val="D9E2EA"/>
                      </a:solidFill>
                      <a:prstDash val="solid"/>
                      <a:round/>
                      <a:headEnd len="sm" w="sm" type="none"/>
                      <a:tailEnd len="sm" w="sm" type="none"/>
                    </a:lnT>
                    <a:lnB cap="flat" cmpd="sng" w="9525">
                      <a:solidFill>
                        <a:srgbClr val="D9E2EA"/>
                      </a:solidFill>
                      <a:prstDash val="solid"/>
                      <a:round/>
                      <a:headEnd len="sm" w="sm" type="none"/>
                      <a:tailEnd len="sm" w="sm" type="none"/>
                    </a:lnB>
                    <a:solidFill>
                      <a:srgbClr val="1D2A5C"/>
                    </a:solidFill>
                  </a:tcPr>
                </a:tc>
              </a:tr>
              <a:tr h="713225">
                <a:tc>
                  <a:txBody>
                    <a:bodyPr/>
                    <a:lstStyle/>
                    <a:p>
                      <a:pPr indent="0" lvl="0" marL="0" marR="0" rtl="0" algn="l">
                        <a:spcBef>
                          <a:spcPts val="0"/>
                        </a:spcBef>
                        <a:spcAft>
                          <a:spcPts val="0"/>
                        </a:spcAft>
                        <a:buClr>
                          <a:srgbClr val="1D2A5C"/>
                        </a:buClr>
                        <a:buSzPts val="1150"/>
                        <a:buFont typeface="Calibri"/>
                        <a:buNone/>
                      </a:pPr>
                      <a:r>
                        <a:rPr b="1" lang="en-US" sz="1150" u="none" cap="none" strike="noStrike">
                          <a:solidFill>
                            <a:srgbClr val="1D2A5C"/>
                          </a:solidFill>
                          <a:latin typeface="Calibri"/>
                          <a:ea typeface="Calibri"/>
                          <a:cs typeface="Calibri"/>
                          <a:sym typeface="Calibri"/>
                        </a:rPr>
                        <a:t>Lab completion (7 labs)</a:t>
                      </a:r>
                      <a:endParaRPr sz="1150" u="none" cap="none" strike="noStrike">
                        <a:latin typeface="Calibri"/>
                        <a:ea typeface="Calibri"/>
                        <a:cs typeface="Calibri"/>
                        <a:sym typeface="Calibri"/>
                      </a:endParaRPr>
                    </a:p>
                  </a:txBody>
                  <a:tcPr marT="64000" marB="64000" marR="64000" marL="64000" anchor="ctr">
                    <a:lnL cap="flat" cmpd="sng" w="9525">
                      <a:solidFill>
                        <a:srgbClr val="D9E2EA"/>
                      </a:solidFill>
                      <a:prstDash val="solid"/>
                      <a:round/>
                      <a:headEnd len="sm" w="sm" type="none"/>
                      <a:tailEnd len="sm" w="sm" type="none"/>
                    </a:lnL>
                    <a:lnR cap="flat" cmpd="sng" w="9525">
                      <a:solidFill>
                        <a:srgbClr val="D9E2EA"/>
                      </a:solidFill>
                      <a:prstDash val="solid"/>
                      <a:round/>
                      <a:headEnd len="sm" w="sm" type="none"/>
                      <a:tailEnd len="sm" w="sm" type="none"/>
                    </a:lnR>
                    <a:lnT cap="flat" cmpd="sng" w="9525">
                      <a:solidFill>
                        <a:srgbClr val="D9E2EA"/>
                      </a:solidFill>
                      <a:prstDash val="solid"/>
                      <a:round/>
                      <a:headEnd len="sm" w="sm" type="none"/>
                      <a:tailEnd len="sm" w="sm" type="none"/>
                    </a:lnT>
                    <a:lnB cap="flat" cmpd="sng" w="9525">
                      <a:solidFill>
                        <a:srgbClr val="D9E2EA"/>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23293B"/>
                        </a:buClr>
                        <a:buSzPts val="1150"/>
                        <a:buFont typeface="Calibri"/>
                        <a:buNone/>
                      </a:pPr>
                      <a:r>
                        <a:rPr lang="en-US" sz="1150" u="none" cap="none" strike="noStrike">
                          <a:solidFill>
                            <a:srgbClr val="23293B"/>
                          </a:solidFill>
                          <a:latin typeface="Calibri"/>
                          <a:ea typeface="Calibri"/>
                          <a:cs typeface="Calibri"/>
                          <a:sym typeface="Calibri"/>
                        </a:rPr>
                        <a:t>35%</a:t>
                      </a:r>
                      <a:endParaRPr sz="1150" u="none" cap="none" strike="noStrike">
                        <a:latin typeface="Calibri"/>
                        <a:ea typeface="Calibri"/>
                        <a:cs typeface="Calibri"/>
                        <a:sym typeface="Calibri"/>
                      </a:endParaRPr>
                    </a:p>
                  </a:txBody>
                  <a:tcPr marT="64000" marB="64000" marR="64000" marL="64000" anchor="ctr">
                    <a:lnL cap="flat" cmpd="sng" w="9525">
                      <a:solidFill>
                        <a:srgbClr val="D9E2EA"/>
                      </a:solidFill>
                      <a:prstDash val="solid"/>
                      <a:round/>
                      <a:headEnd len="sm" w="sm" type="none"/>
                      <a:tailEnd len="sm" w="sm" type="none"/>
                    </a:lnL>
                    <a:lnR cap="flat" cmpd="sng" w="9525">
                      <a:solidFill>
                        <a:srgbClr val="D9E2EA"/>
                      </a:solidFill>
                      <a:prstDash val="solid"/>
                      <a:round/>
                      <a:headEnd len="sm" w="sm" type="none"/>
                      <a:tailEnd len="sm" w="sm" type="none"/>
                    </a:lnR>
                    <a:lnT cap="flat" cmpd="sng" w="9525">
                      <a:solidFill>
                        <a:srgbClr val="D9E2EA"/>
                      </a:solidFill>
                      <a:prstDash val="solid"/>
                      <a:round/>
                      <a:headEnd len="sm" w="sm" type="none"/>
                      <a:tailEnd len="sm" w="sm" type="none"/>
                    </a:lnT>
                    <a:lnB cap="flat" cmpd="sng" w="9525">
                      <a:solidFill>
                        <a:srgbClr val="D9E2EA"/>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23293B"/>
                        </a:buClr>
                        <a:buSzPts val="1150"/>
                        <a:buFont typeface="Calibri"/>
                        <a:buNone/>
                      </a:pPr>
                      <a:r>
                        <a:rPr lang="en-US" sz="1150" u="none" cap="none" strike="noStrike">
                          <a:solidFill>
                            <a:srgbClr val="23293B"/>
                          </a:solidFill>
                          <a:latin typeface="Calibri"/>
                          <a:ea typeface="Calibri"/>
                          <a:cs typeface="Calibri"/>
                          <a:sym typeface="Calibri"/>
                        </a:rPr>
                        <a:t>Checkpoint commits + outputs + BENCHMARKS.md</a:t>
                      </a:r>
                      <a:endParaRPr sz="1150" u="none" cap="none" strike="noStrike">
                        <a:latin typeface="Calibri"/>
                        <a:ea typeface="Calibri"/>
                        <a:cs typeface="Calibri"/>
                        <a:sym typeface="Calibri"/>
                      </a:endParaRPr>
                    </a:p>
                  </a:txBody>
                  <a:tcPr marT="64000" marB="64000" marR="64000" marL="64000" anchor="ctr">
                    <a:lnL cap="flat" cmpd="sng" w="9525">
                      <a:solidFill>
                        <a:srgbClr val="D9E2EA"/>
                      </a:solidFill>
                      <a:prstDash val="solid"/>
                      <a:round/>
                      <a:headEnd len="sm" w="sm" type="none"/>
                      <a:tailEnd len="sm" w="sm" type="none"/>
                    </a:lnL>
                    <a:lnR cap="flat" cmpd="sng" w="9525">
                      <a:solidFill>
                        <a:srgbClr val="D9E2EA"/>
                      </a:solidFill>
                      <a:prstDash val="solid"/>
                      <a:round/>
                      <a:headEnd len="sm" w="sm" type="none"/>
                      <a:tailEnd len="sm" w="sm" type="none"/>
                    </a:lnR>
                    <a:lnT cap="flat" cmpd="sng" w="9525">
                      <a:solidFill>
                        <a:srgbClr val="D9E2EA"/>
                      </a:solidFill>
                      <a:prstDash val="solid"/>
                      <a:round/>
                      <a:headEnd len="sm" w="sm" type="none"/>
                      <a:tailEnd len="sm" w="sm" type="none"/>
                    </a:lnT>
                    <a:lnB cap="flat" cmpd="sng" w="9525">
                      <a:solidFill>
                        <a:srgbClr val="D9E2EA"/>
                      </a:solidFill>
                      <a:prstDash val="solid"/>
                      <a:round/>
                      <a:headEnd len="sm" w="sm" type="none"/>
                      <a:tailEnd len="sm" w="sm" type="none"/>
                    </a:lnB>
                    <a:solidFill>
                      <a:srgbClr val="FFFFFF"/>
                    </a:solidFill>
                  </a:tcPr>
                </a:tc>
              </a:tr>
              <a:tr h="713225">
                <a:tc>
                  <a:txBody>
                    <a:bodyPr/>
                    <a:lstStyle/>
                    <a:p>
                      <a:pPr indent="0" lvl="0" marL="0" marR="0" rtl="0" algn="l">
                        <a:spcBef>
                          <a:spcPts val="0"/>
                        </a:spcBef>
                        <a:spcAft>
                          <a:spcPts val="0"/>
                        </a:spcAft>
                        <a:buClr>
                          <a:srgbClr val="1D2A5C"/>
                        </a:buClr>
                        <a:buSzPts val="1150"/>
                        <a:buFont typeface="Calibri"/>
                        <a:buNone/>
                      </a:pPr>
                      <a:r>
                        <a:rPr b="1" lang="en-US" sz="1150" u="none" cap="none" strike="noStrike">
                          <a:solidFill>
                            <a:srgbClr val="1D2A5C"/>
                          </a:solidFill>
                          <a:latin typeface="Calibri"/>
                          <a:ea typeface="Calibri"/>
                          <a:cs typeface="Calibri"/>
                          <a:sym typeface="Calibri"/>
                        </a:rPr>
                        <a:t>PA-1 + PA-2 practicals</a:t>
                      </a:r>
                      <a:endParaRPr sz="1150" u="none" cap="none" strike="noStrike">
                        <a:latin typeface="Calibri"/>
                        <a:ea typeface="Calibri"/>
                        <a:cs typeface="Calibri"/>
                        <a:sym typeface="Calibri"/>
                      </a:endParaRPr>
                    </a:p>
                  </a:txBody>
                  <a:tcPr marT="64000" marB="64000" marR="64000" marL="64000" anchor="ctr">
                    <a:lnL cap="flat" cmpd="sng" w="9525">
                      <a:solidFill>
                        <a:srgbClr val="D9E2EA"/>
                      </a:solidFill>
                      <a:prstDash val="solid"/>
                      <a:round/>
                      <a:headEnd len="sm" w="sm" type="none"/>
                      <a:tailEnd len="sm" w="sm" type="none"/>
                    </a:lnL>
                    <a:lnR cap="flat" cmpd="sng" w="9525">
                      <a:solidFill>
                        <a:srgbClr val="D9E2EA"/>
                      </a:solidFill>
                      <a:prstDash val="solid"/>
                      <a:round/>
                      <a:headEnd len="sm" w="sm" type="none"/>
                      <a:tailEnd len="sm" w="sm" type="none"/>
                    </a:lnR>
                    <a:lnT cap="flat" cmpd="sng" w="9525">
                      <a:solidFill>
                        <a:srgbClr val="D9E2EA"/>
                      </a:solidFill>
                      <a:prstDash val="solid"/>
                      <a:round/>
                      <a:headEnd len="sm" w="sm" type="none"/>
                      <a:tailEnd len="sm" w="sm" type="none"/>
                    </a:lnT>
                    <a:lnB cap="flat" cmpd="sng" w="9525">
                      <a:solidFill>
                        <a:srgbClr val="D9E2EA"/>
                      </a:solidFill>
                      <a:prstDash val="solid"/>
                      <a:round/>
                      <a:headEnd len="sm" w="sm" type="none"/>
                      <a:tailEnd len="sm" w="sm" type="none"/>
                    </a:lnB>
                    <a:solidFill>
                      <a:srgbClr val="F2F6F9"/>
                    </a:solidFill>
                  </a:tcPr>
                </a:tc>
                <a:tc>
                  <a:txBody>
                    <a:bodyPr/>
                    <a:lstStyle/>
                    <a:p>
                      <a:pPr indent="0" lvl="0" marL="0" marR="0" rtl="0" algn="l">
                        <a:spcBef>
                          <a:spcPts val="0"/>
                        </a:spcBef>
                        <a:spcAft>
                          <a:spcPts val="0"/>
                        </a:spcAft>
                        <a:buClr>
                          <a:srgbClr val="23293B"/>
                        </a:buClr>
                        <a:buSzPts val="1150"/>
                        <a:buFont typeface="Calibri"/>
                        <a:buNone/>
                      </a:pPr>
                      <a:r>
                        <a:rPr lang="en-US" sz="1150" u="none" cap="none" strike="noStrike">
                          <a:solidFill>
                            <a:srgbClr val="23293B"/>
                          </a:solidFill>
                          <a:latin typeface="Calibri"/>
                          <a:ea typeface="Calibri"/>
                          <a:cs typeface="Calibri"/>
                          <a:sym typeface="Calibri"/>
                        </a:rPr>
                        <a:t>15%</a:t>
                      </a:r>
                      <a:endParaRPr sz="1150" u="none" cap="none" strike="noStrike">
                        <a:latin typeface="Calibri"/>
                        <a:ea typeface="Calibri"/>
                        <a:cs typeface="Calibri"/>
                        <a:sym typeface="Calibri"/>
                      </a:endParaRPr>
                    </a:p>
                  </a:txBody>
                  <a:tcPr marT="64000" marB="64000" marR="64000" marL="64000" anchor="ctr">
                    <a:lnL cap="flat" cmpd="sng" w="9525">
                      <a:solidFill>
                        <a:srgbClr val="D9E2EA"/>
                      </a:solidFill>
                      <a:prstDash val="solid"/>
                      <a:round/>
                      <a:headEnd len="sm" w="sm" type="none"/>
                      <a:tailEnd len="sm" w="sm" type="none"/>
                    </a:lnL>
                    <a:lnR cap="flat" cmpd="sng" w="9525">
                      <a:solidFill>
                        <a:srgbClr val="D9E2EA"/>
                      </a:solidFill>
                      <a:prstDash val="solid"/>
                      <a:round/>
                      <a:headEnd len="sm" w="sm" type="none"/>
                      <a:tailEnd len="sm" w="sm" type="none"/>
                    </a:lnR>
                    <a:lnT cap="flat" cmpd="sng" w="9525">
                      <a:solidFill>
                        <a:srgbClr val="D9E2EA"/>
                      </a:solidFill>
                      <a:prstDash val="solid"/>
                      <a:round/>
                      <a:headEnd len="sm" w="sm" type="none"/>
                      <a:tailEnd len="sm" w="sm" type="none"/>
                    </a:lnT>
                    <a:lnB cap="flat" cmpd="sng" w="9525">
                      <a:solidFill>
                        <a:srgbClr val="D9E2EA"/>
                      </a:solidFill>
                      <a:prstDash val="solid"/>
                      <a:round/>
                      <a:headEnd len="sm" w="sm" type="none"/>
                      <a:tailEnd len="sm" w="sm" type="none"/>
                    </a:lnB>
                    <a:solidFill>
                      <a:srgbClr val="F2F6F9"/>
                    </a:solidFill>
                  </a:tcPr>
                </a:tc>
                <a:tc>
                  <a:txBody>
                    <a:bodyPr/>
                    <a:lstStyle/>
                    <a:p>
                      <a:pPr indent="0" lvl="0" marL="0" marR="0" rtl="0" algn="l">
                        <a:spcBef>
                          <a:spcPts val="0"/>
                        </a:spcBef>
                        <a:spcAft>
                          <a:spcPts val="0"/>
                        </a:spcAft>
                        <a:buClr>
                          <a:srgbClr val="23293B"/>
                        </a:buClr>
                        <a:buSzPts val="1150"/>
                        <a:buFont typeface="Calibri"/>
                        <a:buNone/>
                      </a:pPr>
                      <a:r>
                        <a:rPr lang="en-US" sz="1150" u="none" cap="none" strike="noStrike">
                          <a:solidFill>
                            <a:srgbClr val="23293B"/>
                          </a:solidFill>
                          <a:latin typeface="Calibri"/>
                          <a:ea typeface="Calibri"/>
                          <a:cs typeface="Calibri"/>
                          <a:sym typeface="Calibri"/>
                        </a:rPr>
                        <a:t>Artefacts + diagnosis notes</a:t>
                      </a:r>
                      <a:endParaRPr sz="1150" u="none" cap="none" strike="noStrike">
                        <a:latin typeface="Calibri"/>
                        <a:ea typeface="Calibri"/>
                        <a:cs typeface="Calibri"/>
                        <a:sym typeface="Calibri"/>
                      </a:endParaRPr>
                    </a:p>
                  </a:txBody>
                  <a:tcPr marT="64000" marB="64000" marR="64000" marL="64000" anchor="ctr">
                    <a:lnL cap="flat" cmpd="sng" w="9525">
                      <a:solidFill>
                        <a:srgbClr val="D9E2EA"/>
                      </a:solidFill>
                      <a:prstDash val="solid"/>
                      <a:round/>
                      <a:headEnd len="sm" w="sm" type="none"/>
                      <a:tailEnd len="sm" w="sm" type="none"/>
                    </a:lnL>
                    <a:lnR cap="flat" cmpd="sng" w="9525">
                      <a:solidFill>
                        <a:srgbClr val="D9E2EA"/>
                      </a:solidFill>
                      <a:prstDash val="solid"/>
                      <a:round/>
                      <a:headEnd len="sm" w="sm" type="none"/>
                      <a:tailEnd len="sm" w="sm" type="none"/>
                    </a:lnR>
                    <a:lnT cap="flat" cmpd="sng" w="9525">
                      <a:solidFill>
                        <a:srgbClr val="D9E2EA"/>
                      </a:solidFill>
                      <a:prstDash val="solid"/>
                      <a:round/>
                      <a:headEnd len="sm" w="sm" type="none"/>
                      <a:tailEnd len="sm" w="sm" type="none"/>
                    </a:lnT>
                    <a:lnB cap="flat" cmpd="sng" w="9525">
                      <a:solidFill>
                        <a:srgbClr val="D9E2EA"/>
                      </a:solidFill>
                      <a:prstDash val="solid"/>
                      <a:round/>
                      <a:headEnd len="sm" w="sm" type="none"/>
                      <a:tailEnd len="sm" w="sm" type="none"/>
                    </a:lnB>
                    <a:solidFill>
                      <a:srgbClr val="F2F6F9"/>
                    </a:solidFill>
                  </a:tcPr>
                </a:tc>
              </a:tr>
              <a:tr h="713225">
                <a:tc>
                  <a:txBody>
                    <a:bodyPr/>
                    <a:lstStyle/>
                    <a:p>
                      <a:pPr indent="0" lvl="0" marL="0" marR="0" rtl="0" algn="l">
                        <a:spcBef>
                          <a:spcPts val="0"/>
                        </a:spcBef>
                        <a:spcAft>
                          <a:spcPts val="0"/>
                        </a:spcAft>
                        <a:buClr>
                          <a:srgbClr val="1D2A5C"/>
                        </a:buClr>
                        <a:buSzPts val="1150"/>
                        <a:buFont typeface="Calibri"/>
                        <a:buNone/>
                      </a:pPr>
                      <a:r>
                        <a:rPr b="1" lang="en-US" sz="1150" u="none" cap="none" strike="noStrike">
                          <a:solidFill>
                            <a:srgbClr val="1D2A5C"/>
                          </a:solidFill>
                          <a:latin typeface="Calibri"/>
                          <a:ea typeface="Calibri"/>
                          <a:cs typeface="Calibri"/>
                          <a:sym typeface="Calibri"/>
                        </a:rPr>
                        <a:t>Quiz (10 of the 20-question bank)</a:t>
                      </a:r>
                      <a:endParaRPr sz="1150" u="none" cap="none" strike="noStrike">
                        <a:latin typeface="Calibri"/>
                        <a:ea typeface="Calibri"/>
                        <a:cs typeface="Calibri"/>
                        <a:sym typeface="Calibri"/>
                      </a:endParaRPr>
                    </a:p>
                  </a:txBody>
                  <a:tcPr marT="64000" marB="64000" marR="64000" marL="64000" anchor="ctr">
                    <a:lnL cap="flat" cmpd="sng" w="9525">
                      <a:solidFill>
                        <a:srgbClr val="D9E2EA"/>
                      </a:solidFill>
                      <a:prstDash val="solid"/>
                      <a:round/>
                      <a:headEnd len="sm" w="sm" type="none"/>
                      <a:tailEnd len="sm" w="sm" type="none"/>
                    </a:lnL>
                    <a:lnR cap="flat" cmpd="sng" w="9525">
                      <a:solidFill>
                        <a:srgbClr val="D9E2EA"/>
                      </a:solidFill>
                      <a:prstDash val="solid"/>
                      <a:round/>
                      <a:headEnd len="sm" w="sm" type="none"/>
                      <a:tailEnd len="sm" w="sm" type="none"/>
                    </a:lnR>
                    <a:lnT cap="flat" cmpd="sng" w="9525">
                      <a:solidFill>
                        <a:srgbClr val="D9E2EA"/>
                      </a:solidFill>
                      <a:prstDash val="solid"/>
                      <a:round/>
                      <a:headEnd len="sm" w="sm" type="none"/>
                      <a:tailEnd len="sm" w="sm" type="none"/>
                    </a:lnT>
                    <a:lnB cap="flat" cmpd="sng" w="9525">
                      <a:solidFill>
                        <a:srgbClr val="D9E2EA"/>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23293B"/>
                        </a:buClr>
                        <a:buSzPts val="1150"/>
                        <a:buFont typeface="Calibri"/>
                        <a:buNone/>
                      </a:pPr>
                      <a:r>
                        <a:rPr lang="en-US" sz="1150" u="none" cap="none" strike="noStrike">
                          <a:solidFill>
                            <a:srgbClr val="23293B"/>
                          </a:solidFill>
                          <a:latin typeface="Calibri"/>
                          <a:ea typeface="Calibri"/>
                          <a:cs typeface="Calibri"/>
                          <a:sym typeface="Calibri"/>
                        </a:rPr>
                        <a:t>10%</a:t>
                      </a:r>
                      <a:endParaRPr sz="1150" u="none" cap="none" strike="noStrike">
                        <a:latin typeface="Calibri"/>
                        <a:ea typeface="Calibri"/>
                        <a:cs typeface="Calibri"/>
                        <a:sym typeface="Calibri"/>
                      </a:endParaRPr>
                    </a:p>
                  </a:txBody>
                  <a:tcPr marT="64000" marB="64000" marR="64000" marL="64000" anchor="ctr">
                    <a:lnL cap="flat" cmpd="sng" w="9525">
                      <a:solidFill>
                        <a:srgbClr val="D9E2EA"/>
                      </a:solidFill>
                      <a:prstDash val="solid"/>
                      <a:round/>
                      <a:headEnd len="sm" w="sm" type="none"/>
                      <a:tailEnd len="sm" w="sm" type="none"/>
                    </a:lnL>
                    <a:lnR cap="flat" cmpd="sng" w="9525">
                      <a:solidFill>
                        <a:srgbClr val="D9E2EA"/>
                      </a:solidFill>
                      <a:prstDash val="solid"/>
                      <a:round/>
                      <a:headEnd len="sm" w="sm" type="none"/>
                      <a:tailEnd len="sm" w="sm" type="none"/>
                    </a:lnR>
                    <a:lnT cap="flat" cmpd="sng" w="9525">
                      <a:solidFill>
                        <a:srgbClr val="D9E2EA"/>
                      </a:solidFill>
                      <a:prstDash val="solid"/>
                      <a:round/>
                      <a:headEnd len="sm" w="sm" type="none"/>
                      <a:tailEnd len="sm" w="sm" type="none"/>
                    </a:lnT>
                    <a:lnB cap="flat" cmpd="sng" w="9525">
                      <a:solidFill>
                        <a:srgbClr val="D9E2EA"/>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23293B"/>
                        </a:buClr>
                        <a:buSzPts val="1150"/>
                        <a:buFont typeface="Calibri"/>
                        <a:buNone/>
                      </a:pPr>
                      <a:r>
                        <a:rPr lang="en-US" sz="1150" u="none" cap="none" strike="noStrike">
                          <a:solidFill>
                            <a:srgbClr val="23293B"/>
                          </a:solidFill>
                          <a:latin typeface="Calibri"/>
                          <a:ea typeface="Calibri"/>
                          <a:cs typeface="Calibri"/>
                          <a:sym typeface="Calibri"/>
                        </a:rPr>
                        <a:t>15 min, closed book</a:t>
                      </a:r>
                      <a:endParaRPr sz="1150" u="none" cap="none" strike="noStrike">
                        <a:latin typeface="Calibri"/>
                        <a:ea typeface="Calibri"/>
                        <a:cs typeface="Calibri"/>
                        <a:sym typeface="Calibri"/>
                      </a:endParaRPr>
                    </a:p>
                  </a:txBody>
                  <a:tcPr marT="64000" marB="64000" marR="64000" marL="64000" anchor="ctr">
                    <a:lnL cap="flat" cmpd="sng" w="9525">
                      <a:solidFill>
                        <a:srgbClr val="D9E2EA"/>
                      </a:solidFill>
                      <a:prstDash val="solid"/>
                      <a:round/>
                      <a:headEnd len="sm" w="sm" type="none"/>
                      <a:tailEnd len="sm" w="sm" type="none"/>
                    </a:lnL>
                    <a:lnR cap="flat" cmpd="sng" w="9525">
                      <a:solidFill>
                        <a:srgbClr val="D9E2EA"/>
                      </a:solidFill>
                      <a:prstDash val="solid"/>
                      <a:round/>
                      <a:headEnd len="sm" w="sm" type="none"/>
                      <a:tailEnd len="sm" w="sm" type="none"/>
                    </a:lnR>
                    <a:lnT cap="flat" cmpd="sng" w="9525">
                      <a:solidFill>
                        <a:srgbClr val="D9E2EA"/>
                      </a:solidFill>
                      <a:prstDash val="solid"/>
                      <a:round/>
                      <a:headEnd len="sm" w="sm" type="none"/>
                      <a:tailEnd len="sm" w="sm" type="none"/>
                    </a:lnT>
                    <a:lnB cap="flat" cmpd="sng" w="9525">
                      <a:solidFill>
                        <a:srgbClr val="D9E2EA"/>
                      </a:solidFill>
                      <a:prstDash val="solid"/>
                      <a:round/>
                      <a:headEnd len="sm" w="sm" type="none"/>
                      <a:tailEnd len="sm" w="sm" type="none"/>
                    </a:lnB>
                    <a:solidFill>
                      <a:srgbClr val="FFFFFF"/>
                    </a:solidFill>
                  </a:tcPr>
                </a:tc>
              </a:tr>
              <a:tr h="713225">
                <a:tc>
                  <a:txBody>
                    <a:bodyPr/>
                    <a:lstStyle/>
                    <a:p>
                      <a:pPr indent="0" lvl="0" marL="0" marR="0" rtl="0" algn="l">
                        <a:spcBef>
                          <a:spcPts val="0"/>
                        </a:spcBef>
                        <a:spcAft>
                          <a:spcPts val="0"/>
                        </a:spcAft>
                        <a:buClr>
                          <a:srgbClr val="1D2A5C"/>
                        </a:buClr>
                        <a:buSzPts val="1150"/>
                        <a:buFont typeface="Calibri"/>
                        <a:buNone/>
                      </a:pPr>
                      <a:r>
                        <a:rPr b="1" lang="en-US" sz="1150" u="none" cap="none" strike="noStrike">
                          <a:solidFill>
                            <a:srgbClr val="1D2A5C"/>
                          </a:solidFill>
                          <a:latin typeface="Calibri"/>
                          <a:ea typeface="Calibri"/>
                          <a:cs typeface="Calibri"/>
                          <a:sym typeface="Calibri"/>
                        </a:rPr>
                        <a:t>Vision-system project (capstone)</a:t>
                      </a:r>
                      <a:endParaRPr sz="1150" u="none" cap="none" strike="noStrike">
                        <a:latin typeface="Calibri"/>
                        <a:ea typeface="Calibri"/>
                        <a:cs typeface="Calibri"/>
                        <a:sym typeface="Calibri"/>
                      </a:endParaRPr>
                    </a:p>
                  </a:txBody>
                  <a:tcPr marT="64000" marB="64000" marR="64000" marL="64000" anchor="ctr">
                    <a:lnL cap="flat" cmpd="sng" w="9525">
                      <a:solidFill>
                        <a:srgbClr val="D9E2EA"/>
                      </a:solidFill>
                      <a:prstDash val="solid"/>
                      <a:round/>
                      <a:headEnd len="sm" w="sm" type="none"/>
                      <a:tailEnd len="sm" w="sm" type="none"/>
                    </a:lnL>
                    <a:lnR cap="flat" cmpd="sng" w="9525">
                      <a:solidFill>
                        <a:srgbClr val="D9E2EA"/>
                      </a:solidFill>
                      <a:prstDash val="solid"/>
                      <a:round/>
                      <a:headEnd len="sm" w="sm" type="none"/>
                      <a:tailEnd len="sm" w="sm" type="none"/>
                    </a:lnR>
                    <a:lnT cap="flat" cmpd="sng" w="9525">
                      <a:solidFill>
                        <a:srgbClr val="D9E2EA"/>
                      </a:solidFill>
                      <a:prstDash val="solid"/>
                      <a:round/>
                      <a:headEnd len="sm" w="sm" type="none"/>
                      <a:tailEnd len="sm" w="sm" type="none"/>
                    </a:lnT>
                    <a:lnB cap="flat" cmpd="sng" w="9525">
                      <a:solidFill>
                        <a:srgbClr val="D9E2EA"/>
                      </a:solidFill>
                      <a:prstDash val="solid"/>
                      <a:round/>
                      <a:headEnd len="sm" w="sm" type="none"/>
                      <a:tailEnd len="sm" w="sm" type="none"/>
                    </a:lnB>
                    <a:solidFill>
                      <a:srgbClr val="F2F6F9"/>
                    </a:solidFill>
                  </a:tcPr>
                </a:tc>
                <a:tc>
                  <a:txBody>
                    <a:bodyPr/>
                    <a:lstStyle/>
                    <a:p>
                      <a:pPr indent="0" lvl="0" marL="0" marR="0" rtl="0" algn="l">
                        <a:spcBef>
                          <a:spcPts val="0"/>
                        </a:spcBef>
                        <a:spcAft>
                          <a:spcPts val="0"/>
                        </a:spcAft>
                        <a:buClr>
                          <a:srgbClr val="23293B"/>
                        </a:buClr>
                        <a:buSzPts val="1150"/>
                        <a:buFont typeface="Calibri"/>
                        <a:buNone/>
                      </a:pPr>
                      <a:r>
                        <a:rPr lang="en-US" sz="1150" u="none" cap="none" strike="noStrike">
                          <a:solidFill>
                            <a:srgbClr val="23293B"/>
                          </a:solidFill>
                          <a:latin typeface="Calibri"/>
                          <a:ea typeface="Calibri"/>
                          <a:cs typeface="Calibri"/>
                          <a:sym typeface="Calibri"/>
                        </a:rPr>
                        <a:t>40%</a:t>
                      </a:r>
                      <a:endParaRPr sz="1150" u="none" cap="none" strike="noStrike">
                        <a:latin typeface="Calibri"/>
                        <a:ea typeface="Calibri"/>
                        <a:cs typeface="Calibri"/>
                        <a:sym typeface="Calibri"/>
                      </a:endParaRPr>
                    </a:p>
                  </a:txBody>
                  <a:tcPr marT="64000" marB="64000" marR="64000" marL="64000" anchor="ctr">
                    <a:lnL cap="flat" cmpd="sng" w="9525">
                      <a:solidFill>
                        <a:srgbClr val="D9E2EA"/>
                      </a:solidFill>
                      <a:prstDash val="solid"/>
                      <a:round/>
                      <a:headEnd len="sm" w="sm" type="none"/>
                      <a:tailEnd len="sm" w="sm" type="none"/>
                    </a:lnL>
                    <a:lnR cap="flat" cmpd="sng" w="9525">
                      <a:solidFill>
                        <a:srgbClr val="D9E2EA"/>
                      </a:solidFill>
                      <a:prstDash val="solid"/>
                      <a:round/>
                      <a:headEnd len="sm" w="sm" type="none"/>
                      <a:tailEnd len="sm" w="sm" type="none"/>
                    </a:lnR>
                    <a:lnT cap="flat" cmpd="sng" w="9525">
                      <a:solidFill>
                        <a:srgbClr val="D9E2EA"/>
                      </a:solidFill>
                      <a:prstDash val="solid"/>
                      <a:round/>
                      <a:headEnd len="sm" w="sm" type="none"/>
                      <a:tailEnd len="sm" w="sm" type="none"/>
                    </a:lnT>
                    <a:lnB cap="flat" cmpd="sng" w="9525">
                      <a:solidFill>
                        <a:srgbClr val="D9E2EA"/>
                      </a:solidFill>
                      <a:prstDash val="solid"/>
                      <a:round/>
                      <a:headEnd len="sm" w="sm" type="none"/>
                      <a:tailEnd len="sm" w="sm" type="none"/>
                    </a:lnB>
                    <a:solidFill>
                      <a:srgbClr val="F2F6F9"/>
                    </a:solidFill>
                  </a:tcPr>
                </a:tc>
                <a:tc>
                  <a:txBody>
                    <a:bodyPr/>
                    <a:lstStyle/>
                    <a:p>
                      <a:pPr indent="0" lvl="0" marL="0" marR="0" rtl="0" algn="l">
                        <a:spcBef>
                          <a:spcPts val="0"/>
                        </a:spcBef>
                        <a:spcAft>
                          <a:spcPts val="0"/>
                        </a:spcAft>
                        <a:buClr>
                          <a:srgbClr val="23293B"/>
                        </a:buClr>
                        <a:buSzPts val="1150"/>
                        <a:buFont typeface="Calibri"/>
                        <a:buNone/>
                      </a:pPr>
                      <a:r>
                        <a:rPr lang="en-US" sz="1150" u="none" cap="none" strike="noStrike">
                          <a:solidFill>
                            <a:srgbClr val="23293B"/>
                          </a:solidFill>
                          <a:latin typeface="Calibri"/>
                          <a:ea typeface="Calibri"/>
                          <a:cs typeface="Calibri"/>
                          <a:sym typeface="Calibri"/>
                        </a:rPr>
                        <a:t>Rubric — repository-and-harness first</a:t>
                      </a:r>
                      <a:endParaRPr sz="1150" u="none" cap="none" strike="noStrike">
                        <a:latin typeface="Calibri"/>
                        <a:ea typeface="Calibri"/>
                        <a:cs typeface="Calibri"/>
                        <a:sym typeface="Calibri"/>
                      </a:endParaRPr>
                    </a:p>
                  </a:txBody>
                  <a:tcPr marT="64000" marB="64000" marR="64000" marL="64000" anchor="ctr">
                    <a:lnL cap="flat" cmpd="sng" w="9525">
                      <a:solidFill>
                        <a:srgbClr val="D9E2EA"/>
                      </a:solidFill>
                      <a:prstDash val="solid"/>
                      <a:round/>
                      <a:headEnd len="sm" w="sm" type="none"/>
                      <a:tailEnd len="sm" w="sm" type="none"/>
                    </a:lnL>
                    <a:lnR cap="flat" cmpd="sng" w="9525">
                      <a:solidFill>
                        <a:srgbClr val="D9E2EA"/>
                      </a:solidFill>
                      <a:prstDash val="solid"/>
                      <a:round/>
                      <a:headEnd len="sm" w="sm" type="none"/>
                      <a:tailEnd len="sm" w="sm" type="none"/>
                    </a:lnR>
                    <a:lnT cap="flat" cmpd="sng" w="9525">
                      <a:solidFill>
                        <a:srgbClr val="D9E2EA"/>
                      </a:solidFill>
                      <a:prstDash val="solid"/>
                      <a:round/>
                      <a:headEnd len="sm" w="sm" type="none"/>
                      <a:tailEnd len="sm" w="sm" type="none"/>
                    </a:lnT>
                    <a:lnB cap="flat" cmpd="sng" w="9525">
                      <a:solidFill>
                        <a:srgbClr val="D9E2EA"/>
                      </a:solidFill>
                      <a:prstDash val="solid"/>
                      <a:round/>
                      <a:headEnd len="sm" w="sm" type="none"/>
                      <a:tailEnd len="sm" w="sm" type="none"/>
                    </a:lnB>
                    <a:solidFill>
                      <a:srgbClr val="F2F6F9"/>
                    </a:solidFill>
                  </a:tcPr>
                </a:tc>
              </a:tr>
            </a:tbl>
          </a:graphicData>
        </a:graphic>
      </p:graphicFrame>
    </p:spTree>
  </p:cSld>
  <p:clrMapOvr>
    <a:masterClrMapping/>
  </p:clrMapOvr>
</p:sld>
</file>

<file path=ppt/slides/slide1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209" name="Shape 4209"/>
        <p:cNvGrpSpPr/>
        <p:nvPr/>
      </p:nvGrpSpPr>
      <p:grpSpPr>
        <a:xfrm>
          <a:off x="0" y="0"/>
          <a:ext cx="0" cy="0"/>
          <a:chOff x="0" y="0"/>
          <a:chExt cx="0" cy="0"/>
        </a:xfrm>
      </p:grpSpPr>
      <p:sp>
        <p:nvSpPr>
          <p:cNvPr id="4210" name="Google Shape;4210;p153"/>
          <p:cNvSpPr/>
          <p:nvPr/>
        </p:nvSpPr>
        <p:spPr>
          <a:xfrm>
            <a:off x="502920" y="274320"/>
            <a:ext cx="9646920" cy="56692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D2A5C"/>
              </a:buClr>
              <a:buSzPts val="2700"/>
              <a:buFont typeface="Calibri"/>
              <a:buNone/>
            </a:pPr>
            <a:r>
              <a:rPr b="1" i="0" lang="en-US" sz="2700" u="none" cap="none" strike="noStrike">
                <a:solidFill>
                  <a:srgbClr val="1D2A5C"/>
                </a:solidFill>
                <a:latin typeface="Calibri"/>
                <a:ea typeface="Calibri"/>
                <a:cs typeface="Calibri"/>
                <a:sym typeface="Calibri"/>
              </a:rPr>
              <a:t>The two practical assessments</a:t>
            </a:r>
            <a:endParaRPr b="0" i="0" sz="2700" u="none" cap="none" strike="noStrike">
              <a:solidFill>
                <a:schemeClr val="dk1"/>
              </a:solidFill>
              <a:latin typeface="Calibri"/>
              <a:ea typeface="Calibri"/>
              <a:cs typeface="Calibri"/>
              <a:sym typeface="Calibri"/>
            </a:endParaRPr>
          </a:p>
        </p:txBody>
      </p:sp>
      <p:sp>
        <p:nvSpPr>
          <p:cNvPr id="4211" name="Google Shape;4211;p153"/>
          <p:cNvSpPr/>
          <p:nvPr/>
        </p:nvSpPr>
        <p:spPr>
          <a:xfrm>
            <a:off x="502920" y="859536"/>
            <a:ext cx="9646920" cy="31089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F6B7A"/>
              </a:buClr>
              <a:buSzPts val="1250"/>
              <a:buFont typeface="Arial"/>
              <a:buNone/>
            </a:pPr>
            <a:r>
              <a:rPr b="0" i="0" lang="en-US" sz="1250" u="none" cap="none" strike="noStrike">
                <a:solidFill>
                  <a:srgbClr val="5F6B7A"/>
                </a:solidFill>
                <a:latin typeface="Arial"/>
                <a:ea typeface="Arial"/>
                <a:cs typeface="Arial"/>
                <a:sym typeface="Arial"/>
              </a:rPr>
              <a:t>التقييمات العملية</a:t>
            </a:r>
            <a:endParaRPr b="0" i="0" sz="1250" u="none" cap="none" strike="noStrike">
              <a:solidFill>
                <a:schemeClr val="dk1"/>
              </a:solidFill>
              <a:latin typeface="Calibri"/>
              <a:ea typeface="Calibri"/>
              <a:cs typeface="Calibri"/>
              <a:sym typeface="Calibri"/>
            </a:endParaRPr>
          </a:p>
        </p:txBody>
      </p:sp>
      <p:pic>
        <p:nvPicPr>
          <p:cNvPr descr="/sessions/blissful-determined-ritchie/build/assets/sdaia_logo.png" id="4212" name="Google Shape;4212;p153"/>
          <p:cNvPicPr preferRelativeResize="0"/>
          <p:nvPr/>
        </p:nvPicPr>
        <p:blipFill rotWithShape="1">
          <a:blip r:embed="rId3">
            <a:alphaModFix/>
          </a:blip>
          <a:srcRect b="0" l="0" r="0" t="0"/>
          <a:stretch/>
        </p:blipFill>
        <p:spPr>
          <a:xfrm>
            <a:off x="10625328" y="310896"/>
            <a:ext cx="1078992" cy="264111"/>
          </a:xfrm>
          <a:prstGeom prst="rect">
            <a:avLst/>
          </a:prstGeom>
          <a:noFill/>
          <a:ln>
            <a:noFill/>
          </a:ln>
        </p:spPr>
      </p:pic>
      <p:sp>
        <p:nvSpPr>
          <p:cNvPr id="4213" name="Google Shape;4213;p153"/>
          <p:cNvSpPr/>
          <p:nvPr/>
        </p:nvSpPr>
        <p:spPr>
          <a:xfrm>
            <a:off x="502920" y="6528816"/>
            <a:ext cx="8686800"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A79D"/>
              </a:buClr>
              <a:buSzPts val="800"/>
              <a:buFont typeface="Calibri"/>
              <a:buNone/>
            </a:pPr>
            <a:r>
              <a:rPr b="1" i="0" lang="en-US" sz="800" u="none" cap="none" strike="noStrike">
                <a:solidFill>
                  <a:srgbClr val="00A79D"/>
                </a:solidFill>
                <a:latin typeface="Calibri"/>
                <a:ea typeface="Calibri"/>
                <a:cs typeface="Calibri"/>
                <a:sym typeface="Calibri"/>
              </a:rPr>
              <a:t>ASSESSMENT   </a:t>
            </a:r>
            <a:r>
              <a:rPr b="0" i="0" lang="en-US" sz="800" u="none" cap="none" strike="noStrike">
                <a:solidFill>
                  <a:srgbClr val="8A96A6"/>
                </a:solidFill>
                <a:latin typeface="Calibri"/>
                <a:ea typeface="Calibri"/>
                <a:cs typeface="Calibri"/>
                <a:sym typeface="Calibri"/>
              </a:rPr>
              <a:t>SDA-AIE-212 · Computer Vision Systems Development</a:t>
            </a:r>
            <a:endParaRPr b="0" i="0" sz="800" u="none" cap="none" strike="noStrike">
              <a:solidFill>
                <a:schemeClr val="dk1"/>
              </a:solidFill>
              <a:latin typeface="Calibri"/>
              <a:ea typeface="Calibri"/>
              <a:cs typeface="Calibri"/>
              <a:sym typeface="Calibri"/>
            </a:endParaRPr>
          </a:p>
        </p:txBody>
      </p:sp>
      <p:sp>
        <p:nvSpPr>
          <p:cNvPr id="4214" name="Google Shape;4214;p153"/>
          <p:cNvSpPr/>
          <p:nvPr/>
        </p:nvSpPr>
        <p:spPr>
          <a:xfrm>
            <a:off x="11292840" y="6528816"/>
            <a:ext cx="411480" cy="219456"/>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8A96A6"/>
              </a:buClr>
              <a:buSzPts val="900"/>
              <a:buFont typeface="Calibri"/>
              <a:buNone/>
            </a:pPr>
            <a:r>
              <a:rPr b="0" i="0" lang="en-US" sz="900" u="none" cap="none" strike="noStrike">
                <a:solidFill>
                  <a:srgbClr val="8A96A6"/>
                </a:solidFill>
                <a:latin typeface="Calibri"/>
                <a:ea typeface="Calibri"/>
                <a:cs typeface="Calibri"/>
                <a:sym typeface="Calibri"/>
              </a:rPr>
              <a:t>153</a:t>
            </a:r>
            <a:endParaRPr b="0" i="0" sz="900" u="none" cap="none" strike="noStrike">
              <a:solidFill>
                <a:schemeClr val="dk1"/>
              </a:solidFill>
              <a:latin typeface="Calibri"/>
              <a:ea typeface="Calibri"/>
              <a:cs typeface="Calibri"/>
              <a:sym typeface="Calibri"/>
            </a:endParaRPr>
          </a:p>
        </p:txBody>
      </p:sp>
      <p:sp>
        <p:nvSpPr>
          <p:cNvPr id="4215" name="Google Shape;4215;p153"/>
          <p:cNvSpPr/>
          <p:nvPr/>
        </p:nvSpPr>
        <p:spPr>
          <a:xfrm>
            <a:off x="502920" y="2153412"/>
            <a:ext cx="329184" cy="329184"/>
          </a:xfrm>
          <a:prstGeom prst="ellipse">
            <a:avLst/>
          </a:prstGeom>
          <a:solidFill>
            <a:srgbClr val="00A79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16" name="Google Shape;4216;p153"/>
          <p:cNvSpPr/>
          <p:nvPr/>
        </p:nvSpPr>
        <p:spPr>
          <a:xfrm>
            <a:off x="502920" y="2153412"/>
            <a:ext cx="329184" cy="32918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300"/>
              <a:buFont typeface="Calibri"/>
              <a:buNone/>
            </a:pPr>
            <a:r>
              <a:rPr b="1" i="0" lang="en-US" sz="1300" u="none" cap="none" strike="noStrike">
                <a:solidFill>
                  <a:srgbClr val="FFFFFF"/>
                </a:solidFill>
                <a:latin typeface="Calibri"/>
                <a:ea typeface="Calibri"/>
                <a:cs typeface="Calibri"/>
                <a:sym typeface="Calibri"/>
              </a:rPr>
              <a:t>1</a:t>
            </a:r>
            <a:endParaRPr b="0" i="0" sz="1300" u="none" cap="none" strike="noStrike">
              <a:solidFill>
                <a:schemeClr val="dk1"/>
              </a:solidFill>
              <a:latin typeface="Calibri"/>
              <a:ea typeface="Calibri"/>
              <a:cs typeface="Calibri"/>
              <a:sym typeface="Calibri"/>
            </a:endParaRPr>
          </a:p>
        </p:txBody>
      </p:sp>
      <p:sp>
        <p:nvSpPr>
          <p:cNvPr id="4217" name="Google Shape;4217;p153"/>
          <p:cNvSpPr/>
          <p:nvPr/>
        </p:nvSpPr>
        <p:spPr>
          <a:xfrm>
            <a:off x="1005840" y="2089404"/>
            <a:ext cx="10682935"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D2A5C"/>
              </a:buClr>
              <a:buSzPts val="1400"/>
              <a:buFont typeface="Calibri"/>
              <a:buNone/>
            </a:pPr>
            <a:r>
              <a:rPr b="1" i="0" lang="en-US" sz="1400" u="none" cap="none" strike="noStrike">
                <a:solidFill>
                  <a:srgbClr val="1D2A5C"/>
                </a:solidFill>
                <a:latin typeface="Calibri"/>
                <a:ea typeface="Calibri"/>
                <a:cs typeface="Calibri"/>
                <a:sym typeface="Calibri"/>
              </a:rPr>
              <a:t>PA-1 (30 min, Day 2) — fix a broken project</a:t>
            </a:r>
            <a:endParaRPr b="0" i="0" sz="1400" u="none" cap="none" strike="noStrike">
              <a:solidFill>
                <a:schemeClr val="dk1"/>
              </a:solidFill>
              <a:latin typeface="Calibri"/>
              <a:ea typeface="Calibri"/>
              <a:cs typeface="Calibri"/>
              <a:sym typeface="Calibri"/>
            </a:endParaRPr>
          </a:p>
        </p:txBody>
      </p:sp>
      <p:sp>
        <p:nvSpPr>
          <p:cNvPr id="4218" name="Google Shape;4218;p153"/>
          <p:cNvSpPr/>
          <p:nvPr/>
        </p:nvSpPr>
        <p:spPr>
          <a:xfrm>
            <a:off x="1005840" y="2391156"/>
            <a:ext cx="10682935" cy="841248"/>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5F6B7A"/>
              </a:buClr>
              <a:buSzPts val="1150"/>
              <a:buFont typeface="Calibri"/>
              <a:buNone/>
            </a:pPr>
            <a:r>
              <a:rPr b="0" i="0" lang="en-US" sz="1150" u="none" cap="none" strike="noStrike">
                <a:solidFill>
                  <a:srgbClr val="5F6B7A"/>
                </a:solidFill>
                <a:latin typeface="Calibri"/>
                <a:ea typeface="Calibri"/>
                <a:cs typeface="Calibri"/>
                <a:sym typeface="Calibri"/>
              </a:rPr>
              <a:t>BGR feed in the wrapper, class-shifted dataset YAML, metrics at conf=0.001. Produce a correct evaluation at a defensible operating point. Scored 40/40/20: diagnosis, fixes, verification.</a:t>
            </a:r>
            <a:endParaRPr b="0" i="0" sz="1150" u="none" cap="none" strike="noStrike">
              <a:solidFill>
                <a:schemeClr val="dk1"/>
              </a:solidFill>
              <a:latin typeface="Calibri"/>
              <a:ea typeface="Calibri"/>
              <a:cs typeface="Calibri"/>
              <a:sym typeface="Calibri"/>
            </a:endParaRPr>
          </a:p>
        </p:txBody>
      </p:sp>
      <p:sp>
        <p:nvSpPr>
          <p:cNvPr id="4219" name="Google Shape;4219;p153"/>
          <p:cNvSpPr/>
          <p:nvPr/>
        </p:nvSpPr>
        <p:spPr>
          <a:xfrm>
            <a:off x="502920" y="3342132"/>
            <a:ext cx="329184" cy="329184"/>
          </a:xfrm>
          <a:prstGeom prst="ellipse">
            <a:avLst/>
          </a:prstGeom>
          <a:solidFill>
            <a:srgbClr val="29ABE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20" name="Google Shape;4220;p153"/>
          <p:cNvSpPr/>
          <p:nvPr/>
        </p:nvSpPr>
        <p:spPr>
          <a:xfrm>
            <a:off x="502920" y="3342132"/>
            <a:ext cx="329184" cy="32918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300"/>
              <a:buFont typeface="Calibri"/>
              <a:buNone/>
            </a:pPr>
            <a:r>
              <a:rPr b="1" i="0" lang="en-US" sz="1300" u="none" cap="none" strike="noStrike">
                <a:solidFill>
                  <a:srgbClr val="FFFFFF"/>
                </a:solidFill>
                <a:latin typeface="Calibri"/>
                <a:ea typeface="Calibri"/>
                <a:cs typeface="Calibri"/>
                <a:sym typeface="Calibri"/>
              </a:rPr>
              <a:t>2</a:t>
            </a:r>
            <a:endParaRPr b="0" i="0" sz="1300" u="none" cap="none" strike="noStrike">
              <a:solidFill>
                <a:schemeClr val="dk1"/>
              </a:solidFill>
              <a:latin typeface="Calibri"/>
              <a:ea typeface="Calibri"/>
              <a:cs typeface="Calibri"/>
              <a:sym typeface="Calibri"/>
            </a:endParaRPr>
          </a:p>
        </p:txBody>
      </p:sp>
      <p:sp>
        <p:nvSpPr>
          <p:cNvPr id="4221" name="Google Shape;4221;p153"/>
          <p:cNvSpPr/>
          <p:nvPr/>
        </p:nvSpPr>
        <p:spPr>
          <a:xfrm>
            <a:off x="1005840" y="3278124"/>
            <a:ext cx="10682935"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D2A5C"/>
              </a:buClr>
              <a:buSzPts val="1400"/>
              <a:buFont typeface="Calibri"/>
              <a:buNone/>
            </a:pPr>
            <a:r>
              <a:rPr b="1" i="0" lang="en-US" sz="1400" u="none" cap="none" strike="noStrike">
                <a:solidFill>
                  <a:srgbClr val="1D2A5C"/>
                </a:solidFill>
                <a:latin typeface="Calibri"/>
                <a:ea typeface="Calibri"/>
                <a:cs typeface="Calibri"/>
                <a:sym typeface="Calibri"/>
              </a:rPr>
              <a:t>PA-2 (30 min, Day 3) — review a dataset PR</a:t>
            </a:r>
            <a:endParaRPr b="0" i="0" sz="1400" u="none" cap="none" strike="noStrike">
              <a:solidFill>
                <a:schemeClr val="dk1"/>
              </a:solidFill>
              <a:latin typeface="Calibri"/>
              <a:ea typeface="Calibri"/>
              <a:cs typeface="Calibri"/>
              <a:sym typeface="Calibri"/>
            </a:endParaRPr>
          </a:p>
        </p:txBody>
      </p:sp>
      <p:sp>
        <p:nvSpPr>
          <p:cNvPr id="4222" name="Google Shape;4222;p153"/>
          <p:cNvSpPr/>
          <p:nvPr/>
        </p:nvSpPr>
        <p:spPr>
          <a:xfrm>
            <a:off x="1005840" y="3579876"/>
            <a:ext cx="10682935" cy="841248"/>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5F6B7A"/>
              </a:buClr>
              <a:buSzPts val="1150"/>
              <a:buFont typeface="Calibri"/>
              <a:buNone/>
            </a:pPr>
            <a:r>
              <a:rPr b="0" i="0" lang="en-US" sz="1150" u="none" cap="none" strike="noStrike">
                <a:solidFill>
                  <a:srgbClr val="5F6B7A"/>
                </a:solidFill>
                <a:latin typeface="Calibri"/>
                <a:ea typeface="Calibri"/>
                <a:cs typeface="Calibri"/>
                <a:sym typeface="Calibri"/>
              </a:rPr>
              <a:t>Three test-split edits, a spec bump without re-annotation, no changelog. Write the review: what may merge, what must change, what the metric claims are worth.</a:t>
            </a:r>
            <a:endParaRPr b="0" i="0" sz="1150" u="none" cap="none" strike="noStrike">
              <a:solidFill>
                <a:schemeClr val="dk1"/>
              </a:solidFill>
              <a:latin typeface="Calibri"/>
              <a:ea typeface="Calibri"/>
              <a:cs typeface="Calibri"/>
              <a:sym typeface="Calibri"/>
            </a:endParaRPr>
          </a:p>
        </p:txBody>
      </p:sp>
      <p:sp>
        <p:nvSpPr>
          <p:cNvPr id="4223" name="Google Shape;4223;p153"/>
          <p:cNvSpPr/>
          <p:nvPr/>
        </p:nvSpPr>
        <p:spPr>
          <a:xfrm>
            <a:off x="502920" y="4530852"/>
            <a:ext cx="329184" cy="329184"/>
          </a:xfrm>
          <a:prstGeom prst="ellipse">
            <a:avLst/>
          </a:prstGeom>
          <a:solidFill>
            <a:srgbClr val="F5822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24" name="Google Shape;4224;p153"/>
          <p:cNvSpPr/>
          <p:nvPr/>
        </p:nvSpPr>
        <p:spPr>
          <a:xfrm>
            <a:off x="502920" y="4530852"/>
            <a:ext cx="329184" cy="32918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300"/>
              <a:buFont typeface="Calibri"/>
              <a:buNone/>
            </a:pPr>
            <a:r>
              <a:rPr b="1" i="0" lang="en-US" sz="1300" u="none" cap="none" strike="noStrike">
                <a:solidFill>
                  <a:srgbClr val="FFFFFF"/>
                </a:solidFill>
                <a:latin typeface="Calibri"/>
                <a:ea typeface="Calibri"/>
                <a:cs typeface="Calibri"/>
                <a:sym typeface="Calibri"/>
              </a:rPr>
              <a:t>3</a:t>
            </a:r>
            <a:endParaRPr b="0" i="0" sz="1300" u="none" cap="none" strike="noStrike">
              <a:solidFill>
                <a:schemeClr val="dk1"/>
              </a:solidFill>
              <a:latin typeface="Calibri"/>
              <a:ea typeface="Calibri"/>
              <a:cs typeface="Calibri"/>
              <a:sym typeface="Calibri"/>
            </a:endParaRPr>
          </a:p>
        </p:txBody>
      </p:sp>
      <p:sp>
        <p:nvSpPr>
          <p:cNvPr id="4225" name="Google Shape;4225;p153"/>
          <p:cNvSpPr/>
          <p:nvPr/>
        </p:nvSpPr>
        <p:spPr>
          <a:xfrm>
            <a:off x="1005840" y="4466844"/>
            <a:ext cx="10682935"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D2A5C"/>
              </a:buClr>
              <a:buSzPts val="1400"/>
              <a:buFont typeface="Calibri"/>
              <a:buNone/>
            </a:pPr>
            <a:r>
              <a:rPr b="1" i="0" lang="en-US" sz="1400" u="none" cap="none" strike="noStrike">
                <a:solidFill>
                  <a:srgbClr val="1D2A5C"/>
                </a:solidFill>
                <a:latin typeface="Calibri"/>
                <a:ea typeface="Calibri"/>
                <a:cs typeface="Calibri"/>
                <a:sym typeface="Calibri"/>
              </a:rPr>
              <a:t>Quiz bank (20 questions)</a:t>
            </a:r>
            <a:endParaRPr b="0" i="0" sz="1400" u="none" cap="none" strike="noStrike">
              <a:solidFill>
                <a:schemeClr val="dk1"/>
              </a:solidFill>
              <a:latin typeface="Calibri"/>
              <a:ea typeface="Calibri"/>
              <a:cs typeface="Calibri"/>
              <a:sym typeface="Calibri"/>
            </a:endParaRPr>
          </a:p>
        </p:txBody>
      </p:sp>
      <p:sp>
        <p:nvSpPr>
          <p:cNvPr id="4226" name="Google Shape;4226;p153"/>
          <p:cNvSpPr/>
          <p:nvPr/>
        </p:nvSpPr>
        <p:spPr>
          <a:xfrm>
            <a:off x="1005840" y="4768596"/>
            <a:ext cx="10682935" cy="841248"/>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5F6B7A"/>
              </a:buClr>
              <a:buSzPts val="1150"/>
              <a:buFont typeface="Calibri"/>
              <a:buNone/>
            </a:pPr>
            <a:r>
              <a:rPr b="0" i="0" lang="en-US" sz="1150" u="none" cap="none" strike="noStrike">
                <a:solidFill>
                  <a:srgbClr val="5F6B7A"/>
                </a:solidFill>
                <a:latin typeface="Calibri"/>
                <a:ea typeface="Calibri"/>
                <a:cs typeface="Calibri"/>
                <a:sym typeface="Calibri"/>
              </a:rPr>
              <a:t>Covers M1–M7, from BGR channel order to p99 reasoning; use 10 per cohort, 15 minutes, closed book. Q18–20 test this module's export, calibration and latency lessons.</a:t>
            </a:r>
            <a:endParaRPr b="0" i="0" sz="1150" u="none" cap="none" strike="noStrike">
              <a:solidFill>
                <a:schemeClr val="dk1"/>
              </a:solidFill>
              <a:latin typeface="Calibri"/>
              <a:ea typeface="Calibri"/>
              <a:cs typeface="Calibri"/>
              <a:sym typeface="Calibri"/>
            </a:endParaRPr>
          </a:p>
        </p:txBody>
      </p:sp>
    </p:spTree>
  </p:cSld>
  <p:clrMapOvr>
    <a:masterClrMapping/>
  </p:clrMapOvr>
</p:sld>
</file>

<file path=ppt/slides/slide1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231" name="Shape 4231"/>
        <p:cNvGrpSpPr/>
        <p:nvPr/>
      </p:nvGrpSpPr>
      <p:grpSpPr>
        <a:xfrm>
          <a:off x="0" y="0"/>
          <a:ext cx="0" cy="0"/>
          <a:chOff x="0" y="0"/>
          <a:chExt cx="0" cy="0"/>
        </a:xfrm>
      </p:grpSpPr>
      <p:sp>
        <p:nvSpPr>
          <p:cNvPr id="4232" name="Google Shape;4232;p154"/>
          <p:cNvSpPr/>
          <p:nvPr/>
        </p:nvSpPr>
        <p:spPr>
          <a:xfrm>
            <a:off x="502920" y="274320"/>
            <a:ext cx="9646920" cy="56692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D2A5C"/>
              </a:buClr>
              <a:buSzPts val="2700"/>
              <a:buFont typeface="Calibri"/>
              <a:buNone/>
            </a:pPr>
            <a:r>
              <a:rPr b="1" i="0" lang="en-US" sz="2700" u="none" cap="none" strike="noStrike">
                <a:solidFill>
                  <a:srgbClr val="1D2A5C"/>
                </a:solidFill>
                <a:latin typeface="Calibri"/>
                <a:ea typeface="Calibri"/>
                <a:cs typeface="Calibri"/>
                <a:sym typeface="Calibri"/>
              </a:rPr>
              <a:t>Timing risks and contingency</a:t>
            </a:r>
            <a:endParaRPr b="0" i="0" sz="2700" u="none" cap="none" strike="noStrike">
              <a:solidFill>
                <a:schemeClr val="dk1"/>
              </a:solidFill>
              <a:latin typeface="Calibri"/>
              <a:ea typeface="Calibri"/>
              <a:cs typeface="Calibri"/>
              <a:sym typeface="Calibri"/>
            </a:endParaRPr>
          </a:p>
        </p:txBody>
      </p:sp>
      <p:sp>
        <p:nvSpPr>
          <p:cNvPr id="4233" name="Google Shape;4233;p154"/>
          <p:cNvSpPr/>
          <p:nvPr/>
        </p:nvSpPr>
        <p:spPr>
          <a:xfrm>
            <a:off x="502920" y="859536"/>
            <a:ext cx="9646920" cy="31089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F6B7A"/>
              </a:buClr>
              <a:buSzPts val="1250"/>
              <a:buFont typeface="Arial"/>
              <a:buNone/>
            </a:pPr>
            <a:r>
              <a:rPr b="0" i="0" lang="en-US" sz="1250" u="none" cap="none" strike="noStrike">
                <a:solidFill>
                  <a:srgbClr val="5F6B7A"/>
                </a:solidFill>
                <a:latin typeface="Arial"/>
                <a:ea typeface="Arial"/>
                <a:cs typeface="Arial"/>
                <a:sym typeface="Arial"/>
              </a:rPr>
              <a:t>مخاطر التوقيت</a:t>
            </a:r>
            <a:endParaRPr b="0" i="0" sz="1250" u="none" cap="none" strike="noStrike">
              <a:solidFill>
                <a:schemeClr val="dk1"/>
              </a:solidFill>
              <a:latin typeface="Calibri"/>
              <a:ea typeface="Calibri"/>
              <a:cs typeface="Calibri"/>
              <a:sym typeface="Calibri"/>
            </a:endParaRPr>
          </a:p>
        </p:txBody>
      </p:sp>
      <p:pic>
        <p:nvPicPr>
          <p:cNvPr descr="/sessions/blissful-determined-ritchie/build/assets/sdaia_logo.png" id="4234" name="Google Shape;4234;p154"/>
          <p:cNvPicPr preferRelativeResize="0"/>
          <p:nvPr/>
        </p:nvPicPr>
        <p:blipFill rotWithShape="1">
          <a:blip r:embed="rId3">
            <a:alphaModFix/>
          </a:blip>
          <a:srcRect b="0" l="0" r="0" t="0"/>
          <a:stretch/>
        </p:blipFill>
        <p:spPr>
          <a:xfrm>
            <a:off x="10625328" y="310896"/>
            <a:ext cx="1078992" cy="264111"/>
          </a:xfrm>
          <a:prstGeom prst="rect">
            <a:avLst/>
          </a:prstGeom>
          <a:noFill/>
          <a:ln>
            <a:noFill/>
          </a:ln>
        </p:spPr>
      </p:pic>
      <p:sp>
        <p:nvSpPr>
          <p:cNvPr id="4235" name="Google Shape;4235;p154"/>
          <p:cNvSpPr/>
          <p:nvPr/>
        </p:nvSpPr>
        <p:spPr>
          <a:xfrm>
            <a:off x="502920" y="6528816"/>
            <a:ext cx="8686800"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A79D"/>
              </a:buClr>
              <a:buSzPts val="800"/>
              <a:buFont typeface="Calibri"/>
              <a:buNone/>
            </a:pPr>
            <a:r>
              <a:rPr b="1" i="0" lang="en-US" sz="800" u="none" cap="none" strike="noStrike">
                <a:solidFill>
                  <a:srgbClr val="00A79D"/>
                </a:solidFill>
                <a:latin typeface="Calibri"/>
                <a:ea typeface="Calibri"/>
                <a:cs typeface="Calibri"/>
                <a:sym typeface="Calibri"/>
              </a:rPr>
              <a:t>INSTRUCTOR   </a:t>
            </a:r>
            <a:r>
              <a:rPr b="0" i="0" lang="en-US" sz="800" u="none" cap="none" strike="noStrike">
                <a:solidFill>
                  <a:srgbClr val="8A96A6"/>
                </a:solidFill>
                <a:latin typeface="Calibri"/>
                <a:ea typeface="Calibri"/>
                <a:cs typeface="Calibri"/>
                <a:sym typeface="Calibri"/>
              </a:rPr>
              <a:t>SDA-AIE-212 · Computer Vision Systems Development</a:t>
            </a:r>
            <a:endParaRPr b="0" i="0" sz="800" u="none" cap="none" strike="noStrike">
              <a:solidFill>
                <a:schemeClr val="dk1"/>
              </a:solidFill>
              <a:latin typeface="Calibri"/>
              <a:ea typeface="Calibri"/>
              <a:cs typeface="Calibri"/>
              <a:sym typeface="Calibri"/>
            </a:endParaRPr>
          </a:p>
        </p:txBody>
      </p:sp>
      <p:sp>
        <p:nvSpPr>
          <p:cNvPr id="4236" name="Google Shape;4236;p154"/>
          <p:cNvSpPr/>
          <p:nvPr/>
        </p:nvSpPr>
        <p:spPr>
          <a:xfrm>
            <a:off x="11292840" y="6528816"/>
            <a:ext cx="411480" cy="219456"/>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8A96A6"/>
              </a:buClr>
              <a:buSzPts val="900"/>
              <a:buFont typeface="Calibri"/>
              <a:buNone/>
            </a:pPr>
            <a:r>
              <a:rPr b="0" i="0" lang="en-US" sz="900" u="none" cap="none" strike="noStrike">
                <a:solidFill>
                  <a:srgbClr val="8A96A6"/>
                </a:solidFill>
                <a:latin typeface="Calibri"/>
                <a:ea typeface="Calibri"/>
                <a:cs typeface="Calibri"/>
                <a:sym typeface="Calibri"/>
              </a:rPr>
              <a:t>154</a:t>
            </a:r>
            <a:endParaRPr b="0" i="0" sz="900" u="none" cap="none" strike="noStrike">
              <a:solidFill>
                <a:schemeClr val="dk1"/>
              </a:solidFill>
              <a:latin typeface="Calibri"/>
              <a:ea typeface="Calibri"/>
              <a:cs typeface="Calibri"/>
              <a:sym typeface="Calibri"/>
            </a:endParaRPr>
          </a:p>
        </p:txBody>
      </p:sp>
      <p:graphicFrame>
        <p:nvGraphicFramePr>
          <p:cNvPr id="4237" name="Google Shape;4237;p154"/>
          <p:cNvGraphicFramePr/>
          <p:nvPr/>
        </p:nvGraphicFramePr>
        <p:xfrm>
          <a:off x="502920" y="1389888"/>
          <a:ext cx="3000000" cy="3000000"/>
        </p:xfrm>
        <a:graphic>
          <a:graphicData uri="http://schemas.openxmlformats.org/drawingml/2006/table">
            <a:tbl>
              <a:tblPr>
                <a:noFill/>
                <a:tableStyleId>{F80342BA-3033-44D6-9F91-622DC7A4C435}</a:tableStyleId>
              </a:tblPr>
              <a:tblGrid>
                <a:gridCol w="4882525"/>
                <a:gridCol w="6303325"/>
              </a:tblGrid>
              <a:tr h="696250">
                <a:tc>
                  <a:txBody>
                    <a:bodyPr/>
                    <a:lstStyle/>
                    <a:p>
                      <a:pPr indent="0" lvl="0" marL="0" marR="0" rtl="0" algn="l">
                        <a:spcBef>
                          <a:spcPts val="0"/>
                        </a:spcBef>
                        <a:spcAft>
                          <a:spcPts val="0"/>
                        </a:spcAft>
                        <a:buClr>
                          <a:srgbClr val="FFFFFF"/>
                        </a:buClr>
                        <a:buSzPts val="1050"/>
                        <a:buFont typeface="Calibri"/>
                        <a:buNone/>
                      </a:pPr>
                      <a:r>
                        <a:rPr b="1" lang="en-US" sz="1050" u="none" cap="none" strike="noStrike">
                          <a:solidFill>
                            <a:srgbClr val="FFFFFF"/>
                          </a:solidFill>
                          <a:latin typeface="Calibri"/>
                          <a:ea typeface="Calibri"/>
                          <a:cs typeface="Calibri"/>
                          <a:sym typeface="Calibri"/>
                        </a:rPr>
                        <a:t>Situation</a:t>
                      </a:r>
                      <a:endParaRPr sz="1050" u="none" cap="none" strike="noStrike">
                        <a:latin typeface="Calibri"/>
                        <a:ea typeface="Calibri"/>
                        <a:cs typeface="Calibri"/>
                        <a:sym typeface="Calibri"/>
                      </a:endParaRPr>
                    </a:p>
                  </a:txBody>
                  <a:tcPr marT="64000" marB="64000" marR="64000" marL="64000" anchor="ctr">
                    <a:lnL cap="flat" cmpd="sng" w="9525">
                      <a:solidFill>
                        <a:srgbClr val="D9E2EA"/>
                      </a:solidFill>
                      <a:prstDash val="solid"/>
                      <a:round/>
                      <a:headEnd len="sm" w="sm" type="none"/>
                      <a:tailEnd len="sm" w="sm" type="none"/>
                    </a:lnL>
                    <a:lnR cap="flat" cmpd="sng" w="9525">
                      <a:solidFill>
                        <a:srgbClr val="D9E2EA"/>
                      </a:solidFill>
                      <a:prstDash val="solid"/>
                      <a:round/>
                      <a:headEnd len="sm" w="sm" type="none"/>
                      <a:tailEnd len="sm" w="sm" type="none"/>
                    </a:lnR>
                    <a:lnT cap="flat" cmpd="sng" w="9525">
                      <a:solidFill>
                        <a:srgbClr val="D9E2EA"/>
                      </a:solidFill>
                      <a:prstDash val="solid"/>
                      <a:round/>
                      <a:headEnd len="sm" w="sm" type="none"/>
                      <a:tailEnd len="sm" w="sm" type="none"/>
                    </a:lnT>
                    <a:lnB cap="flat" cmpd="sng" w="9525">
                      <a:solidFill>
                        <a:srgbClr val="D9E2EA"/>
                      </a:solidFill>
                      <a:prstDash val="solid"/>
                      <a:round/>
                      <a:headEnd len="sm" w="sm" type="none"/>
                      <a:tailEnd len="sm" w="sm" type="none"/>
                    </a:lnB>
                    <a:solidFill>
                      <a:srgbClr val="1D2A5C"/>
                    </a:solidFill>
                  </a:tcPr>
                </a:tc>
                <a:tc>
                  <a:txBody>
                    <a:bodyPr/>
                    <a:lstStyle/>
                    <a:p>
                      <a:pPr indent="0" lvl="0" marL="0" marR="0" rtl="0" algn="l">
                        <a:spcBef>
                          <a:spcPts val="0"/>
                        </a:spcBef>
                        <a:spcAft>
                          <a:spcPts val="0"/>
                        </a:spcAft>
                        <a:buClr>
                          <a:srgbClr val="FFFFFF"/>
                        </a:buClr>
                        <a:buSzPts val="1050"/>
                        <a:buFont typeface="Calibri"/>
                        <a:buNone/>
                      </a:pPr>
                      <a:r>
                        <a:rPr b="1" lang="en-US" sz="1050" u="none" cap="none" strike="noStrike">
                          <a:solidFill>
                            <a:srgbClr val="FFFFFF"/>
                          </a:solidFill>
                          <a:latin typeface="Calibri"/>
                          <a:ea typeface="Calibri"/>
                          <a:cs typeface="Calibri"/>
                          <a:sym typeface="Calibri"/>
                        </a:rPr>
                        <a:t>Rule</a:t>
                      </a:r>
                      <a:endParaRPr sz="1050" u="none" cap="none" strike="noStrike">
                        <a:latin typeface="Calibri"/>
                        <a:ea typeface="Calibri"/>
                        <a:cs typeface="Calibri"/>
                        <a:sym typeface="Calibri"/>
                      </a:endParaRPr>
                    </a:p>
                  </a:txBody>
                  <a:tcPr marT="64000" marB="64000" marR="64000" marL="64000" anchor="ctr">
                    <a:lnL cap="flat" cmpd="sng" w="9525">
                      <a:solidFill>
                        <a:srgbClr val="D9E2EA"/>
                      </a:solidFill>
                      <a:prstDash val="solid"/>
                      <a:round/>
                      <a:headEnd len="sm" w="sm" type="none"/>
                      <a:tailEnd len="sm" w="sm" type="none"/>
                    </a:lnL>
                    <a:lnR cap="flat" cmpd="sng" w="9525">
                      <a:solidFill>
                        <a:srgbClr val="D9E2EA"/>
                      </a:solidFill>
                      <a:prstDash val="solid"/>
                      <a:round/>
                      <a:headEnd len="sm" w="sm" type="none"/>
                      <a:tailEnd len="sm" w="sm" type="none"/>
                    </a:lnR>
                    <a:lnT cap="flat" cmpd="sng" w="9525">
                      <a:solidFill>
                        <a:srgbClr val="D9E2EA"/>
                      </a:solidFill>
                      <a:prstDash val="solid"/>
                      <a:round/>
                      <a:headEnd len="sm" w="sm" type="none"/>
                      <a:tailEnd len="sm" w="sm" type="none"/>
                    </a:lnT>
                    <a:lnB cap="flat" cmpd="sng" w="9525">
                      <a:solidFill>
                        <a:srgbClr val="D9E2EA"/>
                      </a:solidFill>
                      <a:prstDash val="solid"/>
                      <a:round/>
                      <a:headEnd len="sm" w="sm" type="none"/>
                      <a:tailEnd len="sm" w="sm" type="none"/>
                    </a:lnB>
                    <a:solidFill>
                      <a:srgbClr val="1D2A5C"/>
                    </a:solidFill>
                  </a:tcPr>
                </a:tc>
              </a:tr>
              <a:tr h="696250">
                <a:tc>
                  <a:txBody>
                    <a:bodyPr/>
                    <a:lstStyle/>
                    <a:p>
                      <a:pPr indent="0" lvl="0" marL="0" marR="0" rtl="0" algn="l">
                        <a:spcBef>
                          <a:spcPts val="0"/>
                        </a:spcBef>
                        <a:spcAft>
                          <a:spcPts val="0"/>
                        </a:spcAft>
                        <a:buClr>
                          <a:srgbClr val="1D2A5C"/>
                        </a:buClr>
                        <a:buSzPts val="1050"/>
                        <a:buFont typeface="Calibri"/>
                        <a:buNone/>
                      </a:pPr>
                      <a:r>
                        <a:rPr b="1" lang="en-US" sz="1050" u="none" cap="none" strike="noStrike">
                          <a:solidFill>
                            <a:srgbClr val="1D2A5C"/>
                          </a:solidFill>
                          <a:latin typeface="Calibri"/>
                          <a:ea typeface="Calibri"/>
                          <a:cs typeface="Calibri"/>
                          <a:sym typeface="Calibri"/>
                        </a:rPr>
                        <a:t>Labs 3 and 5 (most overrun-prone)</a:t>
                      </a:r>
                      <a:endParaRPr sz="1050" u="none" cap="none" strike="noStrike">
                        <a:latin typeface="Calibri"/>
                        <a:ea typeface="Calibri"/>
                        <a:cs typeface="Calibri"/>
                        <a:sym typeface="Calibri"/>
                      </a:endParaRPr>
                    </a:p>
                  </a:txBody>
                  <a:tcPr marT="64000" marB="64000" marR="64000" marL="64000" anchor="ctr">
                    <a:lnL cap="flat" cmpd="sng" w="9525">
                      <a:solidFill>
                        <a:srgbClr val="D9E2EA"/>
                      </a:solidFill>
                      <a:prstDash val="solid"/>
                      <a:round/>
                      <a:headEnd len="sm" w="sm" type="none"/>
                      <a:tailEnd len="sm" w="sm" type="none"/>
                    </a:lnL>
                    <a:lnR cap="flat" cmpd="sng" w="9525">
                      <a:solidFill>
                        <a:srgbClr val="D9E2EA"/>
                      </a:solidFill>
                      <a:prstDash val="solid"/>
                      <a:round/>
                      <a:headEnd len="sm" w="sm" type="none"/>
                      <a:tailEnd len="sm" w="sm" type="none"/>
                    </a:lnR>
                    <a:lnT cap="flat" cmpd="sng" w="9525">
                      <a:solidFill>
                        <a:srgbClr val="D9E2EA"/>
                      </a:solidFill>
                      <a:prstDash val="solid"/>
                      <a:round/>
                      <a:headEnd len="sm" w="sm" type="none"/>
                      <a:tailEnd len="sm" w="sm" type="none"/>
                    </a:lnT>
                    <a:lnB cap="flat" cmpd="sng" w="9525">
                      <a:solidFill>
                        <a:srgbClr val="D9E2EA"/>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23293B"/>
                        </a:buClr>
                        <a:buSzPts val="1050"/>
                        <a:buFont typeface="Calibri"/>
                        <a:buNone/>
                      </a:pPr>
                      <a:r>
                        <a:rPr lang="en-US" sz="1050" u="none" cap="none" strike="noStrike">
                          <a:solidFill>
                            <a:srgbClr val="23293B"/>
                          </a:solidFill>
                          <a:latin typeface="Calibri"/>
                          <a:ea typeface="Calibri"/>
                          <a:cs typeface="Calibri"/>
                          <a:sym typeface="Calibri"/>
                        </a:rPr>
                        <a:t>Protect at full length; compress M4 theory instead</a:t>
                      </a:r>
                      <a:endParaRPr sz="1050" u="none" cap="none" strike="noStrike">
                        <a:latin typeface="Calibri"/>
                        <a:ea typeface="Calibri"/>
                        <a:cs typeface="Calibri"/>
                        <a:sym typeface="Calibri"/>
                      </a:endParaRPr>
                    </a:p>
                  </a:txBody>
                  <a:tcPr marT="64000" marB="64000" marR="64000" marL="64000" anchor="ctr">
                    <a:lnL cap="flat" cmpd="sng" w="9525">
                      <a:solidFill>
                        <a:srgbClr val="D9E2EA"/>
                      </a:solidFill>
                      <a:prstDash val="solid"/>
                      <a:round/>
                      <a:headEnd len="sm" w="sm" type="none"/>
                      <a:tailEnd len="sm" w="sm" type="none"/>
                    </a:lnL>
                    <a:lnR cap="flat" cmpd="sng" w="9525">
                      <a:solidFill>
                        <a:srgbClr val="D9E2EA"/>
                      </a:solidFill>
                      <a:prstDash val="solid"/>
                      <a:round/>
                      <a:headEnd len="sm" w="sm" type="none"/>
                      <a:tailEnd len="sm" w="sm" type="none"/>
                    </a:lnR>
                    <a:lnT cap="flat" cmpd="sng" w="9525">
                      <a:solidFill>
                        <a:srgbClr val="D9E2EA"/>
                      </a:solidFill>
                      <a:prstDash val="solid"/>
                      <a:round/>
                      <a:headEnd len="sm" w="sm" type="none"/>
                      <a:tailEnd len="sm" w="sm" type="none"/>
                    </a:lnT>
                    <a:lnB cap="flat" cmpd="sng" w="9525">
                      <a:solidFill>
                        <a:srgbClr val="D9E2EA"/>
                      </a:solidFill>
                      <a:prstDash val="solid"/>
                      <a:round/>
                      <a:headEnd len="sm" w="sm" type="none"/>
                      <a:tailEnd len="sm" w="sm" type="none"/>
                    </a:lnB>
                    <a:solidFill>
                      <a:srgbClr val="FFFFFF"/>
                    </a:solidFill>
                  </a:tcPr>
                </a:tc>
              </a:tr>
              <a:tr h="696250">
                <a:tc>
                  <a:txBody>
                    <a:bodyPr/>
                    <a:lstStyle/>
                    <a:p>
                      <a:pPr indent="0" lvl="0" marL="0" marR="0" rtl="0" algn="l">
                        <a:spcBef>
                          <a:spcPts val="0"/>
                        </a:spcBef>
                        <a:spcAft>
                          <a:spcPts val="0"/>
                        </a:spcAft>
                        <a:buClr>
                          <a:srgbClr val="1D2A5C"/>
                        </a:buClr>
                        <a:buSzPts val="1050"/>
                        <a:buFont typeface="Calibri"/>
                        <a:buNone/>
                      </a:pPr>
                      <a:r>
                        <a:rPr b="1" lang="en-US" sz="1050" u="none" cap="none" strike="noStrike">
                          <a:solidFill>
                            <a:srgbClr val="1D2A5C"/>
                          </a:solidFill>
                          <a:latin typeface="Calibri"/>
                          <a:ea typeface="Calibri"/>
                          <a:cs typeface="Calibri"/>
                          <a:sym typeface="Calibri"/>
                        </a:rPr>
                        <a:t>Any training run &gt; 15 min</a:t>
                      </a:r>
                      <a:endParaRPr sz="1050" u="none" cap="none" strike="noStrike">
                        <a:latin typeface="Calibri"/>
                        <a:ea typeface="Calibri"/>
                        <a:cs typeface="Calibri"/>
                        <a:sym typeface="Calibri"/>
                      </a:endParaRPr>
                    </a:p>
                  </a:txBody>
                  <a:tcPr marT="64000" marB="64000" marR="64000" marL="64000" anchor="ctr">
                    <a:lnL cap="flat" cmpd="sng" w="9525">
                      <a:solidFill>
                        <a:srgbClr val="D9E2EA"/>
                      </a:solidFill>
                      <a:prstDash val="solid"/>
                      <a:round/>
                      <a:headEnd len="sm" w="sm" type="none"/>
                      <a:tailEnd len="sm" w="sm" type="none"/>
                    </a:lnL>
                    <a:lnR cap="flat" cmpd="sng" w="9525">
                      <a:solidFill>
                        <a:srgbClr val="D9E2EA"/>
                      </a:solidFill>
                      <a:prstDash val="solid"/>
                      <a:round/>
                      <a:headEnd len="sm" w="sm" type="none"/>
                      <a:tailEnd len="sm" w="sm" type="none"/>
                    </a:lnR>
                    <a:lnT cap="flat" cmpd="sng" w="9525">
                      <a:solidFill>
                        <a:srgbClr val="D9E2EA"/>
                      </a:solidFill>
                      <a:prstDash val="solid"/>
                      <a:round/>
                      <a:headEnd len="sm" w="sm" type="none"/>
                      <a:tailEnd len="sm" w="sm" type="none"/>
                    </a:lnT>
                    <a:lnB cap="flat" cmpd="sng" w="9525">
                      <a:solidFill>
                        <a:srgbClr val="D9E2EA"/>
                      </a:solidFill>
                      <a:prstDash val="solid"/>
                      <a:round/>
                      <a:headEnd len="sm" w="sm" type="none"/>
                      <a:tailEnd len="sm" w="sm" type="none"/>
                    </a:lnB>
                    <a:solidFill>
                      <a:srgbClr val="F2F6F9"/>
                    </a:solidFill>
                  </a:tcPr>
                </a:tc>
                <a:tc>
                  <a:txBody>
                    <a:bodyPr/>
                    <a:lstStyle/>
                    <a:p>
                      <a:pPr indent="0" lvl="0" marL="0" marR="0" rtl="0" algn="l">
                        <a:spcBef>
                          <a:spcPts val="0"/>
                        </a:spcBef>
                        <a:spcAft>
                          <a:spcPts val="0"/>
                        </a:spcAft>
                        <a:buClr>
                          <a:srgbClr val="23293B"/>
                        </a:buClr>
                        <a:buSzPts val="1050"/>
                        <a:buFont typeface="Calibri"/>
                        <a:buNone/>
                      </a:pPr>
                      <a:r>
                        <a:rPr lang="en-US" sz="1050" u="none" cap="none" strike="noStrike">
                          <a:solidFill>
                            <a:srgbClr val="23293B"/>
                          </a:solidFill>
                          <a:latin typeface="Calibri"/>
                          <a:ea typeface="Calibri"/>
                          <a:cs typeface="Calibri"/>
                          <a:sym typeface="Calibri"/>
                        </a:rPr>
                        <a:t>Fast-forward from labN-best.pt — learning is decisions</a:t>
                      </a:r>
                      <a:endParaRPr sz="1050" u="none" cap="none" strike="noStrike">
                        <a:latin typeface="Calibri"/>
                        <a:ea typeface="Calibri"/>
                        <a:cs typeface="Calibri"/>
                        <a:sym typeface="Calibri"/>
                      </a:endParaRPr>
                    </a:p>
                  </a:txBody>
                  <a:tcPr marT="64000" marB="64000" marR="64000" marL="64000" anchor="ctr">
                    <a:lnL cap="flat" cmpd="sng" w="9525">
                      <a:solidFill>
                        <a:srgbClr val="D9E2EA"/>
                      </a:solidFill>
                      <a:prstDash val="solid"/>
                      <a:round/>
                      <a:headEnd len="sm" w="sm" type="none"/>
                      <a:tailEnd len="sm" w="sm" type="none"/>
                    </a:lnL>
                    <a:lnR cap="flat" cmpd="sng" w="9525">
                      <a:solidFill>
                        <a:srgbClr val="D9E2EA"/>
                      </a:solidFill>
                      <a:prstDash val="solid"/>
                      <a:round/>
                      <a:headEnd len="sm" w="sm" type="none"/>
                      <a:tailEnd len="sm" w="sm" type="none"/>
                    </a:lnR>
                    <a:lnT cap="flat" cmpd="sng" w="9525">
                      <a:solidFill>
                        <a:srgbClr val="D9E2EA"/>
                      </a:solidFill>
                      <a:prstDash val="solid"/>
                      <a:round/>
                      <a:headEnd len="sm" w="sm" type="none"/>
                      <a:tailEnd len="sm" w="sm" type="none"/>
                    </a:lnT>
                    <a:lnB cap="flat" cmpd="sng" w="9525">
                      <a:solidFill>
                        <a:srgbClr val="D9E2EA"/>
                      </a:solidFill>
                      <a:prstDash val="solid"/>
                      <a:round/>
                      <a:headEnd len="sm" w="sm" type="none"/>
                      <a:tailEnd len="sm" w="sm" type="none"/>
                    </a:lnB>
                    <a:solidFill>
                      <a:srgbClr val="F2F6F9"/>
                    </a:solidFill>
                  </a:tcPr>
                </a:tc>
              </a:tr>
              <a:tr h="696250">
                <a:tc>
                  <a:txBody>
                    <a:bodyPr/>
                    <a:lstStyle/>
                    <a:p>
                      <a:pPr indent="0" lvl="0" marL="0" marR="0" rtl="0" algn="l">
                        <a:spcBef>
                          <a:spcPts val="0"/>
                        </a:spcBef>
                        <a:spcAft>
                          <a:spcPts val="0"/>
                        </a:spcAft>
                        <a:buClr>
                          <a:srgbClr val="1D2A5C"/>
                        </a:buClr>
                        <a:buSzPts val="1050"/>
                        <a:buFont typeface="Calibri"/>
                        <a:buNone/>
                      </a:pPr>
                      <a:r>
                        <a:rPr b="1" lang="en-US" sz="1050" u="none" cap="none" strike="noStrike">
                          <a:solidFill>
                            <a:srgbClr val="1D2A5C"/>
                          </a:solidFill>
                          <a:latin typeface="Calibri"/>
                          <a:ea typeface="Calibri"/>
                          <a:cs typeface="Calibri"/>
                          <a:sym typeface="Calibri"/>
                        </a:rPr>
                        <a:t>Cohort behind at Day 3 H5</a:t>
                      </a:r>
                      <a:endParaRPr sz="1050" u="none" cap="none" strike="noStrike">
                        <a:latin typeface="Calibri"/>
                        <a:ea typeface="Calibri"/>
                        <a:cs typeface="Calibri"/>
                        <a:sym typeface="Calibri"/>
                      </a:endParaRPr>
                    </a:p>
                  </a:txBody>
                  <a:tcPr marT="64000" marB="64000" marR="64000" marL="64000" anchor="ctr">
                    <a:lnL cap="flat" cmpd="sng" w="9525">
                      <a:solidFill>
                        <a:srgbClr val="D9E2EA"/>
                      </a:solidFill>
                      <a:prstDash val="solid"/>
                      <a:round/>
                      <a:headEnd len="sm" w="sm" type="none"/>
                      <a:tailEnd len="sm" w="sm" type="none"/>
                    </a:lnL>
                    <a:lnR cap="flat" cmpd="sng" w="9525">
                      <a:solidFill>
                        <a:srgbClr val="D9E2EA"/>
                      </a:solidFill>
                      <a:prstDash val="solid"/>
                      <a:round/>
                      <a:headEnd len="sm" w="sm" type="none"/>
                      <a:tailEnd len="sm" w="sm" type="none"/>
                    </a:lnR>
                    <a:lnT cap="flat" cmpd="sng" w="9525">
                      <a:solidFill>
                        <a:srgbClr val="D9E2EA"/>
                      </a:solidFill>
                      <a:prstDash val="solid"/>
                      <a:round/>
                      <a:headEnd len="sm" w="sm" type="none"/>
                      <a:tailEnd len="sm" w="sm" type="none"/>
                    </a:lnT>
                    <a:lnB cap="flat" cmpd="sng" w="9525">
                      <a:solidFill>
                        <a:srgbClr val="D9E2EA"/>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23293B"/>
                        </a:buClr>
                        <a:buSzPts val="1050"/>
                        <a:buFont typeface="Calibri"/>
                        <a:buNone/>
                      </a:pPr>
                      <a:r>
                        <a:rPr lang="en-US" sz="1050" u="none" cap="none" strike="noStrike">
                          <a:solidFill>
                            <a:srgbClr val="23293B"/>
                          </a:solidFill>
                          <a:latin typeface="Calibri"/>
                          <a:ea typeface="Calibri"/>
                          <a:cs typeface="Calibri"/>
                          <a:sym typeface="Calibri"/>
                        </a:rPr>
                        <a:t>Pre-compute the v2 run; pairs run only the regression</a:t>
                      </a:r>
                      <a:endParaRPr sz="1050" u="none" cap="none" strike="noStrike">
                        <a:latin typeface="Calibri"/>
                        <a:ea typeface="Calibri"/>
                        <a:cs typeface="Calibri"/>
                        <a:sym typeface="Calibri"/>
                      </a:endParaRPr>
                    </a:p>
                  </a:txBody>
                  <a:tcPr marT="64000" marB="64000" marR="64000" marL="64000" anchor="ctr">
                    <a:lnL cap="flat" cmpd="sng" w="9525">
                      <a:solidFill>
                        <a:srgbClr val="D9E2EA"/>
                      </a:solidFill>
                      <a:prstDash val="solid"/>
                      <a:round/>
                      <a:headEnd len="sm" w="sm" type="none"/>
                      <a:tailEnd len="sm" w="sm" type="none"/>
                    </a:lnL>
                    <a:lnR cap="flat" cmpd="sng" w="9525">
                      <a:solidFill>
                        <a:srgbClr val="D9E2EA"/>
                      </a:solidFill>
                      <a:prstDash val="solid"/>
                      <a:round/>
                      <a:headEnd len="sm" w="sm" type="none"/>
                      <a:tailEnd len="sm" w="sm" type="none"/>
                    </a:lnR>
                    <a:lnT cap="flat" cmpd="sng" w="9525">
                      <a:solidFill>
                        <a:srgbClr val="D9E2EA"/>
                      </a:solidFill>
                      <a:prstDash val="solid"/>
                      <a:round/>
                      <a:headEnd len="sm" w="sm" type="none"/>
                      <a:tailEnd len="sm" w="sm" type="none"/>
                    </a:lnT>
                    <a:lnB cap="flat" cmpd="sng" w="9525">
                      <a:solidFill>
                        <a:srgbClr val="D9E2EA"/>
                      </a:solidFill>
                      <a:prstDash val="solid"/>
                      <a:round/>
                      <a:headEnd len="sm" w="sm" type="none"/>
                      <a:tailEnd len="sm" w="sm" type="none"/>
                    </a:lnB>
                    <a:solidFill>
                      <a:srgbClr val="FFFFFF"/>
                    </a:solidFill>
                  </a:tcPr>
                </a:tc>
              </a:tr>
              <a:tr h="696250">
                <a:tc>
                  <a:txBody>
                    <a:bodyPr/>
                    <a:lstStyle/>
                    <a:p>
                      <a:pPr indent="0" lvl="0" marL="0" marR="0" rtl="0" algn="l">
                        <a:spcBef>
                          <a:spcPts val="0"/>
                        </a:spcBef>
                        <a:spcAft>
                          <a:spcPts val="0"/>
                        </a:spcAft>
                        <a:buClr>
                          <a:srgbClr val="1D2A5C"/>
                        </a:buClr>
                        <a:buSzPts val="1050"/>
                        <a:buFont typeface="Calibri"/>
                        <a:buNone/>
                      </a:pPr>
                      <a:r>
                        <a:rPr b="1" lang="en-US" sz="1050" u="none" cap="none" strike="noStrike">
                          <a:solidFill>
                            <a:srgbClr val="1D2A5C"/>
                          </a:solidFill>
                          <a:latin typeface="Calibri"/>
                          <a:ea typeface="Calibri"/>
                          <a:cs typeface="Calibri"/>
                          <a:sym typeface="Calibri"/>
                        </a:rPr>
                        <a:t>Strong cohort</a:t>
                      </a:r>
                      <a:endParaRPr sz="1050" u="none" cap="none" strike="noStrike">
                        <a:latin typeface="Calibri"/>
                        <a:ea typeface="Calibri"/>
                        <a:cs typeface="Calibri"/>
                        <a:sym typeface="Calibri"/>
                      </a:endParaRPr>
                    </a:p>
                  </a:txBody>
                  <a:tcPr marT="64000" marB="64000" marR="64000" marL="64000" anchor="ctr">
                    <a:lnL cap="flat" cmpd="sng" w="9525">
                      <a:solidFill>
                        <a:srgbClr val="D9E2EA"/>
                      </a:solidFill>
                      <a:prstDash val="solid"/>
                      <a:round/>
                      <a:headEnd len="sm" w="sm" type="none"/>
                      <a:tailEnd len="sm" w="sm" type="none"/>
                    </a:lnL>
                    <a:lnR cap="flat" cmpd="sng" w="9525">
                      <a:solidFill>
                        <a:srgbClr val="D9E2EA"/>
                      </a:solidFill>
                      <a:prstDash val="solid"/>
                      <a:round/>
                      <a:headEnd len="sm" w="sm" type="none"/>
                      <a:tailEnd len="sm" w="sm" type="none"/>
                    </a:lnR>
                    <a:lnT cap="flat" cmpd="sng" w="9525">
                      <a:solidFill>
                        <a:srgbClr val="D9E2EA"/>
                      </a:solidFill>
                      <a:prstDash val="solid"/>
                      <a:round/>
                      <a:headEnd len="sm" w="sm" type="none"/>
                      <a:tailEnd len="sm" w="sm" type="none"/>
                    </a:lnT>
                    <a:lnB cap="flat" cmpd="sng" w="9525">
                      <a:solidFill>
                        <a:srgbClr val="D9E2EA"/>
                      </a:solidFill>
                      <a:prstDash val="solid"/>
                      <a:round/>
                      <a:headEnd len="sm" w="sm" type="none"/>
                      <a:tailEnd len="sm" w="sm" type="none"/>
                    </a:lnB>
                    <a:solidFill>
                      <a:srgbClr val="F2F6F9"/>
                    </a:solidFill>
                  </a:tcPr>
                </a:tc>
                <a:tc>
                  <a:txBody>
                    <a:bodyPr/>
                    <a:lstStyle/>
                    <a:p>
                      <a:pPr indent="0" lvl="0" marL="0" marR="0" rtl="0" algn="l">
                        <a:spcBef>
                          <a:spcPts val="0"/>
                        </a:spcBef>
                        <a:spcAft>
                          <a:spcPts val="0"/>
                        </a:spcAft>
                        <a:buClr>
                          <a:srgbClr val="23293B"/>
                        </a:buClr>
                        <a:buSzPts val="1050"/>
                        <a:buFont typeface="Calibri"/>
                        <a:buNone/>
                      </a:pPr>
                      <a:r>
                        <a:rPr lang="en-US" sz="1050" u="none" cap="none" strike="noStrike">
                          <a:solidFill>
                            <a:srgbClr val="23293B"/>
                          </a:solidFill>
                          <a:latin typeface="Calibri"/>
                          <a:ea typeface="Calibri"/>
                          <a:cs typeface="Calibri"/>
                          <a:sym typeface="Calibri"/>
                        </a:rPr>
                        <a:t>Pull sustained-load bench + auto-tuner into Day 4 scope</a:t>
                      </a:r>
                      <a:endParaRPr sz="1050" u="none" cap="none" strike="noStrike">
                        <a:latin typeface="Calibri"/>
                        <a:ea typeface="Calibri"/>
                        <a:cs typeface="Calibri"/>
                        <a:sym typeface="Calibri"/>
                      </a:endParaRPr>
                    </a:p>
                  </a:txBody>
                  <a:tcPr marT="64000" marB="64000" marR="64000" marL="64000" anchor="ctr">
                    <a:lnL cap="flat" cmpd="sng" w="9525">
                      <a:solidFill>
                        <a:srgbClr val="D9E2EA"/>
                      </a:solidFill>
                      <a:prstDash val="solid"/>
                      <a:round/>
                      <a:headEnd len="sm" w="sm" type="none"/>
                      <a:tailEnd len="sm" w="sm" type="none"/>
                    </a:lnL>
                    <a:lnR cap="flat" cmpd="sng" w="9525">
                      <a:solidFill>
                        <a:srgbClr val="D9E2EA"/>
                      </a:solidFill>
                      <a:prstDash val="solid"/>
                      <a:round/>
                      <a:headEnd len="sm" w="sm" type="none"/>
                      <a:tailEnd len="sm" w="sm" type="none"/>
                    </a:lnR>
                    <a:lnT cap="flat" cmpd="sng" w="9525">
                      <a:solidFill>
                        <a:srgbClr val="D9E2EA"/>
                      </a:solidFill>
                      <a:prstDash val="solid"/>
                      <a:round/>
                      <a:headEnd len="sm" w="sm" type="none"/>
                      <a:tailEnd len="sm" w="sm" type="none"/>
                    </a:lnT>
                    <a:lnB cap="flat" cmpd="sng" w="9525">
                      <a:solidFill>
                        <a:srgbClr val="D9E2EA"/>
                      </a:solidFill>
                      <a:prstDash val="solid"/>
                      <a:round/>
                      <a:headEnd len="sm" w="sm" type="none"/>
                      <a:tailEnd len="sm" w="sm" type="none"/>
                    </a:lnB>
                    <a:solidFill>
                      <a:srgbClr val="F2F6F9"/>
                    </a:solidFill>
                  </a:tcPr>
                </a:tc>
              </a:tr>
              <a:tr h="696250">
                <a:tc>
                  <a:txBody>
                    <a:bodyPr/>
                    <a:lstStyle/>
                    <a:p>
                      <a:pPr indent="0" lvl="0" marL="0" marR="0" rtl="0" algn="l">
                        <a:spcBef>
                          <a:spcPts val="0"/>
                        </a:spcBef>
                        <a:spcAft>
                          <a:spcPts val="0"/>
                        </a:spcAft>
                        <a:buClr>
                          <a:srgbClr val="1D2A5C"/>
                        </a:buClr>
                        <a:buSzPts val="1050"/>
                        <a:buFont typeface="Calibri"/>
                        <a:buNone/>
                      </a:pPr>
                      <a:r>
                        <a:rPr b="1" lang="en-US" sz="1050" u="none" cap="none" strike="noStrike">
                          <a:solidFill>
                            <a:srgbClr val="1D2A5C"/>
                          </a:solidFill>
                          <a:latin typeface="Calibri"/>
                          <a:ea typeface="Calibri"/>
                          <a:cs typeface="Calibri"/>
                          <a:sym typeface="Calibri"/>
                        </a:rPr>
                        <a:t>Weak cohort</a:t>
                      </a:r>
                      <a:endParaRPr sz="1050" u="none" cap="none" strike="noStrike">
                        <a:latin typeface="Calibri"/>
                        <a:ea typeface="Calibri"/>
                        <a:cs typeface="Calibri"/>
                        <a:sym typeface="Calibri"/>
                      </a:endParaRPr>
                    </a:p>
                  </a:txBody>
                  <a:tcPr marT="64000" marB="64000" marR="64000" marL="64000" anchor="ctr">
                    <a:lnL cap="flat" cmpd="sng" w="9525">
                      <a:solidFill>
                        <a:srgbClr val="D9E2EA"/>
                      </a:solidFill>
                      <a:prstDash val="solid"/>
                      <a:round/>
                      <a:headEnd len="sm" w="sm" type="none"/>
                      <a:tailEnd len="sm" w="sm" type="none"/>
                    </a:lnL>
                    <a:lnR cap="flat" cmpd="sng" w="9525">
                      <a:solidFill>
                        <a:srgbClr val="D9E2EA"/>
                      </a:solidFill>
                      <a:prstDash val="solid"/>
                      <a:round/>
                      <a:headEnd len="sm" w="sm" type="none"/>
                      <a:tailEnd len="sm" w="sm" type="none"/>
                    </a:lnR>
                    <a:lnT cap="flat" cmpd="sng" w="9525">
                      <a:solidFill>
                        <a:srgbClr val="D9E2EA"/>
                      </a:solidFill>
                      <a:prstDash val="solid"/>
                      <a:round/>
                      <a:headEnd len="sm" w="sm" type="none"/>
                      <a:tailEnd len="sm" w="sm" type="none"/>
                    </a:lnT>
                    <a:lnB cap="flat" cmpd="sng" w="9525">
                      <a:solidFill>
                        <a:srgbClr val="D9E2EA"/>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23293B"/>
                        </a:buClr>
                        <a:buSzPts val="1050"/>
                        <a:buFont typeface="Calibri"/>
                        <a:buNone/>
                      </a:pPr>
                      <a:r>
                        <a:rPr lang="en-US" sz="1050" u="none" cap="none" strike="noStrike">
                          <a:solidFill>
                            <a:srgbClr val="23293B"/>
                          </a:solidFill>
                          <a:latin typeface="Calibri"/>
                          <a:ea typeface="Calibri"/>
                          <a:cs typeface="Calibri"/>
                          <a:sym typeface="Calibri"/>
                        </a:rPr>
                        <a:t>Guide Lab 6 tasks 1–2; NEVER drop the s09 discovery</a:t>
                      </a:r>
                      <a:endParaRPr sz="1050" u="none" cap="none" strike="noStrike">
                        <a:latin typeface="Calibri"/>
                        <a:ea typeface="Calibri"/>
                        <a:cs typeface="Calibri"/>
                        <a:sym typeface="Calibri"/>
                      </a:endParaRPr>
                    </a:p>
                  </a:txBody>
                  <a:tcPr marT="64000" marB="64000" marR="64000" marL="64000" anchor="ctr">
                    <a:lnL cap="flat" cmpd="sng" w="9525">
                      <a:solidFill>
                        <a:srgbClr val="D9E2EA"/>
                      </a:solidFill>
                      <a:prstDash val="solid"/>
                      <a:round/>
                      <a:headEnd len="sm" w="sm" type="none"/>
                      <a:tailEnd len="sm" w="sm" type="none"/>
                    </a:lnL>
                    <a:lnR cap="flat" cmpd="sng" w="9525">
                      <a:solidFill>
                        <a:srgbClr val="D9E2EA"/>
                      </a:solidFill>
                      <a:prstDash val="solid"/>
                      <a:round/>
                      <a:headEnd len="sm" w="sm" type="none"/>
                      <a:tailEnd len="sm" w="sm" type="none"/>
                    </a:lnR>
                    <a:lnT cap="flat" cmpd="sng" w="9525">
                      <a:solidFill>
                        <a:srgbClr val="D9E2EA"/>
                      </a:solidFill>
                      <a:prstDash val="solid"/>
                      <a:round/>
                      <a:headEnd len="sm" w="sm" type="none"/>
                      <a:tailEnd len="sm" w="sm" type="none"/>
                    </a:lnT>
                    <a:lnB cap="flat" cmpd="sng" w="9525">
                      <a:solidFill>
                        <a:srgbClr val="D9E2EA"/>
                      </a:solidFill>
                      <a:prstDash val="solid"/>
                      <a:round/>
                      <a:headEnd len="sm" w="sm" type="none"/>
                      <a:tailEnd len="sm" w="sm" type="none"/>
                    </a:lnB>
                    <a:solidFill>
                      <a:srgbClr val="FFFFFF"/>
                    </a:solidFill>
                  </a:tcPr>
                </a:tc>
              </a:tr>
              <a:tr h="696250">
                <a:tc>
                  <a:txBody>
                    <a:bodyPr/>
                    <a:lstStyle/>
                    <a:p>
                      <a:pPr indent="0" lvl="0" marL="0" marR="0" rtl="0" algn="l">
                        <a:spcBef>
                          <a:spcPts val="0"/>
                        </a:spcBef>
                        <a:spcAft>
                          <a:spcPts val="0"/>
                        </a:spcAft>
                        <a:buClr>
                          <a:srgbClr val="1D2A5C"/>
                        </a:buClr>
                        <a:buSzPts val="1050"/>
                        <a:buFont typeface="Calibri"/>
                        <a:buNone/>
                      </a:pPr>
                      <a:r>
                        <a:rPr b="1" lang="en-US" sz="1050" u="none" cap="none" strike="noStrike">
                          <a:solidFill>
                            <a:srgbClr val="1D2A5C"/>
                          </a:solidFill>
                          <a:latin typeface="Calibri"/>
                          <a:ea typeface="Calibri"/>
                          <a:cs typeface="Calibri"/>
                          <a:sym typeface="Calibri"/>
                        </a:rPr>
                        <a:t>Day 4 Hour 3</a:t>
                      </a:r>
                      <a:endParaRPr sz="1050" u="none" cap="none" strike="noStrike">
                        <a:latin typeface="Calibri"/>
                        <a:ea typeface="Calibri"/>
                        <a:cs typeface="Calibri"/>
                        <a:sym typeface="Calibri"/>
                      </a:endParaRPr>
                    </a:p>
                  </a:txBody>
                  <a:tcPr marT="64000" marB="64000" marR="64000" marL="64000" anchor="ctr">
                    <a:lnL cap="flat" cmpd="sng" w="9525">
                      <a:solidFill>
                        <a:srgbClr val="D9E2EA"/>
                      </a:solidFill>
                      <a:prstDash val="solid"/>
                      <a:round/>
                      <a:headEnd len="sm" w="sm" type="none"/>
                      <a:tailEnd len="sm" w="sm" type="none"/>
                    </a:lnL>
                    <a:lnR cap="flat" cmpd="sng" w="9525">
                      <a:solidFill>
                        <a:srgbClr val="D9E2EA"/>
                      </a:solidFill>
                      <a:prstDash val="solid"/>
                      <a:round/>
                      <a:headEnd len="sm" w="sm" type="none"/>
                      <a:tailEnd len="sm" w="sm" type="none"/>
                    </a:lnR>
                    <a:lnT cap="flat" cmpd="sng" w="9525">
                      <a:solidFill>
                        <a:srgbClr val="D9E2EA"/>
                      </a:solidFill>
                      <a:prstDash val="solid"/>
                      <a:round/>
                      <a:headEnd len="sm" w="sm" type="none"/>
                      <a:tailEnd len="sm" w="sm" type="none"/>
                    </a:lnT>
                    <a:lnB cap="flat" cmpd="sng" w="9525">
                      <a:solidFill>
                        <a:srgbClr val="D9E2EA"/>
                      </a:solidFill>
                      <a:prstDash val="solid"/>
                      <a:round/>
                      <a:headEnd len="sm" w="sm" type="none"/>
                      <a:tailEnd len="sm" w="sm" type="none"/>
                    </a:lnB>
                    <a:solidFill>
                      <a:srgbClr val="F2F6F9"/>
                    </a:solidFill>
                  </a:tcPr>
                </a:tc>
                <a:tc>
                  <a:txBody>
                    <a:bodyPr/>
                    <a:lstStyle/>
                    <a:p>
                      <a:pPr indent="0" lvl="0" marL="0" marR="0" rtl="0" algn="l">
                        <a:spcBef>
                          <a:spcPts val="0"/>
                        </a:spcBef>
                        <a:spcAft>
                          <a:spcPts val="0"/>
                        </a:spcAft>
                        <a:buClr>
                          <a:srgbClr val="23293B"/>
                        </a:buClr>
                        <a:buSzPts val="1050"/>
                        <a:buFont typeface="Calibri"/>
                        <a:buNone/>
                      </a:pPr>
                      <a:r>
                        <a:rPr lang="en-US" sz="1050" u="none" cap="none" strike="noStrike">
                          <a:solidFill>
                            <a:srgbClr val="23293B"/>
                          </a:solidFill>
                          <a:latin typeface="Calibri"/>
                          <a:ea typeface="Calibri"/>
                          <a:cs typeface="Calibri"/>
                          <a:sym typeface="Calibri"/>
                        </a:rPr>
                        <a:t>Hard rule: capstone starts on time; cut talk, not build</a:t>
                      </a:r>
                      <a:endParaRPr sz="1050" u="none" cap="none" strike="noStrike">
                        <a:latin typeface="Calibri"/>
                        <a:ea typeface="Calibri"/>
                        <a:cs typeface="Calibri"/>
                        <a:sym typeface="Calibri"/>
                      </a:endParaRPr>
                    </a:p>
                  </a:txBody>
                  <a:tcPr marT="64000" marB="64000" marR="64000" marL="64000" anchor="ctr">
                    <a:lnL cap="flat" cmpd="sng" w="9525">
                      <a:solidFill>
                        <a:srgbClr val="D9E2EA"/>
                      </a:solidFill>
                      <a:prstDash val="solid"/>
                      <a:round/>
                      <a:headEnd len="sm" w="sm" type="none"/>
                      <a:tailEnd len="sm" w="sm" type="none"/>
                    </a:lnL>
                    <a:lnR cap="flat" cmpd="sng" w="9525">
                      <a:solidFill>
                        <a:srgbClr val="D9E2EA"/>
                      </a:solidFill>
                      <a:prstDash val="solid"/>
                      <a:round/>
                      <a:headEnd len="sm" w="sm" type="none"/>
                      <a:tailEnd len="sm" w="sm" type="none"/>
                    </a:lnR>
                    <a:lnT cap="flat" cmpd="sng" w="9525">
                      <a:solidFill>
                        <a:srgbClr val="D9E2EA"/>
                      </a:solidFill>
                      <a:prstDash val="solid"/>
                      <a:round/>
                      <a:headEnd len="sm" w="sm" type="none"/>
                      <a:tailEnd len="sm" w="sm" type="none"/>
                    </a:lnT>
                    <a:lnB cap="flat" cmpd="sng" w="9525">
                      <a:solidFill>
                        <a:srgbClr val="D9E2EA"/>
                      </a:solidFill>
                      <a:prstDash val="solid"/>
                      <a:round/>
                      <a:headEnd len="sm" w="sm" type="none"/>
                      <a:tailEnd len="sm" w="sm" type="none"/>
                    </a:lnB>
                    <a:solidFill>
                      <a:srgbClr val="F2F6F9"/>
                    </a:solidFill>
                  </a:tcPr>
                </a:tc>
              </a:tr>
            </a:tbl>
          </a:graphicData>
        </a:graphic>
      </p:graphicFrame>
    </p:spTree>
  </p:cSld>
  <p:clrMapOvr>
    <a:masterClrMapping/>
  </p:clrMapOvr>
</p:sld>
</file>

<file path=ppt/slides/slide1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242" name="Shape 4242"/>
        <p:cNvGrpSpPr/>
        <p:nvPr/>
      </p:nvGrpSpPr>
      <p:grpSpPr>
        <a:xfrm>
          <a:off x="0" y="0"/>
          <a:ext cx="0" cy="0"/>
          <a:chOff x="0" y="0"/>
          <a:chExt cx="0" cy="0"/>
        </a:xfrm>
      </p:grpSpPr>
      <p:sp>
        <p:nvSpPr>
          <p:cNvPr id="4243" name="Google Shape;4243;p155"/>
          <p:cNvSpPr/>
          <p:nvPr/>
        </p:nvSpPr>
        <p:spPr>
          <a:xfrm>
            <a:off x="502920" y="274320"/>
            <a:ext cx="9646920" cy="56692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D2A5C"/>
              </a:buClr>
              <a:buSzPts val="2700"/>
              <a:buFont typeface="Calibri"/>
              <a:buNone/>
            </a:pPr>
            <a:r>
              <a:rPr b="1" i="0" lang="en-US" sz="2700" u="none" cap="none" strike="noStrike">
                <a:solidFill>
                  <a:srgbClr val="1D2A5C"/>
                </a:solidFill>
                <a:latin typeface="Calibri"/>
                <a:ea typeface="Calibri"/>
                <a:cs typeface="Calibri"/>
                <a:sym typeface="Calibri"/>
              </a:rPr>
              <a:t>Before you teach Day 4</a:t>
            </a:r>
            <a:endParaRPr b="0" i="0" sz="2700" u="none" cap="none" strike="noStrike">
              <a:solidFill>
                <a:schemeClr val="dk1"/>
              </a:solidFill>
              <a:latin typeface="Calibri"/>
              <a:ea typeface="Calibri"/>
              <a:cs typeface="Calibri"/>
              <a:sym typeface="Calibri"/>
            </a:endParaRPr>
          </a:p>
        </p:txBody>
      </p:sp>
      <p:sp>
        <p:nvSpPr>
          <p:cNvPr id="4244" name="Google Shape;4244;p155"/>
          <p:cNvSpPr/>
          <p:nvPr/>
        </p:nvSpPr>
        <p:spPr>
          <a:xfrm>
            <a:off x="502920" y="859536"/>
            <a:ext cx="9646920" cy="31089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F6B7A"/>
              </a:buClr>
              <a:buSzPts val="1250"/>
              <a:buFont typeface="Arial"/>
              <a:buNone/>
            </a:pPr>
            <a:r>
              <a:rPr b="0" i="0" lang="en-US" sz="1250" u="none" cap="none" strike="noStrike">
                <a:solidFill>
                  <a:srgbClr val="5F6B7A"/>
                </a:solidFill>
                <a:latin typeface="Arial"/>
                <a:ea typeface="Arial"/>
                <a:cs typeface="Arial"/>
                <a:sym typeface="Arial"/>
              </a:rPr>
              <a:t>قبل تدريس اليوم الرابع</a:t>
            </a:r>
            <a:endParaRPr b="0" i="0" sz="1250" u="none" cap="none" strike="noStrike">
              <a:solidFill>
                <a:schemeClr val="dk1"/>
              </a:solidFill>
              <a:latin typeface="Calibri"/>
              <a:ea typeface="Calibri"/>
              <a:cs typeface="Calibri"/>
              <a:sym typeface="Calibri"/>
            </a:endParaRPr>
          </a:p>
        </p:txBody>
      </p:sp>
      <p:pic>
        <p:nvPicPr>
          <p:cNvPr descr="/sessions/blissful-determined-ritchie/build/assets/sdaia_logo.png" id="4245" name="Google Shape;4245;p155"/>
          <p:cNvPicPr preferRelativeResize="0"/>
          <p:nvPr/>
        </p:nvPicPr>
        <p:blipFill rotWithShape="1">
          <a:blip r:embed="rId3">
            <a:alphaModFix/>
          </a:blip>
          <a:srcRect b="0" l="0" r="0" t="0"/>
          <a:stretch/>
        </p:blipFill>
        <p:spPr>
          <a:xfrm>
            <a:off x="10625328" y="310896"/>
            <a:ext cx="1078992" cy="264111"/>
          </a:xfrm>
          <a:prstGeom prst="rect">
            <a:avLst/>
          </a:prstGeom>
          <a:noFill/>
          <a:ln>
            <a:noFill/>
          </a:ln>
        </p:spPr>
      </p:pic>
      <p:sp>
        <p:nvSpPr>
          <p:cNvPr id="4246" name="Google Shape;4246;p155"/>
          <p:cNvSpPr/>
          <p:nvPr/>
        </p:nvSpPr>
        <p:spPr>
          <a:xfrm>
            <a:off x="502920" y="6528816"/>
            <a:ext cx="8686800"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A79D"/>
              </a:buClr>
              <a:buSzPts val="800"/>
              <a:buFont typeface="Calibri"/>
              <a:buNone/>
            </a:pPr>
            <a:r>
              <a:rPr b="1" i="0" lang="en-US" sz="800" u="none" cap="none" strike="noStrike">
                <a:solidFill>
                  <a:srgbClr val="00A79D"/>
                </a:solidFill>
                <a:latin typeface="Calibri"/>
                <a:ea typeface="Calibri"/>
                <a:cs typeface="Calibri"/>
                <a:sym typeface="Calibri"/>
              </a:rPr>
              <a:t>INSTRUCTOR   </a:t>
            </a:r>
            <a:r>
              <a:rPr b="0" i="0" lang="en-US" sz="800" u="none" cap="none" strike="noStrike">
                <a:solidFill>
                  <a:srgbClr val="8A96A6"/>
                </a:solidFill>
                <a:latin typeface="Calibri"/>
                <a:ea typeface="Calibri"/>
                <a:cs typeface="Calibri"/>
                <a:sym typeface="Calibri"/>
              </a:rPr>
              <a:t>SDA-AIE-212 · Computer Vision Systems Development</a:t>
            </a:r>
            <a:endParaRPr b="0" i="0" sz="800" u="none" cap="none" strike="noStrike">
              <a:solidFill>
                <a:schemeClr val="dk1"/>
              </a:solidFill>
              <a:latin typeface="Calibri"/>
              <a:ea typeface="Calibri"/>
              <a:cs typeface="Calibri"/>
              <a:sym typeface="Calibri"/>
            </a:endParaRPr>
          </a:p>
        </p:txBody>
      </p:sp>
      <p:sp>
        <p:nvSpPr>
          <p:cNvPr id="4247" name="Google Shape;4247;p155"/>
          <p:cNvSpPr/>
          <p:nvPr/>
        </p:nvSpPr>
        <p:spPr>
          <a:xfrm>
            <a:off x="11292840" y="6528816"/>
            <a:ext cx="411480" cy="219456"/>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8A96A6"/>
              </a:buClr>
              <a:buSzPts val="900"/>
              <a:buFont typeface="Calibri"/>
              <a:buNone/>
            </a:pPr>
            <a:r>
              <a:rPr b="0" i="0" lang="en-US" sz="900" u="none" cap="none" strike="noStrike">
                <a:solidFill>
                  <a:srgbClr val="8A96A6"/>
                </a:solidFill>
                <a:latin typeface="Calibri"/>
                <a:ea typeface="Calibri"/>
                <a:cs typeface="Calibri"/>
                <a:sym typeface="Calibri"/>
              </a:rPr>
              <a:t>155</a:t>
            </a:r>
            <a:endParaRPr b="0" i="0" sz="900" u="none" cap="none" strike="noStrike">
              <a:solidFill>
                <a:schemeClr val="dk1"/>
              </a:solidFill>
              <a:latin typeface="Calibri"/>
              <a:ea typeface="Calibri"/>
              <a:cs typeface="Calibri"/>
              <a:sym typeface="Calibri"/>
            </a:endParaRPr>
          </a:p>
        </p:txBody>
      </p:sp>
      <p:sp>
        <p:nvSpPr>
          <p:cNvPr id="4248" name="Google Shape;4248;p155"/>
          <p:cNvSpPr/>
          <p:nvPr/>
        </p:nvSpPr>
        <p:spPr>
          <a:xfrm>
            <a:off x="502920" y="1559052"/>
            <a:ext cx="329184" cy="329184"/>
          </a:xfrm>
          <a:prstGeom prst="ellipse">
            <a:avLst/>
          </a:prstGeom>
          <a:solidFill>
            <a:srgbClr val="00A79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49" name="Google Shape;4249;p155"/>
          <p:cNvSpPr/>
          <p:nvPr/>
        </p:nvSpPr>
        <p:spPr>
          <a:xfrm>
            <a:off x="502920" y="1559052"/>
            <a:ext cx="329184" cy="32918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300"/>
              <a:buFont typeface="Calibri"/>
              <a:buNone/>
            </a:pPr>
            <a:r>
              <a:rPr b="1" i="0" lang="en-US" sz="1300" u="none" cap="none" strike="noStrike">
                <a:solidFill>
                  <a:srgbClr val="FFFFFF"/>
                </a:solidFill>
                <a:latin typeface="Calibri"/>
                <a:ea typeface="Calibri"/>
                <a:cs typeface="Calibri"/>
                <a:sym typeface="Calibri"/>
              </a:rPr>
              <a:t>1</a:t>
            </a:r>
            <a:endParaRPr b="0" i="0" sz="1300" u="none" cap="none" strike="noStrike">
              <a:solidFill>
                <a:schemeClr val="dk1"/>
              </a:solidFill>
              <a:latin typeface="Calibri"/>
              <a:ea typeface="Calibri"/>
              <a:cs typeface="Calibri"/>
              <a:sym typeface="Calibri"/>
            </a:endParaRPr>
          </a:p>
        </p:txBody>
      </p:sp>
      <p:sp>
        <p:nvSpPr>
          <p:cNvPr id="4250" name="Google Shape;4250;p155"/>
          <p:cNvSpPr/>
          <p:nvPr/>
        </p:nvSpPr>
        <p:spPr>
          <a:xfrm>
            <a:off x="1005840" y="1495044"/>
            <a:ext cx="10682935"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D2A5C"/>
              </a:buClr>
              <a:buSzPts val="1400"/>
              <a:buFont typeface="Calibri"/>
              <a:buNone/>
            </a:pPr>
            <a:r>
              <a:rPr b="1" i="0" lang="en-US" sz="1400" u="none" cap="none" strike="noStrike">
                <a:solidFill>
                  <a:srgbClr val="1D2A5C"/>
                </a:solidFill>
                <a:latin typeface="Calibri"/>
                <a:ea typeface="Calibri"/>
                <a:cs typeface="Calibri"/>
                <a:sym typeface="Calibri"/>
              </a:rPr>
              <a:t>Checkpoints and sim branches pushed</a:t>
            </a:r>
            <a:endParaRPr b="0" i="0" sz="1400" u="none" cap="none" strike="noStrike">
              <a:solidFill>
                <a:schemeClr val="dk1"/>
              </a:solidFill>
              <a:latin typeface="Calibri"/>
              <a:ea typeface="Calibri"/>
              <a:cs typeface="Calibri"/>
              <a:sym typeface="Calibri"/>
            </a:endParaRPr>
          </a:p>
        </p:txBody>
      </p:sp>
      <p:sp>
        <p:nvSpPr>
          <p:cNvPr id="4251" name="Google Shape;4251;p155"/>
          <p:cNvSpPr/>
          <p:nvPr/>
        </p:nvSpPr>
        <p:spPr>
          <a:xfrm>
            <a:off x="1005840" y="1796796"/>
            <a:ext cx="10682935" cy="841248"/>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5F6B7A"/>
              </a:buClr>
              <a:buSzPts val="1150"/>
              <a:buFont typeface="Calibri"/>
              <a:buNone/>
            </a:pPr>
            <a:r>
              <a:rPr b="0" i="0" lang="en-US" sz="1150" u="none" cap="none" strike="noStrike">
                <a:solidFill>
                  <a:srgbClr val="5F6B7A"/>
                </a:solidFill>
                <a:latin typeface="Calibri"/>
                <a:ea typeface="Calibri"/>
                <a:cs typeface="Calibri"/>
                <a:sym typeface="Calibri"/>
              </a:rPr>
              <a:t>lab7-start plus sim-calib-day and sim-wrapper-drift; reference checkpoints regenerated and confirmed within ±0.005 on the pinned versions.</a:t>
            </a:r>
            <a:endParaRPr b="0" i="0" sz="1150" u="none" cap="none" strike="noStrike">
              <a:solidFill>
                <a:schemeClr val="dk1"/>
              </a:solidFill>
              <a:latin typeface="Calibri"/>
              <a:ea typeface="Calibri"/>
              <a:cs typeface="Calibri"/>
              <a:sym typeface="Calibri"/>
            </a:endParaRPr>
          </a:p>
        </p:txBody>
      </p:sp>
      <p:sp>
        <p:nvSpPr>
          <p:cNvPr id="4252" name="Google Shape;4252;p155"/>
          <p:cNvSpPr/>
          <p:nvPr/>
        </p:nvSpPr>
        <p:spPr>
          <a:xfrm>
            <a:off x="502920" y="2747772"/>
            <a:ext cx="329184" cy="329184"/>
          </a:xfrm>
          <a:prstGeom prst="ellipse">
            <a:avLst/>
          </a:prstGeom>
          <a:solidFill>
            <a:srgbClr val="29ABE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53" name="Google Shape;4253;p155"/>
          <p:cNvSpPr/>
          <p:nvPr/>
        </p:nvSpPr>
        <p:spPr>
          <a:xfrm>
            <a:off x="502920" y="2747772"/>
            <a:ext cx="329184" cy="32918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300"/>
              <a:buFont typeface="Calibri"/>
              <a:buNone/>
            </a:pPr>
            <a:r>
              <a:rPr b="1" i="0" lang="en-US" sz="1300" u="none" cap="none" strike="noStrike">
                <a:solidFill>
                  <a:srgbClr val="FFFFFF"/>
                </a:solidFill>
                <a:latin typeface="Calibri"/>
                <a:ea typeface="Calibri"/>
                <a:cs typeface="Calibri"/>
                <a:sym typeface="Calibri"/>
              </a:rPr>
              <a:t>2</a:t>
            </a:r>
            <a:endParaRPr b="0" i="0" sz="1300" u="none" cap="none" strike="noStrike">
              <a:solidFill>
                <a:schemeClr val="dk1"/>
              </a:solidFill>
              <a:latin typeface="Calibri"/>
              <a:ea typeface="Calibri"/>
              <a:cs typeface="Calibri"/>
              <a:sym typeface="Calibri"/>
            </a:endParaRPr>
          </a:p>
        </p:txBody>
      </p:sp>
      <p:sp>
        <p:nvSpPr>
          <p:cNvPr id="4254" name="Google Shape;4254;p155"/>
          <p:cNvSpPr/>
          <p:nvPr/>
        </p:nvSpPr>
        <p:spPr>
          <a:xfrm>
            <a:off x="1005840" y="2683764"/>
            <a:ext cx="10682935"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D2A5C"/>
              </a:buClr>
              <a:buSzPts val="1400"/>
              <a:buFont typeface="Calibri"/>
              <a:buNone/>
            </a:pPr>
            <a:r>
              <a:rPr b="1" i="0" lang="en-US" sz="1400" u="none" cap="none" strike="noStrike">
                <a:solidFill>
                  <a:srgbClr val="1D2A5C"/>
                </a:solidFill>
                <a:latin typeface="Calibri"/>
                <a:ea typeface="Calibri"/>
                <a:cs typeface="Calibri"/>
                <a:sym typeface="Calibri"/>
              </a:rPr>
              <a:t>CPU is the plan, not the fallback</a:t>
            </a:r>
            <a:endParaRPr b="0" i="0" sz="1400" u="none" cap="none" strike="noStrike">
              <a:solidFill>
                <a:schemeClr val="dk1"/>
              </a:solidFill>
              <a:latin typeface="Calibri"/>
              <a:ea typeface="Calibri"/>
              <a:cs typeface="Calibri"/>
              <a:sym typeface="Calibri"/>
            </a:endParaRPr>
          </a:p>
        </p:txBody>
      </p:sp>
      <p:sp>
        <p:nvSpPr>
          <p:cNvPr id="4255" name="Google Shape;4255;p155"/>
          <p:cNvSpPr/>
          <p:nvPr/>
        </p:nvSpPr>
        <p:spPr>
          <a:xfrm>
            <a:off x="1005840" y="2985516"/>
            <a:ext cx="10682935" cy="841248"/>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5F6B7A"/>
              </a:buClr>
              <a:buSzPts val="1150"/>
              <a:buFont typeface="Calibri"/>
              <a:buNone/>
            </a:pPr>
            <a:r>
              <a:rPr b="0" i="0" lang="en-US" sz="1150" u="none" cap="none" strike="noStrike">
                <a:solidFill>
                  <a:srgbClr val="5F6B7A"/>
                </a:solidFill>
                <a:latin typeface="Calibri"/>
                <a:ea typeface="Calibri"/>
                <a:cs typeface="Calibri"/>
                <a:sym typeface="Calibri"/>
              </a:rPr>
              <a:t>Lab 7 runs on CPU by design — the edge box is a CPU. If the OpenVINO EP is missing, fall back to CPUExecutionProvider and note it in the table.</a:t>
            </a:r>
            <a:endParaRPr b="0" i="0" sz="1150" u="none" cap="none" strike="noStrike">
              <a:solidFill>
                <a:schemeClr val="dk1"/>
              </a:solidFill>
              <a:latin typeface="Calibri"/>
              <a:ea typeface="Calibri"/>
              <a:cs typeface="Calibri"/>
              <a:sym typeface="Calibri"/>
            </a:endParaRPr>
          </a:p>
        </p:txBody>
      </p:sp>
      <p:sp>
        <p:nvSpPr>
          <p:cNvPr id="4256" name="Google Shape;4256;p155"/>
          <p:cNvSpPr/>
          <p:nvPr/>
        </p:nvSpPr>
        <p:spPr>
          <a:xfrm>
            <a:off x="502920" y="3936492"/>
            <a:ext cx="329184" cy="329184"/>
          </a:xfrm>
          <a:prstGeom prst="ellipse">
            <a:avLst/>
          </a:prstGeom>
          <a:solidFill>
            <a:srgbClr val="F5822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57" name="Google Shape;4257;p155"/>
          <p:cNvSpPr/>
          <p:nvPr/>
        </p:nvSpPr>
        <p:spPr>
          <a:xfrm>
            <a:off x="502920" y="3936492"/>
            <a:ext cx="329184" cy="32918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300"/>
              <a:buFont typeface="Calibri"/>
              <a:buNone/>
            </a:pPr>
            <a:r>
              <a:rPr b="1" i="0" lang="en-US" sz="1300" u="none" cap="none" strike="noStrike">
                <a:solidFill>
                  <a:srgbClr val="FFFFFF"/>
                </a:solidFill>
                <a:latin typeface="Calibri"/>
                <a:ea typeface="Calibri"/>
                <a:cs typeface="Calibri"/>
                <a:sym typeface="Calibri"/>
              </a:rPr>
              <a:t>3</a:t>
            </a:r>
            <a:endParaRPr b="0" i="0" sz="1300" u="none" cap="none" strike="noStrike">
              <a:solidFill>
                <a:schemeClr val="dk1"/>
              </a:solidFill>
              <a:latin typeface="Calibri"/>
              <a:ea typeface="Calibri"/>
              <a:cs typeface="Calibri"/>
              <a:sym typeface="Calibri"/>
            </a:endParaRPr>
          </a:p>
        </p:txBody>
      </p:sp>
      <p:sp>
        <p:nvSpPr>
          <p:cNvPr id="4258" name="Google Shape;4258;p155"/>
          <p:cNvSpPr/>
          <p:nvPr/>
        </p:nvSpPr>
        <p:spPr>
          <a:xfrm>
            <a:off x="1005840" y="3872484"/>
            <a:ext cx="10682935"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D2A5C"/>
              </a:buClr>
              <a:buSzPts val="1400"/>
              <a:buFont typeface="Calibri"/>
              <a:buNone/>
            </a:pPr>
            <a:r>
              <a:rPr b="1" i="0" lang="en-US" sz="1400" u="none" cap="none" strike="noStrike">
                <a:solidFill>
                  <a:srgbClr val="1D2A5C"/>
                </a:solidFill>
                <a:latin typeface="Calibri"/>
                <a:ea typeface="Calibri"/>
                <a:cs typeface="Calibri"/>
                <a:sym typeface="Calibri"/>
              </a:rPr>
              <a:t>Wrap-up (last 15 minutes)</a:t>
            </a:r>
            <a:endParaRPr b="0" i="0" sz="1400" u="none" cap="none" strike="noStrike">
              <a:solidFill>
                <a:schemeClr val="dk1"/>
              </a:solidFill>
              <a:latin typeface="Calibri"/>
              <a:ea typeface="Calibri"/>
              <a:cs typeface="Calibri"/>
              <a:sym typeface="Calibri"/>
            </a:endParaRPr>
          </a:p>
        </p:txBody>
      </p:sp>
      <p:sp>
        <p:nvSpPr>
          <p:cNvPr id="4259" name="Google Shape;4259;p155"/>
          <p:cNvSpPr/>
          <p:nvPr/>
        </p:nvSpPr>
        <p:spPr>
          <a:xfrm>
            <a:off x="1005840" y="4174236"/>
            <a:ext cx="10682935" cy="841248"/>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5F6B7A"/>
              </a:buClr>
              <a:buSzPts val="1150"/>
              <a:buFont typeface="Calibri"/>
              <a:buNone/>
            </a:pPr>
            <a:r>
              <a:rPr b="0" i="0" lang="en-US" sz="1150" u="none" cap="none" strike="noStrike">
                <a:solidFill>
                  <a:srgbClr val="5F6B7A"/>
                </a:solidFill>
                <a:latin typeface="Calibri"/>
                <a:ea typeface="Calibri"/>
                <a:cs typeface="Calibri"/>
                <a:sym typeface="Calibri"/>
              </a:rPr>
              <a:t>One slide mapping the seven capstone requirements to the seven modules; forward pointer to SDA-AIE-216 (MLOps &amp; AI Reliability).</a:t>
            </a:r>
            <a:endParaRPr b="0" i="0" sz="1150" u="none" cap="none" strike="noStrike">
              <a:solidFill>
                <a:schemeClr val="dk1"/>
              </a:solidFill>
              <a:latin typeface="Calibri"/>
              <a:ea typeface="Calibri"/>
              <a:cs typeface="Calibri"/>
              <a:sym typeface="Calibri"/>
            </a:endParaRPr>
          </a:p>
        </p:txBody>
      </p:sp>
      <p:sp>
        <p:nvSpPr>
          <p:cNvPr id="4260" name="Google Shape;4260;p155"/>
          <p:cNvSpPr/>
          <p:nvPr/>
        </p:nvSpPr>
        <p:spPr>
          <a:xfrm>
            <a:off x="502920" y="5125212"/>
            <a:ext cx="329184" cy="329184"/>
          </a:xfrm>
          <a:prstGeom prst="ellipse">
            <a:avLst/>
          </a:prstGeom>
          <a:solidFill>
            <a:srgbClr val="8DC63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61" name="Google Shape;4261;p155"/>
          <p:cNvSpPr/>
          <p:nvPr/>
        </p:nvSpPr>
        <p:spPr>
          <a:xfrm>
            <a:off x="502920" y="5125212"/>
            <a:ext cx="329184" cy="32918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300"/>
              <a:buFont typeface="Calibri"/>
              <a:buNone/>
            </a:pPr>
            <a:r>
              <a:rPr b="1" i="0" lang="en-US" sz="1300" u="none" cap="none" strike="noStrike">
                <a:solidFill>
                  <a:srgbClr val="FFFFFF"/>
                </a:solidFill>
                <a:latin typeface="Calibri"/>
                <a:ea typeface="Calibri"/>
                <a:cs typeface="Calibri"/>
                <a:sym typeface="Calibri"/>
              </a:rPr>
              <a:t>4</a:t>
            </a:r>
            <a:endParaRPr b="0" i="0" sz="1300" u="none" cap="none" strike="noStrike">
              <a:solidFill>
                <a:schemeClr val="dk1"/>
              </a:solidFill>
              <a:latin typeface="Calibri"/>
              <a:ea typeface="Calibri"/>
              <a:cs typeface="Calibri"/>
              <a:sym typeface="Calibri"/>
            </a:endParaRPr>
          </a:p>
        </p:txBody>
      </p:sp>
      <p:sp>
        <p:nvSpPr>
          <p:cNvPr id="4262" name="Google Shape;4262;p155"/>
          <p:cNvSpPr/>
          <p:nvPr/>
        </p:nvSpPr>
        <p:spPr>
          <a:xfrm>
            <a:off x="1005840" y="5061204"/>
            <a:ext cx="10682935"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D2A5C"/>
              </a:buClr>
              <a:buSzPts val="1400"/>
              <a:buFont typeface="Calibri"/>
              <a:buNone/>
            </a:pPr>
            <a:r>
              <a:rPr b="1" i="0" lang="en-US" sz="1400" u="none" cap="none" strike="noStrike">
                <a:solidFill>
                  <a:srgbClr val="1D2A5C"/>
                </a:solidFill>
                <a:latin typeface="Calibri"/>
                <a:ea typeface="Calibri"/>
                <a:cs typeface="Calibri"/>
                <a:sym typeface="Calibri"/>
              </a:rPr>
              <a:t>Collect and close</a:t>
            </a:r>
            <a:endParaRPr b="0" i="0" sz="1400" u="none" cap="none" strike="noStrike">
              <a:solidFill>
                <a:schemeClr val="dk1"/>
              </a:solidFill>
              <a:latin typeface="Calibri"/>
              <a:ea typeface="Calibri"/>
              <a:cs typeface="Calibri"/>
              <a:sym typeface="Calibri"/>
            </a:endParaRPr>
          </a:p>
        </p:txBody>
      </p:sp>
      <p:sp>
        <p:nvSpPr>
          <p:cNvPr id="4263" name="Google Shape;4263;p155"/>
          <p:cNvSpPr/>
          <p:nvPr/>
        </p:nvSpPr>
        <p:spPr>
          <a:xfrm>
            <a:off x="1005840" y="5362956"/>
            <a:ext cx="10682935" cy="841248"/>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5F6B7A"/>
              </a:buClr>
              <a:buSzPts val="1150"/>
              <a:buFont typeface="Calibri"/>
              <a:buNone/>
            </a:pPr>
            <a:r>
              <a:rPr b="0" i="0" lang="en-US" sz="1150" u="none" cap="none" strike="noStrike">
                <a:solidFill>
                  <a:srgbClr val="5F6B7A"/>
                </a:solidFill>
                <a:latin typeface="Calibri"/>
                <a:ea typeface="Calibri"/>
                <a:cs typeface="Calibri"/>
                <a:sym typeface="Calibri"/>
              </a:rPr>
              <a:t>Repository URLs, BENCHMARKS.md, DECISIONS.md, harness report packs; issue badge recommendations within 5 working days.</a:t>
            </a:r>
            <a:endParaRPr b="0" i="0" sz="1150" u="none" cap="none" strike="noStrike">
              <a:solidFill>
                <a:schemeClr val="dk1"/>
              </a:solidFill>
              <a:latin typeface="Calibri"/>
              <a:ea typeface="Calibri"/>
              <a:cs typeface="Calibri"/>
              <a:sym typeface="Calibri"/>
            </a:endParaRPr>
          </a:p>
        </p:txBody>
      </p:sp>
    </p:spTree>
  </p:cSld>
  <p:clrMapOvr>
    <a:masterClrMapping/>
  </p:clrMapOvr>
</p:sld>
</file>

<file path=ppt/slides/slide1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268" name="Shape 4268"/>
        <p:cNvGrpSpPr/>
        <p:nvPr/>
      </p:nvGrpSpPr>
      <p:grpSpPr>
        <a:xfrm>
          <a:off x="0" y="0"/>
          <a:ext cx="0" cy="0"/>
          <a:chOff x="0" y="0"/>
          <a:chExt cx="0" cy="0"/>
        </a:xfrm>
      </p:grpSpPr>
      <p:sp>
        <p:nvSpPr>
          <p:cNvPr id="4269" name="Google Shape;4269;p156"/>
          <p:cNvSpPr/>
          <p:nvPr/>
        </p:nvSpPr>
        <p:spPr>
          <a:xfrm>
            <a:off x="502920" y="274320"/>
            <a:ext cx="9646920" cy="56692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D2A5C"/>
              </a:buClr>
              <a:buSzPts val="2700"/>
              <a:buFont typeface="Calibri"/>
              <a:buNone/>
            </a:pPr>
            <a:r>
              <a:rPr b="1" i="0" lang="en-US" sz="2700" u="none" cap="none" strike="noStrike">
                <a:solidFill>
                  <a:srgbClr val="1D2A5C"/>
                </a:solidFill>
                <a:latin typeface="Calibri"/>
                <a:ea typeface="Calibri"/>
                <a:cs typeface="Calibri"/>
                <a:sym typeface="Calibri"/>
              </a:rPr>
              <a:t>Where this course sits in your path</a:t>
            </a:r>
            <a:endParaRPr b="0" i="0" sz="2700" u="none" cap="none" strike="noStrike">
              <a:solidFill>
                <a:schemeClr val="dk1"/>
              </a:solidFill>
              <a:latin typeface="Calibri"/>
              <a:ea typeface="Calibri"/>
              <a:cs typeface="Calibri"/>
              <a:sym typeface="Calibri"/>
            </a:endParaRPr>
          </a:p>
        </p:txBody>
      </p:sp>
      <p:sp>
        <p:nvSpPr>
          <p:cNvPr id="4270" name="Google Shape;4270;p156"/>
          <p:cNvSpPr/>
          <p:nvPr/>
        </p:nvSpPr>
        <p:spPr>
          <a:xfrm>
            <a:off x="502920" y="859536"/>
            <a:ext cx="9646920" cy="31089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F6B7A"/>
              </a:buClr>
              <a:buSzPts val="1250"/>
              <a:buFont typeface="Arial"/>
              <a:buNone/>
            </a:pPr>
            <a:r>
              <a:rPr b="0" i="0" lang="en-US" sz="1250" u="none" cap="none" strike="noStrike">
                <a:solidFill>
                  <a:srgbClr val="5F6B7A"/>
                </a:solidFill>
                <a:latin typeface="Arial"/>
                <a:ea typeface="Arial"/>
                <a:cs typeface="Arial"/>
                <a:sym typeface="Arial"/>
              </a:rPr>
              <a:t>موقع البرنامج في مسارك التدريبي</a:t>
            </a:r>
            <a:endParaRPr b="0" i="0" sz="1250" u="none" cap="none" strike="noStrike">
              <a:solidFill>
                <a:schemeClr val="dk1"/>
              </a:solidFill>
              <a:latin typeface="Calibri"/>
              <a:ea typeface="Calibri"/>
              <a:cs typeface="Calibri"/>
              <a:sym typeface="Calibri"/>
            </a:endParaRPr>
          </a:p>
        </p:txBody>
      </p:sp>
      <p:pic>
        <p:nvPicPr>
          <p:cNvPr descr="/sessions/blissful-determined-ritchie/build/assets/sdaia_logo.png" id="4271" name="Google Shape;4271;p156"/>
          <p:cNvPicPr preferRelativeResize="0"/>
          <p:nvPr/>
        </p:nvPicPr>
        <p:blipFill rotWithShape="1">
          <a:blip r:embed="rId3">
            <a:alphaModFix/>
          </a:blip>
          <a:srcRect b="0" l="0" r="0" t="0"/>
          <a:stretch/>
        </p:blipFill>
        <p:spPr>
          <a:xfrm>
            <a:off x="10625328" y="310896"/>
            <a:ext cx="1078992" cy="264111"/>
          </a:xfrm>
          <a:prstGeom prst="rect">
            <a:avLst/>
          </a:prstGeom>
          <a:noFill/>
          <a:ln>
            <a:noFill/>
          </a:ln>
        </p:spPr>
      </p:pic>
      <p:sp>
        <p:nvSpPr>
          <p:cNvPr id="4272" name="Google Shape;4272;p156"/>
          <p:cNvSpPr/>
          <p:nvPr/>
        </p:nvSpPr>
        <p:spPr>
          <a:xfrm>
            <a:off x="502920" y="6528816"/>
            <a:ext cx="8686800"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A79D"/>
              </a:buClr>
              <a:buSzPts val="800"/>
              <a:buFont typeface="Calibri"/>
              <a:buNone/>
            </a:pPr>
            <a:r>
              <a:rPr b="1" i="0" lang="en-US" sz="800" u="none" cap="none" strike="noStrike">
                <a:solidFill>
                  <a:srgbClr val="00A79D"/>
                </a:solidFill>
                <a:latin typeface="Calibri"/>
                <a:ea typeface="Calibri"/>
                <a:cs typeface="Calibri"/>
                <a:sym typeface="Calibri"/>
              </a:rPr>
              <a:t>CLOSING   </a:t>
            </a:r>
            <a:r>
              <a:rPr b="0" i="0" lang="en-US" sz="800" u="none" cap="none" strike="noStrike">
                <a:solidFill>
                  <a:srgbClr val="8A96A6"/>
                </a:solidFill>
                <a:latin typeface="Calibri"/>
                <a:ea typeface="Calibri"/>
                <a:cs typeface="Calibri"/>
                <a:sym typeface="Calibri"/>
              </a:rPr>
              <a:t>SDA-AIE-212 · Computer Vision Systems Development</a:t>
            </a:r>
            <a:endParaRPr b="0" i="0" sz="800" u="none" cap="none" strike="noStrike">
              <a:solidFill>
                <a:schemeClr val="dk1"/>
              </a:solidFill>
              <a:latin typeface="Calibri"/>
              <a:ea typeface="Calibri"/>
              <a:cs typeface="Calibri"/>
              <a:sym typeface="Calibri"/>
            </a:endParaRPr>
          </a:p>
        </p:txBody>
      </p:sp>
      <p:sp>
        <p:nvSpPr>
          <p:cNvPr id="4273" name="Google Shape;4273;p156"/>
          <p:cNvSpPr/>
          <p:nvPr/>
        </p:nvSpPr>
        <p:spPr>
          <a:xfrm>
            <a:off x="11292840" y="6528816"/>
            <a:ext cx="411480" cy="219456"/>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8A96A6"/>
              </a:buClr>
              <a:buSzPts val="900"/>
              <a:buFont typeface="Calibri"/>
              <a:buNone/>
            </a:pPr>
            <a:r>
              <a:rPr b="0" i="0" lang="en-US" sz="900" u="none" cap="none" strike="noStrike">
                <a:solidFill>
                  <a:srgbClr val="8A96A6"/>
                </a:solidFill>
                <a:latin typeface="Calibri"/>
                <a:ea typeface="Calibri"/>
                <a:cs typeface="Calibri"/>
                <a:sym typeface="Calibri"/>
              </a:rPr>
              <a:t>156</a:t>
            </a:r>
            <a:endParaRPr b="0" i="0" sz="900" u="none" cap="none" strike="noStrike">
              <a:solidFill>
                <a:schemeClr val="dk1"/>
              </a:solidFill>
              <a:latin typeface="Calibri"/>
              <a:ea typeface="Calibri"/>
              <a:cs typeface="Calibri"/>
              <a:sym typeface="Calibri"/>
            </a:endParaRPr>
          </a:p>
        </p:txBody>
      </p:sp>
      <p:sp>
        <p:nvSpPr>
          <p:cNvPr id="4274" name="Google Shape;4274;p156"/>
          <p:cNvSpPr/>
          <p:nvPr/>
        </p:nvSpPr>
        <p:spPr>
          <a:xfrm>
            <a:off x="502920" y="1389888"/>
            <a:ext cx="11185855" cy="384048"/>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5F6B7A"/>
              </a:buClr>
              <a:buSzPts val="1250"/>
              <a:buFont typeface="Calibri"/>
              <a:buNone/>
            </a:pPr>
            <a:r>
              <a:rPr b="0" i="1" lang="en-US" sz="1250" u="none" cap="none" strike="noStrike">
                <a:solidFill>
                  <a:srgbClr val="5F6B7A"/>
                </a:solidFill>
                <a:latin typeface="Calibri"/>
                <a:ea typeface="Calibri"/>
                <a:cs typeface="Calibri"/>
                <a:sym typeface="Calibri"/>
              </a:rPr>
              <a:t>Computer Vision Systems Development is a specialisation step inside the AI Engineer Track.</a:t>
            </a:r>
            <a:endParaRPr b="0" i="0" sz="1250" u="none" cap="none" strike="noStrike">
              <a:solidFill>
                <a:schemeClr val="dk1"/>
              </a:solidFill>
              <a:latin typeface="Calibri"/>
              <a:ea typeface="Calibri"/>
              <a:cs typeface="Calibri"/>
              <a:sym typeface="Calibri"/>
            </a:endParaRPr>
          </a:p>
        </p:txBody>
      </p:sp>
      <p:sp>
        <p:nvSpPr>
          <p:cNvPr id="4275" name="Google Shape;4275;p156"/>
          <p:cNvSpPr/>
          <p:nvPr/>
        </p:nvSpPr>
        <p:spPr>
          <a:xfrm>
            <a:off x="502920" y="3438144"/>
            <a:ext cx="3472586" cy="1371600"/>
          </a:xfrm>
          <a:prstGeom prst="roundRect">
            <a:avLst>
              <a:gd fmla="val 4667" name="adj"/>
            </a:avLst>
          </a:prstGeom>
          <a:solidFill>
            <a:srgbClr val="F2F6F9"/>
          </a:solidFill>
          <a:ln cap="flat" cmpd="sng" w="15875">
            <a:solidFill>
              <a:srgbClr val="00A79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76" name="Google Shape;4276;p156"/>
          <p:cNvSpPr/>
          <p:nvPr/>
        </p:nvSpPr>
        <p:spPr>
          <a:xfrm>
            <a:off x="576072" y="3493008"/>
            <a:ext cx="3326282" cy="6172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D2A5C"/>
              </a:buClr>
              <a:buSzPts val="1250"/>
              <a:buFont typeface="Calibri"/>
              <a:buNone/>
            </a:pPr>
            <a:r>
              <a:rPr b="1" i="0" lang="en-US" sz="1250" u="none" cap="none" strike="noStrike">
                <a:solidFill>
                  <a:srgbClr val="1D2A5C"/>
                </a:solidFill>
                <a:latin typeface="Calibri"/>
                <a:ea typeface="Calibri"/>
                <a:cs typeface="Calibri"/>
                <a:sym typeface="Calibri"/>
              </a:rPr>
              <a:t>SDA-AIE-112</a:t>
            </a:r>
            <a:endParaRPr b="0" i="0" sz="1250" u="none" cap="none" strike="noStrike">
              <a:solidFill>
                <a:schemeClr val="dk1"/>
              </a:solidFill>
              <a:latin typeface="Calibri"/>
              <a:ea typeface="Calibri"/>
              <a:cs typeface="Calibri"/>
              <a:sym typeface="Calibri"/>
            </a:endParaRPr>
          </a:p>
        </p:txBody>
      </p:sp>
      <p:sp>
        <p:nvSpPr>
          <p:cNvPr id="4277" name="Google Shape;4277;p156"/>
          <p:cNvSpPr/>
          <p:nvPr/>
        </p:nvSpPr>
        <p:spPr>
          <a:xfrm>
            <a:off x="576072" y="4096512"/>
            <a:ext cx="3326282" cy="658368"/>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rgbClr val="5F6B7A"/>
              </a:buClr>
              <a:buSzPts val="950"/>
              <a:buFont typeface="Calibri"/>
              <a:buNone/>
            </a:pPr>
            <a:r>
              <a:rPr b="0" i="0" lang="en-US" sz="950" u="none" cap="none" strike="noStrike">
                <a:solidFill>
                  <a:srgbClr val="5F6B7A"/>
                </a:solidFill>
                <a:latin typeface="Calibri"/>
                <a:ea typeface="Calibri"/>
                <a:cs typeface="Calibri"/>
                <a:sym typeface="Calibri"/>
              </a:rPr>
              <a:t>Deep Learning Essentials with PyTorch — prerequisite</a:t>
            </a:r>
            <a:endParaRPr b="0" i="0" sz="950" u="none" cap="none" strike="noStrike">
              <a:solidFill>
                <a:schemeClr val="dk1"/>
              </a:solidFill>
              <a:latin typeface="Calibri"/>
              <a:ea typeface="Calibri"/>
              <a:cs typeface="Calibri"/>
              <a:sym typeface="Calibri"/>
            </a:endParaRPr>
          </a:p>
        </p:txBody>
      </p:sp>
      <p:cxnSp>
        <p:nvCxnSpPr>
          <p:cNvPr id="4278" name="Google Shape;4278;p156"/>
          <p:cNvCxnSpPr/>
          <p:nvPr/>
        </p:nvCxnSpPr>
        <p:spPr>
          <a:xfrm>
            <a:off x="4030370" y="4123944"/>
            <a:ext cx="274320" cy="0"/>
          </a:xfrm>
          <a:prstGeom prst="straightConnector1">
            <a:avLst/>
          </a:prstGeom>
          <a:noFill/>
          <a:ln cap="flat" cmpd="sng" w="19050">
            <a:solidFill>
              <a:srgbClr val="8A96A6"/>
            </a:solidFill>
            <a:prstDash val="solid"/>
            <a:round/>
            <a:headEnd len="sm" w="sm" type="none"/>
            <a:tailEnd len="med" w="med" type="triangle"/>
          </a:ln>
        </p:spPr>
      </p:cxnSp>
      <p:sp>
        <p:nvSpPr>
          <p:cNvPr id="4279" name="Google Shape;4279;p156"/>
          <p:cNvSpPr/>
          <p:nvPr/>
        </p:nvSpPr>
        <p:spPr>
          <a:xfrm>
            <a:off x="4359554" y="3438144"/>
            <a:ext cx="3472586" cy="1371600"/>
          </a:xfrm>
          <a:prstGeom prst="roundRect">
            <a:avLst>
              <a:gd fmla="val 4667" name="adj"/>
            </a:avLst>
          </a:prstGeom>
          <a:solidFill>
            <a:srgbClr val="1D2A5C"/>
          </a:solidFill>
          <a:ln cap="flat" cmpd="sng" w="15875">
            <a:solidFill>
              <a:srgbClr val="00A79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80" name="Google Shape;4280;p156"/>
          <p:cNvSpPr/>
          <p:nvPr/>
        </p:nvSpPr>
        <p:spPr>
          <a:xfrm>
            <a:off x="4432706" y="3493008"/>
            <a:ext cx="3326282" cy="6172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250"/>
              <a:buFont typeface="Calibri"/>
              <a:buNone/>
            </a:pPr>
            <a:r>
              <a:rPr b="1" i="0" lang="en-US" sz="1250" u="none" cap="none" strike="noStrike">
                <a:solidFill>
                  <a:srgbClr val="FFFFFF"/>
                </a:solidFill>
                <a:latin typeface="Calibri"/>
                <a:ea typeface="Calibri"/>
                <a:cs typeface="Calibri"/>
                <a:sym typeface="Calibri"/>
              </a:rPr>
              <a:t>SDA-AIE-212</a:t>
            </a:r>
            <a:endParaRPr b="0" i="0" sz="1250" u="none" cap="none" strike="noStrike">
              <a:solidFill>
                <a:schemeClr val="dk1"/>
              </a:solidFill>
              <a:latin typeface="Calibri"/>
              <a:ea typeface="Calibri"/>
              <a:cs typeface="Calibri"/>
              <a:sym typeface="Calibri"/>
            </a:endParaRPr>
          </a:p>
        </p:txBody>
      </p:sp>
      <p:sp>
        <p:nvSpPr>
          <p:cNvPr id="4281" name="Google Shape;4281;p156"/>
          <p:cNvSpPr/>
          <p:nvPr/>
        </p:nvSpPr>
        <p:spPr>
          <a:xfrm>
            <a:off x="4432706" y="4096512"/>
            <a:ext cx="3326282" cy="658368"/>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rgbClr val="B9C8E8"/>
              </a:buClr>
              <a:buSzPts val="950"/>
              <a:buFont typeface="Calibri"/>
              <a:buNone/>
            </a:pPr>
            <a:r>
              <a:rPr b="0" i="0" lang="en-US" sz="950" u="none" cap="none" strike="noStrike">
                <a:solidFill>
                  <a:srgbClr val="B9C8E8"/>
                </a:solidFill>
                <a:latin typeface="Calibri"/>
                <a:ea typeface="Calibri"/>
                <a:cs typeface="Calibri"/>
                <a:sym typeface="Calibri"/>
              </a:rPr>
              <a:t>Computer Vision Systems Development — this course</a:t>
            </a:r>
            <a:endParaRPr b="0" i="0" sz="950" u="none" cap="none" strike="noStrike">
              <a:solidFill>
                <a:schemeClr val="dk1"/>
              </a:solidFill>
              <a:latin typeface="Calibri"/>
              <a:ea typeface="Calibri"/>
              <a:cs typeface="Calibri"/>
              <a:sym typeface="Calibri"/>
            </a:endParaRPr>
          </a:p>
        </p:txBody>
      </p:sp>
      <p:cxnSp>
        <p:nvCxnSpPr>
          <p:cNvPr id="4282" name="Google Shape;4282;p156"/>
          <p:cNvCxnSpPr/>
          <p:nvPr/>
        </p:nvCxnSpPr>
        <p:spPr>
          <a:xfrm>
            <a:off x="7887005" y="4123944"/>
            <a:ext cx="274320" cy="0"/>
          </a:xfrm>
          <a:prstGeom prst="straightConnector1">
            <a:avLst/>
          </a:prstGeom>
          <a:noFill/>
          <a:ln cap="flat" cmpd="sng" w="19050">
            <a:solidFill>
              <a:srgbClr val="8A96A6"/>
            </a:solidFill>
            <a:prstDash val="solid"/>
            <a:round/>
            <a:headEnd len="sm" w="sm" type="none"/>
            <a:tailEnd len="med" w="med" type="triangle"/>
          </a:ln>
        </p:spPr>
      </p:cxnSp>
      <p:sp>
        <p:nvSpPr>
          <p:cNvPr id="4283" name="Google Shape;4283;p156"/>
          <p:cNvSpPr/>
          <p:nvPr/>
        </p:nvSpPr>
        <p:spPr>
          <a:xfrm>
            <a:off x="8216189" y="3438144"/>
            <a:ext cx="3472586" cy="1371600"/>
          </a:xfrm>
          <a:prstGeom prst="roundRect">
            <a:avLst>
              <a:gd fmla="val 4667" name="adj"/>
            </a:avLst>
          </a:prstGeom>
          <a:solidFill>
            <a:srgbClr val="F2F6F9"/>
          </a:solidFill>
          <a:ln cap="flat" cmpd="sng" w="15875">
            <a:solidFill>
              <a:srgbClr val="00A79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84" name="Google Shape;4284;p156"/>
          <p:cNvSpPr/>
          <p:nvPr/>
        </p:nvSpPr>
        <p:spPr>
          <a:xfrm>
            <a:off x="8289341" y="3493008"/>
            <a:ext cx="3326282" cy="6172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D2A5C"/>
              </a:buClr>
              <a:buSzPts val="1250"/>
              <a:buFont typeface="Calibri"/>
              <a:buNone/>
            </a:pPr>
            <a:r>
              <a:rPr b="1" i="0" lang="en-US" sz="1250" u="none" cap="none" strike="noStrike">
                <a:solidFill>
                  <a:srgbClr val="1D2A5C"/>
                </a:solidFill>
                <a:latin typeface="Calibri"/>
                <a:ea typeface="Calibri"/>
                <a:cs typeface="Calibri"/>
                <a:sym typeface="Calibri"/>
              </a:rPr>
              <a:t>SDA-AIE-216</a:t>
            </a:r>
            <a:endParaRPr b="0" i="0" sz="1250" u="none" cap="none" strike="noStrike">
              <a:solidFill>
                <a:schemeClr val="dk1"/>
              </a:solidFill>
              <a:latin typeface="Calibri"/>
              <a:ea typeface="Calibri"/>
              <a:cs typeface="Calibri"/>
              <a:sym typeface="Calibri"/>
            </a:endParaRPr>
          </a:p>
        </p:txBody>
      </p:sp>
      <p:sp>
        <p:nvSpPr>
          <p:cNvPr id="4285" name="Google Shape;4285;p156"/>
          <p:cNvSpPr/>
          <p:nvPr/>
        </p:nvSpPr>
        <p:spPr>
          <a:xfrm>
            <a:off x="8289341" y="4096512"/>
            <a:ext cx="3326282" cy="658368"/>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rgbClr val="5F6B7A"/>
              </a:buClr>
              <a:buSzPts val="950"/>
              <a:buFont typeface="Calibri"/>
              <a:buNone/>
            </a:pPr>
            <a:r>
              <a:rPr b="0" i="0" lang="en-US" sz="950" u="none" cap="none" strike="noStrike">
                <a:solidFill>
                  <a:srgbClr val="5F6B7A"/>
                </a:solidFill>
                <a:latin typeface="Calibri"/>
                <a:ea typeface="Calibri"/>
                <a:cs typeface="Calibri"/>
                <a:sym typeface="Calibri"/>
              </a:rPr>
              <a:t>MLOps — deploy, monitor &amp; automate the system you built</a:t>
            </a:r>
            <a:endParaRPr b="0" i="0" sz="950" u="none" cap="none" strike="noStrike">
              <a:solidFill>
                <a:schemeClr val="dk1"/>
              </a:solidFill>
              <a:latin typeface="Calibri"/>
              <a:ea typeface="Calibri"/>
              <a:cs typeface="Calibri"/>
              <a:sym typeface="Calibri"/>
            </a:endParaRPr>
          </a:p>
        </p:txBody>
      </p:sp>
    </p:spTree>
  </p:cSld>
  <p:clrMapOvr>
    <a:masterClrMapping/>
  </p:clrMapOvr>
</p:sld>
</file>

<file path=ppt/slides/slide1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290" name="Shape 4290"/>
        <p:cNvGrpSpPr/>
        <p:nvPr/>
      </p:nvGrpSpPr>
      <p:grpSpPr>
        <a:xfrm>
          <a:off x="0" y="0"/>
          <a:ext cx="0" cy="0"/>
          <a:chOff x="0" y="0"/>
          <a:chExt cx="0" cy="0"/>
        </a:xfrm>
      </p:grpSpPr>
      <p:sp>
        <p:nvSpPr>
          <p:cNvPr id="4291" name="Google Shape;4291;p157"/>
          <p:cNvSpPr/>
          <p:nvPr/>
        </p:nvSpPr>
        <p:spPr>
          <a:xfrm>
            <a:off x="502920" y="274320"/>
            <a:ext cx="9646920" cy="56692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D2A5C"/>
              </a:buClr>
              <a:buSzPts val="2700"/>
              <a:buFont typeface="Calibri"/>
              <a:buNone/>
            </a:pPr>
            <a:r>
              <a:rPr b="1" i="0" lang="en-US" sz="2700" u="none" cap="none" strike="noStrike">
                <a:solidFill>
                  <a:srgbClr val="1D2A5C"/>
                </a:solidFill>
                <a:latin typeface="Calibri"/>
                <a:ea typeface="Calibri"/>
                <a:cs typeface="Calibri"/>
                <a:sym typeface="Calibri"/>
              </a:rPr>
              <a:t>What you can now do</a:t>
            </a:r>
            <a:endParaRPr b="0" i="0" sz="2700" u="none" cap="none" strike="noStrike">
              <a:solidFill>
                <a:schemeClr val="dk1"/>
              </a:solidFill>
              <a:latin typeface="Calibri"/>
              <a:ea typeface="Calibri"/>
              <a:cs typeface="Calibri"/>
              <a:sym typeface="Calibri"/>
            </a:endParaRPr>
          </a:p>
        </p:txBody>
      </p:sp>
      <p:sp>
        <p:nvSpPr>
          <p:cNvPr id="4292" name="Google Shape;4292;p157"/>
          <p:cNvSpPr/>
          <p:nvPr/>
        </p:nvSpPr>
        <p:spPr>
          <a:xfrm>
            <a:off x="502920" y="859536"/>
            <a:ext cx="9646920" cy="31089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F6B7A"/>
              </a:buClr>
              <a:buSzPts val="1250"/>
              <a:buFont typeface="Arial"/>
              <a:buNone/>
            </a:pPr>
            <a:r>
              <a:rPr b="0" i="0" lang="en-US" sz="1250" u="none" cap="none" strike="noStrike">
                <a:solidFill>
                  <a:srgbClr val="5F6B7A"/>
                </a:solidFill>
                <a:latin typeface="Arial"/>
                <a:ea typeface="Arial"/>
                <a:cs typeface="Arial"/>
                <a:sym typeface="Arial"/>
              </a:rPr>
              <a:t>ماذا تستطيع الآن أن تفعل</a:t>
            </a:r>
            <a:endParaRPr b="0" i="0" sz="1250" u="none" cap="none" strike="noStrike">
              <a:solidFill>
                <a:schemeClr val="dk1"/>
              </a:solidFill>
              <a:latin typeface="Calibri"/>
              <a:ea typeface="Calibri"/>
              <a:cs typeface="Calibri"/>
              <a:sym typeface="Calibri"/>
            </a:endParaRPr>
          </a:p>
        </p:txBody>
      </p:sp>
      <p:pic>
        <p:nvPicPr>
          <p:cNvPr descr="/sessions/blissful-determined-ritchie/build/assets/sdaia_logo.png" id="4293" name="Google Shape;4293;p157"/>
          <p:cNvPicPr preferRelativeResize="0"/>
          <p:nvPr/>
        </p:nvPicPr>
        <p:blipFill rotWithShape="1">
          <a:blip r:embed="rId3">
            <a:alphaModFix/>
          </a:blip>
          <a:srcRect b="0" l="0" r="0" t="0"/>
          <a:stretch/>
        </p:blipFill>
        <p:spPr>
          <a:xfrm>
            <a:off x="10625328" y="310896"/>
            <a:ext cx="1078992" cy="264111"/>
          </a:xfrm>
          <a:prstGeom prst="rect">
            <a:avLst/>
          </a:prstGeom>
          <a:noFill/>
          <a:ln>
            <a:noFill/>
          </a:ln>
        </p:spPr>
      </p:pic>
      <p:sp>
        <p:nvSpPr>
          <p:cNvPr id="4294" name="Google Shape;4294;p157"/>
          <p:cNvSpPr/>
          <p:nvPr/>
        </p:nvSpPr>
        <p:spPr>
          <a:xfrm>
            <a:off x="502920" y="6528816"/>
            <a:ext cx="8686800"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A79D"/>
              </a:buClr>
              <a:buSzPts val="800"/>
              <a:buFont typeface="Calibri"/>
              <a:buNone/>
            </a:pPr>
            <a:r>
              <a:rPr b="1" i="0" lang="en-US" sz="800" u="none" cap="none" strike="noStrike">
                <a:solidFill>
                  <a:srgbClr val="00A79D"/>
                </a:solidFill>
                <a:latin typeface="Calibri"/>
                <a:ea typeface="Calibri"/>
                <a:cs typeface="Calibri"/>
                <a:sym typeface="Calibri"/>
              </a:rPr>
              <a:t>CLOSING   </a:t>
            </a:r>
            <a:r>
              <a:rPr b="0" i="0" lang="en-US" sz="800" u="none" cap="none" strike="noStrike">
                <a:solidFill>
                  <a:srgbClr val="8A96A6"/>
                </a:solidFill>
                <a:latin typeface="Calibri"/>
                <a:ea typeface="Calibri"/>
                <a:cs typeface="Calibri"/>
                <a:sym typeface="Calibri"/>
              </a:rPr>
              <a:t>SDA-AIE-212 · Computer Vision Systems Development</a:t>
            </a:r>
            <a:endParaRPr b="0" i="0" sz="800" u="none" cap="none" strike="noStrike">
              <a:solidFill>
                <a:schemeClr val="dk1"/>
              </a:solidFill>
              <a:latin typeface="Calibri"/>
              <a:ea typeface="Calibri"/>
              <a:cs typeface="Calibri"/>
              <a:sym typeface="Calibri"/>
            </a:endParaRPr>
          </a:p>
        </p:txBody>
      </p:sp>
      <p:sp>
        <p:nvSpPr>
          <p:cNvPr id="4295" name="Google Shape;4295;p157"/>
          <p:cNvSpPr/>
          <p:nvPr/>
        </p:nvSpPr>
        <p:spPr>
          <a:xfrm>
            <a:off x="11292840" y="6528816"/>
            <a:ext cx="411480" cy="219456"/>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8A96A6"/>
              </a:buClr>
              <a:buSzPts val="900"/>
              <a:buFont typeface="Calibri"/>
              <a:buNone/>
            </a:pPr>
            <a:r>
              <a:rPr b="0" i="0" lang="en-US" sz="900" u="none" cap="none" strike="noStrike">
                <a:solidFill>
                  <a:srgbClr val="8A96A6"/>
                </a:solidFill>
                <a:latin typeface="Calibri"/>
                <a:ea typeface="Calibri"/>
                <a:cs typeface="Calibri"/>
                <a:sym typeface="Calibri"/>
              </a:rPr>
              <a:t>157</a:t>
            </a:r>
            <a:endParaRPr b="0" i="0" sz="900" u="none" cap="none" strike="noStrike">
              <a:solidFill>
                <a:schemeClr val="dk1"/>
              </a:solidFill>
              <a:latin typeface="Calibri"/>
              <a:ea typeface="Calibri"/>
              <a:cs typeface="Calibri"/>
              <a:sym typeface="Calibri"/>
            </a:endParaRPr>
          </a:p>
        </p:txBody>
      </p:sp>
      <p:sp>
        <p:nvSpPr>
          <p:cNvPr id="4296" name="Google Shape;4296;p157"/>
          <p:cNvSpPr/>
          <p:nvPr/>
        </p:nvSpPr>
        <p:spPr>
          <a:xfrm>
            <a:off x="502920" y="1389888"/>
            <a:ext cx="3545738" cy="2354580"/>
          </a:xfrm>
          <a:prstGeom prst="roundRect">
            <a:avLst>
              <a:gd fmla="val 3107" name="adj"/>
            </a:avLst>
          </a:prstGeom>
          <a:solidFill>
            <a:srgbClr val="F2F6F9"/>
          </a:solidFill>
          <a:ln cap="flat" cmpd="sng" w="12700">
            <a:solidFill>
              <a:srgbClr val="D9E2E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97" name="Google Shape;4297;p157"/>
          <p:cNvSpPr/>
          <p:nvPr/>
        </p:nvSpPr>
        <p:spPr>
          <a:xfrm>
            <a:off x="667512" y="1536192"/>
            <a:ext cx="310896" cy="310896"/>
          </a:xfrm>
          <a:prstGeom prst="ellipse">
            <a:avLst/>
          </a:prstGeom>
          <a:solidFill>
            <a:srgbClr val="00A79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98" name="Google Shape;4298;p157"/>
          <p:cNvSpPr/>
          <p:nvPr/>
        </p:nvSpPr>
        <p:spPr>
          <a:xfrm>
            <a:off x="667512" y="1536192"/>
            <a:ext cx="310896" cy="31089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200"/>
              <a:buFont typeface="Calibri"/>
              <a:buNone/>
            </a:pPr>
            <a:r>
              <a:rPr b="1" i="0" lang="en-US" sz="1200" u="none" cap="none" strike="noStrike">
                <a:solidFill>
                  <a:srgbClr val="FFFFFF"/>
                </a:solidFill>
                <a:latin typeface="Calibri"/>
                <a:ea typeface="Calibri"/>
                <a:cs typeface="Calibri"/>
                <a:sym typeface="Calibri"/>
              </a:rPr>
              <a:t>1</a:t>
            </a:r>
            <a:endParaRPr b="0" i="0" sz="1200" u="none" cap="none" strike="noStrike">
              <a:solidFill>
                <a:schemeClr val="dk1"/>
              </a:solidFill>
              <a:latin typeface="Calibri"/>
              <a:ea typeface="Calibri"/>
              <a:cs typeface="Calibri"/>
              <a:sym typeface="Calibri"/>
            </a:endParaRPr>
          </a:p>
        </p:txBody>
      </p:sp>
      <p:sp>
        <p:nvSpPr>
          <p:cNvPr id="4299" name="Google Shape;4299;p157"/>
          <p:cNvSpPr/>
          <p:nvPr/>
        </p:nvSpPr>
        <p:spPr>
          <a:xfrm>
            <a:off x="1088136" y="1499616"/>
            <a:ext cx="2814218" cy="38404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D2A5C"/>
              </a:buClr>
              <a:buSzPts val="1250"/>
              <a:buFont typeface="Calibri"/>
              <a:buNone/>
            </a:pPr>
            <a:r>
              <a:rPr b="1" i="0" lang="en-US" sz="1250" u="none" cap="none" strike="noStrike">
                <a:solidFill>
                  <a:srgbClr val="1D2A5C"/>
                </a:solidFill>
                <a:latin typeface="Calibri"/>
                <a:ea typeface="Calibri"/>
                <a:cs typeface="Calibri"/>
                <a:sym typeface="Calibri"/>
              </a:rPr>
              <a:t>Build input pipelines</a:t>
            </a:r>
            <a:endParaRPr b="0" i="0" sz="1250" u="none" cap="none" strike="noStrike">
              <a:solidFill>
                <a:schemeClr val="dk1"/>
              </a:solidFill>
              <a:latin typeface="Calibri"/>
              <a:ea typeface="Calibri"/>
              <a:cs typeface="Calibri"/>
              <a:sym typeface="Calibri"/>
            </a:endParaRPr>
          </a:p>
        </p:txBody>
      </p:sp>
      <p:sp>
        <p:nvSpPr>
          <p:cNvPr id="4300" name="Google Shape;4300;p157"/>
          <p:cNvSpPr/>
          <p:nvPr/>
        </p:nvSpPr>
        <p:spPr>
          <a:xfrm>
            <a:off x="685800" y="1920240"/>
            <a:ext cx="3179978" cy="17145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5F6B7A"/>
              </a:buClr>
              <a:buSzPts val="1100"/>
              <a:buFont typeface="Calibri"/>
              <a:buNone/>
            </a:pPr>
            <a:r>
              <a:rPr b="0" i="0" lang="en-US" sz="1100" u="none" cap="none" strike="noStrike">
                <a:solidFill>
                  <a:srgbClr val="5F6B7A"/>
                </a:solidFill>
                <a:latin typeface="Calibri"/>
                <a:ea typeface="Calibri"/>
                <a:cs typeface="Calibri"/>
                <a:sym typeface="Calibri"/>
              </a:rPr>
              <a:t>Preprocessing contracts, audited augmentation policies, measured loader throughput (M1).</a:t>
            </a:r>
            <a:endParaRPr b="0" i="0" sz="1100" u="none" cap="none" strike="noStrike">
              <a:solidFill>
                <a:schemeClr val="dk1"/>
              </a:solidFill>
              <a:latin typeface="Calibri"/>
              <a:ea typeface="Calibri"/>
              <a:cs typeface="Calibri"/>
              <a:sym typeface="Calibri"/>
            </a:endParaRPr>
          </a:p>
        </p:txBody>
      </p:sp>
      <p:sp>
        <p:nvSpPr>
          <p:cNvPr id="4301" name="Google Shape;4301;p157"/>
          <p:cNvSpPr/>
          <p:nvPr/>
        </p:nvSpPr>
        <p:spPr>
          <a:xfrm>
            <a:off x="4322978" y="1389888"/>
            <a:ext cx="3545738" cy="2354580"/>
          </a:xfrm>
          <a:prstGeom prst="roundRect">
            <a:avLst>
              <a:gd fmla="val 3107" name="adj"/>
            </a:avLst>
          </a:prstGeom>
          <a:solidFill>
            <a:srgbClr val="F2F6F9"/>
          </a:solidFill>
          <a:ln cap="flat" cmpd="sng" w="12700">
            <a:solidFill>
              <a:srgbClr val="D9E2E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02" name="Google Shape;4302;p157"/>
          <p:cNvSpPr/>
          <p:nvPr/>
        </p:nvSpPr>
        <p:spPr>
          <a:xfrm>
            <a:off x="4487570" y="1536192"/>
            <a:ext cx="310896" cy="310896"/>
          </a:xfrm>
          <a:prstGeom prst="ellipse">
            <a:avLst/>
          </a:prstGeom>
          <a:solidFill>
            <a:srgbClr val="29ABE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03" name="Google Shape;4303;p157"/>
          <p:cNvSpPr/>
          <p:nvPr/>
        </p:nvSpPr>
        <p:spPr>
          <a:xfrm>
            <a:off x="4487570" y="1536192"/>
            <a:ext cx="310896" cy="31089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200"/>
              <a:buFont typeface="Calibri"/>
              <a:buNone/>
            </a:pPr>
            <a:r>
              <a:rPr b="1" i="0" lang="en-US" sz="1200" u="none" cap="none" strike="noStrike">
                <a:solidFill>
                  <a:srgbClr val="FFFFFF"/>
                </a:solidFill>
                <a:latin typeface="Calibri"/>
                <a:ea typeface="Calibri"/>
                <a:cs typeface="Calibri"/>
                <a:sym typeface="Calibri"/>
              </a:rPr>
              <a:t>2</a:t>
            </a:r>
            <a:endParaRPr b="0" i="0" sz="1200" u="none" cap="none" strike="noStrike">
              <a:solidFill>
                <a:schemeClr val="dk1"/>
              </a:solidFill>
              <a:latin typeface="Calibri"/>
              <a:ea typeface="Calibri"/>
              <a:cs typeface="Calibri"/>
              <a:sym typeface="Calibri"/>
            </a:endParaRPr>
          </a:p>
        </p:txBody>
      </p:sp>
      <p:sp>
        <p:nvSpPr>
          <p:cNvPr id="4304" name="Google Shape;4304;p157"/>
          <p:cNvSpPr/>
          <p:nvPr/>
        </p:nvSpPr>
        <p:spPr>
          <a:xfrm>
            <a:off x="4908194" y="1499616"/>
            <a:ext cx="2814218" cy="38404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D2A5C"/>
              </a:buClr>
              <a:buSzPts val="1250"/>
              <a:buFont typeface="Calibri"/>
              <a:buNone/>
            </a:pPr>
            <a:r>
              <a:rPr b="1" i="0" lang="en-US" sz="1250" u="none" cap="none" strike="noStrike">
                <a:solidFill>
                  <a:srgbClr val="1D2A5C"/>
                </a:solidFill>
                <a:latin typeface="Calibri"/>
                <a:ea typeface="Calibri"/>
                <a:cs typeface="Calibri"/>
                <a:sym typeface="Calibri"/>
              </a:rPr>
              <a:t>Fine-tune backbones</a:t>
            </a:r>
            <a:endParaRPr b="0" i="0" sz="1250" u="none" cap="none" strike="noStrike">
              <a:solidFill>
                <a:schemeClr val="dk1"/>
              </a:solidFill>
              <a:latin typeface="Calibri"/>
              <a:ea typeface="Calibri"/>
              <a:cs typeface="Calibri"/>
              <a:sym typeface="Calibri"/>
            </a:endParaRPr>
          </a:p>
        </p:txBody>
      </p:sp>
      <p:sp>
        <p:nvSpPr>
          <p:cNvPr id="4305" name="Google Shape;4305;p157"/>
          <p:cNvSpPr/>
          <p:nvPr/>
        </p:nvSpPr>
        <p:spPr>
          <a:xfrm>
            <a:off x="4505858" y="1920240"/>
            <a:ext cx="3179978" cy="17145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5F6B7A"/>
              </a:buClr>
              <a:buSzPts val="1100"/>
              <a:buFont typeface="Calibri"/>
              <a:buNone/>
            </a:pPr>
            <a:r>
              <a:rPr b="0" i="0" lang="en-US" sz="1100" u="none" cap="none" strike="noStrike">
                <a:solidFill>
                  <a:srgbClr val="5F6B7A"/>
                </a:solidFill>
                <a:latin typeface="Calibri"/>
                <a:ea typeface="Calibri"/>
                <a:cs typeface="Calibri"/>
                <a:sym typeface="Calibri"/>
              </a:rPr>
              <a:t>Staged transfer learning on CNNs and ViTs, with honest per-class metrics (M2).</a:t>
            </a:r>
            <a:endParaRPr b="0" i="0" sz="1100" u="none" cap="none" strike="noStrike">
              <a:solidFill>
                <a:schemeClr val="dk1"/>
              </a:solidFill>
              <a:latin typeface="Calibri"/>
              <a:ea typeface="Calibri"/>
              <a:cs typeface="Calibri"/>
              <a:sym typeface="Calibri"/>
            </a:endParaRPr>
          </a:p>
        </p:txBody>
      </p:sp>
      <p:sp>
        <p:nvSpPr>
          <p:cNvPr id="4306" name="Google Shape;4306;p157"/>
          <p:cNvSpPr/>
          <p:nvPr/>
        </p:nvSpPr>
        <p:spPr>
          <a:xfrm>
            <a:off x="8143037" y="1389888"/>
            <a:ext cx="3545738" cy="2354580"/>
          </a:xfrm>
          <a:prstGeom prst="roundRect">
            <a:avLst>
              <a:gd fmla="val 3107" name="adj"/>
            </a:avLst>
          </a:prstGeom>
          <a:solidFill>
            <a:srgbClr val="F2F6F9"/>
          </a:solidFill>
          <a:ln cap="flat" cmpd="sng" w="12700">
            <a:solidFill>
              <a:srgbClr val="D9E2E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07" name="Google Shape;4307;p157"/>
          <p:cNvSpPr/>
          <p:nvPr/>
        </p:nvSpPr>
        <p:spPr>
          <a:xfrm>
            <a:off x="8307629" y="1536192"/>
            <a:ext cx="310896" cy="310896"/>
          </a:xfrm>
          <a:prstGeom prst="ellipse">
            <a:avLst/>
          </a:prstGeom>
          <a:solidFill>
            <a:srgbClr val="F5822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08" name="Google Shape;4308;p157"/>
          <p:cNvSpPr/>
          <p:nvPr/>
        </p:nvSpPr>
        <p:spPr>
          <a:xfrm>
            <a:off x="8307629" y="1536192"/>
            <a:ext cx="310896" cy="31089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200"/>
              <a:buFont typeface="Calibri"/>
              <a:buNone/>
            </a:pPr>
            <a:r>
              <a:rPr b="1" i="0" lang="en-US" sz="1200" u="none" cap="none" strike="noStrike">
                <a:solidFill>
                  <a:srgbClr val="FFFFFF"/>
                </a:solidFill>
                <a:latin typeface="Calibri"/>
                <a:ea typeface="Calibri"/>
                <a:cs typeface="Calibri"/>
                <a:sym typeface="Calibri"/>
              </a:rPr>
              <a:t>3</a:t>
            </a:r>
            <a:endParaRPr b="0" i="0" sz="1200" u="none" cap="none" strike="noStrike">
              <a:solidFill>
                <a:schemeClr val="dk1"/>
              </a:solidFill>
              <a:latin typeface="Calibri"/>
              <a:ea typeface="Calibri"/>
              <a:cs typeface="Calibri"/>
              <a:sym typeface="Calibri"/>
            </a:endParaRPr>
          </a:p>
        </p:txBody>
      </p:sp>
      <p:sp>
        <p:nvSpPr>
          <p:cNvPr id="4309" name="Google Shape;4309;p157"/>
          <p:cNvSpPr/>
          <p:nvPr/>
        </p:nvSpPr>
        <p:spPr>
          <a:xfrm>
            <a:off x="8728253" y="1499616"/>
            <a:ext cx="2814218" cy="38404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D2A5C"/>
              </a:buClr>
              <a:buSzPts val="1250"/>
              <a:buFont typeface="Calibri"/>
              <a:buNone/>
            </a:pPr>
            <a:r>
              <a:rPr b="1" i="0" lang="en-US" sz="1250" u="none" cap="none" strike="noStrike">
                <a:solidFill>
                  <a:srgbClr val="1D2A5C"/>
                </a:solidFill>
                <a:latin typeface="Calibri"/>
                <a:ea typeface="Calibri"/>
                <a:cs typeface="Calibri"/>
                <a:sym typeface="Calibri"/>
              </a:rPr>
              <a:t>Detect &amp; segment</a:t>
            </a:r>
            <a:endParaRPr b="0" i="0" sz="1250" u="none" cap="none" strike="noStrike">
              <a:solidFill>
                <a:schemeClr val="dk1"/>
              </a:solidFill>
              <a:latin typeface="Calibri"/>
              <a:ea typeface="Calibri"/>
              <a:cs typeface="Calibri"/>
              <a:sym typeface="Calibri"/>
            </a:endParaRPr>
          </a:p>
        </p:txBody>
      </p:sp>
      <p:sp>
        <p:nvSpPr>
          <p:cNvPr id="4310" name="Google Shape;4310;p157"/>
          <p:cNvSpPr/>
          <p:nvPr/>
        </p:nvSpPr>
        <p:spPr>
          <a:xfrm>
            <a:off x="8325917" y="1920240"/>
            <a:ext cx="3179978" cy="17145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5F6B7A"/>
              </a:buClr>
              <a:buSzPts val="1100"/>
              <a:buFont typeface="Calibri"/>
              <a:buNone/>
            </a:pPr>
            <a:r>
              <a:rPr b="0" i="0" lang="en-US" sz="1100" u="none" cap="none" strike="noStrike">
                <a:solidFill>
                  <a:srgbClr val="5F6B7A"/>
                </a:solidFill>
                <a:latin typeface="Calibri"/>
                <a:ea typeface="Calibri"/>
                <a:cs typeface="Calibri"/>
                <a:sym typeface="Calibri"/>
              </a:rPr>
              <a:t>YOLO-family detectors and segmenters tuned to line requirements, not defaults (M3–M4).</a:t>
            </a:r>
            <a:endParaRPr b="0" i="0" sz="1100" u="none" cap="none" strike="noStrike">
              <a:solidFill>
                <a:schemeClr val="dk1"/>
              </a:solidFill>
              <a:latin typeface="Calibri"/>
              <a:ea typeface="Calibri"/>
              <a:cs typeface="Calibri"/>
              <a:sym typeface="Calibri"/>
            </a:endParaRPr>
          </a:p>
        </p:txBody>
      </p:sp>
      <p:sp>
        <p:nvSpPr>
          <p:cNvPr id="4311" name="Google Shape;4311;p157"/>
          <p:cNvSpPr/>
          <p:nvPr/>
        </p:nvSpPr>
        <p:spPr>
          <a:xfrm>
            <a:off x="502920" y="4000500"/>
            <a:ext cx="3545738" cy="2354580"/>
          </a:xfrm>
          <a:prstGeom prst="roundRect">
            <a:avLst>
              <a:gd fmla="val 3107" name="adj"/>
            </a:avLst>
          </a:prstGeom>
          <a:solidFill>
            <a:srgbClr val="F2F6F9"/>
          </a:solidFill>
          <a:ln cap="flat" cmpd="sng" w="12700">
            <a:solidFill>
              <a:srgbClr val="D9E2E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12" name="Google Shape;4312;p157"/>
          <p:cNvSpPr/>
          <p:nvPr/>
        </p:nvSpPr>
        <p:spPr>
          <a:xfrm>
            <a:off x="667512" y="4146804"/>
            <a:ext cx="310896" cy="310896"/>
          </a:xfrm>
          <a:prstGeom prst="ellipse">
            <a:avLst/>
          </a:prstGeom>
          <a:solidFill>
            <a:srgbClr val="8DC63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13" name="Google Shape;4313;p157"/>
          <p:cNvSpPr/>
          <p:nvPr/>
        </p:nvSpPr>
        <p:spPr>
          <a:xfrm>
            <a:off x="667512" y="4146804"/>
            <a:ext cx="310896" cy="31089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200"/>
              <a:buFont typeface="Calibri"/>
              <a:buNone/>
            </a:pPr>
            <a:r>
              <a:rPr b="1" i="0" lang="en-US" sz="1200" u="none" cap="none" strike="noStrike">
                <a:solidFill>
                  <a:srgbClr val="FFFFFF"/>
                </a:solidFill>
                <a:latin typeface="Calibri"/>
                <a:ea typeface="Calibri"/>
                <a:cs typeface="Calibri"/>
                <a:sym typeface="Calibri"/>
              </a:rPr>
              <a:t>4</a:t>
            </a:r>
            <a:endParaRPr b="0" i="0" sz="1200" u="none" cap="none" strike="noStrike">
              <a:solidFill>
                <a:schemeClr val="dk1"/>
              </a:solidFill>
              <a:latin typeface="Calibri"/>
              <a:ea typeface="Calibri"/>
              <a:cs typeface="Calibri"/>
              <a:sym typeface="Calibri"/>
            </a:endParaRPr>
          </a:p>
        </p:txBody>
      </p:sp>
      <p:sp>
        <p:nvSpPr>
          <p:cNvPr id="4314" name="Google Shape;4314;p157"/>
          <p:cNvSpPr/>
          <p:nvPr/>
        </p:nvSpPr>
        <p:spPr>
          <a:xfrm>
            <a:off x="1088136" y="4110228"/>
            <a:ext cx="2814218" cy="38404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D2A5C"/>
              </a:buClr>
              <a:buSzPts val="1250"/>
              <a:buFont typeface="Calibri"/>
              <a:buNone/>
            </a:pPr>
            <a:r>
              <a:rPr b="1" i="0" lang="en-US" sz="1250" u="none" cap="none" strike="noStrike">
                <a:solidFill>
                  <a:srgbClr val="1D2A5C"/>
                </a:solidFill>
                <a:latin typeface="Calibri"/>
                <a:ea typeface="Calibri"/>
                <a:cs typeface="Calibri"/>
                <a:sym typeface="Calibri"/>
              </a:rPr>
              <a:t>Curate datasets</a:t>
            </a:r>
            <a:endParaRPr b="0" i="0" sz="1250" u="none" cap="none" strike="noStrike">
              <a:solidFill>
                <a:schemeClr val="dk1"/>
              </a:solidFill>
              <a:latin typeface="Calibri"/>
              <a:ea typeface="Calibri"/>
              <a:cs typeface="Calibri"/>
              <a:sym typeface="Calibri"/>
            </a:endParaRPr>
          </a:p>
        </p:txBody>
      </p:sp>
      <p:sp>
        <p:nvSpPr>
          <p:cNvPr id="4315" name="Google Shape;4315;p157"/>
          <p:cNvSpPr/>
          <p:nvPr/>
        </p:nvSpPr>
        <p:spPr>
          <a:xfrm>
            <a:off x="685800" y="4530852"/>
            <a:ext cx="3179978" cy="17145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5F6B7A"/>
              </a:buClr>
              <a:buSzPts val="1100"/>
              <a:buFont typeface="Calibri"/>
              <a:buNone/>
            </a:pPr>
            <a:r>
              <a:rPr b="0" i="0" lang="en-US" sz="1100" u="none" cap="none" strike="noStrike">
                <a:solidFill>
                  <a:srgbClr val="5F6B7A"/>
                </a:solidFill>
                <a:latin typeface="Calibri"/>
                <a:ea typeface="Calibri"/>
                <a:cs typeface="Calibri"/>
                <a:sym typeface="Calibri"/>
              </a:rPr>
              <a:t>Model-assisted audits, annotation specs, agreement metrics, versioned releases (M5).</a:t>
            </a:r>
            <a:endParaRPr b="0" i="0" sz="1100" u="none" cap="none" strike="noStrike">
              <a:solidFill>
                <a:schemeClr val="dk1"/>
              </a:solidFill>
              <a:latin typeface="Calibri"/>
              <a:ea typeface="Calibri"/>
              <a:cs typeface="Calibri"/>
              <a:sym typeface="Calibri"/>
            </a:endParaRPr>
          </a:p>
        </p:txBody>
      </p:sp>
      <p:sp>
        <p:nvSpPr>
          <p:cNvPr id="4316" name="Google Shape;4316;p157"/>
          <p:cNvSpPr/>
          <p:nvPr/>
        </p:nvSpPr>
        <p:spPr>
          <a:xfrm>
            <a:off x="4322978" y="4000500"/>
            <a:ext cx="3545738" cy="2354580"/>
          </a:xfrm>
          <a:prstGeom prst="roundRect">
            <a:avLst>
              <a:gd fmla="val 3107" name="adj"/>
            </a:avLst>
          </a:prstGeom>
          <a:solidFill>
            <a:srgbClr val="F2F6F9"/>
          </a:solidFill>
          <a:ln cap="flat" cmpd="sng" w="12700">
            <a:solidFill>
              <a:srgbClr val="D9E2E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17" name="Google Shape;4317;p157"/>
          <p:cNvSpPr/>
          <p:nvPr/>
        </p:nvSpPr>
        <p:spPr>
          <a:xfrm>
            <a:off x="4487570" y="4146804"/>
            <a:ext cx="310896" cy="310896"/>
          </a:xfrm>
          <a:prstGeom prst="ellipse">
            <a:avLst/>
          </a:prstGeom>
          <a:solidFill>
            <a:srgbClr val="1D2A5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18" name="Google Shape;4318;p157"/>
          <p:cNvSpPr/>
          <p:nvPr/>
        </p:nvSpPr>
        <p:spPr>
          <a:xfrm>
            <a:off x="4487570" y="4146804"/>
            <a:ext cx="310896" cy="31089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200"/>
              <a:buFont typeface="Calibri"/>
              <a:buNone/>
            </a:pPr>
            <a:r>
              <a:rPr b="1" i="0" lang="en-US" sz="1200" u="none" cap="none" strike="noStrike">
                <a:solidFill>
                  <a:srgbClr val="FFFFFF"/>
                </a:solidFill>
                <a:latin typeface="Calibri"/>
                <a:ea typeface="Calibri"/>
                <a:cs typeface="Calibri"/>
                <a:sym typeface="Calibri"/>
              </a:rPr>
              <a:t>5</a:t>
            </a:r>
            <a:endParaRPr b="0" i="0" sz="1200" u="none" cap="none" strike="noStrike">
              <a:solidFill>
                <a:schemeClr val="dk1"/>
              </a:solidFill>
              <a:latin typeface="Calibri"/>
              <a:ea typeface="Calibri"/>
              <a:cs typeface="Calibri"/>
              <a:sym typeface="Calibri"/>
            </a:endParaRPr>
          </a:p>
        </p:txBody>
      </p:sp>
      <p:sp>
        <p:nvSpPr>
          <p:cNvPr id="4319" name="Google Shape;4319;p157"/>
          <p:cNvSpPr/>
          <p:nvPr/>
        </p:nvSpPr>
        <p:spPr>
          <a:xfrm>
            <a:off x="4908194" y="4110228"/>
            <a:ext cx="2814218" cy="38404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D2A5C"/>
              </a:buClr>
              <a:buSzPts val="1250"/>
              <a:buFont typeface="Calibri"/>
              <a:buNone/>
            </a:pPr>
            <a:r>
              <a:rPr b="1" i="0" lang="en-US" sz="1250" u="none" cap="none" strike="noStrike">
                <a:solidFill>
                  <a:srgbClr val="1D2A5C"/>
                </a:solidFill>
                <a:latin typeface="Calibri"/>
                <a:ea typeface="Calibri"/>
                <a:cs typeface="Calibri"/>
                <a:sym typeface="Calibri"/>
              </a:rPr>
              <a:t>Evaluate rigorously</a:t>
            </a:r>
            <a:endParaRPr b="0" i="0" sz="1250" u="none" cap="none" strike="noStrike">
              <a:solidFill>
                <a:schemeClr val="dk1"/>
              </a:solidFill>
              <a:latin typeface="Calibri"/>
              <a:ea typeface="Calibri"/>
              <a:cs typeface="Calibri"/>
              <a:sym typeface="Calibri"/>
            </a:endParaRPr>
          </a:p>
        </p:txBody>
      </p:sp>
      <p:sp>
        <p:nvSpPr>
          <p:cNvPr id="4320" name="Google Shape;4320;p157"/>
          <p:cNvSpPr/>
          <p:nvPr/>
        </p:nvSpPr>
        <p:spPr>
          <a:xfrm>
            <a:off x="4505858" y="4530852"/>
            <a:ext cx="3179978" cy="17145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5F6B7A"/>
              </a:buClr>
              <a:buSzPts val="1100"/>
              <a:buFont typeface="Calibri"/>
              <a:buNone/>
            </a:pPr>
            <a:r>
              <a:rPr b="0" i="0" lang="en-US" sz="1100" u="none" cap="none" strike="noStrike">
                <a:solidFill>
                  <a:srgbClr val="5F6B7A"/>
                </a:solidFill>
                <a:latin typeface="Calibri"/>
                <a:ea typeface="Calibri"/>
                <a:cs typeface="Calibri"/>
                <a:sym typeface="Calibri"/>
              </a:rPr>
              <a:t>mAP/IoU, slice-level metrics, error taxonomies, operating-point selection (M6).</a:t>
            </a:r>
            <a:endParaRPr b="0" i="0" sz="1100" u="none" cap="none" strike="noStrike">
              <a:solidFill>
                <a:schemeClr val="dk1"/>
              </a:solidFill>
              <a:latin typeface="Calibri"/>
              <a:ea typeface="Calibri"/>
              <a:cs typeface="Calibri"/>
              <a:sym typeface="Calibri"/>
            </a:endParaRPr>
          </a:p>
        </p:txBody>
      </p:sp>
      <p:sp>
        <p:nvSpPr>
          <p:cNvPr id="4321" name="Google Shape;4321;p157"/>
          <p:cNvSpPr/>
          <p:nvPr/>
        </p:nvSpPr>
        <p:spPr>
          <a:xfrm>
            <a:off x="8143037" y="4000500"/>
            <a:ext cx="3545738" cy="2354580"/>
          </a:xfrm>
          <a:prstGeom prst="roundRect">
            <a:avLst>
              <a:gd fmla="val 3107" name="adj"/>
            </a:avLst>
          </a:prstGeom>
          <a:solidFill>
            <a:srgbClr val="F2F6F9"/>
          </a:solidFill>
          <a:ln cap="flat" cmpd="sng" w="12700">
            <a:solidFill>
              <a:srgbClr val="D9E2E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22" name="Google Shape;4322;p157"/>
          <p:cNvSpPr/>
          <p:nvPr/>
        </p:nvSpPr>
        <p:spPr>
          <a:xfrm>
            <a:off x="8307629" y="4146804"/>
            <a:ext cx="310896" cy="310896"/>
          </a:xfrm>
          <a:prstGeom prst="ellipse">
            <a:avLst/>
          </a:prstGeom>
          <a:solidFill>
            <a:srgbClr val="E8503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23" name="Google Shape;4323;p157"/>
          <p:cNvSpPr/>
          <p:nvPr/>
        </p:nvSpPr>
        <p:spPr>
          <a:xfrm>
            <a:off x="8307629" y="4146804"/>
            <a:ext cx="310896" cy="31089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200"/>
              <a:buFont typeface="Calibri"/>
              <a:buNone/>
            </a:pPr>
            <a:r>
              <a:rPr b="1" i="0" lang="en-US" sz="1200" u="none" cap="none" strike="noStrike">
                <a:solidFill>
                  <a:srgbClr val="FFFFFF"/>
                </a:solidFill>
                <a:latin typeface="Calibri"/>
                <a:ea typeface="Calibri"/>
                <a:cs typeface="Calibri"/>
                <a:sym typeface="Calibri"/>
              </a:rPr>
              <a:t>6</a:t>
            </a:r>
            <a:endParaRPr b="0" i="0" sz="1200" u="none" cap="none" strike="noStrike">
              <a:solidFill>
                <a:schemeClr val="dk1"/>
              </a:solidFill>
              <a:latin typeface="Calibri"/>
              <a:ea typeface="Calibri"/>
              <a:cs typeface="Calibri"/>
              <a:sym typeface="Calibri"/>
            </a:endParaRPr>
          </a:p>
        </p:txBody>
      </p:sp>
      <p:sp>
        <p:nvSpPr>
          <p:cNvPr id="4324" name="Google Shape;4324;p157"/>
          <p:cNvSpPr/>
          <p:nvPr/>
        </p:nvSpPr>
        <p:spPr>
          <a:xfrm>
            <a:off x="8728253" y="4110228"/>
            <a:ext cx="2814218" cy="38404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D2A5C"/>
              </a:buClr>
              <a:buSzPts val="1250"/>
              <a:buFont typeface="Calibri"/>
              <a:buNone/>
            </a:pPr>
            <a:r>
              <a:rPr b="1" i="0" lang="en-US" sz="1250" u="none" cap="none" strike="noStrike">
                <a:solidFill>
                  <a:srgbClr val="1D2A5C"/>
                </a:solidFill>
                <a:latin typeface="Calibri"/>
                <a:ea typeface="Calibri"/>
                <a:cs typeface="Calibri"/>
                <a:sym typeface="Calibri"/>
              </a:rPr>
              <a:t>Ship to the edge</a:t>
            </a:r>
            <a:endParaRPr b="0" i="0" sz="1250" u="none" cap="none" strike="noStrike">
              <a:solidFill>
                <a:schemeClr val="dk1"/>
              </a:solidFill>
              <a:latin typeface="Calibri"/>
              <a:ea typeface="Calibri"/>
              <a:cs typeface="Calibri"/>
              <a:sym typeface="Calibri"/>
            </a:endParaRPr>
          </a:p>
        </p:txBody>
      </p:sp>
      <p:sp>
        <p:nvSpPr>
          <p:cNvPr id="4325" name="Google Shape;4325;p157"/>
          <p:cNvSpPr/>
          <p:nvPr/>
        </p:nvSpPr>
        <p:spPr>
          <a:xfrm>
            <a:off x="8325917" y="4530852"/>
            <a:ext cx="3179978" cy="17145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5F6B7A"/>
              </a:buClr>
              <a:buSzPts val="1100"/>
              <a:buFont typeface="Calibri"/>
              <a:buNone/>
            </a:pPr>
            <a:r>
              <a:rPr b="0" i="0" lang="en-US" sz="1100" u="none" cap="none" strike="noStrike">
                <a:solidFill>
                  <a:srgbClr val="5F6B7A"/>
                </a:solidFill>
                <a:latin typeface="Calibri"/>
                <a:ea typeface="Calibri"/>
                <a:cs typeface="Calibri"/>
                <a:sym typeface="Calibri"/>
              </a:rPr>
              <a:t>ONNX export with parity tests, INT8 quantisation, measured latency budgets (M7).</a:t>
            </a:r>
            <a:endParaRPr b="0" i="0" sz="1100" u="none" cap="none" strike="noStrike">
              <a:solidFill>
                <a:schemeClr val="dk1"/>
              </a:solidFill>
              <a:latin typeface="Calibri"/>
              <a:ea typeface="Calibri"/>
              <a:cs typeface="Calibri"/>
              <a:sym typeface="Calibri"/>
            </a:endParaRPr>
          </a:p>
        </p:txBody>
      </p:sp>
    </p:spTree>
  </p:cSld>
  <p:clrMapOvr>
    <a:masterClrMapping/>
  </p:clrMapOvr>
</p:sld>
</file>

<file path=ppt/slides/slide1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41F49"/>
        </a:solidFill>
      </p:bgPr>
    </p:bg>
    <p:spTree>
      <p:nvGrpSpPr>
        <p:cNvPr id="4330" name="Shape 4330"/>
        <p:cNvGrpSpPr/>
        <p:nvPr/>
      </p:nvGrpSpPr>
      <p:grpSpPr>
        <a:xfrm>
          <a:off x="0" y="0"/>
          <a:ext cx="0" cy="0"/>
          <a:chOff x="0" y="0"/>
          <a:chExt cx="0" cy="0"/>
        </a:xfrm>
      </p:grpSpPr>
      <p:sp>
        <p:nvSpPr>
          <p:cNvPr id="4331" name="Google Shape;4331;p158"/>
          <p:cNvSpPr/>
          <p:nvPr/>
        </p:nvSpPr>
        <p:spPr>
          <a:xfrm>
            <a:off x="9418320" y="6149340"/>
            <a:ext cx="411480" cy="356616"/>
          </a:xfrm>
          <a:prstGeom prst="triangle">
            <a:avLst>
              <a:gd fmla="val 50000" name="adj"/>
            </a:avLst>
          </a:prstGeom>
          <a:solidFill>
            <a:srgbClr val="00A79D">
              <a:alpha val="18039"/>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32" name="Google Shape;4332;p158"/>
          <p:cNvSpPr/>
          <p:nvPr/>
        </p:nvSpPr>
        <p:spPr>
          <a:xfrm rot="10800000">
            <a:off x="9857232" y="5806440"/>
            <a:ext cx="411480" cy="356616"/>
          </a:xfrm>
          <a:prstGeom prst="triangle">
            <a:avLst>
              <a:gd fmla="val 50000" name="adj"/>
            </a:avLst>
          </a:prstGeom>
          <a:solidFill>
            <a:srgbClr val="29ABE2">
              <a:alpha val="18039"/>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33" name="Google Shape;4333;p158"/>
          <p:cNvSpPr/>
          <p:nvPr/>
        </p:nvSpPr>
        <p:spPr>
          <a:xfrm rot="10800000">
            <a:off x="9857232" y="6492240"/>
            <a:ext cx="411480" cy="356616"/>
          </a:xfrm>
          <a:prstGeom prst="triangle">
            <a:avLst>
              <a:gd fmla="val 50000" name="adj"/>
            </a:avLst>
          </a:prstGeom>
          <a:solidFill>
            <a:srgbClr val="F58220">
              <a:alpha val="18039"/>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34" name="Google Shape;4334;p158"/>
          <p:cNvSpPr/>
          <p:nvPr/>
        </p:nvSpPr>
        <p:spPr>
          <a:xfrm>
            <a:off x="10296144" y="6149340"/>
            <a:ext cx="411480" cy="356616"/>
          </a:xfrm>
          <a:prstGeom prst="triangle">
            <a:avLst>
              <a:gd fmla="val 50000" name="adj"/>
            </a:avLst>
          </a:prstGeom>
          <a:solidFill>
            <a:srgbClr val="8DC63F">
              <a:alpha val="18039"/>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35" name="Google Shape;4335;p158"/>
          <p:cNvSpPr/>
          <p:nvPr/>
        </p:nvSpPr>
        <p:spPr>
          <a:xfrm>
            <a:off x="10296144" y="5463540"/>
            <a:ext cx="411480" cy="356616"/>
          </a:xfrm>
          <a:prstGeom prst="triangle">
            <a:avLst>
              <a:gd fmla="val 50000" name="adj"/>
            </a:avLst>
          </a:prstGeom>
          <a:solidFill>
            <a:srgbClr val="1D2A5C">
              <a:alpha val="18039"/>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36" name="Google Shape;4336;p158"/>
          <p:cNvSpPr/>
          <p:nvPr/>
        </p:nvSpPr>
        <p:spPr>
          <a:xfrm rot="10800000">
            <a:off x="10735056" y="5806440"/>
            <a:ext cx="411480" cy="356616"/>
          </a:xfrm>
          <a:prstGeom prst="triangle">
            <a:avLst>
              <a:gd fmla="val 50000" name="adj"/>
            </a:avLst>
          </a:prstGeom>
          <a:solidFill>
            <a:srgbClr val="29ABE2">
              <a:alpha val="18039"/>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37" name="Google Shape;4337;p158"/>
          <p:cNvSpPr/>
          <p:nvPr/>
        </p:nvSpPr>
        <p:spPr>
          <a:xfrm>
            <a:off x="10735056" y="6492240"/>
            <a:ext cx="411480" cy="356616"/>
          </a:xfrm>
          <a:prstGeom prst="triangle">
            <a:avLst>
              <a:gd fmla="val 50000" name="adj"/>
            </a:avLst>
          </a:prstGeom>
          <a:solidFill>
            <a:srgbClr val="00A79D">
              <a:alpha val="18039"/>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38" name="Google Shape;4338;p158"/>
          <p:cNvSpPr/>
          <p:nvPr/>
        </p:nvSpPr>
        <p:spPr>
          <a:xfrm rot="10800000">
            <a:off x="11173968" y="6149340"/>
            <a:ext cx="411480" cy="356616"/>
          </a:xfrm>
          <a:prstGeom prst="triangle">
            <a:avLst>
              <a:gd fmla="val 50000" name="adj"/>
            </a:avLst>
          </a:prstGeom>
          <a:solidFill>
            <a:srgbClr val="F58220">
              <a:alpha val="18039"/>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39" name="Google Shape;4339;p158"/>
          <p:cNvSpPr/>
          <p:nvPr/>
        </p:nvSpPr>
        <p:spPr>
          <a:xfrm>
            <a:off x="365760" y="747522"/>
            <a:ext cx="233172" cy="202082"/>
          </a:xfrm>
          <a:prstGeom prst="triangle">
            <a:avLst>
              <a:gd fmla="val 50000" name="adj"/>
            </a:avLst>
          </a:prstGeom>
          <a:solidFill>
            <a:srgbClr val="00A79D">
              <a:alpha val="18039"/>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40" name="Google Shape;4340;p158"/>
          <p:cNvSpPr/>
          <p:nvPr/>
        </p:nvSpPr>
        <p:spPr>
          <a:xfrm rot="10800000">
            <a:off x="614477" y="553212"/>
            <a:ext cx="233172" cy="202082"/>
          </a:xfrm>
          <a:prstGeom prst="triangle">
            <a:avLst>
              <a:gd fmla="val 50000" name="adj"/>
            </a:avLst>
          </a:prstGeom>
          <a:solidFill>
            <a:srgbClr val="29ABE2">
              <a:alpha val="18039"/>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41" name="Google Shape;4341;p158"/>
          <p:cNvSpPr/>
          <p:nvPr/>
        </p:nvSpPr>
        <p:spPr>
          <a:xfrm rot="10800000">
            <a:off x="614477" y="941832"/>
            <a:ext cx="233172" cy="202082"/>
          </a:xfrm>
          <a:prstGeom prst="triangle">
            <a:avLst>
              <a:gd fmla="val 50000" name="adj"/>
            </a:avLst>
          </a:prstGeom>
          <a:solidFill>
            <a:srgbClr val="F58220">
              <a:alpha val="18039"/>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42" name="Google Shape;4342;p158"/>
          <p:cNvSpPr/>
          <p:nvPr/>
        </p:nvSpPr>
        <p:spPr>
          <a:xfrm>
            <a:off x="863194" y="747522"/>
            <a:ext cx="233172" cy="202082"/>
          </a:xfrm>
          <a:prstGeom prst="triangle">
            <a:avLst>
              <a:gd fmla="val 50000" name="adj"/>
            </a:avLst>
          </a:prstGeom>
          <a:solidFill>
            <a:srgbClr val="8DC63F">
              <a:alpha val="18039"/>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43" name="Google Shape;4343;p158"/>
          <p:cNvSpPr/>
          <p:nvPr/>
        </p:nvSpPr>
        <p:spPr>
          <a:xfrm>
            <a:off x="863194" y="358902"/>
            <a:ext cx="233172" cy="202082"/>
          </a:xfrm>
          <a:prstGeom prst="triangle">
            <a:avLst>
              <a:gd fmla="val 50000" name="adj"/>
            </a:avLst>
          </a:prstGeom>
          <a:solidFill>
            <a:srgbClr val="1D2A5C">
              <a:alpha val="18039"/>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44" name="Google Shape;4344;p158"/>
          <p:cNvSpPr/>
          <p:nvPr/>
        </p:nvSpPr>
        <p:spPr>
          <a:xfrm rot="10800000">
            <a:off x="1111910" y="553212"/>
            <a:ext cx="233172" cy="202082"/>
          </a:xfrm>
          <a:prstGeom prst="triangle">
            <a:avLst>
              <a:gd fmla="val 50000" name="adj"/>
            </a:avLst>
          </a:prstGeom>
          <a:solidFill>
            <a:srgbClr val="29ABE2">
              <a:alpha val="18039"/>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45" name="Google Shape;4345;p158"/>
          <p:cNvSpPr/>
          <p:nvPr/>
        </p:nvSpPr>
        <p:spPr>
          <a:xfrm>
            <a:off x="1111910" y="941832"/>
            <a:ext cx="233172" cy="202082"/>
          </a:xfrm>
          <a:prstGeom prst="triangle">
            <a:avLst>
              <a:gd fmla="val 50000" name="adj"/>
            </a:avLst>
          </a:prstGeom>
          <a:solidFill>
            <a:srgbClr val="00A79D">
              <a:alpha val="18039"/>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46" name="Google Shape;4346;p158"/>
          <p:cNvSpPr/>
          <p:nvPr/>
        </p:nvSpPr>
        <p:spPr>
          <a:xfrm rot="10800000">
            <a:off x="1360627" y="747522"/>
            <a:ext cx="233172" cy="202082"/>
          </a:xfrm>
          <a:prstGeom prst="triangle">
            <a:avLst>
              <a:gd fmla="val 50000" name="adj"/>
            </a:avLst>
          </a:prstGeom>
          <a:solidFill>
            <a:srgbClr val="F58220">
              <a:alpha val="18039"/>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47" name="Google Shape;4347;p158"/>
          <p:cNvSpPr/>
          <p:nvPr/>
        </p:nvSpPr>
        <p:spPr>
          <a:xfrm>
            <a:off x="10332720" y="347472"/>
            <a:ext cx="1481328" cy="566928"/>
          </a:xfrm>
          <a:prstGeom prst="roundRect">
            <a:avLst>
              <a:gd fmla="val 14516" name="adj"/>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sessions/blissful-determined-ritchie/build/assets/sdaia_logo.png" id="4348" name="Google Shape;4348;p158"/>
          <p:cNvPicPr preferRelativeResize="0"/>
          <p:nvPr/>
        </p:nvPicPr>
        <p:blipFill rotWithShape="1">
          <a:blip r:embed="rId3">
            <a:alphaModFix/>
          </a:blip>
          <a:srcRect b="0" l="0" r="0" t="0"/>
          <a:stretch/>
        </p:blipFill>
        <p:spPr>
          <a:xfrm>
            <a:off x="10442448" y="438912"/>
            <a:ext cx="1261872" cy="308876"/>
          </a:xfrm>
          <a:prstGeom prst="rect">
            <a:avLst/>
          </a:prstGeom>
          <a:noFill/>
          <a:ln>
            <a:noFill/>
          </a:ln>
        </p:spPr>
      </p:pic>
      <p:sp>
        <p:nvSpPr>
          <p:cNvPr id="4349" name="Google Shape;4349;p158"/>
          <p:cNvSpPr/>
          <p:nvPr/>
        </p:nvSpPr>
        <p:spPr>
          <a:xfrm>
            <a:off x="777240" y="1325880"/>
            <a:ext cx="548640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A79D"/>
              </a:buClr>
              <a:buSzPts val="2000"/>
              <a:buFont typeface="Calibri"/>
              <a:buNone/>
            </a:pPr>
            <a:r>
              <a:rPr b="1" i="0" lang="en-US" sz="2000" u="none" cap="none" strike="noStrike">
                <a:solidFill>
                  <a:srgbClr val="00A79D"/>
                </a:solidFill>
                <a:latin typeface="Calibri"/>
                <a:ea typeface="Calibri"/>
                <a:cs typeface="Calibri"/>
                <a:sym typeface="Calibri"/>
              </a:rPr>
              <a:t>THANK YOU</a:t>
            </a:r>
            <a:endParaRPr b="0" i="0" sz="2000" u="none" cap="none" strike="noStrike">
              <a:solidFill>
                <a:schemeClr val="dk1"/>
              </a:solidFill>
              <a:latin typeface="Calibri"/>
              <a:ea typeface="Calibri"/>
              <a:cs typeface="Calibri"/>
              <a:sym typeface="Calibri"/>
            </a:endParaRPr>
          </a:p>
        </p:txBody>
      </p:sp>
      <p:sp>
        <p:nvSpPr>
          <p:cNvPr id="4350" name="Google Shape;4350;p158"/>
          <p:cNvSpPr/>
          <p:nvPr/>
        </p:nvSpPr>
        <p:spPr>
          <a:xfrm>
            <a:off x="749808" y="1828800"/>
            <a:ext cx="7589520" cy="13716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FFFFFF"/>
              </a:buClr>
              <a:buSzPts val="3600"/>
              <a:buFont typeface="Calibri"/>
              <a:buNone/>
            </a:pPr>
            <a:r>
              <a:rPr b="1" i="0" lang="en-US" sz="3600" u="none" cap="none" strike="noStrike">
                <a:solidFill>
                  <a:srgbClr val="FFFFFF"/>
                </a:solidFill>
                <a:latin typeface="Calibri"/>
                <a:ea typeface="Calibri"/>
                <a:cs typeface="Calibri"/>
                <a:sym typeface="Calibri"/>
              </a:rPr>
              <a:t>Thank you — شكراً</a:t>
            </a:r>
            <a:endParaRPr b="0" i="0" sz="3600" u="none" cap="none" strike="noStrike">
              <a:solidFill>
                <a:schemeClr val="dk1"/>
              </a:solidFill>
              <a:latin typeface="Calibri"/>
              <a:ea typeface="Calibri"/>
              <a:cs typeface="Calibri"/>
              <a:sym typeface="Calibri"/>
            </a:endParaRPr>
          </a:p>
        </p:txBody>
      </p:sp>
      <p:sp>
        <p:nvSpPr>
          <p:cNvPr id="4351" name="Google Shape;4351;p158"/>
          <p:cNvSpPr/>
          <p:nvPr/>
        </p:nvSpPr>
        <p:spPr>
          <a:xfrm>
            <a:off x="777240" y="2852928"/>
            <a:ext cx="758952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B9C8E8"/>
              </a:buClr>
              <a:buSzPts val="1700"/>
              <a:buFont typeface="Arial"/>
              <a:buNone/>
            </a:pPr>
            <a:r>
              <a:rPr b="0" i="0" lang="en-US" sz="1700" u="none" cap="none" strike="noStrike">
                <a:solidFill>
                  <a:srgbClr val="B9C8E8"/>
                </a:solidFill>
                <a:latin typeface="Arial"/>
                <a:ea typeface="Arial"/>
                <a:cs typeface="Arial"/>
                <a:sym typeface="Arial"/>
              </a:rPr>
              <a:t>أكاديمية سدايا — بناء القدرات الوطنية في الذكاء الاصطناعي</a:t>
            </a:r>
            <a:endParaRPr b="0" i="0" sz="1700" u="none" cap="none" strike="noStrike">
              <a:solidFill>
                <a:schemeClr val="dk1"/>
              </a:solidFill>
              <a:latin typeface="Calibri"/>
              <a:ea typeface="Calibri"/>
              <a:cs typeface="Calibri"/>
              <a:sym typeface="Calibri"/>
            </a:endParaRPr>
          </a:p>
        </p:txBody>
      </p:sp>
      <p:sp>
        <p:nvSpPr>
          <p:cNvPr id="4352" name="Google Shape;4352;p158"/>
          <p:cNvSpPr/>
          <p:nvPr/>
        </p:nvSpPr>
        <p:spPr>
          <a:xfrm>
            <a:off x="804672" y="3520440"/>
            <a:ext cx="6949440" cy="2560320"/>
          </a:xfrm>
          <a:prstGeom prst="rect">
            <a:avLst/>
          </a:prstGeom>
          <a:noFill/>
          <a:ln>
            <a:noFill/>
          </a:ln>
        </p:spPr>
        <p:txBody>
          <a:bodyPr anchorCtr="0" anchor="t" bIns="0" lIns="0" spcFirstLastPara="1" rIns="0" wrap="square" tIns="0">
            <a:noAutofit/>
          </a:bodyPr>
          <a:lstStyle/>
          <a:p>
            <a:pPr indent="-177800" lvl="0" marL="177800" marR="0" rtl="0" algn="l">
              <a:spcBef>
                <a:spcPts val="0"/>
              </a:spcBef>
              <a:spcAft>
                <a:spcPts val="0"/>
              </a:spcAft>
              <a:buClr>
                <a:srgbClr val="DCE6F8"/>
              </a:buClr>
              <a:buSzPts val="1300"/>
              <a:buFont typeface="Calibri"/>
              <a:buChar char="▪"/>
            </a:pPr>
            <a:r>
              <a:rPr b="0" i="0" lang="en-US" sz="1300" u="none" cap="none" strike="noStrike">
                <a:solidFill>
                  <a:srgbClr val="DCE6F8"/>
                </a:solidFill>
                <a:latin typeface="Calibri"/>
                <a:ea typeface="Calibri"/>
                <a:cs typeface="Calibri"/>
                <a:sym typeface="Calibri"/>
              </a:rPr>
              <a:t>Course repo, checkpoints &amp; dataset snapshots remain available</a:t>
            </a:r>
            <a:endParaRPr b="0" i="0" sz="1300" u="none" cap="none" strike="noStrike">
              <a:solidFill>
                <a:schemeClr val="dk1"/>
              </a:solidFill>
              <a:latin typeface="Calibri"/>
              <a:ea typeface="Calibri"/>
              <a:cs typeface="Calibri"/>
              <a:sym typeface="Calibri"/>
            </a:endParaRPr>
          </a:p>
          <a:p>
            <a:pPr indent="-177800" lvl="0" marL="177800" marR="0" rtl="0" algn="l">
              <a:spcBef>
                <a:spcPts val="800"/>
              </a:spcBef>
              <a:spcAft>
                <a:spcPts val="0"/>
              </a:spcAft>
              <a:buClr>
                <a:srgbClr val="DCE6F8"/>
              </a:buClr>
              <a:buSzPts val="1300"/>
              <a:buFont typeface="Calibri"/>
              <a:buChar char="▪"/>
            </a:pPr>
            <a:r>
              <a:rPr b="0" i="0" lang="en-US" sz="1300" u="none" cap="none" strike="noStrike">
                <a:solidFill>
                  <a:srgbClr val="DCE6F8"/>
                </a:solidFill>
                <a:latin typeface="Calibri"/>
                <a:ea typeface="Calibri"/>
                <a:cs typeface="Calibri"/>
                <a:sym typeface="Calibri"/>
              </a:rPr>
              <a:t>Capstone rubric scores released within 5 working days</a:t>
            </a:r>
            <a:endParaRPr b="0" i="0" sz="1300" u="none" cap="none" strike="noStrike">
              <a:solidFill>
                <a:schemeClr val="dk1"/>
              </a:solidFill>
              <a:latin typeface="Calibri"/>
              <a:ea typeface="Calibri"/>
              <a:cs typeface="Calibri"/>
              <a:sym typeface="Calibri"/>
            </a:endParaRPr>
          </a:p>
          <a:p>
            <a:pPr indent="-177800" lvl="0" marL="177800" marR="0" rtl="0" algn="l">
              <a:spcBef>
                <a:spcPts val="800"/>
              </a:spcBef>
              <a:spcAft>
                <a:spcPts val="0"/>
              </a:spcAft>
              <a:buClr>
                <a:srgbClr val="DCE6F8"/>
              </a:buClr>
              <a:buSzPts val="1300"/>
              <a:buFont typeface="Calibri"/>
              <a:buChar char="▪"/>
            </a:pPr>
            <a:r>
              <a:rPr b="0" i="0" lang="en-US" sz="1300" u="none" cap="none" strike="noStrike">
                <a:solidFill>
                  <a:srgbClr val="DCE6F8"/>
                </a:solidFill>
                <a:latin typeface="Calibri"/>
                <a:ea typeface="Calibri"/>
                <a:cs typeface="Calibri"/>
                <a:sym typeface="Calibri"/>
              </a:rPr>
              <a:t>Next step: SDA-AIE-216 — MLOps: Model Deployment and Automation</a:t>
            </a:r>
            <a:endParaRPr b="0" i="0" sz="1300" u="none" cap="none" strike="noStrike">
              <a:solidFill>
                <a:schemeClr val="dk1"/>
              </a:solidFill>
              <a:latin typeface="Calibri"/>
              <a:ea typeface="Calibri"/>
              <a:cs typeface="Calibri"/>
              <a:sym typeface="Calibri"/>
            </a:endParaRPr>
          </a:p>
        </p:txBody>
      </p:sp>
      <p:sp>
        <p:nvSpPr>
          <p:cNvPr id="4353" name="Google Shape;4353;p158"/>
          <p:cNvSpPr/>
          <p:nvPr/>
        </p:nvSpPr>
        <p:spPr>
          <a:xfrm>
            <a:off x="8366760" y="3520440"/>
            <a:ext cx="3383280" cy="2286000"/>
          </a:xfrm>
          <a:prstGeom prst="roundRect">
            <a:avLst>
              <a:gd fmla="val 4000" name="adj"/>
            </a:avLst>
          </a:prstGeom>
          <a:solidFill>
            <a:srgbClr val="1C2C63"/>
          </a:solidFill>
          <a:ln cap="flat" cmpd="sng" w="15875">
            <a:solidFill>
              <a:srgbClr val="00A79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54" name="Google Shape;4354;p158"/>
          <p:cNvSpPr/>
          <p:nvPr/>
        </p:nvSpPr>
        <p:spPr>
          <a:xfrm>
            <a:off x="8595360" y="3703320"/>
            <a:ext cx="292608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A79D"/>
              </a:buClr>
              <a:buSzPts val="1000"/>
              <a:buFont typeface="Calibri"/>
              <a:buNone/>
            </a:pPr>
            <a:r>
              <a:rPr b="1" i="0" lang="en-US" sz="1000" u="none" cap="none" strike="noStrike">
                <a:solidFill>
                  <a:srgbClr val="00A79D"/>
                </a:solidFill>
                <a:latin typeface="Calibri"/>
                <a:ea typeface="Calibri"/>
                <a:cs typeface="Calibri"/>
                <a:sym typeface="Calibri"/>
              </a:rPr>
              <a:t>TAKE IT WITH YOU</a:t>
            </a:r>
            <a:endParaRPr b="0" i="0" sz="1000" u="none" cap="none" strike="noStrike">
              <a:solidFill>
                <a:schemeClr val="dk1"/>
              </a:solidFill>
              <a:latin typeface="Calibri"/>
              <a:ea typeface="Calibri"/>
              <a:cs typeface="Calibri"/>
              <a:sym typeface="Calibri"/>
            </a:endParaRPr>
          </a:p>
        </p:txBody>
      </p:sp>
      <p:sp>
        <p:nvSpPr>
          <p:cNvPr id="4355" name="Google Shape;4355;p158"/>
          <p:cNvSpPr/>
          <p:nvPr/>
        </p:nvSpPr>
        <p:spPr>
          <a:xfrm>
            <a:off x="8595360" y="4041648"/>
            <a:ext cx="2971800" cy="16002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FFFFFF"/>
              </a:buClr>
              <a:buSzPts val="1250"/>
              <a:buFont typeface="Calibri"/>
              <a:buNone/>
            </a:pPr>
            <a:r>
              <a:rPr b="0" i="0" lang="en-US" sz="1250" u="none" cap="none" strike="noStrike">
                <a:solidFill>
                  <a:srgbClr val="FFFFFF"/>
                </a:solidFill>
                <a:latin typeface="Calibri"/>
                <a:ea typeface="Calibri"/>
                <a:cs typeface="Calibri"/>
                <a:sym typeface="Calibri"/>
              </a:rPr>
              <a:t>Your Tamr Vision system travels with you — bring it to SDA-AIE-216.</a:t>
            </a:r>
            <a:endParaRPr b="0" i="0" sz="1250" u="none" cap="none" strike="noStrike">
              <a:solidFill>
                <a:schemeClr val="dk1"/>
              </a:solidFill>
              <a:latin typeface="Calibri"/>
              <a:ea typeface="Calibri"/>
              <a:cs typeface="Calibri"/>
              <a:sym typeface="Calibri"/>
            </a:endParaRPr>
          </a:p>
        </p:txBody>
      </p:sp>
      <p:sp>
        <p:nvSpPr>
          <p:cNvPr id="4356" name="Google Shape;4356;p158"/>
          <p:cNvSpPr/>
          <p:nvPr/>
        </p:nvSpPr>
        <p:spPr>
          <a:xfrm>
            <a:off x="11292840" y="6528816"/>
            <a:ext cx="411480" cy="219456"/>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5A6A96"/>
              </a:buClr>
              <a:buSzPts val="900"/>
              <a:buFont typeface="Calibri"/>
              <a:buNone/>
            </a:pPr>
            <a:r>
              <a:rPr b="0" i="0" lang="en-US" sz="900" u="none" cap="none" strike="noStrike">
                <a:solidFill>
                  <a:srgbClr val="5A6A96"/>
                </a:solidFill>
                <a:latin typeface="Calibri"/>
                <a:ea typeface="Calibri"/>
                <a:cs typeface="Calibri"/>
                <a:sym typeface="Calibri"/>
              </a:rPr>
              <a:t>158</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2026-07-11T11:03:30Z</dcterms:created>
  <dc:creator>SDAIA Academy</dc:creator>
</cp:coreProperties>
</file>