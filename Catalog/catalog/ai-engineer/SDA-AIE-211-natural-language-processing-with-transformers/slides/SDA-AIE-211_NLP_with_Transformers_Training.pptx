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slides/charts/chart2.xml" ContentType="application/vnd.openxmlformats-officedocument.drawingml.chart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slides/charts/chart3.xml" ContentType="application/vnd.openxmlformats-officedocument.drawingml.chart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slides/charts/chart4.xml" ContentType="application/vnd.openxmlformats-officedocument.drawingml.chart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slides/charts/chart5.xml" ContentType="application/vnd.openxmlformats-officedocument.drawingml.chart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f5ecf347204c56" /><Relationship Type="http://schemas.openxmlformats.org/officeDocument/2006/relationships/extended-properties" Target="/docProps/app.xml" Id="Rdded28e874b94533" /><Relationship Type="http://schemas.openxmlformats.org/officeDocument/2006/relationships/officeDocument" Target="/ppt/presentation.xml" Id="Rc1710b44874b43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87198c657144f7"/>
  </p:sldMasterIdLst>
  <p:notesMasterIdLst>
    <p:notesMasterId xmlns:r="http://schemas.openxmlformats.org/officeDocument/2006/relationships" r:id="R9141df695dce4002"/>
  </p:notesMasterIdLst>
  <p:sldIdLst>
    <p:sldId xmlns:r="http://schemas.openxmlformats.org/officeDocument/2006/relationships" id="256" r:id="R1e1fc5e0650e4a06"/>
    <p:sldId xmlns:r="http://schemas.openxmlformats.org/officeDocument/2006/relationships" id="257" r:id="Rd44d8d1c8ef34538"/>
    <p:sldId xmlns:r="http://schemas.openxmlformats.org/officeDocument/2006/relationships" id="258" r:id="R4b7c9d456339411d"/>
    <p:sldId xmlns:r="http://schemas.openxmlformats.org/officeDocument/2006/relationships" id="259" r:id="R1f504631da2e47ba"/>
    <p:sldId xmlns:r="http://schemas.openxmlformats.org/officeDocument/2006/relationships" id="260" r:id="R115c8bafecae4f6d"/>
    <p:sldId xmlns:r="http://schemas.openxmlformats.org/officeDocument/2006/relationships" id="261" r:id="R67f30a0e84724d91"/>
    <p:sldId xmlns:r="http://schemas.openxmlformats.org/officeDocument/2006/relationships" id="262" r:id="Re589f500c16a448a"/>
    <p:sldId xmlns:r="http://schemas.openxmlformats.org/officeDocument/2006/relationships" id="263" r:id="R985296df658b4de2"/>
    <p:sldId xmlns:r="http://schemas.openxmlformats.org/officeDocument/2006/relationships" id="264" r:id="R5112cda8598e49a5"/>
    <p:sldId xmlns:r="http://schemas.openxmlformats.org/officeDocument/2006/relationships" id="265" r:id="R58fcae4957da4b2a"/>
    <p:sldId xmlns:r="http://schemas.openxmlformats.org/officeDocument/2006/relationships" id="266" r:id="Radc34eb0bd5e4aed"/>
    <p:sldId xmlns:r="http://schemas.openxmlformats.org/officeDocument/2006/relationships" id="267" r:id="R10688a1da67f4230"/>
    <p:sldId xmlns:r="http://schemas.openxmlformats.org/officeDocument/2006/relationships" id="268" r:id="Rfe33bf11ef0d4a1d"/>
    <p:sldId xmlns:r="http://schemas.openxmlformats.org/officeDocument/2006/relationships" id="269" r:id="Re0d53c7b66cb4562"/>
    <p:sldId xmlns:r="http://schemas.openxmlformats.org/officeDocument/2006/relationships" id="270" r:id="Rffad91fbc2ef4fc5"/>
    <p:sldId xmlns:r="http://schemas.openxmlformats.org/officeDocument/2006/relationships" id="271" r:id="Rdce7973b5be84177"/>
    <p:sldId xmlns:r="http://schemas.openxmlformats.org/officeDocument/2006/relationships" id="272" r:id="Ra3c91488e63e4a2a"/>
    <p:sldId xmlns:r="http://schemas.openxmlformats.org/officeDocument/2006/relationships" id="273" r:id="Raefb784c5da845ec"/>
    <p:sldId xmlns:r="http://schemas.openxmlformats.org/officeDocument/2006/relationships" id="274" r:id="Rae8d0a07d44b44c5"/>
    <p:sldId xmlns:r="http://schemas.openxmlformats.org/officeDocument/2006/relationships" id="275" r:id="R7db0d7cb1f464f64"/>
    <p:sldId xmlns:r="http://schemas.openxmlformats.org/officeDocument/2006/relationships" id="276" r:id="Rfad2f4ee00544c3d"/>
    <p:sldId xmlns:r="http://schemas.openxmlformats.org/officeDocument/2006/relationships" id="277" r:id="R05cbecd08f18482b"/>
    <p:sldId xmlns:r="http://schemas.openxmlformats.org/officeDocument/2006/relationships" id="278" r:id="R1b5855b5f1364bf9"/>
    <p:sldId xmlns:r="http://schemas.openxmlformats.org/officeDocument/2006/relationships" id="279" r:id="Ra448b9da128049f2"/>
    <p:sldId xmlns:r="http://schemas.openxmlformats.org/officeDocument/2006/relationships" id="280" r:id="Rd41c04847cbe465a"/>
    <p:sldId xmlns:r="http://schemas.openxmlformats.org/officeDocument/2006/relationships" id="281" r:id="R1dc026baa4084a24"/>
    <p:sldId xmlns:r="http://schemas.openxmlformats.org/officeDocument/2006/relationships" id="282" r:id="R43abc3012ec2425a"/>
    <p:sldId xmlns:r="http://schemas.openxmlformats.org/officeDocument/2006/relationships" id="283" r:id="Re2ffb85463a54497"/>
    <p:sldId xmlns:r="http://schemas.openxmlformats.org/officeDocument/2006/relationships" id="284" r:id="Rfe29d4f21da64d6a"/>
    <p:sldId xmlns:r="http://schemas.openxmlformats.org/officeDocument/2006/relationships" id="285" r:id="R6b88066a7bed43d0"/>
    <p:sldId xmlns:r="http://schemas.openxmlformats.org/officeDocument/2006/relationships" id="286" r:id="R0937b3ba465c46a2"/>
    <p:sldId xmlns:r="http://schemas.openxmlformats.org/officeDocument/2006/relationships" id="287" r:id="Rd4db427c80aa4d30"/>
    <p:sldId xmlns:r="http://schemas.openxmlformats.org/officeDocument/2006/relationships" id="288" r:id="R30c6e6f4909f419d"/>
    <p:sldId xmlns:r="http://schemas.openxmlformats.org/officeDocument/2006/relationships" id="289" r:id="Re67f59e78e384cc7"/>
    <p:sldId xmlns:r="http://schemas.openxmlformats.org/officeDocument/2006/relationships" id="290" r:id="Raa23ffe156674f42"/>
    <p:sldId xmlns:r="http://schemas.openxmlformats.org/officeDocument/2006/relationships" id="291" r:id="R0d05fd5180e14c87"/>
    <p:sldId xmlns:r="http://schemas.openxmlformats.org/officeDocument/2006/relationships" id="292" r:id="R0be37a4345234b1d"/>
    <p:sldId xmlns:r="http://schemas.openxmlformats.org/officeDocument/2006/relationships" id="293" r:id="R9f3eefdd86ec46e1"/>
    <p:sldId xmlns:r="http://schemas.openxmlformats.org/officeDocument/2006/relationships" id="294" r:id="Rba3eebb2db8443b6"/>
    <p:sldId xmlns:r="http://schemas.openxmlformats.org/officeDocument/2006/relationships" id="295" r:id="R6370160db9c240de"/>
    <p:sldId xmlns:r="http://schemas.openxmlformats.org/officeDocument/2006/relationships" id="296" r:id="R809d03709f144884"/>
    <p:sldId xmlns:r="http://schemas.openxmlformats.org/officeDocument/2006/relationships" id="297" r:id="R3d6c6dbd22804f2e"/>
    <p:sldId xmlns:r="http://schemas.openxmlformats.org/officeDocument/2006/relationships" id="298" r:id="Re80d3f36d78a4291"/>
    <p:sldId xmlns:r="http://schemas.openxmlformats.org/officeDocument/2006/relationships" id="299" r:id="Rb995dfe008be4cce"/>
    <p:sldId xmlns:r="http://schemas.openxmlformats.org/officeDocument/2006/relationships" id="300" r:id="R0e58c90aee164e6f"/>
    <p:sldId xmlns:r="http://schemas.openxmlformats.org/officeDocument/2006/relationships" id="301" r:id="Rf02ea7e356774db4"/>
    <p:sldId xmlns:r="http://schemas.openxmlformats.org/officeDocument/2006/relationships" id="302" r:id="R775303525e6846e1"/>
    <p:sldId xmlns:r="http://schemas.openxmlformats.org/officeDocument/2006/relationships" id="303" r:id="R331bcbd3b3f94554"/>
    <p:sldId xmlns:r="http://schemas.openxmlformats.org/officeDocument/2006/relationships" id="304" r:id="Rf37d9e709ca94dce"/>
    <p:sldId xmlns:r="http://schemas.openxmlformats.org/officeDocument/2006/relationships" id="305" r:id="Rd35a6c14bf6c422a"/>
    <p:sldId xmlns:r="http://schemas.openxmlformats.org/officeDocument/2006/relationships" id="306" r:id="Re5ef7ce61ba749fa"/>
    <p:sldId xmlns:r="http://schemas.openxmlformats.org/officeDocument/2006/relationships" id="307" r:id="Rae0a542c9cb84b41"/>
    <p:sldId xmlns:r="http://schemas.openxmlformats.org/officeDocument/2006/relationships" id="308" r:id="R374709634a064ed0"/>
    <p:sldId xmlns:r="http://schemas.openxmlformats.org/officeDocument/2006/relationships" id="309" r:id="Rb67086cded6e4056"/>
    <p:sldId xmlns:r="http://schemas.openxmlformats.org/officeDocument/2006/relationships" id="310" r:id="R5012d7f98cf14d9c"/>
    <p:sldId xmlns:r="http://schemas.openxmlformats.org/officeDocument/2006/relationships" id="311" r:id="Rfcc56f59162b42fb"/>
    <p:sldId xmlns:r="http://schemas.openxmlformats.org/officeDocument/2006/relationships" id="312" r:id="R0233198d575f49c1"/>
    <p:sldId xmlns:r="http://schemas.openxmlformats.org/officeDocument/2006/relationships" id="313" r:id="Ra80a5a96d5f545ce"/>
    <p:sldId xmlns:r="http://schemas.openxmlformats.org/officeDocument/2006/relationships" id="314" r:id="R2f1ae8e3e11c4897"/>
    <p:sldId xmlns:r="http://schemas.openxmlformats.org/officeDocument/2006/relationships" id="315" r:id="R7f15ab4cea694109"/>
    <p:sldId xmlns:r="http://schemas.openxmlformats.org/officeDocument/2006/relationships" id="316" r:id="Rc02cda0be1394256"/>
    <p:sldId xmlns:r="http://schemas.openxmlformats.org/officeDocument/2006/relationships" id="317" r:id="R0da6ad33818e4164"/>
    <p:sldId xmlns:r="http://schemas.openxmlformats.org/officeDocument/2006/relationships" id="318" r:id="R291d3778dfe44ba5"/>
    <p:sldId xmlns:r="http://schemas.openxmlformats.org/officeDocument/2006/relationships" id="319" r:id="Re5635779f6274027"/>
    <p:sldId xmlns:r="http://schemas.openxmlformats.org/officeDocument/2006/relationships" id="320" r:id="Ra2ed1a3abcdb4e75"/>
    <p:sldId xmlns:r="http://schemas.openxmlformats.org/officeDocument/2006/relationships" id="321" r:id="Rdbe145a1b6754ca1"/>
    <p:sldId xmlns:r="http://schemas.openxmlformats.org/officeDocument/2006/relationships" id="322" r:id="Rb83e5e7afb434d33"/>
    <p:sldId xmlns:r="http://schemas.openxmlformats.org/officeDocument/2006/relationships" id="323" r:id="R3d635876072648b3"/>
    <p:sldId xmlns:r="http://schemas.openxmlformats.org/officeDocument/2006/relationships" id="324" r:id="R6c28013b602549b4"/>
    <p:sldId xmlns:r="http://schemas.openxmlformats.org/officeDocument/2006/relationships" id="325" r:id="R2ca7c136d737490c"/>
    <p:sldId xmlns:r="http://schemas.openxmlformats.org/officeDocument/2006/relationships" id="326" r:id="R70a1d2db60a34e28"/>
    <p:sldId xmlns:r="http://schemas.openxmlformats.org/officeDocument/2006/relationships" id="327" r:id="R09c9b4be83bc43ce"/>
    <p:sldId xmlns:r="http://schemas.openxmlformats.org/officeDocument/2006/relationships" id="328" r:id="Ra651a3bae0e34096"/>
    <p:sldId xmlns:r="http://schemas.openxmlformats.org/officeDocument/2006/relationships" id="329" r:id="R4cb7835814f14946"/>
    <p:sldId xmlns:r="http://schemas.openxmlformats.org/officeDocument/2006/relationships" id="330" r:id="R2b0f577a7daf4ce3"/>
    <p:sldId xmlns:r="http://schemas.openxmlformats.org/officeDocument/2006/relationships" id="331" r:id="R2459bfa8d3f24c71"/>
    <p:sldId xmlns:r="http://schemas.openxmlformats.org/officeDocument/2006/relationships" id="332" r:id="Re48f6bfcefb049f4"/>
    <p:sldId xmlns:r="http://schemas.openxmlformats.org/officeDocument/2006/relationships" id="333" r:id="R8a98af5c364f45a4"/>
    <p:sldId xmlns:r="http://schemas.openxmlformats.org/officeDocument/2006/relationships" id="334" r:id="R6d41e8ea1e844a6e"/>
    <p:sldId xmlns:r="http://schemas.openxmlformats.org/officeDocument/2006/relationships" id="335" r:id="Ra251011bdd03450d"/>
    <p:sldId xmlns:r="http://schemas.openxmlformats.org/officeDocument/2006/relationships" id="336" r:id="R19419193005c410e"/>
    <p:sldId xmlns:r="http://schemas.openxmlformats.org/officeDocument/2006/relationships" id="337" r:id="R77ffd28c7fa04aba"/>
    <p:sldId xmlns:r="http://schemas.openxmlformats.org/officeDocument/2006/relationships" id="338" r:id="Ra246e64532ab4c89"/>
    <p:sldId xmlns:r="http://schemas.openxmlformats.org/officeDocument/2006/relationships" id="339" r:id="R36878735e6c1403b"/>
    <p:sldId xmlns:r="http://schemas.openxmlformats.org/officeDocument/2006/relationships" id="340" r:id="Ra702112342bf4725"/>
    <p:sldId xmlns:r="http://schemas.openxmlformats.org/officeDocument/2006/relationships" id="341" r:id="Ref9dcc928e2a4987"/>
    <p:sldId xmlns:r="http://schemas.openxmlformats.org/officeDocument/2006/relationships" id="342" r:id="R8d963214f19d4b3a"/>
    <p:sldId xmlns:r="http://schemas.openxmlformats.org/officeDocument/2006/relationships" id="343" r:id="R5f495cc942ef437d"/>
    <p:sldId xmlns:r="http://schemas.openxmlformats.org/officeDocument/2006/relationships" id="344" r:id="R9af683f54a014e1d"/>
    <p:sldId xmlns:r="http://schemas.openxmlformats.org/officeDocument/2006/relationships" id="345" r:id="R70a51a66c80a4007"/>
    <p:sldId xmlns:r="http://schemas.openxmlformats.org/officeDocument/2006/relationships" id="346" r:id="Rd149a4eee2484a2e"/>
    <p:sldId xmlns:r="http://schemas.openxmlformats.org/officeDocument/2006/relationships" id="347" r:id="R0bf622f0e8b44c5f"/>
    <p:sldId xmlns:r="http://schemas.openxmlformats.org/officeDocument/2006/relationships" id="348" r:id="Rc3ddcf2eaedb440c"/>
    <p:sldId xmlns:r="http://schemas.openxmlformats.org/officeDocument/2006/relationships" id="349" r:id="Rd6741c7c18ad406f"/>
    <p:sldId xmlns:r="http://schemas.openxmlformats.org/officeDocument/2006/relationships" id="350" r:id="Rb35a8209c6794f07"/>
    <p:sldId xmlns:r="http://schemas.openxmlformats.org/officeDocument/2006/relationships" id="351" r:id="Rededbeafe9764a0f"/>
    <p:sldId xmlns:r="http://schemas.openxmlformats.org/officeDocument/2006/relationships" id="352" r:id="R89cd161afe474321"/>
    <p:sldId xmlns:r="http://schemas.openxmlformats.org/officeDocument/2006/relationships" id="353" r:id="R352d304eaf174a63"/>
    <p:sldId xmlns:r="http://schemas.openxmlformats.org/officeDocument/2006/relationships" id="354" r:id="R38154db255b84efd"/>
    <p:sldId xmlns:r="http://schemas.openxmlformats.org/officeDocument/2006/relationships" id="355" r:id="R71d1ed62962d479d"/>
    <p:sldId xmlns:r="http://schemas.openxmlformats.org/officeDocument/2006/relationships" id="356" r:id="Rd8b35342e620404f"/>
    <p:sldId xmlns:r="http://schemas.openxmlformats.org/officeDocument/2006/relationships" id="357" r:id="R73dbfac18ab9450f"/>
    <p:sldId xmlns:r="http://schemas.openxmlformats.org/officeDocument/2006/relationships" id="358" r:id="R39039331c61644c4"/>
    <p:sldId xmlns:r="http://schemas.openxmlformats.org/officeDocument/2006/relationships" id="359" r:id="R0b696c1a106e4738"/>
    <p:sldId xmlns:r="http://schemas.openxmlformats.org/officeDocument/2006/relationships" id="360" r:id="Rab2cf62aa2254663"/>
    <p:sldId xmlns:r="http://schemas.openxmlformats.org/officeDocument/2006/relationships" id="361" r:id="R7fa12000c54c4b50"/>
    <p:sldId xmlns:r="http://schemas.openxmlformats.org/officeDocument/2006/relationships" id="362" r:id="R64873eca9948466a"/>
    <p:sldId xmlns:r="http://schemas.openxmlformats.org/officeDocument/2006/relationships" id="363" r:id="R59b9555d6b7347c1"/>
    <p:sldId xmlns:r="http://schemas.openxmlformats.org/officeDocument/2006/relationships" id="364" r:id="Rfcae89d34a35408b"/>
    <p:sldId xmlns:r="http://schemas.openxmlformats.org/officeDocument/2006/relationships" id="365" r:id="R8ae90da932164160"/>
    <p:sldId xmlns:r="http://schemas.openxmlformats.org/officeDocument/2006/relationships" id="366" r:id="Ra2a74d1a054d498f"/>
    <p:sldId xmlns:r="http://schemas.openxmlformats.org/officeDocument/2006/relationships" id="367" r:id="R2643dc24588f4890"/>
    <p:sldId xmlns:r="http://schemas.openxmlformats.org/officeDocument/2006/relationships" id="368" r:id="Rced0e61af0ef4e16"/>
    <p:sldId xmlns:r="http://schemas.openxmlformats.org/officeDocument/2006/relationships" id="369" r:id="R2b1647591a054b0d"/>
    <p:sldId xmlns:r="http://schemas.openxmlformats.org/officeDocument/2006/relationships" id="370" r:id="R0b2122fbdb5c4e46"/>
    <p:sldId xmlns:r="http://schemas.openxmlformats.org/officeDocument/2006/relationships" id="371" r:id="Ra02f262e9776465c"/>
    <p:sldId xmlns:r="http://schemas.openxmlformats.org/officeDocument/2006/relationships" id="372" r:id="Rc7f66d1d59a84d88"/>
    <p:sldId xmlns:r="http://schemas.openxmlformats.org/officeDocument/2006/relationships" id="373" r:id="Re11317f39788487e"/>
    <p:sldId xmlns:r="http://schemas.openxmlformats.org/officeDocument/2006/relationships" id="374" r:id="Rbec4974d894847de"/>
    <p:sldId xmlns:r="http://schemas.openxmlformats.org/officeDocument/2006/relationships" id="375" r:id="R549d1761d43c4553"/>
    <p:sldId xmlns:r="http://schemas.openxmlformats.org/officeDocument/2006/relationships" id="376" r:id="R8da1fdd2af4343ee"/>
    <p:sldId xmlns:r="http://schemas.openxmlformats.org/officeDocument/2006/relationships" id="377" r:id="Ref8e65c47fff4395"/>
    <p:sldId xmlns:r="http://schemas.openxmlformats.org/officeDocument/2006/relationships" id="378" r:id="Rd9688a90e541451d"/>
    <p:sldId xmlns:r="http://schemas.openxmlformats.org/officeDocument/2006/relationships" id="379" r:id="R1d34b18592054cff"/>
    <p:sldId xmlns:r="http://schemas.openxmlformats.org/officeDocument/2006/relationships" id="380" r:id="Rf279797bb7e44ff7"/>
    <p:sldId xmlns:r="http://schemas.openxmlformats.org/officeDocument/2006/relationships" id="381" r:id="Rb3219cd5b80e485c"/>
    <p:sldId xmlns:r="http://schemas.openxmlformats.org/officeDocument/2006/relationships" id="382" r:id="R32d5ccbbd50a4e5a"/>
    <p:sldId xmlns:r="http://schemas.openxmlformats.org/officeDocument/2006/relationships" id="383" r:id="Re2e56d272812476f"/>
    <p:sldId xmlns:r="http://schemas.openxmlformats.org/officeDocument/2006/relationships" id="384" r:id="Rc68e0b91ed994178"/>
    <p:sldId xmlns:r="http://schemas.openxmlformats.org/officeDocument/2006/relationships" id="385" r:id="R7026879ef24c467c"/>
    <p:sldId xmlns:r="http://schemas.openxmlformats.org/officeDocument/2006/relationships" id="386" r:id="R4d0cfc2f605d422f"/>
    <p:sldId xmlns:r="http://schemas.openxmlformats.org/officeDocument/2006/relationships" id="387" r:id="Rce1012adf5424e82"/>
    <p:sldId xmlns:r="http://schemas.openxmlformats.org/officeDocument/2006/relationships" id="388" r:id="R17efbc9db5254a95"/>
    <p:sldId xmlns:r="http://schemas.openxmlformats.org/officeDocument/2006/relationships" id="389" r:id="Rea694e86bed94e57"/>
    <p:sldId xmlns:r="http://schemas.openxmlformats.org/officeDocument/2006/relationships" id="390" r:id="Rc8b17900e282476d"/>
    <p:sldId xmlns:r="http://schemas.openxmlformats.org/officeDocument/2006/relationships" id="391" r:id="Rf5a6a517a9f4410d"/>
    <p:sldId xmlns:r="http://schemas.openxmlformats.org/officeDocument/2006/relationships" id="392" r:id="R3723c7d293184186"/>
    <p:sldId xmlns:r="http://schemas.openxmlformats.org/officeDocument/2006/relationships" id="393" r:id="R2044a1cb97a54b65"/>
    <p:sldId xmlns:r="http://schemas.openxmlformats.org/officeDocument/2006/relationships" id="394" r:id="R122c32b4f09e4604"/>
    <p:sldId xmlns:r="http://schemas.openxmlformats.org/officeDocument/2006/relationships" id="395" r:id="R947639f1b220444e"/>
    <p:sldId xmlns:r="http://schemas.openxmlformats.org/officeDocument/2006/relationships" id="396" r:id="Rd51b5a063cce4648"/>
    <p:sldId xmlns:r="http://schemas.openxmlformats.org/officeDocument/2006/relationships" id="397" r:id="Rd09d0ada8b444530"/>
    <p:sldId xmlns:r="http://schemas.openxmlformats.org/officeDocument/2006/relationships" id="398" r:id="R4776caef3bc34c98"/>
    <p:sldId xmlns:r="http://schemas.openxmlformats.org/officeDocument/2006/relationships" id="399" r:id="Rd497c4a33dc44a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9320606a994d38" /><Relationship Type="http://schemas.openxmlformats.org/officeDocument/2006/relationships/slideMaster" Target="/ppt/slideMasters/slideMaster1.xml" Id="R0a87198c657144f7" /><Relationship Type="http://schemas.openxmlformats.org/officeDocument/2006/relationships/notesMaster" Target="/ppt/notesMasters/notesMaster1.xml" Id="R9141df695dce4002" /><Relationship Type="http://schemas.openxmlformats.org/officeDocument/2006/relationships/presProps" Target="/ppt/presProps.xml" Id="R3e74541173e84f1f" /><Relationship Type="http://schemas.openxmlformats.org/officeDocument/2006/relationships/tableStyles" Target="/ppt/tableStyles.xml" Id="R979c7f011b8d403d" /><Relationship Type="http://schemas.openxmlformats.org/officeDocument/2006/relationships/slide" Target="/ppt/slides/slide1.xml" Id="R1e1fc5e0650e4a06" /><Relationship Type="http://schemas.openxmlformats.org/officeDocument/2006/relationships/slide" Target="/ppt/slides/slide2.xml" Id="Rd44d8d1c8ef34538" /><Relationship Type="http://schemas.openxmlformats.org/officeDocument/2006/relationships/slide" Target="/ppt/slides/slide3.xml" Id="R4b7c9d456339411d" /><Relationship Type="http://schemas.openxmlformats.org/officeDocument/2006/relationships/slide" Target="/ppt/slides/slide4.xml" Id="R1f504631da2e47ba" /><Relationship Type="http://schemas.openxmlformats.org/officeDocument/2006/relationships/slide" Target="/ppt/slides/slide5.xml" Id="R115c8bafecae4f6d" /><Relationship Type="http://schemas.openxmlformats.org/officeDocument/2006/relationships/slide" Target="/ppt/slides/slide6.xml" Id="R67f30a0e84724d91" /><Relationship Type="http://schemas.openxmlformats.org/officeDocument/2006/relationships/slide" Target="/ppt/slides/slide7.xml" Id="Re589f500c16a448a" /><Relationship Type="http://schemas.openxmlformats.org/officeDocument/2006/relationships/slide" Target="/ppt/slides/slide8.xml" Id="R985296df658b4de2" /><Relationship Type="http://schemas.openxmlformats.org/officeDocument/2006/relationships/slide" Target="/ppt/slides/slide9.xml" Id="R5112cda8598e49a5" /><Relationship Type="http://schemas.openxmlformats.org/officeDocument/2006/relationships/slide" Target="/ppt/slides/slide10.xml" Id="R58fcae4957da4b2a" /><Relationship Type="http://schemas.openxmlformats.org/officeDocument/2006/relationships/slide" Target="/ppt/slides/slide11.xml" Id="Radc34eb0bd5e4aed" /><Relationship Type="http://schemas.openxmlformats.org/officeDocument/2006/relationships/slide" Target="/ppt/slides/slide12.xml" Id="R10688a1da67f4230" /><Relationship Type="http://schemas.openxmlformats.org/officeDocument/2006/relationships/slide" Target="/ppt/slides/slide13.xml" Id="Rfe33bf11ef0d4a1d" /><Relationship Type="http://schemas.openxmlformats.org/officeDocument/2006/relationships/slide" Target="/ppt/slides/slide14.xml" Id="Re0d53c7b66cb4562" /><Relationship Type="http://schemas.openxmlformats.org/officeDocument/2006/relationships/slide" Target="/ppt/slides/slide15.xml" Id="Rffad91fbc2ef4fc5" /><Relationship Type="http://schemas.openxmlformats.org/officeDocument/2006/relationships/slide" Target="/ppt/slides/slide16.xml" Id="Rdce7973b5be84177" /><Relationship Type="http://schemas.openxmlformats.org/officeDocument/2006/relationships/slide" Target="/ppt/slides/slide17.xml" Id="Ra3c91488e63e4a2a" /><Relationship Type="http://schemas.openxmlformats.org/officeDocument/2006/relationships/slide" Target="/ppt/slides/slide18.xml" Id="Raefb784c5da845ec" /><Relationship Type="http://schemas.openxmlformats.org/officeDocument/2006/relationships/slide" Target="/ppt/slides/slide19.xml" Id="Rae8d0a07d44b44c5" /><Relationship Type="http://schemas.openxmlformats.org/officeDocument/2006/relationships/slide" Target="/ppt/slides/slide20.xml" Id="R7db0d7cb1f464f64" /><Relationship Type="http://schemas.openxmlformats.org/officeDocument/2006/relationships/slide" Target="/ppt/slides/slide21.xml" Id="Rfad2f4ee00544c3d" /><Relationship Type="http://schemas.openxmlformats.org/officeDocument/2006/relationships/slide" Target="/ppt/slides/slide22.xml" Id="R05cbecd08f18482b" /><Relationship Type="http://schemas.openxmlformats.org/officeDocument/2006/relationships/slide" Target="/ppt/slides/slide23.xml" Id="R1b5855b5f1364bf9" /><Relationship Type="http://schemas.openxmlformats.org/officeDocument/2006/relationships/slide" Target="/ppt/slides/slide24.xml" Id="Ra448b9da128049f2" /><Relationship Type="http://schemas.openxmlformats.org/officeDocument/2006/relationships/slide" Target="/ppt/slides/slide25.xml" Id="Rd41c04847cbe465a" /><Relationship Type="http://schemas.openxmlformats.org/officeDocument/2006/relationships/slide" Target="/ppt/slides/slide26.xml" Id="R1dc026baa4084a24" /><Relationship Type="http://schemas.openxmlformats.org/officeDocument/2006/relationships/slide" Target="/ppt/slides/slide27.xml" Id="R43abc3012ec2425a" /><Relationship Type="http://schemas.openxmlformats.org/officeDocument/2006/relationships/slide" Target="/ppt/slides/slide28.xml" Id="Re2ffb85463a54497" /><Relationship Type="http://schemas.openxmlformats.org/officeDocument/2006/relationships/slide" Target="/ppt/slides/slide29.xml" Id="Rfe29d4f21da64d6a" /><Relationship Type="http://schemas.openxmlformats.org/officeDocument/2006/relationships/slide" Target="/ppt/slides/slide30.xml" Id="R6b88066a7bed43d0" /><Relationship Type="http://schemas.openxmlformats.org/officeDocument/2006/relationships/slide" Target="/ppt/slides/slide31.xml" Id="R0937b3ba465c46a2" /><Relationship Type="http://schemas.openxmlformats.org/officeDocument/2006/relationships/slide" Target="/ppt/slides/slide32.xml" Id="Rd4db427c80aa4d30" /><Relationship Type="http://schemas.openxmlformats.org/officeDocument/2006/relationships/slide" Target="/ppt/slides/slide33.xml" Id="R30c6e6f4909f419d" /><Relationship Type="http://schemas.openxmlformats.org/officeDocument/2006/relationships/slide" Target="/ppt/slides/slide34.xml" Id="Re67f59e78e384cc7" /><Relationship Type="http://schemas.openxmlformats.org/officeDocument/2006/relationships/slide" Target="/ppt/slides/slide35.xml" Id="Raa23ffe156674f42" /><Relationship Type="http://schemas.openxmlformats.org/officeDocument/2006/relationships/slide" Target="/ppt/slides/slide36.xml" Id="R0d05fd5180e14c87" /><Relationship Type="http://schemas.openxmlformats.org/officeDocument/2006/relationships/slide" Target="/ppt/slides/slide37.xml" Id="R0be37a4345234b1d" /><Relationship Type="http://schemas.openxmlformats.org/officeDocument/2006/relationships/slide" Target="/ppt/slides/slide38.xml" Id="R9f3eefdd86ec46e1" /><Relationship Type="http://schemas.openxmlformats.org/officeDocument/2006/relationships/slide" Target="/ppt/slides/slide39.xml" Id="Rba3eebb2db8443b6" /><Relationship Type="http://schemas.openxmlformats.org/officeDocument/2006/relationships/slide" Target="/ppt/slides/slide40.xml" Id="R6370160db9c240de" /><Relationship Type="http://schemas.openxmlformats.org/officeDocument/2006/relationships/slide" Target="/ppt/slides/slide41.xml" Id="R809d03709f144884" /><Relationship Type="http://schemas.openxmlformats.org/officeDocument/2006/relationships/slide" Target="/ppt/slides/slide42.xml" Id="R3d6c6dbd22804f2e" /><Relationship Type="http://schemas.openxmlformats.org/officeDocument/2006/relationships/slide" Target="/ppt/slides/slide43.xml" Id="Re80d3f36d78a4291" /><Relationship Type="http://schemas.openxmlformats.org/officeDocument/2006/relationships/slide" Target="/ppt/slides/slide44.xml" Id="Rb995dfe008be4cce" /><Relationship Type="http://schemas.openxmlformats.org/officeDocument/2006/relationships/slide" Target="/ppt/slides/slide45.xml" Id="R0e58c90aee164e6f" /><Relationship Type="http://schemas.openxmlformats.org/officeDocument/2006/relationships/slide" Target="/ppt/slides/slide46.xml" Id="Rf02ea7e356774db4" /><Relationship Type="http://schemas.openxmlformats.org/officeDocument/2006/relationships/slide" Target="/ppt/slides/slide47.xml" Id="R775303525e6846e1" /><Relationship Type="http://schemas.openxmlformats.org/officeDocument/2006/relationships/slide" Target="/ppt/slides/slide48.xml" Id="R331bcbd3b3f94554" /><Relationship Type="http://schemas.openxmlformats.org/officeDocument/2006/relationships/slide" Target="/ppt/slides/slide49.xml" Id="Rf37d9e709ca94dce" /><Relationship Type="http://schemas.openxmlformats.org/officeDocument/2006/relationships/slide" Target="/ppt/slides/slide50.xml" Id="Rd35a6c14bf6c422a" /><Relationship Type="http://schemas.openxmlformats.org/officeDocument/2006/relationships/slide" Target="/ppt/slides/slide51.xml" Id="Re5ef7ce61ba749fa" /><Relationship Type="http://schemas.openxmlformats.org/officeDocument/2006/relationships/slide" Target="/ppt/slides/slide52.xml" Id="Rae0a542c9cb84b41" /><Relationship Type="http://schemas.openxmlformats.org/officeDocument/2006/relationships/slide" Target="/ppt/slides/slide53.xml" Id="R374709634a064ed0" /><Relationship Type="http://schemas.openxmlformats.org/officeDocument/2006/relationships/slide" Target="/ppt/slides/slide54.xml" Id="Rb67086cded6e4056" /><Relationship Type="http://schemas.openxmlformats.org/officeDocument/2006/relationships/slide" Target="/ppt/slides/slide55.xml" Id="R5012d7f98cf14d9c" /><Relationship Type="http://schemas.openxmlformats.org/officeDocument/2006/relationships/slide" Target="/ppt/slides/slide56.xml" Id="Rfcc56f59162b42fb" /><Relationship Type="http://schemas.openxmlformats.org/officeDocument/2006/relationships/slide" Target="/ppt/slides/slide57.xml" Id="R0233198d575f49c1" /><Relationship Type="http://schemas.openxmlformats.org/officeDocument/2006/relationships/slide" Target="/ppt/slides/slide58.xml" Id="Ra80a5a96d5f545ce" /><Relationship Type="http://schemas.openxmlformats.org/officeDocument/2006/relationships/slide" Target="/ppt/slides/slide59.xml" Id="R2f1ae8e3e11c4897" /><Relationship Type="http://schemas.openxmlformats.org/officeDocument/2006/relationships/slide" Target="/ppt/slides/slide60.xml" Id="R7f15ab4cea694109" /><Relationship Type="http://schemas.openxmlformats.org/officeDocument/2006/relationships/slide" Target="/ppt/slides/slide61.xml" Id="Rc02cda0be1394256" /><Relationship Type="http://schemas.openxmlformats.org/officeDocument/2006/relationships/slide" Target="/ppt/slides/slide62.xml" Id="R0da6ad33818e4164" /><Relationship Type="http://schemas.openxmlformats.org/officeDocument/2006/relationships/slide" Target="/ppt/slides/slide63.xml" Id="R291d3778dfe44ba5" /><Relationship Type="http://schemas.openxmlformats.org/officeDocument/2006/relationships/slide" Target="/ppt/slides/slide64.xml" Id="Re5635779f6274027" /><Relationship Type="http://schemas.openxmlformats.org/officeDocument/2006/relationships/slide" Target="/ppt/slides/slide65.xml" Id="Ra2ed1a3abcdb4e75" /><Relationship Type="http://schemas.openxmlformats.org/officeDocument/2006/relationships/slide" Target="/ppt/slides/slide66.xml" Id="Rdbe145a1b6754ca1" /><Relationship Type="http://schemas.openxmlformats.org/officeDocument/2006/relationships/slide" Target="/ppt/slides/slide67.xml" Id="Rb83e5e7afb434d33" /><Relationship Type="http://schemas.openxmlformats.org/officeDocument/2006/relationships/slide" Target="/ppt/slides/slide68.xml" Id="R3d635876072648b3" /><Relationship Type="http://schemas.openxmlformats.org/officeDocument/2006/relationships/slide" Target="/ppt/slides/slide69.xml" Id="R6c28013b602549b4" /><Relationship Type="http://schemas.openxmlformats.org/officeDocument/2006/relationships/slide" Target="/ppt/slides/slide70.xml" Id="R2ca7c136d737490c" /><Relationship Type="http://schemas.openxmlformats.org/officeDocument/2006/relationships/slide" Target="/ppt/slides/slide71.xml" Id="R70a1d2db60a34e28" /><Relationship Type="http://schemas.openxmlformats.org/officeDocument/2006/relationships/slide" Target="/ppt/slides/slide72.xml" Id="R09c9b4be83bc43ce" /><Relationship Type="http://schemas.openxmlformats.org/officeDocument/2006/relationships/slide" Target="/ppt/slides/slide73.xml" Id="Ra651a3bae0e34096" /><Relationship Type="http://schemas.openxmlformats.org/officeDocument/2006/relationships/slide" Target="/ppt/slides/slide74.xml" Id="R4cb7835814f14946" /><Relationship Type="http://schemas.openxmlformats.org/officeDocument/2006/relationships/slide" Target="/ppt/slides/slide75.xml" Id="R2b0f577a7daf4ce3" /><Relationship Type="http://schemas.openxmlformats.org/officeDocument/2006/relationships/slide" Target="/ppt/slides/slide76.xml" Id="R2459bfa8d3f24c71" /><Relationship Type="http://schemas.openxmlformats.org/officeDocument/2006/relationships/slide" Target="/ppt/slides/slide77.xml" Id="Re48f6bfcefb049f4" /><Relationship Type="http://schemas.openxmlformats.org/officeDocument/2006/relationships/slide" Target="/ppt/slides/slide78.xml" Id="R8a98af5c364f45a4" /><Relationship Type="http://schemas.openxmlformats.org/officeDocument/2006/relationships/slide" Target="/ppt/slides/slide79.xml" Id="R6d41e8ea1e844a6e" /><Relationship Type="http://schemas.openxmlformats.org/officeDocument/2006/relationships/slide" Target="/ppt/slides/slide80.xml" Id="Ra251011bdd03450d" /><Relationship Type="http://schemas.openxmlformats.org/officeDocument/2006/relationships/slide" Target="/ppt/slides/slide81.xml" Id="R19419193005c410e" /><Relationship Type="http://schemas.openxmlformats.org/officeDocument/2006/relationships/slide" Target="/ppt/slides/slide82.xml" Id="R77ffd28c7fa04aba" /><Relationship Type="http://schemas.openxmlformats.org/officeDocument/2006/relationships/slide" Target="/ppt/slides/slide83.xml" Id="Ra246e64532ab4c89" /><Relationship Type="http://schemas.openxmlformats.org/officeDocument/2006/relationships/slide" Target="/ppt/slides/slide84.xml" Id="R36878735e6c1403b" /><Relationship Type="http://schemas.openxmlformats.org/officeDocument/2006/relationships/slide" Target="/ppt/slides/slide85.xml" Id="Ra702112342bf4725" /><Relationship Type="http://schemas.openxmlformats.org/officeDocument/2006/relationships/slide" Target="/ppt/slides/slide86.xml" Id="Ref9dcc928e2a4987" /><Relationship Type="http://schemas.openxmlformats.org/officeDocument/2006/relationships/slide" Target="/ppt/slides/slide87.xml" Id="R8d963214f19d4b3a" /><Relationship Type="http://schemas.openxmlformats.org/officeDocument/2006/relationships/slide" Target="/ppt/slides/slide88.xml" Id="R5f495cc942ef437d" /><Relationship Type="http://schemas.openxmlformats.org/officeDocument/2006/relationships/slide" Target="/ppt/slides/slide89.xml" Id="R9af683f54a014e1d" /><Relationship Type="http://schemas.openxmlformats.org/officeDocument/2006/relationships/slide" Target="/ppt/slides/slide90.xml" Id="R70a51a66c80a4007" /><Relationship Type="http://schemas.openxmlformats.org/officeDocument/2006/relationships/slide" Target="/ppt/slides/slide91.xml" Id="Rd149a4eee2484a2e" /><Relationship Type="http://schemas.openxmlformats.org/officeDocument/2006/relationships/slide" Target="/ppt/slides/slide92.xml" Id="R0bf622f0e8b44c5f" /><Relationship Type="http://schemas.openxmlformats.org/officeDocument/2006/relationships/slide" Target="/ppt/slides/slide93.xml" Id="Rc3ddcf2eaedb440c" /><Relationship Type="http://schemas.openxmlformats.org/officeDocument/2006/relationships/slide" Target="/ppt/slides/slide94.xml" Id="Rd6741c7c18ad406f" /><Relationship Type="http://schemas.openxmlformats.org/officeDocument/2006/relationships/slide" Target="/ppt/slides/slide95.xml" Id="Rb35a8209c6794f07" /><Relationship Type="http://schemas.openxmlformats.org/officeDocument/2006/relationships/slide" Target="/ppt/slides/slide96.xml" Id="Rededbeafe9764a0f" /><Relationship Type="http://schemas.openxmlformats.org/officeDocument/2006/relationships/slide" Target="/ppt/slides/slide97.xml" Id="R89cd161afe474321" /><Relationship Type="http://schemas.openxmlformats.org/officeDocument/2006/relationships/slide" Target="/ppt/slides/slide98.xml" Id="R352d304eaf174a63" /><Relationship Type="http://schemas.openxmlformats.org/officeDocument/2006/relationships/slide" Target="/ppt/slides/slide99.xml" Id="R38154db255b84efd" /><Relationship Type="http://schemas.openxmlformats.org/officeDocument/2006/relationships/slide" Target="/ppt/slides/slide100.xml" Id="R71d1ed62962d479d" /><Relationship Type="http://schemas.openxmlformats.org/officeDocument/2006/relationships/slide" Target="/ppt/slides/slide101.xml" Id="Rd8b35342e620404f" /><Relationship Type="http://schemas.openxmlformats.org/officeDocument/2006/relationships/slide" Target="/ppt/slides/slide102.xml" Id="R73dbfac18ab9450f" /><Relationship Type="http://schemas.openxmlformats.org/officeDocument/2006/relationships/slide" Target="/ppt/slides/slide103.xml" Id="R39039331c61644c4" /><Relationship Type="http://schemas.openxmlformats.org/officeDocument/2006/relationships/slide" Target="/ppt/slides/slide104.xml" Id="R0b696c1a106e4738" /><Relationship Type="http://schemas.openxmlformats.org/officeDocument/2006/relationships/slide" Target="/ppt/slides/slide105.xml" Id="Rab2cf62aa2254663" /><Relationship Type="http://schemas.openxmlformats.org/officeDocument/2006/relationships/slide" Target="/ppt/slides/slide106.xml" Id="R7fa12000c54c4b50" /><Relationship Type="http://schemas.openxmlformats.org/officeDocument/2006/relationships/slide" Target="/ppt/slides/slide107.xml" Id="R64873eca9948466a" /><Relationship Type="http://schemas.openxmlformats.org/officeDocument/2006/relationships/slide" Target="/ppt/slides/slide108.xml" Id="R59b9555d6b7347c1" /><Relationship Type="http://schemas.openxmlformats.org/officeDocument/2006/relationships/slide" Target="/ppt/slides/slide109.xml" Id="Rfcae89d34a35408b" /><Relationship Type="http://schemas.openxmlformats.org/officeDocument/2006/relationships/slide" Target="/ppt/slides/slide110.xml" Id="R8ae90da932164160" /><Relationship Type="http://schemas.openxmlformats.org/officeDocument/2006/relationships/slide" Target="/ppt/slides/slide111.xml" Id="Ra2a74d1a054d498f" /><Relationship Type="http://schemas.openxmlformats.org/officeDocument/2006/relationships/slide" Target="/ppt/slides/slide112.xml" Id="R2643dc24588f4890" /><Relationship Type="http://schemas.openxmlformats.org/officeDocument/2006/relationships/slide" Target="/ppt/slides/slide113.xml" Id="Rced0e61af0ef4e16" /><Relationship Type="http://schemas.openxmlformats.org/officeDocument/2006/relationships/slide" Target="/ppt/slides/slide114.xml" Id="R2b1647591a054b0d" /><Relationship Type="http://schemas.openxmlformats.org/officeDocument/2006/relationships/slide" Target="/ppt/slides/slide115.xml" Id="R0b2122fbdb5c4e46" /><Relationship Type="http://schemas.openxmlformats.org/officeDocument/2006/relationships/slide" Target="/ppt/slides/slide116.xml" Id="Ra02f262e9776465c" /><Relationship Type="http://schemas.openxmlformats.org/officeDocument/2006/relationships/slide" Target="/ppt/slides/slide117.xml" Id="Rc7f66d1d59a84d88" /><Relationship Type="http://schemas.openxmlformats.org/officeDocument/2006/relationships/slide" Target="/ppt/slides/slide118.xml" Id="Re11317f39788487e" /><Relationship Type="http://schemas.openxmlformats.org/officeDocument/2006/relationships/slide" Target="/ppt/slides/slide119.xml" Id="Rbec4974d894847de" /><Relationship Type="http://schemas.openxmlformats.org/officeDocument/2006/relationships/slide" Target="/ppt/slides/slide120.xml" Id="R549d1761d43c4553" /><Relationship Type="http://schemas.openxmlformats.org/officeDocument/2006/relationships/slide" Target="/ppt/slides/slide121.xml" Id="R8da1fdd2af4343ee" /><Relationship Type="http://schemas.openxmlformats.org/officeDocument/2006/relationships/slide" Target="/ppt/slides/slide122.xml" Id="Ref8e65c47fff4395" /><Relationship Type="http://schemas.openxmlformats.org/officeDocument/2006/relationships/slide" Target="/ppt/slides/slide123.xml" Id="Rd9688a90e541451d" /><Relationship Type="http://schemas.openxmlformats.org/officeDocument/2006/relationships/slide" Target="/ppt/slides/slide124.xml" Id="R1d34b18592054cff" /><Relationship Type="http://schemas.openxmlformats.org/officeDocument/2006/relationships/slide" Target="/ppt/slides/slide125.xml" Id="Rf279797bb7e44ff7" /><Relationship Type="http://schemas.openxmlformats.org/officeDocument/2006/relationships/slide" Target="/ppt/slides/slide126.xml" Id="Rb3219cd5b80e485c" /><Relationship Type="http://schemas.openxmlformats.org/officeDocument/2006/relationships/slide" Target="/ppt/slides/slide127.xml" Id="R32d5ccbbd50a4e5a" /><Relationship Type="http://schemas.openxmlformats.org/officeDocument/2006/relationships/slide" Target="/ppt/slides/slide128.xml" Id="Re2e56d272812476f" /><Relationship Type="http://schemas.openxmlformats.org/officeDocument/2006/relationships/slide" Target="/ppt/slides/slide129.xml" Id="Rc68e0b91ed994178" /><Relationship Type="http://schemas.openxmlformats.org/officeDocument/2006/relationships/slide" Target="/ppt/slides/slide130.xml" Id="R7026879ef24c467c" /><Relationship Type="http://schemas.openxmlformats.org/officeDocument/2006/relationships/slide" Target="/ppt/slides/slide131.xml" Id="R4d0cfc2f605d422f" /><Relationship Type="http://schemas.openxmlformats.org/officeDocument/2006/relationships/slide" Target="/ppt/slides/slide132.xml" Id="Rce1012adf5424e82" /><Relationship Type="http://schemas.openxmlformats.org/officeDocument/2006/relationships/slide" Target="/ppt/slides/slide133.xml" Id="R17efbc9db5254a95" /><Relationship Type="http://schemas.openxmlformats.org/officeDocument/2006/relationships/slide" Target="/ppt/slides/slide134.xml" Id="Rea694e86bed94e57" /><Relationship Type="http://schemas.openxmlformats.org/officeDocument/2006/relationships/slide" Target="/ppt/slides/slide135.xml" Id="Rc8b17900e282476d" /><Relationship Type="http://schemas.openxmlformats.org/officeDocument/2006/relationships/slide" Target="/ppt/slides/slide136.xml" Id="Rf5a6a517a9f4410d" /><Relationship Type="http://schemas.openxmlformats.org/officeDocument/2006/relationships/slide" Target="/ppt/slides/slide137.xml" Id="R3723c7d293184186" /><Relationship Type="http://schemas.openxmlformats.org/officeDocument/2006/relationships/slide" Target="/ppt/slides/slide138.xml" Id="R2044a1cb97a54b65" /><Relationship Type="http://schemas.openxmlformats.org/officeDocument/2006/relationships/slide" Target="/ppt/slides/slide139.xml" Id="R122c32b4f09e4604" /><Relationship Type="http://schemas.openxmlformats.org/officeDocument/2006/relationships/slide" Target="/ppt/slides/slide140.xml" Id="R947639f1b220444e" /><Relationship Type="http://schemas.openxmlformats.org/officeDocument/2006/relationships/slide" Target="/ppt/slides/slide141.xml" Id="Rd51b5a063cce4648" /><Relationship Type="http://schemas.openxmlformats.org/officeDocument/2006/relationships/slide" Target="/ppt/slides/slide142.xml" Id="Rd09d0ada8b444530" /><Relationship Type="http://schemas.openxmlformats.org/officeDocument/2006/relationships/slide" Target="/ppt/slides/slide143.xml" Id="R4776caef3bc34c98" /><Relationship Type="http://schemas.openxmlformats.org/officeDocument/2006/relationships/slide" Target="/ppt/slides/slide144.xml" Id="Rd497c4a33dc44a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f5b97f1a9d4a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26134740094ca3" /><Relationship Type="http://schemas.openxmlformats.org/officeDocument/2006/relationships/notesMaster" Target="/ppt/notesMasters/notesMaster1.xml" Id="R26fdc2999ee845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d5f7bd98a74d50" /><Relationship Type="http://schemas.openxmlformats.org/officeDocument/2006/relationships/notesMaster" Target="/ppt/notesMasters/notesMaster1.xml" Id="Rccf91527987049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cd1e2b72904ec4" /><Relationship Type="http://schemas.openxmlformats.org/officeDocument/2006/relationships/notesMaster" Target="/ppt/notesMasters/notesMaster1.xml" Id="Re208b59b03f94f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b56ad8039347ae" /><Relationship Type="http://schemas.openxmlformats.org/officeDocument/2006/relationships/notesMaster" Target="/ppt/notesMasters/notesMaster1.xml" Id="R35476c37508048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4733c5f4604c36" /><Relationship Type="http://schemas.openxmlformats.org/officeDocument/2006/relationships/notesMaster" Target="/ppt/notesMasters/notesMaster1.xml" Id="Rdd041c06f41e42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a3b675e615499d" /><Relationship Type="http://schemas.openxmlformats.org/officeDocument/2006/relationships/notesMaster" Target="/ppt/notesMasters/notesMaster1.xml" Id="R7ce993486edb44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8641af600b4dd9" /><Relationship Type="http://schemas.openxmlformats.org/officeDocument/2006/relationships/notesMaster" Target="/ppt/notesMasters/notesMaster1.xml" Id="R9f904660f58449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1f477436a441a7" /><Relationship Type="http://schemas.openxmlformats.org/officeDocument/2006/relationships/notesMaster" Target="/ppt/notesMasters/notesMaster1.xml" Id="R476e487ec1ed44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2ec859734d4e8a" /><Relationship Type="http://schemas.openxmlformats.org/officeDocument/2006/relationships/notesMaster" Target="/ppt/notesMasters/notesMaster1.xml" Id="Rf878f4fd9aa54d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5f5cc8c42e44a4" /><Relationship Type="http://schemas.openxmlformats.org/officeDocument/2006/relationships/notesMaster" Target="/ppt/notesMasters/notesMaster1.xml" Id="Rddd3f8384f2e41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afddda51224135" /><Relationship Type="http://schemas.openxmlformats.org/officeDocument/2006/relationships/notesMaster" Target="/ppt/notesMasters/notesMaster1.xml" Id="R608d63dbcd5d4a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25837a1ac14ce6" /><Relationship Type="http://schemas.openxmlformats.org/officeDocument/2006/relationships/notesMaster" Target="/ppt/notesMasters/notesMaster1.xml" Id="Rd8eac90328224f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6b355d04354342" /><Relationship Type="http://schemas.openxmlformats.org/officeDocument/2006/relationships/notesMaster" Target="/ppt/notesMasters/notesMaster1.xml" Id="Ra21c353b94b240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cbc6579a354027" /><Relationship Type="http://schemas.openxmlformats.org/officeDocument/2006/relationships/notesMaster" Target="/ppt/notesMasters/notesMaster1.xml" Id="R91049ccc039341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0e93136720434c" /><Relationship Type="http://schemas.openxmlformats.org/officeDocument/2006/relationships/notesMaster" Target="/ppt/notesMasters/notesMaster1.xml" Id="R54618cb5a4174d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237c6f424c4e41" /><Relationship Type="http://schemas.openxmlformats.org/officeDocument/2006/relationships/notesMaster" Target="/ppt/notesMasters/notesMaster1.xml" Id="R91eb2733fdcb43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863254bb9a4407" /><Relationship Type="http://schemas.openxmlformats.org/officeDocument/2006/relationships/notesMaster" Target="/ppt/notesMasters/notesMaster1.xml" Id="R44dd017f5a34490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355479cc794d1e" /><Relationship Type="http://schemas.openxmlformats.org/officeDocument/2006/relationships/notesMaster" Target="/ppt/notesMasters/notesMaster1.xml" Id="R64baa62949bc4a8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7dcf116078d463b" /><Relationship Type="http://schemas.openxmlformats.org/officeDocument/2006/relationships/notesMaster" Target="/ppt/notesMasters/notesMaster1.xml" Id="R1ef569bc60b34e4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bb2e09f367c4e06" /><Relationship Type="http://schemas.openxmlformats.org/officeDocument/2006/relationships/notesMaster" Target="/ppt/notesMasters/notesMaster1.xml" Id="Rcd73ef24889f475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a919dbb51dd42f3" /><Relationship Type="http://schemas.openxmlformats.org/officeDocument/2006/relationships/notesMaster" Target="/ppt/notesMasters/notesMaster1.xml" Id="R6cd387e0327e415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4db3ced4d154b8f" /><Relationship Type="http://schemas.openxmlformats.org/officeDocument/2006/relationships/notesMaster" Target="/ppt/notesMasters/notesMaster1.xml" Id="R62d63cc18782408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b9764852a0b47e0" /><Relationship Type="http://schemas.openxmlformats.org/officeDocument/2006/relationships/notesMaster" Target="/ppt/notesMasters/notesMaster1.xml" Id="R830b0b4e722149d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9c88fba2f244667" /><Relationship Type="http://schemas.openxmlformats.org/officeDocument/2006/relationships/notesMaster" Target="/ppt/notesMasters/notesMaster1.xml" Id="R2c9a0b3622374c6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2cad64e039f4799" /><Relationship Type="http://schemas.openxmlformats.org/officeDocument/2006/relationships/notesMaster" Target="/ppt/notesMasters/notesMaster1.xml" Id="Ra656aa1e2d594b5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0c0c8522ca34f2e" /><Relationship Type="http://schemas.openxmlformats.org/officeDocument/2006/relationships/notesMaster" Target="/ppt/notesMasters/notesMaster1.xml" Id="Rb385906a473c442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709008fabb54c5a" /><Relationship Type="http://schemas.openxmlformats.org/officeDocument/2006/relationships/notesMaster" Target="/ppt/notesMasters/notesMaster1.xml" Id="R98b09fd8a53a41f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e9ddbf818a843aa" /><Relationship Type="http://schemas.openxmlformats.org/officeDocument/2006/relationships/notesMaster" Target="/ppt/notesMasters/notesMaster1.xml" Id="Ra7970315163142c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21319c72ba44381" /><Relationship Type="http://schemas.openxmlformats.org/officeDocument/2006/relationships/notesMaster" Target="/ppt/notesMasters/notesMaster1.xml" Id="Raf98aa11beef437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e0a97f98ee24633" /><Relationship Type="http://schemas.openxmlformats.org/officeDocument/2006/relationships/notesMaster" Target="/ppt/notesMasters/notesMaster1.xml" Id="R53f04f9d6fc040a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b5e15faa8b34229" /><Relationship Type="http://schemas.openxmlformats.org/officeDocument/2006/relationships/notesMaster" Target="/ppt/notesMasters/notesMaster1.xml" Id="Rae0b06db3cb74b2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68f3109f6e34dec" /><Relationship Type="http://schemas.openxmlformats.org/officeDocument/2006/relationships/notesMaster" Target="/ppt/notesMasters/notesMaster1.xml" Id="R25638bd3ec164d6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5438ff57f984412" /><Relationship Type="http://schemas.openxmlformats.org/officeDocument/2006/relationships/notesMaster" Target="/ppt/notesMasters/notesMaster1.xml" Id="R04eaa8eab1744c3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833e580bbf444af" /><Relationship Type="http://schemas.openxmlformats.org/officeDocument/2006/relationships/notesMaster" Target="/ppt/notesMasters/notesMaster1.xml" Id="Ra9df2b0ae02d4f8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a7f836ef0f4446b" /><Relationship Type="http://schemas.openxmlformats.org/officeDocument/2006/relationships/notesMaster" Target="/ppt/notesMasters/notesMaster1.xml" Id="R97402f559c3e409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95073c0b248425d" /><Relationship Type="http://schemas.openxmlformats.org/officeDocument/2006/relationships/notesMaster" Target="/ppt/notesMasters/notesMaster1.xml" Id="R0f2775b0ee9746b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1a2bda333a94089" /><Relationship Type="http://schemas.openxmlformats.org/officeDocument/2006/relationships/notesMaster" Target="/ppt/notesMasters/notesMaster1.xml" Id="Rec06c4625d3e49e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e79e4ceca604adf" /><Relationship Type="http://schemas.openxmlformats.org/officeDocument/2006/relationships/notesMaster" Target="/ppt/notesMasters/notesMaster1.xml" Id="R53f842f34ed243d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5357f441fbd44c2" /><Relationship Type="http://schemas.openxmlformats.org/officeDocument/2006/relationships/notesMaster" Target="/ppt/notesMasters/notesMaster1.xml" Id="Reed09797ce8447c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9e39112369747de" /><Relationship Type="http://schemas.openxmlformats.org/officeDocument/2006/relationships/notesMaster" Target="/ppt/notesMasters/notesMaster1.xml" Id="R14ea271869a54fb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23a5e0e620c4eba" /><Relationship Type="http://schemas.openxmlformats.org/officeDocument/2006/relationships/notesMaster" Target="/ppt/notesMasters/notesMaster1.xml" Id="R6f7ce6e5fcb64e0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4a4f7a5dc654cc7" /><Relationship Type="http://schemas.openxmlformats.org/officeDocument/2006/relationships/notesMaster" Target="/ppt/notesMasters/notesMaster1.xml" Id="R662506d22ac6461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4c09fafdbd347fe" /><Relationship Type="http://schemas.openxmlformats.org/officeDocument/2006/relationships/notesMaster" Target="/ppt/notesMasters/notesMaster1.xml" Id="Ra4cb35975149459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2a2764e5cbe4620" /><Relationship Type="http://schemas.openxmlformats.org/officeDocument/2006/relationships/notesMaster" Target="/ppt/notesMasters/notesMaster1.xml" Id="R375fc9fb32704e1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5cec3c5314041b8" /><Relationship Type="http://schemas.openxmlformats.org/officeDocument/2006/relationships/notesMaster" Target="/ppt/notesMasters/notesMaster1.xml" Id="R3e15daf324e3402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5c170f5f247499f" /><Relationship Type="http://schemas.openxmlformats.org/officeDocument/2006/relationships/notesMaster" Target="/ppt/notesMasters/notesMaster1.xml" Id="R06457949a7c1491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e0415b76985433a" /><Relationship Type="http://schemas.openxmlformats.org/officeDocument/2006/relationships/notesMaster" Target="/ppt/notesMasters/notesMaster1.xml" Id="Rd3f7c599a6b94d1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809f64f59b3451a" /><Relationship Type="http://schemas.openxmlformats.org/officeDocument/2006/relationships/notesMaster" Target="/ppt/notesMasters/notesMaster1.xml" Id="R0d7d08b6b32748a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2dfb72594c6407e" /><Relationship Type="http://schemas.openxmlformats.org/officeDocument/2006/relationships/notesMaster" Target="/ppt/notesMasters/notesMaster1.xml" Id="Rbf75a80c60a14bd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26fc95ac98841d8" /><Relationship Type="http://schemas.openxmlformats.org/officeDocument/2006/relationships/notesMaster" Target="/ppt/notesMasters/notesMaster1.xml" Id="R36fc47fb4eb349e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882d9f647474d10" /><Relationship Type="http://schemas.openxmlformats.org/officeDocument/2006/relationships/notesMaster" Target="/ppt/notesMasters/notesMaster1.xml" Id="Rb13394ec6bd24fc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06874167e27b44aa" /><Relationship Type="http://schemas.openxmlformats.org/officeDocument/2006/relationships/notesMaster" Target="/ppt/notesMasters/notesMaster1.xml" Id="R17e09c277bd243da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feaef23d93441e6" /><Relationship Type="http://schemas.openxmlformats.org/officeDocument/2006/relationships/notesMaster" Target="/ppt/notesMasters/notesMaster1.xml" Id="R5d8d77421cf14a23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812738b40d34b68" /><Relationship Type="http://schemas.openxmlformats.org/officeDocument/2006/relationships/notesMaster" Target="/ppt/notesMasters/notesMaster1.xml" Id="R964129efae9d432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e854d671c4a45d3" /><Relationship Type="http://schemas.openxmlformats.org/officeDocument/2006/relationships/notesMaster" Target="/ppt/notesMasters/notesMaster1.xml" Id="Rc8f309a6596e453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f410b2ad68674635" /><Relationship Type="http://schemas.openxmlformats.org/officeDocument/2006/relationships/notesMaster" Target="/ppt/notesMasters/notesMaster1.xml" Id="R6b81ed74dec14e1c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4f560339ce2d4ad2" /><Relationship Type="http://schemas.openxmlformats.org/officeDocument/2006/relationships/notesMaster" Target="/ppt/notesMasters/notesMaster1.xml" Id="R8d69cf8c1fb4400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a16c96daee79440f" /><Relationship Type="http://schemas.openxmlformats.org/officeDocument/2006/relationships/notesMaster" Target="/ppt/notesMasters/notesMaster1.xml" Id="R82528a2846ef4cc5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2896a8d5da64c52" /><Relationship Type="http://schemas.openxmlformats.org/officeDocument/2006/relationships/notesMaster" Target="/ppt/notesMasters/notesMaster1.xml" Id="R85660144336e49ce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57016308108647e9" /><Relationship Type="http://schemas.openxmlformats.org/officeDocument/2006/relationships/notesMaster" Target="/ppt/notesMasters/notesMaster1.xml" Id="R414a26a408bc4366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3dc105655ecf4a31" /><Relationship Type="http://schemas.openxmlformats.org/officeDocument/2006/relationships/notesMaster" Target="/ppt/notesMasters/notesMaster1.xml" Id="Rc4f7056bdb044a58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e0a0d5d3a35d4190" /><Relationship Type="http://schemas.openxmlformats.org/officeDocument/2006/relationships/notesMaster" Target="/ppt/notesMasters/notesMaster1.xml" Id="R3b4f3fae35154660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0f70b18bbfba489b" /><Relationship Type="http://schemas.openxmlformats.org/officeDocument/2006/relationships/notesMaster" Target="/ppt/notesMasters/notesMaster1.xml" Id="Rd777d32e5f0846d0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7c3be9e8745b42a6" /><Relationship Type="http://schemas.openxmlformats.org/officeDocument/2006/relationships/notesMaster" Target="/ppt/notesMasters/notesMaster1.xml" Id="R41f016a6c1b44248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90c033a963134a69" /><Relationship Type="http://schemas.openxmlformats.org/officeDocument/2006/relationships/notesMaster" Target="/ppt/notesMasters/notesMaster1.xml" Id="R2af1e793b202493e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94ed7e05ddc04455" /><Relationship Type="http://schemas.openxmlformats.org/officeDocument/2006/relationships/notesMaster" Target="/ppt/notesMasters/notesMaster1.xml" Id="R3c56cbec9d614aff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e244f76b33964d5d" /><Relationship Type="http://schemas.openxmlformats.org/officeDocument/2006/relationships/notesMaster" Target="/ppt/notesMasters/notesMaster1.xml" Id="R08b841b6fb29424d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534cb181eb8d4fab" /><Relationship Type="http://schemas.openxmlformats.org/officeDocument/2006/relationships/notesMaster" Target="/ppt/notesMasters/notesMaster1.xml" Id="Ra09103aae01d4786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cf89a13bf2af4498" /><Relationship Type="http://schemas.openxmlformats.org/officeDocument/2006/relationships/notesMaster" Target="/ppt/notesMasters/notesMaster1.xml" Id="R474eb1e17b5c4b1f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f78353f94322487b" /><Relationship Type="http://schemas.openxmlformats.org/officeDocument/2006/relationships/notesMaster" Target="/ppt/notesMasters/notesMaster1.xml" Id="R15701566ff774a6b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36e1178dd06b43e5" /><Relationship Type="http://schemas.openxmlformats.org/officeDocument/2006/relationships/notesMaster" Target="/ppt/notesMasters/notesMaster1.xml" Id="R70af5d0785df40ed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779ea9db9abf4e5f" /><Relationship Type="http://schemas.openxmlformats.org/officeDocument/2006/relationships/notesMaster" Target="/ppt/notesMasters/notesMaster1.xml" Id="Rc4f263a61d304af6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b1fd1d02a0cd49b3" /><Relationship Type="http://schemas.openxmlformats.org/officeDocument/2006/relationships/notesMaster" Target="/ppt/notesMasters/notesMaster1.xml" Id="R067db84e738541f0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c65efe3a0ae94301" /><Relationship Type="http://schemas.openxmlformats.org/officeDocument/2006/relationships/notesMaster" Target="/ppt/notesMasters/notesMaster1.xml" Id="Racc9e8d3f601454a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f49f94b5726c4117" /><Relationship Type="http://schemas.openxmlformats.org/officeDocument/2006/relationships/notesMaster" Target="/ppt/notesMasters/notesMaster1.xml" Id="Re085a3cc4db1412f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882bdfb514ab4d5f" /><Relationship Type="http://schemas.openxmlformats.org/officeDocument/2006/relationships/notesMaster" Target="/ppt/notesMasters/notesMaster1.xml" Id="Rb3d130920c9c4d09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584520710f664f31" /><Relationship Type="http://schemas.openxmlformats.org/officeDocument/2006/relationships/notesMaster" Target="/ppt/notesMasters/notesMaster1.xml" Id="R7a15e9fb2b364457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324be289bbd04d1b" /><Relationship Type="http://schemas.openxmlformats.org/officeDocument/2006/relationships/notesMaster" Target="/ppt/notesMasters/notesMaster1.xml" Id="Rd4b76c438f3948a2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c607c1b15dd5455a" /><Relationship Type="http://schemas.openxmlformats.org/officeDocument/2006/relationships/notesMaster" Target="/ppt/notesMasters/notesMaster1.xml" Id="R9d88d24e56f04da0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c1846b9d60be4456" /><Relationship Type="http://schemas.openxmlformats.org/officeDocument/2006/relationships/notesMaster" Target="/ppt/notesMasters/notesMaster1.xml" Id="Rb771dc143089440e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0d11fa25371c4ad1" /><Relationship Type="http://schemas.openxmlformats.org/officeDocument/2006/relationships/notesMaster" Target="/ppt/notesMasters/notesMaster1.xml" Id="R4ffac10836ed4f64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1c62d89b6c51476e" /><Relationship Type="http://schemas.openxmlformats.org/officeDocument/2006/relationships/notesMaster" Target="/ppt/notesMasters/notesMaster1.xml" Id="R20b72a14c51d4137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088ae8c47fc04c08" /><Relationship Type="http://schemas.openxmlformats.org/officeDocument/2006/relationships/notesMaster" Target="/ppt/notesMasters/notesMaster1.xml" Id="R84d9faf5a6364dc5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404ae8f8914d471e" /><Relationship Type="http://schemas.openxmlformats.org/officeDocument/2006/relationships/notesMaster" Target="/ppt/notesMasters/notesMaster1.xml" Id="R0537552ed60d4d95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4bd8156253f14cc1" /><Relationship Type="http://schemas.openxmlformats.org/officeDocument/2006/relationships/notesMaster" Target="/ppt/notesMasters/notesMaster1.xml" Id="R7412025ab14a4dab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e1fb6e7bed0248fa" /><Relationship Type="http://schemas.openxmlformats.org/officeDocument/2006/relationships/notesMaster" Target="/ppt/notesMasters/notesMaster1.xml" Id="R633e64028f984307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c9e0e652ea6d484f" /><Relationship Type="http://schemas.openxmlformats.org/officeDocument/2006/relationships/notesMaster" Target="/ppt/notesMasters/notesMaster1.xml" Id="Rb9b904830a5e4cd2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68bf67d3b6bf4912" /><Relationship Type="http://schemas.openxmlformats.org/officeDocument/2006/relationships/notesMaster" Target="/ppt/notesMasters/notesMaster1.xml" Id="R3e2889fc67e54b53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d962f17ea3af452a" /><Relationship Type="http://schemas.openxmlformats.org/officeDocument/2006/relationships/notesMaster" Target="/ppt/notesMasters/notesMaster1.xml" Id="R965db8f2a3554061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d93fced741e248ea" /><Relationship Type="http://schemas.openxmlformats.org/officeDocument/2006/relationships/notesMaster" Target="/ppt/notesMasters/notesMaster1.xml" Id="R0b2b2c7aa2ad46c3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0968fa7255674bc1" /><Relationship Type="http://schemas.openxmlformats.org/officeDocument/2006/relationships/notesMaster" Target="/ppt/notesMasters/notesMaster1.xml" Id="R5a8b5074993e4917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a6eccbbaa46a4527" /><Relationship Type="http://schemas.openxmlformats.org/officeDocument/2006/relationships/notesMaster" Target="/ppt/notesMasters/notesMaster1.xml" Id="R4caafd3b54b6469a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88de97ab6d0e4719" /><Relationship Type="http://schemas.openxmlformats.org/officeDocument/2006/relationships/notesMaster" Target="/ppt/notesMasters/notesMaster1.xml" Id="R0f389ab6d234412f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fe16fe96988b4032" /><Relationship Type="http://schemas.openxmlformats.org/officeDocument/2006/relationships/notesMaster" Target="/ppt/notesMasters/notesMaster1.xml" Id="R1c202cc4975841a7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3ac688463faa45ca" /><Relationship Type="http://schemas.openxmlformats.org/officeDocument/2006/relationships/notesMaster" Target="/ppt/notesMasters/notesMaster1.xml" Id="Rf916698617cc4fda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703e5027924643ed" /><Relationship Type="http://schemas.openxmlformats.org/officeDocument/2006/relationships/notesMaster" Target="/ppt/notesMasters/notesMaster1.xml" Id="R36552b29fe604a8c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c7fe7d31cabd45ba" /><Relationship Type="http://schemas.openxmlformats.org/officeDocument/2006/relationships/notesMaster" Target="/ppt/notesMasters/notesMaster1.xml" Id="R8b1418938dc9423a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c7ed27a417854bea" /><Relationship Type="http://schemas.openxmlformats.org/officeDocument/2006/relationships/notesMaster" Target="/ppt/notesMasters/notesMaster1.xml" Id="Rc3c8e23c274248e9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0464495bc3d449f0" /><Relationship Type="http://schemas.openxmlformats.org/officeDocument/2006/relationships/notesMaster" Target="/ppt/notesMasters/notesMaster1.xml" Id="R2b86a40b10e641e7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c680f7e3a9294643" /><Relationship Type="http://schemas.openxmlformats.org/officeDocument/2006/relationships/notesMaster" Target="/ppt/notesMasters/notesMaster1.xml" Id="R4b3578b3d5e546b1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af5aa381d8d34985" /><Relationship Type="http://schemas.openxmlformats.org/officeDocument/2006/relationships/notesMaster" Target="/ppt/notesMasters/notesMaster1.xml" Id="R0cc7532eec354fac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df45d5320a7a4c74" /><Relationship Type="http://schemas.openxmlformats.org/officeDocument/2006/relationships/notesMaster" Target="/ppt/notesMasters/notesMaster1.xml" Id="R9ec6a8605f054933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a5261be9cb164237" /><Relationship Type="http://schemas.openxmlformats.org/officeDocument/2006/relationships/notesMaster" Target="/ppt/notesMasters/notesMaster1.xml" Id="R8ac4d55097764d04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55ff259b7cb94c9c" /><Relationship Type="http://schemas.openxmlformats.org/officeDocument/2006/relationships/notesMaster" Target="/ppt/notesMasters/notesMaster1.xml" Id="Rabad44967e904d03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3652464b5ca94187" /><Relationship Type="http://schemas.openxmlformats.org/officeDocument/2006/relationships/notesMaster" Target="/ppt/notesMasters/notesMaster1.xml" Id="R3749f5f1a3b84c06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afb7ad1d86094304" /><Relationship Type="http://schemas.openxmlformats.org/officeDocument/2006/relationships/notesMaster" Target="/ppt/notesMasters/notesMaster1.xml" Id="R3a1bbc78b3f84d44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af70422171c14fb3" /><Relationship Type="http://schemas.openxmlformats.org/officeDocument/2006/relationships/notesMaster" Target="/ppt/notesMasters/notesMaster1.xml" Id="R01591abf18e94f67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14edf5df4af54b24" /><Relationship Type="http://schemas.openxmlformats.org/officeDocument/2006/relationships/notesMaster" Target="/ppt/notesMasters/notesMaster1.xml" Id="Rc1e53a8713a54a27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bc2a7b842e04430e" /><Relationship Type="http://schemas.openxmlformats.org/officeDocument/2006/relationships/notesMaster" Target="/ppt/notesMasters/notesMaster1.xml" Id="Rbba25b907bff4453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36d56ceccce8469d" /><Relationship Type="http://schemas.openxmlformats.org/officeDocument/2006/relationships/notesMaster" Target="/ppt/notesMasters/notesMaster1.xml" Id="Rd45fa2769b044cf8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189d3bb97c984062" /><Relationship Type="http://schemas.openxmlformats.org/officeDocument/2006/relationships/notesMaster" Target="/ppt/notesMasters/notesMaster1.xml" Id="R4ed50f57c4c54f3a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9c450e7d7fbc48e7" /><Relationship Type="http://schemas.openxmlformats.org/officeDocument/2006/relationships/notesMaster" Target="/ppt/notesMasters/notesMaster1.xml" Id="R88bb2469ba864503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db2400b7099a4ee3" /><Relationship Type="http://schemas.openxmlformats.org/officeDocument/2006/relationships/notesMaster" Target="/ppt/notesMasters/notesMaster1.xml" Id="R94d5e04b418a4efd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8df2ac2575824260" /><Relationship Type="http://schemas.openxmlformats.org/officeDocument/2006/relationships/notesMaster" Target="/ppt/notesMasters/notesMaster1.xml" Id="R46810ea556304437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81ff970367434137" /><Relationship Type="http://schemas.openxmlformats.org/officeDocument/2006/relationships/notesMaster" Target="/ppt/notesMasters/notesMaster1.xml" Id="R0634b17e8fef47f3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9ff42ada467a4c3e" /><Relationship Type="http://schemas.openxmlformats.org/officeDocument/2006/relationships/notesMaster" Target="/ppt/notesMasters/notesMaster1.xml" Id="Ra34a75b85bf748a8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6559a9fb8ca744ca" /><Relationship Type="http://schemas.openxmlformats.org/officeDocument/2006/relationships/notesMaster" Target="/ppt/notesMasters/notesMaster1.xml" Id="R149ea1c067944fc6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e34f8923a9114645" /><Relationship Type="http://schemas.openxmlformats.org/officeDocument/2006/relationships/notesMaster" Target="/ppt/notesMasters/notesMaster1.xml" Id="R7253c4b5a77046cc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e2154ef2e4fe4803" /><Relationship Type="http://schemas.openxmlformats.org/officeDocument/2006/relationships/notesMaster" Target="/ppt/notesMasters/notesMaster1.xml" Id="R7dd2c90df1d44d36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9e719b04110e4c84" /><Relationship Type="http://schemas.openxmlformats.org/officeDocument/2006/relationships/notesMaster" Target="/ppt/notesMasters/notesMaster1.xml" Id="Ref79cb0d1b2b407d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b9df05b75ee24e88" /><Relationship Type="http://schemas.openxmlformats.org/officeDocument/2006/relationships/notesMaster" Target="/ppt/notesMasters/notesMaster1.xml" Id="Rce0676c4720b44ee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ba7a12c40ca84a77" /><Relationship Type="http://schemas.openxmlformats.org/officeDocument/2006/relationships/notesMaster" Target="/ppt/notesMasters/notesMaster1.xml" Id="R25600b09d06c41b6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1d348bc9061a4679" /><Relationship Type="http://schemas.openxmlformats.org/officeDocument/2006/relationships/notesMaster" Target="/ppt/notesMasters/notesMaster1.xml" Id="R5e075b9bf0164dad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5ba1e51553c149a9" /><Relationship Type="http://schemas.openxmlformats.org/officeDocument/2006/relationships/notesMaster" Target="/ppt/notesMasters/notesMaster1.xml" Id="R27f8ea15716549ec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e5b52e4cec314a22" /><Relationship Type="http://schemas.openxmlformats.org/officeDocument/2006/relationships/notesMaster" Target="/ppt/notesMasters/notesMaster1.xml" Id="R602a9abcee4b43b9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ba92de2bd78247da" /><Relationship Type="http://schemas.openxmlformats.org/officeDocument/2006/relationships/notesMaster" Target="/ppt/notesMasters/notesMaster1.xml" Id="R0770c21e08b44f1e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322bc4c141a14a91" /><Relationship Type="http://schemas.openxmlformats.org/officeDocument/2006/relationships/notesMaster" Target="/ppt/notesMasters/notesMaster1.xml" Id="R8b03dea945d2412b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18efe85c120042c5" /><Relationship Type="http://schemas.openxmlformats.org/officeDocument/2006/relationships/notesMaster" Target="/ppt/notesMasters/notesMaster1.xml" Id="R19b91dcf29334bbc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eb853c36c869481d" /><Relationship Type="http://schemas.openxmlformats.org/officeDocument/2006/relationships/notesMaster" Target="/ppt/notesMasters/notesMaster1.xml" Id="Ra9d38c2710f34b69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27edb2735b054bcf" /><Relationship Type="http://schemas.openxmlformats.org/officeDocument/2006/relationships/notesMaster" Target="/ppt/notesMasters/notesMaster1.xml" Id="R09db14e5ff634f24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df442f9860284f45" /><Relationship Type="http://schemas.openxmlformats.org/officeDocument/2006/relationships/notesMaster" Target="/ppt/notesMasters/notesMaster1.xml" Id="R8b88a06c3d154134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d4e79b2317e74c5e" /><Relationship Type="http://schemas.openxmlformats.org/officeDocument/2006/relationships/notesMaster" Target="/ppt/notesMasters/notesMaster1.xml" Id="Rcbcdc24a8afc4f86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1b1148f7aab343e1" /><Relationship Type="http://schemas.openxmlformats.org/officeDocument/2006/relationships/notesMaster" Target="/ppt/notesMasters/notesMaster1.xml" Id="R7a8c80fdeefc4f67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f892d2733cff4a5f" /><Relationship Type="http://schemas.openxmlformats.org/officeDocument/2006/relationships/notesMaster" Target="/ppt/notesMasters/notesMaster1.xml" Id="Rfb2f45f66c684419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9d41059952bb41c6" /><Relationship Type="http://schemas.openxmlformats.org/officeDocument/2006/relationships/notesMaster" Target="/ppt/notesMasters/notesMaster1.xml" Id="R55bf74f21df94c67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b13c020852784ca0" /><Relationship Type="http://schemas.openxmlformats.org/officeDocument/2006/relationships/notesMaster" Target="/ppt/notesMasters/notesMaster1.xml" Id="Reb9d53ab1536421a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55c275fd7c09474a" /><Relationship Type="http://schemas.openxmlformats.org/officeDocument/2006/relationships/notesMaster" Target="/ppt/notesMasters/notesMaster1.xml" Id="R2e771f1536f342a0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a60097b3029b4048" /><Relationship Type="http://schemas.openxmlformats.org/officeDocument/2006/relationships/notesMaster" Target="/ppt/notesMasters/notesMaster1.xml" Id="R5f72a0106d914557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25190117b3bd4dce" /><Relationship Type="http://schemas.openxmlformats.org/officeDocument/2006/relationships/notesMaster" Target="/ppt/notesMasters/notesMaster1.xml" Id="Rd9211f3d8aa7446b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54ff351936534c71" /><Relationship Type="http://schemas.openxmlformats.org/officeDocument/2006/relationships/notesMaster" Target="/ppt/notesMasters/notesMaster1.xml" Id="Rde2ea0cee42544f7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a35bd525ed884f17" /><Relationship Type="http://schemas.openxmlformats.org/officeDocument/2006/relationships/notesMaster" Target="/ppt/notesMasters/notesMaster1.xml" Id="R0fcc9e125d3c44fe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19ec6e8352284dde" /><Relationship Type="http://schemas.openxmlformats.org/officeDocument/2006/relationships/notesMaster" Target="/ppt/notesMasters/notesMaster1.xml" Id="Rbd32d86a833e4d6f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0f122620898a4c2b" /><Relationship Type="http://schemas.openxmlformats.org/officeDocument/2006/relationships/notesMaster" Target="/ppt/notesMasters/notesMaster1.xml" Id="Rbee9cee49ef94080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f6205ec5540448da" /><Relationship Type="http://schemas.openxmlformats.org/officeDocument/2006/relationships/notesMaster" Target="/ppt/notesMasters/notesMaster1.xml" Id="Rb2bef5c4774347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participants and frame the course as an engineering build, not a model tour. Ask who has shipped Arabic NLP and what failed first. Keep the opening under three minutes. Cover visual created specifically for this course with OpenAI ImageGen.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Cover Page and Course Description.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the headline as written, then unpack it with one example. Tokenizer choices, slice-level truth, and production milliseconds decide whether a language system deserves trust.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Course Description.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A bilingual citizen-feedback intelligence service assembled from every 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Learning Outcomes.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across rows, not down columns. Ask participants what decision each row supports and which metric or artefact would prove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Course Delivery Plan.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Every lab commits a production component; no throwaway datasets.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Course Description and Final Capstone Project.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the arrows left to right. At each boundary, ask what could silently drift and what artefact pins it. Keep labels concise; expand with the notes, not extra boxes.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Final Capstone Project — Architecture.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across rows, not down columns. Ask participants what decision each row supports and which metric or artefact would prove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Assessment Package.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reset. State the destination for the next block: Build the bilingual preprocessing contract, then reason through one transformer forward pass.. Invite one prediction from the room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Course Delivery Plan — Day 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reset. State the destination for the next block: Tokenisation quality is an accuracy, context-window, and infrastructure decision made before the model sees a single token.. Invite one prediction from the room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1 — Text Processing, Tokenisation, and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the headline as written, then unpack it with one example. The profession lives in the preprocessing contract, the evaluation slices, and the milliseconds—not in a checkpoint 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1 — Text Processing, Tokenisation, and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Every capability produces a component of Bayan and evidence for the capstone.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1 — Text Processing, Tokenisation, and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1 — Text Processing, Tokenisation, and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1 — Text Processing, Tokenisation, and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1 — Text Processing, Tokenisation, and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1 — Text Processing, Tokenisation, and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1 — Text Processing, Tokenisation, and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1 — Text Processing, Tokenisation, and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Silent plausibility is the dangerous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1 — Text Processing, Tokenisation, and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code from inputs to guarantees. Ask participants which line becomes a production canary or regression test. Do not type the full example live; annotate the provided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1 — Text Processing, Tokenisation, and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Predict first; measure second; defend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1 — Text Processing, Tokenisation, and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Launch the lab by showing the evidence first. Pair participants, identify the checkpoint branch, and state the fallback route. Protect the debrief: one pair shows evidence, another challenges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1 — Text Processing, Tokenisation, and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Begin with the chart question, pause for interpretation, then reveal the callouts. Reference values are course targets and must not be copied into participant benchmark reports.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1 — Text Processing, Tokenisation, and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reset. State the destination for the next block: Architecture literacy prevents expensive model-family mismatches and makes sequence-length costs predictable.. Invite one prediction from the room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2 — Attention and the Transformer Architecture.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the headline as written, then unpack it with one example. The profession lives in the preprocessing contract, the evaluation slices, and the milliseconds—not in a checkpoint 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2 — Attention and the Transformer Architecture.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Every capability produces a component of Bayan and evidence for the capstone.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2 — Attention and the Transformer Architecture.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2 — Attention and the Transformer Architecture.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2 — Attention and the Transformer Architecture.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2 — Attention and the Transformer Architecture.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2 — Attention and the Transformer Architecture.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2 — Attention and the Transformer Architecture.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2 — Attention and the Transformer Architecture.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Silent plausibility is the dangerous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2 — Attention and the Transformer Architecture.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code from inputs to guarantees. Ask participants which line becomes a production canary or regression test. Do not type the full example live; annotate the provided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2 — Attention and the Transformer Architecture.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Predict first; measure second; defend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2 — Attention and the Transformer Architecture.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Launch the lab by showing the evidence first. Pair participants, identify the checkpoint branch, and state the fallback route. Protect the debrief: one pair shows evidence, another challenges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2 — Attention and the Transformer Architecture.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the arrows left to right. At each boundary, ask what could silently drift and what artefact pins it. Keep labels concise; expand with the notes, not extra boxes.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2 — Attention and the Transformer Architecture.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the headline as written, then unpack it with one example. Commit the tokenizer decision, golden tests, attention equivalence, parameter audit, and pad-leak regression before Day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Course Delivery Plan — Day 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reset. State the destination for the next block: Fine-tune the three workhorse task heads, then expose the Arabic failure modes the multilingual defaults hide.. Invite one prediction from the room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Course Delivery Plan — Day 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reset. State the destination for the next block: Fine-tuned encoders remain the highest accuracy-per-riyal option for fixed-schema enterprise NLP—when splits, alignment, and evaluation are honest.. Invite one prediction from the room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3 — Fine-tuning BERT-family Models for Downstream Tasks.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the headline as written, then unpack it with one example. The profession lives in the preprocessing contract, the evaluation slices, and the milliseconds—not in a checkpoint 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3 — Fine-tuning BERT-family Models for Downstream Tasks.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Every capability produces a component of Bayan and evidence for the capstone.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3 — Fine-tuning BERT-family Models for Downstream Tasks.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3 — Fine-tuning BERT-family Models for Downstream Tasks.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3 — Fine-tuning BERT-family Models for Downstream Tasks.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3 — Fine-tuning BERT-family Models for Downstream Tasks.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3 — Fine-tuning BERT-family Models for Downstream Tasks.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3 — Fine-tuning BERT-family Models for Downstream Tasks.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3 — Fine-tuning BERT-family Models for Downstream Tasks.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Silent plausibility is the dangerous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3 — Fine-tuning BERT-family Models for Downstream Tasks.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code from inputs to guarantees. Ask participants which line becomes a production canary or regression test. Do not type the full example live; annotate the provided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3 — Fine-tuning BERT-family Models for Downstream Tasks.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Predict first; measure second; defend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3 — Fine-tuning BERT-family Models for Downstream Tasks.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Launch the lab by showing the evidence first. Pair participants, identify the checkpoint branch, and state the fallback route. Protect the debrief: one pair shows evidence, another challenges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3 — Fine-tuning BERT-family Models for Downstream Tasks.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across rows, not down columns. Ask participants what decision each row supports and which metric or artefact would prove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3 — Fine-tuning BERT-family Models for Downstream Tasks.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reset. State the destination for the next block: Saudi NLP quality is determined by morphology, orthographic variation, and dialect coverage—not by an aggregate Arabic score.. Invite one prediction from the room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4 — Arabic NLP: Challenges, Models, and Resources.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the headline as written, then unpack it with one example. The profession lives in the preprocessing contract, the evaluation slices, and the milliseconds—not in a checkpoint 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4 — Arabic NLP: Challenges, Models, and Resources.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Every capability produces a component of Bayan and evidence for the capstone.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4 — Arabic NLP: Challenges, Models, and Resources.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4 — Arabic NLP: Challenges, Models, and Resources.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4 — Arabic NLP: Challenges, Models, and Resources.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4 — Arabic NLP: Challenges, Models, and Resources.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4 — Arabic NLP: Challenges, Models, and Resources.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4 — Arabic NLP: Challenges, Models, and Resources.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4 — Arabic NLP: Challenges, Models, and Resources.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Silent plausibility is the dangerous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4 — Arabic NLP: Challenges, Models, and Resources.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code from inputs to guarantees. Ask participants which line becomes a production canary or regression test. Do not type the full example live; annotate the provided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4 — Arabic NLP: Challenges, Models, and Resources.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Predict first; measure second; defend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4 — Arabic NLP: Challenges, Models, and Resources.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Begin with the chart question, pause for interpretation, then reveal the callouts. Reference values are course targets and must not be copied into participant benchmark reports.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4 — Arabic NLP: Challenges, Models, and Resources.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the headline as written, then unpack it with one example. Commit three model artefacts, configs, smoke tests, and model-card drafts. Day 3 will challenge the Arabic slices and retrieval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Course Delivery Plan — Day 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reset. State the destination for the next block: Improve the Gulf slice, retrieve across languages, and build the evaluation report leadership can trust.. Invite one prediction from the room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Course Delivery Plan — Day 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Launch the lab by showing the evidence first. Pair participants, identify the checkpoint branch, and state the fallback route. Protect the debrief: one pair shows evidence, another challenges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4 — Arabic NLP: Challenges, Models, and Resources.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reset. State the destination for the next block: Semantic search upgrades keyword systems quickly—and becomes the retrieval foundation that later RAG systems depend on.. Invite one prediction from the room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5 — Semantic Search with Sentence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the headline as written, then unpack it with one example. The profession lives in the preprocessing contract, the evaluation slices, and the milliseconds—not in a checkpoint 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5 — Semantic Search with Sentence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Every capability produces a component of Bayan and evidence for the capstone.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5 — Semantic Search with Sentence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5 — Semantic Search with Sentence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5 — Semantic Search with Sentence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5 — Semantic Search with Sentence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5 — Semantic Search with Sentence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5 — Semantic Search with Sentence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5 — Semantic Search with Sentence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Silent plausibility is the dangerous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5 — Semantic Search with Sentence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code from inputs to guarantees. Ask participants which line becomes a production canary or regression test. Do not type the full example live; annotate the provided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5 — Semantic Search with Sentence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Predict first; measure second; defend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5 — Semantic Search with Sentence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Launch the lab by showing the evidence first. Pair participants, identify the checkpoint branch, and state the fallback route. Protect the debrief: one pair shows evidence, another challenges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5 — Semantic Search with Sentence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the arrows left to right. At each boundary, ask what could silently drift and what artefact pins it. Keep labels concise; expand with the notes, not extra boxes.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5 — Semantic Search with Sentence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Begin with the chart question, pause for interpretation, then reveal the callouts. Reference values are course targets and must not be copied into participant benchmark reports.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5 — Semantic Search with Sentence Embeddings.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reset. State the destination for the next block: A trustworthy model claim combines task metrics, slices, uncertainty, behavioural tests, and human-read errors.. Invite one prediction from the room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6 — Evaluation and Error Analysis for NLP.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the headline as written, then unpack it with one example. The profession lives in the preprocessing contract, the evaluation slices, and the milliseconds—not in a checkpoint 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6 — Evaluation and Error Analysis for NLP.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Every capability produces a component of Bayan and evidence for the capstone.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6 — Evaluation and Error Analysis for NLP.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6 — Evaluation and Error Analysis for NLP.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6 — Evaluation and Error Analysis for NLP.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6 — Evaluation and Error Analysis for NLP.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6 — Evaluation and Error Analysis for NLP.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6 — Evaluation and Error Analysis for NLP.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6 — Evaluation and Error Analysis for NLP.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Silent plausibility is the dangerous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6 — Evaluation and Error Analysis for NLP.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code from inputs to guarantees. Ask participants which line becomes a production canary or regression test. Do not type the full example live; annotate the provided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6 — Evaluation and Error Analysis for NLP.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Predict first; measure second; defend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6 — Evaluation and Error Analysis for NLP.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Launch the lab by showing the evidence first. Pair participants, identify the checkpoint branch, and state the fallback route. Protect the debrief: one pair shows evidence, another challenges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6 — Evaluation and Error Analysis for NLP.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Begin with the chart question, pause for interpretation, then reveal the callouts. Reference values are course targets and must not be copied into participant benchmark reports.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6 — Evaluation and Error Analysis for NLP.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the headline as written, then unpack it with one example. Commit the Arabic decision, versioned index, retrieval metrics, behavioural suite, slice table, error taxonomy, and top-three fixes.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Course Delivery Plan — Day 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reset. State the destination for the next block: Turn research artefacts into a canaried service, defend the trade-offs, and demonstrate Bayan end to end.. Invite one prediction from the room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Course Delivery Plan — Day 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reset. State the destination for the next block: Accuracy builds the checkpoint; latency, throughput, memory, and rollback evidence decide whether it ships.. Invite one prediction from the room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7 — Inference Optimisation and Serving.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the headline as written, then unpack it with one example. The profession lives in the preprocessing contract, the evaluation slices, and the milliseconds—not in a checkpoint 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7 — Inference Optimisation and Serving.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Every capability produces a component of Bayan and evidence for the capstone.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7 — Inference Optimisation and Serving.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7 — Inference Optimisation and Serving.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7 — Inference Optimisation and Serving.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7 — Inference Optimisation and Serving.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7 — Inference Optimisation and Serving.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7 — Inference Optimisation and Serving.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7 — Inference Optimisation and Serving.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Connect this concept to Lab 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7 — Inference Optimisation and Serving.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Silent plausibility is the dangerous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7 — Inference Optimisation and Serving.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code from inputs to guarantees. Ask participants which line becomes a production canary or regression test. Do not type the full example live; annotate the provided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7 — Inference Optimisation and Serving.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Predict first; measure second; defend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7 — Inference Optimisation and Serving.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Launch the lab by showing the evidence first. Pair participants, identify the checkpoint branch, and state the fallback route. Protect the debrief: one pair shows evidence, another challenges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7 — Inference Optimisation and Serving.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Begin with the chart question, pause for interpretation, then reveal the callouts. Reference values are course targets and must not be copied into participant benchmark reports.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7 — Inference Optimisation and Serving.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the arrows left to right. At each boundary, ask what could silently drift and what artefact pins it. Keep labels concise; expand with the notes, not extra boxes.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Module 7 — Inference Optimisation and Serving.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reset. State the destination for the next block: Integrate the components you already built, choose one extension, and defend one number under challenge.. Invite one prediction from the room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Final Capstone Project.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Capstone must also score at least 70.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Final Capstone Project — Requirements.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the arrows left to right. At each boundary, ask what could silently drift and what artefact pins it. Keep labels concise; expand with the notes, not extra boxes.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Final Capstone Project — Architecture.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across rows, not down columns. Ask participants what decision each row supports and which metric or artefact would prove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Final Capstone Project — Milestones.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split to make the trade-off explicit. Ask the room to choose a side before revealing the engineering consequence.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Final Capstone Project — Extensions.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The answer quality is LO5.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Final Capstone Project — Deliverables.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across rows, not down columns. Ask participants what decision each row supports and which metric or artefact would prove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Final Capstone Project — Grading Rubric.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the headline as written, then unpack it with one example. Spot-verify one claim live. Cap criteria at 70 for test-set leakage, slice claims without intervals, copied benchmarks, or weakened behavioural suites.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Assessment Criteria Notes for Instructors.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reset. State the destination for the next block: Use ten quiz questions, two practical assessments, and the repository-first capstone rubric.. Invite one prediction from the room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Assessment Package.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split to make the trade-off explicit. Ask the room to choose a side before revealing the engineering consequence.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Assessment Package — Practical Assessments.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split to make the trade-off explicit. Ask the room to choose a side before revealing the engineering consequence.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Assessment Package — Practical Assessments.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across rows, not down columns. Ask participants what decision each row supports and which metric or artefact would prove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Assessment Package — Evaluation Criteria Summary.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reset. State the destination for the next block: Protect lab time by pre-downloading checkpoints, validating both GPU and CPU routes, and publishing checkpoint branches.. Invite one prediction from the room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Instructor Guide.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Lab 3 assumes a T4-class GPU per pair; CPU fallback must still 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Instructor Guide — Preparation Checklist.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Facilitate rather than read. Ask participants to translate each bullet into a failure they could detect in code or metrics. First-run downloads over classroom Wi-Fi will derail Lab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Instructor Guide — Software Installation Checklist.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split to make the trade-off explicit. Ask the room to choose a side before revealing the engineering consequence.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Instructor Guide — Timing Recommendations.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reset. State the destination for the next block: Select any ten for a 15-minute closed-book quiz; answers are in the speaker notes.. Invite one prediction from the room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Assessment Package — Quiz Bank.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</a:t>
            </a:r>
          </a:p>
          <a:p xmlns:a="http://schemas.openxmlformats.org/drawingml/2006/main">
            <a:r>
              <a:t>Q1: Token ids only have meaning under that checkpoint's vocabulary and merge rules; mismatch is silent corruption.</a:t>
            </a:r>
          </a:p>
          <a:p xmlns:a="http://schemas.openxmlformats.org/drawingml/2006/main">
            <a:r>
              <a:t>Q2: Shorter effective context and higher compute per request; often weaker representations.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Allow about 90 seconds per question in discussion mode. Ask for the engineering consequence,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Assessment Package — Quiz Bank.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</a:t>
            </a:r>
          </a:p>
          <a:p xmlns:a="http://schemas.openxmlformats.org/drawingml/2006/main">
            <a:r>
              <a:t>Q3: To keep score variance controlled so softmax avoids saturation and gradients remain useful.</a:t>
            </a:r>
          </a:p>
          <a:p xmlns:a="http://schemas.openxmlformats.org/drawingml/2006/main">
            <a:r>
              <a:t>Q4: O(n²); control length through measured truncation and chunking.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Allow about 90 seconds per question in discussion mode. Ask for the engineering consequence,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Assessment Package — Quiz Bank.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</a:t>
            </a:r>
          </a:p>
          <a:p xmlns:a="http://schemas.openxmlformats.org/drawingml/2006/main">
            <a:r>
              <a:t>Q5: Encoder: cheaper, calibrated, auditable, and purpose-fit for fixed labels.</a:t>
            </a:r>
          </a:p>
          <a:p xmlns:a="http://schemas.openxmlformats.org/drawingml/2006/main">
            <a:r>
              <a:t>Q6: Excludes continuation subwords and special tokens from loss and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Allow about 90 seconds per question in discussion mode. Ask for the engineering consequence,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Assessment Package — Quiz Bank.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</a:t>
            </a:r>
          </a:p>
          <a:p xmlns:a="http://schemas.openxmlformats.org/drawingml/2006/main">
            <a:r>
              <a:t>Q7: To prevent near-duplicate author patterns leaking across partitions.</a:t>
            </a:r>
          </a:p>
          <a:p xmlns:a="http://schemas.openxmlformats.org/drawingml/2006/main">
            <a:r>
              <a:t>Q8: Otherwise the model always extracts something on unanswerable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Allow about 90 seconds per question in discussion mode. Ask for the engineering consequence,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Assessment Package — Quiz Bank.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</a:t>
            </a:r>
          </a:p>
          <a:p xmlns:a="http://schemas.openxmlformats.org/drawingml/2006/main">
            <a:r>
              <a:t>Q9: Examples: alef folding and dediacritisation; match the checkpoint's pretraining recipe and preserve display copy.</a:t>
            </a:r>
          </a:p>
          <a:p xmlns:a="http://schemas.openxmlformats.org/drawingml/2006/main">
            <a:r>
              <a:t>Q10: Dialect shift; only dialect-sliced evaluation exposes the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Allow about 90 seconds per question in discussion mode. Ask for the engineering consequence,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Assessment Package — Quiz Bank.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</a:t>
            </a:r>
          </a:p>
          <a:p xmlns:a="http://schemas.openxmlformats.org/drawingml/2006/main">
            <a:r>
              <a:t>Q11: It exposes entities buried inside attached clitics such as وبالرياض.</a:t>
            </a:r>
          </a:p>
          <a:p xmlns:a="http://schemas.openxmlformats.org/drawingml/2006/main">
            <a:r>
              <a:t>Q12: It was not trained for similarity; contrastive sentence-transformer training shapes the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Allow about 90 seconds per question in discussion mode. Ask for the engineering consequence,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Assessment Package — Quiz Bank.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</a:t>
            </a:r>
          </a:p>
          <a:p xmlns:a="http://schemas.openxmlformats.org/drawingml/2006/main">
            <a:r>
              <a:t>Q13: Inner product mixes magnitude into ranking, producing plausible but wrong results.</a:t>
            </a:r>
          </a:p>
          <a:p xmlns:a="http://schemas.openxmlformats.org/drawingml/2006/main">
            <a:r>
              <a:t>Q14: Bi-encoder provides scalable recall; cross-encoder provides token-interaction precision.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Allow about 90 seconds per question in discussion mode. Ask for the engineering consequence,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Assessment Package — Quiz Bank.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</a:t>
            </a:r>
          </a:p>
          <a:p xmlns:a="http://schemas.openxmlformats.org/drawingml/2006/main">
            <a:r>
              <a:t>Q15: Usually beyond roughly 10⁵ vectors; measure ANN recall@k against flat on your queries.</a:t>
            </a:r>
          </a:p>
          <a:p xmlns:a="http://schemas.openxmlformats.org/drawingml/2006/main">
            <a:r>
              <a:t>Q16: A paired confidence interval that excludes zero and seed spread smaller than the gain.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Allow about 90 seconds per question in discussion mode. Ask for the engineering consequence,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Assessment Package — Quiz Bank.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</a:t>
            </a:r>
          </a:p>
          <a:p xmlns:a="http://schemas.openxmlformats.org/drawingml/2006/main">
            <a:r>
              <a:t>Q17: Location swap should preserve topic; negation must not improve sentiment.</a:t>
            </a:r>
          </a:p>
          <a:p xmlns:a="http://schemas.openxmlformats.org/drawingml/2006/main">
            <a:r>
              <a:t>Q18: Analysis drives tuning; touching test leaks information and destroys its predictive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Allow about 90 seconds per question in discussion mode. Ask for the engineering consequence,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Assessment Package — Quiz Bank.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</a:t>
            </a:r>
          </a:p>
          <a:p xmlns:a="http://schemas.openxmlformats.org/drawingml/2006/main">
            <a:r>
              <a:t>Q19: Length/padding/batching → ONNX → INT8 → distilled checkpoint → hardware.</a:t>
            </a:r>
          </a:p>
          <a:p xmlns:a="http://schemas.openxmlformats.org/drawingml/2006/main">
            <a:r>
              <a:t>Q20: It is the paired-evaluation reference and immediate rollback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Allow about 90 seconds per question in discussion mode. Ask for the engineering consequence,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Assessment Package — Quiz Bank.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the headline as written, then unpack it with one example. Preprocessing is versioned. Models beat honest baselines. Arabic quality is sliced. Search is judged. Evaluation has uncertainty. Serving meets a measured p99 budget.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Instructor Guide — Wrap-up.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reset. State the destination for the next block: SDA-AIE-213 extends these components into LLM applications; SDA-AIE-214 turns the retrieval system into RAG; SDA-AIE-216 matures serving and monitoring.. Invite one prediction from the room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INSTRUCTOR_PACKAGE.md — Instructor Guide — Wrap-up.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5b1edd680740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bff18cfe2248cb" /><Relationship Type="http://schemas.openxmlformats.org/officeDocument/2006/relationships/slideLayout" Target="/ppt/slideLayouts/slideLayout1.xml" Id="Rb2b9748bb40b4f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b9748bb40b4f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1cbd24d13494b" /><Relationship Type="http://schemas.openxmlformats.org/officeDocument/2006/relationships/image" Target="/ppt/media/image.png" Id="Reb79a9151a5b421b" /><Relationship Type="http://schemas.openxmlformats.org/officeDocument/2006/relationships/notesSlide" Target="/ppt/notesSlides/notesSlide1.xml" Id="Rde8dd5d2cf5045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f5611681243d5" /><Relationship Type="http://schemas.openxmlformats.org/officeDocument/2006/relationships/notesSlide" Target="/ppt/notesSlides/notesSlide2.xml" Id="R661cdd39a4ac46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5b892cc944d30" /><Relationship Type="http://schemas.openxmlformats.org/officeDocument/2006/relationships/notesSlide" Target="/ppt/notesSlides/notesSlide3.xml" Id="R2cf3210f5cc34c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98e87a2f34449" /><Relationship Type="http://schemas.openxmlformats.org/officeDocument/2006/relationships/notesSlide" Target="/ppt/notesSlides/notesSlide4.xml" Id="R9c7a86dd138945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8625ac1cb431c" /><Relationship Type="http://schemas.openxmlformats.org/officeDocument/2006/relationships/notesSlide" Target="/ppt/notesSlides/notesSlide5.xml" Id="Rc9ade17381954e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cc6729aa34504" /><Relationship Type="http://schemas.openxmlformats.org/officeDocument/2006/relationships/notesSlide" Target="/ppt/notesSlides/notesSlide6.xml" Id="R4046bab5e2ea4c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5f524097247ef" /><Relationship Type="http://schemas.openxmlformats.org/officeDocument/2006/relationships/notesSlide" Target="/ppt/notesSlides/notesSlide7.xml" Id="Rff50b0decdb642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4727ee41e493d" /><Relationship Type="http://schemas.openxmlformats.org/officeDocument/2006/relationships/notesSlide" Target="/ppt/notesSlides/notesSlide8.xml" Id="Rd11ffb5f5b7449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a3340d537454a" /><Relationship Type="http://schemas.openxmlformats.org/officeDocument/2006/relationships/notesSlide" Target="/ppt/notesSlides/notesSlide9.xml" Id="R0f59e012e49f44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bfbd703e541a3" /><Relationship Type="http://schemas.openxmlformats.org/officeDocument/2006/relationships/notesSlide" Target="/ppt/notesSlides/notesSlide10.xml" Id="Rb6e4764061504c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0cef0639f4e68" /><Relationship Type="http://schemas.openxmlformats.org/officeDocument/2006/relationships/notesSlide" Target="/ppt/notesSlides/notesSlide11.xml" Id="Rd0b0e04fed474e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8ebc8982c4cc0" /><Relationship Type="http://schemas.openxmlformats.org/officeDocument/2006/relationships/notesSlide" Target="/ppt/notesSlides/notesSlide12.xml" Id="R279d16ed103a47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81d97f0be4985" /><Relationship Type="http://schemas.openxmlformats.org/officeDocument/2006/relationships/notesSlide" Target="/ppt/notesSlides/notesSlide13.xml" Id="R1bf7f236df024b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23b0777c84a70" /><Relationship Type="http://schemas.openxmlformats.org/officeDocument/2006/relationships/notesSlide" Target="/ppt/notesSlides/notesSlide14.xml" Id="R660117ce3ba74c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63737a1e1481d" /><Relationship Type="http://schemas.openxmlformats.org/officeDocument/2006/relationships/notesSlide" Target="/ppt/notesSlides/notesSlide15.xml" Id="R2b56f9ccb9864c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8ca4cd9fe4235" /><Relationship Type="http://schemas.openxmlformats.org/officeDocument/2006/relationships/notesSlide" Target="/ppt/notesSlides/notesSlide16.xml" Id="Re28adde2f3f4453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75407b21f407e" /><Relationship Type="http://schemas.openxmlformats.org/officeDocument/2006/relationships/notesSlide" Target="/ppt/notesSlides/notesSlide17.xml" Id="R4938f1ad38174d4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214cbc10e4156" /><Relationship Type="http://schemas.openxmlformats.org/officeDocument/2006/relationships/notesSlide" Target="/ppt/notesSlides/notesSlide18.xml" Id="R09452a483c27429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5776b9a2e4ed9" /><Relationship Type="http://schemas.openxmlformats.org/officeDocument/2006/relationships/notesSlide" Target="/ppt/notesSlides/notesSlide19.xml" Id="R596c37f76896463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f4f6d40e24ba0" /><Relationship Type="http://schemas.openxmlformats.org/officeDocument/2006/relationships/notesSlide" Target="/ppt/notesSlides/notesSlide20.xml" Id="R0a79718309c14c8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fcfa16b5246c1" /><Relationship Type="http://schemas.openxmlformats.org/officeDocument/2006/relationships/notesSlide" Target="/ppt/notesSlides/notesSlide21.xml" Id="R11fddbf414b040d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a6b4963e64a6a" /><Relationship Type="http://schemas.openxmlformats.org/officeDocument/2006/relationships/chart" Target="/ppt/slides/charts/chart1.xml" Id="R00129ee0d5924c3f" /><Relationship Type="http://schemas.openxmlformats.org/officeDocument/2006/relationships/notesSlide" Target="/ppt/notesSlides/notesSlide22.xml" Id="Rd118f12d5a0148c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45f5468c14c4c" /><Relationship Type="http://schemas.openxmlformats.org/officeDocument/2006/relationships/notesSlide" Target="/ppt/notesSlides/notesSlide23.xml" Id="R748555fe97e84dc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9752ca34048c6" /><Relationship Type="http://schemas.openxmlformats.org/officeDocument/2006/relationships/notesSlide" Target="/ppt/notesSlides/notesSlide24.xml" Id="R817f16e1453c4d9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7761cfe314fd6" /><Relationship Type="http://schemas.openxmlformats.org/officeDocument/2006/relationships/notesSlide" Target="/ppt/notesSlides/notesSlide25.xml" Id="Rb451998560fe442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fdfb711e74684" /><Relationship Type="http://schemas.openxmlformats.org/officeDocument/2006/relationships/notesSlide" Target="/ppt/notesSlides/notesSlide26.xml" Id="Rc7050a670c094bd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e5a7c75594db7" /><Relationship Type="http://schemas.openxmlformats.org/officeDocument/2006/relationships/notesSlide" Target="/ppt/notesSlides/notesSlide27.xml" Id="Ra07fa04ae68f4e5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8fd50811a4a2c" /><Relationship Type="http://schemas.openxmlformats.org/officeDocument/2006/relationships/notesSlide" Target="/ppt/notesSlides/notesSlide28.xml" Id="R5613b567b3ee44b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421ecd33e44ba" /><Relationship Type="http://schemas.openxmlformats.org/officeDocument/2006/relationships/notesSlide" Target="/ppt/notesSlides/notesSlide29.xml" Id="R3591a027345f4c8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32303dedd4dee" /><Relationship Type="http://schemas.openxmlformats.org/officeDocument/2006/relationships/notesSlide" Target="/ppt/notesSlides/notesSlide30.xml" Id="R3487f3d047eb453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08465e4084ea6" /><Relationship Type="http://schemas.openxmlformats.org/officeDocument/2006/relationships/notesSlide" Target="/ppt/notesSlides/notesSlide31.xml" Id="R1cbd34f26f9f4a4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d36eb48464994" /><Relationship Type="http://schemas.openxmlformats.org/officeDocument/2006/relationships/notesSlide" Target="/ppt/notesSlides/notesSlide32.xml" Id="R490e252d7275477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dfe06727b4b65" /><Relationship Type="http://schemas.openxmlformats.org/officeDocument/2006/relationships/notesSlide" Target="/ppt/notesSlides/notesSlide33.xml" Id="R0c45634c4248441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7c486a2ba4ae7" /><Relationship Type="http://schemas.openxmlformats.org/officeDocument/2006/relationships/notesSlide" Target="/ppt/notesSlides/notesSlide34.xml" Id="R5eafeed89cfb44c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1f315fa5042b4" /><Relationship Type="http://schemas.openxmlformats.org/officeDocument/2006/relationships/notesSlide" Target="/ppt/notesSlides/notesSlide35.xml" Id="R5763b1a2dd8a4a3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6e02e0b834213" /><Relationship Type="http://schemas.openxmlformats.org/officeDocument/2006/relationships/notesSlide" Target="/ppt/notesSlides/notesSlide36.xml" Id="R3311c162de024ab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8e8d0a08d49d5" /><Relationship Type="http://schemas.openxmlformats.org/officeDocument/2006/relationships/notesSlide" Target="/ppt/notesSlides/notesSlide37.xml" Id="R1045164e0d65463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2e44187b145ee" /><Relationship Type="http://schemas.openxmlformats.org/officeDocument/2006/relationships/notesSlide" Target="/ppt/notesSlides/notesSlide38.xml" Id="R70604c87ded4403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fcb3828464038" /><Relationship Type="http://schemas.openxmlformats.org/officeDocument/2006/relationships/notesSlide" Target="/ppt/notesSlides/notesSlide39.xml" Id="Rba6bfc993bdf47f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5eed7898c44be" /><Relationship Type="http://schemas.openxmlformats.org/officeDocument/2006/relationships/notesSlide" Target="/ppt/notesSlides/notesSlide40.xml" Id="Rc3df29f6b0be45a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0402210514bce" /><Relationship Type="http://schemas.openxmlformats.org/officeDocument/2006/relationships/notesSlide" Target="/ppt/notesSlides/notesSlide41.xml" Id="R7f0ea67e9d70468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19a89503c4843" /><Relationship Type="http://schemas.openxmlformats.org/officeDocument/2006/relationships/notesSlide" Target="/ppt/notesSlides/notesSlide42.xml" Id="R1157a74e8df84e6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b0295a617440d" /><Relationship Type="http://schemas.openxmlformats.org/officeDocument/2006/relationships/notesSlide" Target="/ppt/notesSlides/notesSlide43.xml" Id="R1afab0cf075b49f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a851b69f24c2a" /><Relationship Type="http://schemas.openxmlformats.org/officeDocument/2006/relationships/notesSlide" Target="/ppt/notesSlides/notesSlide44.xml" Id="R1815d5d15a9644c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65c9e58604e80" /><Relationship Type="http://schemas.openxmlformats.org/officeDocument/2006/relationships/notesSlide" Target="/ppt/notesSlides/notesSlide45.xml" Id="R4f42338438e4408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958a70c374535" /><Relationship Type="http://schemas.openxmlformats.org/officeDocument/2006/relationships/notesSlide" Target="/ppt/notesSlides/notesSlide46.xml" Id="Re59ebc33277d412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439573fb549c5" /><Relationship Type="http://schemas.openxmlformats.org/officeDocument/2006/relationships/notesSlide" Target="/ppt/notesSlides/notesSlide47.xml" Id="Re73038f379cd4f5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ec0386d744773" /><Relationship Type="http://schemas.openxmlformats.org/officeDocument/2006/relationships/notesSlide" Target="/ppt/notesSlides/notesSlide48.xml" Id="R5ecacbbcb4d24ea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43d09974e4384" /><Relationship Type="http://schemas.openxmlformats.org/officeDocument/2006/relationships/notesSlide" Target="/ppt/notesSlides/notesSlide49.xml" Id="R868eb429e1c14e4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acaabe6dd4c49" /><Relationship Type="http://schemas.openxmlformats.org/officeDocument/2006/relationships/notesSlide" Target="/ppt/notesSlides/notesSlide50.xml" Id="Rb1ae1d3b717a4b1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3ff64128448fb" /><Relationship Type="http://schemas.openxmlformats.org/officeDocument/2006/relationships/notesSlide" Target="/ppt/notesSlides/notesSlide51.xml" Id="R3a2d6916c7c3475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d05bddf45468b" /><Relationship Type="http://schemas.openxmlformats.org/officeDocument/2006/relationships/notesSlide" Target="/ppt/notesSlides/notesSlide52.xml" Id="R816e6d9d6697441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6e3b5000f40d7" /><Relationship Type="http://schemas.openxmlformats.org/officeDocument/2006/relationships/notesSlide" Target="/ppt/notesSlides/notesSlide53.xml" Id="Rdcc9112a176d443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b35bd9ea247a6" /><Relationship Type="http://schemas.openxmlformats.org/officeDocument/2006/relationships/notesSlide" Target="/ppt/notesSlides/notesSlide54.xml" Id="R739913016b244e2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2f91b7549480b" /><Relationship Type="http://schemas.openxmlformats.org/officeDocument/2006/relationships/notesSlide" Target="/ppt/notesSlides/notesSlide55.xml" Id="R32bba90b50a5484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6e9104de8414c" /><Relationship Type="http://schemas.openxmlformats.org/officeDocument/2006/relationships/notesSlide" Target="/ppt/notesSlides/notesSlide56.xml" Id="Ra8131c6c77704b05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a891423784305" /><Relationship Type="http://schemas.openxmlformats.org/officeDocument/2006/relationships/notesSlide" Target="/ppt/notesSlides/notesSlide57.xml" Id="R97439cde10d7432a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fdcab1f814f01" /><Relationship Type="http://schemas.openxmlformats.org/officeDocument/2006/relationships/notesSlide" Target="/ppt/notesSlides/notesSlide58.xml" Id="Racb564f5b9034a6c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0a78ed91a4218" /><Relationship Type="http://schemas.openxmlformats.org/officeDocument/2006/relationships/notesSlide" Target="/ppt/notesSlides/notesSlide59.xml" Id="Rb9ffaf0a75444e15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26a75956c43c8" /><Relationship Type="http://schemas.openxmlformats.org/officeDocument/2006/relationships/notesSlide" Target="/ppt/notesSlides/notesSlide60.xml" Id="R947ca6184bc746d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4500fe79f4e72" /><Relationship Type="http://schemas.openxmlformats.org/officeDocument/2006/relationships/notesSlide" Target="/ppt/notesSlides/notesSlide61.xml" Id="R41d36c8705024ac3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67b514d424c85" /><Relationship Type="http://schemas.openxmlformats.org/officeDocument/2006/relationships/notesSlide" Target="/ppt/notesSlides/notesSlide62.xml" Id="R55955d07ab0d4301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5bb9e456b43d6" /><Relationship Type="http://schemas.openxmlformats.org/officeDocument/2006/relationships/notesSlide" Target="/ppt/notesSlides/notesSlide63.xml" Id="R530e5bc750124f2f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0f437e6e2408e" /><Relationship Type="http://schemas.openxmlformats.org/officeDocument/2006/relationships/notesSlide" Target="/ppt/notesSlides/notesSlide64.xml" Id="R50f1cd1e465c4757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22f3f6c2e4a6f" /><Relationship Type="http://schemas.openxmlformats.org/officeDocument/2006/relationships/chart" Target="/ppt/slides/charts/chart2.xml" Id="R0308764c947347d5" /><Relationship Type="http://schemas.openxmlformats.org/officeDocument/2006/relationships/notesSlide" Target="/ppt/notesSlides/notesSlide65.xml" Id="R595b0a3dec3e4c6b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e9d2da56748af" /><Relationship Type="http://schemas.openxmlformats.org/officeDocument/2006/relationships/notesSlide" Target="/ppt/notesSlides/notesSlide66.xml" Id="R14f48e963e11433b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4b65ec5cf4288" /><Relationship Type="http://schemas.openxmlformats.org/officeDocument/2006/relationships/notesSlide" Target="/ppt/notesSlides/notesSlide67.xml" Id="R521a60c9872b4f5a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f818436c34c99" /><Relationship Type="http://schemas.openxmlformats.org/officeDocument/2006/relationships/notesSlide" Target="/ppt/notesSlides/notesSlide68.xml" Id="R45bc186ebdb4411c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2ccb0a44648fa" /><Relationship Type="http://schemas.openxmlformats.org/officeDocument/2006/relationships/notesSlide" Target="/ppt/notesSlides/notesSlide69.xml" Id="R47a3cb1e6f8142ff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1fdf762a44f99" /><Relationship Type="http://schemas.openxmlformats.org/officeDocument/2006/relationships/notesSlide" Target="/ppt/notesSlides/notesSlide70.xml" Id="Rae3bc0b5a4844b3e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faa806de5405b" /><Relationship Type="http://schemas.openxmlformats.org/officeDocument/2006/relationships/notesSlide" Target="/ppt/notesSlides/notesSlide71.xml" Id="R77ae176c61fc4ec8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3339ad23f484a" /><Relationship Type="http://schemas.openxmlformats.org/officeDocument/2006/relationships/notesSlide" Target="/ppt/notesSlides/notesSlide72.xml" Id="Ree81fec3376c4b1f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5cd7e8bc5469a" /><Relationship Type="http://schemas.openxmlformats.org/officeDocument/2006/relationships/notesSlide" Target="/ppt/notesSlides/notesSlide73.xml" Id="Rc1ef2ebdfe1b49db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144ec8253440f" /><Relationship Type="http://schemas.openxmlformats.org/officeDocument/2006/relationships/notesSlide" Target="/ppt/notesSlides/notesSlide74.xml" Id="Rc794d8b47cdf4625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2fb76e95140c5" /><Relationship Type="http://schemas.openxmlformats.org/officeDocument/2006/relationships/notesSlide" Target="/ppt/notesSlides/notesSlide75.xml" Id="R22c925a4f29a434a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e75adeb9b4b35" /><Relationship Type="http://schemas.openxmlformats.org/officeDocument/2006/relationships/notesSlide" Target="/ppt/notesSlides/notesSlide76.xml" Id="Rc0f0981a58984f86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e711841264c2a" /><Relationship Type="http://schemas.openxmlformats.org/officeDocument/2006/relationships/notesSlide" Target="/ppt/notesSlides/notesSlide77.xml" Id="R00ae174582b44df1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bc0d2f2a24609" /><Relationship Type="http://schemas.openxmlformats.org/officeDocument/2006/relationships/notesSlide" Target="/ppt/notesSlides/notesSlide78.xml" Id="Re2c4068081c14b25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0a7e319894d56" /><Relationship Type="http://schemas.openxmlformats.org/officeDocument/2006/relationships/notesSlide" Target="/ppt/notesSlides/notesSlide79.xml" Id="Rfd9fa4e230274b83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d4c6e7f4b4a32" /><Relationship Type="http://schemas.openxmlformats.org/officeDocument/2006/relationships/notesSlide" Target="/ppt/notesSlides/notesSlide80.xml" Id="Re8c15ad3db454e01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1d9f464454000" /><Relationship Type="http://schemas.openxmlformats.org/officeDocument/2006/relationships/notesSlide" Target="/ppt/notesSlides/notesSlide81.xml" Id="Ra82afec817474ca3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f29c3638a4643" /><Relationship Type="http://schemas.openxmlformats.org/officeDocument/2006/relationships/notesSlide" Target="/ppt/notesSlides/notesSlide82.xml" Id="R2f80ecf9c34e4979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b643742f84898" /><Relationship Type="http://schemas.openxmlformats.org/officeDocument/2006/relationships/chart" Target="/ppt/slides/charts/chart3.xml" Id="Rd6971fbfb88c46fe" /><Relationship Type="http://schemas.openxmlformats.org/officeDocument/2006/relationships/notesSlide" Target="/ppt/notesSlides/notesSlide83.xml" Id="Rbe60ae5e2e904930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392cd33c24ec3" /><Relationship Type="http://schemas.openxmlformats.org/officeDocument/2006/relationships/notesSlide" Target="/ppt/notesSlides/notesSlide84.xml" Id="R185bcd4e63d34bd6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59380c6624beb" /><Relationship Type="http://schemas.openxmlformats.org/officeDocument/2006/relationships/notesSlide" Target="/ppt/notesSlides/notesSlide85.xml" Id="R19599cbac63d4857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182ba8cb84c46" /><Relationship Type="http://schemas.openxmlformats.org/officeDocument/2006/relationships/notesSlide" Target="/ppt/notesSlides/notesSlide86.xml" Id="R65476c1e0ef845ec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85a93ad37440b" /><Relationship Type="http://schemas.openxmlformats.org/officeDocument/2006/relationships/notesSlide" Target="/ppt/notesSlides/notesSlide87.xml" Id="R3a6fa3c3cbda4649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7b6d9d1724320" /><Relationship Type="http://schemas.openxmlformats.org/officeDocument/2006/relationships/notesSlide" Target="/ppt/notesSlides/notesSlide88.xml" Id="R2969db55ea294c26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ae5a3c1e34c0f" /><Relationship Type="http://schemas.openxmlformats.org/officeDocument/2006/relationships/notesSlide" Target="/ppt/notesSlides/notesSlide89.xml" Id="Rb7759732ae8249c0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2fee4944b4dc3" /><Relationship Type="http://schemas.openxmlformats.org/officeDocument/2006/relationships/notesSlide" Target="/ppt/notesSlides/notesSlide90.xml" Id="R0088bb03bdff4eeb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839c29e434590" /><Relationship Type="http://schemas.openxmlformats.org/officeDocument/2006/relationships/notesSlide" Target="/ppt/notesSlides/notesSlide91.xml" Id="R8776ed729eb644a5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d0d62670d42d6" /><Relationship Type="http://schemas.openxmlformats.org/officeDocument/2006/relationships/notesSlide" Target="/ppt/notesSlides/notesSlide92.xml" Id="Rcbc315714e22473f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286b04c6e41c4" /><Relationship Type="http://schemas.openxmlformats.org/officeDocument/2006/relationships/notesSlide" Target="/ppt/notesSlides/notesSlide93.xml" Id="R4626b6c1321b4f4c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dd07a5b57401d" /><Relationship Type="http://schemas.openxmlformats.org/officeDocument/2006/relationships/notesSlide" Target="/ppt/notesSlides/notesSlide94.xml" Id="R42897c7e1a034d18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0924c73724e26" /><Relationship Type="http://schemas.openxmlformats.org/officeDocument/2006/relationships/notesSlide" Target="/ppt/notesSlides/notesSlide95.xml" Id="R8295db9135cf447a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81f4b68394a46" /><Relationship Type="http://schemas.openxmlformats.org/officeDocument/2006/relationships/notesSlide" Target="/ppt/notesSlides/notesSlide96.xml" Id="Rfe9a13c3e84b48cf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47c7d7fb34297" /><Relationship Type="http://schemas.openxmlformats.org/officeDocument/2006/relationships/chart" Target="/ppt/slides/charts/chart4.xml" Id="R1f8360c5aef4462a" /><Relationship Type="http://schemas.openxmlformats.org/officeDocument/2006/relationships/notesSlide" Target="/ppt/notesSlides/notesSlide97.xml" Id="R52f7dfdacad5425a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b34ccaee247c9" /><Relationship Type="http://schemas.openxmlformats.org/officeDocument/2006/relationships/notesSlide" Target="/ppt/notesSlides/notesSlide98.xml" Id="Rd6bf0d85a6cf495d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368b6d8a946be" /><Relationship Type="http://schemas.openxmlformats.org/officeDocument/2006/relationships/notesSlide" Target="/ppt/notesSlides/notesSlide99.xml" Id="R4c05132021c5425a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0859eb28f4f03" /><Relationship Type="http://schemas.openxmlformats.org/officeDocument/2006/relationships/notesSlide" Target="/ppt/notesSlides/notesSlide100.xml" Id="R5573908fb7de4d81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d0ba65ca548c0" /><Relationship Type="http://schemas.openxmlformats.org/officeDocument/2006/relationships/notesSlide" Target="/ppt/notesSlides/notesSlide101.xml" Id="R9fa9e914c3424b3d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6ed9f282b4d1f" /><Relationship Type="http://schemas.openxmlformats.org/officeDocument/2006/relationships/notesSlide" Target="/ppt/notesSlides/notesSlide102.xml" Id="Rcba20ecd6d884ce7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e3367d23a4bc7" /><Relationship Type="http://schemas.openxmlformats.org/officeDocument/2006/relationships/notesSlide" Target="/ppt/notesSlides/notesSlide103.xml" Id="R25aa89e4a48d4415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fe6cc50e5471e" /><Relationship Type="http://schemas.openxmlformats.org/officeDocument/2006/relationships/notesSlide" Target="/ppt/notesSlides/notesSlide104.xml" Id="Rcbe3d691ccc34656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16ca0954d4701" /><Relationship Type="http://schemas.openxmlformats.org/officeDocument/2006/relationships/notesSlide" Target="/ppt/notesSlides/notesSlide105.xml" Id="Rb1a30c1c91254097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374b9fd4043ae" /><Relationship Type="http://schemas.openxmlformats.org/officeDocument/2006/relationships/notesSlide" Target="/ppt/notesSlides/notesSlide106.xml" Id="R6e0defed11894258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4ffabbfd54ce6" /><Relationship Type="http://schemas.openxmlformats.org/officeDocument/2006/relationships/notesSlide" Target="/ppt/notesSlides/notesSlide107.xml" Id="R73236efab5dc45b0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60290d84a4ab4" /><Relationship Type="http://schemas.openxmlformats.org/officeDocument/2006/relationships/notesSlide" Target="/ppt/notesSlides/notesSlide108.xml" Id="Rb8a716bbd27a4245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14e60af92410f" /><Relationship Type="http://schemas.openxmlformats.org/officeDocument/2006/relationships/notesSlide" Target="/ppt/notesSlides/notesSlide109.xml" Id="R492ec07689aa45be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880ccbdd04460" /><Relationship Type="http://schemas.openxmlformats.org/officeDocument/2006/relationships/notesSlide" Target="/ppt/notesSlides/notesSlide110.xml" Id="R1ce2f0c0904a4b7d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f9836cff740c4" /><Relationship Type="http://schemas.openxmlformats.org/officeDocument/2006/relationships/notesSlide" Target="/ppt/notesSlides/notesSlide111.xml" Id="Ra47161cff5fb4abd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65c378eb840fe" /><Relationship Type="http://schemas.openxmlformats.org/officeDocument/2006/relationships/notesSlide" Target="/ppt/notesSlides/notesSlide112.xml" Id="R61d094ebd13f43af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690d40e0c4c65" /><Relationship Type="http://schemas.openxmlformats.org/officeDocument/2006/relationships/notesSlide" Target="/ppt/notesSlides/notesSlide113.xml" Id="Rf0ef2cafabbc463e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668261e4e4bfd" /><Relationship Type="http://schemas.openxmlformats.org/officeDocument/2006/relationships/chart" Target="/ppt/slides/charts/chart5.xml" Id="R8185de63f26e4b89" /><Relationship Type="http://schemas.openxmlformats.org/officeDocument/2006/relationships/notesSlide" Target="/ppt/notesSlides/notesSlide114.xml" Id="R86dad0d9e7c3461c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062f76b184cea" /><Relationship Type="http://schemas.openxmlformats.org/officeDocument/2006/relationships/notesSlide" Target="/ppt/notesSlides/notesSlide115.xml" Id="R28f9484e15cb42b1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fc31b9d1547bb" /><Relationship Type="http://schemas.openxmlformats.org/officeDocument/2006/relationships/notesSlide" Target="/ppt/notesSlides/notesSlide116.xml" Id="Recb49c9d3e384068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43e2f49b34d1a" /><Relationship Type="http://schemas.openxmlformats.org/officeDocument/2006/relationships/notesSlide" Target="/ppt/notesSlides/notesSlide117.xml" Id="R5ca5f69e99a84815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036b187f34009" /><Relationship Type="http://schemas.openxmlformats.org/officeDocument/2006/relationships/notesSlide" Target="/ppt/notesSlides/notesSlide118.xml" Id="R7aecbf679d6941d6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c820a77834271" /><Relationship Type="http://schemas.openxmlformats.org/officeDocument/2006/relationships/notesSlide" Target="/ppt/notesSlides/notesSlide119.xml" Id="R8e51333e3dfe4a14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90e29522b4268" /><Relationship Type="http://schemas.openxmlformats.org/officeDocument/2006/relationships/notesSlide" Target="/ppt/notesSlides/notesSlide120.xml" Id="R76bea59a56c84761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69629ce6c4af9" /><Relationship Type="http://schemas.openxmlformats.org/officeDocument/2006/relationships/notesSlide" Target="/ppt/notesSlides/notesSlide121.xml" Id="Rb7a40ea6a5bb4534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b80dd12754c21" /><Relationship Type="http://schemas.openxmlformats.org/officeDocument/2006/relationships/notesSlide" Target="/ppt/notesSlides/notesSlide122.xml" Id="R275f0f972a07492e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d7a32fc72479e" /><Relationship Type="http://schemas.openxmlformats.org/officeDocument/2006/relationships/notesSlide" Target="/ppt/notesSlides/notesSlide123.xml" Id="R03cea6e3ab274314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e86a0ad2a4adf" /><Relationship Type="http://schemas.openxmlformats.org/officeDocument/2006/relationships/notesSlide" Target="/ppt/notesSlides/notesSlide124.xml" Id="Rd4053ba8d76b4645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18415782344b9" /><Relationship Type="http://schemas.openxmlformats.org/officeDocument/2006/relationships/notesSlide" Target="/ppt/notesSlides/notesSlide125.xml" Id="Rba037b3e08c440c0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ae96a67294275" /><Relationship Type="http://schemas.openxmlformats.org/officeDocument/2006/relationships/notesSlide" Target="/ppt/notesSlides/notesSlide126.xml" Id="Rd1016115c57147e6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bf54ac05a4625" /><Relationship Type="http://schemas.openxmlformats.org/officeDocument/2006/relationships/notesSlide" Target="/ppt/notesSlides/notesSlide127.xml" Id="R1dc93cf0fded4775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90feb2edc4a87" /><Relationship Type="http://schemas.openxmlformats.org/officeDocument/2006/relationships/notesSlide" Target="/ppt/notesSlides/notesSlide128.xml" Id="Rda2d101638304ffe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d8f493a77479c" /><Relationship Type="http://schemas.openxmlformats.org/officeDocument/2006/relationships/notesSlide" Target="/ppt/notesSlides/notesSlide129.xml" Id="R6926215ca88d4548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3fc6c59c0423b" /><Relationship Type="http://schemas.openxmlformats.org/officeDocument/2006/relationships/notesSlide" Target="/ppt/notesSlides/notesSlide130.xml" Id="R07d2a45cf2894ce9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9a11495804bc0" /><Relationship Type="http://schemas.openxmlformats.org/officeDocument/2006/relationships/notesSlide" Target="/ppt/notesSlides/notesSlide131.xml" Id="Rb97bd912dfd5409e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057e1c4d74217" /><Relationship Type="http://schemas.openxmlformats.org/officeDocument/2006/relationships/notesSlide" Target="/ppt/notesSlides/notesSlide132.xml" Id="R8659a71f52594d8c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8659341ff465e" /><Relationship Type="http://schemas.openxmlformats.org/officeDocument/2006/relationships/notesSlide" Target="/ppt/notesSlides/notesSlide133.xml" Id="R04e84d8161644332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e150a93a34b3e" /><Relationship Type="http://schemas.openxmlformats.org/officeDocument/2006/relationships/notesSlide" Target="/ppt/notesSlides/notesSlide134.xml" Id="Re837788c717547fc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e3f76c0b344cd" /><Relationship Type="http://schemas.openxmlformats.org/officeDocument/2006/relationships/notesSlide" Target="/ppt/notesSlides/notesSlide135.xml" Id="Ra121c970750d4300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49b6f707d4973" /><Relationship Type="http://schemas.openxmlformats.org/officeDocument/2006/relationships/notesSlide" Target="/ppt/notesSlides/notesSlide136.xml" Id="R1185c2ba4fd2483b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1ce28077c4c35" /><Relationship Type="http://schemas.openxmlformats.org/officeDocument/2006/relationships/notesSlide" Target="/ppt/notesSlides/notesSlide137.xml" Id="R5780e1e9a69c4686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7197058f24071" /><Relationship Type="http://schemas.openxmlformats.org/officeDocument/2006/relationships/notesSlide" Target="/ppt/notesSlides/notesSlide138.xml" Id="R406721e7193744ca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72ad5672a4fb9" /><Relationship Type="http://schemas.openxmlformats.org/officeDocument/2006/relationships/notesSlide" Target="/ppt/notesSlides/notesSlide139.xml" Id="R2024f14312084b57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91113b7ac4219" /><Relationship Type="http://schemas.openxmlformats.org/officeDocument/2006/relationships/notesSlide" Target="/ppt/notesSlides/notesSlide140.xml" Id="Ra6d810c741bb47db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3b5c892e145a0" /><Relationship Type="http://schemas.openxmlformats.org/officeDocument/2006/relationships/notesSlide" Target="/ppt/notesSlides/notesSlide141.xml" Id="R4df05006e7db4afd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e71cb57d04741" /><Relationship Type="http://schemas.openxmlformats.org/officeDocument/2006/relationships/notesSlide" Target="/ppt/notesSlides/notesSlide142.xml" Id="R4be8e2edfaf5466b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5275b52fa4f14" /><Relationship Type="http://schemas.openxmlformats.org/officeDocument/2006/relationships/notesSlide" Target="/ppt/notesSlides/notesSlide143.xml" Id="R1497dd11bf1b4eb7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776604eee42b4" /><Relationship Type="http://schemas.openxmlformats.org/officeDocument/2006/relationships/notesSlide" Target="/ppt/notesSlides/notesSlide144.xml" Id="Re4e719c21cc14a1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Arabic</c:v>
          </c:tx>
          <c:spPr>
            <a:solidFill xmlns:a="http://schemas.openxmlformats.org/drawingml/2006/main">
              <a:srgbClr val="0B66C3"/>
            </a:solidFill>
          </c:spPr>
          <c:cat>
            <c:strLit>
              <c:ptCount val="4"/>
              <c:pt idx="0">
                <c:v>mBERT</c:v>
              </c:pt>
              <c:pt idx="1">
                <c:v>XLM-R</c:v>
              </c:pt>
              <c:pt idx="2">
                <c:v>CAMeLBERT</c:v>
              </c:pt>
              <c:pt idx="3">
                <c:v>DistilBERT</c:v>
              </c:pt>
            </c:strLit>
          </c:cat>
          <c:val>
            <c:numLit>
              <c:formatCode>General</c:formatCode>
              <c:ptCount val="4"/>
              <c:pt idx="0">
                <c:v>2.71</c:v>
              </c:pt>
              <c:pt idx="1">
                <c:v>1.94</c:v>
              </c:pt>
              <c:pt idx="2">
                <c:v>1.34</c:v>
              </c:pt>
              <c:pt idx="3">
                <c:v>6.9</c:v>
              </c:pt>
            </c:numLit>
          </c:val>
        </c:ser>
        <c:ser>
          <c:idx val="1"/>
          <c:order val="1"/>
          <c:tx>
            <c:v>English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mBERT</c:v>
              </c:pt>
              <c:pt idx="1">
                <c:v>XLM-R</c:v>
              </c:pt>
              <c:pt idx="2">
                <c:v>CAMeLBERT</c:v>
              </c:pt>
              <c:pt idx="3">
                <c:v>DistilBERT</c:v>
              </c:pt>
            </c:strLit>
          </c:cat>
          <c:val>
            <c:numLit>
              <c:formatCode>General</c:formatCode>
              <c:ptCount val="4"/>
              <c:pt idx="0">
                <c:v>1.31</c:v>
              </c:pt>
              <c:pt idx="1">
                <c:v>1.27</c:v>
              </c:pt>
              <c:pt idx="2">
                <c:v>1.88</c:v>
              </c:pt>
              <c:pt idx="3">
                <c:v>1.18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B223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2C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223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7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2F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2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CAMeLBERT mix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All</c:v>
              </c:pt>
              <c:pt idx="1">
                <c:v>Gulf</c:v>
              </c:pt>
              <c:pt idx="2">
                <c:v>MSA</c:v>
              </c:pt>
            </c:strLit>
          </c:cat>
          <c:val>
            <c:numLit>
              <c:formatCode>General</c:formatCode>
              <c:ptCount val="3"/>
              <c:pt idx="0">
                <c:v>0.79</c:v>
              </c:pt>
              <c:pt idx="1">
                <c:v>0.74</c:v>
              </c:pt>
              <c:pt idx="2">
                <c:v>0.84</c:v>
              </c:pt>
            </c:numLit>
          </c:val>
        </c:ser>
        <c:ser>
          <c:idx val="1"/>
          <c:order val="1"/>
          <c:tx>
            <c:v>CAMeLBERT DA</c:v>
          </c:tx>
          <c:spPr>
            <a:solidFill xmlns:a="http://schemas.openxmlformats.org/drawingml/2006/main">
              <a:srgbClr val="0B66C3"/>
            </a:solidFill>
          </c:spPr>
          <c:cat>
            <c:strLit>
              <c:ptCount val="3"/>
              <c:pt idx="0">
                <c:v>All</c:v>
              </c:pt>
              <c:pt idx="1">
                <c:v>Gulf</c:v>
              </c:pt>
              <c:pt idx="2">
                <c:v>MSA</c:v>
              </c:pt>
            </c:strLit>
          </c:cat>
          <c:val>
            <c:numLit>
              <c:formatCode>General</c:formatCode>
              <c:ptCount val="3"/>
              <c:pt idx="0">
                <c:v>0.82</c:v>
              </c:pt>
              <c:pt idx="1">
                <c:v>0.8</c:v>
              </c:pt>
              <c:pt idx="2">
                <c:v>0.83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B223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2C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223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2F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2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Bi-encoder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2"/>
              <c:pt idx="0">
                <c:v>Recall@10</c:v>
              </c:pt>
              <c:pt idx="1">
                <c:v>MRR@10</c:v>
              </c:pt>
            </c:strLit>
          </c:cat>
          <c:val>
            <c:numLit>
              <c:formatCode>General</c:formatCode>
              <c:ptCount val="2"/>
              <c:pt idx="0">
                <c:v>0.83</c:v>
              </c:pt>
              <c:pt idx="1">
                <c:v>0.61</c:v>
              </c:pt>
            </c:numLit>
          </c:val>
        </c:ser>
        <c:ser>
          <c:idx val="1"/>
          <c:order val="1"/>
          <c:tx>
            <c:v>+ cross-encoder</c:v>
          </c:tx>
          <c:spPr>
            <a:solidFill xmlns:a="http://schemas.openxmlformats.org/drawingml/2006/main">
              <a:srgbClr val="0B66C3"/>
            </a:solidFill>
          </c:spPr>
          <c:cat>
            <c:strLit>
              <c:ptCount val="2"/>
              <c:pt idx="0">
                <c:v>Recall@10</c:v>
              </c:pt>
              <c:pt idx="1">
                <c:v>MRR@10</c:v>
              </c:pt>
            </c:strLit>
          </c:cat>
          <c:val>
            <c:numLit>
              <c:formatCode>General</c:formatCode>
              <c:ptCount val="2"/>
              <c:pt idx="0">
                <c:v>0.85</c:v>
              </c:pt>
              <c:pt idx="1">
                <c:v>0.74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B223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2C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223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9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2F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2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Macro-F1</c:v>
          </c:tx>
          <c:spPr>
            <a:solidFill xmlns:a="http://schemas.openxmlformats.org/drawingml/2006/main">
              <a:srgbClr val="0B66C3"/>
            </a:solidFill>
          </c:spPr>
          <c:cat>
            <c:strLit>
              <c:ptCount val="6"/>
              <c:pt idx="0">
                <c:v>All</c:v>
              </c:pt>
              <c:pt idx="1">
                <c:v>Arabic</c:v>
              </c:pt>
              <c:pt idx="2">
                <c:v>English</c:v>
              </c:pt>
              <c:pt idx="3">
                <c:v>Gulf</c:v>
              </c:pt>
              <c:pt idx="4">
                <c:v>MSA</c:v>
              </c:pt>
              <c:pt idx="5">
                <c:v>Short</c:v>
              </c:pt>
            </c:strLit>
          </c:cat>
          <c:val>
            <c:numLit>
              <c:formatCode>General</c:formatCode>
              <c:ptCount val="6"/>
              <c:pt idx="0">
                <c:v>0.82</c:v>
              </c:pt>
              <c:pt idx="1">
                <c:v>0.801</c:v>
              </c:pt>
              <c:pt idx="2">
                <c:v>0.856</c:v>
              </c:pt>
              <c:pt idx="3">
                <c:v>0.762</c:v>
              </c:pt>
              <c:pt idx="4">
                <c:v>0.844</c:v>
              </c:pt>
              <c:pt idx="5">
                <c:v>0.771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B223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2C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223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2F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p50 ms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Torch 512</c:v>
              </c:pt>
              <c:pt idx="1">
                <c:v>Torch 128</c:v>
              </c:pt>
              <c:pt idx="2">
                <c:v>ONNX fp32</c:v>
              </c:pt>
              <c:pt idx="3">
                <c:v>ONNX int8</c:v>
              </c:pt>
            </c:strLit>
          </c:cat>
          <c:val>
            <c:numLit>
              <c:formatCode>General</c:formatCode>
              <c:ptCount val="4"/>
              <c:pt idx="0">
                <c:v>96.3</c:v>
              </c:pt>
              <c:pt idx="1">
                <c:v>41.7</c:v>
              </c:pt>
              <c:pt idx="2">
                <c:v>24.9</c:v>
              </c:pt>
              <c:pt idx="3">
                <c:v>11.8</c:v>
              </c:pt>
            </c:numLit>
          </c:val>
        </c:ser>
        <c:ser>
          <c:idx val="1"/>
          <c:order val="1"/>
          <c:tx>
            <c:v>p99 ms</c:v>
          </c:tx>
          <c:spPr>
            <a:solidFill xmlns:a="http://schemas.openxmlformats.org/drawingml/2006/main">
              <a:srgbClr val="0B66C3"/>
            </a:solidFill>
          </c:spPr>
          <c:cat>
            <c:strLit>
              <c:ptCount val="4"/>
              <c:pt idx="0">
                <c:v>Torch 512</c:v>
              </c:pt>
              <c:pt idx="1">
                <c:v>Torch 128</c:v>
              </c:pt>
              <c:pt idx="2">
                <c:v>ONNX fp32</c:v>
              </c:pt>
              <c:pt idx="3">
                <c:v>ONNX int8</c:v>
              </c:pt>
            </c:strLit>
          </c:cat>
          <c:val>
            <c:numLit>
              <c:formatCode>General</c:formatCode>
              <c:ptCount val="4"/>
              <c:pt idx="0">
                <c:v>141.8</c:v>
              </c:pt>
              <c:pt idx="1">
                <c:v>74.2</c:v>
              </c:pt>
              <c:pt idx="2">
                <c:v>43.1</c:v>
              </c:pt>
              <c:pt idx="3">
                <c:v>21.4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B223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2C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223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5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2F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2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9a9151a5b421b"/>
          <a:srcRect xmlns:a="http://schemas.openxmlformats.org/drawingml/2006/main" l="0" t="15975" r="0" b="159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381000"/>
            <a:ext cx="5505450" cy="5619750"/>
          </a:xfrm>
          <a:prstGeom xmlns:a="http://schemas.openxmlformats.org/drawingml/2006/main" prst="roundRect">
            <a:avLst>
              <a:gd name="adj" fmla="val 1384"/>
            </a:avLst>
          </a:prstGeom>
        </p:spPr>
      </p:pic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FF73AF53-8086-4326-81A4-6C9B9A76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0B2239"/>
                </a:solidFill>
              </a:defRPr>
            </a:pPr>
            <a:r>
              <a:rPr sz="4950" b="1" i="0">
                <a:solidFill>
                  <a:srgbClr val="0B2239"/>
                </a:solidFill>
              </a:rPr>
              <a:t>Natural Language Processing</a:t>
            </a:r>
          </a:p>
          <a:p xmlns:a="http://schemas.openxmlformats.org/drawingml/2006/main">
            <a:pPr algn="l">
              <a:defRPr sz="4950" b="1" i="0">
                <a:solidFill>
                  <a:srgbClr val="0B2239"/>
                </a:solidFill>
              </a:defRPr>
            </a:pPr>
            <a:r>
              <a:rPr sz="4950" b="1" i="0">
                <a:solidFill>
                  <a:srgbClr val="0B2239"/>
                </a:solidFill>
              </a:rPr>
              <a:t>with Transformers</a:t>
            </a:r>
          </a:p>
        </p:txBody>
      </p:sp>
      <p:sp>
        <p:nvSpPr>
          <p:cNvPr id="3" name="text-1-42-280">
            <a:extLst xmlns:a="http://schemas.openxmlformats.org/drawingml/2006/main">
              <a:ext uri="{FF2B5EF4-FFF2-40B4-BE49-F238E27FC236}">
                <a16:creationId xmlns:a16="http://schemas.microsoft.com/office/drawing/2014/main" id="{E2CFC53C-BFE3-4871-91E3-DC367DD7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معالجة اللغة الطبيعية باستخدام المحولات</a:t>
            </a:r>
          </a:p>
        </p:txBody>
      </p:sp>
      <p:sp>
        <p:nvSpPr>
          <p:cNvPr id="4" name="text-1-42-390">
            <a:extLst xmlns:a="http://schemas.openxmlformats.org/drawingml/2006/main">
              <a:ext uri="{FF2B5EF4-FFF2-40B4-BE49-F238E27FC236}">
                <a16:creationId xmlns:a16="http://schemas.microsoft.com/office/drawing/2014/main" id="{FB67C27B-F3DC-4213-A985-4863202F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SDA-AIE-211  •  Specialist  •  20 learning hours</a:t>
            </a:r>
          </a:p>
        </p:txBody>
      </p:sp>
      <p:sp>
        <p:nvSpPr>
          <p:cNvPr id="5" name="text-1-42-455">
            <a:extLst xmlns:a="http://schemas.openxmlformats.org/drawingml/2006/main">
              <a:ext uri="{FF2B5EF4-FFF2-40B4-BE49-F238E27FC236}">
                <a16:creationId xmlns:a16="http://schemas.microsoft.com/office/drawing/2014/main" id="{A24ABDD5-9F29-4560-86FC-3AD0D027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2239"/>
                </a:solidFill>
              </a:defRPr>
            </a:pPr>
            <a:r>
              <a:rPr sz="2100" b="1" i="0">
                <a:solidFill>
                  <a:srgbClr val="0B2239"/>
                </a:solidFill>
              </a:rPr>
              <a:t>Build Bayan: a bilingual Arabic/English citizen-feedback intelligence service</a:t>
            </a:r>
          </a:p>
        </p:txBody>
      </p:sp>
      <p:sp>
        <p:nvSpPr>
          <p:cNvPr id="6" name="text-1-42-610">
            <a:extLst xmlns:a="http://schemas.openxmlformats.org/drawingml/2006/main">
              <a:ext uri="{FF2B5EF4-FFF2-40B4-BE49-F238E27FC236}">
                <a16:creationId xmlns:a16="http://schemas.microsoft.com/office/drawing/2014/main" id="{C725E2B9-9377-4FCD-9EF7-826D32FA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273"/>
                </a:solidFill>
              </a:defRPr>
            </a:pPr>
            <a:r>
              <a:rPr sz="1350" b="0" i="0">
                <a:solidFill>
                  <a:srgbClr val="526273"/>
                </a:solidFill>
              </a:rPr>
              <a:t>SDAIA Academy  |  AI Engineer Track</a:t>
            </a:r>
          </a:p>
        </p:txBody>
      </p:sp>
    </p:spTree>
    <p:extLst>
      <p:ext uri="{BB962C8B-B14F-4D97-AF65-F5344CB8AC3E}">
        <p14:creationId xmlns:p14="http://schemas.microsoft.com/office/powerpoint/2010/main" val="248706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FA6B61-9A58-4D3F-A8E8-6134FD0E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The course thesis</a:t>
            </a:r>
          </a:p>
        </p:txBody>
      </p:sp>
      <p:sp>
        <p:nvSpPr>
          <p:cNvPr id="2" name="title-rule-2-42-119">
            <a:extLst xmlns:a="http://schemas.openxmlformats.org/drawingml/2006/main">
              <a:ext uri="{FF2B5EF4-FFF2-40B4-BE49-F238E27FC236}">
                <a16:creationId xmlns:a16="http://schemas.microsoft.com/office/drawing/2014/main" id="{F54F2C0A-6D38-4A14-AFCF-1F37284E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CC291394-18F9-423A-890D-B449026C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8987853-0058-4B16-AFBC-2B730B11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2</a:t>
            </a:r>
          </a:p>
        </p:txBody>
      </p:sp>
      <p:sp>
        <p:nvSpPr>
          <p:cNvPr id="5" name="text-2-42-185">
            <a:extLst xmlns:a="http://schemas.openxmlformats.org/drawingml/2006/main">
              <a:ext uri="{FF2B5EF4-FFF2-40B4-BE49-F238E27FC236}">
                <a16:creationId xmlns:a16="http://schemas.microsoft.com/office/drawing/2014/main" id="{8BABE023-BC7D-49B8-A2CD-C63F6BD6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2239"/>
                </a:solidFill>
              </a:defRPr>
            </a:pPr>
            <a:r>
              <a:rPr sz="4050" b="1" i="0">
                <a:solidFill>
                  <a:srgbClr val="0B2239"/>
                </a:solidFill>
              </a:rPr>
              <a:t>In NLP engineering, the model is the easy part.</a:t>
            </a:r>
          </a:p>
        </p:txBody>
      </p:sp>
      <p:sp>
        <p:nvSpPr>
          <p:cNvPr id="6" name="statement-accent-2-42-435">
            <a:extLst xmlns:a="http://schemas.openxmlformats.org/drawingml/2006/main">
              <a:ext uri="{FF2B5EF4-FFF2-40B4-BE49-F238E27FC236}">
                <a16:creationId xmlns:a16="http://schemas.microsoft.com/office/drawing/2014/main" id="{25425196-461A-45CC-9321-B55CBEC0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95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2-78-448">
            <a:extLst xmlns:a="http://schemas.openxmlformats.org/drawingml/2006/main">
              <a:ext uri="{FF2B5EF4-FFF2-40B4-BE49-F238E27FC236}">
                <a16:creationId xmlns:a16="http://schemas.microsoft.com/office/drawing/2014/main" id="{7B4A873F-2E7A-40EB-8CC6-9CE64CED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9763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26273"/>
                </a:solidFill>
              </a:defRPr>
            </a:pPr>
            <a:r>
              <a:rPr sz="1875" b="0" i="0">
                <a:solidFill>
                  <a:srgbClr val="526273"/>
                </a:solidFill>
              </a:rPr>
              <a:t>Tokenizer choices, slice-level truth, and production milliseconds decide whether a language system deserves trust.</a:t>
            </a:r>
          </a:p>
        </p:txBody>
      </p:sp>
    </p:spTree>
    <p:extLst>
      <p:ext uri="{BB962C8B-B14F-4D97-AF65-F5344CB8AC3E}">
        <p14:creationId xmlns:p14="http://schemas.microsoft.com/office/powerpoint/2010/main" val="13402652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E3C8C2-95FA-420E-8C35-414FBC21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Six capabilities, one working service</a:t>
            </a:r>
          </a:p>
        </p:txBody>
      </p:sp>
      <p:sp>
        <p:nvSpPr>
          <p:cNvPr id="2" name="title-rule-3-42-119">
            <a:extLst xmlns:a="http://schemas.openxmlformats.org/drawingml/2006/main">
              <a:ext uri="{FF2B5EF4-FFF2-40B4-BE49-F238E27FC236}">
                <a16:creationId xmlns:a16="http://schemas.microsoft.com/office/drawing/2014/main" id="{4128EE31-C834-4074-913F-F1CA4AAB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51B740A-D215-4E60-9216-54310C0C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6B3EB2B-5426-46FD-9334-0744FF47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3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584C204A-1518-41FA-89A9-473A94CD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LO1 — deterministic bilingual preprocessing and Arabic handling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LO2 — transformer architecture literacy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LO3 — fine-tuned classification, NER, and QA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LO4 — bilingual semantic search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LO5 — task metrics, slices, uncertainty, and error analysis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LO6 — optimised, canaried serving</a:t>
            </a:r>
          </a:p>
        </p:txBody>
      </p:sp>
      <p:sp>
        <p:nvSpPr>
          <p:cNvPr id="6" name="callout-panel-3-835-175">
            <a:extLst xmlns:a="http://schemas.openxmlformats.org/drawingml/2006/main">
              <a:ext uri="{FF2B5EF4-FFF2-40B4-BE49-F238E27FC236}">
                <a16:creationId xmlns:a16="http://schemas.microsoft.com/office/drawing/2014/main" id="{4B7D3549-22B2-49AB-8E70-9CEA8552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3-865-205">
            <a:extLst xmlns:a="http://schemas.openxmlformats.org/drawingml/2006/main">
              <a:ext uri="{FF2B5EF4-FFF2-40B4-BE49-F238E27FC236}">
                <a16:creationId xmlns:a16="http://schemas.microsoft.com/office/drawing/2014/main" id="{A401A392-3C74-4ABE-8627-E317250A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DESTINATION</a:t>
            </a:r>
          </a:p>
        </p:txBody>
      </p:sp>
      <p:sp>
        <p:nvSpPr>
          <p:cNvPr id="8" name="text-3-865-260">
            <a:extLst xmlns:a="http://schemas.openxmlformats.org/drawingml/2006/main">
              <a:ext uri="{FF2B5EF4-FFF2-40B4-BE49-F238E27FC236}">
                <a16:creationId xmlns:a16="http://schemas.microsoft.com/office/drawing/2014/main" id="{43A388A6-FA4D-47D9-8F86-C56FB10A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2239"/>
                </a:solidFill>
              </a:defRPr>
            </a:pPr>
            <a:r>
              <a:rPr sz="3300" b="1" i="0">
                <a:solidFill>
                  <a:srgbClr val="0B2239"/>
                </a:solidFill>
              </a:rPr>
              <a:t>Bayan</a:t>
            </a:r>
          </a:p>
        </p:txBody>
      </p:sp>
      <p:sp>
        <p:nvSpPr>
          <p:cNvPr id="9" name="text-3-865-410">
            <a:extLst xmlns:a="http://schemas.openxmlformats.org/drawingml/2006/main">
              <a:ext uri="{FF2B5EF4-FFF2-40B4-BE49-F238E27FC236}">
                <a16:creationId xmlns:a16="http://schemas.microsoft.com/office/drawing/2014/main" id="{4A12137F-AD08-4C3B-90CF-382D1B50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A bilingual citizen-feedback intelligence service assembled from every lab.</a:t>
            </a:r>
          </a:p>
        </p:txBody>
      </p:sp>
    </p:spTree>
    <p:extLst>
      <p:ext uri="{BB962C8B-B14F-4D97-AF65-F5344CB8AC3E}">
        <p14:creationId xmlns:p14="http://schemas.microsoft.com/office/powerpoint/2010/main" val="4336849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3040B4-18CE-4464-BBD1-4E85005F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Four days build one cumulative artefact</a:t>
            </a:r>
          </a:p>
        </p:txBody>
      </p:sp>
      <p:sp>
        <p:nvSpPr>
          <p:cNvPr id="2" name="title-rule-4-42-119">
            <a:extLst xmlns:a="http://schemas.openxmlformats.org/drawingml/2006/main">
              <a:ext uri="{FF2B5EF4-FFF2-40B4-BE49-F238E27FC236}">
                <a16:creationId xmlns:a16="http://schemas.microsoft.com/office/drawing/2014/main" id="{27688ABD-542C-4BB1-A986-A6817FAA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E78EDB35-91F5-46A9-AC3C-98AD4CAC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5CEE07A-7C15-4635-BC37-38F14659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524000"/>
          <a:ext xmlns:a="http://schemas.openxmlformats.org/drawingml/2006/main" cx="11391900" cy="4333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952500"/>
                <a:gridCol w="2857500"/>
                <a:gridCol w="1714500"/>
                <a:gridCol w="5867400"/>
              </a:tblGrid>
              <a:tr h="866775">
                <a:tc>
                  <a:txBody>
                    <a:bodyPr/>
                    <a:lstStyle/>
                    <a:p>
                      <a:r>
                        <a:rPr sz="1275" b="1"/>
                        <a:t>Day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/>
                        <a:t>Theme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/>
                        <a:t>Theory / Lab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/>
                        <a:t>End-of-day evidence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275"/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Text → tensors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45 / 55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Preprocessing pipeline + attention audit</a:t>
                      </a:r>
                    </a:p>
                  </a:txBody>
                  <a:tcPr marL="91440" marR="91440" marT="45720" marB="45720"/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275"/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Make the model yours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40 / 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Classifier + NER + QA artefacts</a:t>
                      </a:r>
                    </a:p>
                  </a:txBody>
                  <a:tcPr marL="91440" marR="91440" marT="45720" marB="45720"/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275"/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Arabic, search, and truth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40 / 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Arabic model + index + evaluation report</a:t>
                      </a:r>
                    </a:p>
                  </a:txBody>
                  <a:tcPr marL="91440" marR="91440" marT="45720" marB="45720"/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275"/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Fast, cheap, shipped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30 / 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Optimised service + capstone demo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663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0EF112-3D19-45CA-B12E-EC73CABF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Meet Bayan</a:t>
            </a:r>
          </a:p>
        </p:txBody>
      </p:sp>
      <p:sp>
        <p:nvSpPr>
          <p:cNvPr id="2" name="title-rule-5-42-119">
            <a:extLst xmlns:a="http://schemas.openxmlformats.org/drawingml/2006/main">
              <a:ext uri="{FF2B5EF4-FFF2-40B4-BE49-F238E27FC236}">
                <a16:creationId xmlns:a16="http://schemas.microsoft.com/office/drawing/2014/main" id="{20B8B297-7B38-49B6-A8C8-9D722446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8720A592-2E3A-4092-A264-10808D9D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B103C4F-0E3A-4547-99DB-838BF14D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5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9973F106-C307-407F-A116-ABF71DAF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Thousands of Arabic and English feedback messages arrive through web, mobile, chat, and the contact centre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Messages mix MSA, Gulf dialect, English, code-switching, emoji, and PII-shaped strings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The service must classify topic and sentiment, extract entities, find similar resolved cases, and explain its own quality</a:t>
            </a:r>
          </a:p>
        </p:txBody>
      </p:sp>
      <p:sp>
        <p:nvSpPr>
          <p:cNvPr id="6" name="callout-panel-5-835-175">
            <a:extLst xmlns:a="http://schemas.openxmlformats.org/drawingml/2006/main">
              <a:ext uri="{FF2B5EF4-FFF2-40B4-BE49-F238E27FC236}">
                <a16:creationId xmlns:a16="http://schemas.microsoft.com/office/drawing/2014/main" id="{F240E014-9B72-4492-9464-FFB72E6C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5-865-205">
            <a:extLst xmlns:a="http://schemas.openxmlformats.org/drawingml/2006/main">
              <a:ext uri="{FF2B5EF4-FFF2-40B4-BE49-F238E27FC236}">
                <a16:creationId xmlns:a16="http://schemas.microsoft.com/office/drawing/2014/main" id="{AF71BCF6-1A4B-4750-973D-5926DADF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GOLDEN THREAD</a:t>
            </a:r>
          </a:p>
        </p:txBody>
      </p:sp>
      <p:sp>
        <p:nvSpPr>
          <p:cNvPr id="8" name="text-5-865-260">
            <a:extLst xmlns:a="http://schemas.openxmlformats.org/drawingml/2006/main">
              <a:ext uri="{FF2B5EF4-FFF2-40B4-BE49-F238E27FC236}">
                <a16:creationId xmlns:a16="http://schemas.microsoft.com/office/drawing/2014/main" id="{342D903B-32CD-4284-8B55-C7464F71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239"/>
                </a:solidFill>
              </a:defRPr>
            </a:pPr>
            <a:r>
              <a:rPr sz="2550" b="1" i="0">
                <a:solidFill>
                  <a:srgbClr val="0B2239"/>
                </a:solidFill>
              </a:rPr>
              <a:t>7 labs → 1 service</a:t>
            </a:r>
          </a:p>
        </p:txBody>
      </p:sp>
      <p:sp>
        <p:nvSpPr>
          <p:cNvPr id="9" name="text-5-865-410">
            <a:extLst xmlns:a="http://schemas.openxmlformats.org/drawingml/2006/main">
              <a:ext uri="{FF2B5EF4-FFF2-40B4-BE49-F238E27FC236}">
                <a16:creationId xmlns:a16="http://schemas.microsoft.com/office/drawing/2014/main" id="{74E30BAC-0AB4-4F87-B53C-580DB433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Every lab commits a production component; no throwaway datasets.</a:t>
            </a:r>
          </a:p>
        </p:txBody>
      </p:sp>
    </p:spTree>
    <p:extLst>
      <p:ext uri="{BB962C8B-B14F-4D97-AF65-F5344CB8AC3E}">
        <p14:creationId xmlns:p14="http://schemas.microsoft.com/office/powerpoint/2010/main" val="14529501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755842-A438-4734-ABF4-6DDA9C40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Bayan grows from a pipeline into a service</a:t>
            </a:r>
          </a:p>
        </p:txBody>
      </p:sp>
      <p:sp>
        <p:nvSpPr>
          <p:cNvPr id="2" name="title-rule-6-42-119">
            <a:extLst xmlns:a="http://schemas.openxmlformats.org/drawingml/2006/main">
              <a:ext uri="{FF2B5EF4-FFF2-40B4-BE49-F238E27FC236}">
                <a16:creationId xmlns:a16="http://schemas.microsoft.com/office/drawing/2014/main" id="{B3FFFB96-BE53-4D53-9711-020AF8F9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D3661313-AB25-4EC8-B1D4-6FA1AE2B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3AFF58B-7BD0-48BB-8022-EEDF61F8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6</a:t>
            </a:r>
          </a:p>
        </p:txBody>
      </p:sp>
      <p:sp>
        <p:nvSpPr>
          <p:cNvPr id="5" name="flow-node-6-55-270">
            <a:extLst xmlns:a="http://schemas.openxmlformats.org/drawingml/2006/main">
              <a:ext uri="{FF2B5EF4-FFF2-40B4-BE49-F238E27FC236}">
                <a16:creationId xmlns:a16="http://schemas.microsoft.com/office/drawing/2014/main" id="{DDC698F9-2083-4BEB-9BB8-F1FA385F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6" name="flow-node-6-279-270">
            <a:extLst xmlns:a="http://schemas.openxmlformats.org/drawingml/2006/main">
              <a:ext uri="{FF2B5EF4-FFF2-40B4-BE49-F238E27FC236}">
                <a16:creationId xmlns:a16="http://schemas.microsoft.com/office/drawing/2014/main" id="{A4F2CCE2-A089-422C-8DDE-2E8E20CE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flow-node-6-503-270">
            <a:extLst xmlns:a="http://schemas.openxmlformats.org/drawingml/2006/main">
              <a:ext uri="{FF2B5EF4-FFF2-40B4-BE49-F238E27FC236}">
                <a16:creationId xmlns:a16="http://schemas.microsoft.com/office/drawing/2014/main" id="{9BE328E1-0496-4635-B187-006E15BE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8" name="flow-node-6-727-270">
            <a:extLst xmlns:a="http://schemas.openxmlformats.org/drawingml/2006/main">
              <a:ext uri="{FF2B5EF4-FFF2-40B4-BE49-F238E27FC236}">
                <a16:creationId xmlns:a16="http://schemas.microsoft.com/office/drawing/2014/main" id="{2CD9C32F-1574-4011-B93E-7E189715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9" name="flow-node-6-951-270">
            <a:extLst xmlns:a="http://schemas.openxmlformats.org/drawingml/2006/main">
              <a:ext uri="{FF2B5EF4-FFF2-40B4-BE49-F238E27FC236}">
                <a16:creationId xmlns:a16="http://schemas.microsoft.com/office/drawing/2014/main" id="{BB422EC7-4C24-4F32-8A13-08D66692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38375" y="3286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6C3"/>
            </a:solidFill>
            <a:prstDash val="solid"/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71975" y="3286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6C3"/>
            </a:solidFill>
            <a:prstDash val="solid"/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505575" y="3286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6C3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39175" y="3286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6C3"/>
            </a:solidFill>
            <a:prstDash val="solid"/>
            <a:tailEnd type="arrow" w="sm" len="sm"/>
          </a:ln>
        </p:spPr>
      </p:cxnSp>
      <p:sp>
        <p:nvSpPr>
          <p:cNvPr id="14" name="text-6-69-292">
            <a:extLst xmlns:a="http://schemas.openxmlformats.org/drawingml/2006/main">
              <a:ext uri="{FF2B5EF4-FFF2-40B4-BE49-F238E27FC236}">
                <a16:creationId xmlns:a16="http://schemas.microsoft.com/office/drawing/2014/main" id="{E17BD1E6-CEEB-4173-A7C6-7AE804CF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Raw text</a:t>
            </a:r>
          </a:p>
        </p:txBody>
      </p:sp>
      <p:sp>
        <p:nvSpPr>
          <p:cNvPr id="15" name="text-6-69-345">
            <a:extLst xmlns:a="http://schemas.openxmlformats.org/drawingml/2006/main">
              <a:ext uri="{FF2B5EF4-FFF2-40B4-BE49-F238E27FC236}">
                <a16:creationId xmlns:a16="http://schemas.microsoft.com/office/drawing/2014/main" id="{AFDF5B9E-0276-4EBC-A071-F832C2D1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AR / EN feedback</a:t>
            </a:r>
          </a:p>
        </p:txBody>
      </p:sp>
      <p:sp>
        <p:nvSpPr>
          <p:cNvPr id="16" name="text-6-293-292">
            <a:extLst xmlns:a="http://schemas.openxmlformats.org/drawingml/2006/main">
              <a:ext uri="{FF2B5EF4-FFF2-40B4-BE49-F238E27FC236}">
                <a16:creationId xmlns:a16="http://schemas.microsoft.com/office/drawing/2014/main" id="{4C438537-B1C1-40B3-B0D4-8573FCA5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Preprocess</a:t>
            </a:r>
          </a:p>
        </p:txBody>
      </p:sp>
      <p:sp>
        <p:nvSpPr>
          <p:cNvPr id="17" name="text-6-293-345">
            <a:extLst xmlns:a="http://schemas.openxmlformats.org/drawingml/2006/main">
              <a:ext uri="{FF2B5EF4-FFF2-40B4-BE49-F238E27FC236}">
                <a16:creationId xmlns:a16="http://schemas.microsoft.com/office/drawing/2014/main" id="{ED5E988D-7728-49AF-BBA2-DA3FDBDF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PII + profiles</a:t>
            </a:r>
          </a:p>
        </p:txBody>
      </p:sp>
      <p:sp>
        <p:nvSpPr>
          <p:cNvPr id="18" name="text-6-517-292">
            <a:extLst xmlns:a="http://schemas.openxmlformats.org/drawingml/2006/main">
              <a:ext uri="{FF2B5EF4-FFF2-40B4-BE49-F238E27FC236}">
                <a16:creationId xmlns:a16="http://schemas.microsoft.com/office/drawing/2014/main" id="{FD00C0C4-C167-48DF-90BB-DA585E03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Models</a:t>
            </a:r>
          </a:p>
        </p:txBody>
      </p:sp>
      <p:sp>
        <p:nvSpPr>
          <p:cNvPr id="19" name="text-6-517-345">
            <a:extLst xmlns:a="http://schemas.openxmlformats.org/drawingml/2006/main">
              <a:ext uri="{FF2B5EF4-FFF2-40B4-BE49-F238E27FC236}">
                <a16:creationId xmlns:a16="http://schemas.microsoft.com/office/drawing/2014/main" id="{484C4693-BD67-49E7-A7F2-18DF223E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Classify + NER</a:t>
            </a:r>
          </a:p>
        </p:txBody>
      </p:sp>
      <p:sp>
        <p:nvSpPr>
          <p:cNvPr id="20" name="text-6-741-292">
            <a:extLst xmlns:a="http://schemas.openxmlformats.org/drawingml/2006/main">
              <a:ext uri="{FF2B5EF4-FFF2-40B4-BE49-F238E27FC236}">
                <a16:creationId xmlns:a16="http://schemas.microsoft.com/office/drawing/2014/main" id="{0565B3A3-C705-4DB5-BB32-A5787014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Search</a:t>
            </a:r>
          </a:p>
        </p:txBody>
      </p:sp>
      <p:sp>
        <p:nvSpPr>
          <p:cNvPr id="21" name="text-6-741-345">
            <a:extLst xmlns:a="http://schemas.openxmlformats.org/drawingml/2006/main">
              <a:ext uri="{FF2B5EF4-FFF2-40B4-BE49-F238E27FC236}">
                <a16:creationId xmlns:a16="http://schemas.microsoft.com/office/drawing/2014/main" id="{B74D406D-2E2E-4DBD-8B50-FE13661D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FAISS + rerank</a:t>
            </a:r>
          </a:p>
        </p:txBody>
      </p:sp>
      <p:sp>
        <p:nvSpPr>
          <p:cNvPr id="22" name="text-6-965-292">
            <a:extLst xmlns:a="http://schemas.openxmlformats.org/drawingml/2006/main">
              <a:ext uri="{FF2B5EF4-FFF2-40B4-BE49-F238E27FC236}">
                <a16:creationId xmlns:a16="http://schemas.microsoft.com/office/drawing/2014/main" id="{C33735F4-080C-4FBA-9A02-D51805E7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Evidence</a:t>
            </a:r>
          </a:p>
        </p:txBody>
      </p:sp>
      <p:sp>
        <p:nvSpPr>
          <p:cNvPr id="23" name="text-6-965-345">
            <a:extLst xmlns:a="http://schemas.openxmlformats.org/drawingml/2006/main">
              <a:ext uri="{FF2B5EF4-FFF2-40B4-BE49-F238E27FC236}">
                <a16:creationId xmlns:a16="http://schemas.microsoft.com/office/drawing/2014/main" id="{F04CC7C2-6795-4E07-8FD0-9C19E803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Slices + p99</a:t>
            </a:r>
          </a:p>
        </p:txBody>
      </p:sp>
      <p:sp>
        <p:nvSpPr>
          <p:cNvPr id="24" name="text-6-250-500">
            <a:extLst xmlns:a="http://schemas.openxmlformats.org/drawingml/2006/main">
              <a:ext uri="{FF2B5EF4-FFF2-40B4-BE49-F238E27FC236}">
                <a16:creationId xmlns:a16="http://schemas.microsoft.com/office/drawing/2014/main" id="{E45A5483-6E72-4C62-B4E8-6862B495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B2239"/>
                </a:solidFill>
              </a:defRPr>
            </a:pPr>
            <a:r>
              <a:rPr sz="2550" b="1" i="0">
                <a:solidFill>
                  <a:srgbClr val="0B2239"/>
                </a:solidFill>
              </a:rPr>
              <a:t>Every boundary is versioned, measured, and tested.</a:t>
            </a:r>
          </a:p>
        </p:txBody>
      </p:sp>
    </p:spTree>
    <p:extLst>
      <p:ext uri="{BB962C8B-B14F-4D97-AF65-F5344CB8AC3E}">
        <p14:creationId xmlns:p14="http://schemas.microsoft.com/office/powerpoint/2010/main" val="13108488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0C9DAD-122B-4AD2-815D-EDAE5B90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Assessment rewards evidence, not demos alone</a:t>
            </a:r>
          </a:p>
        </p:txBody>
      </p:sp>
      <p:sp>
        <p:nvSpPr>
          <p:cNvPr id="2" name="title-rule-7-42-119">
            <a:extLst xmlns:a="http://schemas.openxmlformats.org/drawingml/2006/main">
              <a:ext uri="{FF2B5EF4-FFF2-40B4-BE49-F238E27FC236}">
                <a16:creationId xmlns:a16="http://schemas.microsoft.com/office/drawing/2014/main" id="{9209F7D8-D288-40A4-91D4-7772F374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2E720F6F-19C9-4709-9878-76E8A30D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332D94E-1E5A-4C70-8BB1-AB73A62B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524000"/>
          <a:ext xmlns:a="http://schemas.openxmlformats.org/drawingml/2006/main" cx="11391900" cy="4333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43250"/>
                <a:gridCol w="1619250"/>
                <a:gridCol w="6629400"/>
              </a:tblGrid>
              <a:tr h="866775">
                <a:tc>
                  <a:txBody>
                    <a:bodyPr/>
                    <a:lstStyle/>
                    <a:p>
                      <a:r>
                        <a:rPr sz="1275" b="1"/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/>
                        <a:t>Weight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/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275"/>
                        <a:t>Labs 1–7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35%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Checkpoint commits + expected outputs</a:t>
                      </a:r>
                    </a:p>
                  </a:txBody>
                  <a:tcPr marL="91440" marR="91440" marT="45720" marB="45720"/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275"/>
                        <a:t>PA-1 + PA-2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Diagnosis and model-review artefacts</a:t>
                      </a:r>
                    </a:p>
                  </a:txBody>
                  <a:tcPr marL="91440" marR="91440" marT="45720" marB="45720"/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275"/>
                        <a:t>Quiz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10%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10 selected questions, closed book</a:t>
                      </a:r>
                    </a:p>
                  </a:txBody>
                  <a:tcPr marL="91440" marR="91440" marT="45720" marB="45720"/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275"/>
                        <a:t>Capstone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40%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Repository-first rubric + live demo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73975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8-42-42">
            <a:extLst xmlns:a="http://schemas.openxmlformats.org/drawingml/2006/main">
              <a:ext uri="{FF2B5EF4-FFF2-40B4-BE49-F238E27FC236}">
                <a16:creationId xmlns:a16="http://schemas.microsoft.com/office/drawing/2014/main" id="{4FFD5D7C-9B18-4F67-B5B2-382B75DC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DAY 1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2F400BCD-053D-4713-BFED-6E9934FC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B2239"/>
                </a:solidFill>
              </a:defRPr>
            </a:pPr>
            <a:r>
              <a:rPr sz="5850" b="1" i="0">
                <a:solidFill>
                  <a:srgbClr val="0B2239"/>
                </a:solidFill>
              </a:rPr>
              <a:t>Text becomes tensors</a:t>
            </a:r>
          </a:p>
        </p:txBody>
      </p:sp>
      <p:sp>
        <p:nvSpPr>
          <p:cNvPr id="3" name="accent-rule-8-42-545">
            <a:extLst xmlns:a="http://schemas.openxmlformats.org/drawingml/2006/main">
              <a:ext uri="{FF2B5EF4-FFF2-40B4-BE49-F238E27FC236}">
                <a16:creationId xmlns:a16="http://schemas.microsoft.com/office/drawing/2014/main" id="{77DF82F5-C423-4145-AB82-43097A77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8-42-575">
            <a:extLst xmlns:a="http://schemas.openxmlformats.org/drawingml/2006/main">
              <a:ext uri="{FF2B5EF4-FFF2-40B4-BE49-F238E27FC236}">
                <a16:creationId xmlns:a16="http://schemas.microsoft.com/office/drawing/2014/main" id="{2546F6D6-BEDC-4B76-B170-B02E0481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26273"/>
                </a:solidFill>
              </a:defRPr>
            </a:pPr>
            <a:r>
              <a:rPr sz="1800" b="0" i="0">
                <a:solidFill>
                  <a:srgbClr val="526273"/>
                </a:solidFill>
              </a:rPr>
              <a:t>Build the bilingual preprocessing contract, then reason through one transformer forward pass.</a:t>
            </a:r>
          </a:p>
        </p:txBody>
      </p:sp>
      <p:sp>
        <p:nvSpPr>
          <p:cNvPr id="5" name="text-8-1180-676">
            <a:extLst xmlns:a="http://schemas.openxmlformats.org/drawingml/2006/main">
              <a:ext uri="{FF2B5EF4-FFF2-40B4-BE49-F238E27FC236}">
                <a16:creationId xmlns:a16="http://schemas.microsoft.com/office/drawing/2014/main" id="{952A18A4-9415-42A5-862D-7C8BF38C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442457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9-42-42">
            <a:extLst xmlns:a="http://schemas.openxmlformats.org/drawingml/2006/main">
              <a:ext uri="{FF2B5EF4-FFF2-40B4-BE49-F238E27FC236}">
                <a16:creationId xmlns:a16="http://schemas.microsoft.com/office/drawing/2014/main" id="{781D5A11-742C-429D-809B-72B0DBC7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M1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7F13CB40-5EB4-446B-BF15-D8237FB9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B2239"/>
                </a:solidFill>
              </a:defRPr>
            </a:pPr>
            <a:r>
              <a:rPr sz="5850" b="1" i="0">
                <a:solidFill>
                  <a:srgbClr val="0B2239"/>
                </a:solidFill>
              </a:rPr>
              <a:t>Text processing, tokenisation, and embeddings</a:t>
            </a:r>
          </a:p>
        </p:txBody>
      </p:sp>
      <p:sp>
        <p:nvSpPr>
          <p:cNvPr id="3" name="accent-rule-9-42-545">
            <a:extLst xmlns:a="http://schemas.openxmlformats.org/drawingml/2006/main">
              <a:ext uri="{FF2B5EF4-FFF2-40B4-BE49-F238E27FC236}">
                <a16:creationId xmlns:a16="http://schemas.microsoft.com/office/drawing/2014/main" id="{DFA7E0F0-271E-4A9C-B487-E73FB16C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9-42-575">
            <a:extLst xmlns:a="http://schemas.openxmlformats.org/drawingml/2006/main">
              <a:ext uri="{FF2B5EF4-FFF2-40B4-BE49-F238E27FC236}">
                <a16:creationId xmlns:a16="http://schemas.microsoft.com/office/drawing/2014/main" id="{49B77F59-9987-4748-A8B5-67324437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26273"/>
                </a:solidFill>
              </a:defRPr>
            </a:pPr>
            <a:r>
              <a:rPr sz="1800" b="0" i="0">
                <a:solidFill>
                  <a:srgbClr val="526273"/>
                </a:solidFill>
              </a:rPr>
              <a:t>Tokenisation quality is an accuracy, context-window, and infrastructure decision made before the model sees a single token.</a:t>
            </a:r>
          </a:p>
        </p:txBody>
      </p:sp>
      <p:sp>
        <p:nvSpPr>
          <p:cNvPr id="5" name="text-9-1180-676">
            <a:extLst xmlns:a="http://schemas.openxmlformats.org/drawingml/2006/main">
              <a:ext uri="{FF2B5EF4-FFF2-40B4-BE49-F238E27FC236}">
                <a16:creationId xmlns:a16="http://schemas.microsoft.com/office/drawing/2014/main" id="{6B499BED-4D03-42DA-B2D5-A305C088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922053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CF1646-1510-45C5-A21E-F5E998F9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M1 thesis</a:t>
            </a:r>
          </a:p>
        </p:txBody>
      </p:sp>
      <p:sp>
        <p:nvSpPr>
          <p:cNvPr id="2" name="title-rule-10-42-119">
            <a:extLst xmlns:a="http://schemas.openxmlformats.org/drawingml/2006/main">
              <a:ext uri="{FF2B5EF4-FFF2-40B4-BE49-F238E27FC236}">
                <a16:creationId xmlns:a16="http://schemas.microsoft.com/office/drawing/2014/main" id="{DC93E7CC-2452-4F91-890F-A2421B13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707209FA-C6C1-4A64-A6C6-1E0CC135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74FD925-77C2-4A57-A1B2-6DD7A931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10</a:t>
            </a:r>
          </a:p>
        </p:txBody>
      </p:sp>
      <p:sp>
        <p:nvSpPr>
          <p:cNvPr id="5" name="text-10-42-185">
            <a:extLst xmlns:a="http://schemas.openxmlformats.org/drawingml/2006/main">
              <a:ext uri="{FF2B5EF4-FFF2-40B4-BE49-F238E27FC236}">
                <a16:creationId xmlns:a16="http://schemas.microsoft.com/office/drawing/2014/main" id="{1CB83474-3EC1-4CDF-82E7-2D22BAD9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2239"/>
                </a:solidFill>
              </a:defRPr>
            </a:pPr>
            <a:r>
              <a:rPr sz="4050" b="1" i="0">
                <a:solidFill>
                  <a:srgbClr val="0B2239"/>
                </a:solidFill>
              </a:rPr>
              <a:t>Tokenisation quality is an accuracy, context-window, and infrastructure decision made before the model sees a single token.</a:t>
            </a:r>
          </a:p>
        </p:txBody>
      </p:sp>
      <p:sp>
        <p:nvSpPr>
          <p:cNvPr id="6" name="statement-accent-10-42-435">
            <a:extLst xmlns:a="http://schemas.openxmlformats.org/drawingml/2006/main">
              <a:ext uri="{FF2B5EF4-FFF2-40B4-BE49-F238E27FC236}">
                <a16:creationId xmlns:a16="http://schemas.microsoft.com/office/drawing/2014/main" id="{9241C35E-D8CE-4DBE-BCD8-A8431BAA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95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-78-448">
            <a:extLst xmlns:a="http://schemas.openxmlformats.org/drawingml/2006/main">
              <a:ext uri="{FF2B5EF4-FFF2-40B4-BE49-F238E27FC236}">
                <a16:creationId xmlns:a16="http://schemas.microsoft.com/office/drawing/2014/main" id="{C1B6391A-AB96-47B9-ABC1-5AC9B56B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9763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26273"/>
                </a:solidFill>
              </a:defRPr>
            </a:pPr>
            <a:r>
              <a:rPr sz="1875" b="0" i="0">
                <a:solidFill>
                  <a:srgbClr val="526273"/>
                </a:solidFill>
              </a:rPr>
              <a:t>The profession lives in the preprocessing contract, the evaluation slices, and the milliseconds—not in a checkpoint name.</a:t>
            </a:r>
          </a:p>
        </p:txBody>
      </p:sp>
    </p:spTree>
    <p:extLst>
      <p:ext uri="{BB962C8B-B14F-4D97-AF65-F5344CB8AC3E}">
        <p14:creationId xmlns:p14="http://schemas.microsoft.com/office/powerpoint/2010/main" val="7913587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053E3A-A8B2-40F5-940C-B5C8EE45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What you will be able to do</a:t>
            </a:r>
          </a:p>
        </p:txBody>
      </p:sp>
      <p:sp>
        <p:nvSpPr>
          <p:cNvPr id="2" name="title-rule-11-42-119">
            <a:extLst xmlns:a="http://schemas.openxmlformats.org/drawingml/2006/main">
              <a:ext uri="{FF2B5EF4-FFF2-40B4-BE49-F238E27FC236}">
                <a16:creationId xmlns:a16="http://schemas.microsoft.com/office/drawing/2014/main" id="{4F406C1E-DB78-414F-935C-7BC6C761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D926E43A-BFB6-4265-86DF-27C2CAA3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2436AC8-27D5-40FF-958F-C73C519B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11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53C30351-08DA-48AB-A897-A573E933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Build one deterministic preprocessing module used by training and serving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Compare BPE, WordPiece, and SentencePiece on the Bayan corpus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Measure fertility, unknown-token rate, and length distributions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Explain static, contextual, and positional embeddings</a:t>
            </a:r>
          </a:p>
        </p:txBody>
      </p:sp>
      <p:sp>
        <p:nvSpPr>
          <p:cNvPr id="6" name="callout-panel-11-835-175">
            <a:extLst xmlns:a="http://schemas.openxmlformats.org/drawingml/2006/main">
              <a:ext uri="{FF2B5EF4-FFF2-40B4-BE49-F238E27FC236}">
                <a16:creationId xmlns:a16="http://schemas.microsoft.com/office/drawing/2014/main" id="{5F4DEDDD-6C7C-423E-820E-30F39F15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1-865-205">
            <a:extLst xmlns:a="http://schemas.openxmlformats.org/drawingml/2006/main">
              <a:ext uri="{FF2B5EF4-FFF2-40B4-BE49-F238E27FC236}">
                <a16:creationId xmlns:a16="http://schemas.microsoft.com/office/drawing/2014/main" id="{91FB6EF0-5A22-4226-8B2D-D954799B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LEARNING OUTCOME</a:t>
            </a:r>
          </a:p>
        </p:txBody>
      </p:sp>
      <p:sp>
        <p:nvSpPr>
          <p:cNvPr id="8" name="text-11-865-260">
            <a:extLst xmlns:a="http://schemas.openxmlformats.org/drawingml/2006/main">
              <a:ext uri="{FF2B5EF4-FFF2-40B4-BE49-F238E27FC236}">
                <a16:creationId xmlns:a16="http://schemas.microsoft.com/office/drawing/2014/main" id="{39514D13-1F9C-4876-8588-EF6E9D49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2239"/>
                </a:solidFill>
              </a:defRPr>
            </a:pPr>
            <a:r>
              <a:rPr sz="3300" b="1" i="0">
                <a:solidFill>
                  <a:srgbClr val="0B2239"/>
                </a:solidFill>
              </a:rPr>
              <a:t>M1</a:t>
            </a:r>
          </a:p>
        </p:txBody>
      </p:sp>
      <p:sp>
        <p:nvSpPr>
          <p:cNvPr id="9" name="text-11-865-410">
            <a:extLst xmlns:a="http://schemas.openxmlformats.org/drawingml/2006/main">
              <a:ext uri="{FF2B5EF4-FFF2-40B4-BE49-F238E27FC236}">
                <a16:creationId xmlns:a16="http://schemas.microsoft.com/office/drawing/2014/main" id="{99897A92-00D0-431F-BF96-74F0FD96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Every capability produces a component of Bayan and evidence for the capstone.</a:t>
            </a:r>
          </a:p>
        </p:txBody>
      </p:sp>
    </p:spTree>
    <p:extLst>
      <p:ext uri="{BB962C8B-B14F-4D97-AF65-F5344CB8AC3E}">
        <p14:creationId xmlns:p14="http://schemas.microsoft.com/office/powerpoint/2010/main" val="7937437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479166-B7EF-4D63-9D71-A4A8AC96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Real text is hostile</a:t>
            </a:r>
          </a:p>
        </p:txBody>
      </p:sp>
      <p:sp>
        <p:nvSpPr>
          <p:cNvPr id="2" name="title-rule-12-42-119">
            <a:extLst xmlns:a="http://schemas.openxmlformats.org/drawingml/2006/main">
              <a:ext uri="{FF2B5EF4-FFF2-40B4-BE49-F238E27FC236}">
                <a16:creationId xmlns:a16="http://schemas.microsoft.com/office/drawing/2014/main" id="{03C40E3D-B711-4A18-B59A-F5898127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9EA583D3-1BCA-454E-A107-B6E63ACA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2FB21F-2D18-4DCC-A893-92B8CBEB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12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40118F11-4DA7-4FFA-9D95-92D86105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Unicode-equivalent strings can hash differently; Arabic orthography varies; emoji and elongation can carry sentiment; PII must be masked before training.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NFC/NFKC is a reproducibility choice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Cleaning can remove label signal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PII masking belongs before persistence</a:t>
            </a:r>
          </a:p>
        </p:txBody>
      </p:sp>
      <p:sp>
        <p:nvSpPr>
          <p:cNvPr id="6" name="callout-panel-12-835-175">
            <a:extLst xmlns:a="http://schemas.openxmlformats.org/drawingml/2006/main">
              <a:ext uri="{FF2B5EF4-FFF2-40B4-BE49-F238E27FC236}">
                <a16:creationId xmlns:a16="http://schemas.microsoft.com/office/drawing/2014/main" id="{92BEB68A-B4FE-4085-B397-3983E5FF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2-865-205">
            <a:extLst xmlns:a="http://schemas.openxmlformats.org/drawingml/2006/main">
              <a:ext uri="{FF2B5EF4-FFF2-40B4-BE49-F238E27FC236}">
                <a16:creationId xmlns:a16="http://schemas.microsoft.com/office/drawing/2014/main" id="{BDD39259-62A0-4F0C-8C45-9030714B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1</a:t>
            </a:r>
          </a:p>
        </p:txBody>
      </p:sp>
      <p:sp>
        <p:nvSpPr>
          <p:cNvPr id="8" name="text-12-865-260">
            <a:extLst xmlns:a="http://schemas.openxmlformats.org/drawingml/2006/main">
              <a:ext uri="{FF2B5EF4-FFF2-40B4-BE49-F238E27FC236}">
                <a16:creationId xmlns:a16="http://schemas.microsoft.com/office/drawing/2014/main" id="{A925919A-1718-4156-8944-E613456B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01</a:t>
            </a:r>
          </a:p>
        </p:txBody>
      </p:sp>
      <p:sp>
        <p:nvSpPr>
          <p:cNvPr id="9" name="text-12-865-410">
            <a:extLst xmlns:a="http://schemas.openxmlformats.org/drawingml/2006/main">
              <a:ext uri="{FF2B5EF4-FFF2-40B4-BE49-F238E27FC236}">
                <a16:creationId xmlns:a16="http://schemas.microsoft.com/office/drawing/2014/main" id="{7392EB21-5CEC-47C5-820E-F90663A1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1.</a:t>
            </a:r>
          </a:p>
        </p:txBody>
      </p:sp>
    </p:spTree>
    <p:extLst>
      <p:ext uri="{BB962C8B-B14F-4D97-AF65-F5344CB8AC3E}">
        <p14:creationId xmlns:p14="http://schemas.microsoft.com/office/powerpoint/2010/main" val="9731702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85B6D2-DC1C-4174-BDF7-A19D9775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The classic pipeline still surrounds the model</a:t>
            </a:r>
          </a:p>
        </p:txBody>
      </p:sp>
      <p:sp>
        <p:nvSpPr>
          <p:cNvPr id="2" name="title-rule-13-42-119">
            <a:extLst xmlns:a="http://schemas.openxmlformats.org/drawingml/2006/main">
              <a:ext uri="{FF2B5EF4-FFF2-40B4-BE49-F238E27FC236}">
                <a16:creationId xmlns:a16="http://schemas.microsoft.com/office/drawing/2014/main" id="{78017231-5DA4-4D6B-82F5-8714D26E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53792D1C-2353-4D43-9DA8-1EE68225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45C8C34-C456-47E6-9ED9-C8CB3690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13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C356177A-4633-489C-9A7A-4AAB1C64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Sentence segmentation, linguistic annotation, and rules remain useful as typed, testable stages—even when subwords replace hand-engineered model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Chunk at meaning boundaries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Use rules as guardrails and fallbacks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Import one versioned module everywhere</a:t>
            </a:r>
          </a:p>
        </p:txBody>
      </p:sp>
      <p:sp>
        <p:nvSpPr>
          <p:cNvPr id="6" name="callout-panel-13-835-175">
            <a:extLst xmlns:a="http://schemas.openxmlformats.org/drawingml/2006/main">
              <a:ext uri="{FF2B5EF4-FFF2-40B4-BE49-F238E27FC236}">
                <a16:creationId xmlns:a16="http://schemas.microsoft.com/office/drawing/2014/main" id="{E3040AC4-953C-4DA6-84B0-B5D2002A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3-865-205">
            <a:extLst xmlns:a="http://schemas.openxmlformats.org/drawingml/2006/main">
              <a:ext uri="{FF2B5EF4-FFF2-40B4-BE49-F238E27FC236}">
                <a16:creationId xmlns:a16="http://schemas.microsoft.com/office/drawing/2014/main" id="{56BBACBA-5407-4443-85DF-4F05D326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2</a:t>
            </a:r>
          </a:p>
        </p:txBody>
      </p:sp>
      <p:sp>
        <p:nvSpPr>
          <p:cNvPr id="8" name="text-13-865-260">
            <a:extLst xmlns:a="http://schemas.openxmlformats.org/drawingml/2006/main">
              <a:ext uri="{FF2B5EF4-FFF2-40B4-BE49-F238E27FC236}">
                <a16:creationId xmlns:a16="http://schemas.microsoft.com/office/drawing/2014/main" id="{2CF7CBCF-33C0-424E-A6FE-42CAE832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02</a:t>
            </a:r>
          </a:p>
        </p:txBody>
      </p:sp>
      <p:sp>
        <p:nvSpPr>
          <p:cNvPr id="9" name="text-13-865-410">
            <a:extLst xmlns:a="http://schemas.openxmlformats.org/drawingml/2006/main">
              <a:ext uri="{FF2B5EF4-FFF2-40B4-BE49-F238E27FC236}">
                <a16:creationId xmlns:a16="http://schemas.microsoft.com/office/drawing/2014/main" id="{D058563C-E0E1-438C-B47F-A05B37C8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1.</a:t>
            </a:r>
          </a:p>
        </p:txBody>
      </p:sp>
    </p:spTree>
    <p:extLst>
      <p:ext uri="{BB962C8B-B14F-4D97-AF65-F5344CB8AC3E}">
        <p14:creationId xmlns:p14="http://schemas.microsoft.com/office/powerpoint/2010/main" val="2513416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06C7E4-F99B-428B-AE05-7AFFA392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Subwords are the workable compromise</a:t>
            </a:r>
          </a:p>
        </p:txBody>
      </p:sp>
      <p:sp>
        <p:nvSpPr>
          <p:cNvPr id="2" name="title-rule-14-42-119">
            <a:extLst xmlns:a="http://schemas.openxmlformats.org/drawingml/2006/main">
              <a:ext uri="{FF2B5EF4-FFF2-40B4-BE49-F238E27FC236}">
                <a16:creationId xmlns:a16="http://schemas.microsoft.com/office/drawing/2014/main" id="{00E45240-7E29-44C4-98A4-0317E3FD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DE94F26D-58CF-40C2-9FD1-8E4C5F2D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F0A293F-EB2D-480E-AF30-9564278B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14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0978FD5C-71F2-47B1-BF5D-672C1960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BPE merges frequent pairs; WordPiece optimises likelihood; SentencePiece learns directly from raw streams and whitespace.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Word vocabularies explode on Arabic morphology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Character models waste capacity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Tokenizer and checkpoint are one artefact</a:t>
            </a:r>
          </a:p>
        </p:txBody>
      </p:sp>
      <p:sp>
        <p:nvSpPr>
          <p:cNvPr id="6" name="callout-panel-14-835-175">
            <a:extLst xmlns:a="http://schemas.openxmlformats.org/drawingml/2006/main">
              <a:ext uri="{FF2B5EF4-FFF2-40B4-BE49-F238E27FC236}">
                <a16:creationId xmlns:a16="http://schemas.microsoft.com/office/drawing/2014/main" id="{F3E55A57-D391-4A23-871C-B366CD80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4-865-205">
            <a:extLst xmlns:a="http://schemas.openxmlformats.org/drawingml/2006/main">
              <a:ext uri="{FF2B5EF4-FFF2-40B4-BE49-F238E27FC236}">
                <a16:creationId xmlns:a16="http://schemas.microsoft.com/office/drawing/2014/main" id="{15A31648-3095-40F3-B289-7BEB96CE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3</a:t>
            </a:r>
          </a:p>
        </p:txBody>
      </p:sp>
      <p:sp>
        <p:nvSpPr>
          <p:cNvPr id="8" name="text-14-865-260">
            <a:extLst xmlns:a="http://schemas.openxmlformats.org/drawingml/2006/main">
              <a:ext uri="{FF2B5EF4-FFF2-40B4-BE49-F238E27FC236}">
                <a16:creationId xmlns:a16="http://schemas.microsoft.com/office/drawing/2014/main" id="{99B042B5-38CD-4A9B-AA74-70B8375E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03</a:t>
            </a:r>
          </a:p>
        </p:txBody>
      </p:sp>
      <p:sp>
        <p:nvSpPr>
          <p:cNvPr id="9" name="text-14-865-410">
            <a:extLst xmlns:a="http://schemas.openxmlformats.org/drawingml/2006/main">
              <a:ext uri="{FF2B5EF4-FFF2-40B4-BE49-F238E27FC236}">
                <a16:creationId xmlns:a16="http://schemas.microsoft.com/office/drawing/2014/main" id="{6ACEDEBD-0E0B-441D-9D60-CECE6636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1.</a:t>
            </a:r>
          </a:p>
        </p:txBody>
      </p:sp>
    </p:spTree>
    <p:extLst>
      <p:ext uri="{BB962C8B-B14F-4D97-AF65-F5344CB8AC3E}">
        <p14:creationId xmlns:p14="http://schemas.microsoft.com/office/powerpoint/2010/main" val="21107552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EE0EA9-F2C7-42AE-8C28-7293DC7C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Fertility turns language coverage into cost</a:t>
            </a:r>
          </a:p>
        </p:txBody>
      </p:sp>
      <p:sp>
        <p:nvSpPr>
          <p:cNvPr id="2" name="title-rule-15-42-119">
            <a:extLst xmlns:a="http://schemas.openxmlformats.org/drawingml/2006/main">
              <a:ext uri="{FF2B5EF4-FFF2-40B4-BE49-F238E27FC236}">
                <a16:creationId xmlns:a16="http://schemas.microsoft.com/office/drawing/2014/main" id="{E2F16A82-CE1F-43E8-9C92-EBFBBA00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036A8171-C344-4936-B546-9E1D92E9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EBC34E3-2B0B-4C15-BBF9-8FEF8F70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15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F6B8EE18-A9F1-4F5C-8239-0DFE74F5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Average pieces per word predicts effective context, compute, and often representation quality. Measure it on the target corpus before model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High fertility shortens usable 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Longer sequences raise latency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Corpus evidence beats model popularity</a:t>
            </a:r>
          </a:p>
        </p:txBody>
      </p:sp>
      <p:sp>
        <p:nvSpPr>
          <p:cNvPr id="6" name="callout-panel-15-835-175">
            <a:extLst xmlns:a="http://schemas.openxmlformats.org/drawingml/2006/main">
              <a:ext uri="{FF2B5EF4-FFF2-40B4-BE49-F238E27FC236}">
                <a16:creationId xmlns:a16="http://schemas.microsoft.com/office/drawing/2014/main" id="{ECE887A7-AA6E-4B28-84AB-EDAF8199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5-865-205">
            <a:extLst xmlns:a="http://schemas.openxmlformats.org/drawingml/2006/main">
              <a:ext uri="{FF2B5EF4-FFF2-40B4-BE49-F238E27FC236}">
                <a16:creationId xmlns:a16="http://schemas.microsoft.com/office/drawing/2014/main" id="{24DA7C94-DC38-4E71-BDAC-F458BC8B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4</a:t>
            </a:r>
          </a:p>
        </p:txBody>
      </p:sp>
      <p:sp>
        <p:nvSpPr>
          <p:cNvPr id="8" name="text-15-865-260">
            <a:extLst xmlns:a="http://schemas.openxmlformats.org/drawingml/2006/main">
              <a:ext uri="{FF2B5EF4-FFF2-40B4-BE49-F238E27FC236}">
                <a16:creationId xmlns:a16="http://schemas.microsoft.com/office/drawing/2014/main" id="{426334B3-7D51-47A4-8D0E-8BB39275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04</a:t>
            </a:r>
          </a:p>
        </p:txBody>
      </p:sp>
      <p:sp>
        <p:nvSpPr>
          <p:cNvPr id="9" name="text-15-865-410">
            <a:extLst xmlns:a="http://schemas.openxmlformats.org/drawingml/2006/main">
              <a:ext uri="{FF2B5EF4-FFF2-40B4-BE49-F238E27FC236}">
                <a16:creationId xmlns:a16="http://schemas.microsoft.com/office/drawing/2014/main" id="{50268AE8-6222-4CEA-8A46-7BD293AD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1.</a:t>
            </a:r>
          </a:p>
        </p:txBody>
      </p:sp>
    </p:spTree>
    <p:extLst>
      <p:ext uri="{BB962C8B-B14F-4D97-AF65-F5344CB8AC3E}">
        <p14:creationId xmlns:p14="http://schemas.microsoft.com/office/powerpoint/2010/main" val="4306149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6E7504-A0D3-4A3C-A591-4A9BEA48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Embeddings move meaning into geometry</a:t>
            </a:r>
          </a:p>
        </p:txBody>
      </p:sp>
      <p:sp>
        <p:nvSpPr>
          <p:cNvPr id="2" name="title-rule-16-42-119">
            <a:extLst xmlns:a="http://schemas.openxmlformats.org/drawingml/2006/main">
              <a:ext uri="{FF2B5EF4-FFF2-40B4-BE49-F238E27FC236}">
                <a16:creationId xmlns:a16="http://schemas.microsoft.com/office/drawing/2014/main" id="{8EABF25A-D773-4BD3-813A-92A15607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9C47AB76-3647-4A95-886D-3D09079A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726320C-BC88-4578-B57A-E944342D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16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DF506EA5-01AB-4017-9C8B-722A4A16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Static vectors assign one point per word type; contextual vectors change with surrounding tokens; positional information restores order to attention.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Context disambiguates عين and bank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BERT absolute positions impose a hard limit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Special-token masks are part of correctness</a:t>
            </a:r>
          </a:p>
        </p:txBody>
      </p:sp>
      <p:sp>
        <p:nvSpPr>
          <p:cNvPr id="6" name="callout-panel-16-835-175">
            <a:extLst xmlns:a="http://schemas.openxmlformats.org/drawingml/2006/main">
              <a:ext uri="{FF2B5EF4-FFF2-40B4-BE49-F238E27FC236}">
                <a16:creationId xmlns:a16="http://schemas.microsoft.com/office/drawing/2014/main" id="{B4A121AC-41DB-4847-A329-79292F29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6-865-205">
            <a:extLst xmlns:a="http://schemas.openxmlformats.org/drawingml/2006/main">
              <a:ext uri="{FF2B5EF4-FFF2-40B4-BE49-F238E27FC236}">
                <a16:creationId xmlns:a16="http://schemas.microsoft.com/office/drawing/2014/main" id="{24601BF1-7FA2-467E-8368-B78FD97D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5</a:t>
            </a:r>
          </a:p>
        </p:txBody>
      </p:sp>
      <p:sp>
        <p:nvSpPr>
          <p:cNvPr id="8" name="text-16-865-260">
            <a:extLst xmlns:a="http://schemas.openxmlformats.org/drawingml/2006/main">
              <a:ext uri="{FF2B5EF4-FFF2-40B4-BE49-F238E27FC236}">
                <a16:creationId xmlns:a16="http://schemas.microsoft.com/office/drawing/2014/main" id="{8430EA91-1B4E-4271-BB3C-6D3AE7AE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05</a:t>
            </a:r>
          </a:p>
        </p:txBody>
      </p:sp>
      <p:sp>
        <p:nvSpPr>
          <p:cNvPr id="9" name="text-16-865-410">
            <a:extLst xmlns:a="http://schemas.openxmlformats.org/drawingml/2006/main">
              <a:ext uri="{FF2B5EF4-FFF2-40B4-BE49-F238E27FC236}">
                <a16:creationId xmlns:a16="http://schemas.microsoft.com/office/drawing/2014/main" id="{0A762438-6879-4613-AA2C-BE8494CB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1.</a:t>
            </a:r>
          </a:p>
        </p:txBody>
      </p:sp>
    </p:spTree>
    <p:extLst>
      <p:ext uri="{BB962C8B-B14F-4D97-AF65-F5344CB8AC3E}">
        <p14:creationId xmlns:p14="http://schemas.microsoft.com/office/powerpoint/2010/main" val="6729788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DCC3C8-CF0C-4010-92DC-C3416145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Length policy is a modelling decision</a:t>
            </a:r>
          </a:p>
        </p:txBody>
      </p:sp>
      <p:sp>
        <p:nvSpPr>
          <p:cNvPr id="2" name="title-rule-17-42-119">
            <a:extLst xmlns:a="http://schemas.openxmlformats.org/drawingml/2006/main">
              <a:ext uri="{FF2B5EF4-FFF2-40B4-BE49-F238E27FC236}">
                <a16:creationId xmlns:a16="http://schemas.microsoft.com/office/drawing/2014/main" id="{B48C2903-9322-46DA-AE34-1DAE6B35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48A782CF-2AF5-4C8B-AD84-19EEE5C3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8991ED4-DBDE-4009-8732-9D03FF6D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17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10F21495-B02C-45F6-8AE1-0EB55AA8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Head, tail, or head+tail truncation preserve different evidence. Dynamic padding avoids paying for tokens that do not exist.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Inspect the length distribution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Treat truncation as task-dependent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Reuse the policy in serving</a:t>
            </a:r>
          </a:p>
        </p:txBody>
      </p:sp>
      <p:sp>
        <p:nvSpPr>
          <p:cNvPr id="6" name="callout-panel-17-835-175">
            <a:extLst xmlns:a="http://schemas.openxmlformats.org/drawingml/2006/main">
              <a:ext uri="{FF2B5EF4-FFF2-40B4-BE49-F238E27FC236}">
                <a16:creationId xmlns:a16="http://schemas.microsoft.com/office/drawing/2014/main" id="{D20AD520-0E2F-4213-B65F-CF88871F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7-865-205">
            <a:extLst xmlns:a="http://schemas.openxmlformats.org/drawingml/2006/main">
              <a:ext uri="{FF2B5EF4-FFF2-40B4-BE49-F238E27FC236}">
                <a16:creationId xmlns:a16="http://schemas.microsoft.com/office/drawing/2014/main" id="{3CBAC1A8-BCC1-4187-8F12-66AFC338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6</a:t>
            </a:r>
          </a:p>
        </p:txBody>
      </p:sp>
      <p:sp>
        <p:nvSpPr>
          <p:cNvPr id="8" name="text-17-865-260">
            <a:extLst xmlns:a="http://schemas.openxmlformats.org/drawingml/2006/main">
              <a:ext uri="{FF2B5EF4-FFF2-40B4-BE49-F238E27FC236}">
                <a16:creationId xmlns:a16="http://schemas.microsoft.com/office/drawing/2014/main" id="{CD0BA6F7-D93B-4393-AD6B-BFC4DF23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06</a:t>
            </a:r>
          </a:p>
        </p:txBody>
      </p:sp>
      <p:sp>
        <p:nvSpPr>
          <p:cNvPr id="9" name="text-17-865-410">
            <a:extLst xmlns:a="http://schemas.openxmlformats.org/drawingml/2006/main">
              <a:ext uri="{FF2B5EF4-FFF2-40B4-BE49-F238E27FC236}">
                <a16:creationId xmlns:a16="http://schemas.microsoft.com/office/drawing/2014/main" id="{4252E8C3-C505-4FA6-887B-AF862E98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1.</a:t>
            </a:r>
          </a:p>
        </p:txBody>
      </p:sp>
    </p:spTree>
    <p:extLst>
      <p:ext uri="{BB962C8B-B14F-4D97-AF65-F5344CB8AC3E}">
        <p14:creationId xmlns:p14="http://schemas.microsoft.com/office/powerpoint/2010/main" val="7504043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84ED2F-CD16-462F-B4B8-3D71E7C4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Failure modes to catch before production</a:t>
            </a:r>
          </a:p>
        </p:txBody>
      </p:sp>
      <p:sp>
        <p:nvSpPr>
          <p:cNvPr id="2" name="title-rule-18-42-119">
            <a:extLst xmlns:a="http://schemas.openxmlformats.org/drawingml/2006/main">
              <a:ext uri="{FF2B5EF4-FFF2-40B4-BE49-F238E27FC236}">
                <a16:creationId xmlns:a16="http://schemas.microsoft.com/office/drawing/2014/main" id="{5F6045A6-9C7B-40C2-9501-53F0B62F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FF8259AA-2B01-476A-A2F2-B1555B04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22DE688-B541-4AF3-9A3F-A252915D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18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6F47BA39-DE5C-4BAD-9640-FDAB9D93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Tokenizer/model mismatch silently remaps ids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Train/serve normalisation skew changes the feature space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Stripping emoji or elongation removes sentiment signal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Padding every batch to 512 wastes compute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Silent truncation drops the request or resolution</a:t>
            </a:r>
          </a:p>
        </p:txBody>
      </p:sp>
      <p:sp>
        <p:nvSpPr>
          <p:cNvPr id="6" name="callout-panel-18-835-175">
            <a:extLst xmlns:a="http://schemas.openxmlformats.org/drawingml/2006/main">
              <a:ext uri="{FF2B5EF4-FFF2-40B4-BE49-F238E27FC236}">
                <a16:creationId xmlns:a16="http://schemas.microsoft.com/office/drawing/2014/main" id="{CE48F828-9381-4814-A9A1-C05F36DA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8-865-205">
            <a:extLst xmlns:a="http://schemas.openxmlformats.org/drawingml/2006/main">
              <a:ext uri="{FF2B5EF4-FFF2-40B4-BE49-F238E27FC236}">
                <a16:creationId xmlns:a16="http://schemas.microsoft.com/office/drawing/2014/main" id="{67839D8D-B481-406C-8440-8E753467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RULE</a:t>
            </a:r>
          </a:p>
        </p:txBody>
      </p:sp>
      <p:sp>
        <p:nvSpPr>
          <p:cNvPr id="8" name="text-18-865-260">
            <a:extLst xmlns:a="http://schemas.openxmlformats.org/drawingml/2006/main">
              <a:ext uri="{FF2B5EF4-FFF2-40B4-BE49-F238E27FC236}">
                <a16:creationId xmlns:a16="http://schemas.microsoft.com/office/drawing/2014/main" id="{12B17AA9-DA57-46AE-A013-13D9546E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239"/>
                </a:solidFill>
              </a:defRPr>
            </a:pPr>
            <a:r>
              <a:rPr sz="2550" b="1" i="0">
                <a:solidFill>
                  <a:srgbClr val="0B2239"/>
                </a:solidFill>
              </a:rPr>
              <a:t>Make it fail loudly</a:t>
            </a:r>
          </a:p>
        </p:txBody>
      </p:sp>
      <p:sp>
        <p:nvSpPr>
          <p:cNvPr id="9" name="text-18-865-410">
            <a:extLst xmlns:a="http://schemas.openxmlformats.org/drawingml/2006/main">
              <a:ext uri="{FF2B5EF4-FFF2-40B4-BE49-F238E27FC236}">
                <a16:creationId xmlns:a16="http://schemas.microsoft.com/office/drawing/2014/main" id="{07C7EC1B-D0E0-46AC-9B1B-D322A27D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Silent plausibility is the dangerous state.</a:t>
            </a:r>
          </a:p>
        </p:txBody>
      </p:sp>
    </p:spTree>
    <p:extLst>
      <p:ext uri="{BB962C8B-B14F-4D97-AF65-F5344CB8AC3E}">
        <p14:creationId xmlns:p14="http://schemas.microsoft.com/office/powerpoint/2010/main" val="15296580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3ADC96-B063-453C-8EB5-E66191A4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Executable pattern</a:t>
            </a:r>
          </a:p>
        </p:txBody>
      </p:sp>
      <p:sp>
        <p:nvSpPr>
          <p:cNvPr id="2" name="title-rule-19-42-119">
            <a:extLst xmlns:a="http://schemas.openxmlformats.org/drawingml/2006/main">
              <a:ext uri="{FF2B5EF4-FFF2-40B4-BE49-F238E27FC236}">
                <a16:creationId xmlns:a16="http://schemas.microsoft.com/office/drawing/2014/main" id="{2643AB33-76EF-424A-B2A0-8995984A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5FC791D5-61EC-4CFE-B908-64118972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27917ED-B50E-4430-BDC6-8F437D88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19</a:t>
            </a:r>
          </a:p>
        </p:txBody>
      </p:sp>
      <p:sp>
        <p:nvSpPr>
          <p:cNvPr id="5" name="code-panel-19-42-150">
            <a:extLst xmlns:a="http://schemas.openxmlformats.org/drawingml/2006/main">
              <a:ext uri="{FF2B5EF4-FFF2-40B4-BE49-F238E27FC236}">
                <a16:creationId xmlns:a16="http://schemas.microsoft.com/office/drawing/2014/main" id="{412D8B77-DD95-4BD7-9BB7-551C5A56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7239000" cy="4572000"/>
          </a:xfrm>
          <a:prstGeom xmlns:a="http://schemas.openxmlformats.org/drawingml/2006/main" prst="roundRect">
            <a:avLst>
              <a:gd name="adj" fmla="val 833"/>
            </a:avLst>
          </a:prstGeom>
          <a:solidFill xmlns:a="http://schemas.openxmlformats.org/drawingml/2006/main">
            <a:srgbClr val="071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7205D4CF-93DC-4109-B9EA-06DD7BB6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676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from transformers import AutoTokenizer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tok = AutoTokenizer.from_pretrained(checkpoint)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def fertility(texts):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    pieces = sum(len(tok.tokenize(t)) for t in texts)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    words = sum(len(t.split()) for t in texts)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    return pieces / words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assert train_preprocess is serve_preprocess</a:t>
            </a:r>
          </a:p>
        </p:txBody>
      </p:sp>
      <p:sp>
        <p:nvSpPr>
          <p:cNvPr id="7" name="text-19-850-165">
            <a:extLst xmlns:a="http://schemas.openxmlformats.org/drawingml/2006/main">
              <a:ext uri="{FF2B5EF4-FFF2-40B4-BE49-F238E27FC236}">
                <a16:creationId xmlns:a16="http://schemas.microsoft.com/office/drawing/2014/main" id="{A5DC86F4-1D06-4E89-A6A2-09348BC7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READ THE CONTRACT</a:t>
            </a:r>
          </a:p>
        </p:txBody>
      </p:sp>
      <p:sp>
        <p:nvSpPr>
          <p:cNvPr id="8" name="text-19-850-220">
            <a:extLst xmlns:a="http://schemas.openxmlformats.org/drawingml/2006/main">
              <a:ext uri="{FF2B5EF4-FFF2-40B4-BE49-F238E27FC236}">
                <a16:creationId xmlns:a16="http://schemas.microsoft.com/office/drawing/2014/main" id="{C6894122-8624-4534-9733-22B94F4B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190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Load tokenizer and weights from the same checkpoint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Audit Arabic and English separately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Make preprocessing equivalence executable</a:t>
            </a:r>
          </a:p>
        </p:txBody>
      </p:sp>
    </p:spTree>
    <p:extLst>
      <p:ext uri="{BB962C8B-B14F-4D97-AF65-F5344CB8AC3E}">
        <p14:creationId xmlns:p14="http://schemas.microsoft.com/office/powerpoint/2010/main" val="10258003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E45DE5-7057-4539-8067-87B29EEA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Apply the concept before the lab</a:t>
            </a:r>
          </a:p>
        </p:txBody>
      </p:sp>
      <p:sp>
        <p:nvSpPr>
          <p:cNvPr id="2" name="title-rule-20-42-119">
            <a:extLst xmlns:a="http://schemas.openxmlformats.org/drawingml/2006/main">
              <a:ext uri="{FF2B5EF4-FFF2-40B4-BE49-F238E27FC236}">
                <a16:creationId xmlns:a16="http://schemas.microsoft.com/office/drawing/2014/main" id="{6756CEEA-4AFA-45C4-A44D-4B5DE50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E858D26D-01B6-4F9B-BBEB-3461316D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962C5C5-3A61-4CE0-8F25-5D2551A4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20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98941ACA-B783-4F25-92BD-AFB688D1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Open bayan_raw_sample.csv and name defects before formal labels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Predict which tokenizer will fragment Arabic most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Challenge another pair's tokenizer choice using cost and context</a:t>
            </a:r>
          </a:p>
        </p:txBody>
      </p:sp>
      <p:sp>
        <p:nvSpPr>
          <p:cNvPr id="6" name="callout-panel-20-835-175">
            <a:extLst xmlns:a="http://schemas.openxmlformats.org/drawingml/2006/main">
              <a:ext uri="{FF2B5EF4-FFF2-40B4-BE49-F238E27FC236}">
                <a16:creationId xmlns:a16="http://schemas.microsoft.com/office/drawing/2014/main" id="{D03C80FF-5603-46DA-A426-112ED9A9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20-865-205">
            <a:extLst xmlns:a="http://schemas.openxmlformats.org/drawingml/2006/main">
              <a:ext uri="{FF2B5EF4-FFF2-40B4-BE49-F238E27FC236}">
                <a16:creationId xmlns:a16="http://schemas.microsoft.com/office/drawing/2014/main" id="{0C14AC30-7F46-4D9E-B3F5-AD8AB618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ACTIVITY</a:t>
            </a:r>
          </a:p>
        </p:txBody>
      </p:sp>
      <p:sp>
        <p:nvSpPr>
          <p:cNvPr id="8" name="text-20-865-260">
            <a:extLst xmlns:a="http://schemas.openxmlformats.org/drawingml/2006/main">
              <a:ext uri="{FF2B5EF4-FFF2-40B4-BE49-F238E27FC236}">
                <a16:creationId xmlns:a16="http://schemas.microsoft.com/office/drawing/2014/main" id="{29ED58F5-1C03-41CB-9032-AA9F9BCF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2239"/>
                </a:solidFill>
              </a:defRPr>
            </a:pPr>
            <a:r>
              <a:rPr sz="3300" b="1" i="0">
                <a:solidFill>
                  <a:srgbClr val="0B2239"/>
                </a:solidFill>
              </a:rPr>
              <a:t>10 min</a:t>
            </a:r>
          </a:p>
        </p:txBody>
      </p:sp>
      <p:sp>
        <p:nvSpPr>
          <p:cNvPr id="9" name="text-20-865-410">
            <a:extLst xmlns:a="http://schemas.openxmlformats.org/drawingml/2006/main">
              <a:ext uri="{FF2B5EF4-FFF2-40B4-BE49-F238E27FC236}">
                <a16:creationId xmlns:a16="http://schemas.microsoft.com/office/drawing/2014/main" id="{CBA56657-E858-42AC-8336-2681FDEE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Predict first; measure second; defend the evidence.</a:t>
            </a:r>
          </a:p>
        </p:txBody>
      </p:sp>
    </p:spTree>
    <p:extLst>
      <p:ext uri="{BB962C8B-B14F-4D97-AF65-F5344CB8AC3E}">
        <p14:creationId xmlns:p14="http://schemas.microsoft.com/office/powerpoint/2010/main" val="16306258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605979-90E5-42FD-BF88-29E674FA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Lab 1 — Bilingual preprocessing and tokenisation pipeline</a:t>
            </a:r>
          </a:p>
        </p:txBody>
      </p:sp>
      <p:sp>
        <p:nvSpPr>
          <p:cNvPr id="2" name="title-rule-21-42-119">
            <a:extLst xmlns:a="http://schemas.openxmlformats.org/drawingml/2006/main">
              <a:ext uri="{FF2B5EF4-FFF2-40B4-BE49-F238E27FC236}">
                <a16:creationId xmlns:a16="http://schemas.microsoft.com/office/drawing/2014/main" id="{F00D50F5-66F1-47BC-AC27-8009A139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8ED3D2D1-AC85-40A3-8FC0-25DB1384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8BF444F-CC00-4D64-B2C0-86248129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21</a:t>
            </a:r>
          </a:p>
        </p:txBody>
      </p:sp>
      <p:sp>
        <p:nvSpPr>
          <p:cNvPr id="5" name="text-21-52-160">
            <a:extLst xmlns:a="http://schemas.openxmlformats.org/drawingml/2006/main">
              <a:ext uri="{FF2B5EF4-FFF2-40B4-BE49-F238E27FC236}">
                <a16:creationId xmlns:a16="http://schemas.microsoft.com/office/drawing/2014/main" id="{E4659C93-653B-4740-966C-B410DCB6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BUILD</a:t>
            </a:r>
          </a:p>
        </p:txBody>
      </p:sp>
      <p:sp>
        <p:nvSpPr>
          <p:cNvPr id="6" name="text-21-52-220">
            <a:extLst xmlns:a="http://schemas.openxmlformats.org/drawingml/2006/main">
              <a:ext uri="{FF2B5EF4-FFF2-40B4-BE49-F238E27FC236}">
                <a16:creationId xmlns:a16="http://schemas.microsoft.com/office/drawing/2014/main" id="{DA4FBC0C-A6DF-4605-9BB2-B092A3B1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01</a:t>
            </a:r>
          </a:p>
        </p:txBody>
      </p:sp>
      <p:sp>
        <p:nvSpPr>
          <p:cNvPr id="7" name="text-21-122-220">
            <a:extLst xmlns:a="http://schemas.openxmlformats.org/drawingml/2006/main">
              <a:ext uri="{FF2B5EF4-FFF2-40B4-BE49-F238E27FC236}">
                <a16:creationId xmlns:a16="http://schemas.microsoft.com/office/drawing/2014/main" id="{D6CE8B09-D6CD-492D-88E8-EB0E829C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Run a defect safari on the 200-row raw sample</a:t>
            </a:r>
          </a:p>
        </p:txBody>
      </p:sp>
      <p:sp>
        <p:nvSpPr>
          <p:cNvPr id="8" name="text-21-52-312">
            <a:extLst xmlns:a="http://schemas.openxmlformats.org/drawingml/2006/main">
              <a:ext uri="{FF2B5EF4-FFF2-40B4-BE49-F238E27FC236}">
                <a16:creationId xmlns:a16="http://schemas.microsoft.com/office/drawing/2014/main" id="{0242B293-50C9-44ED-8CFB-0E8BE86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02</a:t>
            </a:r>
          </a:p>
        </p:txBody>
      </p:sp>
      <p:sp>
        <p:nvSpPr>
          <p:cNvPr id="9" name="text-21-122-312">
            <a:extLst xmlns:a="http://schemas.openxmlformats.org/drawingml/2006/main">
              <a:ext uri="{FF2B5EF4-FFF2-40B4-BE49-F238E27FC236}">
                <a16:creationId xmlns:a16="http://schemas.microsoft.com/office/drawing/2014/main" id="{E9FC80E9-BD5A-4799-B002-43D7B351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Implement and test one versioned normaliser</a:t>
            </a:r>
          </a:p>
        </p:txBody>
      </p:sp>
      <p:sp>
        <p:nvSpPr>
          <p:cNvPr id="10" name="text-21-52-404">
            <a:extLst xmlns:a="http://schemas.openxmlformats.org/drawingml/2006/main">
              <a:ext uri="{FF2B5EF4-FFF2-40B4-BE49-F238E27FC236}">
                <a16:creationId xmlns:a16="http://schemas.microsoft.com/office/drawing/2014/main" id="{FA99DD6F-462A-4ED8-B8A2-48CD531D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03</a:t>
            </a:r>
          </a:p>
        </p:txBody>
      </p:sp>
      <p:sp>
        <p:nvSpPr>
          <p:cNvPr id="11" name="text-21-122-404">
            <a:extLst xmlns:a="http://schemas.openxmlformats.org/drawingml/2006/main">
              <a:ext uri="{FF2B5EF4-FFF2-40B4-BE49-F238E27FC236}">
                <a16:creationId xmlns:a16="http://schemas.microsoft.com/office/drawing/2014/main" id="{08844BEE-7D38-453A-AA9D-F9C90153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Compare four tokenizers by language and fertility</a:t>
            </a:r>
          </a:p>
        </p:txBody>
      </p:sp>
      <p:sp>
        <p:nvSpPr>
          <p:cNvPr id="12" name="text-21-52-496">
            <a:extLst xmlns:a="http://schemas.openxmlformats.org/drawingml/2006/main">
              <a:ext uri="{FF2B5EF4-FFF2-40B4-BE49-F238E27FC236}">
                <a16:creationId xmlns:a16="http://schemas.microsoft.com/office/drawing/2014/main" id="{3237A1E2-BF69-4404-AE8B-D6E1231E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04</a:t>
            </a:r>
          </a:p>
        </p:txBody>
      </p:sp>
      <p:sp>
        <p:nvSpPr>
          <p:cNvPr id="13" name="text-21-122-496">
            <a:extLst xmlns:a="http://schemas.openxmlformats.org/drawingml/2006/main">
              <a:ext uri="{FF2B5EF4-FFF2-40B4-BE49-F238E27FC236}">
                <a16:creationId xmlns:a16="http://schemas.microsoft.com/office/drawing/2014/main" id="{B87C8057-1DA3-4E03-9B8B-5D2C9979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244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Record the tokenizer decision with evidence</a:t>
            </a:r>
          </a:p>
        </p:txBody>
      </p:sp>
      <p:sp>
        <p:nvSpPr>
          <p:cNvPr id="14" name="evidence-panel-21-820-175">
            <a:extLst xmlns:a="http://schemas.openxmlformats.org/drawingml/2006/main">
              <a:ext uri="{FF2B5EF4-FFF2-40B4-BE49-F238E27FC236}">
                <a16:creationId xmlns:a16="http://schemas.microsoft.com/office/drawing/2014/main" id="{6E650624-8A39-4420-B7BE-CF5AC2B1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3600450" cy="3905250"/>
          </a:xfrm>
          <a:prstGeom xmlns:a="http://schemas.openxmlformats.org/drawingml/2006/main" prst="roundRect">
            <a:avLst>
              <a:gd name="adj" fmla="val 105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5" name="text-21-850-205">
            <a:extLst xmlns:a="http://schemas.openxmlformats.org/drawingml/2006/main">
              <a:ext uri="{FF2B5EF4-FFF2-40B4-BE49-F238E27FC236}">
                <a16:creationId xmlns:a16="http://schemas.microsoft.com/office/drawing/2014/main" id="{1F3DE4C9-FFFF-4CF5-A273-30820A17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66C3"/>
                </a:solidFill>
              </a:defRPr>
            </a:pPr>
            <a:r>
              <a:rPr sz="1275" b="1" i="0">
                <a:solidFill>
                  <a:srgbClr val="0B66C3"/>
                </a:solidFill>
              </a:rPr>
              <a:t>EVIDENCE TO COMMIT</a:t>
            </a:r>
          </a:p>
        </p:txBody>
      </p:sp>
      <p:sp>
        <p:nvSpPr>
          <p:cNvPr id="16" name="text-21-850-270">
            <a:extLst xmlns:a="http://schemas.openxmlformats.org/drawingml/2006/main">
              <a:ext uri="{FF2B5EF4-FFF2-40B4-BE49-F238E27FC236}">
                <a16:creationId xmlns:a16="http://schemas.microsoft.com/office/drawing/2014/main" id="{75131912-ACA0-478B-81F4-F5E36219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0003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Golden preprocessing tests green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PII recall = 100% on fixture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Fertility + length audit table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DECISIONS.md#tokenizer</a:t>
            </a:r>
          </a:p>
        </p:txBody>
      </p:sp>
    </p:spTree>
    <p:extLst>
      <p:ext uri="{BB962C8B-B14F-4D97-AF65-F5344CB8AC3E}">
        <p14:creationId xmlns:p14="http://schemas.microsoft.com/office/powerpoint/2010/main" val="10753196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D695BD-FDCB-452B-B11D-E0CA1510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Arabic fertility is a model-selection signal</a:t>
            </a:r>
          </a:p>
        </p:txBody>
      </p:sp>
      <p:sp>
        <p:nvSpPr>
          <p:cNvPr id="2" name="title-rule-22-42-119">
            <a:extLst xmlns:a="http://schemas.openxmlformats.org/drawingml/2006/main">
              <a:ext uri="{FF2B5EF4-FFF2-40B4-BE49-F238E27FC236}">
                <a16:creationId xmlns:a16="http://schemas.microsoft.com/office/drawing/2014/main" id="{32EF08B0-B198-4C7E-96F8-E7F45F79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6A524078-FF37-454C-8B06-95D6B315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93917EC-DDE5-4E05-A952-52D88A6E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22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0050" y="1476375"/>
          <a:ext xmlns:a="http://schemas.openxmlformats.org/drawingml/2006/main" cx="6286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129ee0d5924c3f"/>
          </a:graphicData>
        </a:graphic>
      </p:graphicFrame>
      <p:sp>
        <p:nvSpPr>
          <p:cNvPr id="6" name="chart-callout-22-752-165">
            <a:extLst xmlns:a="http://schemas.openxmlformats.org/drawingml/2006/main">
              <a:ext uri="{FF2B5EF4-FFF2-40B4-BE49-F238E27FC236}">
                <a16:creationId xmlns:a16="http://schemas.microsoft.com/office/drawing/2014/main" id="{02CF9DA0-479B-4B4F-BDA8-0DA57C94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71625"/>
            <a:ext cx="4248150" cy="112395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22-780-185">
            <a:extLst xmlns:a="http://schemas.openxmlformats.org/drawingml/2006/main">
              <a:ext uri="{FF2B5EF4-FFF2-40B4-BE49-F238E27FC236}">
                <a16:creationId xmlns:a16="http://schemas.microsoft.com/office/drawing/2014/main" id="{E3087B44-92D4-43A8-A4F0-44DF0F76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6C3"/>
                </a:solidFill>
              </a:defRPr>
            </a:pPr>
            <a:r>
              <a:rPr sz="1725" b="1" i="0">
                <a:solidFill>
                  <a:srgbClr val="0B66C3"/>
                </a:solidFill>
              </a:rPr>
              <a:t>CAMeLBERT</a:t>
            </a:r>
          </a:p>
        </p:txBody>
      </p:sp>
      <p:sp>
        <p:nvSpPr>
          <p:cNvPr id="8" name="text-22-780-223">
            <a:extLst xmlns:a="http://schemas.openxmlformats.org/drawingml/2006/main">
              <a:ext uri="{FF2B5EF4-FFF2-40B4-BE49-F238E27FC236}">
                <a16:creationId xmlns:a16="http://schemas.microsoft.com/office/drawing/2014/main" id="{50E3A9D3-C928-48DB-ACA4-801D69FE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240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273"/>
                </a:solidFill>
              </a:defRPr>
            </a:pPr>
            <a:r>
              <a:rPr sz="1425" b="0" i="0">
                <a:solidFill>
                  <a:srgbClr val="526273"/>
                </a:solidFill>
              </a:rPr>
              <a:t>Best Arabic fertility in the reference audit.</a:t>
            </a:r>
          </a:p>
        </p:txBody>
      </p:sp>
      <p:sp>
        <p:nvSpPr>
          <p:cNvPr id="9" name="chart-callout-22-752-310">
            <a:extLst xmlns:a="http://schemas.openxmlformats.org/drawingml/2006/main">
              <a:ext uri="{FF2B5EF4-FFF2-40B4-BE49-F238E27FC236}">
                <a16:creationId xmlns:a16="http://schemas.microsoft.com/office/drawing/2014/main" id="{35D1DADE-4FA3-463A-A1F1-5F9B83C9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52750"/>
            <a:ext cx="4248150" cy="112395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2-780-330">
            <a:extLst xmlns:a="http://schemas.openxmlformats.org/drawingml/2006/main">
              <a:ext uri="{FF2B5EF4-FFF2-40B4-BE49-F238E27FC236}">
                <a16:creationId xmlns:a16="http://schemas.microsoft.com/office/drawing/2014/main" id="{15C06FBD-6F64-4D23-AFD8-EA6276B6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6C3"/>
                </a:solidFill>
              </a:defRPr>
            </a:pPr>
            <a:r>
              <a:rPr sz="1725" b="1" i="0">
                <a:solidFill>
                  <a:srgbClr val="0B66C3"/>
                </a:solidFill>
              </a:rPr>
              <a:t>DistilBERT trap</a:t>
            </a:r>
          </a:p>
        </p:txBody>
      </p:sp>
      <p:sp>
        <p:nvSpPr>
          <p:cNvPr id="11" name="text-22-780-368">
            <a:extLst xmlns:a="http://schemas.openxmlformats.org/drawingml/2006/main">
              <a:ext uri="{FF2B5EF4-FFF2-40B4-BE49-F238E27FC236}">
                <a16:creationId xmlns:a16="http://schemas.microsoft.com/office/drawing/2014/main" id="{BD6480C1-EEC1-47ED-85FC-CB80BC5A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052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324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273"/>
                </a:solidFill>
              </a:defRPr>
            </a:pPr>
            <a:r>
              <a:rPr sz="1425" b="0" i="0">
                <a:solidFill>
                  <a:srgbClr val="526273"/>
                </a:solidFill>
              </a:rPr>
              <a:t>English speed does not compensate for Arabic fragmentation.</a:t>
            </a:r>
          </a:p>
        </p:txBody>
      </p:sp>
      <p:sp>
        <p:nvSpPr>
          <p:cNvPr id="12" name="chart-callout-22-752-455">
            <a:extLst xmlns:a="http://schemas.openxmlformats.org/drawingml/2006/main">
              <a:ext uri="{FF2B5EF4-FFF2-40B4-BE49-F238E27FC236}">
                <a16:creationId xmlns:a16="http://schemas.microsoft.com/office/drawing/2014/main" id="{60CD0297-BA49-4761-858A-AD33BF48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33875"/>
            <a:ext cx="4248150" cy="112395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22-780-475">
            <a:extLst xmlns:a="http://schemas.openxmlformats.org/drawingml/2006/main">
              <a:ext uri="{FF2B5EF4-FFF2-40B4-BE49-F238E27FC236}">
                <a16:creationId xmlns:a16="http://schemas.microsoft.com/office/drawing/2014/main" id="{618B95B5-F3FD-4D54-B115-671B0FF6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243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6C3"/>
                </a:solidFill>
              </a:defRPr>
            </a:pPr>
            <a:r>
              <a:rPr sz="1725" b="1" i="0">
                <a:solidFill>
                  <a:srgbClr val="0B66C3"/>
                </a:solidFill>
              </a:rPr>
              <a:t>Decision</a:t>
            </a:r>
          </a:p>
        </p:txBody>
      </p:sp>
      <p:sp>
        <p:nvSpPr>
          <p:cNvPr id="14" name="text-22-780-513">
            <a:extLst xmlns:a="http://schemas.openxmlformats.org/drawingml/2006/main">
              <a:ext uri="{FF2B5EF4-FFF2-40B4-BE49-F238E27FC236}">
                <a16:creationId xmlns:a16="http://schemas.microsoft.com/office/drawing/2014/main" id="{4E2D3F02-4AE8-497D-B2AB-16E7B7CE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863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273"/>
                </a:solidFill>
              </a:defRPr>
            </a:pPr>
            <a:r>
              <a:rPr sz="1425" b="0" i="0">
                <a:solidFill>
                  <a:srgbClr val="526273"/>
                </a:solidFill>
              </a:rPr>
              <a:t>Measure on Bayan before choosing.</a:t>
            </a:r>
          </a:p>
        </p:txBody>
      </p:sp>
    </p:spTree>
    <p:extLst>
      <p:ext uri="{BB962C8B-B14F-4D97-AF65-F5344CB8AC3E}">
        <p14:creationId xmlns:p14="http://schemas.microsoft.com/office/powerpoint/2010/main" val="16004776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23-42-42">
            <a:extLst xmlns:a="http://schemas.openxmlformats.org/drawingml/2006/main">
              <a:ext uri="{FF2B5EF4-FFF2-40B4-BE49-F238E27FC236}">
                <a16:creationId xmlns:a16="http://schemas.microsoft.com/office/drawing/2014/main" id="{B3E09B1C-46FB-4390-B83D-4F047AAC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M2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0E008916-C62C-4CF7-ADF7-CFC625E6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B2239"/>
                </a:solidFill>
              </a:defRPr>
            </a:pPr>
            <a:r>
              <a:rPr sz="5850" b="1" i="0">
                <a:solidFill>
                  <a:srgbClr val="0B2239"/>
                </a:solidFill>
              </a:rPr>
              <a:t>Attention and the transformer architecture</a:t>
            </a:r>
          </a:p>
        </p:txBody>
      </p:sp>
      <p:sp>
        <p:nvSpPr>
          <p:cNvPr id="3" name="accent-rule-23-42-545">
            <a:extLst xmlns:a="http://schemas.openxmlformats.org/drawingml/2006/main">
              <a:ext uri="{FF2B5EF4-FFF2-40B4-BE49-F238E27FC236}">
                <a16:creationId xmlns:a16="http://schemas.microsoft.com/office/drawing/2014/main" id="{FA530856-62DC-4065-9705-704DC5EE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23-42-575">
            <a:extLst xmlns:a="http://schemas.openxmlformats.org/drawingml/2006/main">
              <a:ext uri="{FF2B5EF4-FFF2-40B4-BE49-F238E27FC236}">
                <a16:creationId xmlns:a16="http://schemas.microsoft.com/office/drawing/2014/main" id="{021975DB-A6C7-4762-B257-D59A6056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26273"/>
                </a:solidFill>
              </a:defRPr>
            </a:pPr>
            <a:r>
              <a:rPr sz="1800" b="0" i="0">
                <a:solidFill>
                  <a:srgbClr val="526273"/>
                </a:solidFill>
              </a:rPr>
              <a:t>Architecture literacy prevents expensive model-family mismatches and makes sequence-length costs predictable.</a:t>
            </a:r>
          </a:p>
        </p:txBody>
      </p:sp>
      <p:sp>
        <p:nvSpPr>
          <p:cNvPr id="5" name="text-23-1180-676">
            <a:extLst xmlns:a="http://schemas.openxmlformats.org/drawingml/2006/main">
              <a:ext uri="{FF2B5EF4-FFF2-40B4-BE49-F238E27FC236}">
                <a16:creationId xmlns:a16="http://schemas.microsoft.com/office/drawing/2014/main" id="{9C154D74-EED6-4D3F-9E5D-F0B54D38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9210875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C87C60-6947-49C0-9F85-76B482D4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M2 thesis</a:t>
            </a:r>
          </a:p>
        </p:txBody>
      </p:sp>
      <p:sp>
        <p:nvSpPr>
          <p:cNvPr id="2" name="title-rule-24-42-119">
            <a:extLst xmlns:a="http://schemas.openxmlformats.org/drawingml/2006/main">
              <a:ext uri="{FF2B5EF4-FFF2-40B4-BE49-F238E27FC236}">
                <a16:creationId xmlns:a16="http://schemas.microsoft.com/office/drawing/2014/main" id="{7859ACE2-FC68-4725-B7C8-6A35ABE0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D33EA6B4-2320-4874-B389-89CF8C02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AD5469A-5C4A-453B-A853-C41BAE88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24</a:t>
            </a:r>
          </a:p>
        </p:txBody>
      </p:sp>
      <p:sp>
        <p:nvSpPr>
          <p:cNvPr id="5" name="text-24-42-185">
            <a:extLst xmlns:a="http://schemas.openxmlformats.org/drawingml/2006/main">
              <a:ext uri="{FF2B5EF4-FFF2-40B4-BE49-F238E27FC236}">
                <a16:creationId xmlns:a16="http://schemas.microsoft.com/office/drawing/2014/main" id="{1CDB6D09-8590-48A2-B0AB-661612D4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2239"/>
                </a:solidFill>
              </a:defRPr>
            </a:pPr>
            <a:r>
              <a:rPr sz="4050" b="1" i="0">
                <a:solidFill>
                  <a:srgbClr val="0B2239"/>
                </a:solidFill>
              </a:rPr>
              <a:t>Architecture literacy prevents expensive model-family mismatches and makes sequence-length costs predictable.</a:t>
            </a:r>
          </a:p>
        </p:txBody>
      </p:sp>
      <p:sp>
        <p:nvSpPr>
          <p:cNvPr id="6" name="statement-accent-24-42-435">
            <a:extLst xmlns:a="http://schemas.openxmlformats.org/drawingml/2006/main">
              <a:ext uri="{FF2B5EF4-FFF2-40B4-BE49-F238E27FC236}">
                <a16:creationId xmlns:a16="http://schemas.microsoft.com/office/drawing/2014/main" id="{646E7FD8-C3A7-446B-9277-64EA6374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95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24-78-448">
            <a:extLst xmlns:a="http://schemas.openxmlformats.org/drawingml/2006/main">
              <a:ext uri="{FF2B5EF4-FFF2-40B4-BE49-F238E27FC236}">
                <a16:creationId xmlns:a16="http://schemas.microsoft.com/office/drawing/2014/main" id="{86F164A6-5F2D-488E-908A-1A8CCEC4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9763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26273"/>
                </a:solidFill>
              </a:defRPr>
            </a:pPr>
            <a:r>
              <a:rPr sz="1875" b="0" i="0">
                <a:solidFill>
                  <a:srgbClr val="526273"/>
                </a:solidFill>
              </a:rPr>
              <a:t>The profession lives in the preprocessing contract, the evaluation slices, and the milliseconds—not in a checkpoint name.</a:t>
            </a:r>
          </a:p>
        </p:txBody>
      </p:sp>
    </p:spTree>
    <p:extLst>
      <p:ext uri="{BB962C8B-B14F-4D97-AF65-F5344CB8AC3E}">
        <p14:creationId xmlns:p14="http://schemas.microsoft.com/office/powerpoint/2010/main" val="11280222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47FAE4-13CD-4A38-BF79-F47752CD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What you will be able to do</a:t>
            </a:r>
          </a:p>
        </p:txBody>
      </p:sp>
      <p:sp>
        <p:nvSpPr>
          <p:cNvPr id="2" name="title-rule-25-42-119">
            <a:extLst xmlns:a="http://schemas.openxmlformats.org/drawingml/2006/main">
              <a:ext uri="{FF2B5EF4-FFF2-40B4-BE49-F238E27FC236}">
                <a16:creationId xmlns:a16="http://schemas.microsoft.com/office/drawing/2014/main" id="{888DC303-23C1-4062-8185-66099AF1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AB17D231-0345-457D-8EB7-32A950C0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2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7A154AB-136F-42D8-A604-CFCB3437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25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B6DF4F24-D231-4149-820A-B8AEA9CE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Compute scaled dot-product attention by hand and in 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Explain multi-head attention and the encoder block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Account for parameters and memory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Choose encoder, decoder, or encoder–decoder per task</a:t>
            </a:r>
          </a:p>
        </p:txBody>
      </p:sp>
      <p:sp>
        <p:nvSpPr>
          <p:cNvPr id="6" name="callout-panel-25-835-175">
            <a:extLst xmlns:a="http://schemas.openxmlformats.org/drawingml/2006/main">
              <a:ext uri="{FF2B5EF4-FFF2-40B4-BE49-F238E27FC236}">
                <a16:creationId xmlns:a16="http://schemas.microsoft.com/office/drawing/2014/main" id="{AE38E3DD-DF7D-4A87-8E2B-FBC52A97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25-865-205">
            <a:extLst xmlns:a="http://schemas.openxmlformats.org/drawingml/2006/main">
              <a:ext uri="{FF2B5EF4-FFF2-40B4-BE49-F238E27FC236}">
                <a16:creationId xmlns:a16="http://schemas.microsoft.com/office/drawing/2014/main" id="{CE19214E-25C3-4197-A6EA-C736CDA3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LEARNING OUTCOME</a:t>
            </a:r>
          </a:p>
        </p:txBody>
      </p:sp>
      <p:sp>
        <p:nvSpPr>
          <p:cNvPr id="8" name="text-25-865-260">
            <a:extLst xmlns:a="http://schemas.openxmlformats.org/drawingml/2006/main">
              <a:ext uri="{FF2B5EF4-FFF2-40B4-BE49-F238E27FC236}">
                <a16:creationId xmlns:a16="http://schemas.microsoft.com/office/drawing/2014/main" id="{2CC8A12C-A429-4AC7-B972-9350B16D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2239"/>
                </a:solidFill>
              </a:defRPr>
            </a:pPr>
            <a:r>
              <a:rPr sz="3300" b="1" i="0">
                <a:solidFill>
                  <a:srgbClr val="0B2239"/>
                </a:solidFill>
              </a:rPr>
              <a:t>M2</a:t>
            </a:r>
          </a:p>
        </p:txBody>
      </p:sp>
      <p:sp>
        <p:nvSpPr>
          <p:cNvPr id="9" name="text-25-865-410">
            <a:extLst xmlns:a="http://schemas.openxmlformats.org/drawingml/2006/main">
              <a:ext uri="{FF2B5EF4-FFF2-40B4-BE49-F238E27FC236}">
                <a16:creationId xmlns:a16="http://schemas.microsoft.com/office/drawing/2014/main" id="{731F59F2-1340-4A1D-913D-5AD5C89C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Every capability produces a component of Bayan and evidence for the capstone.</a:t>
            </a:r>
          </a:p>
        </p:txBody>
      </p:sp>
    </p:spTree>
    <p:extLst>
      <p:ext uri="{BB962C8B-B14F-4D97-AF65-F5344CB8AC3E}">
        <p14:creationId xmlns:p14="http://schemas.microsoft.com/office/powerpoint/2010/main" val="13194951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DFF347-A43E-4008-855E-1429C053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Attention lets every token ask every other token</a:t>
            </a:r>
          </a:p>
        </p:txBody>
      </p:sp>
      <p:sp>
        <p:nvSpPr>
          <p:cNvPr id="2" name="title-rule-26-42-119">
            <a:extLst xmlns:a="http://schemas.openxmlformats.org/drawingml/2006/main">
              <a:ext uri="{FF2B5EF4-FFF2-40B4-BE49-F238E27FC236}">
                <a16:creationId xmlns:a16="http://schemas.microsoft.com/office/drawing/2014/main" id="{0C8D1875-6E6B-485D-AE56-5E7ABC9A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1E6F67DF-29A5-41A7-B7E9-CC7A405D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2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774A4BA-19E0-4F76-ABC2-38599650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26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093DD75F-8AE8-4145-B78E-B4495593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Queries describe what a token seeks, keys what others advertise, and values what they contribute.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Scores are pairwise relevance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Softmax creates a weighted mixture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Masks define which relationships are legal</a:t>
            </a:r>
          </a:p>
        </p:txBody>
      </p:sp>
      <p:sp>
        <p:nvSpPr>
          <p:cNvPr id="6" name="callout-panel-26-835-175">
            <a:extLst xmlns:a="http://schemas.openxmlformats.org/drawingml/2006/main">
              <a:ext uri="{FF2B5EF4-FFF2-40B4-BE49-F238E27FC236}">
                <a16:creationId xmlns:a16="http://schemas.microsoft.com/office/drawing/2014/main" id="{39D1F86F-18F2-4D77-BEE9-EF1DD2A8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26-865-205">
            <a:extLst xmlns:a="http://schemas.openxmlformats.org/drawingml/2006/main">
              <a:ext uri="{FF2B5EF4-FFF2-40B4-BE49-F238E27FC236}">
                <a16:creationId xmlns:a16="http://schemas.microsoft.com/office/drawing/2014/main" id="{9D205BB1-B87B-48EF-9F64-4A3F7D8B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1</a:t>
            </a:r>
          </a:p>
        </p:txBody>
      </p:sp>
      <p:sp>
        <p:nvSpPr>
          <p:cNvPr id="8" name="text-26-865-260">
            <a:extLst xmlns:a="http://schemas.openxmlformats.org/drawingml/2006/main">
              <a:ext uri="{FF2B5EF4-FFF2-40B4-BE49-F238E27FC236}">
                <a16:creationId xmlns:a16="http://schemas.microsoft.com/office/drawing/2014/main" id="{13377EA9-8153-454D-A526-995A9D24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01</a:t>
            </a:r>
          </a:p>
        </p:txBody>
      </p:sp>
      <p:sp>
        <p:nvSpPr>
          <p:cNvPr id="9" name="text-26-865-410">
            <a:extLst xmlns:a="http://schemas.openxmlformats.org/drawingml/2006/main">
              <a:ext uri="{FF2B5EF4-FFF2-40B4-BE49-F238E27FC236}">
                <a16:creationId xmlns:a16="http://schemas.microsoft.com/office/drawing/2014/main" id="{89877510-DAB4-433A-9106-2BC86D65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2.</a:t>
            </a:r>
          </a:p>
        </p:txBody>
      </p:sp>
    </p:spTree>
    <p:extLst>
      <p:ext uri="{BB962C8B-B14F-4D97-AF65-F5344CB8AC3E}">
        <p14:creationId xmlns:p14="http://schemas.microsoft.com/office/powerpoint/2010/main" val="63969339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941645-4059-472B-A195-784A1FB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The √dₖ scale protects gradients</a:t>
            </a:r>
          </a:p>
        </p:txBody>
      </p:sp>
      <p:sp>
        <p:nvSpPr>
          <p:cNvPr id="2" name="title-rule-27-42-119">
            <a:extLst xmlns:a="http://schemas.openxmlformats.org/drawingml/2006/main">
              <a:ext uri="{FF2B5EF4-FFF2-40B4-BE49-F238E27FC236}">
                <a16:creationId xmlns:a16="http://schemas.microsoft.com/office/drawing/2014/main" id="{D94D1D02-D459-4FE9-920C-98DDD059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AB2225F7-3436-4675-98F2-7C929379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2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2423AD-7BE9-4FDB-947F-F17BA8CD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27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9B36A4BB-E7E4-4E46-BDD5-0B5DBB15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Dot products grow with vector dimension. Dividing by the square root keeps softmax away from saturation.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Unscaled logits become too sharp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Stable variance keeps learning useful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The denominator is not decorative</a:t>
            </a:r>
          </a:p>
        </p:txBody>
      </p:sp>
      <p:sp>
        <p:nvSpPr>
          <p:cNvPr id="6" name="callout-panel-27-835-175">
            <a:extLst xmlns:a="http://schemas.openxmlformats.org/drawingml/2006/main">
              <a:ext uri="{FF2B5EF4-FFF2-40B4-BE49-F238E27FC236}">
                <a16:creationId xmlns:a16="http://schemas.microsoft.com/office/drawing/2014/main" id="{76644A65-E73A-40A3-A65B-95792B21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27-865-205">
            <a:extLst xmlns:a="http://schemas.openxmlformats.org/drawingml/2006/main">
              <a:ext uri="{FF2B5EF4-FFF2-40B4-BE49-F238E27FC236}">
                <a16:creationId xmlns:a16="http://schemas.microsoft.com/office/drawing/2014/main" id="{40E2A5C9-E6B0-4525-9E08-C91A6081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2</a:t>
            </a:r>
          </a:p>
        </p:txBody>
      </p:sp>
      <p:sp>
        <p:nvSpPr>
          <p:cNvPr id="8" name="text-27-865-260">
            <a:extLst xmlns:a="http://schemas.openxmlformats.org/drawingml/2006/main">
              <a:ext uri="{FF2B5EF4-FFF2-40B4-BE49-F238E27FC236}">
                <a16:creationId xmlns:a16="http://schemas.microsoft.com/office/drawing/2014/main" id="{437F6DC3-190C-452A-A922-573AC740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02</a:t>
            </a:r>
          </a:p>
        </p:txBody>
      </p:sp>
      <p:sp>
        <p:nvSpPr>
          <p:cNvPr id="9" name="text-27-865-410">
            <a:extLst xmlns:a="http://schemas.openxmlformats.org/drawingml/2006/main">
              <a:ext uri="{FF2B5EF4-FFF2-40B4-BE49-F238E27FC236}">
                <a16:creationId xmlns:a16="http://schemas.microsoft.com/office/drawing/2014/main" id="{669BCFF1-6410-430E-A197-14AF935E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2.</a:t>
            </a:r>
          </a:p>
        </p:txBody>
      </p:sp>
    </p:spTree>
    <p:extLst>
      <p:ext uri="{BB962C8B-B14F-4D97-AF65-F5344CB8AC3E}">
        <p14:creationId xmlns:p14="http://schemas.microsoft.com/office/powerpoint/2010/main" val="96193014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C3A0A6-E60F-401C-B570-65F0C712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Multiple heads learn multiple relationship spaces</a:t>
            </a:r>
          </a:p>
        </p:txBody>
      </p:sp>
      <p:sp>
        <p:nvSpPr>
          <p:cNvPr id="2" name="title-rule-28-42-119">
            <a:extLst xmlns:a="http://schemas.openxmlformats.org/drawingml/2006/main">
              <a:ext uri="{FF2B5EF4-FFF2-40B4-BE49-F238E27FC236}">
                <a16:creationId xmlns:a16="http://schemas.microsoft.com/office/drawing/2014/main" id="{EB8B31FC-F02D-4891-9FBC-ECE9FCFB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643164AB-2028-425B-BF12-2402E37F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2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D08CB1D-A332-4261-8754-D1BE7C66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28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244CFE23-4A29-420A-8B58-289FB26C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Heads project Q/K/V differently, then concatenate. The encoder block wraps attention with residual paths, normalisation, and an MLP.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Heads divide representational labour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Residuals preserve information 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The MLP transforms each position</a:t>
            </a:r>
          </a:p>
        </p:txBody>
      </p:sp>
      <p:sp>
        <p:nvSpPr>
          <p:cNvPr id="6" name="callout-panel-28-835-175">
            <a:extLst xmlns:a="http://schemas.openxmlformats.org/drawingml/2006/main">
              <a:ext uri="{FF2B5EF4-FFF2-40B4-BE49-F238E27FC236}">
                <a16:creationId xmlns:a16="http://schemas.microsoft.com/office/drawing/2014/main" id="{AE40713A-5D16-427C-98D3-21C10559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28-865-205">
            <a:extLst xmlns:a="http://schemas.openxmlformats.org/drawingml/2006/main">
              <a:ext uri="{FF2B5EF4-FFF2-40B4-BE49-F238E27FC236}">
                <a16:creationId xmlns:a16="http://schemas.microsoft.com/office/drawing/2014/main" id="{21018065-87E0-43E7-B149-B48D98CB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3</a:t>
            </a:r>
          </a:p>
        </p:txBody>
      </p:sp>
      <p:sp>
        <p:nvSpPr>
          <p:cNvPr id="8" name="text-28-865-260">
            <a:extLst xmlns:a="http://schemas.openxmlformats.org/drawingml/2006/main">
              <a:ext uri="{FF2B5EF4-FFF2-40B4-BE49-F238E27FC236}">
                <a16:creationId xmlns:a16="http://schemas.microsoft.com/office/drawing/2014/main" id="{32562C51-08C8-4CCF-9DB2-1E335A65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03</a:t>
            </a:r>
          </a:p>
        </p:txBody>
      </p:sp>
      <p:sp>
        <p:nvSpPr>
          <p:cNvPr id="9" name="text-28-865-410">
            <a:extLst xmlns:a="http://schemas.openxmlformats.org/drawingml/2006/main">
              <a:ext uri="{FF2B5EF4-FFF2-40B4-BE49-F238E27FC236}">
                <a16:creationId xmlns:a16="http://schemas.microsoft.com/office/drawing/2014/main" id="{A5121C3C-B36B-400A-B6A7-28D0E5C4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2.</a:t>
            </a:r>
          </a:p>
        </p:txBody>
      </p:sp>
    </p:spTree>
    <p:extLst>
      <p:ext uri="{BB962C8B-B14F-4D97-AF65-F5344CB8AC3E}">
        <p14:creationId xmlns:p14="http://schemas.microsoft.com/office/powerpoint/2010/main" val="196925947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1D3E6D-C0CF-458A-9A23-F8F66CE4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Order and length must be engineered</a:t>
            </a:r>
          </a:p>
        </p:txBody>
      </p:sp>
      <p:sp>
        <p:nvSpPr>
          <p:cNvPr id="2" name="title-rule-29-42-119">
            <a:extLst xmlns:a="http://schemas.openxmlformats.org/drawingml/2006/main">
              <a:ext uri="{FF2B5EF4-FFF2-40B4-BE49-F238E27FC236}">
                <a16:creationId xmlns:a16="http://schemas.microsoft.com/office/drawing/2014/main" id="{C7FD9A57-FA1E-4E0D-8F47-2ADC79E8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EB17B54C-DE64-4BB5-A90F-35881F0E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2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28190AB-C204-4B5D-8E54-002A773A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29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E7E0E808-8148-4D5C-935C-D27B6DD8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Attention is permutation-invariant until position is added, while attention memory grows quadratically with sequence length.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Absolute positions cap BERT at 512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Chunking is cheaper than wishful thinking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Measure p95 and p99 lengths</a:t>
            </a:r>
          </a:p>
        </p:txBody>
      </p:sp>
      <p:sp>
        <p:nvSpPr>
          <p:cNvPr id="6" name="callout-panel-29-835-175">
            <a:extLst xmlns:a="http://schemas.openxmlformats.org/drawingml/2006/main">
              <a:ext uri="{FF2B5EF4-FFF2-40B4-BE49-F238E27FC236}">
                <a16:creationId xmlns:a16="http://schemas.microsoft.com/office/drawing/2014/main" id="{3678659A-95F2-45CF-955B-71983D2E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29-865-205">
            <a:extLst xmlns:a="http://schemas.openxmlformats.org/drawingml/2006/main">
              <a:ext uri="{FF2B5EF4-FFF2-40B4-BE49-F238E27FC236}">
                <a16:creationId xmlns:a16="http://schemas.microsoft.com/office/drawing/2014/main" id="{2FBCEBF7-1A13-4A15-AE53-02FC4BF1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4</a:t>
            </a:r>
          </a:p>
        </p:txBody>
      </p:sp>
      <p:sp>
        <p:nvSpPr>
          <p:cNvPr id="8" name="text-29-865-260">
            <a:extLst xmlns:a="http://schemas.openxmlformats.org/drawingml/2006/main">
              <a:ext uri="{FF2B5EF4-FFF2-40B4-BE49-F238E27FC236}">
                <a16:creationId xmlns:a16="http://schemas.microsoft.com/office/drawing/2014/main" id="{FA89C11B-0F06-4331-94C7-484681BB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04</a:t>
            </a:r>
          </a:p>
        </p:txBody>
      </p:sp>
      <p:sp>
        <p:nvSpPr>
          <p:cNvPr id="9" name="text-29-865-410">
            <a:extLst xmlns:a="http://schemas.openxmlformats.org/drawingml/2006/main">
              <a:ext uri="{FF2B5EF4-FFF2-40B4-BE49-F238E27FC236}">
                <a16:creationId xmlns:a16="http://schemas.microsoft.com/office/drawing/2014/main" id="{1B97507E-91E6-424B-B339-90F29EAD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2.</a:t>
            </a:r>
          </a:p>
        </p:txBody>
      </p:sp>
    </p:spTree>
    <p:extLst>
      <p:ext uri="{BB962C8B-B14F-4D97-AF65-F5344CB8AC3E}">
        <p14:creationId xmlns:p14="http://schemas.microsoft.com/office/powerpoint/2010/main" val="69911137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261FD8-725D-4177-90F2-462014F9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Architecture families inherit their training objective</a:t>
            </a:r>
          </a:p>
        </p:txBody>
      </p:sp>
      <p:sp>
        <p:nvSpPr>
          <p:cNvPr id="2" name="title-rule-30-42-119">
            <a:extLst xmlns:a="http://schemas.openxmlformats.org/drawingml/2006/main">
              <a:ext uri="{FF2B5EF4-FFF2-40B4-BE49-F238E27FC236}">
                <a16:creationId xmlns:a16="http://schemas.microsoft.com/office/drawing/2014/main" id="{FCDB57EE-FABE-46BB-BD01-FE53958B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1814C30D-4586-40B0-A02B-02754C23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2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CF9CCD1-0864-4235-8009-D51845C5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30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5AA8B369-F9FE-4622-ADE1-173FDE24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Encoders understand fixed inputs; decoders generate continuations; encoder–decoders transform one sequence into another.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Classification and NER favour encoders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Generation favours decoders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Translation and summarisation fit encoder–decoders</a:t>
            </a:r>
          </a:p>
        </p:txBody>
      </p:sp>
      <p:sp>
        <p:nvSpPr>
          <p:cNvPr id="6" name="callout-panel-30-835-175">
            <a:extLst xmlns:a="http://schemas.openxmlformats.org/drawingml/2006/main">
              <a:ext uri="{FF2B5EF4-FFF2-40B4-BE49-F238E27FC236}">
                <a16:creationId xmlns:a16="http://schemas.microsoft.com/office/drawing/2014/main" id="{BAD9056A-967C-49DE-A1DA-FF35DA3F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30-865-205">
            <a:extLst xmlns:a="http://schemas.openxmlformats.org/drawingml/2006/main">
              <a:ext uri="{FF2B5EF4-FFF2-40B4-BE49-F238E27FC236}">
                <a16:creationId xmlns:a16="http://schemas.microsoft.com/office/drawing/2014/main" id="{B237BD46-07CB-4603-B6E3-59570FB3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5</a:t>
            </a:r>
          </a:p>
        </p:txBody>
      </p:sp>
      <p:sp>
        <p:nvSpPr>
          <p:cNvPr id="8" name="text-30-865-260">
            <a:extLst xmlns:a="http://schemas.openxmlformats.org/drawingml/2006/main">
              <a:ext uri="{FF2B5EF4-FFF2-40B4-BE49-F238E27FC236}">
                <a16:creationId xmlns:a16="http://schemas.microsoft.com/office/drawing/2014/main" id="{CF9A0185-B039-4389-86B7-1202BB58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05</a:t>
            </a:r>
          </a:p>
        </p:txBody>
      </p:sp>
      <p:sp>
        <p:nvSpPr>
          <p:cNvPr id="9" name="text-30-865-410">
            <a:extLst xmlns:a="http://schemas.openxmlformats.org/drawingml/2006/main">
              <a:ext uri="{FF2B5EF4-FFF2-40B4-BE49-F238E27FC236}">
                <a16:creationId xmlns:a16="http://schemas.microsoft.com/office/drawing/2014/main" id="{6DD5FDD0-9683-40E7-B6D4-8F9C9E95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2.</a:t>
            </a:r>
          </a:p>
        </p:txBody>
      </p:sp>
    </p:spTree>
    <p:extLst>
      <p:ext uri="{BB962C8B-B14F-4D97-AF65-F5344CB8AC3E}">
        <p14:creationId xmlns:p14="http://schemas.microsoft.com/office/powerpoint/2010/main" val="32871849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C05A8C-F74B-461A-8496-66BE4A86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Attention maps are diagnostics, not explanations</a:t>
            </a:r>
          </a:p>
        </p:txBody>
      </p:sp>
      <p:sp>
        <p:nvSpPr>
          <p:cNvPr id="2" name="title-rule-31-42-119">
            <a:extLst xmlns:a="http://schemas.openxmlformats.org/drawingml/2006/main">
              <a:ext uri="{FF2B5EF4-FFF2-40B4-BE49-F238E27FC236}">
                <a16:creationId xmlns:a16="http://schemas.microsoft.com/office/drawing/2014/main" id="{41CCFE3A-D954-46F5-AFBC-6E160594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B6B61BA7-F75A-4E18-A548-96667499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2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F71FCC3-084B-4179-8707-A29413E6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31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3BFCBED7-5F84-436A-AC3B-B9D72400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Maps can reveal pad leakage or unexpected focus, but a high weight is not causal proof of a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Inspect masks first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Compare heads and layers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Pair visual evidence with behavioural tests</a:t>
            </a:r>
          </a:p>
        </p:txBody>
      </p:sp>
      <p:sp>
        <p:nvSpPr>
          <p:cNvPr id="6" name="callout-panel-31-835-175">
            <a:extLst xmlns:a="http://schemas.openxmlformats.org/drawingml/2006/main">
              <a:ext uri="{FF2B5EF4-FFF2-40B4-BE49-F238E27FC236}">
                <a16:creationId xmlns:a16="http://schemas.microsoft.com/office/drawing/2014/main" id="{DB637A48-EDAD-4DC7-B95F-E27F1836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31-865-205">
            <a:extLst xmlns:a="http://schemas.openxmlformats.org/drawingml/2006/main">
              <a:ext uri="{FF2B5EF4-FFF2-40B4-BE49-F238E27FC236}">
                <a16:creationId xmlns:a16="http://schemas.microsoft.com/office/drawing/2014/main" id="{1BF87B92-36AB-42D2-8022-040EEAC2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6</a:t>
            </a:r>
          </a:p>
        </p:txBody>
      </p:sp>
      <p:sp>
        <p:nvSpPr>
          <p:cNvPr id="8" name="text-31-865-260">
            <a:extLst xmlns:a="http://schemas.openxmlformats.org/drawingml/2006/main">
              <a:ext uri="{FF2B5EF4-FFF2-40B4-BE49-F238E27FC236}">
                <a16:creationId xmlns:a16="http://schemas.microsoft.com/office/drawing/2014/main" id="{7031C732-4303-4815-9357-F06F5710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06</a:t>
            </a:r>
          </a:p>
        </p:txBody>
      </p:sp>
      <p:sp>
        <p:nvSpPr>
          <p:cNvPr id="9" name="text-31-865-410">
            <a:extLst xmlns:a="http://schemas.openxmlformats.org/drawingml/2006/main">
              <a:ext uri="{FF2B5EF4-FFF2-40B4-BE49-F238E27FC236}">
                <a16:creationId xmlns:a16="http://schemas.microsoft.com/office/drawing/2014/main" id="{4FFCE9FA-2612-4E59-9B38-950AABE0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2.</a:t>
            </a:r>
          </a:p>
        </p:txBody>
      </p:sp>
    </p:spTree>
    <p:extLst>
      <p:ext uri="{BB962C8B-B14F-4D97-AF65-F5344CB8AC3E}">
        <p14:creationId xmlns:p14="http://schemas.microsoft.com/office/powerpoint/2010/main" val="147529161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7BE2C3-F92A-473D-9EAC-F0D376D6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Failure modes to catch before production</a:t>
            </a:r>
          </a:p>
        </p:txBody>
      </p:sp>
      <p:sp>
        <p:nvSpPr>
          <p:cNvPr id="2" name="title-rule-32-42-119">
            <a:extLst xmlns:a="http://schemas.openxmlformats.org/drawingml/2006/main">
              <a:ext uri="{FF2B5EF4-FFF2-40B4-BE49-F238E27FC236}">
                <a16:creationId xmlns:a16="http://schemas.microsoft.com/office/drawing/2014/main" id="{BD822A0A-0C23-482F-94D1-28B4AAD1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BAE6C3CA-2748-4AEE-8613-385C1293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2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246C3A8-78E2-4F9A-B039-D77BAC73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32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E89D39FB-DE07-4B9E-8751-E9849AD8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Forcing a decoder LLM onto a fixed-label task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Ignoring the O(n²) term during sizing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Treating attention weight as feature importance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Dropping the attention mask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Comparing parameter counts without vocabulary size</a:t>
            </a:r>
          </a:p>
        </p:txBody>
      </p:sp>
      <p:sp>
        <p:nvSpPr>
          <p:cNvPr id="6" name="callout-panel-32-835-175">
            <a:extLst xmlns:a="http://schemas.openxmlformats.org/drawingml/2006/main">
              <a:ext uri="{FF2B5EF4-FFF2-40B4-BE49-F238E27FC236}">
                <a16:creationId xmlns:a16="http://schemas.microsoft.com/office/drawing/2014/main" id="{9B295797-FCA7-49C1-BB9E-35F9388C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32-865-205">
            <a:extLst xmlns:a="http://schemas.openxmlformats.org/drawingml/2006/main">
              <a:ext uri="{FF2B5EF4-FFF2-40B4-BE49-F238E27FC236}">
                <a16:creationId xmlns:a16="http://schemas.microsoft.com/office/drawing/2014/main" id="{D4F1A0F5-3787-4A3B-8D4A-F3BB683F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RULE</a:t>
            </a:r>
          </a:p>
        </p:txBody>
      </p:sp>
      <p:sp>
        <p:nvSpPr>
          <p:cNvPr id="8" name="text-32-865-260">
            <a:extLst xmlns:a="http://schemas.openxmlformats.org/drawingml/2006/main">
              <a:ext uri="{FF2B5EF4-FFF2-40B4-BE49-F238E27FC236}">
                <a16:creationId xmlns:a16="http://schemas.microsoft.com/office/drawing/2014/main" id="{106CC7E0-CF0C-4220-A7A4-50024212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239"/>
                </a:solidFill>
              </a:defRPr>
            </a:pPr>
            <a:r>
              <a:rPr sz="2550" b="1" i="0">
                <a:solidFill>
                  <a:srgbClr val="0B2239"/>
                </a:solidFill>
              </a:rPr>
              <a:t>Make it fail loudly</a:t>
            </a:r>
          </a:p>
        </p:txBody>
      </p:sp>
      <p:sp>
        <p:nvSpPr>
          <p:cNvPr id="9" name="text-32-865-410">
            <a:extLst xmlns:a="http://schemas.openxmlformats.org/drawingml/2006/main">
              <a:ext uri="{FF2B5EF4-FFF2-40B4-BE49-F238E27FC236}">
                <a16:creationId xmlns:a16="http://schemas.microsoft.com/office/drawing/2014/main" id="{95E78A0F-E847-437F-9E96-7F0A33AF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Silent plausibility is the dangerous state.</a:t>
            </a:r>
          </a:p>
        </p:txBody>
      </p:sp>
    </p:spTree>
    <p:extLst>
      <p:ext uri="{BB962C8B-B14F-4D97-AF65-F5344CB8AC3E}">
        <p14:creationId xmlns:p14="http://schemas.microsoft.com/office/powerpoint/2010/main" val="11318528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CF88BD-89D3-4127-A050-A5B2AF4F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Executable pattern</a:t>
            </a:r>
          </a:p>
        </p:txBody>
      </p:sp>
      <p:sp>
        <p:nvSpPr>
          <p:cNvPr id="2" name="title-rule-33-42-119">
            <a:extLst xmlns:a="http://schemas.openxmlformats.org/drawingml/2006/main">
              <a:ext uri="{FF2B5EF4-FFF2-40B4-BE49-F238E27FC236}">
                <a16:creationId xmlns:a16="http://schemas.microsoft.com/office/drawing/2014/main" id="{AFADA07A-5EA7-480E-A530-8DA4E187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A28F30F5-6196-48D8-A05E-5D059A39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2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F3EE9B5-6F25-424F-8CC0-E57F0233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33</a:t>
            </a:r>
          </a:p>
        </p:txBody>
      </p:sp>
      <p:sp>
        <p:nvSpPr>
          <p:cNvPr id="5" name="code-panel-33-42-150">
            <a:extLst xmlns:a="http://schemas.openxmlformats.org/drawingml/2006/main">
              <a:ext uri="{FF2B5EF4-FFF2-40B4-BE49-F238E27FC236}">
                <a16:creationId xmlns:a16="http://schemas.microsoft.com/office/drawing/2014/main" id="{E8DA3BD5-7AA3-44F9-B680-276EFA6F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7239000" cy="4572000"/>
          </a:xfrm>
          <a:prstGeom xmlns:a="http://schemas.openxmlformats.org/drawingml/2006/main" prst="roundRect">
            <a:avLst>
              <a:gd name="adj" fmla="val 833"/>
            </a:avLst>
          </a:prstGeom>
          <a:solidFill xmlns:a="http://schemas.openxmlformats.org/drawingml/2006/main">
            <a:srgbClr val="071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D62F3150-0C9B-496D-871F-0BAE7E80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676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scores = Q @ K.transpose(-2, -1)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scores = scores / math.sqrt(d_k)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scores = scores.masked_fill(mask == 0, -1e9)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weights = scores.softmax(dim=-1)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context = weights @ 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assert context.shape == Q.shape</a:t>
            </a:r>
          </a:p>
        </p:txBody>
      </p:sp>
      <p:sp>
        <p:nvSpPr>
          <p:cNvPr id="7" name="text-33-850-165">
            <a:extLst xmlns:a="http://schemas.openxmlformats.org/drawingml/2006/main">
              <a:ext uri="{FF2B5EF4-FFF2-40B4-BE49-F238E27FC236}">
                <a16:creationId xmlns:a16="http://schemas.microsoft.com/office/drawing/2014/main" id="{29D95BFC-FFDE-4FD5-948F-882E1E33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READ THE CONTRACT</a:t>
            </a:r>
          </a:p>
        </p:txBody>
      </p:sp>
      <p:sp>
        <p:nvSpPr>
          <p:cNvPr id="8" name="text-33-850-220">
            <a:extLst xmlns:a="http://schemas.openxmlformats.org/drawingml/2006/main">
              <a:ext uri="{FF2B5EF4-FFF2-40B4-BE49-F238E27FC236}">
                <a16:creationId xmlns:a16="http://schemas.microsoft.com/office/drawing/2014/main" id="{A6D58C2C-CCF9-4367-9B5E-4FCA39FF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190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Scale before softmax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Mask before normalisation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Test the tensor contract</a:t>
            </a:r>
          </a:p>
        </p:txBody>
      </p:sp>
    </p:spTree>
    <p:extLst>
      <p:ext uri="{BB962C8B-B14F-4D97-AF65-F5344CB8AC3E}">
        <p14:creationId xmlns:p14="http://schemas.microsoft.com/office/powerpoint/2010/main" val="157886862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E424D8-DF43-485B-AAE5-F1B12D30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Apply the concept before the lab</a:t>
            </a:r>
          </a:p>
        </p:txBody>
      </p:sp>
      <p:sp>
        <p:nvSpPr>
          <p:cNvPr id="2" name="title-rule-34-42-119">
            <a:extLst xmlns:a="http://schemas.openxmlformats.org/drawingml/2006/main">
              <a:ext uri="{FF2B5EF4-FFF2-40B4-BE49-F238E27FC236}">
                <a16:creationId xmlns:a16="http://schemas.microsoft.com/office/drawing/2014/main" id="{16F9853C-758C-4956-8361-7B50BD81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6F54937E-7097-40F5-920D-8A66617E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2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4F2E622-C93D-4036-AEB3-998C1128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34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4510A55A-E668-468F-93A9-5C4F75FD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Compute one attention row on paper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Choose an architecture family for three enterprise tasks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Predict which subsystem dominates mBERT parameters</a:t>
            </a:r>
          </a:p>
        </p:txBody>
      </p:sp>
      <p:sp>
        <p:nvSpPr>
          <p:cNvPr id="6" name="callout-panel-34-835-175">
            <a:extLst xmlns:a="http://schemas.openxmlformats.org/drawingml/2006/main">
              <a:ext uri="{FF2B5EF4-FFF2-40B4-BE49-F238E27FC236}">
                <a16:creationId xmlns:a16="http://schemas.microsoft.com/office/drawing/2014/main" id="{D23D1373-0BED-4B23-B224-C77238F0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34-865-205">
            <a:extLst xmlns:a="http://schemas.openxmlformats.org/drawingml/2006/main">
              <a:ext uri="{FF2B5EF4-FFF2-40B4-BE49-F238E27FC236}">
                <a16:creationId xmlns:a16="http://schemas.microsoft.com/office/drawing/2014/main" id="{35E8A287-DA75-453F-A149-91E727A6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ACTIVITY</a:t>
            </a:r>
          </a:p>
        </p:txBody>
      </p:sp>
      <p:sp>
        <p:nvSpPr>
          <p:cNvPr id="8" name="text-34-865-260">
            <a:extLst xmlns:a="http://schemas.openxmlformats.org/drawingml/2006/main">
              <a:ext uri="{FF2B5EF4-FFF2-40B4-BE49-F238E27FC236}">
                <a16:creationId xmlns:a16="http://schemas.microsoft.com/office/drawing/2014/main" id="{2CAFB89B-9397-4059-9888-BB5C0CB8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2239"/>
                </a:solidFill>
              </a:defRPr>
            </a:pPr>
            <a:r>
              <a:rPr sz="3300" b="1" i="0">
                <a:solidFill>
                  <a:srgbClr val="0B2239"/>
                </a:solidFill>
              </a:rPr>
              <a:t>10 min</a:t>
            </a:r>
          </a:p>
        </p:txBody>
      </p:sp>
      <p:sp>
        <p:nvSpPr>
          <p:cNvPr id="9" name="text-34-865-410">
            <a:extLst xmlns:a="http://schemas.openxmlformats.org/drawingml/2006/main">
              <a:ext uri="{FF2B5EF4-FFF2-40B4-BE49-F238E27FC236}">
                <a16:creationId xmlns:a16="http://schemas.microsoft.com/office/drawing/2014/main" id="{E581C45B-5EC7-4E94-A2C1-28C97EEB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Predict first; measure second; defend the evidence.</a:t>
            </a:r>
          </a:p>
        </p:txBody>
      </p:sp>
    </p:spTree>
    <p:extLst>
      <p:ext uri="{BB962C8B-B14F-4D97-AF65-F5344CB8AC3E}">
        <p14:creationId xmlns:p14="http://schemas.microsoft.com/office/powerpoint/2010/main" val="12919378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7ED572-DC9E-472C-8FB7-AED91CCE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Lab 2 — Anatomy of a transformer</a:t>
            </a:r>
          </a:p>
        </p:txBody>
      </p:sp>
      <p:sp>
        <p:nvSpPr>
          <p:cNvPr id="2" name="title-rule-35-42-119">
            <a:extLst xmlns:a="http://schemas.openxmlformats.org/drawingml/2006/main">
              <a:ext uri="{FF2B5EF4-FFF2-40B4-BE49-F238E27FC236}">
                <a16:creationId xmlns:a16="http://schemas.microsoft.com/office/drawing/2014/main" id="{447D65FF-2BE8-4788-BE44-7A1C7225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8A641B1-31A1-49A6-BD68-EC288E81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2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1352822-E442-4CC5-8456-28D6F741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35</a:t>
            </a:r>
          </a:p>
        </p:txBody>
      </p:sp>
      <p:sp>
        <p:nvSpPr>
          <p:cNvPr id="5" name="text-35-52-160">
            <a:extLst xmlns:a="http://schemas.openxmlformats.org/drawingml/2006/main">
              <a:ext uri="{FF2B5EF4-FFF2-40B4-BE49-F238E27FC236}">
                <a16:creationId xmlns:a16="http://schemas.microsoft.com/office/drawing/2014/main" id="{6C8181CE-A9D6-4704-9315-7E56E5A6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BUILD</a:t>
            </a:r>
          </a:p>
        </p:txBody>
      </p:sp>
      <p:sp>
        <p:nvSpPr>
          <p:cNvPr id="6" name="text-35-52-220">
            <a:extLst xmlns:a="http://schemas.openxmlformats.org/drawingml/2006/main">
              <a:ext uri="{FF2B5EF4-FFF2-40B4-BE49-F238E27FC236}">
                <a16:creationId xmlns:a16="http://schemas.microsoft.com/office/drawing/2014/main" id="{70A1B689-3719-4C6B-85D0-7EB33BB1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01</a:t>
            </a:r>
          </a:p>
        </p:txBody>
      </p:sp>
      <p:sp>
        <p:nvSpPr>
          <p:cNvPr id="7" name="text-35-122-220">
            <a:extLst xmlns:a="http://schemas.openxmlformats.org/drawingml/2006/main">
              <a:ext uri="{FF2B5EF4-FFF2-40B4-BE49-F238E27FC236}">
                <a16:creationId xmlns:a16="http://schemas.microsoft.com/office/drawing/2014/main" id="{D58A24DD-6810-48F8-8375-71BEAFEE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Reproduce attention from scratch and with PyTorch</a:t>
            </a:r>
          </a:p>
        </p:txBody>
      </p:sp>
      <p:sp>
        <p:nvSpPr>
          <p:cNvPr id="8" name="text-35-52-312">
            <a:extLst xmlns:a="http://schemas.openxmlformats.org/drawingml/2006/main">
              <a:ext uri="{FF2B5EF4-FFF2-40B4-BE49-F238E27FC236}">
                <a16:creationId xmlns:a16="http://schemas.microsoft.com/office/drawing/2014/main" id="{1F22A227-2188-4DB5-9DA5-9A9E0ADC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02</a:t>
            </a:r>
          </a:p>
        </p:txBody>
      </p:sp>
      <p:sp>
        <p:nvSpPr>
          <p:cNvPr id="9" name="text-35-122-312">
            <a:extLst xmlns:a="http://schemas.openxmlformats.org/drawingml/2006/main">
              <a:ext uri="{FF2B5EF4-FFF2-40B4-BE49-F238E27FC236}">
                <a16:creationId xmlns:a16="http://schemas.microsoft.com/office/drawing/2014/main" id="{A11DB344-CEAE-4598-B41D-A973E062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Count BERT-family parameters by subsystem</a:t>
            </a:r>
          </a:p>
        </p:txBody>
      </p:sp>
      <p:sp>
        <p:nvSpPr>
          <p:cNvPr id="10" name="text-35-52-404">
            <a:extLst xmlns:a="http://schemas.openxmlformats.org/drawingml/2006/main">
              <a:ext uri="{FF2B5EF4-FFF2-40B4-BE49-F238E27FC236}">
                <a16:creationId xmlns:a16="http://schemas.microsoft.com/office/drawing/2014/main" id="{D61585AD-0658-40BC-BB46-DCD502BC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03</a:t>
            </a:r>
          </a:p>
        </p:txBody>
      </p:sp>
      <p:sp>
        <p:nvSpPr>
          <p:cNvPr id="11" name="text-35-122-404">
            <a:extLst xmlns:a="http://schemas.openxmlformats.org/drawingml/2006/main">
              <a:ext uri="{FF2B5EF4-FFF2-40B4-BE49-F238E27FC236}">
                <a16:creationId xmlns:a16="http://schemas.microsoft.com/office/drawing/2014/main" id="{18CA541F-6CCD-4011-86C4-1F35A8D5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Inspect Arabic and English attention heads</a:t>
            </a:r>
          </a:p>
        </p:txBody>
      </p:sp>
      <p:sp>
        <p:nvSpPr>
          <p:cNvPr id="12" name="text-35-52-496">
            <a:extLst xmlns:a="http://schemas.openxmlformats.org/drawingml/2006/main">
              <a:ext uri="{FF2B5EF4-FFF2-40B4-BE49-F238E27FC236}">
                <a16:creationId xmlns:a16="http://schemas.microsoft.com/office/drawing/2014/main" id="{F54F5810-1226-43AE-A5E6-B33F97CC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04</a:t>
            </a:r>
          </a:p>
        </p:txBody>
      </p:sp>
      <p:sp>
        <p:nvSpPr>
          <p:cNvPr id="13" name="text-35-122-496">
            <a:extLst xmlns:a="http://schemas.openxmlformats.org/drawingml/2006/main">
              <a:ext uri="{FF2B5EF4-FFF2-40B4-BE49-F238E27FC236}">
                <a16:creationId xmlns:a16="http://schemas.microsoft.com/office/drawing/2014/main" id="{22D820CA-9D68-493A-94CC-44D76ED1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244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Reveal and fix pad-attention leakage</a:t>
            </a:r>
          </a:p>
        </p:txBody>
      </p:sp>
      <p:sp>
        <p:nvSpPr>
          <p:cNvPr id="14" name="evidence-panel-35-820-175">
            <a:extLst xmlns:a="http://schemas.openxmlformats.org/drawingml/2006/main">
              <a:ext uri="{FF2B5EF4-FFF2-40B4-BE49-F238E27FC236}">
                <a16:creationId xmlns:a16="http://schemas.microsoft.com/office/drawing/2014/main" id="{AC37CB12-81C5-41D8-800C-BAE55611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3600450" cy="3905250"/>
          </a:xfrm>
          <a:prstGeom xmlns:a="http://schemas.openxmlformats.org/drawingml/2006/main" prst="roundRect">
            <a:avLst>
              <a:gd name="adj" fmla="val 105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5" name="text-35-850-205">
            <a:extLst xmlns:a="http://schemas.openxmlformats.org/drawingml/2006/main">
              <a:ext uri="{FF2B5EF4-FFF2-40B4-BE49-F238E27FC236}">
                <a16:creationId xmlns:a16="http://schemas.microsoft.com/office/drawing/2014/main" id="{D2A9CA4C-DCF0-4331-B93D-F2262123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66C3"/>
                </a:solidFill>
              </a:defRPr>
            </a:pPr>
            <a:r>
              <a:rPr sz="1275" b="1" i="0">
                <a:solidFill>
                  <a:srgbClr val="0B66C3"/>
                </a:solidFill>
              </a:rPr>
              <a:t>EVIDENCE TO COMMIT</a:t>
            </a:r>
          </a:p>
        </p:txBody>
      </p:sp>
      <p:sp>
        <p:nvSpPr>
          <p:cNvPr id="16" name="text-35-850-270">
            <a:extLst xmlns:a="http://schemas.openxmlformats.org/drawingml/2006/main">
              <a:ext uri="{FF2B5EF4-FFF2-40B4-BE49-F238E27FC236}">
                <a16:creationId xmlns:a16="http://schemas.microsoft.com/office/drawing/2014/main" id="{7A0EDE3F-4B12-4253-A55F-84350BE1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0003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Numerical equivalence asserts green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Parameter audit explained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Annotated attention map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Pad-mass regression test</a:t>
            </a:r>
          </a:p>
        </p:txBody>
      </p:sp>
    </p:spTree>
    <p:extLst>
      <p:ext uri="{BB962C8B-B14F-4D97-AF65-F5344CB8AC3E}">
        <p14:creationId xmlns:p14="http://schemas.microsoft.com/office/powerpoint/2010/main" val="102650925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E13C6A-5E6F-42CC-A1BF-6759EC94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The transformer encoder preserves a simple contract</a:t>
            </a:r>
          </a:p>
        </p:txBody>
      </p:sp>
      <p:sp>
        <p:nvSpPr>
          <p:cNvPr id="2" name="title-rule-36-42-119">
            <a:extLst xmlns:a="http://schemas.openxmlformats.org/drawingml/2006/main">
              <a:ext uri="{FF2B5EF4-FFF2-40B4-BE49-F238E27FC236}">
                <a16:creationId xmlns:a16="http://schemas.microsoft.com/office/drawing/2014/main" id="{99ADC133-DE4F-48E0-B410-EAA19570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7E2218E7-0126-453D-B310-F1953297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2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F088EC9-A8C8-4539-80B9-D942DE0E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36</a:t>
            </a:r>
          </a:p>
        </p:txBody>
      </p:sp>
      <p:sp>
        <p:nvSpPr>
          <p:cNvPr id="5" name="flow-node-36-55-270">
            <a:extLst xmlns:a="http://schemas.openxmlformats.org/drawingml/2006/main">
              <a:ext uri="{FF2B5EF4-FFF2-40B4-BE49-F238E27FC236}">
                <a16:creationId xmlns:a16="http://schemas.microsoft.com/office/drawing/2014/main" id="{33B21E12-7F1A-4A4A-96AC-9FE3E16B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6" name="flow-node-36-279-270">
            <a:extLst xmlns:a="http://schemas.openxmlformats.org/drawingml/2006/main">
              <a:ext uri="{FF2B5EF4-FFF2-40B4-BE49-F238E27FC236}">
                <a16:creationId xmlns:a16="http://schemas.microsoft.com/office/drawing/2014/main" id="{64C29EE6-6F9F-4266-AA9A-EDA150F2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flow-node-36-503-270">
            <a:extLst xmlns:a="http://schemas.openxmlformats.org/drawingml/2006/main">
              <a:ext uri="{FF2B5EF4-FFF2-40B4-BE49-F238E27FC236}">
                <a16:creationId xmlns:a16="http://schemas.microsoft.com/office/drawing/2014/main" id="{ADA798D5-0B38-40C0-9EA5-F3DA316E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8" name="flow-node-36-727-270">
            <a:extLst xmlns:a="http://schemas.openxmlformats.org/drawingml/2006/main">
              <a:ext uri="{FF2B5EF4-FFF2-40B4-BE49-F238E27FC236}">
                <a16:creationId xmlns:a16="http://schemas.microsoft.com/office/drawing/2014/main" id="{B207FC40-D54C-4488-B8F8-80BEB321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9" name="flow-node-36-951-270">
            <a:extLst xmlns:a="http://schemas.openxmlformats.org/drawingml/2006/main">
              <a:ext uri="{FF2B5EF4-FFF2-40B4-BE49-F238E27FC236}">
                <a16:creationId xmlns:a16="http://schemas.microsoft.com/office/drawing/2014/main" id="{4F856773-A366-4011-8C7D-30B374F2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38375" y="3286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6C3"/>
            </a:solidFill>
            <a:prstDash val="solid"/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71975" y="3286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6C3"/>
            </a:solidFill>
            <a:prstDash val="solid"/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505575" y="3286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6C3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39175" y="3286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6C3"/>
            </a:solidFill>
            <a:prstDash val="solid"/>
            <a:tailEnd type="arrow" w="sm" len="sm"/>
          </a:ln>
        </p:spPr>
      </p:cxnSp>
      <p:sp>
        <p:nvSpPr>
          <p:cNvPr id="14" name="text-36-69-292">
            <a:extLst xmlns:a="http://schemas.openxmlformats.org/drawingml/2006/main">
              <a:ext uri="{FF2B5EF4-FFF2-40B4-BE49-F238E27FC236}">
                <a16:creationId xmlns:a16="http://schemas.microsoft.com/office/drawing/2014/main" id="{03AC1F75-D1B0-4C46-AA07-10084710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Tokens</a:t>
            </a:r>
          </a:p>
        </p:txBody>
      </p:sp>
      <p:sp>
        <p:nvSpPr>
          <p:cNvPr id="15" name="text-36-69-345">
            <a:extLst xmlns:a="http://schemas.openxmlformats.org/drawingml/2006/main">
              <a:ext uri="{FF2B5EF4-FFF2-40B4-BE49-F238E27FC236}">
                <a16:creationId xmlns:a16="http://schemas.microsoft.com/office/drawing/2014/main" id="{999BF12B-C9BF-413E-B150-5D2D0688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ids + positions</a:t>
            </a:r>
          </a:p>
        </p:txBody>
      </p:sp>
      <p:sp>
        <p:nvSpPr>
          <p:cNvPr id="16" name="text-36-293-292">
            <a:extLst xmlns:a="http://schemas.openxmlformats.org/drawingml/2006/main">
              <a:ext uri="{FF2B5EF4-FFF2-40B4-BE49-F238E27FC236}">
                <a16:creationId xmlns:a16="http://schemas.microsoft.com/office/drawing/2014/main" id="{469CCC88-D5CE-4E3A-BE2E-25A94089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Attention</a:t>
            </a:r>
          </a:p>
        </p:txBody>
      </p:sp>
      <p:sp>
        <p:nvSpPr>
          <p:cNvPr id="17" name="text-36-293-345">
            <a:extLst xmlns:a="http://schemas.openxmlformats.org/drawingml/2006/main">
              <a:ext uri="{FF2B5EF4-FFF2-40B4-BE49-F238E27FC236}">
                <a16:creationId xmlns:a16="http://schemas.microsoft.com/office/drawing/2014/main" id="{F0B64DCD-2EA3-459E-B537-C3D267F7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Q · K → weights</a:t>
            </a:r>
          </a:p>
        </p:txBody>
      </p:sp>
      <p:sp>
        <p:nvSpPr>
          <p:cNvPr id="18" name="text-36-517-292">
            <a:extLst xmlns:a="http://schemas.openxmlformats.org/drawingml/2006/main">
              <a:ext uri="{FF2B5EF4-FFF2-40B4-BE49-F238E27FC236}">
                <a16:creationId xmlns:a16="http://schemas.microsoft.com/office/drawing/2014/main" id="{7F3F3B54-A67A-4731-8934-0BED2340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Residual</a:t>
            </a:r>
          </a:p>
        </p:txBody>
      </p:sp>
      <p:sp>
        <p:nvSpPr>
          <p:cNvPr id="19" name="text-36-517-345">
            <a:extLst xmlns:a="http://schemas.openxmlformats.org/drawingml/2006/main">
              <a:ext uri="{FF2B5EF4-FFF2-40B4-BE49-F238E27FC236}">
                <a16:creationId xmlns:a16="http://schemas.microsoft.com/office/drawing/2014/main" id="{95A8E258-C622-4615-8795-1DA32D10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add + normalise</a:t>
            </a:r>
          </a:p>
        </p:txBody>
      </p:sp>
      <p:sp>
        <p:nvSpPr>
          <p:cNvPr id="20" name="text-36-741-292">
            <a:extLst xmlns:a="http://schemas.openxmlformats.org/drawingml/2006/main">
              <a:ext uri="{FF2B5EF4-FFF2-40B4-BE49-F238E27FC236}">
                <a16:creationId xmlns:a16="http://schemas.microsoft.com/office/drawing/2014/main" id="{F9E75916-D2BB-4B70-AB65-12FADE55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MLP</a:t>
            </a:r>
          </a:p>
        </p:txBody>
      </p:sp>
      <p:sp>
        <p:nvSpPr>
          <p:cNvPr id="21" name="text-36-741-345">
            <a:extLst xmlns:a="http://schemas.openxmlformats.org/drawingml/2006/main">
              <a:ext uri="{FF2B5EF4-FFF2-40B4-BE49-F238E27FC236}">
                <a16:creationId xmlns:a16="http://schemas.microsoft.com/office/drawing/2014/main" id="{6624B2A1-C8BC-438C-A5A3-C6FDCAB9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per-token transform</a:t>
            </a:r>
          </a:p>
        </p:txBody>
      </p:sp>
      <p:sp>
        <p:nvSpPr>
          <p:cNvPr id="22" name="text-36-965-292">
            <a:extLst xmlns:a="http://schemas.openxmlformats.org/drawingml/2006/main">
              <a:ext uri="{FF2B5EF4-FFF2-40B4-BE49-F238E27FC236}">
                <a16:creationId xmlns:a16="http://schemas.microsoft.com/office/drawing/2014/main" id="{0869BB60-A3C5-4559-81CB-9D82D7D0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Output</a:t>
            </a:r>
          </a:p>
        </p:txBody>
      </p:sp>
      <p:sp>
        <p:nvSpPr>
          <p:cNvPr id="23" name="text-36-965-345">
            <a:extLst xmlns:a="http://schemas.openxmlformats.org/drawingml/2006/main">
              <a:ext uri="{FF2B5EF4-FFF2-40B4-BE49-F238E27FC236}">
                <a16:creationId xmlns:a16="http://schemas.microsoft.com/office/drawing/2014/main" id="{E7A9868C-6CA4-4054-B23C-9AC9C0F2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contextual vectors</a:t>
            </a:r>
          </a:p>
        </p:txBody>
      </p:sp>
      <p:sp>
        <p:nvSpPr>
          <p:cNvPr id="24" name="text-36-250-500">
            <a:extLst xmlns:a="http://schemas.openxmlformats.org/drawingml/2006/main">
              <a:ext uri="{FF2B5EF4-FFF2-40B4-BE49-F238E27FC236}">
                <a16:creationId xmlns:a16="http://schemas.microsoft.com/office/drawing/2014/main" id="{ACE3F16C-F2D5-457B-90CA-0B82C679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B2239"/>
                </a:solidFill>
              </a:defRPr>
            </a:pPr>
            <a:r>
              <a:rPr sz="2550" b="1" i="0">
                <a:solidFill>
                  <a:srgbClr val="0B2239"/>
                </a:solidFill>
              </a:rPr>
              <a:t>Every boundary is versioned, measured, and tested.</a:t>
            </a:r>
          </a:p>
        </p:txBody>
      </p:sp>
    </p:spTree>
    <p:extLst>
      <p:ext uri="{BB962C8B-B14F-4D97-AF65-F5344CB8AC3E}">
        <p14:creationId xmlns:p14="http://schemas.microsoft.com/office/powerpoint/2010/main" val="50402772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FDF19-63E0-4567-8832-D699CE62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Day 1 checkpoint</a:t>
            </a:r>
          </a:p>
        </p:txBody>
      </p:sp>
      <p:sp>
        <p:nvSpPr>
          <p:cNvPr id="2" name="title-rule-37-42-119">
            <a:extLst xmlns:a="http://schemas.openxmlformats.org/drawingml/2006/main">
              <a:ext uri="{FF2B5EF4-FFF2-40B4-BE49-F238E27FC236}">
                <a16:creationId xmlns:a16="http://schemas.microsoft.com/office/drawing/2014/main" id="{8953E6B6-9CAF-4F47-B716-C4A26D77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B8EDDA95-856B-46C5-BCC8-DE892166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5C61FDF-EF5E-44F1-8C71-ED8E95C0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37</a:t>
            </a:r>
          </a:p>
        </p:txBody>
      </p:sp>
      <p:sp>
        <p:nvSpPr>
          <p:cNvPr id="5" name="text-37-42-185">
            <a:extLst xmlns:a="http://schemas.openxmlformats.org/drawingml/2006/main">
              <a:ext uri="{FF2B5EF4-FFF2-40B4-BE49-F238E27FC236}">
                <a16:creationId xmlns:a16="http://schemas.microsoft.com/office/drawing/2014/main" id="{492B2DCF-5702-4DA8-AD52-1EFDA3C7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2239"/>
                </a:solidFill>
              </a:defRPr>
            </a:pPr>
            <a:r>
              <a:rPr sz="4050" b="1" i="0">
                <a:solidFill>
                  <a:srgbClr val="0B2239"/>
                </a:solidFill>
              </a:rPr>
              <a:t>If your preprocessing contract drifts, every later metric is fiction.</a:t>
            </a:r>
          </a:p>
        </p:txBody>
      </p:sp>
      <p:sp>
        <p:nvSpPr>
          <p:cNvPr id="6" name="statement-accent-37-42-435">
            <a:extLst xmlns:a="http://schemas.openxmlformats.org/drawingml/2006/main">
              <a:ext uri="{FF2B5EF4-FFF2-40B4-BE49-F238E27FC236}">
                <a16:creationId xmlns:a16="http://schemas.microsoft.com/office/drawing/2014/main" id="{0C8A0672-40E9-4E3A-A21C-4F9E0602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95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37-78-448">
            <a:extLst xmlns:a="http://schemas.openxmlformats.org/drawingml/2006/main">
              <a:ext uri="{FF2B5EF4-FFF2-40B4-BE49-F238E27FC236}">
                <a16:creationId xmlns:a16="http://schemas.microsoft.com/office/drawing/2014/main" id="{B6006C71-B84E-4689-8B56-3A2A92CE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9763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26273"/>
                </a:solidFill>
              </a:defRPr>
            </a:pPr>
            <a:r>
              <a:rPr sz="1875" b="0" i="0">
                <a:solidFill>
                  <a:srgbClr val="526273"/>
                </a:solidFill>
              </a:rPr>
              <a:t>Commit the tokenizer decision, golden tests, attention equivalence, parameter audit, and pad-leak regression before Day 2.</a:t>
            </a:r>
          </a:p>
        </p:txBody>
      </p:sp>
    </p:spTree>
    <p:extLst>
      <p:ext uri="{BB962C8B-B14F-4D97-AF65-F5344CB8AC3E}">
        <p14:creationId xmlns:p14="http://schemas.microsoft.com/office/powerpoint/2010/main" val="8937684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38-42-42">
            <a:extLst xmlns:a="http://schemas.openxmlformats.org/drawingml/2006/main">
              <a:ext uri="{FF2B5EF4-FFF2-40B4-BE49-F238E27FC236}">
                <a16:creationId xmlns:a16="http://schemas.microsoft.com/office/drawing/2014/main" id="{F01D0EC8-D3DF-4A6D-9855-48408343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DAY 2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8613810D-C3A7-4052-8B0E-2E0CE78E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B2239"/>
                </a:solidFill>
              </a:defRPr>
            </a:pPr>
            <a:r>
              <a:rPr sz="5850" b="1" i="0">
                <a:solidFill>
                  <a:srgbClr val="0B2239"/>
                </a:solidFill>
              </a:rPr>
              <a:t>Make the model yours</a:t>
            </a:r>
          </a:p>
        </p:txBody>
      </p:sp>
      <p:sp>
        <p:nvSpPr>
          <p:cNvPr id="3" name="accent-rule-38-42-545">
            <a:extLst xmlns:a="http://schemas.openxmlformats.org/drawingml/2006/main">
              <a:ext uri="{FF2B5EF4-FFF2-40B4-BE49-F238E27FC236}">
                <a16:creationId xmlns:a16="http://schemas.microsoft.com/office/drawing/2014/main" id="{BCED6C8F-0A7F-4594-9F8E-0EEC9B45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38-42-575">
            <a:extLst xmlns:a="http://schemas.openxmlformats.org/drawingml/2006/main">
              <a:ext uri="{FF2B5EF4-FFF2-40B4-BE49-F238E27FC236}">
                <a16:creationId xmlns:a16="http://schemas.microsoft.com/office/drawing/2014/main" id="{1513A616-6080-45A6-B506-6A8C5D18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26273"/>
                </a:solidFill>
              </a:defRPr>
            </a:pPr>
            <a:r>
              <a:rPr sz="1800" b="0" i="0">
                <a:solidFill>
                  <a:srgbClr val="526273"/>
                </a:solidFill>
              </a:rPr>
              <a:t>Fine-tune the three workhorse task heads, then expose the Arabic failure modes the multilingual defaults hide.</a:t>
            </a:r>
          </a:p>
        </p:txBody>
      </p:sp>
      <p:sp>
        <p:nvSpPr>
          <p:cNvPr id="5" name="text-38-1180-676">
            <a:extLst xmlns:a="http://schemas.openxmlformats.org/drawingml/2006/main">
              <a:ext uri="{FF2B5EF4-FFF2-40B4-BE49-F238E27FC236}">
                <a16:creationId xmlns:a16="http://schemas.microsoft.com/office/drawing/2014/main" id="{299EF803-6121-4802-9B8D-4E0E1CBC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51105767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39-42-42">
            <a:extLst xmlns:a="http://schemas.openxmlformats.org/drawingml/2006/main">
              <a:ext uri="{FF2B5EF4-FFF2-40B4-BE49-F238E27FC236}">
                <a16:creationId xmlns:a16="http://schemas.microsoft.com/office/drawing/2014/main" id="{BB58306F-7EEC-4EFE-8A51-1656C1C4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M3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2901B768-3DF9-4076-9927-00B6760E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B2239"/>
                </a:solidFill>
              </a:defRPr>
            </a:pPr>
            <a:r>
              <a:rPr sz="5850" b="1" i="0">
                <a:solidFill>
                  <a:srgbClr val="0B2239"/>
                </a:solidFill>
              </a:rPr>
              <a:t>Fine-tuning BERT-family models</a:t>
            </a:r>
          </a:p>
        </p:txBody>
      </p:sp>
      <p:sp>
        <p:nvSpPr>
          <p:cNvPr id="3" name="accent-rule-39-42-545">
            <a:extLst xmlns:a="http://schemas.openxmlformats.org/drawingml/2006/main">
              <a:ext uri="{FF2B5EF4-FFF2-40B4-BE49-F238E27FC236}">
                <a16:creationId xmlns:a16="http://schemas.microsoft.com/office/drawing/2014/main" id="{B0275CD0-D1AC-454A-A89D-80ECF38D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39-42-575">
            <a:extLst xmlns:a="http://schemas.openxmlformats.org/drawingml/2006/main">
              <a:ext uri="{FF2B5EF4-FFF2-40B4-BE49-F238E27FC236}">
                <a16:creationId xmlns:a16="http://schemas.microsoft.com/office/drawing/2014/main" id="{322A4015-EF80-4BDD-BB46-6E6C5EE3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26273"/>
                </a:solidFill>
              </a:defRPr>
            </a:pPr>
            <a:r>
              <a:rPr sz="1800" b="0" i="0">
                <a:solidFill>
                  <a:srgbClr val="526273"/>
                </a:solidFill>
              </a:rPr>
              <a:t>Fine-tuned encoders remain the highest accuracy-per-riyal option for fixed-schema enterprise NLP—when splits, alignment, and evaluation are honest.</a:t>
            </a:r>
          </a:p>
        </p:txBody>
      </p:sp>
      <p:sp>
        <p:nvSpPr>
          <p:cNvPr id="5" name="text-39-1180-676">
            <a:extLst xmlns:a="http://schemas.openxmlformats.org/drawingml/2006/main">
              <a:ext uri="{FF2B5EF4-FFF2-40B4-BE49-F238E27FC236}">
                <a16:creationId xmlns:a16="http://schemas.microsoft.com/office/drawing/2014/main" id="{E8636905-182D-457F-A7E7-8532ED34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3071340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60554E-2F9D-451F-AB3C-5A50F25C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M3 thesis</a:t>
            </a:r>
          </a:p>
        </p:txBody>
      </p:sp>
      <p:sp>
        <p:nvSpPr>
          <p:cNvPr id="2" name="title-rule-40-42-119">
            <a:extLst xmlns:a="http://schemas.openxmlformats.org/drawingml/2006/main">
              <a:ext uri="{FF2B5EF4-FFF2-40B4-BE49-F238E27FC236}">
                <a16:creationId xmlns:a16="http://schemas.microsoft.com/office/drawing/2014/main" id="{0F37ED60-13A1-4DB1-8123-313157D5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E407F813-A92A-4881-AAA9-B6B1A220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C0CE785-F946-47B8-B4A0-4DDC88FC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40</a:t>
            </a:r>
          </a:p>
        </p:txBody>
      </p:sp>
      <p:sp>
        <p:nvSpPr>
          <p:cNvPr id="5" name="text-40-42-185">
            <a:extLst xmlns:a="http://schemas.openxmlformats.org/drawingml/2006/main">
              <a:ext uri="{FF2B5EF4-FFF2-40B4-BE49-F238E27FC236}">
                <a16:creationId xmlns:a16="http://schemas.microsoft.com/office/drawing/2014/main" id="{7D070EE9-218A-4AA6-8414-B133303A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83662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2239"/>
                </a:solidFill>
              </a:defRPr>
            </a:pPr>
            <a:r>
              <a:rPr sz="4050" b="1" i="0">
                <a:solidFill>
                  <a:srgbClr val="0B2239"/>
                </a:solidFill>
              </a:rPr>
              <a:t>Fine-tuned encoders remain the highest accuracy-per-riyal option for fixed-schema enterprise NLP—when splits, alignment, and evaluation are honest.</a:t>
            </a:r>
          </a:p>
        </p:txBody>
      </p:sp>
      <p:sp>
        <p:nvSpPr>
          <p:cNvPr id="6" name="statement-accent-40-42-435">
            <a:extLst xmlns:a="http://schemas.openxmlformats.org/drawingml/2006/main">
              <a:ext uri="{FF2B5EF4-FFF2-40B4-BE49-F238E27FC236}">
                <a16:creationId xmlns:a16="http://schemas.microsoft.com/office/drawing/2014/main" id="{EF4B96DD-71FA-447F-B0C0-FF3E036C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95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40-78-448">
            <a:extLst xmlns:a="http://schemas.openxmlformats.org/drawingml/2006/main">
              <a:ext uri="{FF2B5EF4-FFF2-40B4-BE49-F238E27FC236}">
                <a16:creationId xmlns:a16="http://schemas.microsoft.com/office/drawing/2014/main" id="{FB3889FC-1424-4665-BAA7-FD358A6F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9763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26273"/>
                </a:solidFill>
              </a:defRPr>
            </a:pPr>
            <a:r>
              <a:rPr sz="1875" b="0" i="0">
                <a:solidFill>
                  <a:srgbClr val="526273"/>
                </a:solidFill>
              </a:rPr>
              <a:t>The profession lives in the preprocessing contract, the evaluation slices, and the milliseconds—not in a checkpoint name.</a:t>
            </a:r>
          </a:p>
        </p:txBody>
      </p:sp>
    </p:spTree>
    <p:extLst>
      <p:ext uri="{BB962C8B-B14F-4D97-AF65-F5344CB8AC3E}">
        <p14:creationId xmlns:p14="http://schemas.microsoft.com/office/powerpoint/2010/main" val="105883297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3ACB04-E720-4009-A74A-18D31A2D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What you will be able to do</a:t>
            </a:r>
          </a:p>
        </p:txBody>
      </p:sp>
      <p:sp>
        <p:nvSpPr>
          <p:cNvPr id="2" name="title-rule-41-42-119">
            <a:extLst xmlns:a="http://schemas.openxmlformats.org/drawingml/2006/main">
              <a:ext uri="{FF2B5EF4-FFF2-40B4-BE49-F238E27FC236}">
                <a16:creationId xmlns:a16="http://schemas.microsoft.com/office/drawing/2014/main" id="{2D081561-9746-4C9C-BFE6-C2703135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E802F1A0-6365-47C0-8DD7-B6601D7E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3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D50E95B-F8DA-4526-A1A4-555D2963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41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E7F9B914-4551-44BE-809B-F5723BAC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Prepare grouped and stratified dataset splits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Fine-tune topic and sentiment classifiers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Align BIO labels across subwords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Handle extractive QA spans and null answers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Diagnose overfit, collapse, leakage, and seed variance</a:t>
            </a:r>
          </a:p>
        </p:txBody>
      </p:sp>
      <p:sp>
        <p:nvSpPr>
          <p:cNvPr id="6" name="callout-panel-41-835-175">
            <a:extLst xmlns:a="http://schemas.openxmlformats.org/drawingml/2006/main">
              <a:ext uri="{FF2B5EF4-FFF2-40B4-BE49-F238E27FC236}">
                <a16:creationId xmlns:a16="http://schemas.microsoft.com/office/drawing/2014/main" id="{AC027E22-07A4-496A-AF86-A46251B3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41-865-205">
            <a:extLst xmlns:a="http://schemas.openxmlformats.org/drawingml/2006/main">
              <a:ext uri="{FF2B5EF4-FFF2-40B4-BE49-F238E27FC236}">
                <a16:creationId xmlns:a16="http://schemas.microsoft.com/office/drawing/2014/main" id="{808FB926-AF4A-4457-A9D6-DD1E23C3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LEARNING OUTCOME</a:t>
            </a:r>
          </a:p>
        </p:txBody>
      </p:sp>
      <p:sp>
        <p:nvSpPr>
          <p:cNvPr id="8" name="text-41-865-260">
            <a:extLst xmlns:a="http://schemas.openxmlformats.org/drawingml/2006/main">
              <a:ext uri="{FF2B5EF4-FFF2-40B4-BE49-F238E27FC236}">
                <a16:creationId xmlns:a16="http://schemas.microsoft.com/office/drawing/2014/main" id="{E7AD314A-B5B9-4897-9A58-4138D54A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2239"/>
                </a:solidFill>
              </a:defRPr>
            </a:pPr>
            <a:r>
              <a:rPr sz="3300" b="1" i="0">
                <a:solidFill>
                  <a:srgbClr val="0B2239"/>
                </a:solidFill>
              </a:rPr>
              <a:t>M3</a:t>
            </a:r>
          </a:p>
        </p:txBody>
      </p:sp>
      <p:sp>
        <p:nvSpPr>
          <p:cNvPr id="9" name="text-41-865-410">
            <a:extLst xmlns:a="http://schemas.openxmlformats.org/drawingml/2006/main">
              <a:ext uri="{FF2B5EF4-FFF2-40B4-BE49-F238E27FC236}">
                <a16:creationId xmlns:a16="http://schemas.microsoft.com/office/drawing/2014/main" id="{D49220DE-7D01-453D-9FA8-FEAB1900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Every capability produces a component of Bayan and evidence for the capstone.</a:t>
            </a:r>
          </a:p>
        </p:txBody>
      </p:sp>
    </p:spTree>
    <p:extLst>
      <p:ext uri="{BB962C8B-B14F-4D97-AF65-F5344CB8AC3E}">
        <p14:creationId xmlns:p14="http://schemas.microsoft.com/office/powerpoint/2010/main" val="99385498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649A8F-0749-442E-A97F-7AC754CA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Fine-tuning spends pretrained competence on your task</a:t>
            </a:r>
          </a:p>
        </p:txBody>
      </p:sp>
      <p:sp>
        <p:nvSpPr>
          <p:cNvPr id="2" name="title-rule-42-42-119">
            <a:extLst xmlns:a="http://schemas.openxmlformats.org/drawingml/2006/main">
              <a:ext uri="{FF2B5EF4-FFF2-40B4-BE49-F238E27FC236}">
                <a16:creationId xmlns:a16="http://schemas.microsoft.com/office/drawing/2014/main" id="{4DE4E447-15AC-42C5-81B6-3C1209DD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FE9C52C0-FAE9-4291-8A17-70A98F4D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3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49F8BA6-F796-497A-81D7-C004F8AE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42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60A39F25-1530-4090-8442-7B4BB692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Start with a small learning rate, 2–4 epochs, warmup, metric-driven checkpointing, and early stopping.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The pretrained weights are already valuable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Validation—not training loss—decides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Run multiple seeds for small gains</a:t>
            </a:r>
          </a:p>
        </p:txBody>
      </p:sp>
      <p:sp>
        <p:nvSpPr>
          <p:cNvPr id="6" name="callout-panel-42-835-175">
            <a:extLst xmlns:a="http://schemas.openxmlformats.org/drawingml/2006/main">
              <a:ext uri="{FF2B5EF4-FFF2-40B4-BE49-F238E27FC236}">
                <a16:creationId xmlns:a16="http://schemas.microsoft.com/office/drawing/2014/main" id="{8C583CA7-7453-4801-99E7-F05BD7C7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42-865-205">
            <a:extLst xmlns:a="http://schemas.openxmlformats.org/drawingml/2006/main">
              <a:ext uri="{FF2B5EF4-FFF2-40B4-BE49-F238E27FC236}">
                <a16:creationId xmlns:a16="http://schemas.microsoft.com/office/drawing/2014/main" id="{8A40E68B-13D2-446F-B54E-CCAAD3AD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1</a:t>
            </a:r>
          </a:p>
        </p:txBody>
      </p:sp>
      <p:sp>
        <p:nvSpPr>
          <p:cNvPr id="8" name="text-42-865-260">
            <a:extLst xmlns:a="http://schemas.openxmlformats.org/drawingml/2006/main">
              <a:ext uri="{FF2B5EF4-FFF2-40B4-BE49-F238E27FC236}">
                <a16:creationId xmlns:a16="http://schemas.microsoft.com/office/drawing/2014/main" id="{4F813567-B24E-4B75-B479-1C5334BC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01</a:t>
            </a:r>
          </a:p>
        </p:txBody>
      </p:sp>
      <p:sp>
        <p:nvSpPr>
          <p:cNvPr id="9" name="text-42-865-410">
            <a:extLst xmlns:a="http://schemas.openxmlformats.org/drawingml/2006/main">
              <a:ext uri="{FF2B5EF4-FFF2-40B4-BE49-F238E27FC236}">
                <a16:creationId xmlns:a16="http://schemas.microsoft.com/office/drawing/2014/main" id="{506A7C5A-3724-4740-9672-268CE0ED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3.</a:t>
            </a:r>
          </a:p>
        </p:txBody>
      </p:sp>
    </p:spTree>
    <p:extLst>
      <p:ext uri="{BB962C8B-B14F-4D97-AF65-F5344CB8AC3E}">
        <p14:creationId xmlns:p14="http://schemas.microsoft.com/office/powerpoint/2010/main" val="10298829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BC828C-2BFB-4BBF-892D-95488B2E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Classification adds a small head to a large encoder</a:t>
            </a:r>
          </a:p>
        </p:txBody>
      </p:sp>
      <p:sp>
        <p:nvSpPr>
          <p:cNvPr id="2" name="title-rule-43-42-119">
            <a:extLst xmlns:a="http://schemas.openxmlformats.org/drawingml/2006/main">
              <a:ext uri="{FF2B5EF4-FFF2-40B4-BE49-F238E27FC236}">
                <a16:creationId xmlns:a16="http://schemas.microsoft.com/office/drawing/2014/main" id="{43941473-DD91-4672-A7E0-04E72C27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E1275600-BBFF-481A-BA95-EB7478F3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3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7A8A75E-236C-4D32-B510-E59F1474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43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156D3648-736B-4B25-A336-1B68E4B6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The pooled representation drives topic or sentiment logits; the label schema, baseline, and calibration turn logits into a useful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Use macro-F1 for imbalanced labels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Compare with TF-IDF honestly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Save label mappings with the model</a:t>
            </a:r>
          </a:p>
        </p:txBody>
      </p:sp>
      <p:sp>
        <p:nvSpPr>
          <p:cNvPr id="6" name="callout-panel-43-835-175">
            <a:extLst xmlns:a="http://schemas.openxmlformats.org/drawingml/2006/main">
              <a:ext uri="{FF2B5EF4-FFF2-40B4-BE49-F238E27FC236}">
                <a16:creationId xmlns:a16="http://schemas.microsoft.com/office/drawing/2014/main" id="{A7B209B0-3985-48C7-B889-0F796143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43-865-205">
            <a:extLst xmlns:a="http://schemas.openxmlformats.org/drawingml/2006/main">
              <a:ext uri="{FF2B5EF4-FFF2-40B4-BE49-F238E27FC236}">
                <a16:creationId xmlns:a16="http://schemas.microsoft.com/office/drawing/2014/main" id="{ED6EC18C-C631-48C4-BB95-CACB98CB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2</a:t>
            </a:r>
          </a:p>
        </p:txBody>
      </p:sp>
      <p:sp>
        <p:nvSpPr>
          <p:cNvPr id="8" name="text-43-865-260">
            <a:extLst xmlns:a="http://schemas.openxmlformats.org/drawingml/2006/main">
              <a:ext uri="{FF2B5EF4-FFF2-40B4-BE49-F238E27FC236}">
                <a16:creationId xmlns:a16="http://schemas.microsoft.com/office/drawing/2014/main" id="{C74DA455-D145-46E2-BF64-2F9500BA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02</a:t>
            </a:r>
          </a:p>
        </p:txBody>
      </p:sp>
      <p:sp>
        <p:nvSpPr>
          <p:cNvPr id="9" name="text-43-865-410">
            <a:extLst xmlns:a="http://schemas.openxmlformats.org/drawingml/2006/main">
              <a:ext uri="{FF2B5EF4-FFF2-40B4-BE49-F238E27FC236}">
                <a16:creationId xmlns:a16="http://schemas.microsoft.com/office/drawing/2014/main" id="{71E36552-A494-42FC-BFEC-015C227E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3.</a:t>
            </a:r>
          </a:p>
        </p:txBody>
      </p:sp>
    </p:spTree>
    <p:extLst>
      <p:ext uri="{BB962C8B-B14F-4D97-AF65-F5344CB8AC3E}">
        <p14:creationId xmlns:p14="http://schemas.microsoft.com/office/powerpoint/2010/main" val="142911431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05F8BE-D1DD-4831-ACE0-D6AA550D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The split is part of the experiment</a:t>
            </a:r>
          </a:p>
        </p:txBody>
      </p:sp>
      <p:sp>
        <p:nvSpPr>
          <p:cNvPr id="2" name="title-rule-44-42-119">
            <a:extLst xmlns:a="http://schemas.openxmlformats.org/drawingml/2006/main">
              <a:ext uri="{FF2B5EF4-FFF2-40B4-BE49-F238E27FC236}">
                <a16:creationId xmlns:a16="http://schemas.microsoft.com/office/drawing/2014/main" id="{F67B383D-C152-4A7A-8DD7-9B3570E1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FA179245-8829-4903-893D-E46AD230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3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0A1A708-19AB-45E5-BDB6-00048EC2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44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1C2B5D61-A88D-4813-827E-BD53B027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Near-duplicate citizen messages crossing partitions inflate metrics. Group first, then stratify, and freeze the test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Group by citizen or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Tune only on validation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Version dataset fingerprints</a:t>
            </a:r>
          </a:p>
        </p:txBody>
      </p:sp>
      <p:sp>
        <p:nvSpPr>
          <p:cNvPr id="6" name="callout-panel-44-835-175">
            <a:extLst xmlns:a="http://schemas.openxmlformats.org/drawingml/2006/main">
              <a:ext uri="{FF2B5EF4-FFF2-40B4-BE49-F238E27FC236}">
                <a16:creationId xmlns:a16="http://schemas.microsoft.com/office/drawing/2014/main" id="{A949DCC0-A00D-4255-8877-0277CBA7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44-865-205">
            <a:extLst xmlns:a="http://schemas.openxmlformats.org/drawingml/2006/main">
              <a:ext uri="{FF2B5EF4-FFF2-40B4-BE49-F238E27FC236}">
                <a16:creationId xmlns:a16="http://schemas.microsoft.com/office/drawing/2014/main" id="{3C538BB3-35EB-4FA3-9F07-AD0E93A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3</a:t>
            </a:r>
          </a:p>
        </p:txBody>
      </p:sp>
      <p:sp>
        <p:nvSpPr>
          <p:cNvPr id="8" name="text-44-865-260">
            <a:extLst xmlns:a="http://schemas.openxmlformats.org/drawingml/2006/main">
              <a:ext uri="{FF2B5EF4-FFF2-40B4-BE49-F238E27FC236}">
                <a16:creationId xmlns:a16="http://schemas.microsoft.com/office/drawing/2014/main" id="{25277B1E-8FB5-4A51-9F95-157C4074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03</a:t>
            </a:r>
          </a:p>
        </p:txBody>
      </p:sp>
      <p:sp>
        <p:nvSpPr>
          <p:cNvPr id="9" name="text-44-865-410">
            <a:extLst xmlns:a="http://schemas.openxmlformats.org/drawingml/2006/main">
              <a:ext uri="{FF2B5EF4-FFF2-40B4-BE49-F238E27FC236}">
                <a16:creationId xmlns:a16="http://schemas.microsoft.com/office/drawing/2014/main" id="{50685E93-B69A-4BEB-B716-CBB228EE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3.</a:t>
            </a:r>
          </a:p>
        </p:txBody>
      </p:sp>
    </p:spTree>
    <p:extLst>
      <p:ext uri="{BB962C8B-B14F-4D97-AF65-F5344CB8AC3E}">
        <p14:creationId xmlns:p14="http://schemas.microsoft.com/office/powerpoint/2010/main" val="139600204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EDF103-D6CD-443F-9F2B-10F21344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NER fails silently at subword alignment</a:t>
            </a:r>
          </a:p>
        </p:txBody>
      </p:sp>
      <p:sp>
        <p:nvSpPr>
          <p:cNvPr id="2" name="title-rule-45-42-119">
            <a:extLst xmlns:a="http://schemas.openxmlformats.org/drawingml/2006/main">
              <a:ext uri="{FF2B5EF4-FFF2-40B4-BE49-F238E27FC236}">
                <a16:creationId xmlns:a16="http://schemas.microsoft.com/office/drawing/2014/main" id="{DF8DEA69-31C1-4DEE-80B8-7A4B52B8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6B9674E5-C312-43EE-94E7-B4893DEC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3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E56F60A-3850-4E21-930C-D7CC23ED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45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A5C914F0-4BA6-4D50-B8B9-313ADDE1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Only the first subword should normally carry the word label; continuation pieces and special tokens receive -100.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Evaluate entity spans, not pieces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Test clitic boundaries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Keep train and serve segmentation identical</a:t>
            </a:r>
          </a:p>
        </p:txBody>
      </p:sp>
      <p:sp>
        <p:nvSpPr>
          <p:cNvPr id="6" name="callout-panel-45-835-175">
            <a:extLst xmlns:a="http://schemas.openxmlformats.org/drawingml/2006/main">
              <a:ext uri="{FF2B5EF4-FFF2-40B4-BE49-F238E27FC236}">
                <a16:creationId xmlns:a16="http://schemas.microsoft.com/office/drawing/2014/main" id="{FC03FE9B-89AD-4F97-AE24-B0A8A515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45-865-205">
            <a:extLst xmlns:a="http://schemas.openxmlformats.org/drawingml/2006/main">
              <a:ext uri="{FF2B5EF4-FFF2-40B4-BE49-F238E27FC236}">
                <a16:creationId xmlns:a16="http://schemas.microsoft.com/office/drawing/2014/main" id="{DA23D2D9-7C8F-4102-BF37-F3B7AE88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4</a:t>
            </a:r>
          </a:p>
        </p:txBody>
      </p:sp>
      <p:sp>
        <p:nvSpPr>
          <p:cNvPr id="8" name="text-45-865-260">
            <a:extLst xmlns:a="http://schemas.openxmlformats.org/drawingml/2006/main">
              <a:ext uri="{FF2B5EF4-FFF2-40B4-BE49-F238E27FC236}">
                <a16:creationId xmlns:a16="http://schemas.microsoft.com/office/drawing/2014/main" id="{9050958E-D075-4713-BCAF-C64F1BD4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04</a:t>
            </a:r>
          </a:p>
        </p:txBody>
      </p:sp>
      <p:sp>
        <p:nvSpPr>
          <p:cNvPr id="9" name="text-45-865-410">
            <a:extLst xmlns:a="http://schemas.openxmlformats.org/drawingml/2006/main">
              <a:ext uri="{FF2B5EF4-FFF2-40B4-BE49-F238E27FC236}">
                <a16:creationId xmlns:a16="http://schemas.microsoft.com/office/drawing/2014/main" id="{09D48CAF-9822-416B-B9D2-47730C49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3.</a:t>
            </a:r>
          </a:p>
        </p:txBody>
      </p:sp>
    </p:spTree>
    <p:extLst>
      <p:ext uri="{BB962C8B-B14F-4D97-AF65-F5344CB8AC3E}">
        <p14:creationId xmlns:p14="http://schemas.microsoft.com/office/powerpoint/2010/main" val="40829036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B5D5DA-5032-43BF-BB8B-11CB281A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Extractive QA must be allowed to abstain</a:t>
            </a:r>
          </a:p>
        </p:txBody>
      </p:sp>
      <p:sp>
        <p:nvSpPr>
          <p:cNvPr id="2" name="title-rule-46-42-119">
            <a:extLst xmlns:a="http://schemas.openxmlformats.org/drawingml/2006/main">
              <a:ext uri="{FF2B5EF4-FFF2-40B4-BE49-F238E27FC236}">
                <a16:creationId xmlns:a16="http://schemas.microsoft.com/office/drawing/2014/main" id="{E49DAEBC-36F7-4525-B30E-372282BD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FAB5ED54-C66F-4FD4-BA96-D0EF42A2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3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E3ED580-FA09-4418-851A-E730529D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46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87D3CB52-1D02-43CA-BBAD-60AA4561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Span scoring chooses a start and end inside a window, but must compare the best span with the null score for unanswerable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Window long documents with overlap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Constrain end ≥ 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Tune the null threshold on validation</a:t>
            </a:r>
          </a:p>
        </p:txBody>
      </p:sp>
      <p:sp>
        <p:nvSpPr>
          <p:cNvPr id="6" name="callout-panel-46-835-175">
            <a:extLst xmlns:a="http://schemas.openxmlformats.org/drawingml/2006/main">
              <a:ext uri="{FF2B5EF4-FFF2-40B4-BE49-F238E27FC236}">
                <a16:creationId xmlns:a16="http://schemas.microsoft.com/office/drawing/2014/main" id="{695C1684-A81C-4879-809D-559FA0AE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46-865-205">
            <a:extLst xmlns:a="http://schemas.openxmlformats.org/drawingml/2006/main">
              <a:ext uri="{FF2B5EF4-FFF2-40B4-BE49-F238E27FC236}">
                <a16:creationId xmlns:a16="http://schemas.microsoft.com/office/drawing/2014/main" id="{260FF224-384F-49A6-99B7-D43AB49F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5</a:t>
            </a:r>
          </a:p>
        </p:txBody>
      </p:sp>
      <p:sp>
        <p:nvSpPr>
          <p:cNvPr id="8" name="text-46-865-260">
            <a:extLst xmlns:a="http://schemas.openxmlformats.org/drawingml/2006/main">
              <a:ext uri="{FF2B5EF4-FFF2-40B4-BE49-F238E27FC236}">
                <a16:creationId xmlns:a16="http://schemas.microsoft.com/office/drawing/2014/main" id="{521DE693-6C1A-41DE-9A9A-E5794DAA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05</a:t>
            </a:r>
          </a:p>
        </p:txBody>
      </p:sp>
      <p:sp>
        <p:nvSpPr>
          <p:cNvPr id="9" name="text-46-865-410">
            <a:extLst xmlns:a="http://schemas.openxmlformats.org/drawingml/2006/main">
              <a:ext uri="{FF2B5EF4-FFF2-40B4-BE49-F238E27FC236}">
                <a16:creationId xmlns:a16="http://schemas.microsoft.com/office/drawing/2014/main" id="{25D3B6C7-83FD-4760-8995-09A081EC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3.</a:t>
            </a:r>
          </a:p>
        </p:txBody>
      </p:sp>
    </p:spTree>
    <p:extLst>
      <p:ext uri="{BB962C8B-B14F-4D97-AF65-F5344CB8AC3E}">
        <p14:creationId xmlns:p14="http://schemas.microsoft.com/office/powerpoint/2010/main" val="209983754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7651FF-BBAD-4F15-80B4-7789196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Failure curves are diagnostic evidence</a:t>
            </a:r>
          </a:p>
        </p:txBody>
      </p:sp>
      <p:sp>
        <p:nvSpPr>
          <p:cNvPr id="2" name="title-rule-47-42-119">
            <a:extLst xmlns:a="http://schemas.openxmlformats.org/drawingml/2006/main">
              <a:ext uri="{FF2B5EF4-FFF2-40B4-BE49-F238E27FC236}">
                <a16:creationId xmlns:a16="http://schemas.microsoft.com/office/drawing/2014/main" id="{876E5B0E-857F-45EB-B739-9E0B9CDE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938738F-527B-4198-995C-E40B3399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3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A753205-4881-4BD7-851C-47C82D64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47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753ADCB1-3ADE-451B-BCD6-3B1CD5F8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High learning rates destroy pretrained structure; long runs memorise; one lucky seed can masquerade as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Log train and validation curves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Retain the classical 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Treat small deltas as hypotheses</a:t>
            </a:r>
          </a:p>
        </p:txBody>
      </p:sp>
      <p:sp>
        <p:nvSpPr>
          <p:cNvPr id="6" name="callout-panel-47-835-175">
            <a:extLst xmlns:a="http://schemas.openxmlformats.org/drawingml/2006/main">
              <a:ext uri="{FF2B5EF4-FFF2-40B4-BE49-F238E27FC236}">
                <a16:creationId xmlns:a16="http://schemas.microsoft.com/office/drawing/2014/main" id="{2E8FB64A-757D-409E-A543-5A9E1F79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47-865-205">
            <a:extLst xmlns:a="http://schemas.openxmlformats.org/drawingml/2006/main">
              <a:ext uri="{FF2B5EF4-FFF2-40B4-BE49-F238E27FC236}">
                <a16:creationId xmlns:a16="http://schemas.microsoft.com/office/drawing/2014/main" id="{9A90E770-40EF-4CE3-A4BE-CA31EF38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6</a:t>
            </a:r>
          </a:p>
        </p:txBody>
      </p:sp>
      <p:sp>
        <p:nvSpPr>
          <p:cNvPr id="8" name="text-47-865-260">
            <a:extLst xmlns:a="http://schemas.openxmlformats.org/drawingml/2006/main">
              <a:ext uri="{FF2B5EF4-FFF2-40B4-BE49-F238E27FC236}">
                <a16:creationId xmlns:a16="http://schemas.microsoft.com/office/drawing/2014/main" id="{46D1C9FE-678A-477F-AB00-754B2843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06</a:t>
            </a:r>
          </a:p>
        </p:txBody>
      </p:sp>
      <p:sp>
        <p:nvSpPr>
          <p:cNvPr id="9" name="text-47-865-410">
            <a:extLst xmlns:a="http://schemas.openxmlformats.org/drawingml/2006/main">
              <a:ext uri="{FF2B5EF4-FFF2-40B4-BE49-F238E27FC236}">
                <a16:creationId xmlns:a16="http://schemas.microsoft.com/office/drawing/2014/main" id="{512BB474-BA4E-4149-BBCB-624379A6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3.</a:t>
            </a:r>
          </a:p>
        </p:txBody>
      </p:sp>
    </p:spTree>
    <p:extLst>
      <p:ext uri="{BB962C8B-B14F-4D97-AF65-F5344CB8AC3E}">
        <p14:creationId xmlns:p14="http://schemas.microsoft.com/office/powerpoint/2010/main" val="91485763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5713FF-F667-4AE2-B2D4-8AD28B41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Failure modes to catch before production</a:t>
            </a:r>
          </a:p>
        </p:txBody>
      </p:sp>
      <p:sp>
        <p:nvSpPr>
          <p:cNvPr id="2" name="title-rule-48-42-119">
            <a:extLst xmlns:a="http://schemas.openxmlformats.org/drawingml/2006/main">
              <a:ext uri="{FF2B5EF4-FFF2-40B4-BE49-F238E27FC236}">
                <a16:creationId xmlns:a16="http://schemas.microsoft.com/office/drawing/2014/main" id="{219F71EE-D2EC-4B99-9ED5-7E37432A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214DDF0E-32C2-4FDF-8404-95BE795C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3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59947F9-2FA0-4169-AA8D-51F25FB2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48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EF12E373-FEE0-4DB6-BCD8-64726D2F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Random row splits leak repeated authors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Reporting accuracy on imbalanced topics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Scoring NER at subword level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Always returning a QA span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Selecting the final model on the test set</a:t>
            </a:r>
          </a:p>
        </p:txBody>
      </p:sp>
      <p:sp>
        <p:nvSpPr>
          <p:cNvPr id="6" name="callout-panel-48-835-175">
            <a:extLst xmlns:a="http://schemas.openxmlformats.org/drawingml/2006/main">
              <a:ext uri="{FF2B5EF4-FFF2-40B4-BE49-F238E27FC236}">
                <a16:creationId xmlns:a16="http://schemas.microsoft.com/office/drawing/2014/main" id="{468EFC56-ADBA-474B-8AE4-47C71FEC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48-865-205">
            <a:extLst xmlns:a="http://schemas.openxmlformats.org/drawingml/2006/main">
              <a:ext uri="{FF2B5EF4-FFF2-40B4-BE49-F238E27FC236}">
                <a16:creationId xmlns:a16="http://schemas.microsoft.com/office/drawing/2014/main" id="{82ACCDAE-C78A-4C9E-A28A-E7105F86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RULE</a:t>
            </a:r>
          </a:p>
        </p:txBody>
      </p:sp>
      <p:sp>
        <p:nvSpPr>
          <p:cNvPr id="8" name="text-48-865-260">
            <a:extLst xmlns:a="http://schemas.openxmlformats.org/drawingml/2006/main">
              <a:ext uri="{FF2B5EF4-FFF2-40B4-BE49-F238E27FC236}">
                <a16:creationId xmlns:a16="http://schemas.microsoft.com/office/drawing/2014/main" id="{2A819461-C386-48E1-BFF7-54876EA8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239"/>
                </a:solidFill>
              </a:defRPr>
            </a:pPr>
            <a:r>
              <a:rPr sz="2550" b="1" i="0">
                <a:solidFill>
                  <a:srgbClr val="0B2239"/>
                </a:solidFill>
              </a:rPr>
              <a:t>Make it fail loudly</a:t>
            </a:r>
          </a:p>
        </p:txBody>
      </p:sp>
      <p:sp>
        <p:nvSpPr>
          <p:cNvPr id="9" name="text-48-865-410">
            <a:extLst xmlns:a="http://schemas.openxmlformats.org/drawingml/2006/main">
              <a:ext uri="{FF2B5EF4-FFF2-40B4-BE49-F238E27FC236}">
                <a16:creationId xmlns:a16="http://schemas.microsoft.com/office/drawing/2014/main" id="{23339020-5A2F-424B-9255-3BE31FE1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Silent plausibility is the dangerous state.</a:t>
            </a:r>
          </a:p>
        </p:txBody>
      </p:sp>
    </p:spTree>
    <p:extLst>
      <p:ext uri="{BB962C8B-B14F-4D97-AF65-F5344CB8AC3E}">
        <p14:creationId xmlns:p14="http://schemas.microsoft.com/office/powerpoint/2010/main" val="157658781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4B677A-8DEA-44A6-83BC-FAC65B91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Executable pattern</a:t>
            </a:r>
          </a:p>
        </p:txBody>
      </p:sp>
      <p:sp>
        <p:nvSpPr>
          <p:cNvPr id="2" name="title-rule-49-42-119">
            <a:extLst xmlns:a="http://schemas.openxmlformats.org/drawingml/2006/main">
              <a:ext uri="{FF2B5EF4-FFF2-40B4-BE49-F238E27FC236}">
                <a16:creationId xmlns:a16="http://schemas.microsoft.com/office/drawing/2014/main" id="{EFE14E94-2807-46CD-947F-03AC0310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76CD4D5E-5F0A-4F25-BFF9-6C4A5DCD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3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0F7BE2-CF3B-4C89-A118-410D7732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49</a:t>
            </a:r>
          </a:p>
        </p:txBody>
      </p:sp>
      <p:sp>
        <p:nvSpPr>
          <p:cNvPr id="5" name="code-panel-49-42-150">
            <a:extLst xmlns:a="http://schemas.openxmlformats.org/drawingml/2006/main">
              <a:ext uri="{FF2B5EF4-FFF2-40B4-BE49-F238E27FC236}">
                <a16:creationId xmlns:a16="http://schemas.microsoft.com/office/drawing/2014/main" id="{C5890622-2AEC-42EF-820C-B41BC01E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7239000" cy="4572000"/>
          </a:xfrm>
          <a:prstGeom xmlns:a="http://schemas.openxmlformats.org/drawingml/2006/main" prst="roundRect">
            <a:avLst>
              <a:gd name="adj" fmla="val 833"/>
            </a:avLst>
          </a:prstGeom>
          <a:solidFill xmlns:a="http://schemas.openxmlformats.org/drawingml/2006/main">
            <a:srgbClr val="071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76643EFB-5203-4504-A7F3-DC654245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676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args = TrainingArguments(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  learning_rate=2e-5, num_train_epochs=3,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  evaluation_strategy="epoch",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  load_best_model_at_end=True,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  metric_for_best_model="macro_f1",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  fp16=True, seed=42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)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trainer = Trainer(model=model, args=args,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                  train_dataset=train, eval_dataset=valid)</a:t>
            </a:r>
          </a:p>
        </p:txBody>
      </p:sp>
      <p:sp>
        <p:nvSpPr>
          <p:cNvPr id="7" name="text-49-850-165">
            <a:extLst xmlns:a="http://schemas.openxmlformats.org/drawingml/2006/main">
              <a:ext uri="{FF2B5EF4-FFF2-40B4-BE49-F238E27FC236}">
                <a16:creationId xmlns:a16="http://schemas.microsoft.com/office/drawing/2014/main" id="{8462B28B-AF22-430F-AD2A-4BD4F6C5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READ THE CONTRACT</a:t>
            </a:r>
          </a:p>
        </p:txBody>
      </p:sp>
      <p:sp>
        <p:nvSpPr>
          <p:cNvPr id="8" name="text-49-850-220">
            <a:extLst xmlns:a="http://schemas.openxmlformats.org/drawingml/2006/main">
              <a:ext uri="{FF2B5EF4-FFF2-40B4-BE49-F238E27FC236}">
                <a16:creationId xmlns:a16="http://schemas.microsoft.com/office/drawing/2014/main" id="{ED49CAA1-A1BD-4ED5-851C-2927013A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190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Metric-driven checkpointing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Small LR protects pretrained structure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Seed is recorded, not worshipped</a:t>
            </a:r>
          </a:p>
        </p:txBody>
      </p:sp>
    </p:spTree>
    <p:extLst>
      <p:ext uri="{BB962C8B-B14F-4D97-AF65-F5344CB8AC3E}">
        <p14:creationId xmlns:p14="http://schemas.microsoft.com/office/powerpoint/2010/main" val="51289572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5C399A-9BD7-4398-B404-29AA5697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Apply the concept before the lab</a:t>
            </a:r>
          </a:p>
        </p:txBody>
      </p:sp>
      <p:sp>
        <p:nvSpPr>
          <p:cNvPr id="2" name="title-rule-50-42-119">
            <a:extLst xmlns:a="http://schemas.openxmlformats.org/drawingml/2006/main">
              <a:ext uri="{FF2B5EF4-FFF2-40B4-BE49-F238E27FC236}">
                <a16:creationId xmlns:a16="http://schemas.microsoft.com/office/drawing/2014/main" id="{49F4E9B5-D39A-4F79-AD27-1C46D3A9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58EAC1FF-F744-42D3-91A0-A909C6BB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3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7B83E6-3448-4F7C-AA22-D931A603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50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517E9E4B-223A-4289-AAB8-6B2C7685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Prediction market: which topic pair will confuse most?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Align one clitic-rich Arabic sentence on paper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Defend encoder economics against a zero-shot LLM alternative</a:t>
            </a:r>
          </a:p>
        </p:txBody>
      </p:sp>
      <p:sp>
        <p:nvSpPr>
          <p:cNvPr id="6" name="callout-panel-50-835-175">
            <a:extLst xmlns:a="http://schemas.openxmlformats.org/drawingml/2006/main">
              <a:ext uri="{FF2B5EF4-FFF2-40B4-BE49-F238E27FC236}">
                <a16:creationId xmlns:a16="http://schemas.microsoft.com/office/drawing/2014/main" id="{07794804-D05C-4747-A24F-D6D5D313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50-865-205">
            <a:extLst xmlns:a="http://schemas.openxmlformats.org/drawingml/2006/main">
              <a:ext uri="{FF2B5EF4-FFF2-40B4-BE49-F238E27FC236}">
                <a16:creationId xmlns:a16="http://schemas.microsoft.com/office/drawing/2014/main" id="{C9F676D4-0D96-4166-9F8B-9929692D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ACTIVITY</a:t>
            </a:r>
          </a:p>
        </p:txBody>
      </p:sp>
      <p:sp>
        <p:nvSpPr>
          <p:cNvPr id="8" name="text-50-865-260">
            <a:extLst xmlns:a="http://schemas.openxmlformats.org/drawingml/2006/main">
              <a:ext uri="{FF2B5EF4-FFF2-40B4-BE49-F238E27FC236}">
                <a16:creationId xmlns:a16="http://schemas.microsoft.com/office/drawing/2014/main" id="{4D2439AE-CD37-48C5-9566-642205A1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2239"/>
                </a:solidFill>
              </a:defRPr>
            </a:pPr>
            <a:r>
              <a:rPr sz="3300" b="1" i="0">
                <a:solidFill>
                  <a:srgbClr val="0B2239"/>
                </a:solidFill>
              </a:rPr>
              <a:t>10 min</a:t>
            </a:r>
          </a:p>
        </p:txBody>
      </p:sp>
      <p:sp>
        <p:nvSpPr>
          <p:cNvPr id="9" name="text-50-865-410">
            <a:extLst xmlns:a="http://schemas.openxmlformats.org/drawingml/2006/main">
              <a:ext uri="{FF2B5EF4-FFF2-40B4-BE49-F238E27FC236}">
                <a16:creationId xmlns:a16="http://schemas.microsoft.com/office/drawing/2014/main" id="{5ED24480-B87B-4999-B1B6-6834AF13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Predict first; measure second; defend the evidence.</a:t>
            </a:r>
          </a:p>
        </p:txBody>
      </p:sp>
    </p:spTree>
    <p:extLst>
      <p:ext uri="{BB962C8B-B14F-4D97-AF65-F5344CB8AC3E}">
        <p14:creationId xmlns:p14="http://schemas.microsoft.com/office/powerpoint/2010/main" val="44411332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AABA52-6041-493B-B8E5-6C8176A6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Lab 3 — Fine-tune Bayan classification, NER, and QA</a:t>
            </a:r>
          </a:p>
        </p:txBody>
      </p:sp>
      <p:sp>
        <p:nvSpPr>
          <p:cNvPr id="2" name="title-rule-51-42-119">
            <a:extLst xmlns:a="http://schemas.openxmlformats.org/drawingml/2006/main">
              <a:ext uri="{FF2B5EF4-FFF2-40B4-BE49-F238E27FC236}">
                <a16:creationId xmlns:a16="http://schemas.microsoft.com/office/drawing/2014/main" id="{61612184-44A2-41A4-A210-58B49429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03A437E3-6377-43EF-A82C-94B4B3B2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3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8C6937F-03BB-4967-94C0-F2B9E7FB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51</a:t>
            </a:r>
          </a:p>
        </p:txBody>
      </p:sp>
      <p:sp>
        <p:nvSpPr>
          <p:cNvPr id="5" name="text-51-52-160">
            <a:extLst xmlns:a="http://schemas.openxmlformats.org/drawingml/2006/main">
              <a:ext uri="{FF2B5EF4-FFF2-40B4-BE49-F238E27FC236}">
                <a16:creationId xmlns:a16="http://schemas.microsoft.com/office/drawing/2014/main" id="{C3C06C6C-C784-490A-B635-71F79783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BUILD</a:t>
            </a:r>
          </a:p>
        </p:txBody>
      </p:sp>
      <p:sp>
        <p:nvSpPr>
          <p:cNvPr id="6" name="text-51-52-220">
            <a:extLst xmlns:a="http://schemas.openxmlformats.org/drawingml/2006/main">
              <a:ext uri="{FF2B5EF4-FFF2-40B4-BE49-F238E27FC236}">
                <a16:creationId xmlns:a16="http://schemas.microsoft.com/office/drawing/2014/main" id="{EF6C89E2-8078-4410-B891-844A0450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01</a:t>
            </a:r>
          </a:p>
        </p:txBody>
      </p:sp>
      <p:sp>
        <p:nvSpPr>
          <p:cNvPr id="7" name="text-51-122-220">
            <a:extLst xmlns:a="http://schemas.openxmlformats.org/drawingml/2006/main">
              <a:ext uri="{FF2B5EF4-FFF2-40B4-BE49-F238E27FC236}">
                <a16:creationId xmlns:a16="http://schemas.microsoft.com/office/drawing/2014/main" id="{4B319EA8-C05A-4147-BF2D-F7FA47A7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Beat the TF-IDF topic baseline</a:t>
            </a:r>
          </a:p>
        </p:txBody>
      </p:sp>
      <p:sp>
        <p:nvSpPr>
          <p:cNvPr id="8" name="text-51-52-312">
            <a:extLst xmlns:a="http://schemas.openxmlformats.org/drawingml/2006/main">
              <a:ext uri="{FF2B5EF4-FFF2-40B4-BE49-F238E27FC236}">
                <a16:creationId xmlns:a16="http://schemas.microsoft.com/office/drawing/2014/main" id="{82B87ABA-7057-421F-9CB6-210F38D2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02</a:t>
            </a:r>
          </a:p>
        </p:txBody>
      </p:sp>
      <p:sp>
        <p:nvSpPr>
          <p:cNvPr id="9" name="text-51-122-312">
            <a:extLst xmlns:a="http://schemas.openxmlformats.org/drawingml/2006/main">
              <a:ext uri="{FF2B5EF4-FFF2-40B4-BE49-F238E27FC236}">
                <a16:creationId xmlns:a16="http://schemas.microsoft.com/office/drawing/2014/main" id="{F91A4931-233B-4CE5-828E-9FDEFCF8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Fine-tune and evaluate sentiment</a:t>
            </a:r>
          </a:p>
        </p:txBody>
      </p:sp>
      <p:sp>
        <p:nvSpPr>
          <p:cNvPr id="10" name="text-51-52-404">
            <a:extLst xmlns:a="http://schemas.openxmlformats.org/drawingml/2006/main">
              <a:ext uri="{FF2B5EF4-FFF2-40B4-BE49-F238E27FC236}">
                <a16:creationId xmlns:a16="http://schemas.microsoft.com/office/drawing/2014/main" id="{E0DE3C45-66D2-4AF1-B036-1AA6A3EF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03</a:t>
            </a:r>
          </a:p>
        </p:txBody>
      </p:sp>
      <p:sp>
        <p:nvSpPr>
          <p:cNvPr id="11" name="text-51-122-404">
            <a:extLst xmlns:a="http://schemas.openxmlformats.org/drawingml/2006/main">
              <a:ext uri="{FF2B5EF4-FFF2-40B4-BE49-F238E27FC236}">
                <a16:creationId xmlns:a16="http://schemas.microsoft.com/office/drawing/2014/main" id="{57A6ACC5-0D3F-409E-BC5B-CBB4E785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Align BIO labels and train NER</a:t>
            </a:r>
          </a:p>
        </p:txBody>
      </p:sp>
      <p:sp>
        <p:nvSpPr>
          <p:cNvPr id="12" name="text-51-52-496">
            <a:extLst xmlns:a="http://schemas.openxmlformats.org/drawingml/2006/main">
              <a:ext uri="{FF2B5EF4-FFF2-40B4-BE49-F238E27FC236}">
                <a16:creationId xmlns:a16="http://schemas.microsoft.com/office/drawing/2014/main" id="{12E73866-4F34-4F9A-A938-3DFD5CCF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04</a:t>
            </a:r>
          </a:p>
        </p:txBody>
      </p:sp>
      <p:sp>
        <p:nvSpPr>
          <p:cNvPr id="13" name="text-51-122-496">
            <a:extLst xmlns:a="http://schemas.openxmlformats.org/drawingml/2006/main">
              <a:ext uri="{FF2B5EF4-FFF2-40B4-BE49-F238E27FC236}">
                <a16:creationId xmlns:a16="http://schemas.microsoft.com/office/drawing/2014/main" id="{3961D8BD-FAF4-4800-BCB6-580C6593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244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Run QA smoke tests including nulls</a:t>
            </a:r>
          </a:p>
        </p:txBody>
      </p:sp>
      <p:sp>
        <p:nvSpPr>
          <p:cNvPr id="14" name="evidence-panel-51-820-175">
            <a:extLst xmlns:a="http://schemas.openxmlformats.org/drawingml/2006/main">
              <a:ext uri="{FF2B5EF4-FFF2-40B4-BE49-F238E27FC236}">
                <a16:creationId xmlns:a16="http://schemas.microsoft.com/office/drawing/2014/main" id="{DF98F7C7-934A-4040-B2F3-0A73CB37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3600450" cy="3905250"/>
          </a:xfrm>
          <a:prstGeom xmlns:a="http://schemas.openxmlformats.org/drawingml/2006/main" prst="roundRect">
            <a:avLst>
              <a:gd name="adj" fmla="val 105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5" name="text-51-850-205">
            <a:extLst xmlns:a="http://schemas.openxmlformats.org/drawingml/2006/main">
              <a:ext uri="{FF2B5EF4-FFF2-40B4-BE49-F238E27FC236}">
                <a16:creationId xmlns:a16="http://schemas.microsoft.com/office/drawing/2014/main" id="{30814BCD-0A1E-4117-9A38-90A2F633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66C3"/>
                </a:solidFill>
              </a:defRPr>
            </a:pPr>
            <a:r>
              <a:rPr sz="1275" b="1" i="0">
                <a:solidFill>
                  <a:srgbClr val="0B66C3"/>
                </a:solidFill>
              </a:rPr>
              <a:t>EVIDENCE TO COMMIT</a:t>
            </a:r>
          </a:p>
        </p:txBody>
      </p:sp>
      <p:sp>
        <p:nvSpPr>
          <p:cNvPr id="16" name="text-51-850-270">
            <a:extLst xmlns:a="http://schemas.openxmlformats.org/drawingml/2006/main">
              <a:ext uri="{FF2B5EF4-FFF2-40B4-BE49-F238E27FC236}">
                <a16:creationId xmlns:a16="http://schemas.microsoft.com/office/drawing/2014/main" id="{E660206C-0E3A-492B-B9BA-112681B0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0003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Baseline delta ≥ 8 macro-F1 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Entity-F1 ≥ 0.80 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17/20 no-answer 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Model cards + configs committed</a:t>
            </a:r>
          </a:p>
        </p:txBody>
      </p:sp>
    </p:spTree>
    <p:extLst>
      <p:ext uri="{BB962C8B-B14F-4D97-AF65-F5344CB8AC3E}">
        <p14:creationId xmlns:p14="http://schemas.microsoft.com/office/powerpoint/2010/main" val="123586063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939C6A-E895-4522-B450-0856193B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Three task heads, three evaluation contracts</a:t>
            </a:r>
          </a:p>
        </p:txBody>
      </p:sp>
      <p:sp>
        <p:nvSpPr>
          <p:cNvPr id="2" name="title-rule-52-42-119">
            <a:extLst xmlns:a="http://schemas.openxmlformats.org/drawingml/2006/main">
              <a:ext uri="{FF2B5EF4-FFF2-40B4-BE49-F238E27FC236}">
                <a16:creationId xmlns:a16="http://schemas.microsoft.com/office/drawing/2014/main" id="{2B63732A-6BF5-4EDD-9801-619CF66D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963C45BB-7135-460C-92D2-A24806A6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3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1454D66-3883-4AC5-819E-F979848E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52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524000"/>
          <a:ext xmlns:a="http://schemas.openxmlformats.org/drawingml/2006/main" cx="11391900" cy="4333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2857500"/>
                <a:gridCol w="2095500"/>
                <a:gridCol w="4057650"/>
              </a:tblGrid>
              <a:tr h="1083469">
                <a:tc>
                  <a:txBody>
                    <a:bodyPr/>
                    <a:lstStyle/>
                    <a:p>
                      <a:r>
                        <a:rPr sz="1275" b="1"/>
                        <a:t>Task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/>
                        <a:t>Head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/>
                        <a:t>Primary metric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/>
                        <a:t>Failure to prevent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275"/>
                        <a:t>Topic / sentiment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Sequence classification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Macro-F1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Leaky split or majority accuracy</a:t>
                      </a:r>
                    </a:p>
                  </a:txBody>
                  <a:tcPr marL="91440" marR="91440" marT="45720" marB="45720"/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275"/>
                        <a:t>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Token classification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Entity-F1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Subword-level scoring</a:t>
                      </a:r>
                    </a:p>
                  </a:txBody>
                  <a:tcPr marL="91440" marR="91440" marT="45720" marB="45720"/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275"/>
                        <a:t>Extractive QA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Start + end spans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EM / F1 + no-answer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Always extracting a span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4051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53-42-42">
            <a:extLst xmlns:a="http://schemas.openxmlformats.org/drawingml/2006/main">
              <a:ext uri="{FF2B5EF4-FFF2-40B4-BE49-F238E27FC236}">
                <a16:creationId xmlns:a16="http://schemas.microsoft.com/office/drawing/2014/main" id="{22F248D6-5F1B-46F0-8619-3DEDEC38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M4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5C9C916B-CFF6-4735-A914-17969310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B2239"/>
                </a:solidFill>
              </a:defRPr>
            </a:pPr>
            <a:r>
              <a:rPr sz="5850" b="1" i="0">
                <a:solidFill>
                  <a:srgbClr val="0B2239"/>
                </a:solidFill>
              </a:rPr>
              <a:t>Arabic NLP: challenges, models, and resources</a:t>
            </a:r>
          </a:p>
        </p:txBody>
      </p:sp>
      <p:sp>
        <p:nvSpPr>
          <p:cNvPr id="3" name="accent-rule-53-42-545">
            <a:extLst xmlns:a="http://schemas.openxmlformats.org/drawingml/2006/main">
              <a:ext uri="{FF2B5EF4-FFF2-40B4-BE49-F238E27FC236}">
                <a16:creationId xmlns:a16="http://schemas.microsoft.com/office/drawing/2014/main" id="{A9B69F8A-A19F-4011-85EE-0A0E6FAE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3-42-575">
            <a:extLst xmlns:a="http://schemas.openxmlformats.org/drawingml/2006/main">
              <a:ext uri="{FF2B5EF4-FFF2-40B4-BE49-F238E27FC236}">
                <a16:creationId xmlns:a16="http://schemas.microsoft.com/office/drawing/2014/main" id="{0A5A66DC-7AF2-4816-BFFD-C12B7B69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26273"/>
                </a:solidFill>
              </a:defRPr>
            </a:pPr>
            <a:r>
              <a:rPr sz="1800" b="0" i="0">
                <a:solidFill>
                  <a:srgbClr val="526273"/>
                </a:solidFill>
              </a:rPr>
              <a:t>Saudi NLP quality is determined by morphology, orthographic variation, and dialect coverage—not by an aggregate Arabic score.</a:t>
            </a:r>
          </a:p>
        </p:txBody>
      </p:sp>
      <p:sp>
        <p:nvSpPr>
          <p:cNvPr id="5" name="text-53-1180-676">
            <a:extLst xmlns:a="http://schemas.openxmlformats.org/drawingml/2006/main">
              <a:ext uri="{FF2B5EF4-FFF2-40B4-BE49-F238E27FC236}">
                <a16:creationId xmlns:a16="http://schemas.microsoft.com/office/drawing/2014/main" id="{28E541D8-5A93-4786-9F34-62754EDF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96214218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C5D73C-DDB6-48FE-B694-247E238C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M4 thesis</a:t>
            </a:r>
          </a:p>
        </p:txBody>
      </p:sp>
      <p:sp>
        <p:nvSpPr>
          <p:cNvPr id="2" name="title-rule-54-42-119">
            <a:extLst xmlns:a="http://schemas.openxmlformats.org/drawingml/2006/main">
              <a:ext uri="{FF2B5EF4-FFF2-40B4-BE49-F238E27FC236}">
                <a16:creationId xmlns:a16="http://schemas.microsoft.com/office/drawing/2014/main" id="{07AC88BF-8095-46A4-9BDE-9EC4068E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E0ACA5C3-AB1E-498D-96D6-7C3AD700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EC53C3E-BC92-47E0-A3C1-5A0FE21C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54</a:t>
            </a:r>
          </a:p>
        </p:txBody>
      </p:sp>
      <p:sp>
        <p:nvSpPr>
          <p:cNvPr id="5" name="text-54-42-185">
            <a:extLst xmlns:a="http://schemas.openxmlformats.org/drawingml/2006/main">
              <a:ext uri="{FF2B5EF4-FFF2-40B4-BE49-F238E27FC236}">
                <a16:creationId xmlns:a16="http://schemas.microsoft.com/office/drawing/2014/main" id="{2B91A136-F3E7-414C-8C8F-35C9DB0C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9092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2239"/>
                </a:solidFill>
              </a:defRPr>
            </a:pPr>
            <a:r>
              <a:rPr sz="4050" b="1" i="0">
                <a:solidFill>
                  <a:srgbClr val="0B2239"/>
                </a:solidFill>
              </a:rPr>
              <a:t>Saudi NLP quality is determined by morphology, orthographic variation, and dialect coverage—not by an aggregate Arabic score.</a:t>
            </a:r>
          </a:p>
        </p:txBody>
      </p:sp>
      <p:sp>
        <p:nvSpPr>
          <p:cNvPr id="6" name="statement-accent-54-42-435">
            <a:extLst xmlns:a="http://schemas.openxmlformats.org/drawingml/2006/main">
              <a:ext uri="{FF2B5EF4-FFF2-40B4-BE49-F238E27FC236}">
                <a16:creationId xmlns:a16="http://schemas.microsoft.com/office/drawing/2014/main" id="{B267B963-CC77-4C3F-B88D-3A4A0518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95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54-78-448">
            <a:extLst xmlns:a="http://schemas.openxmlformats.org/drawingml/2006/main">
              <a:ext uri="{FF2B5EF4-FFF2-40B4-BE49-F238E27FC236}">
                <a16:creationId xmlns:a16="http://schemas.microsoft.com/office/drawing/2014/main" id="{F105B30A-C197-46E5-B729-D65DD9EB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9763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26273"/>
                </a:solidFill>
              </a:defRPr>
            </a:pPr>
            <a:r>
              <a:rPr sz="1875" b="0" i="0">
                <a:solidFill>
                  <a:srgbClr val="526273"/>
                </a:solidFill>
              </a:rPr>
              <a:t>The profession lives in the preprocessing contract, the evaluation slices, and the milliseconds—not in a checkpoint name.</a:t>
            </a:r>
          </a:p>
        </p:txBody>
      </p:sp>
    </p:spTree>
    <p:extLst>
      <p:ext uri="{BB962C8B-B14F-4D97-AF65-F5344CB8AC3E}">
        <p14:creationId xmlns:p14="http://schemas.microsoft.com/office/powerpoint/2010/main" val="212856922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F34402-9317-4C5C-842B-2C5F24C9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What you will be able to do</a:t>
            </a:r>
          </a:p>
        </p:txBody>
      </p:sp>
      <p:sp>
        <p:nvSpPr>
          <p:cNvPr id="2" name="title-rule-55-42-119">
            <a:extLst xmlns:a="http://schemas.openxmlformats.org/drawingml/2006/main">
              <a:ext uri="{FF2B5EF4-FFF2-40B4-BE49-F238E27FC236}">
                <a16:creationId xmlns:a16="http://schemas.microsoft.com/office/drawing/2014/main" id="{B2B1A998-4EB8-480F-BF60-409C3B0C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4DFC6FE-5234-4182-9BBF-ED9658A3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4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60CE4BD-3DC6-4FF0-86A8-C3A9BBFA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55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F6C5A1B1-145C-4875-9A5F-4F5819F8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Explain root-and-pattern morphology and attached clitics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Apply model-compatible Arabic normalisation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Use CAMeL Tools for analysis and segmentation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Measure Gulf versus MSA performance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Choose an Arabic checkpoint with slice evidence</a:t>
            </a:r>
          </a:p>
        </p:txBody>
      </p:sp>
      <p:sp>
        <p:nvSpPr>
          <p:cNvPr id="6" name="callout-panel-55-835-175">
            <a:extLst xmlns:a="http://schemas.openxmlformats.org/drawingml/2006/main">
              <a:ext uri="{FF2B5EF4-FFF2-40B4-BE49-F238E27FC236}">
                <a16:creationId xmlns:a16="http://schemas.microsoft.com/office/drawing/2014/main" id="{E35EDB02-2D8F-4F30-8FDE-C07F6C0D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55-865-205">
            <a:extLst xmlns:a="http://schemas.openxmlformats.org/drawingml/2006/main">
              <a:ext uri="{FF2B5EF4-FFF2-40B4-BE49-F238E27FC236}">
                <a16:creationId xmlns:a16="http://schemas.microsoft.com/office/drawing/2014/main" id="{540BF6E6-6ABA-4E63-8A65-D72793B3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LEARNING OUTCOME</a:t>
            </a:r>
          </a:p>
        </p:txBody>
      </p:sp>
      <p:sp>
        <p:nvSpPr>
          <p:cNvPr id="8" name="text-55-865-260">
            <a:extLst xmlns:a="http://schemas.openxmlformats.org/drawingml/2006/main">
              <a:ext uri="{FF2B5EF4-FFF2-40B4-BE49-F238E27FC236}">
                <a16:creationId xmlns:a16="http://schemas.microsoft.com/office/drawing/2014/main" id="{733D4A91-4717-4649-BF80-7DF72918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2239"/>
                </a:solidFill>
              </a:defRPr>
            </a:pPr>
            <a:r>
              <a:rPr sz="3300" b="1" i="0">
                <a:solidFill>
                  <a:srgbClr val="0B2239"/>
                </a:solidFill>
              </a:rPr>
              <a:t>M4</a:t>
            </a:r>
          </a:p>
        </p:txBody>
      </p:sp>
      <p:sp>
        <p:nvSpPr>
          <p:cNvPr id="9" name="text-55-865-410">
            <a:extLst xmlns:a="http://schemas.openxmlformats.org/drawingml/2006/main">
              <a:ext uri="{FF2B5EF4-FFF2-40B4-BE49-F238E27FC236}">
                <a16:creationId xmlns:a16="http://schemas.microsoft.com/office/drawing/2014/main" id="{2586AC94-BA11-4527-B795-84936BAC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Every capability produces a component of Bayan and evidence for the capstone.</a:t>
            </a:r>
          </a:p>
        </p:txBody>
      </p:sp>
    </p:spTree>
    <p:extLst>
      <p:ext uri="{BB962C8B-B14F-4D97-AF65-F5344CB8AC3E}">
        <p14:creationId xmlns:p14="http://schemas.microsoft.com/office/powerpoint/2010/main" val="153743160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4BDA69-9DC6-40FA-B3E7-BBE4C02C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Arabic words are built, not listed</a:t>
            </a:r>
          </a:p>
        </p:txBody>
      </p:sp>
      <p:sp>
        <p:nvSpPr>
          <p:cNvPr id="2" name="title-rule-56-42-119">
            <a:extLst xmlns:a="http://schemas.openxmlformats.org/drawingml/2006/main">
              <a:ext uri="{FF2B5EF4-FFF2-40B4-BE49-F238E27FC236}">
                <a16:creationId xmlns:a16="http://schemas.microsoft.com/office/drawing/2014/main" id="{3E80F358-6748-4961-A670-0AD76723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7B50FA7-3464-49E4-8A12-39A8CF97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4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F36A213-9A00-40EF-B54F-EEC9B8BC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56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3B1185EE-A862-4979-9659-007E6AFA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Roots interlock with patterns, then clitics attach. A single whitespace token can encode several English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Morphology expands surface forms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Clitics hide entity boundaries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Whitespace is not a linguistic segmentation</a:t>
            </a:r>
          </a:p>
        </p:txBody>
      </p:sp>
      <p:sp>
        <p:nvSpPr>
          <p:cNvPr id="6" name="callout-panel-56-835-175">
            <a:extLst xmlns:a="http://schemas.openxmlformats.org/drawingml/2006/main">
              <a:ext uri="{FF2B5EF4-FFF2-40B4-BE49-F238E27FC236}">
                <a16:creationId xmlns:a16="http://schemas.microsoft.com/office/drawing/2014/main" id="{C416EAF1-19B8-4102-BF9C-5ECA9EAC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56-865-205">
            <a:extLst xmlns:a="http://schemas.openxmlformats.org/drawingml/2006/main">
              <a:ext uri="{FF2B5EF4-FFF2-40B4-BE49-F238E27FC236}">
                <a16:creationId xmlns:a16="http://schemas.microsoft.com/office/drawing/2014/main" id="{B449D4CE-AB72-46CE-82A3-D749C7BA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1</a:t>
            </a:r>
          </a:p>
        </p:txBody>
      </p:sp>
      <p:sp>
        <p:nvSpPr>
          <p:cNvPr id="8" name="text-56-865-260">
            <a:extLst xmlns:a="http://schemas.openxmlformats.org/drawingml/2006/main">
              <a:ext uri="{FF2B5EF4-FFF2-40B4-BE49-F238E27FC236}">
                <a16:creationId xmlns:a16="http://schemas.microsoft.com/office/drawing/2014/main" id="{1812FE50-4653-4E91-9C66-EE3EA006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01</a:t>
            </a:r>
          </a:p>
        </p:txBody>
      </p:sp>
      <p:sp>
        <p:nvSpPr>
          <p:cNvPr id="9" name="text-56-865-410">
            <a:extLst xmlns:a="http://schemas.openxmlformats.org/drawingml/2006/main">
              <a:ext uri="{FF2B5EF4-FFF2-40B4-BE49-F238E27FC236}">
                <a16:creationId xmlns:a16="http://schemas.microsoft.com/office/drawing/2014/main" id="{32C8991C-58CC-4ECE-BCC6-57FA2638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4.</a:t>
            </a:r>
          </a:p>
        </p:txBody>
      </p:sp>
    </p:spTree>
    <p:extLst>
      <p:ext uri="{BB962C8B-B14F-4D97-AF65-F5344CB8AC3E}">
        <p14:creationId xmlns:p14="http://schemas.microsoft.com/office/powerpoint/2010/main" val="78254696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1109AF-8DC8-4F03-ACE7-A73247DE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Orthographic variation is normal user behaviour</a:t>
            </a:r>
          </a:p>
        </p:txBody>
      </p:sp>
      <p:sp>
        <p:nvSpPr>
          <p:cNvPr id="2" name="title-rule-57-42-119">
            <a:extLst xmlns:a="http://schemas.openxmlformats.org/drawingml/2006/main">
              <a:ext uri="{FF2B5EF4-FFF2-40B4-BE49-F238E27FC236}">
                <a16:creationId xmlns:a16="http://schemas.microsoft.com/office/drawing/2014/main" id="{9A2E6505-E5DA-4339-9A6A-C6C2EBB7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6319A61A-E573-4206-8C80-BD72F6E6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4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CC086FF-D94D-45B9-AC52-712CAD86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57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79AF7A85-C531-4966-9B66-D7576160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Alef variants, ta marbuta/ha, ya/alef maqsura, diacritics, and tatweel create multiple forms for one intended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Normalise for the model profile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Preserve the display copy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Test combining-mark edge cases</a:t>
            </a:r>
          </a:p>
        </p:txBody>
      </p:sp>
      <p:sp>
        <p:nvSpPr>
          <p:cNvPr id="6" name="callout-panel-57-835-175">
            <a:extLst xmlns:a="http://schemas.openxmlformats.org/drawingml/2006/main">
              <a:ext uri="{FF2B5EF4-FFF2-40B4-BE49-F238E27FC236}">
                <a16:creationId xmlns:a16="http://schemas.microsoft.com/office/drawing/2014/main" id="{DF906268-8D2F-4C9B-A83C-DDD36C4D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57-865-205">
            <a:extLst xmlns:a="http://schemas.openxmlformats.org/drawingml/2006/main">
              <a:ext uri="{FF2B5EF4-FFF2-40B4-BE49-F238E27FC236}">
                <a16:creationId xmlns:a16="http://schemas.microsoft.com/office/drawing/2014/main" id="{CAD66D62-FFE2-4FF9-9B4F-0F3C58EC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2</a:t>
            </a:r>
          </a:p>
        </p:txBody>
      </p:sp>
      <p:sp>
        <p:nvSpPr>
          <p:cNvPr id="8" name="text-57-865-260">
            <a:extLst xmlns:a="http://schemas.openxmlformats.org/drawingml/2006/main">
              <a:ext uri="{FF2B5EF4-FFF2-40B4-BE49-F238E27FC236}">
                <a16:creationId xmlns:a16="http://schemas.microsoft.com/office/drawing/2014/main" id="{26542547-2517-49E7-9468-C93C5778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02</a:t>
            </a:r>
          </a:p>
        </p:txBody>
      </p:sp>
      <p:sp>
        <p:nvSpPr>
          <p:cNvPr id="9" name="text-57-865-410">
            <a:extLst xmlns:a="http://schemas.openxmlformats.org/drawingml/2006/main">
              <a:ext uri="{FF2B5EF4-FFF2-40B4-BE49-F238E27FC236}">
                <a16:creationId xmlns:a16="http://schemas.microsoft.com/office/drawing/2014/main" id="{DDC1E48F-0283-4C93-8273-B5B18FBD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4.</a:t>
            </a:r>
          </a:p>
        </p:txBody>
      </p:sp>
    </p:spTree>
    <p:extLst>
      <p:ext uri="{BB962C8B-B14F-4D97-AF65-F5344CB8AC3E}">
        <p14:creationId xmlns:p14="http://schemas.microsoft.com/office/powerpoint/2010/main" val="332214989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9C28F3-0F4A-4DE4-A3FD-9A063D7C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CAMeL Tools makes Arabic decisions explicit</a:t>
            </a:r>
          </a:p>
        </p:txBody>
      </p:sp>
      <p:sp>
        <p:nvSpPr>
          <p:cNvPr id="2" name="title-rule-58-42-119">
            <a:extLst xmlns:a="http://schemas.openxmlformats.org/drawingml/2006/main">
              <a:ext uri="{FF2B5EF4-FFF2-40B4-BE49-F238E27FC236}">
                <a16:creationId xmlns:a16="http://schemas.microsoft.com/office/drawing/2014/main" id="{02236CCC-F56F-4B2E-899F-80D8E831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89799BBE-51BF-4095-90A8-F250ADFA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4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F6A1048-66A8-4DD3-8CA8-8CC01BD9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58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28E118B9-3005-454D-A213-E65EAC9B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Normalisation, morphological analysis, disambiguation, dialect ID, and d3tok segmentation become inspectable pipeline stages.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Install data before class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Cache model resources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Version the normalisation profile</a:t>
            </a:r>
          </a:p>
        </p:txBody>
      </p:sp>
      <p:sp>
        <p:nvSpPr>
          <p:cNvPr id="6" name="callout-panel-58-835-175">
            <a:extLst xmlns:a="http://schemas.openxmlformats.org/drawingml/2006/main">
              <a:ext uri="{FF2B5EF4-FFF2-40B4-BE49-F238E27FC236}">
                <a16:creationId xmlns:a16="http://schemas.microsoft.com/office/drawing/2014/main" id="{79FA8AC3-2045-424C-8720-9540B1C0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58-865-205">
            <a:extLst xmlns:a="http://schemas.openxmlformats.org/drawingml/2006/main">
              <a:ext uri="{FF2B5EF4-FFF2-40B4-BE49-F238E27FC236}">
                <a16:creationId xmlns:a16="http://schemas.microsoft.com/office/drawing/2014/main" id="{EAEACD1F-3DE8-4778-B8E6-4079DFE6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3</a:t>
            </a:r>
          </a:p>
        </p:txBody>
      </p:sp>
      <p:sp>
        <p:nvSpPr>
          <p:cNvPr id="8" name="text-58-865-260">
            <a:extLst xmlns:a="http://schemas.openxmlformats.org/drawingml/2006/main">
              <a:ext uri="{FF2B5EF4-FFF2-40B4-BE49-F238E27FC236}">
                <a16:creationId xmlns:a16="http://schemas.microsoft.com/office/drawing/2014/main" id="{7BC48F83-7910-4AB2-8361-0DCE7A0C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03</a:t>
            </a:r>
          </a:p>
        </p:txBody>
      </p:sp>
      <p:sp>
        <p:nvSpPr>
          <p:cNvPr id="9" name="text-58-865-410">
            <a:extLst xmlns:a="http://schemas.openxmlformats.org/drawingml/2006/main">
              <a:ext uri="{FF2B5EF4-FFF2-40B4-BE49-F238E27FC236}">
                <a16:creationId xmlns:a16="http://schemas.microsoft.com/office/drawing/2014/main" id="{56F17CE9-2339-48B1-BA56-214F3998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4.</a:t>
            </a:r>
          </a:p>
        </p:txBody>
      </p:sp>
    </p:spTree>
    <p:extLst>
      <p:ext uri="{BB962C8B-B14F-4D97-AF65-F5344CB8AC3E}">
        <p14:creationId xmlns:p14="http://schemas.microsoft.com/office/powerpoint/2010/main" val="141777761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E0C863-E61E-4F93-A157-574036B4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Arabic is a dialect continuum</a:t>
            </a:r>
          </a:p>
        </p:txBody>
      </p:sp>
      <p:sp>
        <p:nvSpPr>
          <p:cNvPr id="2" name="title-rule-59-42-119">
            <a:extLst xmlns:a="http://schemas.openxmlformats.org/drawingml/2006/main">
              <a:ext uri="{FF2B5EF4-FFF2-40B4-BE49-F238E27FC236}">
                <a16:creationId xmlns:a16="http://schemas.microsoft.com/office/drawing/2014/main" id="{D42C618D-EE0D-4B67-82B2-2CBB6BEF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2DB70317-FE9A-48B5-9C48-6F737425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4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76D728B-CF67-40F8-8223-9E70D956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59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21FB04AA-DD34-4706-9950-09171B07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Formal complaints may be MSA; chat is often Gulf dialect; social text may include Arabizi and code-switching.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Audit the traffic mix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Route or fine-tune for key slices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Never call MSA evaluation representative</a:t>
            </a:r>
          </a:p>
        </p:txBody>
      </p:sp>
      <p:sp>
        <p:nvSpPr>
          <p:cNvPr id="6" name="callout-panel-59-835-175">
            <a:extLst xmlns:a="http://schemas.openxmlformats.org/drawingml/2006/main">
              <a:ext uri="{FF2B5EF4-FFF2-40B4-BE49-F238E27FC236}">
                <a16:creationId xmlns:a16="http://schemas.microsoft.com/office/drawing/2014/main" id="{68B3D127-1C52-42A4-A1E4-904CA89C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59-865-205">
            <a:extLst xmlns:a="http://schemas.openxmlformats.org/drawingml/2006/main">
              <a:ext uri="{FF2B5EF4-FFF2-40B4-BE49-F238E27FC236}">
                <a16:creationId xmlns:a16="http://schemas.microsoft.com/office/drawing/2014/main" id="{C806FD27-F064-4A3B-BF6A-1B0722D3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4</a:t>
            </a:r>
          </a:p>
        </p:txBody>
      </p:sp>
      <p:sp>
        <p:nvSpPr>
          <p:cNvPr id="8" name="text-59-865-260">
            <a:extLst xmlns:a="http://schemas.openxmlformats.org/drawingml/2006/main">
              <a:ext uri="{FF2B5EF4-FFF2-40B4-BE49-F238E27FC236}">
                <a16:creationId xmlns:a16="http://schemas.microsoft.com/office/drawing/2014/main" id="{CA8AB88C-523E-473E-988B-9F297D5D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04</a:t>
            </a:r>
          </a:p>
        </p:txBody>
      </p:sp>
      <p:sp>
        <p:nvSpPr>
          <p:cNvPr id="9" name="text-59-865-410">
            <a:extLst xmlns:a="http://schemas.openxmlformats.org/drawingml/2006/main">
              <a:ext uri="{FF2B5EF4-FFF2-40B4-BE49-F238E27FC236}">
                <a16:creationId xmlns:a16="http://schemas.microsoft.com/office/drawing/2014/main" id="{BBAF94A1-3510-4E27-AC90-FC06AB1D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4.</a:t>
            </a:r>
          </a:p>
        </p:txBody>
      </p:sp>
    </p:spTree>
    <p:extLst>
      <p:ext uri="{BB962C8B-B14F-4D97-AF65-F5344CB8AC3E}">
        <p14:creationId xmlns:p14="http://schemas.microsoft.com/office/powerpoint/2010/main" val="1101911053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B3A8ED-7C00-4B9E-8DBB-FB94BCA4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Choose checkpoints from corpus evidence</a:t>
            </a:r>
          </a:p>
        </p:txBody>
      </p:sp>
      <p:sp>
        <p:nvSpPr>
          <p:cNvPr id="2" name="title-rule-60-42-119">
            <a:extLst xmlns:a="http://schemas.openxmlformats.org/drawingml/2006/main">
              <a:ext uri="{FF2B5EF4-FFF2-40B4-BE49-F238E27FC236}">
                <a16:creationId xmlns:a16="http://schemas.microsoft.com/office/drawing/2014/main" id="{64F714D4-393B-44E2-B36F-A01D9354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2787F4E-3CA8-4587-A4ED-96CDF335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4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8187C87-1B25-4650-8C29-8CCE7BD4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60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8AB0503D-5E36-416A-9FE8-D6754E3E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AraBERT, CAMeLBERT variants, MARBERT, mBERT, and XLM-R reflect different corpora, tokenizers, and intended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Measure fertility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Read the model card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Compare the slice that matters</a:t>
            </a:r>
          </a:p>
        </p:txBody>
      </p:sp>
      <p:sp>
        <p:nvSpPr>
          <p:cNvPr id="6" name="callout-panel-60-835-175">
            <a:extLst xmlns:a="http://schemas.openxmlformats.org/drawingml/2006/main">
              <a:ext uri="{FF2B5EF4-FFF2-40B4-BE49-F238E27FC236}">
                <a16:creationId xmlns:a16="http://schemas.microsoft.com/office/drawing/2014/main" id="{4503C13D-23C2-4978-B985-80DB1F76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60-865-205">
            <a:extLst xmlns:a="http://schemas.openxmlformats.org/drawingml/2006/main">
              <a:ext uri="{FF2B5EF4-FFF2-40B4-BE49-F238E27FC236}">
                <a16:creationId xmlns:a16="http://schemas.microsoft.com/office/drawing/2014/main" id="{A11A8D63-B5EF-4136-8B45-CCCBA7E0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5</a:t>
            </a:r>
          </a:p>
        </p:txBody>
      </p:sp>
      <p:sp>
        <p:nvSpPr>
          <p:cNvPr id="8" name="text-60-865-260">
            <a:extLst xmlns:a="http://schemas.openxmlformats.org/drawingml/2006/main">
              <a:ext uri="{FF2B5EF4-FFF2-40B4-BE49-F238E27FC236}">
                <a16:creationId xmlns:a16="http://schemas.microsoft.com/office/drawing/2014/main" id="{0C2C1167-CDB6-4E59-8F0F-D68B0733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05</a:t>
            </a:r>
          </a:p>
        </p:txBody>
      </p:sp>
      <p:sp>
        <p:nvSpPr>
          <p:cNvPr id="9" name="text-60-865-410">
            <a:extLst xmlns:a="http://schemas.openxmlformats.org/drawingml/2006/main">
              <a:ext uri="{FF2B5EF4-FFF2-40B4-BE49-F238E27FC236}">
                <a16:creationId xmlns:a16="http://schemas.microsoft.com/office/drawing/2014/main" id="{C9DDBC15-DC87-4F12-9893-E896D9E5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4.</a:t>
            </a:r>
          </a:p>
        </p:txBody>
      </p:sp>
    </p:spTree>
    <p:extLst>
      <p:ext uri="{BB962C8B-B14F-4D97-AF65-F5344CB8AC3E}">
        <p14:creationId xmlns:p14="http://schemas.microsoft.com/office/powerpoint/2010/main" val="2122666710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3DE3F5-DE7F-4A01-AFBE-BD57F07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Slices change the model-choice story</a:t>
            </a:r>
          </a:p>
        </p:txBody>
      </p:sp>
      <p:sp>
        <p:nvSpPr>
          <p:cNvPr id="2" name="title-rule-61-42-119">
            <a:extLst xmlns:a="http://schemas.openxmlformats.org/drawingml/2006/main">
              <a:ext uri="{FF2B5EF4-FFF2-40B4-BE49-F238E27FC236}">
                <a16:creationId xmlns:a16="http://schemas.microsoft.com/office/drawing/2014/main" id="{5072658A-FC89-41E4-8DA4-0AA73BD0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C18DA54E-65B1-41DB-B1F8-51BBBEE2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4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5EC11ED-F1D3-4F6E-814C-FC7344FA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61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E59F2C79-EDCD-46BF-8298-1ABEC6E3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 modest aggregate gain can hide a much larger Gulf gain—the population that motivated the Arabic-first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Publish all/Gulf/MSA together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Use paired intervals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Price the cost of a second model</a:t>
            </a:r>
          </a:p>
        </p:txBody>
      </p:sp>
      <p:sp>
        <p:nvSpPr>
          <p:cNvPr id="6" name="callout-panel-61-835-175">
            <a:extLst xmlns:a="http://schemas.openxmlformats.org/drawingml/2006/main">
              <a:ext uri="{FF2B5EF4-FFF2-40B4-BE49-F238E27FC236}">
                <a16:creationId xmlns:a16="http://schemas.microsoft.com/office/drawing/2014/main" id="{F7B71F3F-5C3D-4D4B-ADCC-8403C2E0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61-865-205">
            <a:extLst xmlns:a="http://schemas.openxmlformats.org/drawingml/2006/main">
              <a:ext uri="{FF2B5EF4-FFF2-40B4-BE49-F238E27FC236}">
                <a16:creationId xmlns:a16="http://schemas.microsoft.com/office/drawing/2014/main" id="{F46CBB14-39B8-48DA-9CED-7473B224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6</a:t>
            </a:r>
          </a:p>
        </p:txBody>
      </p:sp>
      <p:sp>
        <p:nvSpPr>
          <p:cNvPr id="8" name="text-61-865-260">
            <a:extLst xmlns:a="http://schemas.openxmlformats.org/drawingml/2006/main">
              <a:ext uri="{FF2B5EF4-FFF2-40B4-BE49-F238E27FC236}">
                <a16:creationId xmlns:a16="http://schemas.microsoft.com/office/drawing/2014/main" id="{D9A73B2C-3B62-4A9F-AF1B-94C4715C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06</a:t>
            </a:r>
          </a:p>
        </p:txBody>
      </p:sp>
      <p:sp>
        <p:nvSpPr>
          <p:cNvPr id="9" name="text-61-865-410">
            <a:extLst xmlns:a="http://schemas.openxmlformats.org/drawingml/2006/main">
              <a:ext uri="{FF2B5EF4-FFF2-40B4-BE49-F238E27FC236}">
                <a16:creationId xmlns:a16="http://schemas.microsoft.com/office/drawing/2014/main" id="{9333BC0B-1281-44F3-B0CE-C7309933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4.</a:t>
            </a:r>
          </a:p>
        </p:txBody>
      </p:sp>
    </p:spTree>
    <p:extLst>
      <p:ext uri="{BB962C8B-B14F-4D97-AF65-F5344CB8AC3E}">
        <p14:creationId xmlns:p14="http://schemas.microsoft.com/office/powerpoint/2010/main" val="4582975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553014-8157-402B-AA46-BA7440F8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Failure modes to catch before production</a:t>
            </a:r>
          </a:p>
        </p:txBody>
      </p:sp>
      <p:sp>
        <p:nvSpPr>
          <p:cNvPr id="2" name="title-rule-62-42-119">
            <a:extLst xmlns:a="http://schemas.openxmlformats.org/drawingml/2006/main">
              <a:ext uri="{FF2B5EF4-FFF2-40B4-BE49-F238E27FC236}">
                <a16:creationId xmlns:a16="http://schemas.microsoft.com/office/drawing/2014/main" id="{95F0D8EF-EE68-4AD5-89D7-EBC0215A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9885227C-EDFC-45F0-8122-804EADC2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4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1D22399-C91B-46FE-B04C-D7B54D95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62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4968370E-C10E-4D07-B724-D439D4D0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Applying one normaliser to every checkpoint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Evaluating only formal MSA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Destroying display text during model normalisation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Ignoring clitics in 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Treating Arabic as one homogeneous slice</a:t>
            </a:r>
          </a:p>
        </p:txBody>
      </p:sp>
      <p:sp>
        <p:nvSpPr>
          <p:cNvPr id="6" name="callout-panel-62-835-175">
            <a:extLst xmlns:a="http://schemas.openxmlformats.org/drawingml/2006/main">
              <a:ext uri="{FF2B5EF4-FFF2-40B4-BE49-F238E27FC236}">
                <a16:creationId xmlns:a16="http://schemas.microsoft.com/office/drawing/2014/main" id="{FE353328-5F7D-4B3F-8540-6CB7FD1F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62-865-205">
            <a:extLst xmlns:a="http://schemas.openxmlformats.org/drawingml/2006/main">
              <a:ext uri="{FF2B5EF4-FFF2-40B4-BE49-F238E27FC236}">
                <a16:creationId xmlns:a16="http://schemas.microsoft.com/office/drawing/2014/main" id="{2348C03D-22FD-4845-8CF7-235C027F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RULE</a:t>
            </a:r>
          </a:p>
        </p:txBody>
      </p:sp>
      <p:sp>
        <p:nvSpPr>
          <p:cNvPr id="8" name="text-62-865-260">
            <a:extLst xmlns:a="http://schemas.openxmlformats.org/drawingml/2006/main">
              <a:ext uri="{FF2B5EF4-FFF2-40B4-BE49-F238E27FC236}">
                <a16:creationId xmlns:a16="http://schemas.microsoft.com/office/drawing/2014/main" id="{69AEC596-37D0-404A-B52F-4E3A2740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239"/>
                </a:solidFill>
              </a:defRPr>
            </a:pPr>
            <a:r>
              <a:rPr sz="2550" b="1" i="0">
                <a:solidFill>
                  <a:srgbClr val="0B2239"/>
                </a:solidFill>
              </a:rPr>
              <a:t>Make it fail loudly</a:t>
            </a:r>
          </a:p>
        </p:txBody>
      </p:sp>
      <p:sp>
        <p:nvSpPr>
          <p:cNvPr id="9" name="text-62-865-410">
            <a:extLst xmlns:a="http://schemas.openxmlformats.org/drawingml/2006/main">
              <a:ext uri="{FF2B5EF4-FFF2-40B4-BE49-F238E27FC236}">
                <a16:creationId xmlns:a16="http://schemas.microsoft.com/office/drawing/2014/main" id="{9618B520-9E7C-4C27-9ED3-77B47C8D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Silent plausibility is the dangerous state.</a:t>
            </a:r>
          </a:p>
        </p:txBody>
      </p:sp>
    </p:spTree>
    <p:extLst>
      <p:ext uri="{BB962C8B-B14F-4D97-AF65-F5344CB8AC3E}">
        <p14:creationId xmlns:p14="http://schemas.microsoft.com/office/powerpoint/2010/main" val="1770122538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FDD315-3EA9-4436-8B38-94059945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Executable pattern</a:t>
            </a:r>
          </a:p>
        </p:txBody>
      </p:sp>
      <p:sp>
        <p:nvSpPr>
          <p:cNvPr id="2" name="title-rule-63-42-119">
            <a:extLst xmlns:a="http://schemas.openxmlformats.org/drawingml/2006/main">
              <a:ext uri="{FF2B5EF4-FFF2-40B4-BE49-F238E27FC236}">
                <a16:creationId xmlns:a16="http://schemas.microsoft.com/office/drawing/2014/main" id="{EBEFFE88-058F-473A-A6E8-CD3E3473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2DF1C9A7-1104-4D95-BDB8-3ADC03B5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4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075F56B-702F-483E-B301-15870AA8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63</a:t>
            </a:r>
          </a:p>
        </p:txBody>
      </p:sp>
      <p:sp>
        <p:nvSpPr>
          <p:cNvPr id="5" name="code-panel-63-42-150">
            <a:extLst xmlns:a="http://schemas.openxmlformats.org/drawingml/2006/main">
              <a:ext uri="{FF2B5EF4-FFF2-40B4-BE49-F238E27FC236}">
                <a16:creationId xmlns:a16="http://schemas.microsoft.com/office/drawing/2014/main" id="{ABE67DA3-96B4-4ED9-ACB1-68DE0B03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7239000" cy="4572000"/>
          </a:xfrm>
          <a:prstGeom xmlns:a="http://schemas.openxmlformats.org/drawingml/2006/main" prst="roundRect">
            <a:avLst>
              <a:gd name="adj" fmla="val 833"/>
            </a:avLst>
          </a:prstGeom>
          <a:solidFill xmlns:a="http://schemas.openxmlformats.org/drawingml/2006/main">
            <a:srgbClr val="071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6DC9CD55-FC62-4B98-97E7-6BF7B5CD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676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from camel_tools.utils.normalize import normalize_alef_ar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from camel_tools.utils.dediac import dediac_ar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def normalize_ar(text, profile):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    text = normalize_alef_ar(text)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    if profile.dediacritize: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        text = dediac_ar(text)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    return 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assert normalize_ar(golden.raw, profile) == golden.expected</a:t>
            </a:r>
          </a:p>
        </p:txBody>
      </p:sp>
      <p:sp>
        <p:nvSpPr>
          <p:cNvPr id="7" name="text-63-850-165">
            <a:extLst xmlns:a="http://schemas.openxmlformats.org/drawingml/2006/main">
              <a:ext uri="{FF2B5EF4-FFF2-40B4-BE49-F238E27FC236}">
                <a16:creationId xmlns:a16="http://schemas.microsoft.com/office/drawing/2014/main" id="{BACF1AD9-0D81-4753-AE1D-0DA3F4E1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READ THE CONTRACT</a:t>
            </a:r>
          </a:p>
        </p:txBody>
      </p:sp>
      <p:sp>
        <p:nvSpPr>
          <p:cNvPr id="8" name="text-63-850-220">
            <a:extLst xmlns:a="http://schemas.openxmlformats.org/drawingml/2006/main">
              <a:ext uri="{FF2B5EF4-FFF2-40B4-BE49-F238E27FC236}">
                <a16:creationId xmlns:a16="http://schemas.microsoft.com/office/drawing/2014/main" id="{24EC2961-36AC-46CB-AB88-C687C083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190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Profile decisions per checkpoint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Golden examples protect edge cases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Normalise model copy, preserve display copy</a:t>
            </a:r>
          </a:p>
        </p:txBody>
      </p:sp>
    </p:spTree>
    <p:extLst>
      <p:ext uri="{BB962C8B-B14F-4D97-AF65-F5344CB8AC3E}">
        <p14:creationId xmlns:p14="http://schemas.microsoft.com/office/powerpoint/2010/main" val="1697080859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B9C708-90AF-487D-8EF4-6C5845D9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Apply the concept before the lab</a:t>
            </a:r>
          </a:p>
        </p:txBody>
      </p:sp>
      <p:sp>
        <p:nvSpPr>
          <p:cNvPr id="2" name="title-rule-64-42-119">
            <a:extLst xmlns:a="http://schemas.openxmlformats.org/drawingml/2006/main">
              <a:ext uri="{FF2B5EF4-FFF2-40B4-BE49-F238E27FC236}">
                <a16:creationId xmlns:a16="http://schemas.microsoft.com/office/drawing/2014/main" id="{E192EA4A-88C4-4297-881E-172E1B19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A6EE23B6-EF8F-4F21-812C-AC5FF021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4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987E842-83E5-44C1-9AF4-07419F3D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64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96B17492-F89B-4FF1-AF5A-25784885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Disambiguate كتب 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Segment وبالرياض and align its entity tag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Argue whether a second Arabic model earns its hosting cost</a:t>
            </a:r>
          </a:p>
        </p:txBody>
      </p:sp>
      <p:sp>
        <p:nvSpPr>
          <p:cNvPr id="6" name="callout-panel-64-835-175">
            <a:extLst xmlns:a="http://schemas.openxmlformats.org/drawingml/2006/main">
              <a:ext uri="{FF2B5EF4-FFF2-40B4-BE49-F238E27FC236}">
                <a16:creationId xmlns:a16="http://schemas.microsoft.com/office/drawing/2014/main" id="{59EE8C61-09E2-4545-916F-D6F68755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64-865-205">
            <a:extLst xmlns:a="http://schemas.openxmlformats.org/drawingml/2006/main">
              <a:ext uri="{FF2B5EF4-FFF2-40B4-BE49-F238E27FC236}">
                <a16:creationId xmlns:a16="http://schemas.microsoft.com/office/drawing/2014/main" id="{744BF336-4BAD-4918-A3CE-4074ECE8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ACTIVITY</a:t>
            </a:r>
          </a:p>
        </p:txBody>
      </p:sp>
      <p:sp>
        <p:nvSpPr>
          <p:cNvPr id="8" name="text-64-865-260">
            <a:extLst xmlns:a="http://schemas.openxmlformats.org/drawingml/2006/main">
              <a:ext uri="{FF2B5EF4-FFF2-40B4-BE49-F238E27FC236}">
                <a16:creationId xmlns:a16="http://schemas.microsoft.com/office/drawing/2014/main" id="{A3EBFC22-9165-4671-AA5D-7EEFE6C7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2239"/>
                </a:solidFill>
              </a:defRPr>
            </a:pPr>
            <a:r>
              <a:rPr sz="3300" b="1" i="0">
                <a:solidFill>
                  <a:srgbClr val="0B2239"/>
                </a:solidFill>
              </a:rPr>
              <a:t>10 min</a:t>
            </a:r>
          </a:p>
        </p:txBody>
      </p:sp>
      <p:sp>
        <p:nvSpPr>
          <p:cNvPr id="9" name="text-64-865-410">
            <a:extLst xmlns:a="http://schemas.openxmlformats.org/drawingml/2006/main">
              <a:ext uri="{FF2B5EF4-FFF2-40B4-BE49-F238E27FC236}">
                <a16:creationId xmlns:a16="http://schemas.microsoft.com/office/drawing/2014/main" id="{B6FE323B-73BD-4992-83D5-5A75652A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Predict first; measure second; defend the evidence.</a:t>
            </a:r>
          </a:p>
        </p:txBody>
      </p:sp>
    </p:spTree>
    <p:extLst>
      <p:ext uri="{BB962C8B-B14F-4D97-AF65-F5344CB8AC3E}">
        <p14:creationId xmlns:p14="http://schemas.microsoft.com/office/powerpoint/2010/main" val="1398612415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F292CD-2663-4401-B7EE-2514BB2E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Aggregate gains hide the Gulf-dialect story</a:t>
            </a:r>
          </a:p>
        </p:txBody>
      </p:sp>
      <p:sp>
        <p:nvSpPr>
          <p:cNvPr id="2" name="title-rule-65-42-119">
            <a:extLst xmlns:a="http://schemas.openxmlformats.org/drawingml/2006/main">
              <a:ext uri="{FF2B5EF4-FFF2-40B4-BE49-F238E27FC236}">
                <a16:creationId xmlns:a16="http://schemas.microsoft.com/office/drawing/2014/main" id="{6EBC94F8-30DA-4CCA-B2DF-BE5D50DE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67A90B76-E281-482F-8A87-64087485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4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A2994B7-6BAE-41E9-BA12-366FEB07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65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0050" y="1476375"/>
          <a:ext xmlns:a="http://schemas.openxmlformats.org/drawingml/2006/main" cx="6286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08764c947347d5"/>
          </a:graphicData>
        </a:graphic>
      </p:graphicFrame>
      <p:sp>
        <p:nvSpPr>
          <p:cNvPr id="6" name="chart-callout-65-752-165">
            <a:extLst xmlns:a="http://schemas.openxmlformats.org/drawingml/2006/main">
              <a:ext uri="{FF2B5EF4-FFF2-40B4-BE49-F238E27FC236}">
                <a16:creationId xmlns:a16="http://schemas.microsoft.com/office/drawing/2014/main" id="{46414823-2836-42CB-8C63-0B921F3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71625"/>
            <a:ext cx="4248150" cy="112395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5-780-185">
            <a:extLst xmlns:a="http://schemas.openxmlformats.org/drawingml/2006/main">
              <a:ext uri="{FF2B5EF4-FFF2-40B4-BE49-F238E27FC236}">
                <a16:creationId xmlns:a16="http://schemas.microsoft.com/office/drawing/2014/main" id="{268C3BB2-1213-4FE5-B649-C524D6BC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6C3"/>
                </a:solidFill>
              </a:defRPr>
            </a:pPr>
            <a:r>
              <a:rPr sz="1725" b="1" i="0">
                <a:solidFill>
                  <a:srgbClr val="0B66C3"/>
                </a:solidFill>
              </a:rPr>
              <a:t>+3 points overall</a:t>
            </a:r>
          </a:p>
        </p:txBody>
      </p:sp>
      <p:sp>
        <p:nvSpPr>
          <p:cNvPr id="8" name="text-65-780-223">
            <a:extLst xmlns:a="http://schemas.openxmlformats.org/drawingml/2006/main">
              <a:ext uri="{FF2B5EF4-FFF2-40B4-BE49-F238E27FC236}">
                <a16:creationId xmlns:a16="http://schemas.microsoft.com/office/drawing/2014/main" id="{F9C247E9-34E9-4310-A6CD-899905B0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240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273"/>
                </a:solidFill>
              </a:defRPr>
            </a:pPr>
            <a:r>
              <a:rPr sz="1425" b="0" i="0">
                <a:solidFill>
                  <a:srgbClr val="526273"/>
                </a:solidFill>
              </a:rPr>
              <a:t>Useful, but incomplete.</a:t>
            </a:r>
          </a:p>
        </p:txBody>
      </p:sp>
      <p:sp>
        <p:nvSpPr>
          <p:cNvPr id="9" name="chart-callout-65-752-310">
            <a:extLst xmlns:a="http://schemas.openxmlformats.org/drawingml/2006/main">
              <a:ext uri="{FF2B5EF4-FFF2-40B4-BE49-F238E27FC236}">
                <a16:creationId xmlns:a16="http://schemas.microsoft.com/office/drawing/2014/main" id="{EF42FCF7-E1CA-4262-90A9-057BEF09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52750"/>
            <a:ext cx="4248150" cy="112395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65-780-330">
            <a:extLst xmlns:a="http://schemas.openxmlformats.org/drawingml/2006/main">
              <a:ext uri="{FF2B5EF4-FFF2-40B4-BE49-F238E27FC236}">
                <a16:creationId xmlns:a16="http://schemas.microsoft.com/office/drawing/2014/main" id="{4450F787-193A-4621-BE4A-F941154D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6C3"/>
                </a:solidFill>
              </a:defRPr>
            </a:pPr>
            <a:r>
              <a:rPr sz="1725" b="1" i="0">
                <a:solidFill>
                  <a:srgbClr val="0B66C3"/>
                </a:solidFill>
              </a:rPr>
              <a:t>+6 points on Gulf</a:t>
            </a:r>
          </a:p>
        </p:txBody>
      </p:sp>
      <p:sp>
        <p:nvSpPr>
          <p:cNvPr id="11" name="text-65-780-368">
            <a:extLst xmlns:a="http://schemas.openxmlformats.org/drawingml/2006/main">
              <a:ext uri="{FF2B5EF4-FFF2-40B4-BE49-F238E27FC236}">
                <a16:creationId xmlns:a16="http://schemas.microsoft.com/office/drawing/2014/main" id="{570AA18B-5FEE-45D2-915F-05F6ED25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052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273"/>
                </a:solidFill>
              </a:defRPr>
            </a:pPr>
            <a:r>
              <a:rPr sz="1425" b="0" i="0">
                <a:solidFill>
                  <a:srgbClr val="526273"/>
                </a:solidFill>
              </a:rPr>
              <a:t>The population that justified the change.</a:t>
            </a:r>
          </a:p>
        </p:txBody>
      </p:sp>
      <p:sp>
        <p:nvSpPr>
          <p:cNvPr id="12" name="chart-callout-65-752-455">
            <a:extLst xmlns:a="http://schemas.openxmlformats.org/drawingml/2006/main">
              <a:ext uri="{FF2B5EF4-FFF2-40B4-BE49-F238E27FC236}">
                <a16:creationId xmlns:a16="http://schemas.microsoft.com/office/drawing/2014/main" id="{9D645B70-9F5F-4F99-80EE-F68CE73F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33875"/>
            <a:ext cx="4248150" cy="112395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65-780-475">
            <a:extLst xmlns:a="http://schemas.openxmlformats.org/drawingml/2006/main">
              <a:ext uri="{FF2B5EF4-FFF2-40B4-BE49-F238E27FC236}">
                <a16:creationId xmlns:a16="http://schemas.microsoft.com/office/drawing/2014/main" id="{C52AA2AE-C98E-44E3-8E00-EE3440DD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243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6C3"/>
                </a:solidFill>
              </a:defRPr>
            </a:pPr>
            <a:r>
              <a:rPr sz="1725" b="1" i="0">
                <a:solidFill>
                  <a:srgbClr val="0B66C3"/>
                </a:solidFill>
              </a:rPr>
              <a:t>Verdict</a:t>
            </a:r>
          </a:p>
        </p:txBody>
      </p:sp>
      <p:sp>
        <p:nvSpPr>
          <p:cNvPr id="14" name="text-65-780-513">
            <a:extLst xmlns:a="http://schemas.openxmlformats.org/drawingml/2006/main">
              <a:ext uri="{FF2B5EF4-FFF2-40B4-BE49-F238E27FC236}">
                <a16:creationId xmlns:a16="http://schemas.microsoft.com/office/drawing/2014/main" id="{251B8327-72D3-40B4-9690-DE288EA8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863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273"/>
                </a:solidFill>
              </a:defRPr>
            </a:pPr>
            <a:r>
              <a:rPr sz="1425" b="0" i="0">
                <a:solidFill>
                  <a:srgbClr val="526273"/>
                </a:solidFill>
              </a:rPr>
              <a:t>Publish both slices with uncertainty.</a:t>
            </a:r>
          </a:p>
        </p:txBody>
      </p:sp>
    </p:spTree>
    <p:extLst>
      <p:ext uri="{BB962C8B-B14F-4D97-AF65-F5344CB8AC3E}">
        <p14:creationId xmlns:p14="http://schemas.microsoft.com/office/powerpoint/2010/main" val="718472760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9FFF4B-C2B0-4C70-A029-F9E097DE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Day 2 checkpoint</a:t>
            </a:r>
          </a:p>
        </p:txBody>
      </p:sp>
      <p:sp>
        <p:nvSpPr>
          <p:cNvPr id="2" name="title-rule-66-42-119">
            <a:extLst xmlns:a="http://schemas.openxmlformats.org/drawingml/2006/main">
              <a:ext uri="{FF2B5EF4-FFF2-40B4-BE49-F238E27FC236}">
                <a16:creationId xmlns:a16="http://schemas.microsoft.com/office/drawing/2014/main" id="{5EB277ED-A072-428D-A35D-25BD126F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9B32B64-5498-4386-B322-59EB23D5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D77755E-5A80-40C1-A24E-AC7E299D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66</a:t>
            </a:r>
          </a:p>
        </p:txBody>
      </p:sp>
      <p:sp>
        <p:nvSpPr>
          <p:cNvPr id="5" name="text-66-42-185">
            <a:extLst xmlns:a="http://schemas.openxmlformats.org/drawingml/2006/main">
              <a:ext uri="{FF2B5EF4-FFF2-40B4-BE49-F238E27FC236}">
                <a16:creationId xmlns:a16="http://schemas.microsoft.com/office/drawing/2014/main" id="{152903B8-212B-4B90-A0AE-7885D669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2239"/>
                </a:solidFill>
              </a:defRPr>
            </a:pPr>
            <a:r>
              <a:rPr sz="4050" b="1" i="0">
                <a:solidFill>
                  <a:srgbClr val="0B2239"/>
                </a:solidFill>
              </a:rPr>
              <a:t>A fine-tuned checkpoint is not finished until its data, labels, tokenizer, and metrics travel with it.</a:t>
            </a:r>
          </a:p>
        </p:txBody>
      </p:sp>
      <p:sp>
        <p:nvSpPr>
          <p:cNvPr id="6" name="statement-accent-66-42-435">
            <a:extLst xmlns:a="http://schemas.openxmlformats.org/drawingml/2006/main">
              <a:ext uri="{FF2B5EF4-FFF2-40B4-BE49-F238E27FC236}">
                <a16:creationId xmlns:a16="http://schemas.microsoft.com/office/drawing/2014/main" id="{8E620452-3A0D-485E-AF53-2BCF981E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95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6-78-448">
            <a:extLst xmlns:a="http://schemas.openxmlformats.org/drawingml/2006/main">
              <a:ext uri="{FF2B5EF4-FFF2-40B4-BE49-F238E27FC236}">
                <a16:creationId xmlns:a16="http://schemas.microsoft.com/office/drawing/2014/main" id="{F6BEAAC3-B2E3-4389-A83A-C3F89FED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9763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26273"/>
                </a:solidFill>
              </a:defRPr>
            </a:pPr>
            <a:r>
              <a:rPr sz="1875" b="0" i="0">
                <a:solidFill>
                  <a:srgbClr val="526273"/>
                </a:solidFill>
              </a:rPr>
              <a:t>Commit three model artefacts, configs, smoke tests, and model-card drafts. Day 3 will challenge the Arabic slices and retrieval quality.</a:t>
            </a:r>
          </a:p>
        </p:txBody>
      </p:sp>
    </p:spTree>
    <p:extLst>
      <p:ext uri="{BB962C8B-B14F-4D97-AF65-F5344CB8AC3E}">
        <p14:creationId xmlns:p14="http://schemas.microsoft.com/office/powerpoint/2010/main" val="1693048634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67-42-42">
            <a:extLst xmlns:a="http://schemas.openxmlformats.org/drawingml/2006/main">
              <a:ext uri="{FF2B5EF4-FFF2-40B4-BE49-F238E27FC236}">
                <a16:creationId xmlns:a16="http://schemas.microsoft.com/office/drawing/2014/main" id="{A78A8B25-0DAD-4D00-8751-37F29F0B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DAY 3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C74CB124-01C4-430A-89B4-A72C3516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B2239"/>
                </a:solidFill>
              </a:defRPr>
            </a:pPr>
            <a:r>
              <a:rPr sz="5850" b="1" i="0">
                <a:solidFill>
                  <a:srgbClr val="0B2239"/>
                </a:solidFill>
              </a:rPr>
              <a:t>Arabic depth, search, and truth</a:t>
            </a:r>
          </a:p>
        </p:txBody>
      </p:sp>
      <p:sp>
        <p:nvSpPr>
          <p:cNvPr id="3" name="accent-rule-67-42-545">
            <a:extLst xmlns:a="http://schemas.openxmlformats.org/drawingml/2006/main">
              <a:ext uri="{FF2B5EF4-FFF2-40B4-BE49-F238E27FC236}">
                <a16:creationId xmlns:a16="http://schemas.microsoft.com/office/drawing/2014/main" id="{677C1633-C751-4386-812D-907FB255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67-42-575">
            <a:extLst xmlns:a="http://schemas.openxmlformats.org/drawingml/2006/main">
              <a:ext uri="{FF2B5EF4-FFF2-40B4-BE49-F238E27FC236}">
                <a16:creationId xmlns:a16="http://schemas.microsoft.com/office/drawing/2014/main" id="{D4B4105A-7FB9-4E3B-9EA2-5A2DC020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26273"/>
                </a:solidFill>
              </a:defRPr>
            </a:pPr>
            <a:r>
              <a:rPr sz="1800" b="0" i="0">
                <a:solidFill>
                  <a:srgbClr val="526273"/>
                </a:solidFill>
              </a:rPr>
              <a:t>Improve the Gulf slice, retrieve across languages, and build the evaluation report leadership can trust.</a:t>
            </a:r>
          </a:p>
        </p:txBody>
      </p:sp>
      <p:sp>
        <p:nvSpPr>
          <p:cNvPr id="5" name="text-67-1180-676">
            <a:extLst xmlns:a="http://schemas.openxmlformats.org/drawingml/2006/main">
              <a:ext uri="{FF2B5EF4-FFF2-40B4-BE49-F238E27FC236}">
                <a16:creationId xmlns:a16="http://schemas.microsoft.com/office/drawing/2014/main" id="{B89340A8-CA4D-40C6-8AC0-7F32EE7B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606673619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A9716E-16E6-4CB9-829C-07264358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Lab 4 — Arabic pipeline and dialect-aware fine-tuning</a:t>
            </a:r>
          </a:p>
        </p:txBody>
      </p:sp>
      <p:sp>
        <p:nvSpPr>
          <p:cNvPr id="2" name="title-rule-68-42-119">
            <a:extLst xmlns:a="http://schemas.openxmlformats.org/drawingml/2006/main">
              <a:ext uri="{FF2B5EF4-FFF2-40B4-BE49-F238E27FC236}">
                <a16:creationId xmlns:a16="http://schemas.microsoft.com/office/drawing/2014/main" id="{15DB1824-3EE1-40FF-9B03-2C8E3DA1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969333F5-7EA8-4183-8320-CE44D18D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4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723E498-39E0-49EC-BD7A-262175D9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68</a:t>
            </a:r>
          </a:p>
        </p:txBody>
      </p:sp>
      <p:sp>
        <p:nvSpPr>
          <p:cNvPr id="5" name="text-68-52-160">
            <a:extLst xmlns:a="http://schemas.openxmlformats.org/drawingml/2006/main">
              <a:ext uri="{FF2B5EF4-FFF2-40B4-BE49-F238E27FC236}">
                <a16:creationId xmlns:a16="http://schemas.microsoft.com/office/drawing/2014/main" id="{F6960B02-C831-45B4-B16D-8AAC47BB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BUILD</a:t>
            </a:r>
          </a:p>
        </p:txBody>
      </p:sp>
      <p:sp>
        <p:nvSpPr>
          <p:cNvPr id="6" name="text-68-52-220">
            <a:extLst xmlns:a="http://schemas.openxmlformats.org/drawingml/2006/main">
              <a:ext uri="{FF2B5EF4-FFF2-40B4-BE49-F238E27FC236}">
                <a16:creationId xmlns:a16="http://schemas.microsoft.com/office/drawing/2014/main" id="{EC6A45C7-A97B-4F8D-A2D4-4B09A614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01</a:t>
            </a:r>
          </a:p>
        </p:txBody>
      </p:sp>
      <p:sp>
        <p:nvSpPr>
          <p:cNvPr id="7" name="text-68-122-220">
            <a:extLst xmlns:a="http://schemas.openxmlformats.org/drawingml/2006/main">
              <a:ext uri="{FF2B5EF4-FFF2-40B4-BE49-F238E27FC236}">
                <a16:creationId xmlns:a16="http://schemas.microsoft.com/office/drawing/2014/main" id="{99DB889F-0913-4BB1-945C-5F7A5176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Pass 30 Arabic golden pairs</a:t>
            </a:r>
          </a:p>
        </p:txBody>
      </p:sp>
      <p:sp>
        <p:nvSpPr>
          <p:cNvPr id="8" name="text-68-52-312">
            <a:extLst xmlns:a="http://schemas.openxmlformats.org/drawingml/2006/main">
              <a:ext uri="{FF2B5EF4-FFF2-40B4-BE49-F238E27FC236}">
                <a16:creationId xmlns:a16="http://schemas.microsoft.com/office/drawing/2014/main" id="{4E19EF78-E89F-4196-A6C2-32F36B13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02</a:t>
            </a:r>
          </a:p>
        </p:txBody>
      </p:sp>
      <p:sp>
        <p:nvSpPr>
          <p:cNvPr id="9" name="text-68-122-312">
            <a:extLst xmlns:a="http://schemas.openxmlformats.org/drawingml/2006/main">
              <a:ext uri="{FF2B5EF4-FFF2-40B4-BE49-F238E27FC236}">
                <a16:creationId xmlns:a16="http://schemas.microsoft.com/office/drawing/2014/main" id="{3A0961DD-22BA-4CBD-BE9D-A4E7FC5C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Audit dialect mix with CAMeL Tools</a:t>
            </a:r>
          </a:p>
        </p:txBody>
      </p:sp>
      <p:sp>
        <p:nvSpPr>
          <p:cNvPr id="10" name="text-68-52-404">
            <a:extLst xmlns:a="http://schemas.openxmlformats.org/drawingml/2006/main">
              <a:ext uri="{FF2B5EF4-FFF2-40B4-BE49-F238E27FC236}">
                <a16:creationId xmlns:a16="http://schemas.microsoft.com/office/drawing/2014/main" id="{37E8F10C-54A4-446B-AA0D-AD823192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03</a:t>
            </a:r>
          </a:p>
        </p:txBody>
      </p:sp>
      <p:sp>
        <p:nvSpPr>
          <p:cNvPr id="11" name="text-68-122-404">
            <a:extLst xmlns:a="http://schemas.openxmlformats.org/drawingml/2006/main">
              <a:ext uri="{FF2B5EF4-FFF2-40B4-BE49-F238E27FC236}">
                <a16:creationId xmlns:a16="http://schemas.microsoft.com/office/drawing/2014/main" id="{1EBCCB60-8DA9-4274-8B60-969E6759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Fine-tune an Arabic-centric checkpoint</a:t>
            </a:r>
          </a:p>
        </p:txBody>
      </p:sp>
      <p:sp>
        <p:nvSpPr>
          <p:cNvPr id="12" name="text-68-52-496">
            <a:extLst xmlns:a="http://schemas.openxmlformats.org/drawingml/2006/main">
              <a:ext uri="{FF2B5EF4-FFF2-40B4-BE49-F238E27FC236}">
                <a16:creationId xmlns:a16="http://schemas.microsoft.com/office/drawing/2014/main" id="{FB62D2AA-E8DB-4560-B70A-D259B2EF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04</a:t>
            </a:r>
          </a:p>
        </p:txBody>
      </p:sp>
      <p:sp>
        <p:nvSpPr>
          <p:cNvPr id="13" name="text-68-122-496">
            <a:extLst xmlns:a="http://schemas.openxmlformats.org/drawingml/2006/main">
              <a:ext uri="{FF2B5EF4-FFF2-40B4-BE49-F238E27FC236}">
                <a16:creationId xmlns:a16="http://schemas.microsoft.com/office/drawing/2014/main" id="{1BC62790-E94C-4252-A515-A3E28D75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244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Compare all/Gulf/MSA with intervals</a:t>
            </a:r>
          </a:p>
        </p:txBody>
      </p:sp>
      <p:sp>
        <p:nvSpPr>
          <p:cNvPr id="14" name="evidence-panel-68-820-175">
            <a:extLst xmlns:a="http://schemas.openxmlformats.org/drawingml/2006/main">
              <a:ext uri="{FF2B5EF4-FFF2-40B4-BE49-F238E27FC236}">
                <a16:creationId xmlns:a16="http://schemas.microsoft.com/office/drawing/2014/main" id="{85ACBB63-5646-48D5-AEE6-765713C7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3600450" cy="3905250"/>
          </a:xfrm>
          <a:prstGeom xmlns:a="http://schemas.openxmlformats.org/drawingml/2006/main" prst="roundRect">
            <a:avLst>
              <a:gd name="adj" fmla="val 105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5" name="text-68-850-205">
            <a:extLst xmlns:a="http://schemas.openxmlformats.org/drawingml/2006/main">
              <a:ext uri="{FF2B5EF4-FFF2-40B4-BE49-F238E27FC236}">
                <a16:creationId xmlns:a16="http://schemas.microsoft.com/office/drawing/2014/main" id="{EE01AD15-386D-4BE8-A39A-5538B592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66C3"/>
                </a:solidFill>
              </a:defRPr>
            </a:pPr>
            <a:r>
              <a:rPr sz="1275" b="1" i="0">
                <a:solidFill>
                  <a:srgbClr val="0B66C3"/>
                </a:solidFill>
              </a:rPr>
              <a:t>EVIDENCE TO COMMIT</a:t>
            </a:r>
          </a:p>
        </p:txBody>
      </p:sp>
      <p:sp>
        <p:nvSpPr>
          <p:cNvPr id="16" name="text-68-850-270">
            <a:extLst xmlns:a="http://schemas.openxmlformats.org/drawingml/2006/main">
              <a:ext uri="{FF2B5EF4-FFF2-40B4-BE49-F238E27FC236}">
                <a16:creationId xmlns:a16="http://schemas.microsoft.com/office/drawing/2014/main" id="{481ED5DC-550A-43D8-8D56-5767B868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0003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Arabic golden tests green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Dialect audit committed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Gulf slice improves with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DECISIONS.md#arabic-model</a:t>
            </a:r>
          </a:p>
        </p:txBody>
      </p:sp>
    </p:spTree>
    <p:extLst>
      <p:ext uri="{BB962C8B-B14F-4D97-AF65-F5344CB8AC3E}">
        <p14:creationId xmlns:p14="http://schemas.microsoft.com/office/powerpoint/2010/main" val="222570394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69-42-42">
            <a:extLst xmlns:a="http://schemas.openxmlformats.org/drawingml/2006/main">
              <a:ext uri="{FF2B5EF4-FFF2-40B4-BE49-F238E27FC236}">
                <a16:creationId xmlns:a16="http://schemas.microsoft.com/office/drawing/2014/main" id="{F436953F-AAA1-4D57-B5BF-7961F125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M5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21A26B45-51F6-46B4-AE41-AE382D74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B2239"/>
                </a:solidFill>
              </a:defRPr>
            </a:pPr>
            <a:r>
              <a:rPr sz="5850" b="1" i="0">
                <a:solidFill>
                  <a:srgbClr val="0B2239"/>
                </a:solidFill>
              </a:rPr>
              <a:t>Semantic search with sentence embeddings</a:t>
            </a:r>
          </a:p>
        </p:txBody>
      </p:sp>
      <p:sp>
        <p:nvSpPr>
          <p:cNvPr id="3" name="accent-rule-69-42-545">
            <a:extLst xmlns:a="http://schemas.openxmlformats.org/drawingml/2006/main">
              <a:ext uri="{FF2B5EF4-FFF2-40B4-BE49-F238E27FC236}">
                <a16:creationId xmlns:a16="http://schemas.microsoft.com/office/drawing/2014/main" id="{A6FE1A20-79E7-49D1-A268-4ABDA510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69-42-575">
            <a:extLst xmlns:a="http://schemas.openxmlformats.org/drawingml/2006/main">
              <a:ext uri="{FF2B5EF4-FFF2-40B4-BE49-F238E27FC236}">
                <a16:creationId xmlns:a16="http://schemas.microsoft.com/office/drawing/2014/main" id="{C7BA79EA-FF6D-4FBD-A420-14AC1BA1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26273"/>
                </a:solidFill>
              </a:defRPr>
            </a:pPr>
            <a:r>
              <a:rPr sz="1800" b="0" i="0">
                <a:solidFill>
                  <a:srgbClr val="526273"/>
                </a:solidFill>
              </a:rPr>
              <a:t>Semantic search upgrades keyword systems quickly—and becomes the retrieval foundation that later RAG systems depend on.</a:t>
            </a:r>
          </a:p>
        </p:txBody>
      </p:sp>
      <p:sp>
        <p:nvSpPr>
          <p:cNvPr id="5" name="text-69-1180-676">
            <a:extLst xmlns:a="http://schemas.openxmlformats.org/drawingml/2006/main">
              <a:ext uri="{FF2B5EF4-FFF2-40B4-BE49-F238E27FC236}">
                <a16:creationId xmlns:a16="http://schemas.microsoft.com/office/drawing/2014/main" id="{658C6E16-D849-4D0D-89B5-90884828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392967547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73B46F-9F79-493E-BCCC-8EE2347F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M5 thesis</a:t>
            </a:r>
          </a:p>
        </p:txBody>
      </p:sp>
      <p:sp>
        <p:nvSpPr>
          <p:cNvPr id="2" name="title-rule-70-42-119">
            <a:extLst xmlns:a="http://schemas.openxmlformats.org/drawingml/2006/main">
              <a:ext uri="{FF2B5EF4-FFF2-40B4-BE49-F238E27FC236}">
                <a16:creationId xmlns:a16="http://schemas.microsoft.com/office/drawing/2014/main" id="{EABC4475-C747-47DD-8F58-BDBA5669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04FB6F2C-B758-4E77-8C38-93562C74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718F779-EB42-47EE-98A9-831570D3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70</a:t>
            </a:r>
          </a:p>
        </p:txBody>
      </p:sp>
      <p:sp>
        <p:nvSpPr>
          <p:cNvPr id="5" name="text-70-42-185">
            <a:extLst xmlns:a="http://schemas.openxmlformats.org/drawingml/2006/main">
              <a:ext uri="{FF2B5EF4-FFF2-40B4-BE49-F238E27FC236}">
                <a16:creationId xmlns:a16="http://schemas.microsoft.com/office/drawing/2014/main" id="{1B5B2C5D-5AF6-41ED-A2D6-1EE1BBE8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2239"/>
                </a:solidFill>
              </a:defRPr>
            </a:pPr>
            <a:r>
              <a:rPr sz="4050" b="1" i="0">
                <a:solidFill>
                  <a:srgbClr val="0B2239"/>
                </a:solidFill>
              </a:rPr>
              <a:t>Semantic search upgrades keyword systems quickly—and becomes the retrieval foundation that later RAG systems depend on.</a:t>
            </a:r>
          </a:p>
        </p:txBody>
      </p:sp>
      <p:sp>
        <p:nvSpPr>
          <p:cNvPr id="6" name="statement-accent-70-42-435">
            <a:extLst xmlns:a="http://schemas.openxmlformats.org/drawingml/2006/main">
              <a:ext uri="{FF2B5EF4-FFF2-40B4-BE49-F238E27FC236}">
                <a16:creationId xmlns:a16="http://schemas.microsoft.com/office/drawing/2014/main" id="{630D4F50-9D4D-4FEC-A617-DC44B37B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95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70-78-448">
            <a:extLst xmlns:a="http://schemas.openxmlformats.org/drawingml/2006/main">
              <a:ext uri="{FF2B5EF4-FFF2-40B4-BE49-F238E27FC236}">
                <a16:creationId xmlns:a16="http://schemas.microsoft.com/office/drawing/2014/main" id="{B174037F-5C52-439F-9D92-E782E56B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9763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26273"/>
                </a:solidFill>
              </a:defRPr>
            </a:pPr>
            <a:r>
              <a:rPr sz="1875" b="0" i="0">
                <a:solidFill>
                  <a:srgbClr val="526273"/>
                </a:solidFill>
              </a:rPr>
              <a:t>The profession lives in the preprocessing contract, the evaluation slices, and the milliseconds—not in a checkpoint name.</a:t>
            </a:r>
          </a:p>
        </p:txBody>
      </p:sp>
    </p:spTree>
    <p:extLst>
      <p:ext uri="{BB962C8B-B14F-4D97-AF65-F5344CB8AC3E}">
        <p14:creationId xmlns:p14="http://schemas.microsoft.com/office/powerpoint/2010/main" val="542546548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A87BEC-EF61-4656-A542-A6418220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What you will be able to do</a:t>
            </a:r>
          </a:p>
        </p:txBody>
      </p:sp>
      <p:sp>
        <p:nvSpPr>
          <p:cNvPr id="2" name="title-rule-71-42-119">
            <a:extLst xmlns:a="http://schemas.openxmlformats.org/drawingml/2006/main">
              <a:ext uri="{FF2B5EF4-FFF2-40B4-BE49-F238E27FC236}">
                <a16:creationId xmlns:a16="http://schemas.microsoft.com/office/drawing/2014/main" id="{90949E67-8FE7-4955-9CF2-CFCBFDCD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C16FF21E-0FA5-401B-979A-8A055A63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5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8A6AD92-1E71-4D47-9DC3-C01892D5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71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41781FA0-102E-434C-9A6F-EFD41CCD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Select a sentence-transformer for bilingual retrieval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Build and persist a normalised FAISS index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Add cross-encoder re-ranking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Measure recall@k and MRR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Quantify the cross-lingual gap and no-answer threshold</a:t>
            </a:r>
          </a:p>
        </p:txBody>
      </p:sp>
      <p:sp>
        <p:nvSpPr>
          <p:cNvPr id="6" name="callout-panel-71-835-175">
            <a:extLst xmlns:a="http://schemas.openxmlformats.org/drawingml/2006/main">
              <a:ext uri="{FF2B5EF4-FFF2-40B4-BE49-F238E27FC236}">
                <a16:creationId xmlns:a16="http://schemas.microsoft.com/office/drawing/2014/main" id="{0EB8944D-375E-4935-8159-43D6B511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71-865-205">
            <a:extLst xmlns:a="http://schemas.openxmlformats.org/drawingml/2006/main">
              <a:ext uri="{FF2B5EF4-FFF2-40B4-BE49-F238E27FC236}">
                <a16:creationId xmlns:a16="http://schemas.microsoft.com/office/drawing/2014/main" id="{B41BDA05-8044-4268-A981-DE02F1C3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LEARNING OUTCOME</a:t>
            </a:r>
          </a:p>
        </p:txBody>
      </p:sp>
      <p:sp>
        <p:nvSpPr>
          <p:cNvPr id="8" name="text-71-865-260">
            <a:extLst xmlns:a="http://schemas.openxmlformats.org/drawingml/2006/main">
              <a:ext uri="{FF2B5EF4-FFF2-40B4-BE49-F238E27FC236}">
                <a16:creationId xmlns:a16="http://schemas.microsoft.com/office/drawing/2014/main" id="{A28F5617-DDC3-4C1D-AA1F-267F2C5F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2239"/>
                </a:solidFill>
              </a:defRPr>
            </a:pPr>
            <a:r>
              <a:rPr sz="3300" b="1" i="0">
                <a:solidFill>
                  <a:srgbClr val="0B2239"/>
                </a:solidFill>
              </a:rPr>
              <a:t>M5</a:t>
            </a:r>
          </a:p>
        </p:txBody>
      </p:sp>
      <p:sp>
        <p:nvSpPr>
          <p:cNvPr id="9" name="text-71-865-410">
            <a:extLst xmlns:a="http://schemas.openxmlformats.org/drawingml/2006/main">
              <a:ext uri="{FF2B5EF4-FFF2-40B4-BE49-F238E27FC236}">
                <a16:creationId xmlns:a16="http://schemas.microsoft.com/office/drawing/2014/main" id="{1193A0CE-5363-47F0-AC42-293B5B1B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Every capability produces a component of Bayan and evidence for the capstone.</a:t>
            </a:r>
          </a:p>
        </p:txBody>
      </p:sp>
    </p:spTree>
    <p:extLst>
      <p:ext uri="{BB962C8B-B14F-4D97-AF65-F5344CB8AC3E}">
        <p14:creationId xmlns:p14="http://schemas.microsoft.com/office/powerpoint/2010/main" val="1792260538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76584F-3E39-41C0-8691-972D211B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Raw BERT is not a sentence similarity model</a:t>
            </a:r>
          </a:p>
        </p:txBody>
      </p:sp>
      <p:sp>
        <p:nvSpPr>
          <p:cNvPr id="2" name="title-rule-72-42-119">
            <a:extLst xmlns:a="http://schemas.openxmlformats.org/drawingml/2006/main">
              <a:ext uri="{FF2B5EF4-FFF2-40B4-BE49-F238E27FC236}">
                <a16:creationId xmlns:a16="http://schemas.microsoft.com/office/drawing/2014/main" id="{905F415F-EBDC-46DC-A625-F68B3BDB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D274FB76-B276-415B-A7AB-0B1F03BC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5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4BCC312-1253-4C7C-8B23-1840CEF6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72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868B662B-0362-47BD-9D7A-BF9EC30A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 token encoder produces token vectors; contrastive sentence-transformer training shapes a space where cosine similarity tracks semantic similarity.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Mean pooling is a handle, not the objective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Match training data to relevance notion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Dimension is a memory and latency knob</a:t>
            </a:r>
          </a:p>
        </p:txBody>
      </p:sp>
      <p:sp>
        <p:nvSpPr>
          <p:cNvPr id="6" name="callout-panel-72-835-175">
            <a:extLst xmlns:a="http://schemas.openxmlformats.org/drawingml/2006/main">
              <a:ext uri="{FF2B5EF4-FFF2-40B4-BE49-F238E27FC236}">
                <a16:creationId xmlns:a16="http://schemas.microsoft.com/office/drawing/2014/main" id="{290F329A-68FE-4757-9DC9-6C4349BE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72-865-205">
            <a:extLst xmlns:a="http://schemas.openxmlformats.org/drawingml/2006/main">
              <a:ext uri="{FF2B5EF4-FFF2-40B4-BE49-F238E27FC236}">
                <a16:creationId xmlns:a16="http://schemas.microsoft.com/office/drawing/2014/main" id="{9DCC3A1E-079B-4149-ACF1-CFE7C924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1</a:t>
            </a:r>
          </a:p>
        </p:txBody>
      </p:sp>
      <p:sp>
        <p:nvSpPr>
          <p:cNvPr id="8" name="text-72-865-260">
            <a:extLst xmlns:a="http://schemas.openxmlformats.org/drawingml/2006/main">
              <a:ext uri="{FF2B5EF4-FFF2-40B4-BE49-F238E27FC236}">
                <a16:creationId xmlns:a16="http://schemas.microsoft.com/office/drawing/2014/main" id="{AE87B0BE-35EA-4944-AD7F-0BCD9FC5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01</a:t>
            </a:r>
          </a:p>
        </p:txBody>
      </p:sp>
      <p:sp>
        <p:nvSpPr>
          <p:cNvPr id="9" name="text-72-865-410">
            <a:extLst xmlns:a="http://schemas.openxmlformats.org/drawingml/2006/main">
              <a:ext uri="{FF2B5EF4-FFF2-40B4-BE49-F238E27FC236}">
                <a16:creationId xmlns:a16="http://schemas.microsoft.com/office/drawing/2014/main" id="{EB366B05-DFEE-4A6C-897C-35569AC7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5.</a:t>
            </a:r>
          </a:p>
        </p:txBody>
      </p:sp>
    </p:spTree>
    <p:extLst>
      <p:ext uri="{BB962C8B-B14F-4D97-AF65-F5344CB8AC3E}">
        <p14:creationId xmlns:p14="http://schemas.microsoft.com/office/powerpoint/2010/main" val="729988289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41BF37-FAB0-467F-BA23-B87509F6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Similarity metrics have contracts</a:t>
            </a:r>
          </a:p>
        </p:txBody>
      </p:sp>
      <p:sp>
        <p:nvSpPr>
          <p:cNvPr id="2" name="title-rule-73-42-119">
            <a:extLst xmlns:a="http://schemas.openxmlformats.org/drawingml/2006/main">
              <a:ext uri="{FF2B5EF4-FFF2-40B4-BE49-F238E27FC236}">
                <a16:creationId xmlns:a16="http://schemas.microsoft.com/office/drawing/2014/main" id="{33E52E14-63CF-46D9-A459-7549AB66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DB40D255-D497-4191-94DB-03B478B6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5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2B6D465-3B5A-4C40-B4C3-B2F90C72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73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FEAC35C2-E594-454D-9EDF-46690C7A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Cosine similarity equals inner product only after L2 normalisation. Normalising one side produces plausible but wrong rankings.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Normalise corpus and query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Test vector norms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Record the metric in the index manifest</a:t>
            </a:r>
          </a:p>
        </p:txBody>
      </p:sp>
      <p:sp>
        <p:nvSpPr>
          <p:cNvPr id="6" name="callout-panel-73-835-175">
            <a:extLst xmlns:a="http://schemas.openxmlformats.org/drawingml/2006/main">
              <a:ext uri="{FF2B5EF4-FFF2-40B4-BE49-F238E27FC236}">
                <a16:creationId xmlns:a16="http://schemas.microsoft.com/office/drawing/2014/main" id="{9814FFB8-2AE3-439C-83EA-8A5CCE3A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73-865-205">
            <a:extLst xmlns:a="http://schemas.openxmlformats.org/drawingml/2006/main">
              <a:ext uri="{FF2B5EF4-FFF2-40B4-BE49-F238E27FC236}">
                <a16:creationId xmlns:a16="http://schemas.microsoft.com/office/drawing/2014/main" id="{1C578D09-881B-40F1-A97B-993CAA14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2</a:t>
            </a:r>
          </a:p>
        </p:txBody>
      </p:sp>
      <p:sp>
        <p:nvSpPr>
          <p:cNvPr id="8" name="text-73-865-260">
            <a:extLst xmlns:a="http://schemas.openxmlformats.org/drawingml/2006/main">
              <a:ext uri="{FF2B5EF4-FFF2-40B4-BE49-F238E27FC236}">
                <a16:creationId xmlns:a16="http://schemas.microsoft.com/office/drawing/2014/main" id="{C89ECE97-1100-47A0-8438-E7A8A1C3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02</a:t>
            </a:r>
          </a:p>
        </p:txBody>
      </p:sp>
      <p:sp>
        <p:nvSpPr>
          <p:cNvPr id="9" name="text-73-865-410">
            <a:extLst xmlns:a="http://schemas.openxmlformats.org/drawingml/2006/main">
              <a:ext uri="{FF2B5EF4-FFF2-40B4-BE49-F238E27FC236}">
                <a16:creationId xmlns:a16="http://schemas.microsoft.com/office/drawing/2014/main" id="{F163FB3C-1C06-4334-9FA7-FC9DB483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5.</a:t>
            </a:r>
          </a:p>
        </p:txBody>
      </p:sp>
    </p:spTree>
    <p:extLst>
      <p:ext uri="{BB962C8B-B14F-4D97-AF65-F5344CB8AC3E}">
        <p14:creationId xmlns:p14="http://schemas.microsoft.com/office/powerpoint/2010/main" val="754537434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8E81CC-5154-4FC0-82AC-82FAD3A1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Bi-encoders buy scale; cross-encoders buy precision</a:t>
            </a:r>
          </a:p>
        </p:txBody>
      </p:sp>
      <p:sp>
        <p:nvSpPr>
          <p:cNvPr id="2" name="title-rule-74-42-119">
            <a:extLst xmlns:a="http://schemas.openxmlformats.org/drawingml/2006/main">
              <a:ext uri="{FF2B5EF4-FFF2-40B4-BE49-F238E27FC236}">
                <a16:creationId xmlns:a16="http://schemas.microsoft.com/office/drawing/2014/main" id="{3E45D375-824C-4248-B30B-55098EA4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BE5F950C-1A3B-4128-AA89-C1DCAE03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5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E35D6CB-57EE-4489-AA31-FED5D36F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74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3CC5161A-0CF6-4EEB-BD98-EE68A0DF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Bi-encoders precompute document vectors. Cross-encoders jointly read query and candidate but cost one forward pass per pair.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Retrieve broadly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Re-rank a small candidate 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Measure the latency tax</a:t>
            </a:r>
          </a:p>
        </p:txBody>
      </p:sp>
      <p:sp>
        <p:nvSpPr>
          <p:cNvPr id="6" name="callout-panel-74-835-175">
            <a:extLst xmlns:a="http://schemas.openxmlformats.org/drawingml/2006/main">
              <a:ext uri="{FF2B5EF4-FFF2-40B4-BE49-F238E27FC236}">
                <a16:creationId xmlns:a16="http://schemas.microsoft.com/office/drawing/2014/main" id="{AD153EAA-A3E7-46CC-92A4-D024BDE6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74-865-205">
            <a:extLst xmlns:a="http://schemas.openxmlformats.org/drawingml/2006/main">
              <a:ext uri="{FF2B5EF4-FFF2-40B4-BE49-F238E27FC236}">
                <a16:creationId xmlns:a16="http://schemas.microsoft.com/office/drawing/2014/main" id="{E533AA90-E335-4E8C-B26E-57DDB04C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3</a:t>
            </a:r>
          </a:p>
        </p:txBody>
      </p:sp>
      <p:sp>
        <p:nvSpPr>
          <p:cNvPr id="8" name="text-74-865-260">
            <a:extLst xmlns:a="http://schemas.openxmlformats.org/drawingml/2006/main">
              <a:ext uri="{FF2B5EF4-FFF2-40B4-BE49-F238E27FC236}">
                <a16:creationId xmlns:a16="http://schemas.microsoft.com/office/drawing/2014/main" id="{51BB3316-B8D2-4579-8AF5-AC358226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03</a:t>
            </a:r>
          </a:p>
        </p:txBody>
      </p:sp>
      <p:sp>
        <p:nvSpPr>
          <p:cNvPr id="9" name="text-74-865-410">
            <a:extLst xmlns:a="http://schemas.openxmlformats.org/drawingml/2006/main">
              <a:ext uri="{FF2B5EF4-FFF2-40B4-BE49-F238E27FC236}">
                <a16:creationId xmlns:a16="http://schemas.microsoft.com/office/drawing/2014/main" id="{BD3389F2-BCA4-4AA9-ADD3-64CCB9D8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5.</a:t>
            </a:r>
          </a:p>
        </p:txBody>
      </p:sp>
    </p:spTree>
    <p:extLst>
      <p:ext uri="{BB962C8B-B14F-4D97-AF65-F5344CB8AC3E}">
        <p14:creationId xmlns:p14="http://schemas.microsoft.com/office/powerpoint/2010/main" val="889340260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E20C73-B6D4-4A37-8012-D9F73F4D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The index is a versioned build artefact</a:t>
            </a:r>
          </a:p>
        </p:txBody>
      </p:sp>
      <p:sp>
        <p:nvSpPr>
          <p:cNvPr id="2" name="title-rule-75-42-119">
            <a:extLst xmlns:a="http://schemas.openxmlformats.org/drawingml/2006/main">
              <a:ext uri="{FF2B5EF4-FFF2-40B4-BE49-F238E27FC236}">
                <a16:creationId xmlns:a16="http://schemas.microsoft.com/office/drawing/2014/main" id="{AE99FF20-864A-4353-AED5-1114ECEB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2ED61C1C-D8AC-4BA7-B651-731DECED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5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09446C0-69BC-4AB4-AB5F-6D6161A8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75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84BC74CF-CA5D-44AC-BF67-8A809185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Model id, dimension, preprocessing version, corpus fingerprint, and vector count must travel with the FAISS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Build offline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Load with manifest checks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Define a freshness contract</a:t>
            </a:r>
          </a:p>
        </p:txBody>
      </p:sp>
      <p:sp>
        <p:nvSpPr>
          <p:cNvPr id="6" name="callout-panel-75-835-175">
            <a:extLst xmlns:a="http://schemas.openxmlformats.org/drawingml/2006/main">
              <a:ext uri="{FF2B5EF4-FFF2-40B4-BE49-F238E27FC236}">
                <a16:creationId xmlns:a16="http://schemas.microsoft.com/office/drawing/2014/main" id="{0844BF40-5899-4F45-BDF0-7A2B1104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75-865-205">
            <a:extLst xmlns:a="http://schemas.openxmlformats.org/drawingml/2006/main">
              <a:ext uri="{FF2B5EF4-FFF2-40B4-BE49-F238E27FC236}">
                <a16:creationId xmlns:a16="http://schemas.microsoft.com/office/drawing/2014/main" id="{54FA7D92-94E7-4A42-A8B4-BA642C5B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4</a:t>
            </a:r>
          </a:p>
        </p:txBody>
      </p:sp>
      <p:sp>
        <p:nvSpPr>
          <p:cNvPr id="8" name="text-75-865-260">
            <a:extLst xmlns:a="http://schemas.openxmlformats.org/drawingml/2006/main">
              <a:ext uri="{FF2B5EF4-FFF2-40B4-BE49-F238E27FC236}">
                <a16:creationId xmlns:a16="http://schemas.microsoft.com/office/drawing/2014/main" id="{7F075E38-B790-4188-8F3B-255C3E57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04</a:t>
            </a:r>
          </a:p>
        </p:txBody>
      </p:sp>
      <p:sp>
        <p:nvSpPr>
          <p:cNvPr id="9" name="text-75-865-410">
            <a:extLst xmlns:a="http://schemas.openxmlformats.org/drawingml/2006/main">
              <a:ext uri="{FF2B5EF4-FFF2-40B4-BE49-F238E27FC236}">
                <a16:creationId xmlns:a16="http://schemas.microsoft.com/office/drawing/2014/main" id="{64410786-46BB-43FE-9083-9D6A64AE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5.</a:t>
            </a:r>
          </a:p>
        </p:txBody>
      </p:sp>
    </p:spTree>
    <p:extLst>
      <p:ext uri="{BB962C8B-B14F-4D97-AF65-F5344CB8AC3E}">
        <p14:creationId xmlns:p14="http://schemas.microsoft.com/office/powerpoint/2010/main" val="542097011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3D7A5C-8621-4D34-A960-21B25F81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Flat search is the right baseline</a:t>
            </a:r>
          </a:p>
        </p:txBody>
      </p:sp>
      <p:sp>
        <p:nvSpPr>
          <p:cNvPr id="2" name="title-rule-76-42-119">
            <a:extLst xmlns:a="http://schemas.openxmlformats.org/drawingml/2006/main">
              <a:ext uri="{FF2B5EF4-FFF2-40B4-BE49-F238E27FC236}">
                <a16:creationId xmlns:a16="http://schemas.microsoft.com/office/drawing/2014/main" id="{52AB6C16-B8FA-447D-81CE-C3745DC4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8879980A-B481-45D8-9FDF-A556EA41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5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69CA1FF-2040-4B97-B932-B8762261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76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E06BF4FD-2B67-4B48-AD9A-CCD84AFB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At Bayan's 20k cases, IndexFlatIP is exact and simple. IVF/HNSW/PQ matter only when size and latency evidence demand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Measure ANN recall against flat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Avoid premature complexity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Track memory as well as latency</a:t>
            </a:r>
          </a:p>
        </p:txBody>
      </p:sp>
      <p:sp>
        <p:nvSpPr>
          <p:cNvPr id="6" name="callout-panel-76-835-175">
            <a:extLst xmlns:a="http://schemas.openxmlformats.org/drawingml/2006/main">
              <a:ext uri="{FF2B5EF4-FFF2-40B4-BE49-F238E27FC236}">
                <a16:creationId xmlns:a16="http://schemas.microsoft.com/office/drawing/2014/main" id="{97F31E62-5ABD-4719-BF34-4E129CB6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76-865-205">
            <a:extLst xmlns:a="http://schemas.openxmlformats.org/drawingml/2006/main">
              <a:ext uri="{FF2B5EF4-FFF2-40B4-BE49-F238E27FC236}">
                <a16:creationId xmlns:a16="http://schemas.microsoft.com/office/drawing/2014/main" id="{523146D2-D423-4868-BF8B-56B78B06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5</a:t>
            </a:r>
          </a:p>
        </p:txBody>
      </p:sp>
      <p:sp>
        <p:nvSpPr>
          <p:cNvPr id="8" name="text-76-865-260">
            <a:extLst xmlns:a="http://schemas.openxmlformats.org/drawingml/2006/main">
              <a:ext uri="{FF2B5EF4-FFF2-40B4-BE49-F238E27FC236}">
                <a16:creationId xmlns:a16="http://schemas.microsoft.com/office/drawing/2014/main" id="{A422EC90-2DDA-485F-9C34-72C377F9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05</a:t>
            </a:r>
          </a:p>
        </p:txBody>
      </p:sp>
      <p:sp>
        <p:nvSpPr>
          <p:cNvPr id="9" name="text-76-865-410">
            <a:extLst xmlns:a="http://schemas.openxmlformats.org/drawingml/2006/main">
              <a:ext uri="{FF2B5EF4-FFF2-40B4-BE49-F238E27FC236}">
                <a16:creationId xmlns:a16="http://schemas.microsoft.com/office/drawing/2014/main" id="{A486D20D-FC01-40BF-8D5B-30C9EB4A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5.</a:t>
            </a:r>
          </a:p>
        </p:txBody>
      </p:sp>
    </p:spTree>
    <p:extLst>
      <p:ext uri="{BB962C8B-B14F-4D97-AF65-F5344CB8AC3E}">
        <p14:creationId xmlns:p14="http://schemas.microsoft.com/office/powerpoint/2010/main" val="2065113563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E124C8-2F57-4043-8834-B30A2622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Retrieval quality needs judged queries</a:t>
            </a:r>
          </a:p>
        </p:txBody>
      </p:sp>
      <p:sp>
        <p:nvSpPr>
          <p:cNvPr id="2" name="title-rule-77-42-119">
            <a:extLst xmlns:a="http://schemas.openxmlformats.org/drawingml/2006/main">
              <a:ext uri="{FF2B5EF4-FFF2-40B4-BE49-F238E27FC236}">
                <a16:creationId xmlns:a16="http://schemas.microsoft.com/office/drawing/2014/main" id="{DC6749E8-BD96-4EA0-95BA-31E6093B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23556077-9C92-4E46-BC7D-770D5D16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5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A0205DD-D53F-4F88-8240-D0DFE1D7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77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1AB903C6-FDE8-4276-9F51-DD10DB36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Recall@k asks whether relevant cases were found; MRR rewards early rank; no-answer queries tune abstention; language slices expose cross-lingual gaps.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Do not eyeball ten queries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Report AR/EN and cross-lingual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Tune min_score on validation</a:t>
            </a:r>
          </a:p>
        </p:txBody>
      </p:sp>
      <p:sp>
        <p:nvSpPr>
          <p:cNvPr id="6" name="callout-panel-77-835-175">
            <a:extLst xmlns:a="http://schemas.openxmlformats.org/drawingml/2006/main">
              <a:ext uri="{FF2B5EF4-FFF2-40B4-BE49-F238E27FC236}">
                <a16:creationId xmlns:a16="http://schemas.microsoft.com/office/drawing/2014/main" id="{CD280A4D-D999-4B6E-A908-7F3084D4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77-865-205">
            <a:extLst xmlns:a="http://schemas.openxmlformats.org/drawingml/2006/main">
              <a:ext uri="{FF2B5EF4-FFF2-40B4-BE49-F238E27FC236}">
                <a16:creationId xmlns:a16="http://schemas.microsoft.com/office/drawing/2014/main" id="{CE48DD17-C69A-4C1E-84E0-74090CE3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6</a:t>
            </a:r>
          </a:p>
        </p:txBody>
      </p:sp>
      <p:sp>
        <p:nvSpPr>
          <p:cNvPr id="8" name="text-77-865-260">
            <a:extLst xmlns:a="http://schemas.openxmlformats.org/drawingml/2006/main">
              <a:ext uri="{FF2B5EF4-FFF2-40B4-BE49-F238E27FC236}">
                <a16:creationId xmlns:a16="http://schemas.microsoft.com/office/drawing/2014/main" id="{114151CB-4ACF-42D6-B777-B271D15E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06</a:t>
            </a:r>
          </a:p>
        </p:txBody>
      </p:sp>
      <p:sp>
        <p:nvSpPr>
          <p:cNvPr id="9" name="text-77-865-410">
            <a:extLst xmlns:a="http://schemas.openxmlformats.org/drawingml/2006/main">
              <a:ext uri="{FF2B5EF4-FFF2-40B4-BE49-F238E27FC236}">
                <a16:creationId xmlns:a16="http://schemas.microsoft.com/office/drawing/2014/main" id="{97161379-DB14-4006-BF5F-69CF8A0C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5.</a:t>
            </a:r>
          </a:p>
        </p:txBody>
      </p:sp>
    </p:spTree>
    <p:extLst>
      <p:ext uri="{BB962C8B-B14F-4D97-AF65-F5344CB8AC3E}">
        <p14:creationId xmlns:p14="http://schemas.microsoft.com/office/powerpoint/2010/main" val="1289209134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BF1C5E-441D-413F-9224-873A4B79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Failure modes to catch before production</a:t>
            </a:r>
          </a:p>
        </p:txBody>
      </p:sp>
      <p:sp>
        <p:nvSpPr>
          <p:cNvPr id="2" name="title-rule-78-42-119">
            <a:extLst xmlns:a="http://schemas.openxmlformats.org/drawingml/2006/main">
              <a:ext uri="{FF2B5EF4-FFF2-40B4-BE49-F238E27FC236}">
                <a16:creationId xmlns:a16="http://schemas.microsoft.com/office/drawing/2014/main" id="{39759E15-286F-4ACC-BC55-B9249076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9F0098B3-02E3-4EF0-86FD-09382217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5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D9EEF90-9D66-44BB-BCB5-E6777137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78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9293DFF3-1885-462A-BDF1-C19982F6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Using raw [CLS] vectors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Normalising only the index side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Calling a demo an evaluation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Rebuilding the corpus without the index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Selecting ANN by fashion rather than scale</a:t>
            </a:r>
          </a:p>
        </p:txBody>
      </p:sp>
      <p:sp>
        <p:nvSpPr>
          <p:cNvPr id="6" name="callout-panel-78-835-175">
            <a:extLst xmlns:a="http://schemas.openxmlformats.org/drawingml/2006/main">
              <a:ext uri="{FF2B5EF4-FFF2-40B4-BE49-F238E27FC236}">
                <a16:creationId xmlns:a16="http://schemas.microsoft.com/office/drawing/2014/main" id="{E9EB7493-CCB5-4D4F-AF9E-75631CC0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78-865-205">
            <a:extLst xmlns:a="http://schemas.openxmlformats.org/drawingml/2006/main">
              <a:ext uri="{FF2B5EF4-FFF2-40B4-BE49-F238E27FC236}">
                <a16:creationId xmlns:a16="http://schemas.microsoft.com/office/drawing/2014/main" id="{F61B0AB0-3926-41D6-A4CE-CB3E05CE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RULE</a:t>
            </a:r>
          </a:p>
        </p:txBody>
      </p:sp>
      <p:sp>
        <p:nvSpPr>
          <p:cNvPr id="8" name="text-78-865-260">
            <a:extLst xmlns:a="http://schemas.openxmlformats.org/drawingml/2006/main">
              <a:ext uri="{FF2B5EF4-FFF2-40B4-BE49-F238E27FC236}">
                <a16:creationId xmlns:a16="http://schemas.microsoft.com/office/drawing/2014/main" id="{14CE791A-1671-492E-B7BA-353D4DC7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239"/>
                </a:solidFill>
              </a:defRPr>
            </a:pPr>
            <a:r>
              <a:rPr sz="2550" b="1" i="0">
                <a:solidFill>
                  <a:srgbClr val="0B2239"/>
                </a:solidFill>
              </a:rPr>
              <a:t>Make it fail loudly</a:t>
            </a:r>
          </a:p>
        </p:txBody>
      </p:sp>
      <p:sp>
        <p:nvSpPr>
          <p:cNvPr id="9" name="text-78-865-410">
            <a:extLst xmlns:a="http://schemas.openxmlformats.org/drawingml/2006/main">
              <a:ext uri="{FF2B5EF4-FFF2-40B4-BE49-F238E27FC236}">
                <a16:creationId xmlns:a16="http://schemas.microsoft.com/office/drawing/2014/main" id="{E3C64F87-48B5-401F-B08D-2AD961A6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Silent plausibility is the dangerous state.</a:t>
            </a:r>
          </a:p>
        </p:txBody>
      </p:sp>
    </p:spTree>
    <p:extLst>
      <p:ext uri="{BB962C8B-B14F-4D97-AF65-F5344CB8AC3E}">
        <p14:creationId xmlns:p14="http://schemas.microsoft.com/office/powerpoint/2010/main" val="1386955978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D52FFD-C025-49A9-9962-4B0AD983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Executable pattern</a:t>
            </a:r>
          </a:p>
        </p:txBody>
      </p:sp>
      <p:sp>
        <p:nvSpPr>
          <p:cNvPr id="2" name="title-rule-79-42-119">
            <a:extLst xmlns:a="http://schemas.openxmlformats.org/drawingml/2006/main">
              <a:ext uri="{FF2B5EF4-FFF2-40B4-BE49-F238E27FC236}">
                <a16:creationId xmlns:a16="http://schemas.microsoft.com/office/drawing/2014/main" id="{648E4853-F477-4B2B-A492-58DA1920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0BE9B390-EFC3-4E68-8D89-7BBE5152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5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FD18686-027E-4B0E-9042-45D255A2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79</a:t>
            </a:r>
          </a:p>
        </p:txBody>
      </p:sp>
      <p:sp>
        <p:nvSpPr>
          <p:cNvPr id="5" name="code-panel-79-42-150">
            <a:extLst xmlns:a="http://schemas.openxmlformats.org/drawingml/2006/main">
              <a:ext uri="{FF2B5EF4-FFF2-40B4-BE49-F238E27FC236}">
                <a16:creationId xmlns:a16="http://schemas.microsoft.com/office/drawing/2014/main" id="{722A98EC-B909-420D-B1B9-C1AFD27B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7239000" cy="4572000"/>
          </a:xfrm>
          <a:prstGeom xmlns:a="http://schemas.openxmlformats.org/drawingml/2006/main" prst="roundRect">
            <a:avLst>
              <a:gd name="adj" fmla="val 833"/>
            </a:avLst>
          </a:prstGeom>
          <a:solidFill xmlns:a="http://schemas.openxmlformats.org/drawingml/2006/main">
            <a:srgbClr val="071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48A1F78D-26C3-45BB-B179-F142B88F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676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emb = model.encode(cases, normalize_embeddings=True)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index = faiss.IndexFlatIP(emb.shape[1])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index.add(emb.astype("float32"))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q = model.encode([query], normalize_embeddings=True)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scores, ids = index.search(q.astype("float32"), 50)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reranked = cross_encoder.predict([(query, cases[i]) for i in ids[0]])</a:t>
            </a:r>
          </a:p>
        </p:txBody>
      </p:sp>
      <p:sp>
        <p:nvSpPr>
          <p:cNvPr id="7" name="text-79-850-165">
            <a:extLst xmlns:a="http://schemas.openxmlformats.org/drawingml/2006/main">
              <a:ext uri="{FF2B5EF4-FFF2-40B4-BE49-F238E27FC236}">
                <a16:creationId xmlns:a16="http://schemas.microsoft.com/office/drawing/2014/main" id="{A3374026-50D9-4B4D-B063-21EA0444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READ THE CONTRACT</a:t>
            </a:r>
          </a:p>
        </p:txBody>
      </p:sp>
      <p:sp>
        <p:nvSpPr>
          <p:cNvPr id="8" name="text-79-850-220">
            <a:extLst xmlns:a="http://schemas.openxmlformats.org/drawingml/2006/main">
              <a:ext uri="{FF2B5EF4-FFF2-40B4-BE49-F238E27FC236}">
                <a16:creationId xmlns:a16="http://schemas.microsoft.com/office/drawing/2014/main" id="{5DDD26B3-B821-4117-9C14-9BC0C06D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190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Normalise both sides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Retrieve many, return few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Persist model and corpus metadata</a:t>
            </a:r>
          </a:p>
        </p:txBody>
      </p:sp>
    </p:spTree>
    <p:extLst>
      <p:ext uri="{BB962C8B-B14F-4D97-AF65-F5344CB8AC3E}">
        <p14:creationId xmlns:p14="http://schemas.microsoft.com/office/powerpoint/2010/main" val="770857318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90E3AF-C54F-4039-8268-63BE4259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Apply the concept before the lab</a:t>
            </a:r>
          </a:p>
        </p:txBody>
      </p:sp>
      <p:sp>
        <p:nvSpPr>
          <p:cNvPr id="2" name="title-rule-80-42-119">
            <a:extLst xmlns:a="http://schemas.openxmlformats.org/drawingml/2006/main">
              <a:ext uri="{FF2B5EF4-FFF2-40B4-BE49-F238E27FC236}">
                <a16:creationId xmlns:a16="http://schemas.microsoft.com/office/drawing/2014/main" id="{43BB8683-709F-4CC9-9B80-7D6CA25F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E1C01FF3-D29F-4EC3-9618-E0F9104C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5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8461CA5-60F7-475A-82C7-E858C7D4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80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1537158F-A6CA-488A-965E-81500CDA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Human-rank eight candidate cases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Run a threshold auction on borderline pairs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Reveal the unnormalised-index simulation</a:t>
            </a:r>
          </a:p>
        </p:txBody>
      </p:sp>
      <p:sp>
        <p:nvSpPr>
          <p:cNvPr id="6" name="callout-panel-80-835-175">
            <a:extLst xmlns:a="http://schemas.openxmlformats.org/drawingml/2006/main">
              <a:ext uri="{FF2B5EF4-FFF2-40B4-BE49-F238E27FC236}">
                <a16:creationId xmlns:a16="http://schemas.microsoft.com/office/drawing/2014/main" id="{ED6988B4-E7F4-4242-828D-6F3ECE4F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80-865-205">
            <a:extLst xmlns:a="http://schemas.openxmlformats.org/drawingml/2006/main">
              <a:ext uri="{FF2B5EF4-FFF2-40B4-BE49-F238E27FC236}">
                <a16:creationId xmlns:a16="http://schemas.microsoft.com/office/drawing/2014/main" id="{531F623A-C521-4351-BAA1-5FEC00D2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ACTIVITY</a:t>
            </a:r>
          </a:p>
        </p:txBody>
      </p:sp>
      <p:sp>
        <p:nvSpPr>
          <p:cNvPr id="8" name="text-80-865-260">
            <a:extLst xmlns:a="http://schemas.openxmlformats.org/drawingml/2006/main">
              <a:ext uri="{FF2B5EF4-FFF2-40B4-BE49-F238E27FC236}">
                <a16:creationId xmlns:a16="http://schemas.microsoft.com/office/drawing/2014/main" id="{44F6A23D-AF3B-4FEC-BE9B-5EA1A3F8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2239"/>
                </a:solidFill>
              </a:defRPr>
            </a:pPr>
            <a:r>
              <a:rPr sz="3300" b="1" i="0">
                <a:solidFill>
                  <a:srgbClr val="0B2239"/>
                </a:solidFill>
              </a:rPr>
              <a:t>10 min</a:t>
            </a:r>
          </a:p>
        </p:txBody>
      </p:sp>
      <p:sp>
        <p:nvSpPr>
          <p:cNvPr id="9" name="text-80-865-410">
            <a:extLst xmlns:a="http://schemas.openxmlformats.org/drawingml/2006/main">
              <a:ext uri="{FF2B5EF4-FFF2-40B4-BE49-F238E27FC236}">
                <a16:creationId xmlns:a16="http://schemas.microsoft.com/office/drawing/2014/main" id="{F24628CF-04F5-4D89-90AE-1BDCA998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Predict first; measure second; defend the evidence.</a:t>
            </a:r>
          </a:p>
        </p:txBody>
      </p:sp>
    </p:spTree>
    <p:extLst>
      <p:ext uri="{BB962C8B-B14F-4D97-AF65-F5344CB8AC3E}">
        <p14:creationId xmlns:p14="http://schemas.microsoft.com/office/powerpoint/2010/main" val="2004007571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50DAA4-443E-4E96-9037-2DE7F34F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Lab 5 — Bilingual semantic search over historical cases</a:t>
            </a:r>
          </a:p>
        </p:txBody>
      </p:sp>
      <p:sp>
        <p:nvSpPr>
          <p:cNvPr id="2" name="title-rule-81-42-119">
            <a:extLst xmlns:a="http://schemas.openxmlformats.org/drawingml/2006/main">
              <a:ext uri="{FF2B5EF4-FFF2-40B4-BE49-F238E27FC236}">
                <a16:creationId xmlns:a16="http://schemas.microsoft.com/office/drawing/2014/main" id="{66E17D5C-37EC-4AC2-9D2C-092852F1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7C79B967-71D5-4AC1-A84F-496CBF41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5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F22FF89-B71A-4C34-8D2B-41BDEF75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81</a:t>
            </a:r>
          </a:p>
        </p:txBody>
      </p:sp>
      <p:sp>
        <p:nvSpPr>
          <p:cNvPr id="5" name="text-81-52-160">
            <a:extLst xmlns:a="http://schemas.openxmlformats.org/drawingml/2006/main">
              <a:ext uri="{FF2B5EF4-FFF2-40B4-BE49-F238E27FC236}">
                <a16:creationId xmlns:a16="http://schemas.microsoft.com/office/drawing/2014/main" id="{78F864F8-0AF1-48ED-8DC6-71AFD7E5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BUILD</a:t>
            </a:r>
          </a:p>
        </p:txBody>
      </p:sp>
      <p:sp>
        <p:nvSpPr>
          <p:cNvPr id="6" name="text-81-52-220">
            <a:extLst xmlns:a="http://schemas.openxmlformats.org/drawingml/2006/main">
              <a:ext uri="{FF2B5EF4-FFF2-40B4-BE49-F238E27FC236}">
                <a16:creationId xmlns:a16="http://schemas.microsoft.com/office/drawing/2014/main" id="{7F287974-3494-408D-9FE2-E59C2D2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01</a:t>
            </a:r>
          </a:p>
        </p:txBody>
      </p:sp>
      <p:sp>
        <p:nvSpPr>
          <p:cNvPr id="7" name="text-81-122-220">
            <a:extLst xmlns:a="http://schemas.openxmlformats.org/drawingml/2006/main">
              <a:ext uri="{FF2B5EF4-FFF2-40B4-BE49-F238E27FC236}">
                <a16:creationId xmlns:a16="http://schemas.microsoft.com/office/drawing/2014/main" id="{A51B178F-73D2-4EDD-AF0F-891D0217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Build the 20k-case FAISS index</a:t>
            </a:r>
          </a:p>
        </p:txBody>
      </p:sp>
      <p:sp>
        <p:nvSpPr>
          <p:cNvPr id="8" name="text-81-52-312">
            <a:extLst xmlns:a="http://schemas.openxmlformats.org/drawingml/2006/main">
              <a:ext uri="{FF2B5EF4-FFF2-40B4-BE49-F238E27FC236}">
                <a16:creationId xmlns:a16="http://schemas.microsoft.com/office/drawing/2014/main" id="{7723F665-D655-4717-8C65-4844391D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02</a:t>
            </a:r>
          </a:p>
        </p:txBody>
      </p:sp>
      <p:sp>
        <p:nvSpPr>
          <p:cNvPr id="9" name="text-81-122-312">
            <a:extLst xmlns:a="http://schemas.openxmlformats.org/drawingml/2006/main">
              <a:ext uri="{FF2B5EF4-FFF2-40B4-BE49-F238E27FC236}">
                <a16:creationId xmlns:a16="http://schemas.microsoft.com/office/drawing/2014/main" id="{F50D02D3-F504-44CF-B2F6-7B66EE76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Add cross-encoder re-ranking</a:t>
            </a:r>
          </a:p>
        </p:txBody>
      </p:sp>
      <p:sp>
        <p:nvSpPr>
          <p:cNvPr id="10" name="text-81-52-404">
            <a:extLst xmlns:a="http://schemas.openxmlformats.org/drawingml/2006/main">
              <a:ext uri="{FF2B5EF4-FFF2-40B4-BE49-F238E27FC236}">
                <a16:creationId xmlns:a16="http://schemas.microsoft.com/office/drawing/2014/main" id="{8371EF05-359B-4B0B-8F31-C0634D45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03</a:t>
            </a:r>
          </a:p>
        </p:txBody>
      </p:sp>
      <p:sp>
        <p:nvSpPr>
          <p:cNvPr id="11" name="text-81-122-404">
            <a:extLst xmlns:a="http://schemas.openxmlformats.org/drawingml/2006/main">
              <a:ext uri="{FF2B5EF4-FFF2-40B4-BE49-F238E27FC236}">
                <a16:creationId xmlns:a16="http://schemas.microsoft.com/office/drawing/2014/main" id="{35DD3318-13E0-45FD-A1DE-3356FF88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Evaluate 150 judged queries</a:t>
            </a:r>
          </a:p>
        </p:txBody>
      </p:sp>
      <p:sp>
        <p:nvSpPr>
          <p:cNvPr id="12" name="text-81-52-496">
            <a:extLst xmlns:a="http://schemas.openxmlformats.org/drawingml/2006/main">
              <a:ext uri="{FF2B5EF4-FFF2-40B4-BE49-F238E27FC236}">
                <a16:creationId xmlns:a16="http://schemas.microsoft.com/office/drawing/2014/main" id="{D9A7779D-F9AF-4E70-8480-E2950194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04</a:t>
            </a:r>
          </a:p>
        </p:txBody>
      </p:sp>
      <p:sp>
        <p:nvSpPr>
          <p:cNvPr id="13" name="text-81-122-496">
            <a:extLst xmlns:a="http://schemas.openxmlformats.org/drawingml/2006/main">
              <a:ext uri="{FF2B5EF4-FFF2-40B4-BE49-F238E27FC236}">
                <a16:creationId xmlns:a16="http://schemas.microsoft.com/office/drawing/2014/main" id="{361F3349-18EE-4310-B385-EB5BFBB6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244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Tune no-answer threshold and measure language slices</a:t>
            </a:r>
          </a:p>
        </p:txBody>
      </p:sp>
      <p:sp>
        <p:nvSpPr>
          <p:cNvPr id="14" name="evidence-panel-81-820-175">
            <a:extLst xmlns:a="http://schemas.openxmlformats.org/drawingml/2006/main">
              <a:ext uri="{FF2B5EF4-FFF2-40B4-BE49-F238E27FC236}">
                <a16:creationId xmlns:a16="http://schemas.microsoft.com/office/drawing/2014/main" id="{B49AED4D-7ABD-49EB-8302-42686876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3600450" cy="3905250"/>
          </a:xfrm>
          <a:prstGeom xmlns:a="http://schemas.openxmlformats.org/drawingml/2006/main" prst="roundRect">
            <a:avLst>
              <a:gd name="adj" fmla="val 105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5" name="text-81-850-205">
            <a:extLst xmlns:a="http://schemas.openxmlformats.org/drawingml/2006/main">
              <a:ext uri="{FF2B5EF4-FFF2-40B4-BE49-F238E27FC236}">
                <a16:creationId xmlns:a16="http://schemas.microsoft.com/office/drawing/2014/main" id="{6FB3112D-AD75-4809-87AD-2DE35308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66C3"/>
                </a:solidFill>
              </a:defRPr>
            </a:pPr>
            <a:r>
              <a:rPr sz="1275" b="1" i="0">
                <a:solidFill>
                  <a:srgbClr val="0B66C3"/>
                </a:solidFill>
              </a:rPr>
              <a:t>EVIDENCE TO COMMIT</a:t>
            </a:r>
          </a:p>
        </p:txBody>
      </p:sp>
      <p:sp>
        <p:nvSpPr>
          <p:cNvPr id="16" name="text-81-850-270">
            <a:extLst xmlns:a="http://schemas.openxmlformats.org/drawingml/2006/main">
              <a:ext uri="{FF2B5EF4-FFF2-40B4-BE49-F238E27FC236}">
                <a16:creationId xmlns:a16="http://schemas.microsoft.com/office/drawing/2014/main" id="{304BFFCA-938E-4956-9D96-6D4637BC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0003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Recall@10 ≥ 0.80 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MRR@10 ≥ 0.70 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Manifest-pinned index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Cross-lingual gap reported</a:t>
            </a:r>
          </a:p>
        </p:txBody>
      </p:sp>
    </p:spTree>
    <p:extLst>
      <p:ext uri="{BB962C8B-B14F-4D97-AF65-F5344CB8AC3E}">
        <p14:creationId xmlns:p14="http://schemas.microsoft.com/office/powerpoint/2010/main" val="535655843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830A3B-4F84-4DC2-B4CD-0E42D4EA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Two-stage retrieval separates scale from precision</a:t>
            </a:r>
          </a:p>
        </p:txBody>
      </p:sp>
      <p:sp>
        <p:nvSpPr>
          <p:cNvPr id="2" name="title-rule-82-42-119">
            <a:extLst xmlns:a="http://schemas.openxmlformats.org/drawingml/2006/main">
              <a:ext uri="{FF2B5EF4-FFF2-40B4-BE49-F238E27FC236}">
                <a16:creationId xmlns:a16="http://schemas.microsoft.com/office/drawing/2014/main" id="{9326B085-D4A1-42F4-AD60-43DB8D45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5ECFC970-4607-4740-95B5-C6A6B4BF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5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F176289-C432-4746-95B6-62708CDF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82</a:t>
            </a:r>
          </a:p>
        </p:txBody>
      </p:sp>
      <p:sp>
        <p:nvSpPr>
          <p:cNvPr id="5" name="flow-node-82-55-270">
            <a:extLst xmlns:a="http://schemas.openxmlformats.org/drawingml/2006/main">
              <a:ext uri="{FF2B5EF4-FFF2-40B4-BE49-F238E27FC236}">
                <a16:creationId xmlns:a16="http://schemas.microsoft.com/office/drawing/2014/main" id="{EF23E5CE-312C-4295-BBB1-49EFAB49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6" name="flow-node-82-279-270">
            <a:extLst xmlns:a="http://schemas.openxmlformats.org/drawingml/2006/main">
              <a:ext uri="{FF2B5EF4-FFF2-40B4-BE49-F238E27FC236}">
                <a16:creationId xmlns:a16="http://schemas.microsoft.com/office/drawing/2014/main" id="{F27BB359-1A20-4626-A647-63A98047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flow-node-82-503-270">
            <a:extLst xmlns:a="http://schemas.openxmlformats.org/drawingml/2006/main">
              <a:ext uri="{FF2B5EF4-FFF2-40B4-BE49-F238E27FC236}">
                <a16:creationId xmlns:a16="http://schemas.microsoft.com/office/drawing/2014/main" id="{A9B61259-2A01-4DB7-A249-B88B69BE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8" name="flow-node-82-727-270">
            <a:extLst xmlns:a="http://schemas.openxmlformats.org/drawingml/2006/main">
              <a:ext uri="{FF2B5EF4-FFF2-40B4-BE49-F238E27FC236}">
                <a16:creationId xmlns:a16="http://schemas.microsoft.com/office/drawing/2014/main" id="{8445A00F-1688-4CCD-BC76-CB2B0E7F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9" name="flow-node-82-951-270">
            <a:extLst xmlns:a="http://schemas.openxmlformats.org/drawingml/2006/main">
              <a:ext uri="{FF2B5EF4-FFF2-40B4-BE49-F238E27FC236}">
                <a16:creationId xmlns:a16="http://schemas.microsoft.com/office/drawing/2014/main" id="{C5C4E966-4888-4270-8F90-07CF7C25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38375" y="3286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6C3"/>
            </a:solidFill>
            <a:prstDash val="solid"/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71975" y="3286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6C3"/>
            </a:solidFill>
            <a:prstDash val="solid"/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505575" y="3286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6C3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39175" y="3286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6C3"/>
            </a:solidFill>
            <a:prstDash val="solid"/>
            <a:tailEnd type="arrow" w="sm" len="sm"/>
          </a:ln>
        </p:spPr>
      </p:cxnSp>
      <p:sp>
        <p:nvSpPr>
          <p:cNvPr id="14" name="text-82-69-292">
            <a:extLst xmlns:a="http://schemas.openxmlformats.org/drawingml/2006/main">
              <a:ext uri="{FF2B5EF4-FFF2-40B4-BE49-F238E27FC236}">
                <a16:creationId xmlns:a16="http://schemas.microsoft.com/office/drawing/2014/main" id="{C1249EBD-90DF-46F6-8AF2-DE4F9643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Query</a:t>
            </a:r>
          </a:p>
        </p:txBody>
      </p:sp>
      <p:sp>
        <p:nvSpPr>
          <p:cNvPr id="15" name="text-82-69-345">
            <a:extLst xmlns:a="http://schemas.openxmlformats.org/drawingml/2006/main">
              <a:ext uri="{FF2B5EF4-FFF2-40B4-BE49-F238E27FC236}">
                <a16:creationId xmlns:a16="http://schemas.microsoft.com/office/drawing/2014/main" id="{312D8ED9-7F53-45DE-823D-11E85B2D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normalise + embed</a:t>
            </a:r>
          </a:p>
        </p:txBody>
      </p:sp>
      <p:sp>
        <p:nvSpPr>
          <p:cNvPr id="16" name="text-82-293-292">
            <a:extLst xmlns:a="http://schemas.openxmlformats.org/drawingml/2006/main">
              <a:ext uri="{FF2B5EF4-FFF2-40B4-BE49-F238E27FC236}">
                <a16:creationId xmlns:a16="http://schemas.microsoft.com/office/drawing/2014/main" id="{CFDA9A06-B87F-45C4-AA97-57071D93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FAISS</a:t>
            </a:r>
          </a:p>
        </p:txBody>
      </p:sp>
      <p:sp>
        <p:nvSpPr>
          <p:cNvPr id="17" name="text-82-293-345">
            <a:extLst xmlns:a="http://schemas.openxmlformats.org/drawingml/2006/main">
              <a:ext uri="{FF2B5EF4-FFF2-40B4-BE49-F238E27FC236}">
                <a16:creationId xmlns:a16="http://schemas.microsoft.com/office/drawing/2014/main" id="{9AFE4187-8492-4082-931C-EA73CC58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fast top-50</a:t>
            </a:r>
          </a:p>
        </p:txBody>
      </p:sp>
      <p:sp>
        <p:nvSpPr>
          <p:cNvPr id="18" name="text-82-517-292">
            <a:extLst xmlns:a="http://schemas.openxmlformats.org/drawingml/2006/main">
              <a:ext uri="{FF2B5EF4-FFF2-40B4-BE49-F238E27FC236}">
                <a16:creationId xmlns:a16="http://schemas.microsoft.com/office/drawing/2014/main" id="{E32987EE-F8D3-4EF3-B1DD-D54D75B7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Cross-encoder</a:t>
            </a:r>
          </a:p>
        </p:txBody>
      </p:sp>
      <p:sp>
        <p:nvSpPr>
          <p:cNvPr id="19" name="text-82-517-345">
            <a:extLst xmlns:a="http://schemas.openxmlformats.org/drawingml/2006/main">
              <a:ext uri="{FF2B5EF4-FFF2-40B4-BE49-F238E27FC236}">
                <a16:creationId xmlns:a16="http://schemas.microsoft.com/office/drawing/2014/main" id="{7C100BCF-A489-4B92-AEC8-85DFCF94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jointly score pairs</a:t>
            </a:r>
          </a:p>
        </p:txBody>
      </p:sp>
      <p:sp>
        <p:nvSpPr>
          <p:cNvPr id="20" name="text-82-741-292">
            <a:extLst xmlns:a="http://schemas.openxmlformats.org/drawingml/2006/main">
              <a:ext uri="{FF2B5EF4-FFF2-40B4-BE49-F238E27FC236}">
                <a16:creationId xmlns:a16="http://schemas.microsoft.com/office/drawing/2014/main" id="{85FF1F19-912E-4D41-A1FF-4E6A2EED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Threshold</a:t>
            </a:r>
          </a:p>
        </p:txBody>
      </p:sp>
      <p:sp>
        <p:nvSpPr>
          <p:cNvPr id="21" name="text-82-741-345">
            <a:extLst xmlns:a="http://schemas.openxmlformats.org/drawingml/2006/main">
              <a:ext uri="{FF2B5EF4-FFF2-40B4-BE49-F238E27FC236}">
                <a16:creationId xmlns:a16="http://schemas.microsoft.com/office/drawing/2014/main" id="{E8A800AD-9C77-4CE9-A696-5016F2ED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allow no-answer</a:t>
            </a:r>
          </a:p>
        </p:txBody>
      </p:sp>
      <p:sp>
        <p:nvSpPr>
          <p:cNvPr id="22" name="text-82-965-292">
            <a:extLst xmlns:a="http://schemas.openxmlformats.org/drawingml/2006/main">
              <a:ext uri="{FF2B5EF4-FFF2-40B4-BE49-F238E27FC236}">
                <a16:creationId xmlns:a16="http://schemas.microsoft.com/office/drawing/2014/main" id="{08DFD736-B334-4C37-A4E6-D02DA3CA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Top-5</a:t>
            </a:r>
          </a:p>
        </p:txBody>
      </p:sp>
      <p:sp>
        <p:nvSpPr>
          <p:cNvPr id="23" name="text-82-965-345">
            <a:extLst xmlns:a="http://schemas.openxmlformats.org/drawingml/2006/main">
              <a:ext uri="{FF2B5EF4-FFF2-40B4-BE49-F238E27FC236}">
                <a16:creationId xmlns:a16="http://schemas.microsoft.com/office/drawing/2014/main" id="{E4E4A2C9-EDA4-4A5E-815B-1C36CC71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resolved cases</a:t>
            </a:r>
          </a:p>
        </p:txBody>
      </p:sp>
      <p:sp>
        <p:nvSpPr>
          <p:cNvPr id="24" name="text-82-250-500">
            <a:extLst xmlns:a="http://schemas.openxmlformats.org/drawingml/2006/main">
              <a:ext uri="{FF2B5EF4-FFF2-40B4-BE49-F238E27FC236}">
                <a16:creationId xmlns:a16="http://schemas.microsoft.com/office/drawing/2014/main" id="{55A9934B-54C2-4B80-8CB5-C9070CEC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B2239"/>
                </a:solidFill>
              </a:defRPr>
            </a:pPr>
            <a:r>
              <a:rPr sz="2550" b="1" i="0">
                <a:solidFill>
                  <a:srgbClr val="0B2239"/>
                </a:solidFill>
              </a:rPr>
              <a:t>Every boundary is versioned, measured, and tested.</a:t>
            </a:r>
          </a:p>
        </p:txBody>
      </p:sp>
    </p:spTree>
    <p:extLst>
      <p:ext uri="{BB962C8B-B14F-4D97-AF65-F5344CB8AC3E}">
        <p14:creationId xmlns:p14="http://schemas.microsoft.com/office/powerpoint/2010/main" val="488558826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4150AB-1E31-41ED-BE72-4A68141E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Re-ranking mostly fixes order</a:t>
            </a:r>
          </a:p>
        </p:txBody>
      </p:sp>
      <p:sp>
        <p:nvSpPr>
          <p:cNvPr id="2" name="title-rule-83-42-119">
            <a:extLst xmlns:a="http://schemas.openxmlformats.org/drawingml/2006/main">
              <a:ext uri="{FF2B5EF4-FFF2-40B4-BE49-F238E27FC236}">
                <a16:creationId xmlns:a16="http://schemas.microsoft.com/office/drawing/2014/main" id="{F0579AB3-BC81-4C2E-AAEB-D6A06B5E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489E9017-5628-400F-9162-42F6ADD1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5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B9925F6-F39E-4335-9D0F-77F0A2C8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83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0050" y="1476375"/>
          <a:ext xmlns:a="http://schemas.openxmlformats.org/drawingml/2006/main" cx="6286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971fbfb88c46fe"/>
          </a:graphicData>
        </a:graphic>
      </p:graphicFrame>
      <p:sp>
        <p:nvSpPr>
          <p:cNvPr id="6" name="chart-callout-83-752-165">
            <a:extLst xmlns:a="http://schemas.openxmlformats.org/drawingml/2006/main">
              <a:ext uri="{FF2B5EF4-FFF2-40B4-BE49-F238E27FC236}">
                <a16:creationId xmlns:a16="http://schemas.microsoft.com/office/drawing/2014/main" id="{2D7F1D6B-FC76-429C-81AB-A62A2C7C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71625"/>
            <a:ext cx="4248150" cy="112395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83-780-185">
            <a:extLst xmlns:a="http://schemas.openxmlformats.org/drawingml/2006/main">
              <a:ext uri="{FF2B5EF4-FFF2-40B4-BE49-F238E27FC236}">
                <a16:creationId xmlns:a16="http://schemas.microsoft.com/office/drawing/2014/main" id="{BFD230A5-BCED-446E-94E2-21BD926A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6C3"/>
                </a:solidFill>
              </a:defRPr>
            </a:pPr>
            <a:r>
              <a:rPr sz="1725" b="1" i="0">
                <a:solidFill>
                  <a:srgbClr val="0B66C3"/>
                </a:solidFill>
              </a:rPr>
              <a:t>Recall moves little</a:t>
            </a:r>
          </a:p>
        </p:txBody>
      </p:sp>
      <p:sp>
        <p:nvSpPr>
          <p:cNvPr id="8" name="text-83-780-223">
            <a:extLst xmlns:a="http://schemas.openxmlformats.org/drawingml/2006/main">
              <a:ext uri="{FF2B5EF4-FFF2-40B4-BE49-F238E27FC236}">
                <a16:creationId xmlns:a16="http://schemas.microsoft.com/office/drawing/2014/main" id="{20090F89-70EA-4629-93AB-8F689E95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240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273"/>
                </a:solidFill>
              </a:defRPr>
            </a:pPr>
            <a:r>
              <a:rPr sz="1425" b="0" i="0">
                <a:solidFill>
                  <a:srgbClr val="526273"/>
                </a:solidFill>
              </a:rPr>
              <a:t>The candidate set was already broad.</a:t>
            </a:r>
          </a:p>
        </p:txBody>
      </p:sp>
      <p:sp>
        <p:nvSpPr>
          <p:cNvPr id="9" name="chart-callout-83-752-310">
            <a:extLst xmlns:a="http://schemas.openxmlformats.org/drawingml/2006/main">
              <a:ext uri="{FF2B5EF4-FFF2-40B4-BE49-F238E27FC236}">
                <a16:creationId xmlns:a16="http://schemas.microsoft.com/office/drawing/2014/main" id="{6BE51384-5CCD-44FD-8E67-6C422F90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52750"/>
            <a:ext cx="4248150" cy="112395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83-780-330">
            <a:extLst xmlns:a="http://schemas.openxmlformats.org/drawingml/2006/main">
              <a:ext uri="{FF2B5EF4-FFF2-40B4-BE49-F238E27FC236}">
                <a16:creationId xmlns:a16="http://schemas.microsoft.com/office/drawing/2014/main" id="{55071CF1-74C1-4D08-9FB0-EAD11B59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6C3"/>
                </a:solidFill>
              </a:defRPr>
            </a:pPr>
            <a:r>
              <a:rPr sz="1725" b="1" i="0">
                <a:solidFill>
                  <a:srgbClr val="0B66C3"/>
                </a:solidFill>
              </a:rPr>
              <a:t>MRR jumps</a:t>
            </a:r>
          </a:p>
        </p:txBody>
      </p:sp>
      <p:sp>
        <p:nvSpPr>
          <p:cNvPr id="11" name="text-83-780-368">
            <a:extLst xmlns:a="http://schemas.openxmlformats.org/drawingml/2006/main">
              <a:ext uri="{FF2B5EF4-FFF2-40B4-BE49-F238E27FC236}">
                <a16:creationId xmlns:a16="http://schemas.microsoft.com/office/drawing/2014/main" id="{69991FF3-172D-46FD-9960-8082F227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052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273"/>
                </a:solidFill>
              </a:defRPr>
            </a:pPr>
            <a:r>
              <a:rPr sz="1425" b="0" i="0">
                <a:solidFill>
                  <a:srgbClr val="526273"/>
                </a:solidFill>
              </a:rPr>
              <a:t>Relevant cases rise toward rank 1.</a:t>
            </a:r>
          </a:p>
        </p:txBody>
      </p:sp>
      <p:sp>
        <p:nvSpPr>
          <p:cNvPr id="12" name="chart-callout-83-752-455">
            <a:extLst xmlns:a="http://schemas.openxmlformats.org/drawingml/2006/main">
              <a:ext uri="{FF2B5EF4-FFF2-40B4-BE49-F238E27FC236}">
                <a16:creationId xmlns:a16="http://schemas.microsoft.com/office/drawing/2014/main" id="{72942CD6-63A2-40F7-AD15-DB6F670B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33875"/>
            <a:ext cx="4248150" cy="112395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83-780-475">
            <a:extLst xmlns:a="http://schemas.openxmlformats.org/drawingml/2006/main">
              <a:ext uri="{FF2B5EF4-FFF2-40B4-BE49-F238E27FC236}">
                <a16:creationId xmlns:a16="http://schemas.microsoft.com/office/drawing/2014/main" id="{FC81B345-08FA-4876-BCD9-ACE52069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243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6C3"/>
                </a:solidFill>
              </a:defRPr>
            </a:pPr>
            <a:r>
              <a:rPr sz="1725" b="1" i="0">
                <a:solidFill>
                  <a:srgbClr val="0B66C3"/>
                </a:solidFill>
              </a:rPr>
              <a:t>Trade-off</a:t>
            </a:r>
          </a:p>
        </p:txBody>
      </p:sp>
      <p:sp>
        <p:nvSpPr>
          <p:cNvPr id="14" name="text-83-780-513">
            <a:extLst xmlns:a="http://schemas.openxmlformats.org/drawingml/2006/main">
              <a:ext uri="{FF2B5EF4-FFF2-40B4-BE49-F238E27FC236}">
                <a16:creationId xmlns:a16="http://schemas.microsoft.com/office/drawing/2014/main" id="{34B53744-341D-460E-B764-66A3F4A0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863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273"/>
                </a:solidFill>
              </a:defRPr>
            </a:pPr>
            <a:r>
              <a:rPr sz="1425" b="0" i="0">
                <a:solidFill>
                  <a:srgbClr val="526273"/>
                </a:solidFill>
              </a:rPr>
              <a:t>Measure quality and latency together.</a:t>
            </a:r>
          </a:p>
        </p:txBody>
      </p:sp>
    </p:spTree>
    <p:extLst>
      <p:ext uri="{BB962C8B-B14F-4D97-AF65-F5344CB8AC3E}">
        <p14:creationId xmlns:p14="http://schemas.microsoft.com/office/powerpoint/2010/main" val="542075717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84-42-42">
            <a:extLst xmlns:a="http://schemas.openxmlformats.org/drawingml/2006/main">
              <a:ext uri="{FF2B5EF4-FFF2-40B4-BE49-F238E27FC236}">
                <a16:creationId xmlns:a16="http://schemas.microsoft.com/office/drawing/2014/main" id="{E6AB85EB-6751-4B67-80F2-87D64798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M6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5277297B-9B96-4EA9-AC33-3851E806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B2239"/>
                </a:solidFill>
              </a:defRPr>
            </a:pPr>
            <a:r>
              <a:rPr sz="5850" b="1" i="0">
                <a:solidFill>
                  <a:srgbClr val="0B2239"/>
                </a:solidFill>
              </a:rPr>
              <a:t>Evaluation and error analysis for NLP</a:t>
            </a:r>
          </a:p>
        </p:txBody>
      </p:sp>
      <p:sp>
        <p:nvSpPr>
          <p:cNvPr id="3" name="accent-rule-84-42-545">
            <a:extLst xmlns:a="http://schemas.openxmlformats.org/drawingml/2006/main">
              <a:ext uri="{FF2B5EF4-FFF2-40B4-BE49-F238E27FC236}">
                <a16:creationId xmlns:a16="http://schemas.microsoft.com/office/drawing/2014/main" id="{25174EC8-5189-4B35-983B-68546676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84-42-575">
            <a:extLst xmlns:a="http://schemas.openxmlformats.org/drawingml/2006/main">
              <a:ext uri="{FF2B5EF4-FFF2-40B4-BE49-F238E27FC236}">
                <a16:creationId xmlns:a16="http://schemas.microsoft.com/office/drawing/2014/main" id="{C88D55E7-4F60-420D-9400-713446F8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26273"/>
                </a:solidFill>
              </a:defRPr>
            </a:pPr>
            <a:r>
              <a:rPr sz="1800" b="0" i="0">
                <a:solidFill>
                  <a:srgbClr val="526273"/>
                </a:solidFill>
              </a:rPr>
              <a:t>A trustworthy model claim combines task metrics, slices, uncertainty, behavioural tests, and human-read errors.</a:t>
            </a:r>
          </a:p>
        </p:txBody>
      </p:sp>
      <p:sp>
        <p:nvSpPr>
          <p:cNvPr id="5" name="text-84-1180-676">
            <a:extLst xmlns:a="http://schemas.openxmlformats.org/drawingml/2006/main">
              <a:ext uri="{FF2B5EF4-FFF2-40B4-BE49-F238E27FC236}">
                <a16:creationId xmlns:a16="http://schemas.microsoft.com/office/drawing/2014/main" id="{D99DE623-4154-43FF-993B-61D7724F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716189487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4F18B9-D4A3-45F1-8608-13830061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M6 thesis</a:t>
            </a:r>
          </a:p>
        </p:txBody>
      </p:sp>
      <p:sp>
        <p:nvSpPr>
          <p:cNvPr id="2" name="title-rule-85-42-119">
            <a:extLst xmlns:a="http://schemas.openxmlformats.org/drawingml/2006/main">
              <a:ext uri="{FF2B5EF4-FFF2-40B4-BE49-F238E27FC236}">
                <a16:creationId xmlns:a16="http://schemas.microsoft.com/office/drawing/2014/main" id="{4F578518-5077-462E-9234-61C0AE8B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08FA85BB-67C5-4E29-B80A-6A63DAFD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F9CC067-2291-48E3-A461-6A129D5B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85</a:t>
            </a:r>
          </a:p>
        </p:txBody>
      </p:sp>
      <p:sp>
        <p:nvSpPr>
          <p:cNvPr id="5" name="text-85-42-185">
            <a:extLst xmlns:a="http://schemas.openxmlformats.org/drawingml/2006/main">
              <a:ext uri="{FF2B5EF4-FFF2-40B4-BE49-F238E27FC236}">
                <a16:creationId xmlns:a16="http://schemas.microsoft.com/office/drawing/2014/main" id="{3CB8A8AE-B829-479C-A5DB-DD6601EA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2239"/>
                </a:solidFill>
              </a:defRPr>
            </a:pPr>
            <a:r>
              <a:rPr sz="4050" b="1" i="0">
                <a:solidFill>
                  <a:srgbClr val="0B2239"/>
                </a:solidFill>
              </a:rPr>
              <a:t>A trustworthy model claim combines task metrics, slices, uncertainty, behavioural tests, and human-read errors.</a:t>
            </a:r>
          </a:p>
        </p:txBody>
      </p:sp>
      <p:sp>
        <p:nvSpPr>
          <p:cNvPr id="6" name="statement-accent-85-42-435">
            <a:extLst xmlns:a="http://schemas.openxmlformats.org/drawingml/2006/main">
              <a:ext uri="{FF2B5EF4-FFF2-40B4-BE49-F238E27FC236}">
                <a16:creationId xmlns:a16="http://schemas.microsoft.com/office/drawing/2014/main" id="{E54C8EA7-A0E8-4411-B85D-7DA4EF61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95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85-78-448">
            <a:extLst xmlns:a="http://schemas.openxmlformats.org/drawingml/2006/main">
              <a:ext uri="{FF2B5EF4-FFF2-40B4-BE49-F238E27FC236}">
                <a16:creationId xmlns:a16="http://schemas.microsoft.com/office/drawing/2014/main" id="{0385FA64-B45A-48D3-B2E5-0647468B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9763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26273"/>
                </a:solidFill>
              </a:defRPr>
            </a:pPr>
            <a:r>
              <a:rPr sz="1875" b="0" i="0">
                <a:solidFill>
                  <a:srgbClr val="526273"/>
                </a:solidFill>
              </a:rPr>
              <a:t>The profession lives in the preprocessing contract, the evaluation slices, and the milliseconds—not in a checkpoint name.</a:t>
            </a:r>
          </a:p>
        </p:txBody>
      </p:sp>
    </p:spTree>
    <p:extLst>
      <p:ext uri="{BB962C8B-B14F-4D97-AF65-F5344CB8AC3E}">
        <p14:creationId xmlns:p14="http://schemas.microsoft.com/office/powerpoint/2010/main" val="734422594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C96E2E-EA6A-4F72-85F0-D37C7F4E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What you will be able to do</a:t>
            </a:r>
          </a:p>
        </p:txBody>
      </p:sp>
      <p:sp>
        <p:nvSpPr>
          <p:cNvPr id="2" name="title-rule-86-42-119">
            <a:extLst xmlns:a="http://schemas.openxmlformats.org/drawingml/2006/main">
              <a:ext uri="{FF2B5EF4-FFF2-40B4-BE49-F238E27FC236}">
                <a16:creationId xmlns:a16="http://schemas.microsoft.com/office/drawing/2014/main" id="{CCFC5818-DFD1-4C08-A80C-83592933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DD4B4C79-62A0-4C77-BA4B-AC3BADD3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D19B2E5-78AA-4AAE-BBA3-03E68972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86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19691C81-E76A-421C-8380-9B6E5AFE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Choose task-appropriate metrics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Publish sliced metrics with confidence intervals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Run paired bootstrap comparisons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Write behavioural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Turn an error taxonomy into prioritised fixes and model cards</a:t>
            </a:r>
          </a:p>
        </p:txBody>
      </p:sp>
      <p:sp>
        <p:nvSpPr>
          <p:cNvPr id="6" name="callout-panel-86-835-175">
            <a:extLst xmlns:a="http://schemas.openxmlformats.org/drawingml/2006/main">
              <a:ext uri="{FF2B5EF4-FFF2-40B4-BE49-F238E27FC236}">
                <a16:creationId xmlns:a16="http://schemas.microsoft.com/office/drawing/2014/main" id="{CE29F030-170B-49E5-9B24-BEB52FE1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86-865-205">
            <a:extLst xmlns:a="http://schemas.openxmlformats.org/drawingml/2006/main">
              <a:ext uri="{FF2B5EF4-FFF2-40B4-BE49-F238E27FC236}">
                <a16:creationId xmlns:a16="http://schemas.microsoft.com/office/drawing/2014/main" id="{E3C27433-A6E7-4BCD-AD48-AC37BD3D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LEARNING OUTCOME</a:t>
            </a:r>
          </a:p>
        </p:txBody>
      </p:sp>
      <p:sp>
        <p:nvSpPr>
          <p:cNvPr id="8" name="text-86-865-260">
            <a:extLst xmlns:a="http://schemas.openxmlformats.org/drawingml/2006/main">
              <a:ext uri="{FF2B5EF4-FFF2-40B4-BE49-F238E27FC236}">
                <a16:creationId xmlns:a16="http://schemas.microsoft.com/office/drawing/2014/main" id="{90FDBDFF-47D8-4821-8205-EA77F53F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2239"/>
                </a:solidFill>
              </a:defRPr>
            </a:pPr>
            <a:r>
              <a:rPr sz="3300" b="1" i="0">
                <a:solidFill>
                  <a:srgbClr val="0B2239"/>
                </a:solidFill>
              </a:rPr>
              <a:t>M6</a:t>
            </a:r>
          </a:p>
        </p:txBody>
      </p:sp>
      <p:sp>
        <p:nvSpPr>
          <p:cNvPr id="9" name="text-86-865-410">
            <a:extLst xmlns:a="http://schemas.openxmlformats.org/drawingml/2006/main">
              <a:ext uri="{FF2B5EF4-FFF2-40B4-BE49-F238E27FC236}">
                <a16:creationId xmlns:a16="http://schemas.microsoft.com/office/drawing/2014/main" id="{A3EBFA7F-3070-4BC2-A596-C7138116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Every capability produces a component of Bayan and evidence for the capstone.</a:t>
            </a:r>
          </a:p>
        </p:txBody>
      </p:sp>
    </p:spTree>
    <p:extLst>
      <p:ext uri="{BB962C8B-B14F-4D97-AF65-F5344CB8AC3E}">
        <p14:creationId xmlns:p14="http://schemas.microsoft.com/office/powerpoint/2010/main" val="968376177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175E68-BB21-4B76-B157-374079BD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Every metric hides something</a:t>
            </a:r>
          </a:p>
        </p:txBody>
      </p:sp>
      <p:sp>
        <p:nvSpPr>
          <p:cNvPr id="2" name="title-rule-87-42-119">
            <a:extLst xmlns:a="http://schemas.openxmlformats.org/drawingml/2006/main">
              <a:ext uri="{FF2B5EF4-FFF2-40B4-BE49-F238E27FC236}">
                <a16:creationId xmlns:a16="http://schemas.microsoft.com/office/drawing/2014/main" id="{1727FEDF-329C-4A70-9DDD-42191A49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8E0CF59B-BD33-4A8F-981D-38FBCF06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053597D-803D-4DE4-827B-F4054A0A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87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00750E1A-37C2-40D2-A64E-F459D733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Accuracy hides minority classes; token accuracy hides entity spans; average relevance hides rank position and no-answer failures.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Classification: macro-F1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NER: entity-level F1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Retrieval: recall@k and MRR</a:t>
            </a:r>
          </a:p>
        </p:txBody>
      </p:sp>
      <p:sp>
        <p:nvSpPr>
          <p:cNvPr id="6" name="callout-panel-87-835-175">
            <a:extLst xmlns:a="http://schemas.openxmlformats.org/drawingml/2006/main">
              <a:ext uri="{FF2B5EF4-FFF2-40B4-BE49-F238E27FC236}">
                <a16:creationId xmlns:a16="http://schemas.microsoft.com/office/drawing/2014/main" id="{9532668C-61E5-48F9-808C-81C54329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87-865-205">
            <a:extLst xmlns:a="http://schemas.openxmlformats.org/drawingml/2006/main">
              <a:ext uri="{FF2B5EF4-FFF2-40B4-BE49-F238E27FC236}">
                <a16:creationId xmlns:a16="http://schemas.microsoft.com/office/drawing/2014/main" id="{8908C0C1-0619-4133-ACA7-BA785AC3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1</a:t>
            </a:r>
          </a:p>
        </p:txBody>
      </p:sp>
      <p:sp>
        <p:nvSpPr>
          <p:cNvPr id="8" name="text-87-865-260">
            <a:extLst xmlns:a="http://schemas.openxmlformats.org/drawingml/2006/main">
              <a:ext uri="{FF2B5EF4-FFF2-40B4-BE49-F238E27FC236}">
                <a16:creationId xmlns:a16="http://schemas.microsoft.com/office/drawing/2014/main" id="{CE106FE9-27E8-4D12-880A-C2BC3775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01</a:t>
            </a:r>
          </a:p>
        </p:txBody>
      </p:sp>
      <p:sp>
        <p:nvSpPr>
          <p:cNvPr id="9" name="text-87-865-410">
            <a:extLst xmlns:a="http://schemas.openxmlformats.org/drawingml/2006/main">
              <a:ext uri="{FF2B5EF4-FFF2-40B4-BE49-F238E27FC236}">
                <a16:creationId xmlns:a16="http://schemas.microsoft.com/office/drawing/2014/main" id="{9D25A786-02F4-4DB7-96F9-1CAB4187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6.</a:t>
            </a:r>
          </a:p>
        </p:txBody>
      </p:sp>
    </p:spTree>
    <p:extLst>
      <p:ext uri="{BB962C8B-B14F-4D97-AF65-F5344CB8AC3E}">
        <p14:creationId xmlns:p14="http://schemas.microsoft.com/office/powerpoint/2010/main" val="1228416693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BBE309-2A05-4632-9F4C-ACCB4C3F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Sliced evaluation is the default</a:t>
            </a:r>
          </a:p>
        </p:txBody>
      </p:sp>
      <p:sp>
        <p:nvSpPr>
          <p:cNvPr id="2" name="title-rule-88-42-119">
            <a:extLst xmlns:a="http://schemas.openxmlformats.org/drawingml/2006/main">
              <a:ext uri="{FF2B5EF4-FFF2-40B4-BE49-F238E27FC236}">
                <a16:creationId xmlns:a16="http://schemas.microsoft.com/office/drawing/2014/main" id="{7CB84453-F1F1-4350-98CA-D3A0FFB9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99B0D714-0459-4EC0-990A-A3A5A2FB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ECC0E91-2085-4364-8A5D-FFB8A01B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88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5E2E5E11-6E2A-4016-B65D-48ECFA34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Language, dialect, class, length, channel, and time slices show who experiences the model differently.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Publish sample size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Keep one aggregate for orientation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Flag material gaps, not every fluctuation</a:t>
            </a:r>
          </a:p>
        </p:txBody>
      </p:sp>
      <p:sp>
        <p:nvSpPr>
          <p:cNvPr id="6" name="callout-panel-88-835-175">
            <a:extLst xmlns:a="http://schemas.openxmlformats.org/drawingml/2006/main">
              <a:ext uri="{FF2B5EF4-FFF2-40B4-BE49-F238E27FC236}">
                <a16:creationId xmlns:a16="http://schemas.microsoft.com/office/drawing/2014/main" id="{ABA3ED70-94CB-447B-AE45-6D2C9C8E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88-865-205">
            <a:extLst xmlns:a="http://schemas.openxmlformats.org/drawingml/2006/main">
              <a:ext uri="{FF2B5EF4-FFF2-40B4-BE49-F238E27FC236}">
                <a16:creationId xmlns:a16="http://schemas.microsoft.com/office/drawing/2014/main" id="{8E2FA3FC-A3D0-4BD9-B989-E12E20CB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2</a:t>
            </a:r>
          </a:p>
        </p:txBody>
      </p:sp>
      <p:sp>
        <p:nvSpPr>
          <p:cNvPr id="8" name="text-88-865-260">
            <a:extLst xmlns:a="http://schemas.openxmlformats.org/drawingml/2006/main">
              <a:ext uri="{FF2B5EF4-FFF2-40B4-BE49-F238E27FC236}">
                <a16:creationId xmlns:a16="http://schemas.microsoft.com/office/drawing/2014/main" id="{334E61C8-51E2-400B-9BC2-4F5F3AE3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02</a:t>
            </a:r>
          </a:p>
        </p:txBody>
      </p:sp>
      <p:sp>
        <p:nvSpPr>
          <p:cNvPr id="9" name="text-88-865-410">
            <a:extLst xmlns:a="http://schemas.openxmlformats.org/drawingml/2006/main">
              <a:ext uri="{FF2B5EF4-FFF2-40B4-BE49-F238E27FC236}">
                <a16:creationId xmlns:a16="http://schemas.microsoft.com/office/drawing/2014/main" id="{CDF97258-5A8B-4DFF-A018-DB9B3E47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6.</a:t>
            </a:r>
          </a:p>
        </p:txBody>
      </p:sp>
    </p:spTree>
    <p:extLst>
      <p:ext uri="{BB962C8B-B14F-4D97-AF65-F5344CB8AC3E}">
        <p14:creationId xmlns:p14="http://schemas.microsoft.com/office/powerpoint/2010/main" val="1954127881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A7F161-4EC6-4546-A1B2-AEE83495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Uncertainty ends arguments over tiny deltas</a:t>
            </a:r>
          </a:p>
        </p:txBody>
      </p:sp>
      <p:sp>
        <p:nvSpPr>
          <p:cNvPr id="2" name="title-rule-89-42-119">
            <a:extLst xmlns:a="http://schemas.openxmlformats.org/drawingml/2006/main">
              <a:ext uri="{FF2B5EF4-FFF2-40B4-BE49-F238E27FC236}">
                <a16:creationId xmlns:a16="http://schemas.microsoft.com/office/drawing/2014/main" id="{6F1A0AAB-7E78-45F7-AF64-568E8EBA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92F1D7FD-D2BA-4B2D-BCCD-1E1D13C8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3274F9B-3391-422B-B4B3-C064BBC4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89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E0E24FEC-4750-4C60-BF33-4BA9AD7F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Paired bootstrap resamples the same examples, preserving correlation and estimating a confidence interval for the model difference.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Compare paired predictions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Report the interval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If zero is inside, measure more</a:t>
            </a:r>
          </a:p>
        </p:txBody>
      </p:sp>
      <p:sp>
        <p:nvSpPr>
          <p:cNvPr id="6" name="callout-panel-89-835-175">
            <a:extLst xmlns:a="http://schemas.openxmlformats.org/drawingml/2006/main">
              <a:ext uri="{FF2B5EF4-FFF2-40B4-BE49-F238E27FC236}">
                <a16:creationId xmlns:a16="http://schemas.microsoft.com/office/drawing/2014/main" id="{23D06FE0-4063-493F-BC8E-4813E450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89-865-205">
            <a:extLst xmlns:a="http://schemas.openxmlformats.org/drawingml/2006/main">
              <a:ext uri="{FF2B5EF4-FFF2-40B4-BE49-F238E27FC236}">
                <a16:creationId xmlns:a16="http://schemas.microsoft.com/office/drawing/2014/main" id="{11F28AB1-AF4E-44DD-B39E-A5877297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3</a:t>
            </a:r>
          </a:p>
        </p:txBody>
      </p:sp>
      <p:sp>
        <p:nvSpPr>
          <p:cNvPr id="8" name="text-89-865-260">
            <a:extLst xmlns:a="http://schemas.openxmlformats.org/drawingml/2006/main">
              <a:ext uri="{FF2B5EF4-FFF2-40B4-BE49-F238E27FC236}">
                <a16:creationId xmlns:a16="http://schemas.microsoft.com/office/drawing/2014/main" id="{986F212E-5BE8-4C46-A239-B41EFE19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03</a:t>
            </a:r>
          </a:p>
        </p:txBody>
      </p:sp>
      <p:sp>
        <p:nvSpPr>
          <p:cNvPr id="9" name="text-89-865-410">
            <a:extLst xmlns:a="http://schemas.openxmlformats.org/drawingml/2006/main">
              <a:ext uri="{FF2B5EF4-FFF2-40B4-BE49-F238E27FC236}">
                <a16:creationId xmlns:a16="http://schemas.microsoft.com/office/drawing/2014/main" id="{31542106-DCDD-4E41-805D-99FBC153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6.</a:t>
            </a:r>
          </a:p>
        </p:txBody>
      </p:sp>
    </p:spTree>
    <p:extLst>
      <p:ext uri="{BB962C8B-B14F-4D97-AF65-F5344CB8AC3E}">
        <p14:creationId xmlns:p14="http://schemas.microsoft.com/office/powerpoint/2010/main" val="2104777599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546B30-FE3C-4DE9-8991-B1FD18EE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Behavioural tests are unit tests for language</a:t>
            </a:r>
          </a:p>
        </p:txBody>
      </p:sp>
      <p:sp>
        <p:nvSpPr>
          <p:cNvPr id="2" name="title-rule-90-42-119">
            <a:extLst xmlns:a="http://schemas.openxmlformats.org/drawingml/2006/main">
              <a:ext uri="{FF2B5EF4-FFF2-40B4-BE49-F238E27FC236}">
                <a16:creationId xmlns:a16="http://schemas.microsoft.com/office/drawing/2014/main" id="{60801849-D2DE-4C67-8EB3-7BC2B691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4CFF9E2A-37DB-4E01-9B46-30ED8729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161FFB7-888F-4CC0-BEF3-CFDC1E7B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90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FAF9C998-14E4-4A19-A480-C0C16B8C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Invariance tests protect irrelevant changes; directional tests require a predictable response; minimum functionality tests encode domain contracts.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Location swap should not change topic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Negation should not improve sentiment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Registry terms must be recognised</a:t>
            </a:r>
          </a:p>
        </p:txBody>
      </p:sp>
      <p:sp>
        <p:nvSpPr>
          <p:cNvPr id="6" name="callout-panel-90-835-175">
            <a:extLst xmlns:a="http://schemas.openxmlformats.org/drawingml/2006/main">
              <a:ext uri="{FF2B5EF4-FFF2-40B4-BE49-F238E27FC236}">
                <a16:creationId xmlns:a16="http://schemas.microsoft.com/office/drawing/2014/main" id="{E446EDCA-B725-4BC3-BB22-3A83DE1D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90-865-205">
            <a:extLst xmlns:a="http://schemas.openxmlformats.org/drawingml/2006/main">
              <a:ext uri="{FF2B5EF4-FFF2-40B4-BE49-F238E27FC236}">
                <a16:creationId xmlns:a16="http://schemas.microsoft.com/office/drawing/2014/main" id="{67ADD35C-AE72-49F4-AA43-3572F97C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4</a:t>
            </a:r>
          </a:p>
        </p:txBody>
      </p:sp>
      <p:sp>
        <p:nvSpPr>
          <p:cNvPr id="8" name="text-90-865-260">
            <a:extLst xmlns:a="http://schemas.openxmlformats.org/drawingml/2006/main">
              <a:ext uri="{FF2B5EF4-FFF2-40B4-BE49-F238E27FC236}">
                <a16:creationId xmlns:a16="http://schemas.microsoft.com/office/drawing/2014/main" id="{95150AA3-6075-46A4-9ABA-A4E8353E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04</a:t>
            </a:r>
          </a:p>
        </p:txBody>
      </p:sp>
      <p:sp>
        <p:nvSpPr>
          <p:cNvPr id="9" name="text-90-865-410">
            <a:extLst xmlns:a="http://schemas.openxmlformats.org/drawingml/2006/main">
              <a:ext uri="{FF2B5EF4-FFF2-40B4-BE49-F238E27FC236}">
                <a16:creationId xmlns:a16="http://schemas.microsoft.com/office/drawing/2014/main" id="{3C88918A-B736-4EE4-960C-58069F7B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6.</a:t>
            </a:r>
          </a:p>
        </p:txBody>
      </p:sp>
    </p:spTree>
    <p:extLst>
      <p:ext uri="{BB962C8B-B14F-4D97-AF65-F5344CB8AC3E}">
        <p14:creationId xmlns:p14="http://schemas.microsoft.com/office/powerpoint/2010/main" val="828961392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8EDD3E-364B-4072-96A0-55344466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Error analysis needs humans</a:t>
            </a:r>
          </a:p>
        </p:txBody>
      </p:sp>
      <p:sp>
        <p:nvSpPr>
          <p:cNvPr id="2" name="title-rule-91-42-119">
            <a:extLst xmlns:a="http://schemas.openxmlformats.org/drawingml/2006/main">
              <a:ext uri="{FF2B5EF4-FFF2-40B4-BE49-F238E27FC236}">
                <a16:creationId xmlns:a16="http://schemas.microsoft.com/office/drawing/2014/main" id="{38B82156-8F5E-4F25-A03B-2DBFA5EB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03E19A63-3CD3-4CF6-AD16-827381F9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97E61C6-2185-4206-8735-B235175A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91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706D4E2E-47C0-4FD8-AE01-9B4EF2C1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Collect failures, hand-read them, tag causes, count, estimate fix cost, and convert the top risks into regression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Read at least 100 errors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Separate data from model defects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Predict the delta before retraining</a:t>
            </a:r>
          </a:p>
        </p:txBody>
      </p:sp>
      <p:sp>
        <p:nvSpPr>
          <p:cNvPr id="6" name="callout-panel-91-835-175">
            <a:extLst xmlns:a="http://schemas.openxmlformats.org/drawingml/2006/main">
              <a:ext uri="{FF2B5EF4-FFF2-40B4-BE49-F238E27FC236}">
                <a16:creationId xmlns:a16="http://schemas.microsoft.com/office/drawing/2014/main" id="{6103D536-309B-4017-BE6B-C427C504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91-865-205">
            <a:extLst xmlns:a="http://schemas.openxmlformats.org/drawingml/2006/main">
              <a:ext uri="{FF2B5EF4-FFF2-40B4-BE49-F238E27FC236}">
                <a16:creationId xmlns:a16="http://schemas.microsoft.com/office/drawing/2014/main" id="{087D5E6F-CEE6-4D66-B1F8-F00BF543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5</a:t>
            </a:r>
          </a:p>
        </p:txBody>
      </p:sp>
      <p:sp>
        <p:nvSpPr>
          <p:cNvPr id="8" name="text-91-865-260">
            <a:extLst xmlns:a="http://schemas.openxmlformats.org/drawingml/2006/main">
              <a:ext uri="{FF2B5EF4-FFF2-40B4-BE49-F238E27FC236}">
                <a16:creationId xmlns:a16="http://schemas.microsoft.com/office/drawing/2014/main" id="{8CFDD24C-3215-4D85-89D1-84D1128C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05</a:t>
            </a:r>
          </a:p>
        </p:txBody>
      </p:sp>
      <p:sp>
        <p:nvSpPr>
          <p:cNvPr id="9" name="text-91-865-410">
            <a:extLst xmlns:a="http://schemas.openxmlformats.org/drawingml/2006/main">
              <a:ext uri="{FF2B5EF4-FFF2-40B4-BE49-F238E27FC236}">
                <a16:creationId xmlns:a16="http://schemas.microsoft.com/office/drawing/2014/main" id="{2921D167-06B2-482F-B150-4F7E5C37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6.</a:t>
            </a:r>
          </a:p>
        </p:txBody>
      </p:sp>
    </p:spTree>
    <p:extLst>
      <p:ext uri="{BB962C8B-B14F-4D97-AF65-F5344CB8AC3E}">
        <p14:creationId xmlns:p14="http://schemas.microsoft.com/office/powerpoint/2010/main" val="886965233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869CE2-FB90-4ACC-87BE-6E956C83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Model cards preserve the claim boundary</a:t>
            </a:r>
          </a:p>
        </p:txBody>
      </p:sp>
      <p:sp>
        <p:nvSpPr>
          <p:cNvPr id="2" name="title-rule-92-42-119">
            <a:extLst xmlns:a="http://schemas.openxmlformats.org/drawingml/2006/main">
              <a:ext uri="{FF2B5EF4-FFF2-40B4-BE49-F238E27FC236}">
                <a16:creationId xmlns:a16="http://schemas.microsoft.com/office/drawing/2014/main" id="{04C4CEEB-42DD-4100-B1BB-9F76FAA2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13003B2D-F707-40F0-87DE-13CD59B4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9160085-4EB6-41F4-BC60-FBABBA3F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92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913ED838-17E5-4CF2-AE40-9B2EFDCF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Intended use, data, metrics, slices, limitations, ethical risks, and rollback information turn a checkpoint into an auditable artefact.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Freeze the test 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Retain the fp32 reference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Write limitations by hand</a:t>
            </a:r>
          </a:p>
        </p:txBody>
      </p:sp>
      <p:sp>
        <p:nvSpPr>
          <p:cNvPr id="6" name="callout-panel-92-835-175">
            <a:extLst xmlns:a="http://schemas.openxmlformats.org/drawingml/2006/main">
              <a:ext uri="{FF2B5EF4-FFF2-40B4-BE49-F238E27FC236}">
                <a16:creationId xmlns:a16="http://schemas.microsoft.com/office/drawing/2014/main" id="{7A00A2D2-FEAB-4BB7-B65D-C320DA3C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92-865-205">
            <a:extLst xmlns:a="http://schemas.openxmlformats.org/drawingml/2006/main">
              <a:ext uri="{FF2B5EF4-FFF2-40B4-BE49-F238E27FC236}">
                <a16:creationId xmlns:a16="http://schemas.microsoft.com/office/drawing/2014/main" id="{0660FE5D-2FE6-402A-AF08-27015354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6</a:t>
            </a:r>
          </a:p>
        </p:txBody>
      </p:sp>
      <p:sp>
        <p:nvSpPr>
          <p:cNvPr id="8" name="text-92-865-260">
            <a:extLst xmlns:a="http://schemas.openxmlformats.org/drawingml/2006/main">
              <a:ext uri="{FF2B5EF4-FFF2-40B4-BE49-F238E27FC236}">
                <a16:creationId xmlns:a16="http://schemas.microsoft.com/office/drawing/2014/main" id="{75B6DD22-BA5A-4F00-B601-F717669E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06</a:t>
            </a:r>
          </a:p>
        </p:txBody>
      </p:sp>
      <p:sp>
        <p:nvSpPr>
          <p:cNvPr id="9" name="text-92-865-410">
            <a:extLst xmlns:a="http://schemas.openxmlformats.org/drawingml/2006/main">
              <a:ext uri="{FF2B5EF4-FFF2-40B4-BE49-F238E27FC236}">
                <a16:creationId xmlns:a16="http://schemas.microsoft.com/office/drawing/2014/main" id="{C5BFC44F-C593-4251-B43D-4A3AA795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6.</a:t>
            </a:r>
          </a:p>
        </p:txBody>
      </p:sp>
    </p:spTree>
    <p:extLst>
      <p:ext uri="{BB962C8B-B14F-4D97-AF65-F5344CB8AC3E}">
        <p14:creationId xmlns:p14="http://schemas.microsoft.com/office/powerpoint/2010/main" val="1089447818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1D277D-CD61-4598-8D4D-835A8808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Failure modes to catch before production</a:t>
            </a:r>
          </a:p>
        </p:txBody>
      </p:sp>
      <p:sp>
        <p:nvSpPr>
          <p:cNvPr id="2" name="title-rule-93-42-119">
            <a:extLst xmlns:a="http://schemas.openxmlformats.org/drawingml/2006/main">
              <a:ext uri="{FF2B5EF4-FFF2-40B4-BE49-F238E27FC236}">
                <a16:creationId xmlns:a16="http://schemas.microsoft.com/office/drawing/2014/main" id="{113EA225-7FB3-4B73-9EDF-0D0AAD0D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DE435230-2756-4F3D-8CF9-0796C3E8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0020BE9-351D-4247-9D9A-E5C574BA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93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3E3E312D-62E7-47AB-90FE-B4B3B259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Reporting aggregate-only accuracy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Claiming +0.8 without uncertainty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Using the frozen test set for error analysis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Weakening a behavioural test to make CI 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Copying reference benchmark numbers</a:t>
            </a:r>
          </a:p>
        </p:txBody>
      </p:sp>
      <p:sp>
        <p:nvSpPr>
          <p:cNvPr id="6" name="callout-panel-93-835-175">
            <a:extLst xmlns:a="http://schemas.openxmlformats.org/drawingml/2006/main">
              <a:ext uri="{FF2B5EF4-FFF2-40B4-BE49-F238E27FC236}">
                <a16:creationId xmlns:a16="http://schemas.microsoft.com/office/drawing/2014/main" id="{CCB433D5-E231-4EF5-9BBE-D968C407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93-865-205">
            <a:extLst xmlns:a="http://schemas.openxmlformats.org/drawingml/2006/main">
              <a:ext uri="{FF2B5EF4-FFF2-40B4-BE49-F238E27FC236}">
                <a16:creationId xmlns:a16="http://schemas.microsoft.com/office/drawing/2014/main" id="{1EEEFF1E-9203-4EC3-BF94-66B0628D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RULE</a:t>
            </a:r>
          </a:p>
        </p:txBody>
      </p:sp>
      <p:sp>
        <p:nvSpPr>
          <p:cNvPr id="8" name="text-93-865-260">
            <a:extLst xmlns:a="http://schemas.openxmlformats.org/drawingml/2006/main">
              <a:ext uri="{FF2B5EF4-FFF2-40B4-BE49-F238E27FC236}">
                <a16:creationId xmlns:a16="http://schemas.microsoft.com/office/drawing/2014/main" id="{33FFBE00-533E-4404-BE45-8020BA2B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239"/>
                </a:solidFill>
              </a:defRPr>
            </a:pPr>
            <a:r>
              <a:rPr sz="2550" b="1" i="0">
                <a:solidFill>
                  <a:srgbClr val="0B2239"/>
                </a:solidFill>
              </a:rPr>
              <a:t>Make it fail loudly</a:t>
            </a:r>
          </a:p>
        </p:txBody>
      </p:sp>
      <p:sp>
        <p:nvSpPr>
          <p:cNvPr id="9" name="text-93-865-410">
            <a:extLst xmlns:a="http://schemas.openxmlformats.org/drawingml/2006/main">
              <a:ext uri="{FF2B5EF4-FFF2-40B4-BE49-F238E27FC236}">
                <a16:creationId xmlns:a16="http://schemas.microsoft.com/office/drawing/2014/main" id="{1A7350F8-B4D1-4666-AF4B-E542DC3D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Silent plausibility is the dangerous state.</a:t>
            </a:r>
          </a:p>
        </p:txBody>
      </p:sp>
    </p:spTree>
    <p:extLst>
      <p:ext uri="{BB962C8B-B14F-4D97-AF65-F5344CB8AC3E}">
        <p14:creationId xmlns:p14="http://schemas.microsoft.com/office/powerpoint/2010/main" val="575819436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8E8DD3-F496-4BD5-8863-C0E28796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Executable pattern</a:t>
            </a:r>
          </a:p>
        </p:txBody>
      </p:sp>
      <p:sp>
        <p:nvSpPr>
          <p:cNvPr id="2" name="title-rule-94-42-119">
            <a:extLst xmlns:a="http://schemas.openxmlformats.org/drawingml/2006/main">
              <a:ext uri="{FF2B5EF4-FFF2-40B4-BE49-F238E27FC236}">
                <a16:creationId xmlns:a16="http://schemas.microsoft.com/office/drawing/2014/main" id="{9895F0DF-58BA-4DC2-8D1B-F21097A5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51E283F8-8EF8-46EA-837E-02611424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DF2A404-BE72-49DE-929C-7C76B9ED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94</a:t>
            </a:r>
          </a:p>
        </p:txBody>
      </p:sp>
      <p:sp>
        <p:nvSpPr>
          <p:cNvPr id="5" name="code-panel-94-42-150">
            <a:extLst xmlns:a="http://schemas.openxmlformats.org/drawingml/2006/main">
              <a:ext uri="{FF2B5EF4-FFF2-40B4-BE49-F238E27FC236}">
                <a16:creationId xmlns:a16="http://schemas.microsoft.com/office/drawing/2014/main" id="{835343D4-FAA8-4712-B4D0-1FC2D308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7239000" cy="4572000"/>
          </a:xfrm>
          <a:prstGeom xmlns:a="http://schemas.openxmlformats.org/drawingml/2006/main" prst="roundRect">
            <a:avLst>
              <a:gd name="adj" fmla="val 833"/>
            </a:avLst>
          </a:prstGeom>
          <a:solidFill xmlns:a="http://schemas.openxmlformats.org/drawingml/2006/main">
            <a:srgbClr val="071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37D5ED10-7E16-44C7-8CEB-55B2C8D8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676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diffs = []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for _ in range(2000):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    idx = rng.integers(0, n, n)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    diffs.append(metric(y[idx], a[idx]) - metric(y[idx], b[idx]))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lo, hi = np.quantile(diffs, [0.025, 0.975])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verdict = "measurable" if lo &gt; 0 or hi &lt; 0 else "uncertain"</a:t>
            </a:r>
          </a:p>
        </p:txBody>
      </p:sp>
      <p:sp>
        <p:nvSpPr>
          <p:cNvPr id="7" name="text-94-850-165">
            <a:extLst xmlns:a="http://schemas.openxmlformats.org/drawingml/2006/main">
              <a:ext uri="{FF2B5EF4-FFF2-40B4-BE49-F238E27FC236}">
                <a16:creationId xmlns:a16="http://schemas.microsoft.com/office/drawing/2014/main" id="{BFC61270-998B-46B4-93C2-A9F8D960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READ THE CONTRACT</a:t>
            </a:r>
          </a:p>
        </p:txBody>
      </p:sp>
      <p:sp>
        <p:nvSpPr>
          <p:cNvPr id="8" name="text-94-850-220">
            <a:extLst xmlns:a="http://schemas.openxmlformats.org/drawingml/2006/main">
              <a:ext uri="{FF2B5EF4-FFF2-40B4-BE49-F238E27FC236}">
                <a16:creationId xmlns:a16="http://schemas.microsoft.com/office/drawing/2014/main" id="{09F62A17-8525-44C7-8EBE-52E0CAB6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190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Resample paired examples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Report the full interval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Uncertain is a valid verdict</a:t>
            </a:r>
          </a:p>
        </p:txBody>
      </p:sp>
    </p:spTree>
    <p:extLst>
      <p:ext uri="{BB962C8B-B14F-4D97-AF65-F5344CB8AC3E}">
        <p14:creationId xmlns:p14="http://schemas.microsoft.com/office/powerpoint/2010/main" val="815311267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FEA04E-434C-45C8-9A6F-032DEF3F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Apply the concept before the lab</a:t>
            </a:r>
          </a:p>
        </p:txBody>
      </p:sp>
      <p:sp>
        <p:nvSpPr>
          <p:cNvPr id="2" name="title-rule-95-42-119">
            <a:extLst xmlns:a="http://schemas.openxmlformats.org/drawingml/2006/main">
              <a:ext uri="{FF2B5EF4-FFF2-40B4-BE49-F238E27FC236}">
                <a16:creationId xmlns:a16="http://schemas.microsoft.com/office/drawing/2014/main" id="{BDABC947-A614-4AEC-B15C-4EFE5F93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9EC4B739-6E2C-4D2A-9D40-1678CBBA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25F958A-5CF2-4DA5-8181-5F19BA71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95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0EFE44A1-601E-44C5-9B90-62A04089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Error-reading jigsaw across pairs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Ship/block/measure-more tribunal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Reveal the survivorship-biased test-set simulation</a:t>
            </a:r>
          </a:p>
        </p:txBody>
      </p:sp>
      <p:sp>
        <p:nvSpPr>
          <p:cNvPr id="6" name="callout-panel-95-835-175">
            <a:extLst xmlns:a="http://schemas.openxmlformats.org/drawingml/2006/main">
              <a:ext uri="{FF2B5EF4-FFF2-40B4-BE49-F238E27FC236}">
                <a16:creationId xmlns:a16="http://schemas.microsoft.com/office/drawing/2014/main" id="{E0FA90EA-22A3-495E-9819-5D37AF6F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95-865-205">
            <a:extLst xmlns:a="http://schemas.openxmlformats.org/drawingml/2006/main">
              <a:ext uri="{FF2B5EF4-FFF2-40B4-BE49-F238E27FC236}">
                <a16:creationId xmlns:a16="http://schemas.microsoft.com/office/drawing/2014/main" id="{7743D012-C775-4076-8DCF-8D4DE042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ACTIVITY</a:t>
            </a:r>
          </a:p>
        </p:txBody>
      </p:sp>
      <p:sp>
        <p:nvSpPr>
          <p:cNvPr id="8" name="text-95-865-260">
            <a:extLst xmlns:a="http://schemas.openxmlformats.org/drawingml/2006/main">
              <a:ext uri="{FF2B5EF4-FFF2-40B4-BE49-F238E27FC236}">
                <a16:creationId xmlns:a16="http://schemas.microsoft.com/office/drawing/2014/main" id="{A2FBAB67-2C8C-481B-A17A-0F57C685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2239"/>
                </a:solidFill>
              </a:defRPr>
            </a:pPr>
            <a:r>
              <a:rPr sz="3300" b="1" i="0">
                <a:solidFill>
                  <a:srgbClr val="0B2239"/>
                </a:solidFill>
              </a:rPr>
              <a:t>10 min</a:t>
            </a:r>
          </a:p>
        </p:txBody>
      </p:sp>
      <p:sp>
        <p:nvSpPr>
          <p:cNvPr id="9" name="text-95-865-410">
            <a:extLst xmlns:a="http://schemas.openxmlformats.org/drawingml/2006/main">
              <a:ext uri="{FF2B5EF4-FFF2-40B4-BE49-F238E27FC236}">
                <a16:creationId xmlns:a16="http://schemas.microsoft.com/office/drawing/2014/main" id="{A3926D67-8650-4E00-9AEE-952215E5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Predict first; measure second; defend the evidence.</a:t>
            </a:r>
          </a:p>
        </p:txBody>
      </p:sp>
    </p:spTree>
    <p:extLst>
      <p:ext uri="{BB962C8B-B14F-4D97-AF65-F5344CB8AC3E}">
        <p14:creationId xmlns:p14="http://schemas.microsoft.com/office/powerpoint/2010/main" val="105554472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5721DD-CF7B-43AA-AD64-F897BE21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Lab 6 — The evaluation report</a:t>
            </a:r>
          </a:p>
        </p:txBody>
      </p:sp>
      <p:sp>
        <p:nvSpPr>
          <p:cNvPr id="2" name="title-rule-96-42-119">
            <a:extLst xmlns:a="http://schemas.openxmlformats.org/drawingml/2006/main">
              <a:ext uri="{FF2B5EF4-FFF2-40B4-BE49-F238E27FC236}">
                <a16:creationId xmlns:a16="http://schemas.microsoft.com/office/drawing/2014/main" id="{11F434FC-9EC1-46E2-B3E1-B4E703C7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BEB3D569-18C0-4336-AE4B-BEFE943B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0A9639E-F01B-4169-AF07-6B12CD0F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96</a:t>
            </a:r>
          </a:p>
        </p:txBody>
      </p:sp>
      <p:sp>
        <p:nvSpPr>
          <p:cNvPr id="5" name="text-96-52-160">
            <a:extLst xmlns:a="http://schemas.openxmlformats.org/drawingml/2006/main">
              <a:ext uri="{FF2B5EF4-FFF2-40B4-BE49-F238E27FC236}">
                <a16:creationId xmlns:a16="http://schemas.microsoft.com/office/drawing/2014/main" id="{1D6C4B52-EB88-465D-AA3D-829732A4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BUILD</a:t>
            </a:r>
          </a:p>
        </p:txBody>
      </p:sp>
      <p:sp>
        <p:nvSpPr>
          <p:cNvPr id="6" name="text-96-52-220">
            <a:extLst xmlns:a="http://schemas.openxmlformats.org/drawingml/2006/main">
              <a:ext uri="{FF2B5EF4-FFF2-40B4-BE49-F238E27FC236}">
                <a16:creationId xmlns:a16="http://schemas.microsoft.com/office/drawing/2014/main" id="{2D806232-449B-403E-BD0F-83364372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01</a:t>
            </a:r>
          </a:p>
        </p:txBody>
      </p:sp>
      <p:sp>
        <p:nvSpPr>
          <p:cNvPr id="7" name="text-96-122-220">
            <a:extLst xmlns:a="http://schemas.openxmlformats.org/drawingml/2006/main">
              <a:ext uri="{FF2B5EF4-FFF2-40B4-BE49-F238E27FC236}">
                <a16:creationId xmlns:a16="http://schemas.microsoft.com/office/drawing/2014/main" id="{476E5B7D-4804-4437-87B2-4728EC77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Slice every Bayan component</a:t>
            </a:r>
          </a:p>
        </p:txBody>
      </p:sp>
      <p:sp>
        <p:nvSpPr>
          <p:cNvPr id="8" name="text-96-52-312">
            <a:extLst xmlns:a="http://schemas.openxmlformats.org/drawingml/2006/main">
              <a:ext uri="{FF2B5EF4-FFF2-40B4-BE49-F238E27FC236}">
                <a16:creationId xmlns:a16="http://schemas.microsoft.com/office/drawing/2014/main" id="{13D9D9EA-4ABE-4542-B69C-5E13A758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02</a:t>
            </a:r>
          </a:p>
        </p:txBody>
      </p:sp>
      <p:sp>
        <p:nvSpPr>
          <p:cNvPr id="9" name="text-96-122-312">
            <a:extLst xmlns:a="http://schemas.openxmlformats.org/drawingml/2006/main">
              <a:ext uri="{FF2B5EF4-FFF2-40B4-BE49-F238E27FC236}">
                <a16:creationId xmlns:a16="http://schemas.microsoft.com/office/drawing/2014/main" id="{84EBC6DA-8512-4167-8F85-E644F1C6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Bootstrap key model differences</a:t>
            </a:r>
          </a:p>
        </p:txBody>
      </p:sp>
      <p:sp>
        <p:nvSpPr>
          <p:cNvPr id="10" name="text-96-52-404">
            <a:extLst xmlns:a="http://schemas.openxmlformats.org/drawingml/2006/main">
              <a:ext uri="{FF2B5EF4-FFF2-40B4-BE49-F238E27FC236}">
                <a16:creationId xmlns:a16="http://schemas.microsoft.com/office/drawing/2014/main" id="{50F7C8AE-B5FB-4912-B167-58831CCC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03</a:t>
            </a:r>
          </a:p>
        </p:txBody>
      </p:sp>
      <p:sp>
        <p:nvSpPr>
          <p:cNvPr id="11" name="text-96-122-404">
            <a:extLst xmlns:a="http://schemas.openxmlformats.org/drawingml/2006/main">
              <a:ext uri="{FF2B5EF4-FFF2-40B4-BE49-F238E27FC236}">
                <a16:creationId xmlns:a16="http://schemas.microsoft.com/office/drawing/2014/main" id="{AA4070D9-DDE3-4F14-8894-ACCFB4E0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Run behavioural suites</a:t>
            </a:r>
          </a:p>
        </p:txBody>
      </p:sp>
      <p:sp>
        <p:nvSpPr>
          <p:cNvPr id="12" name="text-96-52-496">
            <a:extLst xmlns:a="http://schemas.openxmlformats.org/drawingml/2006/main">
              <a:ext uri="{FF2B5EF4-FFF2-40B4-BE49-F238E27FC236}">
                <a16:creationId xmlns:a16="http://schemas.microsoft.com/office/drawing/2014/main" id="{60C4240E-0098-435F-AE68-573CA79E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04</a:t>
            </a:r>
          </a:p>
        </p:txBody>
      </p:sp>
      <p:sp>
        <p:nvSpPr>
          <p:cNvPr id="13" name="text-96-122-496">
            <a:extLst xmlns:a="http://schemas.openxmlformats.org/drawingml/2006/main">
              <a:ext uri="{FF2B5EF4-FFF2-40B4-BE49-F238E27FC236}">
                <a16:creationId xmlns:a16="http://schemas.microsoft.com/office/drawing/2014/main" id="{740C7B58-8C27-4BFB-91B7-25CFCC71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244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Read, tag, and prioritise at least 100 errors</a:t>
            </a:r>
          </a:p>
        </p:txBody>
      </p:sp>
      <p:sp>
        <p:nvSpPr>
          <p:cNvPr id="14" name="evidence-panel-96-820-175">
            <a:extLst xmlns:a="http://schemas.openxmlformats.org/drawingml/2006/main">
              <a:ext uri="{FF2B5EF4-FFF2-40B4-BE49-F238E27FC236}">
                <a16:creationId xmlns:a16="http://schemas.microsoft.com/office/drawing/2014/main" id="{244A027B-C713-42F1-A27A-2F019A9E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3600450" cy="3905250"/>
          </a:xfrm>
          <a:prstGeom xmlns:a="http://schemas.openxmlformats.org/drawingml/2006/main" prst="roundRect">
            <a:avLst>
              <a:gd name="adj" fmla="val 105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5" name="text-96-850-205">
            <a:extLst xmlns:a="http://schemas.openxmlformats.org/drawingml/2006/main">
              <a:ext uri="{FF2B5EF4-FFF2-40B4-BE49-F238E27FC236}">
                <a16:creationId xmlns:a16="http://schemas.microsoft.com/office/drawing/2014/main" id="{EFAC90C0-4CD1-449E-9954-48D6F772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66C3"/>
                </a:solidFill>
              </a:defRPr>
            </a:pPr>
            <a:r>
              <a:rPr sz="1275" b="1" i="0">
                <a:solidFill>
                  <a:srgbClr val="0B66C3"/>
                </a:solidFill>
              </a:rPr>
              <a:t>EVIDENCE TO COMMIT</a:t>
            </a:r>
          </a:p>
        </p:txBody>
      </p:sp>
      <p:sp>
        <p:nvSpPr>
          <p:cNvPr id="16" name="text-96-850-270">
            <a:extLst xmlns:a="http://schemas.openxmlformats.org/drawingml/2006/main">
              <a:ext uri="{FF2B5EF4-FFF2-40B4-BE49-F238E27FC236}">
                <a16:creationId xmlns:a16="http://schemas.microsoft.com/office/drawing/2014/main" id="{BFA642A1-C929-4F89-AF20-B4BFD2AE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0003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Slices + 95% intervals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Behaviour pass rates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Error taxonomy + top-3 fixes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EVALUATION_REPORT.md + cards</a:t>
            </a:r>
          </a:p>
        </p:txBody>
      </p:sp>
    </p:spTree>
    <p:extLst>
      <p:ext uri="{BB962C8B-B14F-4D97-AF65-F5344CB8AC3E}">
        <p14:creationId xmlns:p14="http://schemas.microsoft.com/office/powerpoint/2010/main" val="317956168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CDA2A4-123F-413A-935F-ACF2B44E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The aggregate hides the risk slice</a:t>
            </a:r>
          </a:p>
        </p:txBody>
      </p:sp>
      <p:sp>
        <p:nvSpPr>
          <p:cNvPr id="2" name="title-rule-97-42-119">
            <a:extLst xmlns:a="http://schemas.openxmlformats.org/drawingml/2006/main">
              <a:ext uri="{FF2B5EF4-FFF2-40B4-BE49-F238E27FC236}">
                <a16:creationId xmlns:a16="http://schemas.microsoft.com/office/drawing/2014/main" id="{3355CA38-8C78-4D1C-8DF7-1D5C6BC7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A0ED5C3-4456-4360-963D-AC8C9F3A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C4BE3B4-1FED-49C1-A32F-3CF463A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97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0050" y="1476375"/>
          <a:ext xmlns:a="http://schemas.openxmlformats.org/drawingml/2006/main" cx="6286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8360c5aef4462a"/>
          </a:graphicData>
        </a:graphic>
      </p:graphicFrame>
      <p:sp>
        <p:nvSpPr>
          <p:cNvPr id="6" name="chart-callout-97-752-165">
            <a:extLst xmlns:a="http://schemas.openxmlformats.org/drawingml/2006/main">
              <a:ext uri="{FF2B5EF4-FFF2-40B4-BE49-F238E27FC236}">
                <a16:creationId xmlns:a16="http://schemas.microsoft.com/office/drawing/2014/main" id="{29C265A6-46FE-47CA-912E-1BB9A687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71625"/>
            <a:ext cx="4248150" cy="112395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97-780-185">
            <a:extLst xmlns:a="http://schemas.openxmlformats.org/drawingml/2006/main">
              <a:ext uri="{FF2B5EF4-FFF2-40B4-BE49-F238E27FC236}">
                <a16:creationId xmlns:a16="http://schemas.microsoft.com/office/drawing/2014/main" id="{C21F3728-9A2B-4750-B9DA-70EA019E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6C3"/>
                </a:solidFill>
              </a:defRPr>
            </a:pPr>
            <a:r>
              <a:rPr sz="1725" b="1" i="0">
                <a:solidFill>
                  <a:srgbClr val="0B66C3"/>
                </a:solidFill>
              </a:rPr>
              <a:t>0.82 is orientation</a:t>
            </a:r>
          </a:p>
        </p:txBody>
      </p:sp>
      <p:sp>
        <p:nvSpPr>
          <p:cNvPr id="8" name="text-97-780-223">
            <a:extLst xmlns:a="http://schemas.openxmlformats.org/drawingml/2006/main">
              <a:ext uri="{FF2B5EF4-FFF2-40B4-BE49-F238E27FC236}">
                <a16:creationId xmlns:a16="http://schemas.microsoft.com/office/drawing/2014/main" id="{04F31FA2-F778-4DE9-BF6D-96B1FCAB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240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273"/>
                </a:solidFill>
              </a:defRPr>
            </a:pPr>
            <a:r>
              <a:rPr sz="1425" b="0" i="0">
                <a:solidFill>
                  <a:srgbClr val="526273"/>
                </a:solidFill>
              </a:rPr>
              <a:t>It is not the whole claim.</a:t>
            </a:r>
          </a:p>
        </p:txBody>
      </p:sp>
      <p:sp>
        <p:nvSpPr>
          <p:cNvPr id="9" name="chart-callout-97-752-310">
            <a:extLst xmlns:a="http://schemas.openxmlformats.org/drawingml/2006/main">
              <a:ext uri="{FF2B5EF4-FFF2-40B4-BE49-F238E27FC236}">
                <a16:creationId xmlns:a16="http://schemas.microsoft.com/office/drawing/2014/main" id="{A1F29029-FFE0-4856-9A03-6BFA74FB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52750"/>
            <a:ext cx="4248150" cy="112395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7-780-330">
            <a:extLst xmlns:a="http://schemas.openxmlformats.org/drawingml/2006/main">
              <a:ext uri="{FF2B5EF4-FFF2-40B4-BE49-F238E27FC236}">
                <a16:creationId xmlns:a16="http://schemas.microsoft.com/office/drawing/2014/main" id="{172C0A34-5863-438F-B3AF-22711721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6C3"/>
                </a:solidFill>
              </a:defRPr>
            </a:pPr>
            <a:r>
              <a:rPr sz="1725" b="1" i="0">
                <a:solidFill>
                  <a:srgbClr val="0B66C3"/>
                </a:solidFill>
              </a:rPr>
              <a:t>0.762 is the story</a:t>
            </a:r>
          </a:p>
        </p:txBody>
      </p:sp>
      <p:sp>
        <p:nvSpPr>
          <p:cNvPr id="11" name="text-97-780-368">
            <a:extLst xmlns:a="http://schemas.openxmlformats.org/drawingml/2006/main">
              <a:ext uri="{FF2B5EF4-FFF2-40B4-BE49-F238E27FC236}">
                <a16:creationId xmlns:a16="http://schemas.microsoft.com/office/drawing/2014/main" id="{1B71B3CA-4280-4223-ACF2-7048A882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052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273"/>
                </a:solidFill>
              </a:defRPr>
            </a:pPr>
            <a:r>
              <a:rPr sz="1425" b="0" i="0">
                <a:solidFill>
                  <a:srgbClr val="526273"/>
                </a:solidFill>
              </a:rPr>
              <a:t>Gulf traffic experiences the weakest model.</a:t>
            </a:r>
          </a:p>
        </p:txBody>
      </p:sp>
      <p:sp>
        <p:nvSpPr>
          <p:cNvPr id="12" name="chart-callout-97-752-455">
            <a:extLst xmlns:a="http://schemas.openxmlformats.org/drawingml/2006/main">
              <a:ext uri="{FF2B5EF4-FFF2-40B4-BE49-F238E27FC236}">
                <a16:creationId xmlns:a16="http://schemas.microsoft.com/office/drawing/2014/main" id="{855DFCB8-A225-41E5-8AA5-0713CB7B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33875"/>
            <a:ext cx="4248150" cy="112395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97-780-475">
            <a:extLst xmlns:a="http://schemas.openxmlformats.org/drawingml/2006/main">
              <a:ext uri="{FF2B5EF4-FFF2-40B4-BE49-F238E27FC236}">
                <a16:creationId xmlns:a16="http://schemas.microsoft.com/office/drawing/2014/main" id="{F949363F-5F73-4A35-A7D6-43BC1F25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243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6C3"/>
                </a:solidFill>
              </a:defRPr>
            </a:pPr>
            <a:r>
              <a:rPr sz="1725" b="1" i="0">
                <a:solidFill>
                  <a:srgbClr val="0B66C3"/>
                </a:solidFill>
              </a:rPr>
              <a:t>Next move</a:t>
            </a:r>
          </a:p>
        </p:txBody>
      </p:sp>
      <p:sp>
        <p:nvSpPr>
          <p:cNvPr id="14" name="text-97-780-513">
            <a:extLst xmlns:a="http://schemas.openxmlformats.org/drawingml/2006/main">
              <a:ext uri="{FF2B5EF4-FFF2-40B4-BE49-F238E27FC236}">
                <a16:creationId xmlns:a16="http://schemas.microsoft.com/office/drawing/2014/main" id="{ABFC49CE-C294-4EA3-9CFF-8331160E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863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273"/>
                </a:solidFill>
              </a:defRPr>
            </a:pPr>
            <a:r>
              <a:rPr sz="1425" b="0" i="0">
                <a:solidFill>
                  <a:srgbClr val="526273"/>
                </a:solidFill>
              </a:rPr>
              <a:t>Read errors in the flagged slice.</a:t>
            </a:r>
          </a:p>
        </p:txBody>
      </p:sp>
    </p:spTree>
    <p:extLst>
      <p:ext uri="{BB962C8B-B14F-4D97-AF65-F5344CB8AC3E}">
        <p14:creationId xmlns:p14="http://schemas.microsoft.com/office/powerpoint/2010/main" val="1363578507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9ADDD1-0390-444F-86F3-AF3E8A32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Day 3 checkpoint</a:t>
            </a:r>
          </a:p>
        </p:txBody>
      </p:sp>
      <p:sp>
        <p:nvSpPr>
          <p:cNvPr id="2" name="title-rule-98-42-119">
            <a:extLst xmlns:a="http://schemas.openxmlformats.org/drawingml/2006/main">
              <a:ext uri="{FF2B5EF4-FFF2-40B4-BE49-F238E27FC236}">
                <a16:creationId xmlns:a16="http://schemas.microsoft.com/office/drawing/2014/main" id="{C7659024-A9F6-4925-B343-D5E721E3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D18F3D1C-7F6D-4047-B3A2-8AB994C6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C5C71F3-27CA-4C5C-9E5C-360386C7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98</a:t>
            </a:r>
          </a:p>
        </p:txBody>
      </p:sp>
      <p:sp>
        <p:nvSpPr>
          <p:cNvPr id="5" name="text-98-42-185">
            <a:extLst xmlns:a="http://schemas.openxmlformats.org/drawingml/2006/main">
              <a:ext uri="{FF2B5EF4-FFF2-40B4-BE49-F238E27FC236}">
                <a16:creationId xmlns:a16="http://schemas.microsoft.com/office/drawing/2014/main" id="{1B080156-28E8-4ACE-BB3C-6931E732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2239"/>
                </a:solidFill>
              </a:defRPr>
            </a:pPr>
            <a:r>
              <a:rPr sz="4050" b="1" i="0">
                <a:solidFill>
                  <a:srgbClr val="0B2239"/>
                </a:solidFill>
              </a:rPr>
              <a:t>A trustworthy number carries its population, uncertainty, and known failure modes.</a:t>
            </a:r>
          </a:p>
        </p:txBody>
      </p:sp>
      <p:sp>
        <p:nvSpPr>
          <p:cNvPr id="6" name="statement-accent-98-42-435">
            <a:extLst xmlns:a="http://schemas.openxmlformats.org/drawingml/2006/main">
              <a:ext uri="{FF2B5EF4-FFF2-40B4-BE49-F238E27FC236}">
                <a16:creationId xmlns:a16="http://schemas.microsoft.com/office/drawing/2014/main" id="{252A8D9C-8732-42B7-BA05-7E836BB2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95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98-78-448">
            <a:extLst xmlns:a="http://schemas.openxmlformats.org/drawingml/2006/main">
              <a:ext uri="{FF2B5EF4-FFF2-40B4-BE49-F238E27FC236}">
                <a16:creationId xmlns:a16="http://schemas.microsoft.com/office/drawing/2014/main" id="{7B74CFCD-FA27-48A5-8918-6B8E5817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9763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26273"/>
                </a:solidFill>
              </a:defRPr>
            </a:pPr>
            <a:r>
              <a:rPr sz="1875" b="0" i="0">
                <a:solidFill>
                  <a:srgbClr val="526273"/>
                </a:solidFill>
              </a:rPr>
              <a:t>Commit the Arabic decision, versioned index, retrieval metrics, behavioural suite, slice table, error taxonomy, and top-three fixes.</a:t>
            </a:r>
          </a:p>
        </p:txBody>
      </p:sp>
    </p:spTree>
    <p:extLst>
      <p:ext uri="{BB962C8B-B14F-4D97-AF65-F5344CB8AC3E}">
        <p14:creationId xmlns:p14="http://schemas.microsoft.com/office/powerpoint/2010/main" val="259853209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99-42-42">
            <a:extLst xmlns:a="http://schemas.openxmlformats.org/drawingml/2006/main">
              <a:ext uri="{FF2B5EF4-FFF2-40B4-BE49-F238E27FC236}">
                <a16:creationId xmlns:a16="http://schemas.microsoft.com/office/drawing/2014/main" id="{815C68DA-370B-4332-9A4A-EBB0F244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DAY 4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2640A164-B354-43CF-9E8D-FDFC7EE8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B2239"/>
                </a:solidFill>
              </a:defRPr>
            </a:pPr>
            <a:r>
              <a:rPr sz="5850" b="1" i="0">
                <a:solidFill>
                  <a:srgbClr val="0B2239"/>
                </a:solidFill>
              </a:rPr>
              <a:t>Fast, cheap, shipped</a:t>
            </a:r>
          </a:p>
        </p:txBody>
      </p:sp>
      <p:sp>
        <p:nvSpPr>
          <p:cNvPr id="3" name="accent-rule-99-42-545">
            <a:extLst xmlns:a="http://schemas.openxmlformats.org/drawingml/2006/main">
              <a:ext uri="{FF2B5EF4-FFF2-40B4-BE49-F238E27FC236}">
                <a16:creationId xmlns:a16="http://schemas.microsoft.com/office/drawing/2014/main" id="{57DED246-D47B-46CA-B672-AB42BA27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99-42-575">
            <a:extLst xmlns:a="http://schemas.openxmlformats.org/drawingml/2006/main">
              <a:ext uri="{FF2B5EF4-FFF2-40B4-BE49-F238E27FC236}">
                <a16:creationId xmlns:a16="http://schemas.microsoft.com/office/drawing/2014/main" id="{66A6BF14-D27D-4C74-8B54-11658D79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26273"/>
                </a:solidFill>
              </a:defRPr>
            </a:pPr>
            <a:r>
              <a:rPr sz="1800" b="0" i="0">
                <a:solidFill>
                  <a:srgbClr val="526273"/>
                </a:solidFill>
              </a:rPr>
              <a:t>Turn research artefacts into a canaried service, defend the trade-offs, and demonstrate Bayan end to end.</a:t>
            </a:r>
          </a:p>
        </p:txBody>
      </p:sp>
      <p:sp>
        <p:nvSpPr>
          <p:cNvPr id="5" name="text-99-1180-676">
            <a:extLst xmlns:a="http://schemas.openxmlformats.org/drawingml/2006/main">
              <a:ext uri="{FF2B5EF4-FFF2-40B4-BE49-F238E27FC236}">
                <a16:creationId xmlns:a16="http://schemas.microsoft.com/office/drawing/2014/main" id="{73D6BC84-08AA-4D62-83BE-720A8999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99</a:t>
            </a:r>
          </a:p>
        </p:txBody>
      </p:sp>
    </p:spTree>
    <p:extLst>
      <p:ext uri="{BB962C8B-B14F-4D97-AF65-F5344CB8AC3E}">
        <p14:creationId xmlns:p14="http://schemas.microsoft.com/office/powerpoint/2010/main" val="2114398783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00-42-42">
            <a:extLst xmlns:a="http://schemas.openxmlformats.org/drawingml/2006/main">
              <a:ext uri="{FF2B5EF4-FFF2-40B4-BE49-F238E27FC236}">
                <a16:creationId xmlns:a16="http://schemas.microsoft.com/office/drawing/2014/main" id="{E2E5B988-02F4-4C0D-9989-9A72AAE4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M7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BE7E2360-4E8B-4F9D-87E9-CBC17097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B2239"/>
                </a:solidFill>
              </a:defRPr>
            </a:pPr>
            <a:r>
              <a:rPr sz="5850" b="1" i="0">
                <a:solidFill>
                  <a:srgbClr val="0B2239"/>
                </a:solidFill>
              </a:rPr>
              <a:t>Inference optimisation and serving</a:t>
            </a:r>
          </a:p>
        </p:txBody>
      </p:sp>
      <p:sp>
        <p:nvSpPr>
          <p:cNvPr id="3" name="accent-rule-100-42-545">
            <a:extLst xmlns:a="http://schemas.openxmlformats.org/drawingml/2006/main">
              <a:ext uri="{FF2B5EF4-FFF2-40B4-BE49-F238E27FC236}">
                <a16:creationId xmlns:a16="http://schemas.microsoft.com/office/drawing/2014/main" id="{8CB1A353-780D-48D4-86C7-512904C4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00-42-575">
            <a:extLst xmlns:a="http://schemas.openxmlformats.org/drawingml/2006/main">
              <a:ext uri="{FF2B5EF4-FFF2-40B4-BE49-F238E27FC236}">
                <a16:creationId xmlns:a16="http://schemas.microsoft.com/office/drawing/2014/main" id="{4A573EE5-9864-4590-8E80-743CB283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26273"/>
                </a:solidFill>
              </a:defRPr>
            </a:pPr>
            <a:r>
              <a:rPr sz="1800" b="0" i="0">
                <a:solidFill>
                  <a:srgbClr val="526273"/>
                </a:solidFill>
              </a:rPr>
              <a:t>Accuracy builds the checkpoint; latency, throughput, memory, and rollback evidence decide whether it ships.</a:t>
            </a:r>
          </a:p>
        </p:txBody>
      </p:sp>
      <p:sp>
        <p:nvSpPr>
          <p:cNvPr id="5" name="text-100-1180-676">
            <a:extLst xmlns:a="http://schemas.openxmlformats.org/drawingml/2006/main">
              <a:ext uri="{FF2B5EF4-FFF2-40B4-BE49-F238E27FC236}">
                <a16:creationId xmlns:a16="http://schemas.microsoft.com/office/drawing/2014/main" id="{AE62989C-6B2E-438C-ACEC-5481186E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748198961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38BEFB-0922-4746-8670-5D3ECD47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M7 thesis</a:t>
            </a:r>
          </a:p>
        </p:txBody>
      </p:sp>
      <p:sp>
        <p:nvSpPr>
          <p:cNvPr id="2" name="title-rule-101-42-119">
            <a:extLst xmlns:a="http://schemas.openxmlformats.org/drawingml/2006/main">
              <a:ext uri="{FF2B5EF4-FFF2-40B4-BE49-F238E27FC236}">
                <a16:creationId xmlns:a16="http://schemas.microsoft.com/office/drawing/2014/main" id="{C2E99D76-663B-4FCB-AA29-65C1333A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8F260A8D-1BA1-4364-A15B-218FB74D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C3F1396-90D7-4BCB-906D-6783BBDE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101</a:t>
            </a:r>
          </a:p>
        </p:txBody>
      </p:sp>
      <p:sp>
        <p:nvSpPr>
          <p:cNvPr id="5" name="text-101-42-185">
            <a:extLst xmlns:a="http://schemas.openxmlformats.org/drawingml/2006/main">
              <a:ext uri="{FF2B5EF4-FFF2-40B4-BE49-F238E27FC236}">
                <a16:creationId xmlns:a16="http://schemas.microsoft.com/office/drawing/2014/main" id="{1DA829AF-7CB4-4DAD-9637-4817C807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2239"/>
                </a:solidFill>
              </a:defRPr>
            </a:pPr>
            <a:r>
              <a:rPr sz="4050" b="1" i="0">
                <a:solidFill>
                  <a:srgbClr val="0B2239"/>
                </a:solidFill>
              </a:rPr>
              <a:t>Accuracy builds the checkpoint; latency, throughput, memory, and rollback evidence decide whether it ships.</a:t>
            </a:r>
          </a:p>
        </p:txBody>
      </p:sp>
      <p:sp>
        <p:nvSpPr>
          <p:cNvPr id="6" name="statement-accent-101-42-435">
            <a:extLst xmlns:a="http://schemas.openxmlformats.org/drawingml/2006/main">
              <a:ext uri="{FF2B5EF4-FFF2-40B4-BE49-F238E27FC236}">
                <a16:creationId xmlns:a16="http://schemas.microsoft.com/office/drawing/2014/main" id="{71D16CBF-B6EC-41CD-9E73-7E13E50A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95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1-78-448">
            <a:extLst xmlns:a="http://schemas.openxmlformats.org/drawingml/2006/main">
              <a:ext uri="{FF2B5EF4-FFF2-40B4-BE49-F238E27FC236}">
                <a16:creationId xmlns:a16="http://schemas.microsoft.com/office/drawing/2014/main" id="{0808E112-C95D-455D-B474-DFB777EF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9763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26273"/>
                </a:solidFill>
              </a:defRPr>
            </a:pPr>
            <a:r>
              <a:rPr sz="1875" b="0" i="0">
                <a:solidFill>
                  <a:srgbClr val="526273"/>
                </a:solidFill>
              </a:rPr>
              <a:t>The profession lives in the preprocessing contract, the evaluation slices, and the milliseconds—not in a checkpoint name.</a:t>
            </a:r>
          </a:p>
        </p:txBody>
      </p:sp>
    </p:spTree>
    <p:extLst>
      <p:ext uri="{BB962C8B-B14F-4D97-AF65-F5344CB8AC3E}">
        <p14:creationId xmlns:p14="http://schemas.microsoft.com/office/powerpoint/2010/main" val="370771968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B138E9-1022-4CE7-978A-E443572E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What you will be able to do</a:t>
            </a:r>
          </a:p>
        </p:txBody>
      </p:sp>
      <p:sp>
        <p:nvSpPr>
          <p:cNvPr id="2" name="title-rule-102-42-119">
            <a:extLst xmlns:a="http://schemas.openxmlformats.org/drawingml/2006/main">
              <a:ext uri="{FF2B5EF4-FFF2-40B4-BE49-F238E27FC236}">
                <a16:creationId xmlns:a16="http://schemas.microsoft.com/office/drawing/2014/main" id="{4F3DA974-01AF-4354-AEB9-AF529500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88794CF-DCBC-4BE7-93BB-70FBF633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7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4401FB7-6780-47E4-AEE8-F462DB3F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102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F1FAE7B6-F287-4C05-8C0C-25673EE6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Benchmark p50/p99 with warm-up and concurrency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Apply sequence length, padding, and batching first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Export to ONNX Runtime and quantise INT8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Measure accuracy tax at every rung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Serve with startup canaries and rollback artefacts</a:t>
            </a:r>
          </a:p>
        </p:txBody>
      </p:sp>
      <p:sp>
        <p:nvSpPr>
          <p:cNvPr id="6" name="callout-panel-102-835-175">
            <a:extLst xmlns:a="http://schemas.openxmlformats.org/drawingml/2006/main">
              <a:ext uri="{FF2B5EF4-FFF2-40B4-BE49-F238E27FC236}">
                <a16:creationId xmlns:a16="http://schemas.microsoft.com/office/drawing/2014/main" id="{D81B9C98-AE07-4CF2-9B2A-615268CC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02-865-205">
            <a:extLst xmlns:a="http://schemas.openxmlformats.org/drawingml/2006/main">
              <a:ext uri="{FF2B5EF4-FFF2-40B4-BE49-F238E27FC236}">
                <a16:creationId xmlns:a16="http://schemas.microsoft.com/office/drawing/2014/main" id="{351EC90E-5DBC-45DC-B391-66F4969C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LEARNING OUTCOME</a:t>
            </a:r>
          </a:p>
        </p:txBody>
      </p:sp>
      <p:sp>
        <p:nvSpPr>
          <p:cNvPr id="8" name="text-102-865-260">
            <a:extLst xmlns:a="http://schemas.openxmlformats.org/drawingml/2006/main">
              <a:ext uri="{FF2B5EF4-FFF2-40B4-BE49-F238E27FC236}">
                <a16:creationId xmlns:a16="http://schemas.microsoft.com/office/drawing/2014/main" id="{A3BE6778-42C9-4DF7-A39A-C8D5CF14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2239"/>
                </a:solidFill>
              </a:defRPr>
            </a:pPr>
            <a:r>
              <a:rPr sz="3300" b="1" i="0">
                <a:solidFill>
                  <a:srgbClr val="0B2239"/>
                </a:solidFill>
              </a:rPr>
              <a:t>M7</a:t>
            </a:r>
          </a:p>
        </p:txBody>
      </p:sp>
      <p:sp>
        <p:nvSpPr>
          <p:cNvPr id="9" name="text-102-865-410">
            <a:extLst xmlns:a="http://schemas.openxmlformats.org/drawingml/2006/main">
              <a:ext uri="{FF2B5EF4-FFF2-40B4-BE49-F238E27FC236}">
                <a16:creationId xmlns:a16="http://schemas.microsoft.com/office/drawing/2014/main" id="{C03FDE33-AA4C-4241-A93E-532D79B9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Every capability produces a component of Bayan and evidence for the capstone.</a:t>
            </a:r>
          </a:p>
        </p:txBody>
      </p:sp>
    </p:spTree>
    <p:extLst>
      <p:ext uri="{BB962C8B-B14F-4D97-AF65-F5344CB8AC3E}">
        <p14:creationId xmlns:p14="http://schemas.microsoft.com/office/powerpoint/2010/main" val="913971344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42D4C3-EF28-4063-BA3C-24F9133B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Sequence length is the first cost lever</a:t>
            </a:r>
          </a:p>
        </p:txBody>
      </p:sp>
      <p:sp>
        <p:nvSpPr>
          <p:cNvPr id="2" name="title-rule-103-42-119">
            <a:extLst xmlns:a="http://schemas.openxmlformats.org/drawingml/2006/main">
              <a:ext uri="{FF2B5EF4-FFF2-40B4-BE49-F238E27FC236}">
                <a16:creationId xmlns:a16="http://schemas.microsoft.com/office/drawing/2014/main" id="{446AD448-289B-449F-9EDC-730895A7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7CA3E58B-4E61-475C-A11A-9EBB21ED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7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15AFB44-75E2-4D67-8424-49D14A46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103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7D0186C5-0ED5-48EC-90D0-2E44EEC4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Bayan's typical text is far shorter than 512 tokens. Padding everything to maximum length buys heat, not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Measure the live histogram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Cap length to task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Dynamic-pad to the batch maximum</a:t>
            </a:r>
          </a:p>
        </p:txBody>
      </p:sp>
      <p:sp>
        <p:nvSpPr>
          <p:cNvPr id="6" name="callout-panel-103-835-175">
            <a:extLst xmlns:a="http://schemas.openxmlformats.org/drawingml/2006/main">
              <a:ext uri="{FF2B5EF4-FFF2-40B4-BE49-F238E27FC236}">
                <a16:creationId xmlns:a16="http://schemas.microsoft.com/office/drawing/2014/main" id="{592D264B-3412-4285-9BEA-D674BB2A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03-865-205">
            <a:extLst xmlns:a="http://schemas.openxmlformats.org/drawingml/2006/main">
              <a:ext uri="{FF2B5EF4-FFF2-40B4-BE49-F238E27FC236}">
                <a16:creationId xmlns:a16="http://schemas.microsoft.com/office/drawing/2014/main" id="{108590DA-CC6F-43D8-8EFD-F4379731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1</a:t>
            </a:r>
          </a:p>
        </p:txBody>
      </p:sp>
      <p:sp>
        <p:nvSpPr>
          <p:cNvPr id="8" name="text-103-865-260">
            <a:extLst xmlns:a="http://schemas.openxmlformats.org/drawingml/2006/main">
              <a:ext uri="{FF2B5EF4-FFF2-40B4-BE49-F238E27FC236}">
                <a16:creationId xmlns:a16="http://schemas.microsoft.com/office/drawing/2014/main" id="{47BB01B6-BDAB-4411-B2EE-A628E550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01</a:t>
            </a:r>
          </a:p>
        </p:txBody>
      </p:sp>
      <p:sp>
        <p:nvSpPr>
          <p:cNvPr id="9" name="text-103-865-410">
            <a:extLst xmlns:a="http://schemas.openxmlformats.org/drawingml/2006/main">
              <a:ext uri="{FF2B5EF4-FFF2-40B4-BE49-F238E27FC236}">
                <a16:creationId xmlns:a16="http://schemas.microsoft.com/office/drawing/2014/main" id="{06EDC20B-B4C7-4A00-9CDA-3DC4001F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7.</a:t>
            </a:r>
          </a:p>
        </p:txBody>
      </p:sp>
    </p:spTree>
    <p:extLst>
      <p:ext uri="{BB962C8B-B14F-4D97-AF65-F5344CB8AC3E}">
        <p14:creationId xmlns:p14="http://schemas.microsoft.com/office/powerpoint/2010/main" val="195874391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33B2BD-3FCB-4D58-BCCA-05D167C6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Benchmark the path users actually call</a:t>
            </a:r>
          </a:p>
        </p:txBody>
      </p:sp>
      <p:sp>
        <p:nvSpPr>
          <p:cNvPr id="2" name="title-rule-104-42-119">
            <a:extLst xmlns:a="http://schemas.openxmlformats.org/drawingml/2006/main">
              <a:ext uri="{FF2B5EF4-FFF2-40B4-BE49-F238E27FC236}">
                <a16:creationId xmlns:a16="http://schemas.microsoft.com/office/drawing/2014/main" id="{9A637041-DB19-44A9-9C6E-82E0E51B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F06F4DF-44B7-4B91-9800-5FA92827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7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0E8ADEE-DB4F-4AB5-85DB-E685D0DC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104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3982D587-60A5-4776-9660-F27937FF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Warm up, pin threads, fix hardware and versions, use representative lengths, report p50 and p99, then repeat over HTTP at concurrency.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Single-shot means are misleading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Record batch and thread settings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Keep the harness before the optimisation</a:t>
            </a:r>
          </a:p>
        </p:txBody>
      </p:sp>
      <p:sp>
        <p:nvSpPr>
          <p:cNvPr id="6" name="callout-panel-104-835-175">
            <a:extLst xmlns:a="http://schemas.openxmlformats.org/drawingml/2006/main">
              <a:ext uri="{FF2B5EF4-FFF2-40B4-BE49-F238E27FC236}">
                <a16:creationId xmlns:a16="http://schemas.microsoft.com/office/drawing/2014/main" id="{86946CC0-AEBE-43E8-9F4A-C3D1E41B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04-865-205">
            <a:extLst xmlns:a="http://schemas.openxmlformats.org/drawingml/2006/main">
              <a:ext uri="{FF2B5EF4-FFF2-40B4-BE49-F238E27FC236}">
                <a16:creationId xmlns:a16="http://schemas.microsoft.com/office/drawing/2014/main" id="{86331AA2-039A-42B0-A908-D37294A1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2</a:t>
            </a:r>
          </a:p>
        </p:txBody>
      </p:sp>
      <p:sp>
        <p:nvSpPr>
          <p:cNvPr id="8" name="text-104-865-260">
            <a:extLst xmlns:a="http://schemas.openxmlformats.org/drawingml/2006/main">
              <a:ext uri="{FF2B5EF4-FFF2-40B4-BE49-F238E27FC236}">
                <a16:creationId xmlns:a16="http://schemas.microsoft.com/office/drawing/2014/main" id="{77D8E166-F27D-4962-8977-776B20C1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02</a:t>
            </a:r>
          </a:p>
        </p:txBody>
      </p:sp>
      <p:sp>
        <p:nvSpPr>
          <p:cNvPr id="9" name="text-104-865-410">
            <a:extLst xmlns:a="http://schemas.openxmlformats.org/drawingml/2006/main">
              <a:ext uri="{FF2B5EF4-FFF2-40B4-BE49-F238E27FC236}">
                <a16:creationId xmlns:a16="http://schemas.microsoft.com/office/drawing/2014/main" id="{36E26184-36DD-40F5-ADFD-D35017B9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7.</a:t>
            </a:r>
          </a:p>
        </p:txBody>
      </p:sp>
    </p:spTree>
    <p:extLst>
      <p:ext uri="{BB962C8B-B14F-4D97-AF65-F5344CB8AC3E}">
        <p14:creationId xmlns:p14="http://schemas.microsoft.com/office/powerpoint/2010/main" val="1026317569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152678-7041-4A86-AED0-4376DC87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Free wins precede conversion</a:t>
            </a:r>
          </a:p>
        </p:txBody>
      </p:sp>
      <p:sp>
        <p:nvSpPr>
          <p:cNvPr id="2" name="title-rule-105-42-119">
            <a:extLst xmlns:a="http://schemas.openxmlformats.org/drawingml/2006/main">
              <a:ext uri="{FF2B5EF4-FFF2-40B4-BE49-F238E27FC236}">
                <a16:creationId xmlns:a16="http://schemas.microsoft.com/office/drawing/2014/main" id="{6C468726-CDDC-4C86-A47E-C4C3AC7C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41B3E336-8B6D-463A-A530-8B790DA2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7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AC5AF14-2D52-4C2C-B1D7-AB6DE34D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105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3CFFC38D-03A1-4451-BCF5-A5BD14C0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Dynamic padding, length bucketing, sensible batching, and avoiding duplicate tokenisation often deliver the largest low-risk gain.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Shorten 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Amortise framework overhead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Do not change numerics yet</a:t>
            </a:r>
          </a:p>
        </p:txBody>
      </p:sp>
      <p:sp>
        <p:nvSpPr>
          <p:cNvPr id="6" name="callout-panel-105-835-175">
            <a:extLst xmlns:a="http://schemas.openxmlformats.org/drawingml/2006/main">
              <a:ext uri="{FF2B5EF4-FFF2-40B4-BE49-F238E27FC236}">
                <a16:creationId xmlns:a16="http://schemas.microsoft.com/office/drawing/2014/main" id="{4A90E2EC-9735-4076-B78F-90E2EF3D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05-865-205">
            <a:extLst xmlns:a="http://schemas.openxmlformats.org/drawingml/2006/main">
              <a:ext uri="{FF2B5EF4-FFF2-40B4-BE49-F238E27FC236}">
                <a16:creationId xmlns:a16="http://schemas.microsoft.com/office/drawing/2014/main" id="{78829C8D-700D-4C4D-BC2D-09B4DFF6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3</a:t>
            </a:r>
          </a:p>
        </p:txBody>
      </p:sp>
      <p:sp>
        <p:nvSpPr>
          <p:cNvPr id="8" name="text-105-865-260">
            <a:extLst xmlns:a="http://schemas.openxmlformats.org/drawingml/2006/main">
              <a:ext uri="{FF2B5EF4-FFF2-40B4-BE49-F238E27FC236}">
                <a16:creationId xmlns:a16="http://schemas.microsoft.com/office/drawing/2014/main" id="{E8FC77CD-BFB4-48AB-A1A8-640AB02E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03</a:t>
            </a:r>
          </a:p>
        </p:txBody>
      </p:sp>
      <p:sp>
        <p:nvSpPr>
          <p:cNvPr id="9" name="text-105-865-410">
            <a:extLst xmlns:a="http://schemas.openxmlformats.org/drawingml/2006/main">
              <a:ext uri="{FF2B5EF4-FFF2-40B4-BE49-F238E27FC236}">
                <a16:creationId xmlns:a16="http://schemas.microsoft.com/office/drawing/2014/main" id="{D42F899A-2E27-4CFE-BF46-EC0197A3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7.</a:t>
            </a:r>
          </a:p>
        </p:txBody>
      </p:sp>
    </p:spTree>
    <p:extLst>
      <p:ext uri="{BB962C8B-B14F-4D97-AF65-F5344CB8AC3E}">
        <p14:creationId xmlns:p14="http://schemas.microsoft.com/office/powerpoint/2010/main" val="747093555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95617A-02AD-42AD-987C-13078812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ONNX removes framework overhead</a:t>
            </a:r>
          </a:p>
        </p:txBody>
      </p:sp>
      <p:sp>
        <p:nvSpPr>
          <p:cNvPr id="2" name="title-rule-106-42-119">
            <a:extLst xmlns:a="http://schemas.openxmlformats.org/drawingml/2006/main">
              <a:ext uri="{FF2B5EF4-FFF2-40B4-BE49-F238E27FC236}">
                <a16:creationId xmlns:a16="http://schemas.microsoft.com/office/drawing/2014/main" id="{214FC464-8D0B-47ED-A6E1-3E02956C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8696EF32-E72B-4ADB-9DAC-D1441565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7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2071A49-4BF1-4789-8ABB-900649FA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106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9AA6C8F7-3C1B-4416-B421-D8D9085E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Graph export and runtime optimisation fuse operations and simplify the execution path while preserving fp32 accuracy.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Validate exported outputs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Pin opset and runtime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Benchmark the same harness</a:t>
            </a:r>
          </a:p>
        </p:txBody>
      </p:sp>
      <p:sp>
        <p:nvSpPr>
          <p:cNvPr id="6" name="callout-panel-106-835-175">
            <a:extLst xmlns:a="http://schemas.openxmlformats.org/drawingml/2006/main">
              <a:ext uri="{FF2B5EF4-FFF2-40B4-BE49-F238E27FC236}">
                <a16:creationId xmlns:a16="http://schemas.microsoft.com/office/drawing/2014/main" id="{F6DE1711-7A20-429F-8724-6F2F0089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06-865-205">
            <a:extLst xmlns:a="http://schemas.openxmlformats.org/drawingml/2006/main">
              <a:ext uri="{FF2B5EF4-FFF2-40B4-BE49-F238E27FC236}">
                <a16:creationId xmlns:a16="http://schemas.microsoft.com/office/drawing/2014/main" id="{C9402B96-B084-4881-8510-31E37C36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4</a:t>
            </a:r>
          </a:p>
        </p:txBody>
      </p:sp>
      <p:sp>
        <p:nvSpPr>
          <p:cNvPr id="8" name="text-106-865-260">
            <a:extLst xmlns:a="http://schemas.openxmlformats.org/drawingml/2006/main">
              <a:ext uri="{FF2B5EF4-FFF2-40B4-BE49-F238E27FC236}">
                <a16:creationId xmlns:a16="http://schemas.microsoft.com/office/drawing/2014/main" id="{87DFB998-3314-4B4B-B6FF-7598E17C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04</a:t>
            </a:r>
          </a:p>
        </p:txBody>
      </p:sp>
      <p:sp>
        <p:nvSpPr>
          <p:cNvPr id="9" name="text-106-865-410">
            <a:extLst xmlns:a="http://schemas.openxmlformats.org/drawingml/2006/main">
              <a:ext uri="{FF2B5EF4-FFF2-40B4-BE49-F238E27FC236}">
                <a16:creationId xmlns:a16="http://schemas.microsoft.com/office/drawing/2014/main" id="{83C3DABF-A9E7-41EB-9687-83D6A17C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7.</a:t>
            </a:r>
          </a:p>
        </p:txBody>
      </p:sp>
    </p:spTree>
    <p:extLst>
      <p:ext uri="{BB962C8B-B14F-4D97-AF65-F5344CB8AC3E}">
        <p14:creationId xmlns:p14="http://schemas.microsoft.com/office/powerpoint/2010/main" val="1669383651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622AFD-D61C-4326-A6DA-968BA6D7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INT8 trades small accuracy for large CPU gains</a:t>
            </a:r>
          </a:p>
        </p:txBody>
      </p:sp>
      <p:sp>
        <p:nvSpPr>
          <p:cNvPr id="2" name="title-rule-107-42-119">
            <a:extLst xmlns:a="http://schemas.openxmlformats.org/drawingml/2006/main">
              <a:ext uri="{FF2B5EF4-FFF2-40B4-BE49-F238E27FC236}">
                <a16:creationId xmlns:a16="http://schemas.microsoft.com/office/drawing/2014/main" id="{9F796199-90DC-42CA-8441-FA6A95CD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C37AB102-4BEA-4CDE-B9B4-721568E5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7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89CF09A-97FA-4C3A-BF0B-78F10FD3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107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8158D3A1-528C-4849-BB49-8D72FE6E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Dynamic quantisation reduces weight bandwidth and can dramatically improve p99, but the tax differs by task and hardware.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Pair-evaluate against fp32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NER may be more sensitive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Keep rollback artefacts</a:t>
            </a:r>
          </a:p>
        </p:txBody>
      </p:sp>
      <p:sp>
        <p:nvSpPr>
          <p:cNvPr id="6" name="callout-panel-107-835-175">
            <a:extLst xmlns:a="http://schemas.openxmlformats.org/drawingml/2006/main">
              <a:ext uri="{FF2B5EF4-FFF2-40B4-BE49-F238E27FC236}">
                <a16:creationId xmlns:a16="http://schemas.microsoft.com/office/drawing/2014/main" id="{B4170E4D-D0BD-48B2-833E-BA01B42F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07-865-205">
            <a:extLst xmlns:a="http://schemas.openxmlformats.org/drawingml/2006/main">
              <a:ext uri="{FF2B5EF4-FFF2-40B4-BE49-F238E27FC236}">
                <a16:creationId xmlns:a16="http://schemas.microsoft.com/office/drawing/2014/main" id="{CC4E56C9-F291-4806-800E-BDD82495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5</a:t>
            </a:r>
          </a:p>
        </p:txBody>
      </p:sp>
      <p:sp>
        <p:nvSpPr>
          <p:cNvPr id="8" name="text-107-865-260">
            <a:extLst xmlns:a="http://schemas.openxmlformats.org/drawingml/2006/main">
              <a:ext uri="{FF2B5EF4-FFF2-40B4-BE49-F238E27FC236}">
                <a16:creationId xmlns:a16="http://schemas.microsoft.com/office/drawing/2014/main" id="{58A5B23C-62CC-465B-A419-F6F9A8EF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05</a:t>
            </a:r>
          </a:p>
        </p:txBody>
      </p:sp>
      <p:sp>
        <p:nvSpPr>
          <p:cNvPr id="9" name="text-107-865-410">
            <a:extLst xmlns:a="http://schemas.openxmlformats.org/drawingml/2006/main">
              <a:ext uri="{FF2B5EF4-FFF2-40B4-BE49-F238E27FC236}">
                <a16:creationId xmlns:a16="http://schemas.microsoft.com/office/drawing/2014/main" id="{403B69BD-9898-4AA4-BA0B-C6B0BD82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7.</a:t>
            </a:r>
          </a:p>
        </p:txBody>
      </p:sp>
    </p:spTree>
    <p:extLst>
      <p:ext uri="{BB962C8B-B14F-4D97-AF65-F5344CB8AC3E}">
        <p14:creationId xmlns:p14="http://schemas.microsoft.com/office/powerpoint/2010/main" val="1191464463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6B5021-7D19-443E-95EA-41176807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Distillation changes the model, not just the runtime</a:t>
            </a:r>
          </a:p>
        </p:txBody>
      </p:sp>
      <p:sp>
        <p:nvSpPr>
          <p:cNvPr id="2" name="title-rule-108-42-119">
            <a:extLst xmlns:a="http://schemas.openxmlformats.org/drawingml/2006/main">
              <a:ext uri="{FF2B5EF4-FFF2-40B4-BE49-F238E27FC236}">
                <a16:creationId xmlns:a16="http://schemas.microsoft.com/office/drawing/2014/main" id="{7D2E98BB-6A90-4261-ACA1-42A764C1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BAEC0E89-495A-4A0F-A7E0-A44B371D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7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ED40C80-C9B9-4C06-9A3B-FB9012DB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108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19A4EA41-329B-4FC6-AAA1-CF62607A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A smaller checkpoint can improve latency and memory further but adds training and model-selection 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Use when export/INT8 is insufficient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Compare slice behaviour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Do not buy hardware before measuring</a:t>
            </a:r>
          </a:p>
        </p:txBody>
      </p:sp>
      <p:sp>
        <p:nvSpPr>
          <p:cNvPr id="6" name="callout-panel-108-835-175">
            <a:extLst xmlns:a="http://schemas.openxmlformats.org/drawingml/2006/main">
              <a:ext uri="{FF2B5EF4-FFF2-40B4-BE49-F238E27FC236}">
                <a16:creationId xmlns:a16="http://schemas.microsoft.com/office/drawing/2014/main" id="{BB46A7FC-A420-4972-87BD-745515CD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08-865-205">
            <a:extLst xmlns:a="http://schemas.openxmlformats.org/drawingml/2006/main">
              <a:ext uri="{FF2B5EF4-FFF2-40B4-BE49-F238E27FC236}">
                <a16:creationId xmlns:a16="http://schemas.microsoft.com/office/drawing/2014/main" id="{711B03F7-B8D2-47B8-AF62-7F36F16F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6</a:t>
            </a:r>
          </a:p>
        </p:txBody>
      </p:sp>
      <p:sp>
        <p:nvSpPr>
          <p:cNvPr id="8" name="text-108-865-260">
            <a:extLst xmlns:a="http://schemas.openxmlformats.org/drawingml/2006/main">
              <a:ext uri="{FF2B5EF4-FFF2-40B4-BE49-F238E27FC236}">
                <a16:creationId xmlns:a16="http://schemas.microsoft.com/office/drawing/2014/main" id="{61342904-1DD2-4DA1-BCB2-EF31D065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06</a:t>
            </a:r>
          </a:p>
        </p:txBody>
      </p:sp>
      <p:sp>
        <p:nvSpPr>
          <p:cNvPr id="9" name="text-108-865-410">
            <a:extLst xmlns:a="http://schemas.openxmlformats.org/drawingml/2006/main">
              <a:ext uri="{FF2B5EF4-FFF2-40B4-BE49-F238E27FC236}">
                <a16:creationId xmlns:a16="http://schemas.microsoft.com/office/drawing/2014/main" id="{F231308D-116C-4FE1-A45D-473D9DD1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7.</a:t>
            </a:r>
          </a:p>
        </p:txBody>
      </p:sp>
    </p:spTree>
    <p:extLst>
      <p:ext uri="{BB962C8B-B14F-4D97-AF65-F5344CB8AC3E}">
        <p14:creationId xmlns:p14="http://schemas.microsoft.com/office/powerpoint/2010/main" val="1206494662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E4EA41-2266-426E-9066-70F650B3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Serving must detect skew at startup</a:t>
            </a:r>
          </a:p>
        </p:txBody>
      </p:sp>
      <p:sp>
        <p:nvSpPr>
          <p:cNvPr id="2" name="title-rule-109-42-119">
            <a:extLst xmlns:a="http://schemas.openxmlformats.org/drawingml/2006/main">
              <a:ext uri="{FF2B5EF4-FFF2-40B4-BE49-F238E27FC236}">
                <a16:creationId xmlns:a16="http://schemas.microsoft.com/office/drawing/2014/main" id="{2FBFB169-4A25-4221-BD48-D6A0430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69FB8DCD-BD90-4226-A296-B9FF1DE8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7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6242E03-F036-424C-9261-75C5E99E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109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36C8AEBE-91D8-4A4F-B10C-731E2242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The API loads model, tokenizer, normalisation profile, and index manifest as one contract, then runs canary strings before accepting traffic.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Fail closed on version mismatch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Expose health and version endpoints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Benchmark over HTTP</a:t>
            </a:r>
          </a:p>
        </p:txBody>
      </p:sp>
      <p:sp>
        <p:nvSpPr>
          <p:cNvPr id="6" name="callout-panel-109-835-175">
            <a:extLst xmlns:a="http://schemas.openxmlformats.org/drawingml/2006/main">
              <a:ext uri="{FF2B5EF4-FFF2-40B4-BE49-F238E27FC236}">
                <a16:creationId xmlns:a16="http://schemas.microsoft.com/office/drawing/2014/main" id="{11CABEC8-4947-4F1F-A77E-44857636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09-865-205">
            <a:extLst xmlns:a="http://schemas.openxmlformats.org/drawingml/2006/main">
              <a:ext uri="{FF2B5EF4-FFF2-40B4-BE49-F238E27FC236}">
                <a16:creationId xmlns:a16="http://schemas.microsoft.com/office/drawing/2014/main" id="{A9E1FCD6-0D83-43B7-A095-454A4A0B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CONCEPT 7</a:t>
            </a:r>
          </a:p>
        </p:txBody>
      </p:sp>
      <p:sp>
        <p:nvSpPr>
          <p:cNvPr id="8" name="text-109-865-260">
            <a:extLst xmlns:a="http://schemas.openxmlformats.org/drawingml/2006/main">
              <a:ext uri="{FF2B5EF4-FFF2-40B4-BE49-F238E27FC236}">
                <a16:creationId xmlns:a16="http://schemas.microsoft.com/office/drawing/2014/main" id="{78D46C42-57FA-4BC7-B084-656EBDF4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07</a:t>
            </a:r>
          </a:p>
        </p:txBody>
      </p:sp>
      <p:sp>
        <p:nvSpPr>
          <p:cNvPr id="9" name="text-109-865-410">
            <a:extLst xmlns:a="http://schemas.openxmlformats.org/drawingml/2006/main">
              <a:ext uri="{FF2B5EF4-FFF2-40B4-BE49-F238E27FC236}">
                <a16:creationId xmlns:a16="http://schemas.microsoft.com/office/drawing/2014/main" id="{39BEC7C9-0BC6-4013-8AEB-FAC5D5DE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Connect this concept to Lab 7.</a:t>
            </a:r>
          </a:p>
        </p:txBody>
      </p:sp>
    </p:spTree>
    <p:extLst>
      <p:ext uri="{BB962C8B-B14F-4D97-AF65-F5344CB8AC3E}">
        <p14:creationId xmlns:p14="http://schemas.microsoft.com/office/powerpoint/2010/main" val="589299015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CBE6E9-9CFA-48B2-AED2-9E3FC4D2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Failure modes to catch before production</a:t>
            </a:r>
          </a:p>
        </p:txBody>
      </p:sp>
      <p:sp>
        <p:nvSpPr>
          <p:cNvPr id="2" name="title-rule-110-42-119">
            <a:extLst xmlns:a="http://schemas.openxmlformats.org/drawingml/2006/main">
              <a:ext uri="{FF2B5EF4-FFF2-40B4-BE49-F238E27FC236}">
                <a16:creationId xmlns:a16="http://schemas.microsoft.com/office/drawing/2014/main" id="{565FA178-2732-4CFA-85F8-C204D828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6AABD383-BDFF-425B-8BA4-AD9A3A03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7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EF9CC21-FF50-495A-BEF6-3E381767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110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E7AD666D-E2DE-4F1C-8829-CF960095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Optimising before a stable benchmark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Reporting laptop single-request mean latency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Padding to 512 everywhere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Quantising without paired accuracy checks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Deleting the fp32 rollback artefact</a:t>
            </a:r>
          </a:p>
        </p:txBody>
      </p:sp>
      <p:sp>
        <p:nvSpPr>
          <p:cNvPr id="6" name="callout-panel-110-835-175">
            <a:extLst xmlns:a="http://schemas.openxmlformats.org/drawingml/2006/main">
              <a:ext uri="{FF2B5EF4-FFF2-40B4-BE49-F238E27FC236}">
                <a16:creationId xmlns:a16="http://schemas.microsoft.com/office/drawing/2014/main" id="{5263EEAC-6617-4558-B212-DD2E8265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10-865-205">
            <a:extLst xmlns:a="http://schemas.openxmlformats.org/drawingml/2006/main">
              <a:ext uri="{FF2B5EF4-FFF2-40B4-BE49-F238E27FC236}">
                <a16:creationId xmlns:a16="http://schemas.microsoft.com/office/drawing/2014/main" id="{72DA7999-72B1-49B2-9F90-14C821D7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RULE</a:t>
            </a:r>
          </a:p>
        </p:txBody>
      </p:sp>
      <p:sp>
        <p:nvSpPr>
          <p:cNvPr id="8" name="text-110-865-260">
            <a:extLst xmlns:a="http://schemas.openxmlformats.org/drawingml/2006/main">
              <a:ext uri="{FF2B5EF4-FFF2-40B4-BE49-F238E27FC236}">
                <a16:creationId xmlns:a16="http://schemas.microsoft.com/office/drawing/2014/main" id="{313AD919-26B2-48D4-BD3A-8441BCE2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2239"/>
                </a:solidFill>
              </a:defRPr>
            </a:pPr>
            <a:r>
              <a:rPr sz="2550" b="1" i="0">
                <a:solidFill>
                  <a:srgbClr val="0B2239"/>
                </a:solidFill>
              </a:rPr>
              <a:t>Make it fail loudly</a:t>
            </a:r>
          </a:p>
        </p:txBody>
      </p:sp>
      <p:sp>
        <p:nvSpPr>
          <p:cNvPr id="9" name="text-110-865-410">
            <a:extLst xmlns:a="http://schemas.openxmlformats.org/drawingml/2006/main">
              <a:ext uri="{FF2B5EF4-FFF2-40B4-BE49-F238E27FC236}">
                <a16:creationId xmlns:a16="http://schemas.microsoft.com/office/drawing/2014/main" id="{610F3BDE-A3C3-42B5-B49A-2D1AB8FB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Silent plausibility is the dangerous state.</a:t>
            </a:r>
          </a:p>
        </p:txBody>
      </p:sp>
    </p:spTree>
    <p:extLst>
      <p:ext uri="{BB962C8B-B14F-4D97-AF65-F5344CB8AC3E}">
        <p14:creationId xmlns:p14="http://schemas.microsoft.com/office/powerpoint/2010/main" val="1542202237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B95B68-AC63-4E4E-AB20-4435AD8C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Executable pattern</a:t>
            </a:r>
          </a:p>
        </p:txBody>
      </p:sp>
      <p:sp>
        <p:nvSpPr>
          <p:cNvPr id="2" name="title-rule-111-42-119">
            <a:extLst xmlns:a="http://schemas.openxmlformats.org/drawingml/2006/main">
              <a:ext uri="{FF2B5EF4-FFF2-40B4-BE49-F238E27FC236}">
                <a16:creationId xmlns:a16="http://schemas.microsoft.com/office/drawing/2014/main" id="{9D41D655-E20D-4B6E-BA6C-3170E04E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C566DB9B-0806-45D3-AB0B-815607F4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7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52FDE88-BC82-474D-A053-19ED982E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111</a:t>
            </a:r>
          </a:p>
        </p:txBody>
      </p:sp>
      <p:sp>
        <p:nvSpPr>
          <p:cNvPr id="5" name="code-panel-111-42-150">
            <a:extLst xmlns:a="http://schemas.openxmlformats.org/drawingml/2006/main">
              <a:ext uri="{FF2B5EF4-FFF2-40B4-BE49-F238E27FC236}">
                <a16:creationId xmlns:a16="http://schemas.microsoft.com/office/drawing/2014/main" id="{47885FB2-5441-4DA8-94DB-B6825074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7239000" cy="4572000"/>
          </a:xfrm>
          <a:prstGeom xmlns:a="http://schemas.openxmlformats.org/drawingml/2006/main" prst="roundRect">
            <a:avLst>
              <a:gd name="adj" fmla="val 833"/>
            </a:avLst>
          </a:prstGeom>
          <a:solidFill xmlns:a="http://schemas.openxmlformats.org/drawingml/2006/main">
            <a:srgbClr val="071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D0E2A520-8D98-4BD6-BAF6-58707B3C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676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ORTModelForSequenceClassification.from_pretrained(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    checkpoint, export=True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).save_pretrained("artifacts/onnx-fp32")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quantizer.quantize(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    save_dir="artifacts/onnx-int8",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    quantization_config=AutoQuantizationConfig.avx2(is_static=False)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)</a:t>
            </a:r>
          </a:p>
          <a:p xmlns:a="http://schemas.openxmlformats.org/drawingml/2006/main">
            <a:pPr algn="l">
              <a:defRPr sz="1425" b="0" i="0">
                <a:solidFill>
                  <a:srgbClr val="EAF5FB"/>
                </a:solidFill>
              </a:defRPr>
            </a:pPr>
            <a:r>
              <a:rPr sz="1425" b="0" i="0">
                <a:solidFill>
                  <a:srgbClr val="EAF5FB"/>
                </a:solidFill>
              </a:rPr>
              <a:t>assert paired_f1_tax &gt;= -0.01</a:t>
            </a:r>
          </a:p>
        </p:txBody>
      </p:sp>
      <p:sp>
        <p:nvSpPr>
          <p:cNvPr id="7" name="text-111-850-165">
            <a:extLst xmlns:a="http://schemas.openxmlformats.org/drawingml/2006/main">
              <a:ext uri="{FF2B5EF4-FFF2-40B4-BE49-F238E27FC236}">
                <a16:creationId xmlns:a16="http://schemas.microsoft.com/office/drawing/2014/main" id="{F5D33613-3FB5-4277-88E4-15C62411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READ THE CONTRACT</a:t>
            </a:r>
          </a:p>
        </p:txBody>
      </p:sp>
      <p:sp>
        <p:nvSpPr>
          <p:cNvPr id="8" name="text-111-850-220">
            <a:extLst xmlns:a="http://schemas.openxmlformats.org/drawingml/2006/main">
              <a:ext uri="{FF2B5EF4-FFF2-40B4-BE49-F238E27FC236}">
                <a16:creationId xmlns:a16="http://schemas.microsoft.com/office/drawing/2014/main" id="{33DA02B6-ADEB-4BC6-9996-2E506287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1908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Export before quantising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Choose hardware-aware config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• Attach an explicit accuracy budget</a:t>
            </a:r>
          </a:p>
        </p:txBody>
      </p:sp>
    </p:spTree>
    <p:extLst>
      <p:ext uri="{BB962C8B-B14F-4D97-AF65-F5344CB8AC3E}">
        <p14:creationId xmlns:p14="http://schemas.microsoft.com/office/powerpoint/2010/main" val="38374645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424962-FE0F-4618-8DE5-0DB9DD93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Apply the concept before the lab</a:t>
            </a:r>
          </a:p>
        </p:txBody>
      </p:sp>
      <p:sp>
        <p:nvSpPr>
          <p:cNvPr id="2" name="title-rule-112-42-119">
            <a:extLst xmlns:a="http://schemas.openxmlformats.org/drawingml/2006/main">
              <a:ext uri="{FF2B5EF4-FFF2-40B4-BE49-F238E27FC236}">
                <a16:creationId xmlns:a16="http://schemas.microsoft.com/office/drawing/2014/main" id="{7F535BEA-30DE-482E-947D-5F663516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30A3CE7-0B6D-4A06-BA4D-C52D7559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7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336C17A-4FDF-408C-A3D9-41F0A2B7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112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A32F5147-1658-46A6-BE5C-BC3C7BBB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Predict the fastest rung before running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Defend a split decision: INT8 classifier, fp32 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Reveal the offline-versus-serving gap simulation</a:t>
            </a:r>
          </a:p>
        </p:txBody>
      </p:sp>
      <p:sp>
        <p:nvSpPr>
          <p:cNvPr id="6" name="callout-panel-112-835-175">
            <a:extLst xmlns:a="http://schemas.openxmlformats.org/drawingml/2006/main">
              <a:ext uri="{FF2B5EF4-FFF2-40B4-BE49-F238E27FC236}">
                <a16:creationId xmlns:a16="http://schemas.microsoft.com/office/drawing/2014/main" id="{18E471A7-C38B-4D96-9570-2AD06A07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12-865-205">
            <a:extLst xmlns:a="http://schemas.openxmlformats.org/drawingml/2006/main">
              <a:ext uri="{FF2B5EF4-FFF2-40B4-BE49-F238E27FC236}">
                <a16:creationId xmlns:a16="http://schemas.microsoft.com/office/drawing/2014/main" id="{AF47690C-D163-4E29-8156-B229D3FF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ACTIVITY</a:t>
            </a:r>
          </a:p>
        </p:txBody>
      </p:sp>
      <p:sp>
        <p:nvSpPr>
          <p:cNvPr id="8" name="text-112-865-260">
            <a:extLst xmlns:a="http://schemas.openxmlformats.org/drawingml/2006/main">
              <a:ext uri="{FF2B5EF4-FFF2-40B4-BE49-F238E27FC236}">
                <a16:creationId xmlns:a16="http://schemas.microsoft.com/office/drawing/2014/main" id="{8B7A8207-D82C-43AF-99B1-CD0FDB52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2239"/>
                </a:solidFill>
              </a:defRPr>
            </a:pPr>
            <a:r>
              <a:rPr sz="3300" b="1" i="0">
                <a:solidFill>
                  <a:srgbClr val="0B2239"/>
                </a:solidFill>
              </a:rPr>
              <a:t>10 min</a:t>
            </a:r>
          </a:p>
        </p:txBody>
      </p:sp>
      <p:sp>
        <p:nvSpPr>
          <p:cNvPr id="9" name="text-112-865-410">
            <a:extLst xmlns:a="http://schemas.openxmlformats.org/drawingml/2006/main">
              <a:ext uri="{FF2B5EF4-FFF2-40B4-BE49-F238E27FC236}">
                <a16:creationId xmlns:a16="http://schemas.microsoft.com/office/drawing/2014/main" id="{1DDAC424-2D1E-449A-B435-A6A5C9F8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Predict first; measure second; defend the evidence.</a:t>
            </a:r>
          </a:p>
        </p:txBody>
      </p:sp>
    </p:spTree>
    <p:extLst>
      <p:ext uri="{BB962C8B-B14F-4D97-AF65-F5344CB8AC3E}">
        <p14:creationId xmlns:p14="http://schemas.microsoft.com/office/powerpoint/2010/main" val="262153131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118038-E69E-4C98-88B3-0B27793E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Lab 7 — Hit the latency budget</a:t>
            </a:r>
          </a:p>
        </p:txBody>
      </p:sp>
      <p:sp>
        <p:nvSpPr>
          <p:cNvPr id="2" name="title-rule-113-42-119">
            <a:extLst xmlns:a="http://schemas.openxmlformats.org/drawingml/2006/main">
              <a:ext uri="{FF2B5EF4-FFF2-40B4-BE49-F238E27FC236}">
                <a16:creationId xmlns:a16="http://schemas.microsoft.com/office/drawing/2014/main" id="{6E0D11C5-6CA8-4916-B5BE-385C4942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01ED8D8-F574-4516-B0D4-10F488FB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7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AA9A64F-FBB2-4B83-B172-A408A308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113</a:t>
            </a:r>
          </a:p>
        </p:txBody>
      </p:sp>
      <p:sp>
        <p:nvSpPr>
          <p:cNvPr id="5" name="text-113-52-160">
            <a:extLst xmlns:a="http://schemas.openxmlformats.org/drawingml/2006/main">
              <a:ext uri="{FF2B5EF4-FFF2-40B4-BE49-F238E27FC236}">
                <a16:creationId xmlns:a16="http://schemas.microsoft.com/office/drawing/2014/main" id="{AF6A9D53-DF46-40F8-87BB-7EBB9F1B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BUILD</a:t>
            </a:r>
          </a:p>
        </p:txBody>
      </p:sp>
      <p:sp>
        <p:nvSpPr>
          <p:cNvPr id="6" name="text-113-52-220">
            <a:extLst xmlns:a="http://schemas.openxmlformats.org/drawingml/2006/main">
              <a:ext uri="{FF2B5EF4-FFF2-40B4-BE49-F238E27FC236}">
                <a16:creationId xmlns:a16="http://schemas.microsoft.com/office/drawing/2014/main" id="{D2DD4F35-EA0B-449F-AF4F-A73DA194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01</a:t>
            </a:r>
          </a:p>
        </p:txBody>
      </p:sp>
      <p:sp>
        <p:nvSpPr>
          <p:cNvPr id="7" name="text-113-122-220">
            <a:extLst xmlns:a="http://schemas.openxmlformats.org/drawingml/2006/main">
              <a:ext uri="{FF2B5EF4-FFF2-40B4-BE49-F238E27FC236}">
                <a16:creationId xmlns:a16="http://schemas.microsoft.com/office/drawing/2014/main" id="{A81DD9C5-EA7B-4F02-923B-A6A4EC3F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Baseline fp32 PyTorch end to end</a:t>
            </a:r>
          </a:p>
        </p:txBody>
      </p:sp>
      <p:sp>
        <p:nvSpPr>
          <p:cNvPr id="8" name="text-113-52-312">
            <a:extLst xmlns:a="http://schemas.openxmlformats.org/drawingml/2006/main">
              <a:ext uri="{FF2B5EF4-FFF2-40B4-BE49-F238E27FC236}">
                <a16:creationId xmlns:a16="http://schemas.microsoft.com/office/drawing/2014/main" id="{CC0E0D29-924D-4B82-9DE0-6FAC99E1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02</a:t>
            </a:r>
          </a:p>
        </p:txBody>
      </p:sp>
      <p:sp>
        <p:nvSpPr>
          <p:cNvPr id="9" name="text-113-122-312">
            <a:extLst xmlns:a="http://schemas.openxmlformats.org/drawingml/2006/main">
              <a:ext uri="{FF2B5EF4-FFF2-40B4-BE49-F238E27FC236}">
                <a16:creationId xmlns:a16="http://schemas.microsoft.com/office/drawing/2014/main" id="{6B93EE06-BF81-49BB-815C-9C5FC4BB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Apply length and padding controls</a:t>
            </a:r>
          </a:p>
        </p:txBody>
      </p:sp>
      <p:sp>
        <p:nvSpPr>
          <p:cNvPr id="10" name="text-113-52-404">
            <a:extLst xmlns:a="http://schemas.openxmlformats.org/drawingml/2006/main">
              <a:ext uri="{FF2B5EF4-FFF2-40B4-BE49-F238E27FC236}">
                <a16:creationId xmlns:a16="http://schemas.microsoft.com/office/drawing/2014/main" id="{7CC5D62E-BED9-4DCA-9B7B-66A69E1D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03</a:t>
            </a:r>
          </a:p>
        </p:txBody>
      </p:sp>
      <p:sp>
        <p:nvSpPr>
          <p:cNvPr id="11" name="text-113-122-404">
            <a:extLst xmlns:a="http://schemas.openxmlformats.org/drawingml/2006/main">
              <a:ext uri="{FF2B5EF4-FFF2-40B4-BE49-F238E27FC236}">
                <a16:creationId xmlns:a16="http://schemas.microsoft.com/office/drawing/2014/main" id="{57BE30BA-CDAC-47EB-9772-06D4763C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Export ONNX and quantise INT8</a:t>
            </a:r>
          </a:p>
        </p:txBody>
      </p:sp>
      <p:sp>
        <p:nvSpPr>
          <p:cNvPr id="12" name="text-113-52-496">
            <a:extLst xmlns:a="http://schemas.openxmlformats.org/drawingml/2006/main">
              <a:ext uri="{FF2B5EF4-FFF2-40B4-BE49-F238E27FC236}">
                <a16:creationId xmlns:a16="http://schemas.microsoft.com/office/drawing/2014/main" id="{F6F84A97-EF41-49FB-875C-DCB0A65B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66C3"/>
                </a:solidFill>
              </a:defRPr>
            </a:pPr>
            <a:r>
              <a:rPr sz="2100" b="1" i="0">
                <a:solidFill>
                  <a:srgbClr val="0B66C3"/>
                </a:solidFill>
              </a:rPr>
              <a:t>04</a:t>
            </a:r>
          </a:p>
        </p:txBody>
      </p:sp>
      <p:sp>
        <p:nvSpPr>
          <p:cNvPr id="13" name="text-113-122-496">
            <a:extLst xmlns:a="http://schemas.openxmlformats.org/drawingml/2006/main">
              <a:ext uri="{FF2B5EF4-FFF2-40B4-BE49-F238E27FC236}">
                <a16:creationId xmlns:a16="http://schemas.microsoft.com/office/drawing/2014/main" id="{B5029343-9D3E-4163-974E-45DA82B8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244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2239"/>
                </a:solidFill>
              </a:defRPr>
            </a:pPr>
            <a:r>
              <a:rPr sz="1800" b="0" i="0">
                <a:solidFill>
                  <a:srgbClr val="0B2239"/>
                </a:solidFill>
              </a:rPr>
              <a:t>Load-test the FastAPI path at concurrency 16</a:t>
            </a:r>
          </a:p>
        </p:txBody>
      </p:sp>
      <p:sp>
        <p:nvSpPr>
          <p:cNvPr id="14" name="evidence-panel-113-820-175">
            <a:extLst xmlns:a="http://schemas.openxmlformats.org/drawingml/2006/main">
              <a:ext uri="{FF2B5EF4-FFF2-40B4-BE49-F238E27FC236}">
                <a16:creationId xmlns:a16="http://schemas.microsoft.com/office/drawing/2014/main" id="{CB1D16BE-45CB-4529-850D-EDB7EBEE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3600450" cy="3905250"/>
          </a:xfrm>
          <a:prstGeom xmlns:a="http://schemas.openxmlformats.org/drawingml/2006/main" prst="roundRect">
            <a:avLst>
              <a:gd name="adj" fmla="val 105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5" name="text-113-850-205">
            <a:extLst xmlns:a="http://schemas.openxmlformats.org/drawingml/2006/main">
              <a:ext uri="{FF2B5EF4-FFF2-40B4-BE49-F238E27FC236}">
                <a16:creationId xmlns:a16="http://schemas.microsoft.com/office/drawing/2014/main" id="{0FE11594-6BCE-49BD-88F0-33907BF1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66C3"/>
                </a:solidFill>
              </a:defRPr>
            </a:pPr>
            <a:r>
              <a:rPr sz="1275" b="1" i="0">
                <a:solidFill>
                  <a:srgbClr val="0B66C3"/>
                </a:solidFill>
              </a:rPr>
              <a:t>EVIDENCE TO COMMIT</a:t>
            </a:r>
          </a:p>
        </p:txBody>
      </p:sp>
      <p:sp>
        <p:nvSpPr>
          <p:cNvPr id="16" name="text-113-850-270">
            <a:extLst xmlns:a="http://schemas.openxmlformats.org/drawingml/2006/main">
              <a:ext uri="{FF2B5EF4-FFF2-40B4-BE49-F238E27FC236}">
                <a16:creationId xmlns:a16="http://schemas.microsoft.com/office/drawing/2014/main" id="{B323BD4E-8F35-4585-865F-D0A6850C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0003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Full optimisation ladder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HTTP p99 ≤ 40 ms 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Paired accuracy tax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0B2239"/>
                </a:solidFill>
              </a:defRPr>
            </a:pPr>
            <a:r>
              <a:rPr sz="1650" b="0" i="0">
                <a:solidFill>
                  <a:srgbClr val="0B2239"/>
                </a:solidFill>
              </a:rPr>
              <a:t>✓ Startup canaries + rollback</a:t>
            </a:r>
          </a:p>
        </p:txBody>
      </p:sp>
    </p:spTree>
    <p:extLst>
      <p:ext uri="{BB962C8B-B14F-4D97-AF65-F5344CB8AC3E}">
        <p14:creationId xmlns:p14="http://schemas.microsoft.com/office/powerpoint/2010/main" val="54233117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455124-A780-4577-B1F4-97F3A6A6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The optimisation ladder returns most of the p99 budget</a:t>
            </a:r>
          </a:p>
        </p:txBody>
      </p:sp>
      <p:sp>
        <p:nvSpPr>
          <p:cNvPr id="2" name="title-rule-114-42-119">
            <a:extLst xmlns:a="http://schemas.openxmlformats.org/drawingml/2006/main">
              <a:ext uri="{FF2B5EF4-FFF2-40B4-BE49-F238E27FC236}">
                <a16:creationId xmlns:a16="http://schemas.microsoft.com/office/drawing/2014/main" id="{39287F6C-01DE-4310-A5A1-845C08AE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9FD2A255-1D6C-4013-B7C1-EBDC4A4D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7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0DC0C89-4065-41B0-9DF4-280D4992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114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0050" y="1476375"/>
          <a:ext xmlns:a="http://schemas.openxmlformats.org/drawingml/2006/main" cx="6286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85de63f26e4b89"/>
          </a:graphicData>
        </a:graphic>
      </p:graphicFrame>
      <p:sp>
        <p:nvSpPr>
          <p:cNvPr id="6" name="chart-callout-114-752-165">
            <a:extLst xmlns:a="http://schemas.openxmlformats.org/drawingml/2006/main">
              <a:ext uri="{FF2B5EF4-FFF2-40B4-BE49-F238E27FC236}">
                <a16:creationId xmlns:a16="http://schemas.microsoft.com/office/drawing/2014/main" id="{C4E7BEB9-0A84-4025-9D77-71E4BB96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71625"/>
            <a:ext cx="4248150" cy="112395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14-780-185">
            <a:extLst xmlns:a="http://schemas.openxmlformats.org/drawingml/2006/main">
              <a:ext uri="{FF2B5EF4-FFF2-40B4-BE49-F238E27FC236}">
                <a16:creationId xmlns:a16="http://schemas.microsoft.com/office/drawing/2014/main" id="{F13001DF-64CD-4555-AF83-6874536E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6C3"/>
                </a:solidFill>
              </a:defRPr>
            </a:pPr>
            <a:r>
              <a:rPr sz="1725" b="1" i="0">
                <a:solidFill>
                  <a:srgbClr val="0B66C3"/>
                </a:solidFill>
              </a:rPr>
              <a:t>Length control is free</a:t>
            </a:r>
          </a:p>
        </p:txBody>
      </p:sp>
      <p:sp>
        <p:nvSpPr>
          <p:cNvPr id="8" name="text-114-780-223">
            <a:extLst xmlns:a="http://schemas.openxmlformats.org/drawingml/2006/main">
              <a:ext uri="{FF2B5EF4-FFF2-40B4-BE49-F238E27FC236}">
                <a16:creationId xmlns:a16="http://schemas.microsoft.com/office/drawing/2014/main" id="{31C4124A-CE9B-4760-83E8-8E1F88C4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240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273"/>
                </a:solidFill>
              </a:defRPr>
            </a:pPr>
            <a:r>
              <a:rPr sz="1425" b="0" i="0">
                <a:solidFill>
                  <a:srgbClr val="526273"/>
                </a:solidFill>
              </a:rPr>
              <a:t>No numeric change; much less work.</a:t>
            </a:r>
          </a:p>
        </p:txBody>
      </p:sp>
      <p:sp>
        <p:nvSpPr>
          <p:cNvPr id="9" name="chart-callout-114-752-310">
            <a:extLst xmlns:a="http://schemas.openxmlformats.org/drawingml/2006/main">
              <a:ext uri="{FF2B5EF4-FFF2-40B4-BE49-F238E27FC236}">
                <a16:creationId xmlns:a16="http://schemas.microsoft.com/office/drawing/2014/main" id="{77772514-BA5E-4FD3-9967-3CE6A98D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52750"/>
            <a:ext cx="4248150" cy="112395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14-780-330">
            <a:extLst xmlns:a="http://schemas.openxmlformats.org/drawingml/2006/main">
              <a:ext uri="{FF2B5EF4-FFF2-40B4-BE49-F238E27FC236}">
                <a16:creationId xmlns:a16="http://schemas.microsoft.com/office/drawing/2014/main" id="{F5ABAC6F-87A8-498E-9BAE-D095B2CD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6C3"/>
                </a:solidFill>
              </a:defRPr>
            </a:pPr>
            <a:r>
              <a:rPr sz="1725" b="1" i="0">
                <a:solidFill>
                  <a:srgbClr val="0B66C3"/>
                </a:solidFill>
              </a:rPr>
              <a:t>INT8 reaches budget</a:t>
            </a:r>
          </a:p>
        </p:txBody>
      </p:sp>
      <p:sp>
        <p:nvSpPr>
          <p:cNvPr id="11" name="text-114-780-368">
            <a:extLst xmlns:a="http://schemas.openxmlformats.org/drawingml/2006/main">
              <a:ext uri="{FF2B5EF4-FFF2-40B4-BE49-F238E27FC236}">
                <a16:creationId xmlns:a16="http://schemas.microsoft.com/office/drawing/2014/main" id="{C16B770B-436C-45ED-9728-DB2DD041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052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273"/>
                </a:solidFill>
              </a:defRPr>
            </a:pPr>
            <a:r>
              <a:rPr sz="1425" b="0" i="0">
                <a:solidFill>
                  <a:srgbClr val="526273"/>
                </a:solidFill>
              </a:rPr>
              <a:t>Reference tax: -0.004 macro-F1.</a:t>
            </a:r>
          </a:p>
        </p:txBody>
      </p:sp>
      <p:sp>
        <p:nvSpPr>
          <p:cNvPr id="12" name="chart-callout-114-752-455">
            <a:extLst xmlns:a="http://schemas.openxmlformats.org/drawingml/2006/main">
              <a:ext uri="{FF2B5EF4-FFF2-40B4-BE49-F238E27FC236}">
                <a16:creationId xmlns:a16="http://schemas.microsoft.com/office/drawing/2014/main" id="{02A53A54-95ED-4FE8-BAA8-1C011A85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33875"/>
            <a:ext cx="4248150" cy="112395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14-780-475">
            <a:extLst xmlns:a="http://schemas.openxmlformats.org/drawingml/2006/main">
              <a:ext uri="{FF2B5EF4-FFF2-40B4-BE49-F238E27FC236}">
                <a16:creationId xmlns:a16="http://schemas.microsoft.com/office/drawing/2014/main" id="{969487F5-1B83-4E58-AC26-68E1B5D2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243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6C3"/>
                </a:solidFill>
              </a:defRPr>
            </a:pPr>
            <a:r>
              <a:rPr sz="1725" b="1" i="0">
                <a:solidFill>
                  <a:srgbClr val="0B66C3"/>
                </a:solidFill>
              </a:rPr>
              <a:t>Keep fp32</a:t>
            </a:r>
          </a:p>
        </p:txBody>
      </p:sp>
      <p:sp>
        <p:nvSpPr>
          <p:cNvPr id="14" name="text-114-780-513">
            <a:extLst xmlns:a="http://schemas.openxmlformats.org/drawingml/2006/main">
              <a:ext uri="{FF2B5EF4-FFF2-40B4-BE49-F238E27FC236}">
                <a16:creationId xmlns:a16="http://schemas.microsoft.com/office/drawing/2014/main" id="{E357D0BC-AAD2-4C0C-BC3E-F34137EE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863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273"/>
                </a:solidFill>
              </a:defRPr>
            </a:pPr>
            <a:r>
              <a:rPr sz="1425" b="0" i="0">
                <a:solidFill>
                  <a:srgbClr val="526273"/>
                </a:solidFill>
              </a:rPr>
              <a:t>Accuracy reference and rollback.</a:t>
            </a:r>
          </a:p>
        </p:txBody>
      </p:sp>
    </p:spTree>
    <p:extLst>
      <p:ext uri="{BB962C8B-B14F-4D97-AF65-F5344CB8AC3E}">
        <p14:creationId xmlns:p14="http://schemas.microsoft.com/office/powerpoint/2010/main" val="1183203987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B0C562-5513-4D26-8D5F-79792E5C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Serving is a versioned system contract</a:t>
            </a:r>
          </a:p>
        </p:txBody>
      </p:sp>
      <p:sp>
        <p:nvSpPr>
          <p:cNvPr id="2" name="title-rule-115-42-119">
            <a:extLst xmlns:a="http://schemas.openxmlformats.org/drawingml/2006/main">
              <a:ext uri="{FF2B5EF4-FFF2-40B4-BE49-F238E27FC236}">
                <a16:creationId xmlns:a16="http://schemas.microsoft.com/office/drawing/2014/main" id="{96F7491C-7989-4F71-8F1D-AF4B1B3D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CB2DB207-7726-4DAC-8644-5F8B4EF7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Module 7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16CCA34-D246-49EA-9437-D23B5C5C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115</a:t>
            </a:r>
          </a:p>
        </p:txBody>
      </p:sp>
      <p:sp>
        <p:nvSpPr>
          <p:cNvPr id="5" name="flow-node-115-55-270">
            <a:extLst xmlns:a="http://schemas.openxmlformats.org/drawingml/2006/main">
              <a:ext uri="{FF2B5EF4-FFF2-40B4-BE49-F238E27FC236}">
                <a16:creationId xmlns:a16="http://schemas.microsoft.com/office/drawing/2014/main" id="{1A567C5E-C5D4-4455-BE07-71025C3B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6" name="flow-node-115-279-270">
            <a:extLst xmlns:a="http://schemas.openxmlformats.org/drawingml/2006/main">
              <a:ext uri="{FF2B5EF4-FFF2-40B4-BE49-F238E27FC236}">
                <a16:creationId xmlns:a16="http://schemas.microsoft.com/office/drawing/2014/main" id="{45B1A987-5C22-4F0C-A052-1C7F4113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flow-node-115-503-270">
            <a:extLst xmlns:a="http://schemas.openxmlformats.org/drawingml/2006/main">
              <a:ext uri="{FF2B5EF4-FFF2-40B4-BE49-F238E27FC236}">
                <a16:creationId xmlns:a16="http://schemas.microsoft.com/office/drawing/2014/main" id="{42EE78DC-DEFF-4678-BE2D-B221AA07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8" name="flow-node-115-727-270">
            <a:extLst xmlns:a="http://schemas.openxmlformats.org/drawingml/2006/main">
              <a:ext uri="{FF2B5EF4-FFF2-40B4-BE49-F238E27FC236}">
                <a16:creationId xmlns:a16="http://schemas.microsoft.com/office/drawing/2014/main" id="{8E1C67F5-2B83-4AC9-B56B-16258014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9" name="flow-node-115-951-270">
            <a:extLst xmlns:a="http://schemas.openxmlformats.org/drawingml/2006/main">
              <a:ext uri="{FF2B5EF4-FFF2-40B4-BE49-F238E27FC236}">
                <a16:creationId xmlns:a16="http://schemas.microsoft.com/office/drawing/2014/main" id="{599F0DFC-0ABA-43C5-BFFA-B19614AD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38375" y="3286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6C3"/>
            </a:solidFill>
            <a:prstDash val="solid"/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71975" y="3286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6C3"/>
            </a:solidFill>
            <a:prstDash val="solid"/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505575" y="3286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6C3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39175" y="3286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6C3"/>
            </a:solidFill>
            <a:prstDash val="solid"/>
            <a:tailEnd type="arrow" w="sm" len="sm"/>
          </a:ln>
        </p:spPr>
      </p:cxnSp>
      <p:sp>
        <p:nvSpPr>
          <p:cNvPr id="14" name="text-115-69-292">
            <a:extLst xmlns:a="http://schemas.openxmlformats.org/drawingml/2006/main">
              <a:ext uri="{FF2B5EF4-FFF2-40B4-BE49-F238E27FC236}">
                <a16:creationId xmlns:a16="http://schemas.microsoft.com/office/drawing/2014/main" id="{EF8189A7-E84D-4A1C-96D8-746A475A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HTTP</a:t>
            </a:r>
          </a:p>
        </p:txBody>
      </p:sp>
      <p:sp>
        <p:nvSpPr>
          <p:cNvPr id="15" name="text-115-69-345">
            <a:extLst xmlns:a="http://schemas.openxmlformats.org/drawingml/2006/main">
              <a:ext uri="{FF2B5EF4-FFF2-40B4-BE49-F238E27FC236}">
                <a16:creationId xmlns:a16="http://schemas.microsoft.com/office/drawing/2014/main" id="{2499EB20-9919-4185-98DC-77EDEDE1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validate request</a:t>
            </a:r>
          </a:p>
        </p:txBody>
      </p:sp>
      <p:sp>
        <p:nvSpPr>
          <p:cNvPr id="16" name="text-115-293-292">
            <a:extLst xmlns:a="http://schemas.openxmlformats.org/drawingml/2006/main">
              <a:ext uri="{FF2B5EF4-FFF2-40B4-BE49-F238E27FC236}">
                <a16:creationId xmlns:a16="http://schemas.microsoft.com/office/drawing/2014/main" id="{51817F85-D2B1-4192-A04E-8929F165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Preprocess</a:t>
            </a:r>
          </a:p>
        </p:txBody>
      </p:sp>
      <p:sp>
        <p:nvSpPr>
          <p:cNvPr id="17" name="text-115-293-345">
            <a:extLst xmlns:a="http://schemas.openxmlformats.org/drawingml/2006/main">
              <a:ext uri="{FF2B5EF4-FFF2-40B4-BE49-F238E27FC236}">
                <a16:creationId xmlns:a16="http://schemas.microsoft.com/office/drawing/2014/main" id="{BD15C1C6-D585-40BC-B37D-60857AEB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profile pinned</a:t>
            </a:r>
          </a:p>
        </p:txBody>
      </p:sp>
      <p:sp>
        <p:nvSpPr>
          <p:cNvPr id="18" name="text-115-517-292">
            <a:extLst xmlns:a="http://schemas.openxmlformats.org/drawingml/2006/main">
              <a:ext uri="{FF2B5EF4-FFF2-40B4-BE49-F238E27FC236}">
                <a16:creationId xmlns:a16="http://schemas.microsoft.com/office/drawing/2014/main" id="{BA870EEE-00DF-45D9-B17B-11E23EB0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ONNX</a:t>
            </a:r>
          </a:p>
        </p:txBody>
      </p:sp>
      <p:sp>
        <p:nvSpPr>
          <p:cNvPr id="19" name="text-115-517-345">
            <a:extLst xmlns:a="http://schemas.openxmlformats.org/drawingml/2006/main">
              <a:ext uri="{FF2B5EF4-FFF2-40B4-BE49-F238E27FC236}">
                <a16:creationId xmlns:a16="http://schemas.microsoft.com/office/drawing/2014/main" id="{21D47085-660B-47B5-960E-092BD72C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model + tokenizer</a:t>
            </a:r>
          </a:p>
        </p:txBody>
      </p:sp>
      <p:sp>
        <p:nvSpPr>
          <p:cNvPr id="20" name="text-115-741-292">
            <a:extLst xmlns:a="http://schemas.openxmlformats.org/drawingml/2006/main">
              <a:ext uri="{FF2B5EF4-FFF2-40B4-BE49-F238E27FC236}">
                <a16:creationId xmlns:a16="http://schemas.microsoft.com/office/drawing/2014/main" id="{D144E933-0CAC-493F-A182-7C3786C6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FAISS</a:t>
            </a:r>
          </a:p>
        </p:txBody>
      </p:sp>
      <p:sp>
        <p:nvSpPr>
          <p:cNvPr id="21" name="text-115-741-345">
            <a:extLst xmlns:a="http://schemas.openxmlformats.org/drawingml/2006/main">
              <a:ext uri="{FF2B5EF4-FFF2-40B4-BE49-F238E27FC236}">
                <a16:creationId xmlns:a16="http://schemas.microsoft.com/office/drawing/2014/main" id="{EC200961-F09F-4473-9B1E-B91906B0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manifest checked</a:t>
            </a:r>
          </a:p>
        </p:txBody>
      </p:sp>
      <p:sp>
        <p:nvSpPr>
          <p:cNvPr id="22" name="text-115-965-292">
            <a:extLst xmlns:a="http://schemas.openxmlformats.org/drawingml/2006/main">
              <a:ext uri="{FF2B5EF4-FFF2-40B4-BE49-F238E27FC236}">
                <a16:creationId xmlns:a16="http://schemas.microsoft.com/office/drawing/2014/main" id="{9E838000-03A2-4D39-9A46-979A4EBE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Response</a:t>
            </a:r>
          </a:p>
        </p:txBody>
      </p:sp>
      <p:sp>
        <p:nvSpPr>
          <p:cNvPr id="23" name="text-115-965-345">
            <a:extLst xmlns:a="http://schemas.openxmlformats.org/drawingml/2006/main">
              <a:ext uri="{FF2B5EF4-FFF2-40B4-BE49-F238E27FC236}">
                <a16:creationId xmlns:a16="http://schemas.microsoft.com/office/drawing/2014/main" id="{23CD0F34-3929-48C7-9C90-94B250E2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versions + results</a:t>
            </a:r>
          </a:p>
        </p:txBody>
      </p:sp>
      <p:sp>
        <p:nvSpPr>
          <p:cNvPr id="24" name="text-115-250-500">
            <a:extLst xmlns:a="http://schemas.openxmlformats.org/drawingml/2006/main">
              <a:ext uri="{FF2B5EF4-FFF2-40B4-BE49-F238E27FC236}">
                <a16:creationId xmlns:a16="http://schemas.microsoft.com/office/drawing/2014/main" id="{CB48671C-CC59-418E-A477-71AF16B3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B2239"/>
                </a:solidFill>
              </a:defRPr>
            </a:pPr>
            <a:r>
              <a:rPr sz="2550" b="1" i="0">
                <a:solidFill>
                  <a:srgbClr val="0B2239"/>
                </a:solidFill>
              </a:rPr>
              <a:t>Every boundary is versioned, measured, and tested.</a:t>
            </a:r>
          </a:p>
        </p:txBody>
      </p:sp>
    </p:spTree>
    <p:extLst>
      <p:ext uri="{BB962C8B-B14F-4D97-AF65-F5344CB8AC3E}">
        <p14:creationId xmlns:p14="http://schemas.microsoft.com/office/powerpoint/2010/main" val="2070642556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16-42-42">
            <a:extLst xmlns:a="http://schemas.openxmlformats.org/drawingml/2006/main">
              <a:ext uri="{FF2B5EF4-FFF2-40B4-BE49-F238E27FC236}">
                <a16:creationId xmlns:a16="http://schemas.microsoft.com/office/drawing/2014/main" id="{33790809-1AF6-42E1-9887-0D59208E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CAPSTONE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D96FF5E3-D32E-4237-80CA-66C30DA6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B2239"/>
                </a:solidFill>
              </a:defRPr>
            </a:pPr>
            <a:r>
              <a:rPr sz="5850" b="1" i="0">
                <a:solidFill>
                  <a:srgbClr val="0B2239"/>
                </a:solidFill>
              </a:rPr>
              <a:t>Assemble Bayan</a:t>
            </a:r>
          </a:p>
        </p:txBody>
      </p:sp>
      <p:sp>
        <p:nvSpPr>
          <p:cNvPr id="3" name="accent-rule-116-42-545">
            <a:extLst xmlns:a="http://schemas.openxmlformats.org/drawingml/2006/main">
              <a:ext uri="{FF2B5EF4-FFF2-40B4-BE49-F238E27FC236}">
                <a16:creationId xmlns:a16="http://schemas.microsoft.com/office/drawing/2014/main" id="{C6AC1EBB-3EC4-440A-BC9B-1556553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16-42-575">
            <a:extLst xmlns:a="http://schemas.openxmlformats.org/drawingml/2006/main">
              <a:ext uri="{FF2B5EF4-FFF2-40B4-BE49-F238E27FC236}">
                <a16:creationId xmlns:a16="http://schemas.microsoft.com/office/drawing/2014/main" id="{5B37A5B8-C88B-424E-821B-0A78AF91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26273"/>
                </a:solidFill>
              </a:defRPr>
            </a:pPr>
            <a:r>
              <a:rPr sz="1800" b="0" i="0">
                <a:solidFill>
                  <a:srgbClr val="526273"/>
                </a:solidFill>
              </a:rPr>
              <a:t>Integrate the components you already built, choose one extension, and defend one number under challenge.</a:t>
            </a:r>
          </a:p>
        </p:txBody>
      </p:sp>
      <p:sp>
        <p:nvSpPr>
          <p:cNvPr id="5" name="text-116-1180-676">
            <a:extLst xmlns:a="http://schemas.openxmlformats.org/drawingml/2006/main">
              <a:ext uri="{FF2B5EF4-FFF2-40B4-BE49-F238E27FC236}">
                <a16:creationId xmlns:a16="http://schemas.microsoft.com/office/drawing/2014/main" id="{31795D5D-093F-40BD-A9EB-228BEAF1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116</a:t>
            </a:r>
          </a:p>
        </p:txBody>
      </p:sp>
    </p:spTree>
    <p:extLst>
      <p:ext uri="{BB962C8B-B14F-4D97-AF65-F5344CB8AC3E}">
        <p14:creationId xmlns:p14="http://schemas.microsoft.com/office/powerpoint/2010/main" val="1486435530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18E7FA-3E6A-4637-A910-BD884311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Mandatory service contract</a:t>
            </a:r>
          </a:p>
        </p:txBody>
      </p:sp>
      <p:sp>
        <p:nvSpPr>
          <p:cNvPr id="2" name="title-rule-117-42-119">
            <a:extLst xmlns:a="http://schemas.openxmlformats.org/drawingml/2006/main">
              <a:ext uri="{FF2B5EF4-FFF2-40B4-BE49-F238E27FC236}">
                <a16:creationId xmlns:a16="http://schemas.microsoft.com/office/drawing/2014/main" id="{E2F5286C-4732-46DA-8CF8-D06837DF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08DAD1FC-64EE-4DAB-98AD-0C36FAC8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Capstone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CE87535-1572-49A6-B586-FFC429C3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117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4D9ED1D4-0778-4B78-94D8-F6C48855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One preprocessing module imported by training, evaluation, and serving; PII fixture recall = 100%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Topic/sentiment, dialect-aware classifier, NER, and QA meet their stated targets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Two-stage search reaches recall@10 ≥ 0.80 and MRR@10 ≥ 0.70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Evaluation includes slices, intervals, behavioural tests, 100 hand-read errors, and model cards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HTTP classifier p99 ≤ 40 ms at concurrency 16 with rollback artefacts</a:t>
            </a:r>
          </a:p>
        </p:txBody>
      </p:sp>
      <p:sp>
        <p:nvSpPr>
          <p:cNvPr id="6" name="callout-panel-117-835-175">
            <a:extLst xmlns:a="http://schemas.openxmlformats.org/drawingml/2006/main">
              <a:ext uri="{FF2B5EF4-FFF2-40B4-BE49-F238E27FC236}">
                <a16:creationId xmlns:a16="http://schemas.microsoft.com/office/drawing/2014/main" id="{E64D842E-061E-4B96-9313-FFA3F60B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17-865-205">
            <a:extLst xmlns:a="http://schemas.openxmlformats.org/drawingml/2006/main">
              <a:ext uri="{FF2B5EF4-FFF2-40B4-BE49-F238E27FC236}">
                <a16:creationId xmlns:a16="http://schemas.microsoft.com/office/drawing/2014/main" id="{E44CC9C0-2E59-4264-825B-39740052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PASS GATE</a:t>
            </a:r>
          </a:p>
        </p:txBody>
      </p:sp>
      <p:sp>
        <p:nvSpPr>
          <p:cNvPr id="8" name="text-117-865-260">
            <a:extLst xmlns:a="http://schemas.openxmlformats.org/drawingml/2006/main">
              <a:ext uri="{FF2B5EF4-FFF2-40B4-BE49-F238E27FC236}">
                <a16:creationId xmlns:a16="http://schemas.microsoft.com/office/drawing/2014/main" id="{FF301CEC-3D89-4D4A-AFD7-BE661133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2239"/>
                </a:solidFill>
              </a:defRPr>
            </a:pPr>
            <a:r>
              <a:rPr sz="3300" b="1" i="0">
                <a:solidFill>
                  <a:srgbClr val="0B2239"/>
                </a:solidFill>
              </a:rPr>
              <a:t>≥ 70</a:t>
            </a:r>
          </a:p>
        </p:txBody>
      </p:sp>
      <p:sp>
        <p:nvSpPr>
          <p:cNvPr id="9" name="text-117-865-410">
            <a:extLst xmlns:a="http://schemas.openxmlformats.org/drawingml/2006/main">
              <a:ext uri="{FF2B5EF4-FFF2-40B4-BE49-F238E27FC236}">
                <a16:creationId xmlns:a16="http://schemas.microsoft.com/office/drawing/2014/main" id="{86D85402-AE0C-4FF1-BB6B-BD5B1F0C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Capstone must also score at least 70.</a:t>
            </a:r>
          </a:p>
        </p:txBody>
      </p:sp>
    </p:spTree>
    <p:extLst>
      <p:ext uri="{BB962C8B-B14F-4D97-AF65-F5344CB8AC3E}">
        <p14:creationId xmlns:p14="http://schemas.microsoft.com/office/powerpoint/2010/main" val="849259042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734A52-2EFF-42CE-9D4A-8AEBDA95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Target-state architecture</a:t>
            </a:r>
          </a:p>
        </p:txBody>
      </p:sp>
      <p:sp>
        <p:nvSpPr>
          <p:cNvPr id="2" name="title-rule-118-42-119">
            <a:extLst xmlns:a="http://schemas.openxmlformats.org/drawingml/2006/main">
              <a:ext uri="{FF2B5EF4-FFF2-40B4-BE49-F238E27FC236}">
                <a16:creationId xmlns:a16="http://schemas.microsoft.com/office/drawing/2014/main" id="{63256E12-F85D-4B71-8064-9EF210F4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4DFCCF6B-D436-4BEE-9E87-154C46DE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Capstone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047B51A-5723-49C8-8677-B4CE6082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118</a:t>
            </a:r>
          </a:p>
        </p:txBody>
      </p:sp>
      <p:sp>
        <p:nvSpPr>
          <p:cNvPr id="5" name="flow-node-118-55-270">
            <a:extLst xmlns:a="http://schemas.openxmlformats.org/drawingml/2006/main">
              <a:ext uri="{FF2B5EF4-FFF2-40B4-BE49-F238E27FC236}">
                <a16:creationId xmlns:a16="http://schemas.microsoft.com/office/drawing/2014/main" id="{2CD45A4B-574B-464B-8F07-E8AED03E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6" name="flow-node-118-279-270">
            <a:extLst xmlns:a="http://schemas.openxmlformats.org/drawingml/2006/main">
              <a:ext uri="{FF2B5EF4-FFF2-40B4-BE49-F238E27FC236}">
                <a16:creationId xmlns:a16="http://schemas.microsoft.com/office/drawing/2014/main" id="{47746D23-1AE0-43E9-AF9E-4BACFEC7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flow-node-118-503-270">
            <a:extLst xmlns:a="http://schemas.openxmlformats.org/drawingml/2006/main">
              <a:ext uri="{FF2B5EF4-FFF2-40B4-BE49-F238E27FC236}">
                <a16:creationId xmlns:a16="http://schemas.microsoft.com/office/drawing/2014/main" id="{C138A3E3-9CDA-44DA-A3D8-2FD83B0E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8" name="flow-node-118-727-270">
            <a:extLst xmlns:a="http://schemas.openxmlformats.org/drawingml/2006/main">
              <a:ext uri="{FF2B5EF4-FFF2-40B4-BE49-F238E27FC236}">
                <a16:creationId xmlns:a16="http://schemas.microsoft.com/office/drawing/2014/main" id="{66B99930-2F58-4FC4-B26B-1F161F77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9" name="flow-node-118-951-270">
            <a:extLst xmlns:a="http://schemas.openxmlformats.org/drawingml/2006/main">
              <a:ext uri="{FF2B5EF4-FFF2-40B4-BE49-F238E27FC236}">
                <a16:creationId xmlns:a16="http://schemas.microsoft.com/office/drawing/2014/main" id="{A41F2F42-4297-4DA3-B19C-3E72D1AB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71750"/>
            <a:ext cx="17145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38375" y="3286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6C3"/>
            </a:solidFill>
            <a:prstDash val="solid"/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71975" y="3286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6C3"/>
            </a:solidFill>
            <a:prstDash val="solid"/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505575" y="3286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6C3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39175" y="3286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6C3"/>
            </a:solidFill>
            <a:prstDash val="solid"/>
            <a:tailEnd type="arrow" w="sm" len="sm"/>
          </a:ln>
        </p:spPr>
      </p:cxnSp>
      <p:sp>
        <p:nvSpPr>
          <p:cNvPr id="14" name="text-118-69-292">
            <a:extLst xmlns:a="http://schemas.openxmlformats.org/drawingml/2006/main">
              <a:ext uri="{FF2B5EF4-FFF2-40B4-BE49-F238E27FC236}">
                <a16:creationId xmlns:a16="http://schemas.microsoft.com/office/drawing/2014/main" id="{01378EF7-3E84-45D5-B40C-229E476D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Validation</a:t>
            </a:r>
          </a:p>
        </p:txBody>
      </p:sp>
      <p:sp>
        <p:nvSpPr>
          <p:cNvPr id="15" name="text-118-69-345">
            <a:extLst xmlns:a="http://schemas.openxmlformats.org/drawingml/2006/main">
              <a:ext uri="{FF2B5EF4-FFF2-40B4-BE49-F238E27FC236}">
                <a16:creationId xmlns:a16="http://schemas.microsoft.com/office/drawing/2014/main" id="{13CE34CB-7A13-4497-955E-F1CE8C84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schema + limits</a:t>
            </a:r>
          </a:p>
        </p:txBody>
      </p:sp>
      <p:sp>
        <p:nvSpPr>
          <p:cNvPr id="16" name="text-118-293-292">
            <a:extLst xmlns:a="http://schemas.openxmlformats.org/drawingml/2006/main">
              <a:ext uri="{FF2B5EF4-FFF2-40B4-BE49-F238E27FC236}">
                <a16:creationId xmlns:a16="http://schemas.microsoft.com/office/drawing/2014/main" id="{C84620A9-8C5F-4642-9EA8-5A9DCAE2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Preprocess</a:t>
            </a:r>
          </a:p>
        </p:txBody>
      </p:sp>
      <p:sp>
        <p:nvSpPr>
          <p:cNvPr id="17" name="text-118-293-345">
            <a:extLst xmlns:a="http://schemas.openxmlformats.org/drawingml/2006/main">
              <a:ext uri="{FF2B5EF4-FFF2-40B4-BE49-F238E27FC236}">
                <a16:creationId xmlns:a16="http://schemas.microsoft.com/office/drawing/2014/main" id="{85323DDE-BBA5-4817-98CA-58584A08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PII + AR profile</a:t>
            </a:r>
          </a:p>
        </p:txBody>
      </p:sp>
      <p:sp>
        <p:nvSpPr>
          <p:cNvPr id="18" name="text-118-517-292">
            <a:extLst xmlns:a="http://schemas.openxmlformats.org/drawingml/2006/main">
              <a:ext uri="{FF2B5EF4-FFF2-40B4-BE49-F238E27FC236}">
                <a16:creationId xmlns:a16="http://schemas.microsoft.com/office/drawing/2014/main" id="{E3262DD6-D897-40AA-8C05-FFBB2FA4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Classify / NER</a:t>
            </a:r>
          </a:p>
        </p:txBody>
      </p:sp>
      <p:sp>
        <p:nvSpPr>
          <p:cNvPr id="19" name="text-118-517-345">
            <a:extLst xmlns:a="http://schemas.openxmlformats.org/drawingml/2006/main">
              <a:ext uri="{FF2B5EF4-FFF2-40B4-BE49-F238E27FC236}">
                <a16:creationId xmlns:a16="http://schemas.microsoft.com/office/drawing/2014/main" id="{791E8F79-21FA-49E2-815E-4E929AE7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case fields</a:t>
            </a:r>
          </a:p>
        </p:txBody>
      </p:sp>
      <p:sp>
        <p:nvSpPr>
          <p:cNvPr id="20" name="text-118-741-292">
            <a:extLst xmlns:a="http://schemas.openxmlformats.org/drawingml/2006/main">
              <a:ext uri="{FF2B5EF4-FFF2-40B4-BE49-F238E27FC236}">
                <a16:creationId xmlns:a16="http://schemas.microsoft.com/office/drawing/2014/main" id="{DAA3D416-1B8D-41C8-8DC0-498C6486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Search</a:t>
            </a:r>
          </a:p>
        </p:txBody>
      </p:sp>
      <p:sp>
        <p:nvSpPr>
          <p:cNvPr id="21" name="text-118-741-345">
            <a:extLst xmlns:a="http://schemas.openxmlformats.org/drawingml/2006/main">
              <a:ext uri="{FF2B5EF4-FFF2-40B4-BE49-F238E27FC236}">
                <a16:creationId xmlns:a16="http://schemas.microsoft.com/office/drawing/2014/main" id="{F4A87D35-D34E-463F-A6CF-6128C953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similar cases</a:t>
            </a:r>
          </a:p>
        </p:txBody>
      </p:sp>
      <p:sp>
        <p:nvSpPr>
          <p:cNvPr id="22" name="text-118-965-292">
            <a:extLst xmlns:a="http://schemas.openxmlformats.org/drawingml/2006/main">
              <a:ext uri="{FF2B5EF4-FFF2-40B4-BE49-F238E27FC236}">
                <a16:creationId xmlns:a16="http://schemas.microsoft.com/office/drawing/2014/main" id="{BD606B68-0017-4A8D-8706-0D29D007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813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66C3"/>
                </a:solidFill>
              </a:defRPr>
            </a:pPr>
            <a:r>
              <a:rPr sz="1575" b="1" i="0">
                <a:solidFill>
                  <a:srgbClr val="0B66C3"/>
                </a:solidFill>
              </a:rPr>
              <a:t>Evidence</a:t>
            </a:r>
          </a:p>
        </p:txBody>
      </p:sp>
      <p:sp>
        <p:nvSpPr>
          <p:cNvPr id="23" name="text-118-965-345">
            <a:extLst xmlns:a="http://schemas.openxmlformats.org/drawingml/2006/main">
              <a:ext uri="{FF2B5EF4-FFF2-40B4-BE49-F238E27FC236}">
                <a16:creationId xmlns:a16="http://schemas.microsoft.com/office/drawing/2014/main" id="{78874573-B565-484B-A1B6-C591D715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273"/>
                </a:solidFill>
              </a:defRPr>
            </a:pPr>
            <a:r>
              <a:rPr sz="1275" b="0" i="0">
                <a:solidFill>
                  <a:srgbClr val="526273"/>
                </a:solidFill>
              </a:rPr>
              <a:t>metrics + versions</a:t>
            </a:r>
          </a:p>
        </p:txBody>
      </p:sp>
      <p:sp>
        <p:nvSpPr>
          <p:cNvPr id="24" name="text-118-250-500">
            <a:extLst xmlns:a="http://schemas.openxmlformats.org/drawingml/2006/main">
              <a:ext uri="{FF2B5EF4-FFF2-40B4-BE49-F238E27FC236}">
                <a16:creationId xmlns:a16="http://schemas.microsoft.com/office/drawing/2014/main" id="{0D2D17FB-C854-47CB-A8F3-F2BC4E63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B2239"/>
                </a:solidFill>
              </a:defRPr>
            </a:pPr>
            <a:r>
              <a:rPr sz="2550" b="1" i="0">
                <a:solidFill>
                  <a:srgbClr val="0B2239"/>
                </a:solidFill>
              </a:rPr>
              <a:t>Every boundary is versioned, measured, and tested.</a:t>
            </a:r>
          </a:p>
        </p:txBody>
      </p:sp>
    </p:spTree>
    <p:extLst>
      <p:ext uri="{BB962C8B-B14F-4D97-AF65-F5344CB8AC3E}">
        <p14:creationId xmlns:p14="http://schemas.microsoft.com/office/powerpoint/2010/main" val="187179202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0FB679-1C41-4CEC-9A47-34850139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Milestones keep Day 4 assembly achievable</a:t>
            </a:r>
          </a:p>
        </p:txBody>
      </p:sp>
      <p:sp>
        <p:nvSpPr>
          <p:cNvPr id="2" name="title-rule-119-42-119">
            <a:extLst xmlns:a="http://schemas.openxmlformats.org/drawingml/2006/main">
              <a:ext uri="{FF2B5EF4-FFF2-40B4-BE49-F238E27FC236}">
                <a16:creationId xmlns:a16="http://schemas.microsoft.com/office/drawing/2014/main" id="{4AA1E0FE-F1A8-4C99-B9B8-D8CABE98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5BDF931C-1522-4855-959F-9BB10677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Capstone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66DA732-0D4E-48BE-B9B5-74A872C2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119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524000"/>
          <a:ext xmlns:a="http://schemas.openxmlformats.org/drawingml/2006/main" cx="11391900" cy="4333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714750"/>
                <a:gridCol w="1809750"/>
                <a:gridCol w="5867400"/>
              </a:tblGrid>
              <a:tr h="722313">
                <a:tc>
                  <a:txBody>
                    <a:bodyPr/>
                    <a:lstStyle/>
                    <a:p>
                      <a:r>
                        <a:rPr sz="1275" b="1"/>
                        <a:t>Milestone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/>
                        <a:t>Due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/>
                        <a:t>Gate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275"/>
                        <a:t>A — preprocessing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End Day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Golden tests + tokenizer decision</a:t>
                      </a:r>
                    </a:p>
                  </a:txBody>
                  <a:tcPr marL="91440" marR="91440" marT="45720" marB="45720"/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275"/>
                        <a:t>B — models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End Day 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Baseline beaten + alignment green</a:t>
                      </a:r>
                    </a:p>
                  </a:txBody>
                  <a:tcPr marL="91440" marR="91440" marT="45720" marB="45720"/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275"/>
                        <a:t>C — Arabic/search/eval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End Day 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Slices + MRR target</a:t>
                      </a:r>
                    </a:p>
                  </a:txBody>
                  <a:tcPr marL="91440" marR="91440" marT="45720" marB="45720"/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275"/>
                        <a:t>D — serving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Day 4 H4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HTTP p99 + canaries</a:t>
                      </a:r>
                    </a:p>
                  </a:txBody>
                  <a:tcPr marL="91440" marR="91440" marT="45720" marB="45720"/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275"/>
                        <a:t>E — demo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Day 4 H5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Rubric scoring live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239422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D46369-59AE-4AB0-9D02-6CB38433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Choose one extension</a:t>
            </a:r>
          </a:p>
        </p:txBody>
      </p:sp>
      <p:sp>
        <p:nvSpPr>
          <p:cNvPr id="2" name="title-rule-120-42-119">
            <a:extLst xmlns:a="http://schemas.openxmlformats.org/drawingml/2006/main">
              <a:ext uri="{FF2B5EF4-FFF2-40B4-BE49-F238E27FC236}">
                <a16:creationId xmlns:a16="http://schemas.microsoft.com/office/drawing/2014/main" id="{91CCBFD7-9C4D-4E36-BE87-B4506467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C3B17550-8B8F-4F28-9B8E-367E44D8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Capstone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FC18140-C6E5-4FF3-8A6C-19EF5D4D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120</a:t>
            </a:r>
          </a:p>
        </p:txBody>
      </p:sp>
      <p:sp>
        <p:nvSpPr>
          <p:cNvPr id="5" name="text-120-52-160">
            <a:extLst xmlns:a="http://schemas.openxmlformats.org/drawingml/2006/main">
              <a:ext uri="{FF2B5EF4-FFF2-40B4-BE49-F238E27FC236}">
                <a16:creationId xmlns:a16="http://schemas.microsoft.com/office/drawing/2014/main" id="{FB65017E-F5D7-4C1F-A916-D09A878C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Model and language</a:t>
            </a:r>
          </a:p>
        </p:txBody>
      </p:sp>
      <p:sp>
        <p:nvSpPr>
          <p:cNvPr id="6" name="text-120-52-220">
            <a:extLst xmlns:a="http://schemas.openxmlformats.org/drawingml/2006/main">
              <a:ext uri="{FF2B5EF4-FFF2-40B4-BE49-F238E27FC236}">
                <a16:creationId xmlns:a16="http://schemas.microsoft.com/office/drawing/2014/main" id="{7D31C6D4-C5EC-464E-80E5-028E3724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49530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Dialect router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Two-headed topic + sentiment encoder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Arabizi ingestion lane</a:t>
            </a:r>
          </a:p>
        </p:txBody>
      </p:sp>
      <p:sp>
        <p:nvSpPr>
          <p:cNvPr id="7" name="column-rule-120-620-158">
            <a:extLst xmlns:a="http://schemas.openxmlformats.org/drawingml/2006/main">
              <a:ext uri="{FF2B5EF4-FFF2-40B4-BE49-F238E27FC236}">
                <a16:creationId xmlns:a16="http://schemas.microsoft.com/office/drawing/2014/main" id="{59D73396-9D3E-4EEA-9F74-13B80544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049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20-668-160">
            <a:extLst xmlns:a="http://schemas.openxmlformats.org/drawingml/2006/main">
              <a:ext uri="{FF2B5EF4-FFF2-40B4-BE49-F238E27FC236}">
                <a16:creationId xmlns:a16="http://schemas.microsoft.com/office/drawing/2014/main" id="{251076AF-F208-411B-B418-E3FF2B41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24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Search and runtime</a:t>
            </a:r>
          </a:p>
        </p:txBody>
      </p:sp>
      <p:sp>
        <p:nvSpPr>
          <p:cNvPr id="9" name="text-120-668-220">
            <a:extLst xmlns:a="http://schemas.openxmlformats.org/drawingml/2006/main">
              <a:ext uri="{FF2B5EF4-FFF2-40B4-BE49-F238E27FC236}">
                <a16:creationId xmlns:a16="http://schemas.microsoft.com/office/drawing/2014/main" id="{93AA5DFE-086F-4B77-8EA5-709E2174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9530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Search-quality upgrade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Length-bucketed batch endpoint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QA over service documents</a:t>
            </a:r>
          </a:p>
        </p:txBody>
      </p:sp>
    </p:spTree>
    <p:extLst>
      <p:ext uri="{BB962C8B-B14F-4D97-AF65-F5344CB8AC3E}">
        <p14:creationId xmlns:p14="http://schemas.microsoft.com/office/powerpoint/2010/main" val="2130853539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76FA51-55BC-41A1-A765-5E6197C0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Five-minute demo: prove the system and the claim</a:t>
            </a:r>
          </a:p>
        </p:txBody>
      </p:sp>
      <p:sp>
        <p:nvSpPr>
          <p:cNvPr id="2" name="title-rule-121-42-119">
            <a:extLst xmlns:a="http://schemas.openxmlformats.org/drawingml/2006/main">
              <a:ext uri="{FF2B5EF4-FFF2-40B4-BE49-F238E27FC236}">
                <a16:creationId xmlns:a16="http://schemas.microsoft.com/office/drawing/2014/main" id="{9F957BF9-9DE1-4178-8056-D8223C8A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D049F97B-F1A6-45CE-8D3C-189B2F75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Capstone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BCE572C-2CCB-47B3-92D9-DA2CDB71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121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0E9083AE-01BC-42E3-8956-901D84E4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Run one Arabic and one English request end to 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Show classification, extracted fields, and similar resolved cases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Explain one behavioural test and why it blocks a regression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Defend one number: population, metric, uncertainty, and source artefact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State one limitation and the rollback path</a:t>
            </a:r>
          </a:p>
        </p:txBody>
      </p:sp>
      <p:sp>
        <p:nvSpPr>
          <p:cNvPr id="6" name="callout-panel-121-835-175">
            <a:extLst xmlns:a="http://schemas.openxmlformats.org/drawingml/2006/main">
              <a:ext uri="{FF2B5EF4-FFF2-40B4-BE49-F238E27FC236}">
                <a16:creationId xmlns:a16="http://schemas.microsoft.com/office/drawing/2014/main" id="{523CE779-B2C7-4754-AE89-461D4217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21-865-205">
            <a:extLst xmlns:a="http://schemas.openxmlformats.org/drawingml/2006/main">
              <a:ext uri="{FF2B5EF4-FFF2-40B4-BE49-F238E27FC236}">
                <a16:creationId xmlns:a16="http://schemas.microsoft.com/office/drawing/2014/main" id="{ABBC3E40-330D-4094-9FE8-506FC86D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CHALLENGE</a:t>
            </a:r>
          </a:p>
        </p:txBody>
      </p:sp>
      <p:sp>
        <p:nvSpPr>
          <p:cNvPr id="8" name="text-121-865-260">
            <a:extLst xmlns:a="http://schemas.openxmlformats.org/drawingml/2006/main">
              <a:ext uri="{FF2B5EF4-FFF2-40B4-BE49-F238E27FC236}">
                <a16:creationId xmlns:a16="http://schemas.microsoft.com/office/drawing/2014/main" id="{01B470A2-6B99-4113-9CED-12A18828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2239"/>
                </a:solidFill>
              </a:defRPr>
            </a:pPr>
            <a:r>
              <a:rPr sz="2325" b="1" i="0">
                <a:solidFill>
                  <a:srgbClr val="0B2239"/>
                </a:solidFill>
              </a:rPr>
              <a:t>Why should I believe this?</a:t>
            </a:r>
          </a:p>
        </p:txBody>
      </p:sp>
      <p:sp>
        <p:nvSpPr>
          <p:cNvPr id="9" name="text-121-865-410">
            <a:extLst xmlns:a="http://schemas.openxmlformats.org/drawingml/2006/main">
              <a:ext uri="{FF2B5EF4-FFF2-40B4-BE49-F238E27FC236}">
                <a16:creationId xmlns:a16="http://schemas.microsoft.com/office/drawing/2014/main" id="{71CF7B9F-A85B-4A58-A1B5-74CE5A64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The answer quality is LO5.</a:t>
            </a:r>
          </a:p>
        </p:txBody>
      </p:sp>
    </p:spTree>
    <p:extLst>
      <p:ext uri="{BB962C8B-B14F-4D97-AF65-F5344CB8AC3E}">
        <p14:creationId xmlns:p14="http://schemas.microsoft.com/office/powerpoint/2010/main" val="2056497222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3D91DE-A2F2-4607-BF3B-56B1FEBA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Capstone rubric</a:t>
            </a:r>
          </a:p>
        </p:txBody>
      </p:sp>
      <p:sp>
        <p:nvSpPr>
          <p:cNvPr id="2" name="title-rule-122-42-119">
            <a:extLst xmlns:a="http://schemas.openxmlformats.org/drawingml/2006/main">
              <a:ext uri="{FF2B5EF4-FFF2-40B4-BE49-F238E27FC236}">
                <a16:creationId xmlns:a16="http://schemas.microsoft.com/office/drawing/2014/main" id="{FBD8881A-9166-41E3-A4AE-7F39C657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9A228470-94D3-4C9D-B12C-B0EE4EF9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Capstone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A6FC0DD-1E1B-4A42-9718-0D32361F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122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524000"/>
          <a:ext xmlns:a="http://schemas.openxmlformats.org/drawingml/2006/main" cx="11391900" cy="4333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24250"/>
                <a:gridCol w="1143000"/>
                <a:gridCol w="6724650"/>
              </a:tblGrid>
              <a:tr h="619125">
                <a:tc>
                  <a:txBody>
                    <a:bodyPr/>
                    <a:lstStyle/>
                    <a:p>
                      <a:r>
                        <a:rPr sz="1275" b="1"/>
                        <a:t>Criterion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/>
                        <a:t>Weight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/>
                        <a:t>90–100% evidence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/>
                        <a:t>Preprocessing + Arabic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One versioned module; profiles; canaries; PII 100%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/>
                        <a:t>Fine-tuned models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Targets met; honest nulls; CI-backed Gulf claim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/>
                        <a:t>Semantic search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Two-stage; manifest; targets; cross-lingual gap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/>
                        <a:t>Evaluation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Slices, CIs, behaviours, hand-read taxonomy, cards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/>
                        <a:t>Serving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Full ladder; HTTP p99; defensible quantisation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/>
                        <a:t>Decisions + demo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Evidence-dense records; crisp defence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0150908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9C16E0-AB68-4565-83C8-F53393A0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The repository is the primary evidence</a:t>
            </a:r>
          </a:p>
        </p:txBody>
      </p:sp>
      <p:sp>
        <p:nvSpPr>
          <p:cNvPr id="2" name="title-rule-123-42-119">
            <a:extLst xmlns:a="http://schemas.openxmlformats.org/drawingml/2006/main">
              <a:ext uri="{FF2B5EF4-FFF2-40B4-BE49-F238E27FC236}">
                <a16:creationId xmlns:a16="http://schemas.microsoft.com/office/drawing/2014/main" id="{EB4C0850-A8DF-416F-B7F2-4F754578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770D88A5-4E9A-4F07-A690-96FFC7CD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ACB629B-BA88-4F4A-AD17-140115E2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123</a:t>
            </a:r>
          </a:p>
        </p:txBody>
      </p:sp>
      <p:sp>
        <p:nvSpPr>
          <p:cNvPr id="5" name="text-123-42-185">
            <a:extLst xmlns:a="http://schemas.openxmlformats.org/drawingml/2006/main">
              <a:ext uri="{FF2B5EF4-FFF2-40B4-BE49-F238E27FC236}">
                <a16:creationId xmlns:a16="http://schemas.microsoft.com/office/drawing/2014/main" id="{668E4176-5545-4EC8-AE60-E7FB65D5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2239"/>
                </a:solidFill>
              </a:defRPr>
            </a:pPr>
            <a:r>
              <a:rPr sz="4050" b="1" i="0">
                <a:solidFill>
                  <a:srgbClr val="0B2239"/>
                </a:solidFill>
              </a:rPr>
              <a:t>Grade the artefacts first; use the demo to challenge them.</a:t>
            </a:r>
          </a:p>
        </p:txBody>
      </p:sp>
      <p:sp>
        <p:nvSpPr>
          <p:cNvPr id="6" name="statement-accent-123-42-435">
            <a:extLst xmlns:a="http://schemas.openxmlformats.org/drawingml/2006/main">
              <a:ext uri="{FF2B5EF4-FFF2-40B4-BE49-F238E27FC236}">
                <a16:creationId xmlns:a16="http://schemas.microsoft.com/office/drawing/2014/main" id="{464980F2-7821-4DD1-A59C-9A8E084E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95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23-78-448">
            <a:extLst xmlns:a="http://schemas.openxmlformats.org/drawingml/2006/main">
              <a:ext uri="{FF2B5EF4-FFF2-40B4-BE49-F238E27FC236}">
                <a16:creationId xmlns:a16="http://schemas.microsoft.com/office/drawing/2014/main" id="{4AA0B897-0C33-4363-8A8B-1C31049D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9763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26273"/>
                </a:solidFill>
              </a:defRPr>
            </a:pPr>
            <a:r>
              <a:rPr sz="1875" b="0" i="0">
                <a:solidFill>
                  <a:srgbClr val="526273"/>
                </a:solidFill>
              </a:rPr>
              <a:t>Spot-verify one claim live. Cap criteria at 70 for test-set leakage, slice claims without intervals, copied benchmarks, or weakened behavioural suites.</a:t>
            </a:r>
          </a:p>
        </p:txBody>
      </p:sp>
    </p:spTree>
    <p:extLst>
      <p:ext uri="{BB962C8B-B14F-4D97-AF65-F5344CB8AC3E}">
        <p14:creationId xmlns:p14="http://schemas.microsoft.com/office/powerpoint/2010/main" val="61696260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24-42-42">
            <a:extLst xmlns:a="http://schemas.openxmlformats.org/drawingml/2006/main">
              <a:ext uri="{FF2B5EF4-FFF2-40B4-BE49-F238E27FC236}">
                <a16:creationId xmlns:a16="http://schemas.microsoft.com/office/drawing/2014/main" id="{CCDEE940-88D5-4ED2-90B9-A8FA7AAB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ASSESSMENT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5D39C430-95AB-4CBE-BB25-65048073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B2239"/>
                </a:solidFill>
              </a:defRPr>
            </a:pPr>
            <a:r>
              <a:rPr sz="5850" b="1" i="0">
                <a:solidFill>
                  <a:srgbClr val="0B2239"/>
                </a:solidFill>
              </a:rPr>
              <a:t>Check understanding and engineering judgment</a:t>
            </a:r>
          </a:p>
        </p:txBody>
      </p:sp>
      <p:sp>
        <p:nvSpPr>
          <p:cNvPr id="3" name="accent-rule-124-42-545">
            <a:extLst xmlns:a="http://schemas.openxmlformats.org/drawingml/2006/main">
              <a:ext uri="{FF2B5EF4-FFF2-40B4-BE49-F238E27FC236}">
                <a16:creationId xmlns:a16="http://schemas.microsoft.com/office/drawing/2014/main" id="{08DE4BDA-0864-4F0D-A361-A7107946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24-42-575">
            <a:extLst xmlns:a="http://schemas.openxmlformats.org/drawingml/2006/main">
              <a:ext uri="{FF2B5EF4-FFF2-40B4-BE49-F238E27FC236}">
                <a16:creationId xmlns:a16="http://schemas.microsoft.com/office/drawing/2014/main" id="{E76AB8A8-89E8-4CCF-9D02-DDD8D2F0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26273"/>
                </a:solidFill>
              </a:defRPr>
            </a:pPr>
            <a:r>
              <a:rPr sz="1800" b="0" i="0">
                <a:solidFill>
                  <a:srgbClr val="526273"/>
                </a:solidFill>
              </a:rPr>
              <a:t>Use ten quiz questions, two practical assessments, and the repository-first capstone rubric.</a:t>
            </a:r>
          </a:p>
        </p:txBody>
      </p:sp>
      <p:sp>
        <p:nvSpPr>
          <p:cNvPr id="5" name="text-124-1180-676">
            <a:extLst xmlns:a="http://schemas.openxmlformats.org/drawingml/2006/main">
              <a:ext uri="{FF2B5EF4-FFF2-40B4-BE49-F238E27FC236}">
                <a16:creationId xmlns:a16="http://schemas.microsoft.com/office/drawing/2014/main" id="{D180079D-DBD1-4F3D-AF2C-B0166C51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870462613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99C1AD-C6A7-4577-BFAB-F3C48FC7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Practical assessment 1</a:t>
            </a:r>
          </a:p>
        </p:txBody>
      </p:sp>
      <p:sp>
        <p:nvSpPr>
          <p:cNvPr id="2" name="title-rule-125-42-119">
            <a:extLst xmlns:a="http://schemas.openxmlformats.org/drawingml/2006/main">
              <a:ext uri="{FF2B5EF4-FFF2-40B4-BE49-F238E27FC236}">
                <a16:creationId xmlns:a16="http://schemas.microsoft.com/office/drawing/2014/main" id="{BE985C65-0FF6-490B-950B-94FB8A66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7F8D9410-DB0E-4961-8731-48BFC546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80325A8-6345-43EC-884D-AE9BF597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125</a:t>
            </a:r>
          </a:p>
        </p:txBody>
      </p:sp>
      <p:sp>
        <p:nvSpPr>
          <p:cNvPr id="5" name="text-125-52-160">
            <a:extLst xmlns:a="http://schemas.openxmlformats.org/drawingml/2006/main">
              <a:ext uri="{FF2B5EF4-FFF2-40B4-BE49-F238E27FC236}">
                <a16:creationId xmlns:a16="http://schemas.microsoft.com/office/drawing/2014/main" id="{0421C7EF-A2FB-47D4-BCCF-78F55762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Broken system</a:t>
            </a:r>
          </a:p>
        </p:txBody>
      </p:sp>
      <p:sp>
        <p:nvSpPr>
          <p:cNvPr id="6" name="text-125-52-220">
            <a:extLst xmlns:a="http://schemas.openxmlformats.org/drawingml/2006/main">
              <a:ext uri="{FF2B5EF4-FFF2-40B4-BE49-F238E27FC236}">
                <a16:creationId xmlns:a16="http://schemas.microsoft.com/office/drawing/2014/main" id="{F096E3DF-6829-4E89-A04D-80D04CA7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49530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Serving skips Arabic normalisation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NER is scored at subword level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Query vectors are unnormalised</a:t>
            </a:r>
          </a:p>
        </p:txBody>
      </p:sp>
      <p:sp>
        <p:nvSpPr>
          <p:cNvPr id="7" name="column-rule-125-620-158">
            <a:extLst xmlns:a="http://schemas.openxmlformats.org/drawingml/2006/main">
              <a:ext uri="{FF2B5EF4-FFF2-40B4-BE49-F238E27FC236}">
                <a16:creationId xmlns:a16="http://schemas.microsoft.com/office/drawing/2014/main" id="{316FC209-8A90-404C-894E-3D4658CA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049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25-668-160">
            <a:extLst xmlns:a="http://schemas.openxmlformats.org/drawingml/2006/main">
              <a:ext uri="{FF2B5EF4-FFF2-40B4-BE49-F238E27FC236}">
                <a16:creationId xmlns:a16="http://schemas.microsoft.com/office/drawing/2014/main" id="{B0C867B8-1F51-44B9-A316-5845023B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24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Evidence expected</a:t>
            </a:r>
          </a:p>
        </p:txBody>
      </p:sp>
      <p:sp>
        <p:nvSpPr>
          <p:cNvPr id="9" name="text-125-668-220">
            <a:extLst xmlns:a="http://schemas.openxmlformats.org/drawingml/2006/main">
              <a:ext uri="{FF2B5EF4-FFF2-40B4-BE49-F238E27FC236}">
                <a16:creationId xmlns:a16="http://schemas.microsoft.com/office/drawing/2014/main" id="{3B463C2C-72B8-440E-B45B-5C19DD28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9530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Green canaries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Corrected metrics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Short diagnosis per defect</a:t>
            </a:r>
          </a:p>
        </p:txBody>
      </p:sp>
    </p:spTree>
    <p:extLst>
      <p:ext uri="{BB962C8B-B14F-4D97-AF65-F5344CB8AC3E}">
        <p14:creationId xmlns:p14="http://schemas.microsoft.com/office/powerpoint/2010/main" val="988196116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11063-EDB2-4ADF-9610-077CB217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Practical assessment 2</a:t>
            </a:r>
          </a:p>
        </p:txBody>
      </p:sp>
      <p:sp>
        <p:nvSpPr>
          <p:cNvPr id="2" name="title-rule-126-42-119">
            <a:extLst xmlns:a="http://schemas.openxmlformats.org/drawingml/2006/main">
              <a:ext uri="{FF2B5EF4-FFF2-40B4-BE49-F238E27FC236}">
                <a16:creationId xmlns:a16="http://schemas.microsoft.com/office/drawing/2014/main" id="{E5C79E7C-03B6-4634-A346-06F9ABC9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BA81BFB6-5CDC-448F-9F17-1444ED2B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C5AF8D4-6E69-488D-B62E-F5BA6315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126</a:t>
            </a:r>
          </a:p>
        </p:txBody>
      </p:sp>
      <p:sp>
        <p:nvSpPr>
          <p:cNvPr id="5" name="text-126-52-160">
            <a:extLst xmlns:a="http://schemas.openxmlformats.org/drawingml/2006/main">
              <a:ext uri="{FF2B5EF4-FFF2-40B4-BE49-F238E27FC236}">
                <a16:creationId xmlns:a16="http://schemas.microsoft.com/office/drawing/2014/main" id="{CA47E5B7-AF08-4E79-BD42-9CBCFF3F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Rival report</a:t>
            </a:r>
          </a:p>
        </p:txBody>
      </p:sp>
      <p:sp>
        <p:nvSpPr>
          <p:cNvPr id="6" name="text-126-52-220">
            <a:extLst xmlns:a="http://schemas.openxmlformats.org/drawingml/2006/main">
              <a:ext uri="{FF2B5EF4-FFF2-40B4-BE49-F238E27FC236}">
                <a16:creationId xmlns:a16="http://schemas.microsoft.com/office/drawing/2014/main" id="{959E3E1A-6B28-4AF8-ADCA-D20EB98D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49530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Aggregate-only claims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No confidence intervals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Visible test-set tuning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Behavioural regression buried</a:t>
            </a:r>
          </a:p>
        </p:txBody>
      </p:sp>
      <p:sp>
        <p:nvSpPr>
          <p:cNvPr id="7" name="column-rule-126-620-158">
            <a:extLst xmlns:a="http://schemas.openxmlformats.org/drawingml/2006/main">
              <a:ext uri="{FF2B5EF4-FFF2-40B4-BE49-F238E27FC236}">
                <a16:creationId xmlns:a16="http://schemas.microsoft.com/office/drawing/2014/main" id="{DFDD69A0-34F0-4EB9-AE66-D1F7CC67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049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26-668-160">
            <a:extLst xmlns:a="http://schemas.openxmlformats.org/drawingml/2006/main">
              <a:ext uri="{FF2B5EF4-FFF2-40B4-BE49-F238E27FC236}">
                <a16:creationId xmlns:a16="http://schemas.microsoft.com/office/drawing/2014/main" id="{65A6F897-CE7F-4145-8071-FF8E79C8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24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Review verdict</a:t>
            </a:r>
          </a:p>
        </p:txBody>
      </p:sp>
      <p:sp>
        <p:nvSpPr>
          <p:cNvPr id="9" name="text-126-668-220">
            <a:extLst xmlns:a="http://schemas.openxmlformats.org/drawingml/2006/main">
              <a:ext uri="{FF2B5EF4-FFF2-40B4-BE49-F238E27FC236}">
                <a16:creationId xmlns:a16="http://schemas.microsoft.com/office/drawing/2014/main" id="{C2952AD3-7073-457B-915D-57D083B7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9530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What may ship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What must change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What needs measurement</a:t>
            </a:r>
          </a:p>
        </p:txBody>
      </p:sp>
    </p:spTree>
    <p:extLst>
      <p:ext uri="{BB962C8B-B14F-4D97-AF65-F5344CB8AC3E}">
        <p14:creationId xmlns:p14="http://schemas.microsoft.com/office/powerpoint/2010/main" val="1916722421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204860-DC68-4433-85BA-19E2237B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Badge and completion rules</a:t>
            </a:r>
          </a:p>
        </p:txBody>
      </p:sp>
      <p:sp>
        <p:nvSpPr>
          <p:cNvPr id="2" name="title-rule-127-42-119">
            <a:extLst xmlns:a="http://schemas.openxmlformats.org/drawingml/2006/main">
              <a:ext uri="{FF2B5EF4-FFF2-40B4-BE49-F238E27FC236}">
                <a16:creationId xmlns:a16="http://schemas.microsoft.com/office/drawing/2014/main" id="{79D9CD0C-5745-47AA-9D39-ED64A067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48C33F21-3B4E-4FBB-BA45-3969C6C0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4A3B452-11C2-47CC-A287-0E903F4B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127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524000"/>
          <a:ext xmlns:a="http://schemas.openxmlformats.org/drawingml/2006/main" cx="11391900" cy="4333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953000"/>
                <a:gridCol w="6438900"/>
              </a:tblGrid>
              <a:tr h="722313">
                <a:tc>
                  <a:txBody>
                    <a:bodyPr/>
                    <a:lstStyle/>
                    <a:p>
                      <a:r>
                        <a:rPr sz="1275" b="1"/>
                        <a:t>Rule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/>
                        <a:t>Threshold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275"/>
                        <a:t>Overall score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≥ 70</a:t>
                      </a:r>
                    </a:p>
                  </a:txBody>
                  <a:tcPr marL="91440" marR="91440" marT="45720" marB="45720"/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275"/>
                        <a:t>Capstone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≥ 70</a:t>
                      </a:r>
                    </a:p>
                  </a:txBody>
                  <a:tcPr marL="91440" marR="91440" marT="45720" marB="45720"/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275"/>
                        <a:t>Academic integrity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Zero flags</a:t>
                      </a:r>
                    </a:p>
                  </a:txBody>
                  <a:tcPr marL="91440" marR="91440" marT="45720" marB="45720"/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275"/>
                        <a:t>Distinction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≥ 90; bonus capped at 100</a:t>
                      </a:r>
                    </a:p>
                  </a:txBody>
                  <a:tcPr marL="91440" marR="91440" marT="45720" marB="45720"/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275"/>
                        <a:t>Evidence collection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Repository URLs + reports due Day 4 H4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605624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28-42-42">
            <a:extLst xmlns:a="http://schemas.openxmlformats.org/drawingml/2006/main">
              <a:ext uri="{FF2B5EF4-FFF2-40B4-BE49-F238E27FC236}">
                <a16:creationId xmlns:a16="http://schemas.microsoft.com/office/drawing/2014/main" id="{103E00B6-F4B9-4140-837B-24A97DDB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INSTRUCTOR GUIDE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7731E378-CFF7-44EA-88A1-8F5FB438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B2239"/>
                </a:solidFill>
              </a:defRPr>
            </a:pPr>
            <a:r>
              <a:rPr sz="5850" b="1" i="0">
                <a:solidFill>
                  <a:srgbClr val="0B2239"/>
                </a:solidFill>
              </a:rPr>
              <a:t>Prepare the environment before the cohort arrives</a:t>
            </a:r>
          </a:p>
        </p:txBody>
      </p:sp>
      <p:sp>
        <p:nvSpPr>
          <p:cNvPr id="3" name="accent-rule-128-42-545">
            <a:extLst xmlns:a="http://schemas.openxmlformats.org/drawingml/2006/main">
              <a:ext uri="{FF2B5EF4-FFF2-40B4-BE49-F238E27FC236}">
                <a16:creationId xmlns:a16="http://schemas.microsoft.com/office/drawing/2014/main" id="{4F9F4BAA-6982-44F9-9E1F-14834F03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28-42-575">
            <a:extLst xmlns:a="http://schemas.openxmlformats.org/drawingml/2006/main">
              <a:ext uri="{FF2B5EF4-FFF2-40B4-BE49-F238E27FC236}">
                <a16:creationId xmlns:a16="http://schemas.microsoft.com/office/drawing/2014/main" id="{F6EC815A-C812-4A8D-B701-659061CE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26273"/>
                </a:solidFill>
              </a:defRPr>
            </a:pPr>
            <a:r>
              <a:rPr sz="1800" b="0" i="0">
                <a:solidFill>
                  <a:srgbClr val="526273"/>
                </a:solidFill>
              </a:rPr>
              <a:t>Protect lab time by pre-downloading checkpoints, validating both GPU and CPU routes, and publishing checkpoint branches.</a:t>
            </a:r>
          </a:p>
        </p:txBody>
      </p:sp>
      <p:sp>
        <p:nvSpPr>
          <p:cNvPr id="5" name="text-128-1180-676">
            <a:extLst xmlns:a="http://schemas.openxmlformats.org/drawingml/2006/main">
              <a:ext uri="{FF2B5EF4-FFF2-40B4-BE49-F238E27FC236}">
                <a16:creationId xmlns:a16="http://schemas.microsoft.com/office/drawing/2014/main" id="{AC080D38-4A95-483E-BFBE-2DBDB012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138262493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B12567-D12C-45D7-BF28-3DB9628C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T-minus one week</a:t>
            </a:r>
          </a:p>
        </p:txBody>
      </p:sp>
      <p:sp>
        <p:nvSpPr>
          <p:cNvPr id="2" name="title-rule-129-42-119">
            <a:extLst xmlns:a="http://schemas.openxmlformats.org/drawingml/2006/main">
              <a:ext uri="{FF2B5EF4-FFF2-40B4-BE49-F238E27FC236}">
                <a16:creationId xmlns:a16="http://schemas.microsoft.com/office/drawing/2014/main" id="{EB6A6B20-87CF-44EE-88FA-F2FEA132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BA454B2A-9B90-4AF9-831B-513C1CE5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Instructor guide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A21EEF1-5A4C-41C6-AE06-11CD56F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129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C0D38754-10C0-4864-AC8E-A26099C3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Regenerate cohort-seeded data and reference benchmarks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Dry-run all seven labs on GPU and CPU fallback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Pre-install CAMeL Tools data and cache every checkpoint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Publish lab start/solution branches and simulation branches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Prepare the fertility, architecture, slice, and optimisation posters</a:t>
            </a:r>
          </a:p>
        </p:txBody>
      </p:sp>
      <p:sp>
        <p:nvSpPr>
          <p:cNvPr id="6" name="callout-panel-129-835-175">
            <a:extLst xmlns:a="http://schemas.openxmlformats.org/drawingml/2006/main">
              <a:ext uri="{FF2B5EF4-FFF2-40B4-BE49-F238E27FC236}">
                <a16:creationId xmlns:a16="http://schemas.microsoft.com/office/drawing/2014/main" id="{FFB5C0AB-1E5A-47C6-82A4-C1BA5DEE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29-865-205">
            <a:extLst xmlns:a="http://schemas.openxmlformats.org/drawingml/2006/main">
              <a:ext uri="{FF2B5EF4-FFF2-40B4-BE49-F238E27FC236}">
                <a16:creationId xmlns:a16="http://schemas.microsoft.com/office/drawing/2014/main" id="{C524C6E4-72A1-4268-AAAF-4B012FB3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HARD RULE</a:t>
            </a:r>
          </a:p>
        </p:txBody>
      </p:sp>
      <p:sp>
        <p:nvSpPr>
          <p:cNvPr id="8" name="text-129-865-260">
            <a:extLst xmlns:a="http://schemas.openxmlformats.org/drawingml/2006/main">
              <a:ext uri="{FF2B5EF4-FFF2-40B4-BE49-F238E27FC236}">
                <a16:creationId xmlns:a16="http://schemas.microsoft.com/office/drawing/2014/main" id="{CD3AB65F-5D60-4C3C-A42F-40305FCB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2239"/>
                </a:solidFill>
              </a:defRPr>
            </a:pPr>
            <a:r>
              <a:rPr sz="2625" b="1" i="0">
                <a:solidFill>
                  <a:srgbClr val="0B2239"/>
                </a:solidFill>
              </a:rPr>
              <a:t>Test both routes</a:t>
            </a:r>
          </a:p>
        </p:txBody>
      </p:sp>
      <p:sp>
        <p:nvSpPr>
          <p:cNvPr id="9" name="text-129-865-410">
            <a:extLst xmlns:a="http://schemas.openxmlformats.org/drawingml/2006/main">
              <a:ext uri="{FF2B5EF4-FFF2-40B4-BE49-F238E27FC236}">
                <a16:creationId xmlns:a16="http://schemas.microsoft.com/office/drawing/2014/main" id="{A94C664C-455A-4042-9E86-244616A8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Lab 3 assumes a T4-class GPU per pair; CPU fallback must still complete.</a:t>
            </a:r>
          </a:p>
        </p:txBody>
      </p:sp>
    </p:spTree>
    <p:extLst>
      <p:ext uri="{BB962C8B-B14F-4D97-AF65-F5344CB8AC3E}">
        <p14:creationId xmlns:p14="http://schemas.microsoft.com/office/powerpoint/2010/main" val="67235377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984C81-EAE9-4A91-9A46-34BCFCF2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Participant setup</a:t>
            </a:r>
          </a:p>
        </p:txBody>
      </p:sp>
      <p:sp>
        <p:nvSpPr>
          <p:cNvPr id="2" name="title-rule-130-42-119">
            <a:extLst xmlns:a="http://schemas.openxmlformats.org/drawingml/2006/main">
              <a:ext uri="{FF2B5EF4-FFF2-40B4-BE49-F238E27FC236}">
                <a16:creationId xmlns:a16="http://schemas.microsoft.com/office/drawing/2014/main" id="{A77D5EF5-0165-4C1A-A19E-FBB2E62E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2F4D7AB7-0BE3-431A-82BA-A9D8FEE1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Instructor guide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FA70A40-F41D-4C7E-ADB0-ADE37F14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130</a:t>
            </a:r>
          </a:p>
        </p:txBody>
      </p:sp>
      <p:sp>
        <p:nvSpPr>
          <p:cNvPr id="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61D213BD-AD8B-416A-9967-29AEE738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95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Python 3.12, git, and repository access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Pinned transformers, datasets, sentence-transformers, spaCy, CAMeL Tools, FAISS, optimum, FastAPI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GPU-pool credentials or hosted-notebook fallback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make doctor passes versions, data, cache, and Arabic rendering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0B2239"/>
                </a:solidFill>
              </a:defRPr>
            </a:pPr>
            <a:r>
              <a:rPr sz="1950" b="0" i="0">
                <a:solidFill>
                  <a:srgbClr val="0B2239"/>
                </a:solidFill>
              </a:rPr>
              <a:t>• UTF-8 everywhere; a terminal font that renders Arabic correctly</a:t>
            </a:r>
          </a:p>
        </p:txBody>
      </p:sp>
      <p:sp>
        <p:nvSpPr>
          <p:cNvPr id="6" name="callout-panel-130-835-175">
            <a:extLst xmlns:a="http://schemas.openxmlformats.org/drawingml/2006/main">
              <a:ext uri="{FF2B5EF4-FFF2-40B4-BE49-F238E27FC236}">
                <a16:creationId xmlns:a16="http://schemas.microsoft.com/office/drawing/2014/main" id="{4AA5703C-C3AB-4B65-9583-DDE57B09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57575" cy="3905250"/>
          </a:xfrm>
          <a:prstGeom xmlns:a="http://schemas.openxmlformats.org/drawingml/2006/main" prst="roundRect">
            <a:avLst>
              <a:gd name="adj" fmla="val 11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text-130-865-205">
            <a:extLst xmlns:a="http://schemas.openxmlformats.org/drawingml/2006/main">
              <a:ext uri="{FF2B5EF4-FFF2-40B4-BE49-F238E27FC236}">
                <a16:creationId xmlns:a16="http://schemas.microsoft.com/office/drawing/2014/main" id="{77700F29-31B1-40C7-A55D-C2CA4BD8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6C3"/>
                </a:solidFill>
              </a:defRPr>
            </a:pPr>
            <a:r>
              <a:rPr sz="1200" b="1" i="0">
                <a:solidFill>
                  <a:srgbClr val="0B66C3"/>
                </a:solidFill>
              </a:rPr>
              <a:t>SEND</a:t>
            </a:r>
          </a:p>
        </p:txBody>
      </p:sp>
      <p:sp>
        <p:nvSpPr>
          <p:cNvPr id="8" name="text-130-865-260">
            <a:extLst xmlns:a="http://schemas.openxmlformats.org/drawingml/2006/main">
              <a:ext uri="{FF2B5EF4-FFF2-40B4-BE49-F238E27FC236}">
                <a16:creationId xmlns:a16="http://schemas.microsoft.com/office/drawing/2014/main" id="{4B8A5619-6A1B-4F0F-A9A9-98DB455D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2239"/>
                </a:solidFill>
              </a:defRPr>
            </a:pPr>
            <a:r>
              <a:rPr sz="2850" b="1" i="0">
                <a:solidFill>
                  <a:srgbClr val="0B2239"/>
                </a:solidFill>
              </a:rPr>
              <a:t>T-minus 2 days</a:t>
            </a:r>
          </a:p>
        </p:txBody>
      </p:sp>
      <p:sp>
        <p:nvSpPr>
          <p:cNvPr id="9" name="text-130-865-410">
            <a:extLst xmlns:a="http://schemas.openxmlformats.org/drawingml/2006/main">
              <a:ext uri="{FF2B5EF4-FFF2-40B4-BE49-F238E27FC236}">
                <a16:creationId xmlns:a16="http://schemas.microsoft.com/office/drawing/2014/main" id="{546D8057-7FC7-4547-831B-6E41A81D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273"/>
                </a:solidFill>
              </a:defRPr>
            </a:pPr>
            <a:r>
              <a:rPr sz="1650" b="0" i="0">
                <a:solidFill>
                  <a:srgbClr val="526273"/>
                </a:solidFill>
              </a:rPr>
              <a:t>First-run downloads over classroom Wi-Fi will derail Lab 3.</a:t>
            </a:r>
          </a:p>
        </p:txBody>
      </p:sp>
    </p:spTree>
    <p:extLst>
      <p:ext uri="{BB962C8B-B14F-4D97-AF65-F5344CB8AC3E}">
        <p14:creationId xmlns:p14="http://schemas.microsoft.com/office/powerpoint/2010/main" val="478073120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41285F-5CD0-4718-8A35-381AFA63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Pace control and common recovery routes</a:t>
            </a:r>
          </a:p>
        </p:txBody>
      </p:sp>
      <p:sp>
        <p:nvSpPr>
          <p:cNvPr id="2" name="title-rule-131-42-119">
            <a:extLst xmlns:a="http://schemas.openxmlformats.org/drawingml/2006/main">
              <a:ext uri="{FF2B5EF4-FFF2-40B4-BE49-F238E27FC236}">
                <a16:creationId xmlns:a16="http://schemas.microsoft.com/office/drawing/2014/main" id="{9EF21D20-D6C6-48B8-9EA6-88D0B09D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764102CE-8F4B-4C0E-9232-BB1C473B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Instructor guide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AEE9274-42CC-4210-BC9E-10DB9810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131</a:t>
            </a:r>
          </a:p>
        </p:txBody>
      </p:sp>
      <p:sp>
        <p:nvSpPr>
          <p:cNvPr id="5" name="text-131-52-160">
            <a:extLst xmlns:a="http://schemas.openxmlformats.org/drawingml/2006/main">
              <a:ext uri="{FF2B5EF4-FFF2-40B4-BE49-F238E27FC236}">
                <a16:creationId xmlns:a16="http://schemas.microsoft.com/office/drawing/2014/main" id="{57A918A3-7D7A-4BB7-A605-0C4E3159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Protect</a:t>
            </a:r>
          </a:p>
        </p:txBody>
      </p:sp>
      <p:sp>
        <p:nvSpPr>
          <p:cNvPr id="6" name="text-131-52-220">
            <a:extLst xmlns:a="http://schemas.openxmlformats.org/drawingml/2006/main">
              <a:ext uri="{FF2B5EF4-FFF2-40B4-BE49-F238E27FC236}">
                <a16:creationId xmlns:a16="http://schemas.microsoft.com/office/drawing/2014/main" id="{AB69B3E2-F87B-49A1-AB87-EBAA5991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49530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Labs 3, 4, and Lab 6 human reading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Day 4 capstone start 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Final demo challenge question</a:t>
            </a:r>
          </a:p>
        </p:txBody>
      </p:sp>
      <p:sp>
        <p:nvSpPr>
          <p:cNvPr id="7" name="column-rule-131-620-158">
            <a:extLst xmlns:a="http://schemas.openxmlformats.org/drawingml/2006/main">
              <a:ext uri="{FF2B5EF4-FFF2-40B4-BE49-F238E27FC236}">
                <a16:creationId xmlns:a16="http://schemas.microsoft.com/office/drawing/2014/main" id="{6CF1F9EB-33D1-4911-842D-4C870A40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049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31-668-160">
            <a:extLst xmlns:a="http://schemas.openxmlformats.org/drawingml/2006/main">
              <a:ext uri="{FF2B5EF4-FFF2-40B4-BE49-F238E27FC236}">
                <a16:creationId xmlns:a16="http://schemas.microsoft.com/office/drawing/2014/main" id="{72DB9AC5-159A-42EE-AB07-51B3D916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24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Compress or bypass</a:t>
            </a:r>
          </a:p>
        </p:txBody>
      </p:sp>
      <p:sp>
        <p:nvSpPr>
          <p:cNvPr id="9" name="text-131-668-220">
            <a:extLst xmlns:a="http://schemas.openxmlformats.org/drawingml/2006/main">
              <a:ext uri="{FF2B5EF4-FFF2-40B4-BE49-F238E27FC236}">
                <a16:creationId xmlns:a16="http://schemas.microsoft.com/office/drawing/2014/main" id="{E5CB568B-E1FD-41CF-9592-125ECBB3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9530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M5 index taxonomy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M4 resource tour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Use provided fallback checkpoints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0B2239"/>
                </a:solidFill>
              </a:defRPr>
            </a:pPr>
            <a:r>
              <a:rPr sz="1725" b="0" i="0">
                <a:solidFill>
                  <a:srgbClr val="0B2239"/>
                </a:solidFill>
              </a:rPr>
              <a:t>• Make cross-encoder an instructor demo for weaker cohorts</a:t>
            </a:r>
          </a:p>
        </p:txBody>
      </p:sp>
    </p:spTree>
    <p:extLst>
      <p:ext uri="{BB962C8B-B14F-4D97-AF65-F5344CB8AC3E}">
        <p14:creationId xmlns:p14="http://schemas.microsoft.com/office/powerpoint/2010/main" val="1549547911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32-42-42">
            <a:extLst xmlns:a="http://schemas.openxmlformats.org/drawingml/2006/main">
              <a:ext uri="{FF2B5EF4-FFF2-40B4-BE49-F238E27FC236}">
                <a16:creationId xmlns:a16="http://schemas.microsoft.com/office/drawing/2014/main" id="{47CE037C-31A1-4CBC-AA28-EFAF3800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QUIZ BANK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5A404A1A-169D-4702-BAFE-4F1266EA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B2239"/>
                </a:solidFill>
              </a:defRPr>
            </a:pPr>
            <a:r>
              <a:rPr sz="5850" b="1" i="0">
                <a:solidFill>
                  <a:srgbClr val="0B2239"/>
                </a:solidFill>
              </a:rPr>
              <a:t>Twenty questions for retrieval practice</a:t>
            </a:r>
          </a:p>
        </p:txBody>
      </p:sp>
      <p:sp>
        <p:nvSpPr>
          <p:cNvPr id="3" name="accent-rule-132-42-545">
            <a:extLst xmlns:a="http://schemas.openxmlformats.org/drawingml/2006/main">
              <a:ext uri="{FF2B5EF4-FFF2-40B4-BE49-F238E27FC236}">
                <a16:creationId xmlns:a16="http://schemas.microsoft.com/office/drawing/2014/main" id="{46F5D64B-96A6-41C8-9035-62A7FD0C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32-42-575">
            <a:extLst xmlns:a="http://schemas.openxmlformats.org/drawingml/2006/main">
              <a:ext uri="{FF2B5EF4-FFF2-40B4-BE49-F238E27FC236}">
                <a16:creationId xmlns:a16="http://schemas.microsoft.com/office/drawing/2014/main" id="{D3944215-A331-4F56-988B-2044F31D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26273"/>
                </a:solidFill>
              </a:defRPr>
            </a:pPr>
            <a:r>
              <a:rPr sz="1800" b="0" i="0">
                <a:solidFill>
                  <a:srgbClr val="526273"/>
                </a:solidFill>
              </a:rPr>
              <a:t>Select any ten for a 15-minute closed-book quiz; answers are in the speaker notes.</a:t>
            </a:r>
          </a:p>
        </p:txBody>
      </p:sp>
      <p:sp>
        <p:nvSpPr>
          <p:cNvPr id="5" name="text-132-1180-676">
            <a:extLst xmlns:a="http://schemas.openxmlformats.org/drawingml/2006/main">
              <a:ext uri="{FF2B5EF4-FFF2-40B4-BE49-F238E27FC236}">
                <a16:creationId xmlns:a16="http://schemas.microsoft.com/office/drawing/2014/main" id="{1B96582B-611D-4111-AF11-23B22DB5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132</a:t>
            </a:r>
          </a:p>
        </p:txBody>
      </p:sp>
    </p:spTree>
    <p:extLst>
      <p:ext uri="{BB962C8B-B14F-4D97-AF65-F5344CB8AC3E}">
        <p14:creationId xmlns:p14="http://schemas.microsoft.com/office/powerpoint/2010/main" val="1619681344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8F2BD3-F207-48DF-97A6-02CF366A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Quiz bank — questions 1–2</a:t>
            </a:r>
          </a:p>
        </p:txBody>
      </p:sp>
      <p:sp>
        <p:nvSpPr>
          <p:cNvPr id="2" name="title-rule-133-42-119">
            <a:extLst xmlns:a="http://schemas.openxmlformats.org/drawingml/2006/main">
              <a:ext uri="{FF2B5EF4-FFF2-40B4-BE49-F238E27FC236}">
                <a16:creationId xmlns:a16="http://schemas.microsoft.com/office/drawing/2014/main" id="{ED676C88-A3F1-4A93-9D2E-90E21017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D526A402-36B8-4C06-A3A8-0C77BB9E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Assessment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E03E8F-F0D3-492F-91C3-321FA4F5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133</a:t>
            </a:r>
          </a:p>
        </p:txBody>
      </p:sp>
      <p:sp>
        <p:nvSpPr>
          <p:cNvPr id="5" name="text-133-55-175">
            <a:extLst xmlns:a="http://schemas.openxmlformats.org/drawingml/2006/main">
              <a:ext uri="{FF2B5EF4-FFF2-40B4-BE49-F238E27FC236}">
                <a16:creationId xmlns:a16="http://schemas.microsoft.com/office/drawing/2014/main" id="{0BBF0B3E-4DA2-45DC-AD58-E87A5D81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Q1</a:t>
            </a:r>
          </a:p>
        </p:txBody>
      </p:sp>
      <p:sp>
        <p:nvSpPr>
          <p:cNvPr id="6" name="text-133-145-175">
            <a:extLst xmlns:a="http://schemas.openxmlformats.org/drawingml/2006/main">
              <a:ext uri="{FF2B5EF4-FFF2-40B4-BE49-F238E27FC236}">
                <a16:creationId xmlns:a16="http://schemas.microsoft.com/office/drawing/2014/main" id="{FB0944A7-0E38-4F8E-99A3-ACE5EBDA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239"/>
                </a:solidFill>
              </a:defRPr>
            </a:pPr>
            <a:r>
              <a:rPr sz="2250" b="1" i="0">
                <a:solidFill>
                  <a:srgbClr val="0B2239"/>
                </a:solidFill>
              </a:rPr>
              <a:t>Why must tokenizer and model weights come from the same checkpoint?</a:t>
            </a:r>
          </a:p>
        </p:txBody>
      </p:sp>
      <p:sp>
        <p:nvSpPr>
          <p:cNvPr id="7" name="quiz-rule-133-55-340">
            <a:extLst xmlns:a="http://schemas.openxmlformats.org/drawingml/2006/main">
              <a:ext uri="{FF2B5EF4-FFF2-40B4-BE49-F238E27FC236}">
                <a16:creationId xmlns:a16="http://schemas.microsoft.com/office/drawing/2014/main" id="{20BA695D-CCD7-4E60-9C28-FB96AC0A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33-55-390">
            <a:extLst xmlns:a="http://schemas.openxmlformats.org/drawingml/2006/main">
              <a:ext uri="{FF2B5EF4-FFF2-40B4-BE49-F238E27FC236}">
                <a16:creationId xmlns:a16="http://schemas.microsoft.com/office/drawing/2014/main" id="{523A0994-8ACA-4CA1-9785-0FE66F1E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Q2</a:t>
            </a:r>
          </a:p>
        </p:txBody>
      </p:sp>
      <p:sp>
        <p:nvSpPr>
          <p:cNvPr id="9" name="text-133-145-390">
            <a:extLst xmlns:a="http://schemas.openxmlformats.org/drawingml/2006/main">
              <a:ext uri="{FF2B5EF4-FFF2-40B4-BE49-F238E27FC236}">
                <a16:creationId xmlns:a16="http://schemas.microsoft.com/office/drawing/2014/main" id="{B11CCA4B-BBA5-471A-B64E-5E23BA68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239"/>
                </a:solidFill>
              </a:defRPr>
            </a:pPr>
            <a:r>
              <a:rPr sz="2250" b="1" i="0">
                <a:solidFill>
                  <a:srgbClr val="0B2239"/>
                </a:solidFill>
              </a:rPr>
              <a:t>Fertility is 3.5. Name two operational consequences.</a:t>
            </a:r>
          </a:p>
        </p:txBody>
      </p:sp>
    </p:spTree>
    <p:extLst>
      <p:ext uri="{BB962C8B-B14F-4D97-AF65-F5344CB8AC3E}">
        <p14:creationId xmlns:p14="http://schemas.microsoft.com/office/powerpoint/2010/main" val="7104377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588D1D-BFE0-4B01-938C-9F90C7A7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Quiz bank — questions 3–4</a:t>
            </a:r>
          </a:p>
        </p:txBody>
      </p:sp>
      <p:sp>
        <p:nvSpPr>
          <p:cNvPr id="2" name="title-rule-134-42-119">
            <a:extLst xmlns:a="http://schemas.openxmlformats.org/drawingml/2006/main">
              <a:ext uri="{FF2B5EF4-FFF2-40B4-BE49-F238E27FC236}">
                <a16:creationId xmlns:a16="http://schemas.microsoft.com/office/drawing/2014/main" id="{16696841-1BDA-43C7-B3A3-F393CAB2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BD64387C-7F0C-4E81-B85E-17AC9EC0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Assessment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2F9C24A-BA22-45D1-8FF4-8002C93E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134</a:t>
            </a:r>
          </a:p>
        </p:txBody>
      </p:sp>
      <p:sp>
        <p:nvSpPr>
          <p:cNvPr id="5" name="text-134-55-175">
            <a:extLst xmlns:a="http://schemas.openxmlformats.org/drawingml/2006/main">
              <a:ext uri="{FF2B5EF4-FFF2-40B4-BE49-F238E27FC236}">
                <a16:creationId xmlns:a16="http://schemas.microsoft.com/office/drawing/2014/main" id="{BF92FE79-6BE5-472F-ABCE-0C751775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Q3</a:t>
            </a:r>
          </a:p>
        </p:txBody>
      </p:sp>
      <p:sp>
        <p:nvSpPr>
          <p:cNvPr id="6" name="text-134-145-175">
            <a:extLst xmlns:a="http://schemas.openxmlformats.org/drawingml/2006/main">
              <a:ext uri="{FF2B5EF4-FFF2-40B4-BE49-F238E27FC236}">
                <a16:creationId xmlns:a16="http://schemas.microsoft.com/office/drawing/2014/main" id="{BB61E8CF-313D-4C57-BDE6-0CC9FA60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239"/>
                </a:solidFill>
              </a:defRPr>
            </a:pPr>
            <a:r>
              <a:rPr sz="2250" b="1" i="0">
                <a:solidFill>
                  <a:srgbClr val="0B2239"/>
                </a:solidFill>
              </a:rPr>
              <a:t>Why divide attention scores by √dₖ?</a:t>
            </a:r>
          </a:p>
        </p:txBody>
      </p:sp>
      <p:sp>
        <p:nvSpPr>
          <p:cNvPr id="7" name="quiz-rule-134-55-340">
            <a:extLst xmlns:a="http://schemas.openxmlformats.org/drawingml/2006/main">
              <a:ext uri="{FF2B5EF4-FFF2-40B4-BE49-F238E27FC236}">
                <a16:creationId xmlns:a16="http://schemas.microsoft.com/office/drawing/2014/main" id="{9097802F-1212-49F9-957F-93FC1416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34-55-390">
            <a:extLst xmlns:a="http://schemas.openxmlformats.org/drawingml/2006/main">
              <a:ext uri="{FF2B5EF4-FFF2-40B4-BE49-F238E27FC236}">
                <a16:creationId xmlns:a16="http://schemas.microsoft.com/office/drawing/2014/main" id="{E2A201B5-B28E-49BF-9E44-66FF9974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Q4</a:t>
            </a:r>
          </a:p>
        </p:txBody>
      </p:sp>
      <p:sp>
        <p:nvSpPr>
          <p:cNvPr id="9" name="text-134-145-390">
            <a:extLst xmlns:a="http://schemas.openxmlformats.org/drawingml/2006/main">
              <a:ext uri="{FF2B5EF4-FFF2-40B4-BE49-F238E27FC236}">
                <a16:creationId xmlns:a16="http://schemas.microsoft.com/office/drawing/2014/main" id="{9B51B868-D00E-4357-ABD0-DACB21FE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239"/>
                </a:solidFill>
              </a:defRPr>
            </a:pPr>
            <a:r>
              <a:rPr sz="2250" b="1" i="0">
                <a:solidFill>
                  <a:srgbClr val="0B2239"/>
                </a:solidFill>
              </a:rPr>
              <a:t>What is self-attention's sequence-length complexity and the cheapest mitigation?</a:t>
            </a:r>
          </a:p>
        </p:txBody>
      </p:sp>
    </p:spTree>
    <p:extLst>
      <p:ext uri="{BB962C8B-B14F-4D97-AF65-F5344CB8AC3E}">
        <p14:creationId xmlns:p14="http://schemas.microsoft.com/office/powerpoint/2010/main" val="1075282241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F7E64E-6FF7-44F9-B754-67166162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Quiz bank — questions 5–6</a:t>
            </a:r>
          </a:p>
        </p:txBody>
      </p:sp>
      <p:sp>
        <p:nvSpPr>
          <p:cNvPr id="2" name="title-rule-135-42-119">
            <a:extLst xmlns:a="http://schemas.openxmlformats.org/drawingml/2006/main">
              <a:ext uri="{FF2B5EF4-FFF2-40B4-BE49-F238E27FC236}">
                <a16:creationId xmlns:a16="http://schemas.microsoft.com/office/drawing/2014/main" id="{223A0FD5-5756-4F82-BD25-EDAF5B7D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794533B3-E700-44E3-99D3-6F5D9E7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Assessment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97C8337-778E-45EF-A3AF-D21D8837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135</a:t>
            </a:r>
          </a:p>
        </p:txBody>
      </p:sp>
      <p:sp>
        <p:nvSpPr>
          <p:cNvPr id="5" name="text-135-55-175">
            <a:extLst xmlns:a="http://schemas.openxmlformats.org/drawingml/2006/main">
              <a:ext uri="{FF2B5EF4-FFF2-40B4-BE49-F238E27FC236}">
                <a16:creationId xmlns:a16="http://schemas.microsoft.com/office/drawing/2014/main" id="{BE5E5B84-D7EA-4333-BA9C-16CD33B8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Q5</a:t>
            </a:r>
          </a:p>
        </p:txBody>
      </p:sp>
      <p:sp>
        <p:nvSpPr>
          <p:cNvPr id="6" name="text-135-145-175">
            <a:extLst xmlns:a="http://schemas.openxmlformats.org/drawingml/2006/main">
              <a:ext uri="{FF2B5EF4-FFF2-40B4-BE49-F238E27FC236}">
                <a16:creationId xmlns:a16="http://schemas.microsoft.com/office/drawing/2014/main" id="{28C77D91-F3F9-42F9-88A7-BA56B4FC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239"/>
                </a:solidFill>
              </a:defRPr>
            </a:pPr>
            <a:r>
              <a:rPr sz="2250" b="1" i="0">
                <a:solidFill>
                  <a:srgbClr val="0B2239"/>
                </a:solidFill>
              </a:rPr>
              <a:t>Fixed 12-label routing: encoder or decoder LLM?</a:t>
            </a:r>
          </a:p>
        </p:txBody>
      </p:sp>
      <p:sp>
        <p:nvSpPr>
          <p:cNvPr id="7" name="quiz-rule-135-55-340">
            <a:extLst xmlns:a="http://schemas.openxmlformats.org/drawingml/2006/main">
              <a:ext uri="{FF2B5EF4-FFF2-40B4-BE49-F238E27FC236}">
                <a16:creationId xmlns:a16="http://schemas.microsoft.com/office/drawing/2014/main" id="{D5F87EAD-4D97-424D-93B2-EA89CECF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35-55-390">
            <a:extLst xmlns:a="http://schemas.openxmlformats.org/drawingml/2006/main">
              <a:ext uri="{FF2B5EF4-FFF2-40B4-BE49-F238E27FC236}">
                <a16:creationId xmlns:a16="http://schemas.microsoft.com/office/drawing/2014/main" id="{EBDAD8F4-3845-4BB9-982A-7586E0E9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Q6</a:t>
            </a:r>
          </a:p>
        </p:txBody>
      </p:sp>
      <p:sp>
        <p:nvSpPr>
          <p:cNvPr id="9" name="text-135-145-390">
            <a:extLst xmlns:a="http://schemas.openxmlformats.org/drawingml/2006/main">
              <a:ext uri="{FF2B5EF4-FFF2-40B4-BE49-F238E27FC236}">
                <a16:creationId xmlns:a16="http://schemas.microsoft.com/office/drawing/2014/main" id="{6A8293AA-AF56-4DD1-9CCA-5B53FE6C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239"/>
                </a:solidFill>
              </a:defRPr>
            </a:pPr>
            <a:r>
              <a:rPr sz="2250" b="1" i="0">
                <a:solidFill>
                  <a:srgbClr val="0B2239"/>
                </a:solidFill>
              </a:rPr>
              <a:t>What does -100 do in NER fine-tuning?</a:t>
            </a:r>
          </a:p>
        </p:txBody>
      </p:sp>
    </p:spTree>
    <p:extLst>
      <p:ext uri="{BB962C8B-B14F-4D97-AF65-F5344CB8AC3E}">
        <p14:creationId xmlns:p14="http://schemas.microsoft.com/office/powerpoint/2010/main" val="339191208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611D9D-8412-4FCA-9308-87B7424E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Quiz bank — questions 7–8</a:t>
            </a:r>
          </a:p>
        </p:txBody>
      </p:sp>
      <p:sp>
        <p:nvSpPr>
          <p:cNvPr id="2" name="title-rule-136-42-119">
            <a:extLst xmlns:a="http://schemas.openxmlformats.org/drawingml/2006/main">
              <a:ext uri="{FF2B5EF4-FFF2-40B4-BE49-F238E27FC236}">
                <a16:creationId xmlns:a16="http://schemas.microsoft.com/office/drawing/2014/main" id="{6BB510EE-9F98-4289-878F-F53421B9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53F48AB4-5D82-4C01-A91B-ACADD981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Assessment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9256674-92DC-4E1A-A878-CFB1EDE1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136</a:t>
            </a:r>
          </a:p>
        </p:txBody>
      </p:sp>
      <p:sp>
        <p:nvSpPr>
          <p:cNvPr id="5" name="text-136-55-175">
            <a:extLst xmlns:a="http://schemas.openxmlformats.org/drawingml/2006/main">
              <a:ext uri="{FF2B5EF4-FFF2-40B4-BE49-F238E27FC236}">
                <a16:creationId xmlns:a16="http://schemas.microsoft.com/office/drawing/2014/main" id="{4C40C6A1-C1DD-44F0-9269-CC5D8912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Q7</a:t>
            </a:r>
          </a:p>
        </p:txBody>
      </p:sp>
      <p:sp>
        <p:nvSpPr>
          <p:cNvPr id="6" name="text-136-145-175">
            <a:extLst xmlns:a="http://schemas.openxmlformats.org/drawingml/2006/main">
              <a:ext uri="{FF2B5EF4-FFF2-40B4-BE49-F238E27FC236}">
                <a16:creationId xmlns:a16="http://schemas.microsoft.com/office/drawing/2014/main" id="{E5BE66A1-A529-4885-A3DA-B0F98840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239"/>
                </a:solidFill>
              </a:defRPr>
            </a:pPr>
            <a:r>
              <a:rPr sz="2250" b="1" i="0">
                <a:solidFill>
                  <a:srgbClr val="0B2239"/>
                </a:solidFill>
              </a:rPr>
              <a:t>Why group data splits by citizen_id?</a:t>
            </a:r>
          </a:p>
        </p:txBody>
      </p:sp>
      <p:sp>
        <p:nvSpPr>
          <p:cNvPr id="7" name="quiz-rule-136-55-340">
            <a:extLst xmlns:a="http://schemas.openxmlformats.org/drawingml/2006/main">
              <a:ext uri="{FF2B5EF4-FFF2-40B4-BE49-F238E27FC236}">
                <a16:creationId xmlns:a16="http://schemas.microsoft.com/office/drawing/2014/main" id="{547365A2-CDDA-4226-AD8E-438F6F08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36-55-390">
            <a:extLst xmlns:a="http://schemas.openxmlformats.org/drawingml/2006/main">
              <a:ext uri="{FF2B5EF4-FFF2-40B4-BE49-F238E27FC236}">
                <a16:creationId xmlns:a16="http://schemas.microsoft.com/office/drawing/2014/main" id="{3D17C4A8-8713-4774-9769-D971D4D4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Q8</a:t>
            </a:r>
          </a:p>
        </p:txBody>
      </p:sp>
      <p:sp>
        <p:nvSpPr>
          <p:cNvPr id="9" name="text-136-145-390">
            <a:extLst xmlns:a="http://schemas.openxmlformats.org/drawingml/2006/main">
              <a:ext uri="{FF2B5EF4-FFF2-40B4-BE49-F238E27FC236}">
                <a16:creationId xmlns:a16="http://schemas.microsoft.com/office/drawing/2014/main" id="{D796FB46-A3E9-4A2F-ACC1-86EBE40B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239"/>
                </a:solidFill>
              </a:defRPr>
            </a:pPr>
            <a:r>
              <a:rPr sz="2250" b="1" i="0">
                <a:solidFill>
                  <a:srgbClr val="0B2239"/>
                </a:solidFill>
              </a:rPr>
              <a:t>Why compare the best QA span against a null score?</a:t>
            </a:r>
          </a:p>
        </p:txBody>
      </p:sp>
    </p:spTree>
    <p:extLst>
      <p:ext uri="{BB962C8B-B14F-4D97-AF65-F5344CB8AC3E}">
        <p14:creationId xmlns:p14="http://schemas.microsoft.com/office/powerpoint/2010/main" val="622948577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A3461C-832F-40DE-A37A-2ABB2BB1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Quiz bank — questions 9–10</a:t>
            </a:r>
          </a:p>
        </p:txBody>
      </p:sp>
      <p:sp>
        <p:nvSpPr>
          <p:cNvPr id="2" name="title-rule-137-42-119">
            <a:extLst xmlns:a="http://schemas.openxmlformats.org/drawingml/2006/main">
              <a:ext uri="{FF2B5EF4-FFF2-40B4-BE49-F238E27FC236}">
                <a16:creationId xmlns:a16="http://schemas.microsoft.com/office/drawing/2014/main" id="{598B4388-4840-4D27-BE5B-2FFD6655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9132D867-8089-4F94-8EFC-27B8DB29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Assessment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978305E-A3CF-4E3D-804C-A7416F3E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137</a:t>
            </a:r>
          </a:p>
        </p:txBody>
      </p:sp>
      <p:sp>
        <p:nvSpPr>
          <p:cNvPr id="5" name="text-137-55-175">
            <a:extLst xmlns:a="http://schemas.openxmlformats.org/drawingml/2006/main">
              <a:ext uri="{FF2B5EF4-FFF2-40B4-BE49-F238E27FC236}">
                <a16:creationId xmlns:a16="http://schemas.microsoft.com/office/drawing/2014/main" id="{4755054C-B32A-4625-B58D-140FF283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Q9</a:t>
            </a:r>
          </a:p>
        </p:txBody>
      </p:sp>
      <p:sp>
        <p:nvSpPr>
          <p:cNvPr id="6" name="text-137-145-175">
            <a:extLst xmlns:a="http://schemas.openxmlformats.org/drawingml/2006/main">
              <a:ext uri="{FF2B5EF4-FFF2-40B4-BE49-F238E27FC236}">
                <a16:creationId xmlns:a16="http://schemas.microsoft.com/office/drawing/2014/main" id="{C65558C3-B45A-4CEB-8641-254FDF61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239"/>
                </a:solidFill>
              </a:defRPr>
            </a:pPr>
            <a:r>
              <a:rPr sz="2250" b="1" i="0">
                <a:solidFill>
                  <a:srgbClr val="0B2239"/>
                </a:solidFill>
              </a:rPr>
              <a:t>Name two Arabic normalisations and the governing rule.</a:t>
            </a:r>
          </a:p>
        </p:txBody>
      </p:sp>
      <p:sp>
        <p:nvSpPr>
          <p:cNvPr id="7" name="quiz-rule-137-55-340">
            <a:extLst xmlns:a="http://schemas.openxmlformats.org/drawingml/2006/main">
              <a:ext uri="{FF2B5EF4-FFF2-40B4-BE49-F238E27FC236}">
                <a16:creationId xmlns:a16="http://schemas.microsoft.com/office/drawing/2014/main" id="{19613074-74FB-4E4D-A8B7-CE6A5AA5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37-55-390">
            <a:extLst xmlns:a="http://schemas.openxmlformats.org/drawingml/2006/main">
              <a:ext uri="{FF2B5EF4-FFF2-40B4-BE49-F238E27FC236}">
                <a16:creationId xmlns:a16="http://schemas.microsoft.com/office/drawing/2014/main" id="{A8299280-D173-489E-A7FF-723B10F9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Q10</a:t>
            </a:r>
          </a:p>
        </p:txBody>
      </p:sp>
      <p:sp>
        <p:nvSpPr>
          <p:cNvPr id="9" name="text-137-145-390">
            <a:extLst xmlns:a="http://schemas.openxmlformats.org/drawingml/2006/main">
              <a:ext uri="{FF2B5EF4-FFF2-40B4-BE49-F238E27FC236}">
                <a16:creationId xmlns:a16="http://schemas.microsoft.com/office/drawing/2014/main" id="{B64E5317-287E-46B0-A6C6-C87736B7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239"/>
                </a:solidFill>
              </a:defRPr>
            </a:pPr>
            <a:r>
              <a:rPr sz="2250" b="1" i="0">
                <a:solidFill>
                  <a:srgbClr val="0B2239"/>
                </a:solidFill>
              </a:rPr>
              <a:t>Why did an MSA sentiment model miss dialect crisis messages?</a:t>
            </a:r>
          </a:p>
        </p:txBody>
      </p:sp>
    </p:spTree>
    <p:extLst>
      <p:ext uri="{BB962C8B-B14F-4D97-AF65-F5344CB8AC3E}">
        <p14:creationId xmlns:p14="http://schemas.microsoft.com/office/powerpoint/2010/main" val="473017434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7D46C5-906F-41E1-A4C4-AE1BDEEA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Quiz bank — questions 11–12</a:t>
            </a:r>
          </a:p>
        </p:txBody>
      </p:sp>
      <p:sp>
        <p:nvSpPr>
          <p:cNvPr id="2" name="title-rule-138-42-119">
            <a:extLst xmlns:a="http://schemas.openxmlformats.org/drawingml/2006/main">
              <a:ext uri="{FF2B5EF4-FFF2-40B4-BE49-F238E27FC236}">
                <a16:creationId xmlns:a16="http://schemas.microsoft.com/office/drawing/2014/main" id="{3738B981-0953-437F-B27D-D5577C8E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869F3993-FDA1-4294-AE50-CABAF2F5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Assessment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F00D3C2-8243-4153-8401-49CA93C3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138</a:t>
            </a:r>
          </a:p>
        </p:txBody>
      </p:sp>
      <p:sp>
        <p:nvSpPr>
          <p:cNvPr id="5" name="text-138-55-175">
            <a:extLst xmlns:a="http://schemas.openxmlformats.org/drawingml/2006/main">
              <a:ext uri="{FF2B5EF4-FFF2-40B4-BE49-F238E27FC236}">
                <a16:creationId xmlns:a16="http://schemas.microsoft.com/office/drawing/2014/main" id="{E29F0024-04DC-499E-9716-ACF510A5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Q11</a:t>
            </a:r>
          </a:p>
        </p:txBody>
      </p:sp>
      <p:sp>
        <p:nvSpPr>
          <p:cNvPr id="6" name="text-138-145-175">
            <a:extLst xmlns:a="http://schemas.openxmlformats.org/drawingml/2006/main">
              <a:ext uri="{FF2B5EF4-FFF2-40B4-BE49-F238E27FC236}">
                <a16:creationId xmlns:a16="http://schemas.microsoft.com/office/drawing/2014/main" id="{296590D7-A1BD-4D0A-B22A-474E71D5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239"/>
                </a:solidFill>
              </a:defRPr>
            </a:pPr>
            <a:r>
              <a:rPr sz="2250" b="1" i="0">
                <a:solidFill>
                  <a:srgbClr val="0B2239"/>
                </a:solidFill>
              </a:rPr>
              <a:t>What does d3tok-style clitic segmentation fix for NER?</a:t>
            </a:r>
          </a:p>
        </p:txBody>
      </p:sp>
      <p:sp>
        <p:nvSpPr>
          <p:cNvPr id="7" name="quiz-rule-138-55-340">
            <a:extLst xmlns:a="http://schemas.openxmlformats.org/drawingml/2006/main">
              <a:ext uri="{FF2B5EF4-FFF2-40B4-BE49-F238E27FC236}">
                <a16:creationId xmlns:a16="http://schemas.microsoft.com/office/drawing/2014/main" id="{D817DF4A-61C2-4248-8A03-3002E950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38-55-390">
            <a:extLst xmlns:a="http://schemas.openxmlformats.org/drawingml/2006/main">
              <a:ext uri="{FF2B5EF4-FFF2-40B4-BE49-F238E27FC236}">
                <a16:creationId xmlns:a16="http://schemas.microsoft.com/office/drawing/2014/main" id="{584008F0-1831-4A31-90CF-F4EF3C2B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Q12</a:t>
            </a:r>
          </a:p>
        </p:txBody>
      </p:sp>
      <p:sp>
        <p:nvSpPr>
          <p:cNvPr id="9" name="text-138-145-390">
            <a:extLst xmlns:a="http://schemas.openxmlformats.org/drawingml/2006/main">
              <a:ext uri="{FF2B5EF4-FFF2-40B4-BE49-F238E27FC236}">
                <a16:creationId xmlns:a16="http://schemas.microsoft.com/office/drawing/2014/main" id="{BB33B710-4115-4228-A631-121F0326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239"/>
                </a:solidFill>
              </a:defRPr>
            </a:pPr>
            <a:r>
              <a:rPr sz="2250" b="1" i="0">
                <a:solidFill>
                  <a:srgbClr val="0B2239"/>
                </a:solidFill>
              </a:rPr>
              <a:t>Why is raw [CLS] poor for semantic similarity?</a:t>
            </a:r>
          </a:p>
        </p:txBody>
      </p:sp>
    </p:spTree>
    <p:extLst>
      <p:ext uri="{BB962C8B-B14F-4D97-AF65-F5344CB8AC3E}">
        <p14:creationId xmlns:p14="http://schemas.microsoft.com/office/powerpoint/2010/main" val="1164519416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31B7A8-0CAF-4A3D-98F2-F2E88086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Quiz bank — questions 13–14</a:t>
            </a:r>
          </a:p>
        </p:txBody>
      </p:sp>
      <p:sp>
        <p:nvSpPr>
          <p:cNvPr id="2" name="title-rule-139-42-119">
            <a:extLst xmlns:a="http://schemas.openxmlformats.org/drawingml/2006/main">
              <a:ext uri="{FF2B5EF4-FFF2-40B4-BE49-F238E27FC236}">
                <a16:creationId xmlns:a16="http://schemas.microsoft.com/office/drawing/2014/main" id="{E10E8DF6-B898-4E0A-A1BF-6B6A9D93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2F7B6B48-69BD-4E98-969D-6ADFDD04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Assessment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D80A25D-7C70-4C6B-A2ED-57AEC2F6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139</a:t>
            </a:r>
          </a:p>
        </p:txBody>
      </p:sp>
      <p:sp>
        <p:nvSpPr>
          <p:cNvPr id="5" name="text-139-55-175">
            <a:extLst xmlns:a="http://schemas.openxmlformats.org/drawingml/2006/main">
              <a:ext uri="{FF2B5EF4-FFF2-40B4-BE49-F238E27FC236}">
                <a16:creationId xmlns:a16="http://schemas.microsoft.com/office/drawing/2014/main" id="{7DC695FE-8AF6-4A2F-BC97-A8163726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Q13</a:t>
            </a:r>
          </a:p>
        </p:txBody>
      </p:sp>
      <p:sp>
        <p:nvSpPr>
          <p:cNvPr id="6" name="text-139-145-175">
            <a:extLst xmlns:a="http://schemas.openxmlformats.org/drawingml/2006/main">
              <a:ext uri="{FF2B5EF4-FFF2-40B4-BE49-F238E27FC236}">
                <a16:creationId xmlns:a16="http://schemas.microsoft.com/office/drawing/2014/main" id="{3D5253C2-FCD2-44CB-B145-8F240E5F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239"/>
                </a:solidFill>
              </a:defRPr>
            </a:pPr>
            <a:r>
              <a:rPr sz="2250" b="1" i="0">
                <a:solidFill>
                  <a:srgbClr val="0B2239"/>
                </a:solidFill>
              </a:rPr>
              <a:t>What breaks if only the index side is L2-normalised?</a:t>
            </a:r>
          </a:p>
        </p:txBody>
      </p:sp>
      <p:sp>
        <p:nvSpPr>
          <p:cNvPr id="7" name="quiz-rule-139-55-340">
            <a:extLst xmlns:a="http://schemas.openxmlformats.org/drawingml/2006/main">
              <a:ext uri="{FF2B5EF4-FFF2-40B4-BE49-F238E27FC236}">
                <a16:creationId xmlns:a16="http://schemas.microsoft.com/office/drawing/2014/main" id="{BDB78129-22B5-41B5-ADC7-D65211EB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39-55-390">
            <a:extLst xmlns:a="http://schemas.openxmlformats.org/drawingml/2006/main">
              <a:ext uri="{FF2B5EF4-FFF2-40B4-BE49-F238E27FC236}">
                <a16:creationId xmlns:a16="http://schemas.microsoft.com/office/drawing/2014/main" id="{10AF138C-A0A4-4A72-AACF-AF9D455D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Q14</a:t>
            </a:r>
          </a:p>
        </p:txBody>
      </p:sp>
      <p:sp>
        <p:nvSpPr>
          <p:cNvPr id="9" name="text-139-145-390">
            <a:extLst xmlns:a="http://schemas.openxmlformats.org/drawingml/2006/main">
              <a:ext uri="{FF2B5EF4-FFF2-40B4-BE49-F238E27FC236}">
                <a16:creationId xmlns:a16="http://schemas.microsoft.com/office/drawing/2014/main" id="{33642CC0-876B-41E7-B5BB-743FA868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239"/>
                </a:solidFill>
              </a:defRPr>
            </a:pPr>
            <a:r>
              <a:rPr sz="2250" b="1" i="0">
                <a:solidFill>
                  <a:srgbClr val="0B2239"/>
                </a:solidFill>
              </a:rPr>
              <a:t>Why retrieve and then re-rank?</a:t>
            </a:r>
          </a:p>
        </p:txBody>
      </p:sp>
    </p:spTree>
    <p:extLst>
      <p:ext uri="{BB962C8B-B14F-4D97-AF65-F5344CB8AC3E}">
        <p14:creationId xmlns:p14="http://schemas.microsoft.com/office/powerpoint/2010/main" val="1895842383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362547-E602-453A-90F8-86E72B32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Quiz bank — questions 15–16</a:t>
            </a:r>
          </a:p>
        </p:txBody>
      </p:sp>
      <p:sp>
        <p:nvSpPr>
          <p:cNvPr id="2" name="title-rule-140-42-119">
            <a:extLst xmlns:a="http://schemas.openxmlformats.org/drawingml/2006/main">
              <a:ext uri="{FF2B5EF4-FFF2-40B4-BE49-F238E27FC236}">
                <a16:creationId xmlns:a16="http://schemas.microsoft.com/office/drawing/2014/main" id="{DF65EE6D-BA31-40F9-A231-0E186C64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E1BF4376-FCB8-492F-9036-20ED94DB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Assessment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897275F-1DE4-436B-A2D7-96ED4C27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140</a:t>
            </a:r>
          </a:p>
        </p:txBody>
      </p:sp>
      <p:sp>
        <p:nvSpPr>
          <p:cNvPr id="5" name="text-140-55-175">
            <a:extLst xmlns:a="http://schemas.openxmlformats.org/drawingml/2006/main">
              <a:ext uri="{FF2B5EF4-FFF2-40B4-BE49-F238E27FC236}">
                <a16:creationId xmlns:a16="http://schemas.microsoft.com/office/drawing/2014/main" id="{E7441FFA-D489-4505-BF0A-CB406D84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Q15</a:t>
            </a:r>
          </a:p>
        </p:txBody>
      </p:sp>
      <p:sp>
        <p:nvSpPr>
          <p:cNvPr id="6" name="text-140-145-175">
            <a:extLst xmlns:a="http://schemas.openxmlformats.org/drawingml/2006/main">
              <a:ext uri="{FF2B5EF4-FFF2-40B4-BE49-F238E27FC236}">
                <a16:creationId xmlns:a16="http://schemas.microsoft.com/office/drawing/2014/main" id="{5D8A433B-7725-4FC9-9281-BCE95160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239"/>
                </a:solidFill>
              </a:defRPr>
            </a:pPr>
            <a:r>
              <a:rPr sz="2250" b="1" i="0">
                <a:solidFill>
                  <a:srgbClr val="0B2239"/>
                </a:solidFill>
              </a:rPr>
              <a:t>When does ANN beat IndexFlatIP—and what must be measured?</a:t>
            </a:r>
          </a:p>
        </p:txBody>
      </p:sp>
      <p:sp>
        <p:nvSpPr>
          <p:cNvPr id="7" name="quiz-rule-140-55-340">
            <a:extLst xmlns:a="http://schemas.openxmlformats.org/drawingml/2006/main">
              <a:ext uri="{FF2B5EF4-FFF2-40B4-BE49-F238E27FC236}">
                <a16:creationId xmlns:a16="http://schemas.microsoft.com/office/drawing/2014/main" id="{16A1AD68-8B60-40BC-BD1A-8CB0C53F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40-55-390">
            <a:extLst xmlns:a="http://schemas.openxmlformats.org/drawingml/2006/main">
              <a:ext uri="{FF2B5EF4-FFF2-40B4-BE49-F238E27FC236}">
                <a16:creationId xmlns:a16="http://schemas.microsoft.com/office/drawing/2014/main" id="{65EC65C0-542D-4C7D-8CC4-CC3CEBD6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Q16</a:t>
            </a:r>
          </a:p>
        </p:txBody>
      </p:sp>
      <p:sp>
        <p:nvSpPr>
          <p:cNvPr id="9" name="text-140-145-390">
            <a:extLst xmlns:a="http://schemas.openxmlformats.org/drawingml/2006/main">
              <a:ext uri="{FF2B5EF4-FFF2-40B4-BE49-F238E27FC236}">
                <a16:creationId xmlns:a16="http://schemas.microsoft.com/office/drawing/2014/main" id="{5B0327EC-A20B-44C6-869E-3143AE7C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239"/>
                </a:solidFill>
              </a:defRPr>
            </a:pPr>
            <a:r>
              <a:rPr sz="2250" b="1" i="0">
                <a:solidFill>
                  <a:srgbClr val="0B2239"/>
                </a:solidFill>
              </a:rPr>
              <a:t>What two checks make a +0.8 F1 claim believable?</a:t>
            </a:r>
          </a:p>
        </p:txBody>
      </p:sp>
    </p:spTree>
    <p:extLst>
      <p:ext uri="{BB962C8B-B14F-4D97-AF65-F5344CB8AC3E}">
        <p14:creationId xmlns:p14="http://schemas.microsoft.com/office/powerpoint/2010/main" val="116225380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171B8E-3DCB-48A2-961A-9F404D62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Quiz bank — questions 17–18</a:t>
            </a:r>
          </a:p>
        </p:txBody>
      </p:sp>
      <p:sp>
        <p:nvSpPr>
          <p:cNvPr id="2" name="title-rule-141-42-119">
            <a:extLst xmlns:a="http://schemas.openxmlformats.org/drawingml/2006/main">
              <a:ext uri="{FF2B5EF4-FFF2-40B4-BE49-F238E27FC236}">
                <a16:creationId xmlns:a16="http://schemas.microsoft.com/office/drawing/2014/main" id="{A61AF5D4-B9E1-4F24-A9C0-AB48B488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B3441F6-3CA3-4180-A4BB-68AE473A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Assessment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959AC12-EE75-4ACA-808D-7AA7D41E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141</a:t>
            </a:r>
          </a:p>
        </p:txBody>
      </p:sp>
      <p:sp>
        <p:nvSpPr>
          <p:cNvPr id="5" name="text-141-55-175">
            <a:extLst xmlns:a="http://schemas.openxmlformats.org/drawingml/2006/main">
              <a:ext uri="{FF2B5EF4-FFF2-40B4-BE49-F238E27FC236}">
                <a16:creationId xmlns:a16="http://schemas.microsoft.com/office/drawing/2014/main" id="{4DEB2CF2-F0A4-47CC-98E3-6413FD81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Q17</a:t>
            </a:r>
          </a:p>
        </p:txBody>
      </p:sp>
      <p:sp>
        <p:nvSpPr>
          <p:cNvPr id="6" name="text-141-145-175">
            <a:extLst xmlns:a="http://schemas.openxmlformats.org/drawingml/2006/main">
              <a:ext uri="{FF2B5EF4-FFF2-40B4-BE49-F238E27FC236}">
                <a16:creationId xmlns:a16="http://schemas.microsoft.com/office/drawing/2014/main" id="{6495219D-B831-4536-8715-AC97DBE1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239"/>
                </a:solidFill>
              </a:defRPr>
            </a:pPr>
            <a:r>
              <a:rPr sz="2250" b="1" i="0">
                <a:solidFill>
                  <a:srgbClr val="0B2239"/>
                </a:solidFill>
              </a:rPr>
              <a:t>Give one invariance and one directional behavioural test.</a:t>
            </a:r>
          </a:p>
        </p:txBody>
      </p:sp>
      <p:sp>
        <p:nvSpPr>
          <p:cNvPr id="7" name="quiz-rule-141-55-340">
            <a:extLst xmlns:a="http://schemas.openxmlformats.org/drawingml/2006/main">
              <a:ext uri="{FF2B5EF4-FFF2-40B4-BE49-F238E27FC236}">
                <a16:creationId xmlns:a16="http://schemas.microsoft.com/office/drawing/2014/main" id="{DA65D03C-0DBA-4076-94F7-D6A95E05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41-55-390">
            <a:extLst xmlns:a="http://schemas.openxmlformats.org/drawingml/2006/main">
              <a:ext uri="{FF2B5EF4-FFF2-40B4-BE49-F238E27FC236}">
                <a16:creationId xmlns:a16="http://schemas.microsoft.com/office/drawing/2014/main" id="{1C16DEB1-6B0D-4448-BDDC-89312927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Q18</a:t>
            </a:r>
          </a:p>
        </p:txBody>
      </p:sp>
      <p:sp>
        <p:nvSpPr>
          <p:cNvPr id="9" name="text-141-145-390">
            <a:extLst xmlns:a="http://schemas.openxmlformats.org/drawingml/2006/main">
              <a:ext uri="{FF2B5EF4-FFF2-40B4-BE49-F238E27FC236}">
                <a16:creationId xmlns:a16="http://schemas.microsoft.com/office/drawing/2014/main" id="{76954660-5EE1-4E91-87A3-9DB91441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239"/>
                </a:solidFill>
              </a:defRPr>
            </a:pPr>
            <a:r>
              <a:rPr sz="2250" b="1" i="0">
                <a:solidFill>
                  <a:srgbClr val="0B2239"/>
                </a:solidFill>
              </a:rPr>
              <a:t>Why must error analysis avoid the frozen test set?</a:t>
            </a:r>
          </a:p>
        </p:txBody>
      </p:sp>
    </p:spTree>
    <p:extLst>
      <p:ext uri="{BB962C8B-B14F-4D97-AF65-F5344CB8AC3E}">
        <p14:creationId xmlns:p14="http://schemas.microsoft.com/office/powerpoint/2010/main" val="1161559397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79692D-18FA-47DE-AC11-048DC641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Quiz bank — questions 19–20</a:t>
            </a:r>
          </a:p>
        </p:txBody>
      </p:sp>
      <p:sp>
        <p:nvSpPr>
          <p:cNvPr id="2" name="title-rule-142-42-119">
            <a:extLst xmlns:a="http://schemas.openxmlformats.org/drawingml/2006/main">
              <a:ext uri="{FF2B5EF4-FFF2-40B4-BE49-F238E27FC236}">
                <a16:creationId xmlns:a16="http://schemas.microsoft.com/office/drawing/2014/main" id="{C0BFA1C0-2096-416B-8B52-91F76D82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C10AFA70-4FDD-4599-83E5-43008F6F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Assessment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7C190D9-1C42-411B-9FBC-1E45A4B1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142</a:t>
            </a:r>
          </a:p>
        </p:txBody>
      </p:sp>
      <p:sp>
        <p:nvSpPr>
          <p:cNvPr id="5" name="text-142-55-175">
            <a:extLst xmlns:a="http://schemas.openxmlformats.org/drawingml/2006/main">
              <a:ext uri="{FF2B5EF4-FFF2-40B4-BE49-F238E27FC236}">
                <a16:creationId xmlns:a16="http://schemas.microsoft.com/office/drawing/2014/main" id="{51B60D1A-6A28-4D00-A1AA-2922497E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Q19</a:t>
            </a:r>
          </a:p>
        </p:txBody>
      </p:sp>
      <p:sp>
        <p:nvSpPr>
          <p:cNvPr id="6" name="text-142-145-175">
            <a:extLst xmlns:a="http://schemas.openxmlformats.org/drawingml/2006/main">
              <a:ext uri="{FF2B5EF4-FFF2-40B4-BE49-F238E27FC236}">
                <a16:creationId xmlns:a16="http://schemas.microsoft.com/office/drawing/2014/main" id="{A58DC0E8-6F33-4962-802F-93BB02B4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239"/>
                </a:solidFill>
              </a:defRPr>
            </a:pPr>
            <a:r>
              <a:rPr sz="2250" b="1" i="0">
                <a:solidFill>
                  <a:srgbClr val="0B2239"/>
                </a:solidFill>
              </a:rPr>
              <a:t>Order the optimisation ladder by unit cost.</a:t>
            </a:r>
          </a:p>
        </p:txBody>
      </p:sp>
      <p:sp>
        <p:nvSpPr>
          <p:cNvPr id="7" name="quiz-rule-142-55-340">
            <a:extLst xmlns:a="http://schemas.openxmlformats.org/drawingml/2006/main">
              <a:ext uri="{FF2B5EF4-FFF2-40B4-BE49-F238E27FC236}">
                <a16:creationId xmlns:a16="http://schemas.microsoft.com/office/drawing/2014/main" id="{8A7A4B02-E1A9-411B-AE4E-EE90AAE9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42-55-390">
            <a:extLst xmlns:a="http://schemas.openxmlformats.org/drawingml/2006/main">
              <a:ext uri="{FF2B5EF4-FFF2-40B4-BE49-F238E27FC236}">
                <a16:creationId xmlns:a16="http://schemas.microsoft.com/office/drawing/2014/main" id="{B5A7D8BC-16CB-46DA-9278-4C046A98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6C3"/>
                </a:solidFill>
              </a:defRPr>
            </a:pPr>
            <a:r>
              <a:rPr sz="2250" b="1" i="0">
                <a:solidFill>
                  <a:srgbClr val="0B66C3"/>
                </a:solidFill>
              </a:rPr>
              <a:t>Q20</a:t>
            </a:r>
          </a:p>
        </p:txBody>
      </p:sp>
      <p:sp>
        <p:nvSpPr>
          <p:cNvPr id="9" name="text-142-145-390">
            <a:extLst xmlns:a="http://schemas.openxmlformats.org/drawingml/2006/main">
              <a:ext uri="{FF2B5EF4-FFF2-40B4-BE49-F238E27FC236}">
                <a16:creationId xmlns:a16="http://schemas.microsoft.com/office/drawing/2014/main" id="{E38B5E58-617D-4AC8-A3A4-D841E6EE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239"/>
                </a:solidFill>
              </a:defRPr>
            </a:pPr>
            <a:r>
              <a:rPr sz="2250" b="1" i="0">
                <a:solidFill>
                  <a:srgbClr val="0B2239"/>
                </a:solidFill>
              </a:rPr>
              <a:t>Why retain fp32 after INT8 ships?</a:t>
            </a:r>
          </a:p>
        </p:txBody>
      </p:sp>
    </p:spTree>
    <p:extLst>
      <p:ext uri="{BB962C8B-B14F-4D97-AF65-F5344CB8AC3E}">
        <p14:creationId xmlns:p14="http://schemas.microsoft.com/office/powerpoint/2010/main" val="509834171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C817D5-D591-45AC-9E79-E194B5D8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2239"/>
                </a:solidFill>
              </a:defRPr>
            </a:pPr>
            <a:r>
              <a:rPr sz="3600" b="1" i="0">
                <a:solidFill>
                  <a:srgbClr val="0B2239"/>
                </a:solidFill>
              </a:rPr>
              <a:t>Course synthesis</a:t>
            </a:r>
          </a:p>
        </p:txBody>
      </p:sp>
      <p:sp>
        <p:nvSpPr>
          <p:cNvPr id="2" name="title-rule-143-42-119">
            <a:extLst xmlns:a="http://schemas.openxmlformats.org/drawingml/2006/main">
              <a:ext uri="{FF2B5EF4-FFF2-40B4-BE49-F238E27FC236}">
                <a16:creationId xmlns:a16="http://schemas.microsoft.com/office/drawing/2014/main" id="{B958BB1C-A9AF-46D5-BDD3-9CFEC6D5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EC139426-74BD-41C2-9C9A-F259D1D7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SDA-AIE-211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8AEA271-F446-401B-B533-6EF86BCF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143</a:t>
            </a:r>
          </a:p>
        </p:txBody>
      </p:sp>
      <p:sp>
        <p:nvSpPr>
          <p:cNvPr id="5" name="text-143-42-185">
            <a:extLst xmlns:a="http://schemas.openxmlformats.org/drawingml/2006/main">
              <a:ext uri="{FF2B5EF4-FFF2-40B4-BE49-F238E27FC236}">
                <a16:creationId xmlns:a16="http://schemas.microsoft.com/office/drawing/2014/main" id="{1669A733-0CD9-4C5C-BD44-FFEF09E1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2239"/>
                </a:solidFill>
              </a:defRPr>
            </a:pPr>
            <a:r>
              <a:rPr sz="4050" b="1" i="0">
                <a:solidFill>
                  <a:srgbClr val="0B2239"/>
                </a:solidFill>
              </a:rPr>
              <a:t>Every Bayan component now carries its own evidence.</a:t>
            </a:r>
          </a:p>
        </p:txBody>
      </p:sp>
      <p:sp>
        <p:nvSpPr>
          <p:cNvPr id="6" name="statement-accent-143-42-435">
            <a:extLst xmlns:a="http://schemas.openxmlformats.org/drawingml/2006/main">
              <a:ext uri="{FF2B5EF4-FFF2-40B4-BE49-F238E27FC236}">
                <a16:creationId xmlns:a16="http://schemas.microsoft.com/office/drawing/2014/main" id="{1136A146-EE18-466D-AE2B-D67DAE28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95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43-78-448">
            <a:extLst xmlns:a="http://schemas.openxmlformats.org/drawingml/2006/main">
              <a:ext uri="{FF2B5EF4-FFF2-40B4-BE49-F238E27FC236}">
                <a16:creationId xmlns:a16="http://schemas.microsoft.com/office/drawing/2014/main" id="{03C6C4C0-F8AF-487A-A421-D5EF4710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9763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26273"/>
                </a:solidFill>
              </a:defRPr>
            </a:pPr>
            <a:r>
              <a:rPr sz="1875" b="0" i="0">
                <a:solidFill>
                  <a:srgbClr val="526273"/>
                </a:solidFill>
              </a:rPr>
              <a:t>Preprocessing is versioned. Models beat honest baselines. Arabic quality is sliced. Search is judged. Evaluation has uncertainty. Serving meets a measured p99 budget.</a:t>
            </a:r>
          </a:p>
        </p:txBody>
      </p:sp>
    </p:spTree>
    <p:extLst>
      <p:ext uri="{BB962C8B-B14F-4D97-AF65-F5344CB8AC3E}">
        <p14:creationId xmlns:p14="http://schemas.microsoft.com/office/powerpoint/2010/main" val="150018983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44-42-42">
            <a:extLst xmlns:a="http://schemas.openxmlformats.org/drawingml/2006/main">
              <a:ext uri="{FF2B5EF4-FFF2-40B4-BE49-F238E27FC236}">
                <a16:creationId xmlns:a16="http://schemas.microsoft.com/office/drawing/2014/main" id="{C23FE719-7CA0-48CF-8558-BF309E09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6C3"/>
                </a:solidFill>
              </a:defRPr>
            </a:pPr>
            <a:r>
              <a:rPr sz="1350" b="1" i="0">
                <a:solidFill>
                  <a:srgbClr val="0B66C3"/>
                </a:solidFill>
              </a:rPr>
              <a:t>NEXT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42EF2D2C-69AE-4379-9FA1-5FE93B66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B2239"/>
                </a:solidFill>
              </a:defRPr>
            </a:pPr>
            <a:r>
              <a:rPr sz="5850" b="1" i="0">
                <a:solidFill>
                  <a:srgbClr val="0B2239"/>
                </a:solidFill>
              </a:rPr>
              <a:t>Build on a trustworthy NLP substrate</a:t>
            </a:r>
          </a:p>
        </p:txBody>
      </p:sp>
      <p:sp>
        <p:nvSpPr>
          <p:cNvPr id="3" name="accent-rule-144-42-545">
            <a:extLst xmlns:a="http://schemas.openxmlformats.org/drawingml/2006/main">
              <a:ext uri="{FF2B5EF4-FFF2-40B4-BE49-F238E27FC236}">
                <a16:creationId xmlns:a16="http://schemas.microsoft.com/office/drawing/2014/main" id="{BC2F9AB7-9C38-40CB-AE36-E10D27E6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44-42-575">
            <a:extLst xmlns:a="http://schemas.openxmlformats.org/drawingml/2006/main">
              <a:ext uri="{FF2B5EF4-FFF2-40B4-BE49-F238E27FC236}">
                <a16:creationId xmlns:a16="http://schemas.microsoft.com/office/drawing/2014/main" id="{BA7FFD67-F4F8-4B7A-A6C8-21875EBD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26273"/>
                </a:solidFill>
              </a:defRPr>
            </a:pPr>
            <a:r>
              <a:rPr sz="1800" b="0" i="0">
                <a:solidFill>
                  <a:srgbClr val="526273"/>
                </a:solidFill>
              </a:rPr>
              <a:t>SDA-AIE-213 extends these components into LLM applications; SDA-AIE-214 turns the retrieval system into RAG; SDA-AIE-216 matures serving and monitoring.</a:t>
            </a:r>
          </a:p>
        </p:txBody>
      </p:sp>
      <p:sp>
        <p:nvSpPr>
          <p:cNvPr id="5" name="text-144-1180-676">
            <a:extLst xmlns:a="http://schemas.openxmlformats.org/drawingml/2006/main">
              <a:ext uri="{FF2B5EF4-FFF2-40B4-BE49-F238E27FC236}">
                <a16:creationId xmlns:a16="http://schemas.microsoft.com/office/drawing/2014/main" id="{4578541A-E2D3-4471-9FF1-8802156E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26273"/>
                </a:solidFill>
              </a:defRPr>
            </a:pPr>
            <a:r>
              <a:rPr sz="975" b="0" i="0">
                <a:solidFill>
                  <a:srgbClr val="526273"/>
                </a:solidFill>
              </a:rPr>
              <a:t>144</a:t>
            </a:r>
          </a:p>
        </p:txBody>
      </p:sp>
    </p:spTree>
    <p:extLst>
      <p:ext uri="{BB962C8B-B14F-4D97-AF65-F5344CB8AC3E}">
        <p14:creationId xmlns:p14="http://schemas.microsoft.com/office/powerpoint/2010/main" val="848900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2026-08-26T12:53:02.6000000Z</dcterms:created>
  <dcterms:modified xsi:type="dcterms:W3CDTF">2026-08-26T12:53:02.6000000Z</dcterms:modified>
</coreProperties>
</file>